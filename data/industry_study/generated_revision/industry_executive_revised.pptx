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  <Override PartName="/ppt/slides/charts/chart3.xml" ContentType="application/vnd.openxmlformats-officedocument.drawingml.chart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charts/chart4.xml" ContentType="application/vnd.openxmlformats-officedocument.drawingml.chart+xml"/>
  <Override PartName="/ppt/slides/charts/chart5.xml" ContentType="application/vnd.openxmlformats-officedocument.drawingml.chart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6.xml" ContentType="application/vnd.openxmlformats-officedocument.drawingml.chart+xml"/>
  <Override PartName="/ppt/slides/charts/chart7.xml" ContentType="application/vnd.openxmlformats-officedocument.drawingml.chart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8.xml" ContentType="application/vnd.openxmlformats-officedocument.drawingml.chart+xml"/>
  <Override PartName="/ppt/slides/charts/chart9.xml" ContentType="application/vnd.openxmlformats-officedocument.drawingml.chart+xml"/>
  <Override PartName="/ppt/slides/charts/chart10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11.xml" ContentType="application/vnd.openxmlformats-officedocument.drawingml.chart+xml"/>
  <Override PartName="/ppt/slides/charts/chart12.xml" ContentType="application/vnd.openxmlformats-officedocument.drawingml.chart+xml"/>
  <Override PartName="/ppt/slides/charts/chart13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14.xml" ContentType="application/vnd.openxmlformats-officedocument.drawingml.chart+xml"/>
  <Override PartName="/ppt/slides/charts/chart15.xml" ContentType="application/vnd.openxmlformats-officedocument.drawingml.chart+xml"/>
  <Override PartName="/ppt/slides/charts/chart16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17.xml" ContentType="application/vnd.openxmlformats-officedocument.drawingml.chart+xml"/>
  <Override PartName="/ppt/slides/charts/chart18.xml" ContentType="application/vnd.openxmlformats-officedocument.drawingml.chart+xml"/>
  <Override PartName="/ppt/slides/charts/chart19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slides/charts/chart20.xml" ContentType="application/vnd.openxmlformats-officedocument.drawingml.chart+xml"/>
  <Override PartName="/ppt/slides/charts/chart21.xml" ContentType="application/vnd.openxmlformats-officedocument.drawingml.chart+xml"/>
  <Override PartName="/ppt/slides/charts/chart22.xml" ContentType="application/vnd.openxmlformats-officedocument.drawingml.chart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slides/charts/chart23.xml" ContentType="application/vnd.openxmlformats-officedocument.drawingml.chart+xml"/>
  <Override PartName="/ppt/slides/charts/chart24.xml" ContentType="application/vnd.openxmlformats-officedocument.drawingml.chart+xml"/>
  <Override PartName="/ppt/slides/charts/chart25.xml" ContentType="application/vnd.openxmlformats-officedocument.drawingml.chart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slides/charts/chart26.xml" ContentType="application/vnd.openxmlformats-officedocument.drawingml.chart+xml"/>
  <Override PartName="/ppt/slides/charts/chart27.xml" ContentType="application/vnd.openxmlformats-officedocument.drawingml.chart+xml"/>
  <Override PartName="/ppt/slides/charts/chart28.xml" ContentType="application/vnd.openxmlformats-officedocument.drawingml.chart+xml"/>
  <Override PartName="/ppt/slides/charts/chart29.xml" ContentType="application/vnd.openxmlformats-officedocument.drawingml.chart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slides/charts/chart30.xml" ContentType="application/vnd.openxmlformats-officedocument.drawingml.chart+xml"/>
  <Override PartName="/ppt/slides/charts/chart31.xml" ContentType="application/vnd.openxmlformats-officedocument.drawingml.chart+xml"/>
  <Override PartName="/ppt/slides/charts/chart32.xml" ContentType="application/vnd.openxmlformats-officedocument.drawingml.chart+xml"/>
  <Override PartName="/ppt/slides/charts/chart33.xml" ContentType="application/vnd.openxmlformats-officedocument.drawingml.chart+xml"/>
  <Override PartName="/ppt/slides/charts/chart34.xml" ContentType="application/vnd.openxmlformats-officedocument.drawingml.chart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slides/charts/chart35.xml" ContentType="application/vnd.openxmlformats-officedocument.drawingml.chart+xml"/>
  <Override PartName="/ppt/slides/charts/chart36.xml" ContentType="application/vnd.openxmlformats-officedocument.drawingml.chart+xml"/>
  <Override PartName="/ppt/slides/charts/chart37.xml" ContentType="application/vnd.openxmlformats-officedocument.drawingml.chart+xml"/>
  <Override PartName="/ppt/slides/charts/chart38.xml" ContentType="application/vnd.openxmlformats-officedocument.drawingml.chart+xml"/>
  <Override PartName="/ppt/slides/charts/chart39.xml" ContentType="application/vnd.openxmlformats-officedocument.drawingml.chart+xml"/>
  <Override PartName="/ppt/slides/charts/chart40.xml" ContentType="application/vnd.openxmlformats-officedocument.drawingml.chart+xml"/>
  <Override PartName="/ppt/slides/charts/chart41.xml" ContentType="application/vnd.openxmlformats-officedocument.drawingml.chart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slides/charts/chart42.xml" ContentType="application/vnd.openxmlformats-officedocument.drawingml.chart+xml"/>
  <Override PartName="/ppt/slides/charts/chart43.xml" ContentType="application/vnd.openxmlformats-officedocument.drawingml.chart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slides/charts/chart44.xml" ContentType="application/vnd.openxmlformats-officedocument.drawingml.chart+xml"/>
  <Override PartName="/ppt/slides/charts/chart45.xml" ContentType="application/vnd.openxmlformats-officedocument.drawingml.chart+xml"/>
  <Override PartName="/ppt/slides/charts/chart46.xml" ContentType="application/vnd.openxmlformats-officedocument.drawingml.chart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slides/charts/chart47.xml" ContentType="application/vnd.openxmlformats-officedocument.drawingml.chart+xml"/>
  <Override PartName="/ppt/slides/charts/chart48.xml" ContentType="application/vnd.openxmlformats-officedocument.drawingml.chart+xml"/>
  <Override PartName="/ppt/slides/charts/chart49.xml" ContentType="application/vnd.openxmlformats-officedocument.drawingml.chart+xml"/>
  <Override PartName="/ppt/slides/charts/chart50.xml" ContentType="application/vnd.openxmlformats-officedocument.drawingml.chart+xml"/>
  <Override PartName="/ppt/slides/charts/chart51.xml" ContentType="application/vnd.openxmlformats-officedocument.drawingml.chart+xml"/>
  <Override PartName="/ppt/notesSlides/notesSlide2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e4fdf3aeed64fb1" /><Relationship Type="http://schemas.openxmlformats.org/officeDocument/2006/relationships/extended-properties" Target="/docProps/app.xml" Id="Re170afa2b2844b9e" /><Relationship Type="http://schemas.openxmlformats.org/officeDocument/2006/relationships/officeDocument" Target="/ppt/presentation.xml" Id="R495c50a7113c40a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94a88e752ed497b"/>
  </p:sldMasterIdLst>
  <p:notesMasterIdLst>
    <p:notesMasterId xmlns:r="http://schemas.openxmlformats.org/officeDocument/2006/relationships" r:id="Rc5194e6040974e6e"/>
  </p:notesMasterIdLst>
  <p:sldIdLst>
    <p:sldId xmlns:r="http://schemas.openxmlformats.org/officeDocument/2006/relationships" id="256" r:id="Rb6babbd69fdb46f6"/>
    <p:sldId xmlns:r="http://schemas.openxmlformats.org/officeDocument/2006/relationships" id="257" r:id="Rdc87d207f7ea4b47"/>
    <p:sldId xmlns:r="http://schemas.openxmlformats.org/officeDocument/2006/relationships" id="258" r:id="R50f07dc725f64717"/>
    <p:sldId xmlns:r="http://schemas.openxmlformats.org/officeDocument/2006/relationships" id="259" r:id="R46be36e7738f49f6"/>
    <p:sldId xmlns:r="http://schemas.openxmlformats.org/officeDocument/2006/relationships" id="260" r:id="R11f38d70399445bd"/>
    <p:sldId xmlns:r="http://schemas.openxmlformats.org/officeDocument/2006/relationships" id="261" r:id="R72927771e9d344b3"/>
    <p:sldId xmlns:r="http://schemas.openxmlformats.org/officeDocument/2006/relationships" id="262" r:id="Ra36e7a2a0676430f"/>
    <p:sldId xmlns:r="http://schemas.openxmlformats.org/officeDocument/2006/relationships" id="263" r:id="Rb8f8af80fa414647"/>
    <p:sldId xmlns:r="http://schemas.openxmlformats.org/officeDocument/2006/relationships" id="264" r:id="R77bde96c10aa4873"/>
    <p:sldId xmlns:r="http://schemas.openxmlformats.org/officeDocument/2006/relationships" id="265" r:id="R43eb80300c5e4d10"/>
    <p:sldId xmlns:r="http://schemas.openxmlformats.org/officeDocument/2006/relationships" id="266" r:id="R2d0a53c6a5a54062"/>
    <p:sldId xmlns:r="http://schemas.openxmlformats.org/officeDocument/2006/relationships" id="267" r:id="R46ff0dfefc084d2a"/>
    <p:sldId xmlns:r="http://schemas.openxmlformats.org/officeDocument/2006/relationships" id="268" r:id="R9fe2274744e84625"/>
    <p:sldId xmlns:r="http://schemas.openxmlformats.org/officeDocument/2006/relationships" id="269" r:id="R56ee848775af4a52"/>
    <p:sldId xmlns:r="http://schemas.openxmlformats.org/officeDocument/2006/relationships" id="270" r:id="Rc28fec08126e422d"/>
    <p:sldId xmlns:r="http://schemas.openxmlformats.org/officeDocument/2006/relationships" id="271" r:id="R0c465cee2cee486a"/>
    <p:sldId xmlns:r="http://schemas.openxmlformats.org/officeDocument/2006/relationships" id="272" r:id="Rd1ba5d50317f4f8e"/>
    <p:sldId xmlns:r="http://schemas.openxmlformats.org/officeDocument/2006/relationships" id="273" r:id="R4b81d5a3768e4009"/>
    <p:sldId xmlns:r="http://schemas.openxmlformats.org/officeDocument/2006/relationships" id="274" r:id="Raef977f5af344578"/>
    <p:sldId xmlns:r="http://schemas.openxmlformats.org/officeDocument/2006/relationships" id="275" r:id="R01a6931d18c043d9"/>
    <p:sldId xmlns:r="http://schemas.openxmlformats.org/officeDocument/2006/relationships" id="276" r:id="Rbffad0ae6330417d"/>
    <p:sldId xmlns:r="http://schemas.openxmlformats.org/officeDocument/2006/relationships" id="277" r:id="Re6ce2b058201430c"/>
    <p:sldId xmlns:r="http://schemas.openxmlformats.org/officeDocument/2006/relationships" id="278" r:id="R10a0a46a04554f8f"/>
    <p:sldId xmlns:r="http://schemas.openxmlformats.org/officeDocument/2006/relationships" id="279" r:id="R7d1ff2e7f17e4e3f"/>
    <p:sldId xmlns:r="http://schemas.openxmlformats.org/officeDocument/2006/relationships" id="280" r:id="R6c66649474724e84"/>
    <p:sldId xmlns:r="http://schemas.openxmlformats.org/officeDocument/2006/relationships" id="281" r:id="Racaf58e5b10e443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659041cc0a64fec" /><Relationship Type="http://schemas.openxmlformats.org/officeDocument/2006/relationships/slideMaster" Target="/ppt/slideMasters/slideMaster1.xml" Id="Re94a88e752ed497b" /><Relationship Type="http://schemas.openxmlformats.org/officeDocument/2006/relationships/notesMaster" Target="/ppt/notesMasters/notesMaster1.xml" Id="Rc5194e6040974e6e" /><Relationship Type="http://schemas.openxmlformats.org/officeDocument/2006/relationships/presProps" Target="/ppt/presProps.xml" Id="Rb2e946e4018d4661" /><Relationship Type="http://schemas.openxmlformats.org/officeDocument/2006/relationships/tableStyles" Target="/ppt/tableStyles.xml" Id="Re6da8a14f16141de" /><Relationship Type="http://schemas.openxmlformats.org/officeDocument/2006/relationships/slide" Target="/ppt/slides/slide1.xml" Id="Rb6babbd69fdb46f6" /><Relationship Type="http://schemas.openxmlformats.org/officeDocument/2006/relationships/slide" Target="/ppt/slides/slide2.xml" Id="Rdc87d207f7ea4b47" /><Relationship Type="http://schemas.openxmlformats.org/officeDocument/2006/relationships/slide" Target="/ppt/slides/slide3.xml" Id="R50f07dc725f64717" /><Relationship Type="http://schemas.openxmlformats.org/officeDocument/2006/relationships/slide" Target="/ppt/slides/slide4.xml" Id="R46be36e7738f49f6" /><Relationship Type="http://schemas.openxmlformats.org/officeDocument/2006/relationships/slide" Target="/ppt/slides/slide5.xml" Id="R11f38d70399445bd" /><Relationship Type="http://schemas.openxmlformats.org/officeDocument/2006/relationships/slide" Target="/ppt/slides/slide6.xml" Id="R72927771e9d344b3" /><Relationship Type="http://schemas.openxmlformats.org/officeDocument/2006/relationships/slide" Target="/ppt/slides/slide7.xml" Id="Ra36e7a2a0676430f" /><Relationship Type="http://schemas.openxmlformats.org/officeDocument/2006/relationships/slide" Target="/ppt/slides/slide8.xml" Id="Rb8f8af80fa414647" /><Relationship Type="http://schemas.openxmlformats.org/officeDocument/2006/relationships/slide" Target="/ppt/slides/slide9.xml" Id="R77bde96c10aa4873" /><Relationship Type="http://schemas.openxmlformats.org/officeDocument/2006/relationships/slide" Target="/ppt/slides/slide10.xml" Id="R43eb80300c5e4d10" /><Relationship Type="http://schemas.openxmlformats.org/officeDocument/2006/relationships/slide" Target="/ppt/slides/slide11.xml" Id="R2d0a53c6a5a54062" /><Relationship Type="http://schemas.openxmlformats.org/officeDocument/2006/relationships/slide" Target="/ppt/slides/slide12.xml" Id="R46ff0dfefc084d2a" /><Relationship Type="http://schemas.openxmlformats.org/officeDocument/2006/relationships/slide" Target="/ppt/slides/slide13.xml" Id="R9fe2274744e84625" /><Relationship Type="http://schemas.openxmlformats.org/officeDocument/2006/relationships/slide" Target="/ppt/slides/slide14.xml" Id="R56ee848775af4a52" /><Relationship Type="http://schemas.openxmlformats.org/officeDocument/2006/relationships/slide" Target="/ppt/slides/slide15.xml" Id="Rc28fec08126e422d" /><Relationship Type="http://schemas.openxmlformats.org/officeDocument/2006/relationships/slide" Target="/ppt/slides/slide16.xml" Id="R0c465cee2cee486a" /><Relationship Type="http://schemas.openxmlformats.org/officeDocument/2006/relationships/slide" Target="/ppt/slides/slide17.xml" Id="Rd1ba5d50317f4f8e" /><Relationship Type="http://schemas.openxmlformats.org/officeDocument/2006/relationships/slide" Target="/ppt/slides/slide18.xml" Id="R4b81d5a3768e4009" /><Relationship Type="http://schemas.openxmlformats.org/officeDocument/2006/relationships/slide" Target="/ppt/slides/slide19.xml" Id="Raef977f5af344578" /><Relationship Type="http://schemas.openxmlformats.org/officeDocument/2006/relationships/slide" Target="/ppt/slides/slide20.xml" Id="R01a6931d18c043d9" /><Relationship Type="http://schemas.openxmlformats.org/officeDocument/2006/relationships/slide" Target="/ppt/slides/slide21.xml" Id="Rbffad0ae6330417d" /><Relationship Type="http://schemas.openxmlformats.org/officeDocument/2006/relationships/slide" Target="/ppt/slides/slide22.xml" Id="Re6ce2b058201430c" /><Relationship Type="http://schemas.openxmlformats.org/officeDocument/2006/relationships/slide" Target="/ppt/slides/slide23.xml" Id="R10a0a46a04554f8f" /><Relationship Type="http://schemas.openxmlformats.org/officeDocument/2006/relationships/slide" Target="/ppt/slides/slide24.xml" Id="R7d1ff2e7f17e4e3f" /><Relationship Type="http://schemas.openxmlformats.org/officeDocument/2006/relationships/slide" Target="/ppt/slides/slide25.xml" Id="R6c66649474724e84" /><Relationship Type="http://schemas.openxmlformats.org/officeDocument/2006/relationships/slide" Target="/ppt/slides/slide26.xml" Id="Racaf58e5b10e443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ea5e9a5790b4fe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a50175589ae4251" /><Relationship Type="http://schemas.openxmlformats.org/officeDocument/2006/relationships/notesMaster" Target="/ppt/notesMasters/notesMaster1.xml" Id="R8d12a4108349468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b8137fecb6f4b32" /><Relationship Type="http://schemas.openxmlformats.org/officeDocument/2006/relationships/notesMaster" Target="/ppt/notesMasters/notesMaster1.xml" Id="Re8803c269aea45d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281354f8a69421b" /><Relationship Type="http://schemas.openxmlformats.org/officeDocument/2006/relationships/notesMaster" Target="/ppt/notesMasters/notesMaster1.xml" Id="R802bb0beddfa442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98750a6c5a54baf" /><Relationship Type="http://schemas.openxmlformats.org/officeDocument/2006/relationships/notesMaster" Target="/ppt/notesMasters/notesMaster1.xml" Id="R86710aba65f04e0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bbc62cf8dbf491b" /><Relationship Type="http://schemas.openxmlformats.org/officeDocument/2006/relationships/notesMaster" Target="/ppt/notesMasters/notesMaster1.xml" Id="R7a957946830043b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e9354b6a3af4f83" /><Relationship Type="http://schemas.openxmlformats.org/officeDocument/2006/relationships/notesMaster" Target="/ppt/notesMasters/notesMaster1.xml" Id="Rbff906d680174e9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746caa4637647fd" /><Relationship Type="http://schemas.openxmlformats.org/officeDocument/2006/relationships/notesMaster" Target="/ppt/notesMasters/notesMaster1.xml" Id="Rf36188b2779c46e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52ed7d9f1014de5" /><Relationship Type="http://schemas.openxmlformats.org/officeDocument/2006/relationships/notesMaster" Target="/ppt/notesMasters/notesMaster1.xml" Id="R54191b576fb340c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77c7acd97c44005" /><Relationship Type="http://schemas.openxmlformats.org/officeDocument/2006/relationships/notesMaster" Target="/ppt/notesMasters/notesMaster1.xml" Id="R731531bbfa00474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0fa5c5c3207417e" /><Relationship Type="http://schemas.openxmlformats.org/officeDocument/2006/relationships/notesMaster" Target="/ppt/notesMasters/notesMaster1.xml" Id="R1dde269c0ee54b3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c96685aed3443eb" /><Relationship Type="http://schemas.openxmlformats.org/officeDocument/2006/relationships/notesMaster" Target="/ppt/notesMasters/notesMaster1.xml" Id="R352610f51d3d46f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e80fd031d134a7d" /><Relationship Type="http://schemas.openxmlformats.org/officeDocument/2006/relationships/notesMaster" Target="/ppt/notesMasters/notesMaster1.xml" Id="Rf874a7ad0fef431e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531306d86e374921" /><Relationship Type="http://schemas.openxmlformats.org/officeDocument/2006/relationships/notesMaster" Target="/ppt/notesMasters/notesMaster1.xml" Id="R5e0b2a56dd184218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a784ab5b40664b60" /><Relationship Type="http://schemas.openxmlformats.org/officeDocument/2006/relationships/notesMaster" Target="/ppt/notesMasters/notesMaster1.xml" Id="R90a4fce78c774d01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06d354ae68604ec3" /><Relationship Type="http://schemas.openxmlformats.org/officeDocument/2006/relationships/notesMaster" Target="/ppt/notesMasters/notesMaster1.xml" Id="Rce2101c33bd84345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5efe8862cd5c488a" /><Relationship Type="http://schemas.openxmlformats.org/officeDocument/2006/relationships/notesMaster" Target="/ppt/notesMasters/notesMaster1.xml" Id="Rcef77c6cd3194f24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b8092101cdab4af3" /><Relationship Type="http://schemas.openxmlformats.org/officeDocument/2006/relationships/notesMaster" Target="/ppt/notesMasters/notesMaster1.xml" Id="R88416fec5b2f40f1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deeb2ef1d59c4abd" /><Relationship Type="http://schemas.openxmlformats.org/officeDocument/2006/relationships/notesMaster" Target="/ppt/notesMasters/notesMaster1.xml" Id="Rc5513518e0cb402a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6f540ad38dca4bf4" /><Relationship Type="http://schemas.openxmlformats.org/officeDocument/2006/relationships/notesMaster" Target="/ppt/notesMasters/notesMaster1.xml" Id="R909cbee93a2241fb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00768aa14d9344bf" /><Relationship Type="http://schemas.openxmlformats.org/officeDocument/2006/relationships/notesMaster" Target="/ppt/notesMasters/notesMaster1.xml" Id="R7fcf974566404c11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a0b94fe7c8844f9c" /><Relationship Type="http://schemas.openxmlformats.org/officeDocument/2006/relationships/notesMaster" Target="/ppt/notesMasters/notesMaster1.xml" Id="R1deb83c3aaef44bb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efcc2b713fca4181" /><Relationship Type="http://schemas.openxmlformats.org/officeDocument/2006/relationships/notesMaster" Target="/ppt/notesMasters/notesMaster1.xml" Id="Re18c0a7efc0f40ce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1868e1b3332743fa" /><Relationship Type="http://schemas.openxmlformats.org/officeDocument/2006/relationships/notesMaster" Target="/ppt/notesMasters/notesMaster1.xml" Id="R3d89dec57b8b42cb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6151ff4243ae4515" /><Relationship Type="http://schemas.openxmlformats.org/officeDocument/2006/relationships/notesMaster" Target="/ppt/notesMasters/notesMaster1.xml" Id="Rc274f54da5514b04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364f12ad9ff54175" /><Relationship Type="http://schemas.openxmlformats.org/officeDocument/2006/relationships/notesMaster" Target="/ppt/notesMasters/notesMaster1.xml" Id="R85ea7ed3eb024d5d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2dda5e82ce034177" /><Relationship Type="http://schemas.openxmlformats.org/officeDocument/2006/relationships/notesMaster" Target="/ppt/notesMasters/notesMaster1.xml" Id="R6fbe710144a8495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Ofertas Públicas de Distribuição: https://dados.cvm.gov.br/dataset/oferta-distrib</a:t>
            </a:r>
          </a:p>
          <a:p xmlns:a="http://schemas.openxmlformats.org/drawingml/2006/main">
            <a:r>
              <a:t>- ANBIMA Data — Boletim de Mercado de Capitais, corte em 30/jun/26: https://data.anbima.com.br/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ANBIMA Data — Boletim de Mercado de Capitais, snapshot mai/26, aba 02-02-Vlr. Valor encerrado; 2026 = jan–mai.</a:t>
            </a:r>
          </a:p>
          <a:p xmlns:a="http://schemas.openxmlformats.org/drawingml/2006/main">
            <a:r>
              <a:t>- FIDCs 2023 no gráfico CVM: valor encerrado ANBIMA; a correção é idempotente e preserva bundles anteriores à republicação.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FIDCs 2023: valor encerrado ANBIMA (snapshot mai/26, aba 02-02-Vlr); composição não observada escalada pela composição CVM.</a:t>
            </a:r>
          </a:p>
          <a:p xmlns:a="http://schemas.openxmlformats.org/drawingml/2006/main">
            <a:r>
              <a:t>- Destaque: variação relativa da participação versus o período comparável anterior; verde &gt; +2%, vinho &lt; −2%, sem destaque dentro de ±2%.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os dois painéis usam o Top 15 de cada fotografia.</a:t>
            </a:r>
          </a:p>
          <a:p xmlns:a="http://schemas.openxmlformats.org/drawingml/2006/main">
            <a:r>
              <a:t>- O = originador; C = cedente; S = subordinação mínima; P = preço de emissão por tipo de cota. Mesma curadoria documental flagship; fontes linha a linha na aba Auditoria emissões.</a:t>
            </a:r>
          </a:p>
          <a:p xmlns:a="http://schemas.openxmlformats.org/drawingml/2006/main">
            <a:r>
              <a:t>- Campo ausente, fragmento sem nome explícito ou vínculo documental insuficiente permanece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os dois painéis usam o Top 15 de cada fotografia.</a:t>
            </a:r>
          </a:p>
          <a:p xmlns:a="http://schemas.openxmlformats.org/drawingml/2006/main">
            <a:r>
              <a:t>- O = originador; C = cedente; S = subordinação mínima; P = preço de emissão por tipo de cota. Mesma curadoria documental flagship; fontes linha a linha na aba Auditoria emissões.</a:t>
            </a:r>
          </a:p>
          <a:p xmlns:a="http://schemas.openxmlformats.org/drawingml/2006/main">
            <a:r>
              <a:t>- Campo ausente, fragmento sem nome explícito ou vínculo documental insuficiente permanece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os dois painéis usam o Top 15 de cada fotografia.</a:t>
            </a:r>
          </a:p>
          <a:p xmlns:a="http://schemas.openxmlformats.org/drawingml/2006/main">
            <a:r>
              <a:t>- O = originador; C = cedente; S = subordinação mínima; P = preço de emissão por tipo de cota. Mesma curadoria documental flagship; fontes linha a linha na aba Auditoria emissões.</a:t>
            </a:r>
          </a:p>
          <a:p xmlns:a="http://schemas.openxmlformats.org/drawingml/2006/main">
            <a:r>
              <a:t>- Campo ausente, fragmento sem nome explícito ou vínculo documental insuficiente permanece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os dois painéis usam o Top 15 de cada fotografia.</a:t>
            </a:r>
          </a:p>
          <a:p xmlns:a="http://schemas.openxmlformats.org/drawingml/2006/main">
            <a:r>
              <a:t>- O = originador; C = cedente; S = subordinação mínima; P = preço de emissão por tipo de cota. Mesma curadoria documental flagship; fontes linha a linha na aba Auditoria emissões.</a:t>
            </a:r>
          </a:p>
          <a:p xmlns:a="http://schemas.openxmlformats.org/drawingml/2006/main">
            <a:r>
              <a:t>- Campo ausente, fragmento sem nome explícito ou vínculo documental insuficiente permanece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CVM, Informe Mensal FIDC, competência 2026-06: https://dados.cvm.gov.br/dataset/fi-doc-inf_mensal</a:t>
            </a:r>
          </a:p>
          <a:p xmlns:a="http://schemas.openxmlformats.org/drawingml/2006/main">
            <a:r>
              <a:t>- FundosNet/B3, regulamentos, emissões e assembleias: https://fnet.bmfbovespa.com.br/fnet/publico/abrirGerenciadorDocumentosCVM</a:t>
            </a:r>
          </a:p>
          <a:p xmlns:a="http://schemas.openxmlformats.org/drawingml/2006/main">
            <a:r>
              <a:t>- Leitura documental versionada por CNPJ; documento, data, página, status e lacuna constam na aba Curadoria flagship.</a:t>
            </a:r>
          </a:p>
          <a:p xmlns:a="http://schemas.openxmlformats.org/drawingml/2006/main">
            <a:r>
              <a:t>- Faixas descritivas; não constituem nota de risco. PL e subordinação atual são agregados por família; mínimos e datas de emissão exibem somente valores localizados.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 aba Carteira 1 curadoria preserva o detalhe de 101 CNPJs; a aba Carteira 1 vs flagships documenta os sete grupos comparáveis e a fórmula de leitura estrutural.</a:t>
            </a:r>
          </a:p>
          <a:p xmlns:a="http://schemas.openxmlformats.org/drawingml/2006/main">
            <a:r>
              <a:t>- Carteira I e os 47 CNPJs flagship usam o mesmo PL e a mesma subordinação atual reconciliados por CNPJ.</a:t>
            </a:r>
          </a:p>
          <a:p xmlns:a="http://schemas.openxmlformats.org/drawingml/2006/main">
            <a:r>
              <a:t>- A posição de risco estrutural usa a mediana da subordinação atual dentro de cada tipo; N/D não entra na mediana.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 registrado positivo e data de encerramento no período; 2026 = jan–jun.</a:t>
            </a:r>
          </a:p>
          <a:p xmlns:a="http://schemas.openxmlformats.org/drawingml/2006/main">
            <a:r>
              <a:t>- Métrica: volume = Valor_Total_Registrado; ticket = volume registrado por oferta deduplicada. PF usa quantidade colocada e depende da cobertura do campo.</a:t>
            </a:r>
          </a:p>
          <a:p xmlns:a="http://schemas.openxmlformats.org/drawingml/2006/main">
            <a:r>
              <a:t>- Limitação: valor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2024/2025 = FY e 2026 = jan–jun.</a:t>
            </a:r>
          </a:p>
          <a:p xmlns:a="http://schemas.openxmlformats.org/drawingml/2006/main">
            <a:r>
              <a:t>- Limitação: faixas e participações usam o valor registrado, que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2026 = jan–jun.</a:t>
            </a:r>
          </a:p>
          <a:p xmlns:a="http://schemas.openxmlformats.org/drawingml/2006/main">
            <a:r>
              <a:t>- Métrica: regime de colocação conforme declarado na oferta; campo ausente nos arquivos consultados = Não informado.</a:t>
            </a:r>
          </a:p>
          <a:p xmlns:a="http://schemas.openxmlformats.org/drawingml/2006/main">
            <a:r>
              <a:t>- Limitação: volume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rating sem documento público verificável ou sem vínculo exato = N/D; o volume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análises granulares de ofertas públicas primárias encerradas, todos os ritos disponíveis, volume registrado; 2026 = jan–jun: https://dados.cvm.gov.br/dataset/oferta-distrib</a:t>
            </a:r>
          </a:p>
          <a:p xmlns:a="http://schemas.openxmlformats.org/drawingml/2006/main">
            <a:r>
              <a:t>- ANBIMA Data — comparativo de mercado por valor encerrado, snapshot mai/26; 2026 = jan–mai: https://data.anbima.com.br/publicacoes/boletim-de-mercado-de-capitais/mercado-de-capitais-segue-resiliente-com-283-bi-em-ofertas-acumuladas-no-ano</a:t>
            </a:r>
          </a:p>
          <a:p xmlns:a="http://schemas.openxmlformats.org/drawingml/2006/main">
            <a:r>
              <a:t>- FundosNet/B3 — evidência documental de ratings;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Resolução CVM 30 — categorias de investidor profissional e qualificado: https://conteudo.cvm.gov.br/legislacao/resolucoes/resolucao030.html</a:t>
            </a:r>
          </a:p>
          <a:p xmlns:a="http://schemas.openxmlformats.org/drawingml/2006/main">
            <a:r>
              <a:t>- Universo: Cotas de FIDC, ofertas públicas primárias encerradas, todos os ritos disponíveis, valor registrado positivo e data de encerramento no período; 2026 = jan–jun.</a:t>
            </a:r>
          </a:p>
          <a:p xmlns:a="http://schemas.openxmlformats.org/drawingml/2006/main">
            <a:r>
              <a:t>- Limitação: público-alvo mede elegibilidade e não alocação final; não separa pessoa física de pessoa jurídica. Campo ausente em registros legados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d235f2248cb4f9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2e7aeeda21545d4" /><Relationship Type="http://schemas.openxmlformats.org/officeDocument/2006/relationships/slideLayout" Target="/ppt/slideLayouts/slideLayout1.xml" Id="Rf7fd5affb91b49e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7fd5affb91b49e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06e9b854ae4ab8" /><Relationship Type="http://schemas.openxmlformats.org/officeDocument/2006/relationships/notesSlide" Target="/ppt/notesSlides/notesSlide1.xml" Id="R887cbe860cd54b6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ab5fa66fd04939" /><Relationship Type="http://schemas.openxmlformats.org/officeDocument/2006/relationships/chart" Target="/ppt/slides/charts/chart1.xml" Id="Ra58824f83b044a43" /><Relationship Type="http://schemas.openxmlformats.org/officeDocument/2006/relationships/chart" Target="/ppt/slides/charts/chart2.xml" Id="R285e1c8ae23f4e01" /><Relationship Type="http://schemas.openxmlformats.org/officeDocument/2006/relationships/chart" Target="/ppt/slides/charts/chart3.xml" Id="R29fe00b4fe264145" /><Relationship Type="http://schemas.openxmlformats.org/officeDocument/2006/relationships/notesSlide" Target="/ppt/notesSlides/notesSlide2.xml" Id="Rcbf56ef21ca64f3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937ee3c00c4b11" /><Relationship Type="http://schemas.openxmlformats.org/officeDocument/2006/relationships/chart" Target="/ppt/slides/charts/chart4.xml" Id="R04a03bec567e4c36" /><Relationship Type="http://schemas.openxmlformats.org/officeDocument/2006/relationships/chart" Target="/ppt/slides/charts/chart5.xml" Id="R8b8e8cc345434d4e" /><Relationship Type="http://schemas.openxmlformats.org/officeDocument/2006/relationships/notesSlide" Target="/ppt/notesSlides/notesSlide3.xml" Id="R678e966923cf47d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aec0625c25415e" /><Relationship Type="http://schemas.openxmlformats.org/officeDocument/2006/relationships/chart" Target="/ppt/slides/charts/chart6.xml" Id="Re56aee317e3b4e88" /><Relationship Type="http://schemas.openxmlformats.org/officeDocument/2006/relationships/chart" Target="/ppt/slides/charts/chart7.xml" Id="Re329659b53ec42e7" /><Relationship Type="http://schemas.openxmlformats.org/officeDocument/2006/relationships/notesSlide" Target="/ppt/notesSlides/notesSlide4.xml" Id="Rd3028b8c0e8748e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e25f38447a4728" /><Relationship Type="http://schemas.openxmlformats.org/officeDocument/2006/relationships/chart" Target="/ppt/slides/charts/chart8.xml" Id="R03fb2c608aae4f92" /><Relationship Type="http://schemas.openxmlformats.org/officeDocument/2006/relationships/chart" Target="/ppt/slides/charts/chart9.xml" Id="R62a57983544e4241" /><Relationship Type="http://schemas.openxmlformats.org/officeDocument/2006/relationships/chart" Target="/ppt/slides/charts/chart10.xml" Id="R905fdae3dfa8406a" /><Relationship Type="http://schemas.openxmlformats.org/officeDocument/2006/relationships/notesSlide" Target="/ppt/notesSlides/notesSlide5.xml" Id="R2437d120692c495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71a055d21f405c" /><Relationship Type="http://schemas.openxmlformats.org/officeDocument/2006/relationships/chart" Target="/ppt/slides/charts/chart11.xml" Id="R56905bf0c3934277" /><Relationship Type="http://schemas.openxmlformats.org/officeDocument/2006/relationships/chart" Target="/ppt/slides/charts/chart12.xml" Id="R6363371955964674" /><Relationship Type="http://schemas.openxmlformats.org/officeDocument/2006/relationships/chart" Target="/ppt/slides/charts/chart13.xml" Id="R92db0e06755f4f5f" /><Relationship Type="http://schemas.openxmlformats.org/officeDocument/2006/relationships/notesSlide" Target="/ppt/notesSlides/notesSlide6.xml" Id="Rd39d91d7cb3e440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52402340d841bc" /><Relationship Type="http://schemas.openxmlformats.org/officeDocument/2006/relationships/chart" Target="/ppt/slides/charts/chart14.xml" Id="R1ee119619c1a4199" /><Relationship Type="http://schemas.openxmlformats.org/officeDocument/2006/relationships/chart" Target="/ppt/slides/charts/chart15.xml" Id="R2c54e7b789fd44bd" /><Relationship Type="http://schemas.openxmlformats.org/officeDocument/2006/relationships/chart" Target="/ppt/slides/charts/chart16.xml" Id="Rc8fd3238682542e8" /><Relationship Type="http://schemas.openxmlformats.org/officeDocument/2006/relationships/notesSlide" Target="/ppt/notesSlides/notesSlide7.xml" Id="Rb71d4c12feb54fd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8c686a413643a8" /><Relationship Type="http://schemas.openxmlformats.org/officeDocument/2006/relationships/chart" Target="/ppt/slides/charts/chart17.xml" Id="R939805b580294f9d" /><Relationship Type="http://schemas.openxmlformats.org/officeDocument/2006/relationships/chart" Target="/ppt/slides/charts/chart18.xml" Id="Re69b2144268941f1" /><Relationship Type="http://schemas.openxmlformats.org/officeDocument/2006/relationships/chart" Target="/ppt/slides/charts/chart19.xml" Id="R9dd9abec082a4cea" /><Relationship Type="http://schemas.openxmlformats.org/officeDocument/2006/relationships/notesSlide" Target="/ppt/notesSlides/notesSlide8.xml" Id="Rf20d00f85f5e4a8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8f70751938422d" /><Relationship Type="http://schemas.openxmlformats.org/officeDocument/2006/relationships/notesSlide" Target="/ppt/notesSlides/notesSlide9.xml" Id="R1883e8baf9f2429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e6f3933ea6466f" /><Relationship Type="http://schemas.openxmlformats.org/officeDocument/2006/relationships/notesSlide" Target="/ppt/notesSlides/notesSlide10.xml" Id="R73c97aff5c57497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ffd88eda7e4528" /><Relationship Type="http://schemas.openxmlformats.org/officeDocument/2006/relationships/notesSlide" Target="/ppt/notesSlides/notesSlide11.xml" Id="R73f11b15bc24476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b8d2084c9e4fe9" /><Relationship Type="http://schemas.openxmlformats.org/officeDocument/2006/relationships/notesSlide" Target="/ppt/notesSlides/notesSlide12.xml" Id="Rb488dff6075d4924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eafae7e8424075" /><Relationship Type="http://schemas.openxmlformats.org/officeDocument/2006/relationships/notesSlide" Target="/ppt/notesSlides/notesSlide13.xml" Id="Raae14039b5e34be6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f19116125e4f46" /><Relationship Type="http://schemas.openxmlformats.org/officeDocument/2006/relationships/notesSlide" Target="/ppt/notesSlides/notesSlide14.xml" Id="Rec7daf1652f74130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73a75080d6418e" /><Relationship Type="http://schemas.openxmlformats.org/officeDocument/2006/relationships/notesSlide" Target="/ppt/notesSlides/notesSlide15.xml" Id="R423057e861ca4eb7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765658513544e9" /><Relationship Type="http://schemas.openxmlformats.org/officeDocument/2006/relationships/chart" Target="/ppt/slides/charts/chart20.xml" Id="R27d70bb901024c45" /><Relationship Type="http://schemas.openxmlformats.org/officeDocument/2006/relationships/chart" Target="/ppt/slides/charts/chart21.xml" Id="R969fe1f9b19f4001" /><Relationship Type="http://schemas.openxmlformats.org/officeDocument/2006/relationships/chart" Target="/ppt/slides/charts/chart22.xml" Id="R93330a5dbb26413a" /><Relationship Type="http://schemas.openxmlformats.org/officeDocument/2006/relationships/notesSlide" Target="/ppt/notesSlides/notesSlide16.xml" Id="R7b0b3466143e4cfd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61c65accd24212" /><Relationship Type="http://schemas.openxmlformats.org/officeDocument/2006/relationships/chart" Target="/ppt/slides/charts/chart23.xml" Id="Recc43099d64548af" /><Relationship Type="http://schemas.openxmlformats.org/officeDocument/2006/relationships/chart" Target="/ppt/slides/charts/chart24.xml" Id="R167668c18e484215" /><Relationship Type="http://schemas.openxmlformats.org/officeDocument/2006/relationships/chart" Target="/ppt/slides/charts/chart25.xml" Id="Rb4e548aa437e4388" /><Relationship Type="http://schemas.openxmlformats.org/officeDocument/2006/relationships/notesSlide" Target="/ppt/notesSlides/notesSlide17.xml" Id="R809952d4abe84bd9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992ed8ce7a4c75" /><Relationship Type="http://schemas.openxmlformats.org/officeDocument/2006/relationships/chart" Target="/ppt/slides/charts/chart26.xml" Id="Rf8288613ef9f4f01" /><Relationship Type="http://schemas.openxmlformats.org/officeDocument/2006/relationships/chart" Target="/ppt/slides/charts/chart27.xml" Id="R4caf2783d2b5494c" /><Relationship Type="http://schemas.openxmlformats.org/officeDocument/2006/relationships/chart" Target="/ppt/slides/charts/chart28.xml" Id="R372df8ece4c94c7b" /><Relationship Type="http://schemas.openxmlformats.org/officeDocument/2006/relationships/chart" Target="/ppt/slides/charts/chart29.xml" Id="R93f3c8085363498d" /><Relationship Type="http://schemas.openxmlformats.org/officeDocument/2006/relationships/notesSlide" Target="/ppt/notesSlides/notesSlide18.xml" Id="Raf4c271face54607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a4c62b61804e62" /><Relationship Type="http://schemas.openxmlformats.org/officeDocument/2006/relationships/chart" Target="/ppt/slides/charts/chart30.xml" Id="Rf24437b5bbe94bb1" /><Relationship Type="http://schemas.openxmlformats.org/officeDocument/2006/relationships/chart" Target="/ppt/slides/charts/chart31.xml" Id="R4ba2431024cc43f6" /><Relationship Type="http://schemas.openxmlformats.org/officeDocument/2006/relationships/chart" Target="/ppt/slides/charts/chart32.xml" Id="R6ab0a812a1f44cdc" /><Relationship Type="http://schemas.openxmlformats.org/officeDocument/2006/relationships/chart" Target="/ppt/slides/charts/chart33.xml" Id="R9aa1679eee344c67" /><Relationship Type="http://schemas.openxmlformats.org/officeDocument/2006/relationships/chart" Target="/ppt/slides/charts/chart34.xml" Id="R1e5cd66f19e242db" /><Relationship Type="http://schemas.openxmlformats.org/officeDocument/2006/relationships/notesSlide" Target="/ppt/notesSlides/notesSlide19.xml" Id="R40e80732109d4448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9d80c45dfa487e" /><Relationship Type="http://schemas.openxmlformats.org/officeDocument/2006/relationships/notesSlide" Target="/ppt/notesSlides/notesSlide20.xml" Id="R891cf54ef52a4b16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6ec618b3a642a3" /><Relationship Type="http://schemas.openxmlformats.org/officeDocument/2006/relationships/notesSlide" Target="/ppt/notesSlides/notesSlide21.xml" Id="R0c410f5b702f4a12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d5d21901c0494a" /><Relationship Type="http://schemas.openxmlformats.org/officeDocument/2006/relationships/notesSlide" Target="/ppt/notesSlides/notesSlide22.xml" Id="R98303d37e38449df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aa45479edb49b9" /><Relationship Type="http://schemas.openxmlformats.org/officeDocument/2006/relationships/chart" Target="/ppt/slides/charts/chart35.xml" Id="Rdfb2734d35404c84" /><Relationship Type="http://schemas.openxmlformats.org/officeDocument/2006/relationships/chart" Target="/ppt/slides/charts/chart36.xml" Id="R71890446f83b448a" /><Relationship Type="http://schemas.openxmlformats.org/officeDocument/2006/relationships/chart" Target="/ppt/slides/charts/chart37.xml" Id="Rfefa53c177f14c1f" /><Relationship Type="http://schemas.openxmlformats.org/officeDocument/2006/relationships/chart" Target="/ppt/slides/charts/chart38.xml" Id="Rb9bb315bfcbb452e" /><Relationship Type="http://schemas.openxmlformats.org/officeDocument/2006/relationships/chart" Target="/ppt/slides/charts/chart39.xml" Id="Rc0679597e9aa4e63" /><Relationship Type="http://schemas.openxmlformats.org/officeDocument/2006/relationships/chart" Target="/ppt/slides/charts/chart40.xml" Id="R8a62197cf6d04a60" /><Relationship Type="http://schemas.openxmlformats.org/officeDocument/2006/relationships/chart" Target="/ppt/slides/charts/chart41.xml" Id="Rac3572171eb740d7" /><Relationship Type="http://schemas.openxmlformats.org/officeDocument/2006/relationships/notesSlide" Target="/ppt/notesSlides/notesSlide23.xml" Id="R63f8590094414b8a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73095bf28c4b22" /><Relationship Type="http://schemas.openxmlformats.org/officeDocument/2006/relationships/chart" Target="/ppt/slides/charts/chart42.xml" Id="R8a4abd9530fc4347" /><Relationship Type="http://schemas.openxmlformats.org/officeDocument/2006/relationships/chart" Target="/ppt/slides/charts/chart43.xml" Id="R45ce0b24a2c94934" /><Relationship Type="http://schemas.openxmlformats.org/officeDocument/2006/relationships/notesSlide" Target="/ppt/notesSlides/notesSlide24.xml" Id="R3c699a1fbf104b81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60b1d1cd8b4e5f" /><Relationship Type="http://schemas.openxmlformats.org/officeDocument/2006/relationships/chart" Target="/ppt/slides/charts/chart44.xml" Id="Rc1755a2cb4c34ff0" /><Relationship Type="http://schemas.openxmlformats.org/officeDocument/2006/relationships/chart" Target="/ppt/slides/charts/chart45.xml" Id="R0f331396e387438c" /><Relationship Type="http://schemas.openxmlformats.org/officeDocument/2006/relationships/chart" Target="/ppt/slides/charts/chart46.xml" Id="R231ab0bd859e4da4" /><Relationship Type="http://schemas.openxmlformats.org/officeDocument/2006/relationships/notesSlide" Target="/ppt/notesSlides/notesSlide25.xml" Id="R0182c78437e14477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9fd9d685724b8c" /><Relationship Type="http://schemas.openxmlformats.org/officeDocument/2006/relationships/chart" Target="/ppt/slides/charts/chart47.xml" Id="R6647a2e0968e43e9" /><Relationship Type="http://schemas.openxmlformats.org/officeDocument/2006/relationships/chart" Target="/ppt/slides/charts/chart48.xml" Id="Rb4668310e44a4b0c" /><Relationship Type="http://schemas.openxmlformats.org/officeDocument/2006/relationships/chart" Target="/ppt/slides/charts/chart49.xml" Id="Rd9329ae9628d429a" /><Relationship Type="http://schemas.openxmlformats.org/officeDocument/2006/relationships/chart" Target="/ppt/slides/charts/chart50.xml" Id="Ra9004a76cb0c4732" /><Relationship Type="http://schemas.openxmlformats.org/officeDocument/2006/relationships/chart" Target="/ppt/slides/charts/chart51.xml" Id="R0b8e5f0be367475c" /><Relationship Type="http://schemas.openxmlformats.org/officeDocument/2006/relationships/notesSlide" Target="/ppt/notesSlides/notesSlide26.xml" Id="R3d75dbeb61a14cab" /></Relationships>
</file>

<file path=ppt/slides/charts/chart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FIDCs ex-FIC</c:v>
          </c:tx>
          <c:spPr>
            <a:solidFill>
              <a:srgbClr val="EC7000"/>
            </a:solidFill>
          </c:spPr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Jun/26</c:v>
              </c:pt>
            </c:strLit>
          </c:cat>
          <c:val>
            <c:numLit>
              <c:formatCode>0.0</c:formatCode>
              <c:ptCount val="12"/>
              <c:pt idx="0">
                <c:v>82.47394622656002</c:v>
              </c:pt>
              <c:pt idx="1">
                <c:v>91.06663976073</c:v>
              </c:pt>
              <c:pt idx="2">
                <c:v>110.17917421320999</c:v>
              </c:pt>
              <c:pt idx="3">
                <c:v>131.15934835309002</c:v>
              </c:pt>
              <c:pt idx="4">
                <c:v>227.71359379045998</c:v>
              </c:pt>
              <c:pt idx="5">
                <c:v>207.20204249441997</c:v>
              </c:pt>
              <c:pt idx="6">
                <c:v>296.00245013669</c:v>
              </c:pt>
              <c:pt idx="7">
                <c:v>361.4746705835</c:v>
              </c:pt>
              <c:pt idx="8">
                <c:v>452.33503972062</c:v>
              </c:pt>
              <c:pt idx="9">
                <c:v>651.4527427988997</c:v>
              </c:pt>
              <c:pt idx="10">
                <c:v>772.1084321980501</c:v>
              </c:pt>
              <c:pt idx="11">
                <c:v>821</c:v>
              </c:pt>
            </c:numLit>
          </c:val>
        </c:ser>
        <c:dLbls>
          <c:txPr>
            <a:bodyPr anchorCtr="1"/>
            <a:lstStyle/>
            <a:p>
              <a:pPr>
                <a:defRPr sz="615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000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[&gt;=1000]#\.##0;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75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200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Empréstimos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3362.376</c:v>
              </c:pt>
              <c:pt idx="1">
                <c:v>3266.892</c:v>
              </c:pt>
              <c:pt idx="2">
                <c:v>3270.332</c:v>
              </c:pt>
              <c:pt idx="3">
                <c:v>3455.08</c:v>
              </c:pt>
              <c:pt idx="4">
                <c:v>3677.557</c:v>
              </c:pt>
              <c:pt idx="5">
                <c:v>4239.899</c:v>
              </c:pt>
              <c:pt idx="6">
                <c:v>4906.92</c:v>
              </c:pt>
              <c:pt idx="7">
                <c:v>5628.48</c:v>
              </c:pt>
              <c:pt idx="8">
                <c:v>6088.547</c:v>
              </c:pt>
              <c:pt idx="9">
                <c:v>6758.822</c:v>
              </c:pt>
              <c:pt idx="10">
                <c:v>7454.674</c:v>
              </c:pt>
              <c:pt idx="11">
                <c:v>7666.364</c:v>
              </c:pt>
            </c:numLit>
          </c:val>
        </c:ser>
        <c:ser>
          <c:idx val="1"/>
          <c:order val="1"/>
          <c:tx>
            <c:v>Títulos privados</c:v>
          </c:tx>
          <c:spPr>
            <a:solidFill>
              <a:srgbClr val="8D939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245.674</c:v>
              </c:pt>
              <c:pt idx="1">
                <c:v>242.427</c:v>
              </c:pt>
              <c:pt idx="2">
                <c:v>304.747</c:v>
              </c:pt>
              <c:pt idx="3">
                <c:v>354.539</c:v>
              </c:pt>
              <c:pt idx="4">
                <c:v>480.213</c:v>
              </c:pt>
              <c:pt idx="5">
                <c:v>499.564</c:v>
              </c:pt>
              <c:pt idx="6">
                <c:v>635.901</c:v>
              </c:pt>
              <c:pt idx="7">
                <c:v>849.483</c:v>
              </c:pt>
              <c:pt idx="8">
                <c:v>976.105</c:v>
              </c:pt>
              <c:pt idx="9">
                <c:v>1214.121</c:v>
              </c:pt>
              <c:pt idx="10">
                <c:v>1413.637</c:v>
              </c:pt>
              <c:pt idx="11">
                <c:v>1506.688</c:v>
              </c:pt>
            </c:numLit>
          </c:val>
        </c:ser>
        <c:ser>
          <c:idx val="2"/>
          <c:order val="2"/>
          <c:tx>
            <c:v>FIDCs · carteira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70.69879439891001</c:v>
              </c:pt>
              <c:pt idx="1">
                <c:v>81.9073701812</c:v>
              </c:pt>
              <c:pt idx="2">
                <c:v>95.50993683035</c:v>
              </c:pt>
              <c:pt idx="3">
                <c:v>106.12068752539999</c:v>
              </c:pt>
              <c:pt idx="4">
                <c:v>182.14515826151</c:v>
              </c:pt>
              <c:pt idx="5">
                <c:v>159.9315713704</c:v>
              </c:pt>
              <c:pt idx="6">
                <c:v>250.01323870676</c:v>
              </c:pt>
              <c:pt idx="7">
                <c:v>304.88387968723</c:v>
              </c:pt>
              <c:pt idx="8">
                <c:v>387.79349892013</c:v>
              </c:pt>
              <c:pt idx="9">
                <c:v>549.88571619299</c:v>
              </c:pt>
              <c:pt idx="10">
                <c:v>641.3242789240101</c:v>
              </c:pt>
              <c:pt idx="11">
                <c:v>676.899410153</c:v>
              </c:pt>
            </c:numLit>
          </c:val>
        </c:ser>
        <c:ser>
          <c:idx val="3"/>
          <c:order val="3"/>
          <c:tx>
            <c:v>Outras securitizações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72.80420560108999</c:v>
              </c:pt>
              <c:pt idx="1">
                <c:v>91.8096298188</c:v>
              </c:pt>
              <c:pt idx="2">
                <c:v>113.15306316965</c:v>
              </c:pt>
              <c:pt idx="3">
                <c:v>121.5283124746</c:v>
              </c:pt>
              <c:pt idx="4">
                <c:v>128.42384173849</c:v>
              </c:pt>
              <c:pt idx="5">
                <c:v>127.91442862960001</c:v>
              </c:pt>
              <c:pt idx="6">
                <c:v>183.95476129323998</c:v>
              </c:pt>
              <c:pt idx="7">
                <c:v>261.47012031277</c:v>
              </c:pt>
              <c:pt idx="8">
                <c:v>334.01450107987</c:v>
              </c:pt>
              <c:pt idx="9">
                <c:v>444.74928380701</c:v>
              </c:pt>
              <c:pt idx="10">
                <c:v>452.05372107599</c:v>
              </c:pt>
              <c:pt idx="11">
                <c:v>496.839589847</c:v>
              </c:pt>
            </c:numLit>
          </c:val>
        </c:ser>
        <c:ser>
          <c:idx val="4"/>
          <c:order val="4"/>
          <c:tx>
            <c:v>Dívida externa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1996.897</c:v>
              </c:pt>
              <c:pt idx="1">
                <c:v>1735.5</c:v>
              </c:pt>
              <c:pt idx="2">
                <c:v>1743.734</c:v>
              </c:pt>
              <c:pt idx="3">
                <c:v>1982.893</c:v>
              </c:pt>
              <c:pt idx="4">
                <c:v>2075.703</c:v>
              </c:pt>
              <c:pt idx="5">
                <c:v>2566.911</c:v>
              </c:pt>
              <c:pt idx="6">
                <c:v>2820.561</c:v>
              </c:pt>
              <c:pt idx="7">
                <c:v>2714.754</c:v>
              </c:pt>
              <c:pt idx="8">
                <c:v>2713.732</c:v>
              </c:pt>
              <c:pt idx="9">
                <c:v>3408.391</c:v>
              </c:pt>
              <c:pt idx="10">
                <c:v>3405.938</c:v>
              </c:pt>
              <c:pt idx="11">
                <c:v>3432.857</c:v>
              </c:pt>
            </c:numLit>
          </c:val>
        </c:ser>
        <c:dLbls>
          <c:txPr>
            <a:bodyPr anchorCtr="1"/>
            <a:lstStyle/>
            <a:p>
              <a:pPr>
                <a:defRPr sz="435" b="0" lang="pt-BR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lineChart>
        <c:grouping val="standard"/>
        <c:varyColors val="0"/>
        <c:ser>
          <c:idx val="5"/>
          <c:order val="5"/>
          <c:tx>
            <c:v>Total</c:v>
          </c:tx>
          <c:spPr>
            <a:ln>
              <a:noFill/>
            </a:ln>
          </c:spPr>
          <c:marker>
            <c:symbol val="none"/>
            <c:size val="2"/>
          </c:marker>
          <c:dLbls>
            <c:dLblPos val="t"/>
            <c:numFmt formatCode="[&gt;=1000]#\.##0;0" sourceLinked="0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txPr>
              <a:bodyPr/>
              <a:lstStyle/>
              <a:p>
                <a:pPr>
                  <a:defRPr sz="850" b="1" lang="pt-BR">
                    <a:latin typeface="Arial"/>
                    <a:ea typeface="Arial"/>
                    <a:cs typeface="Arial"/>
                  </a:defRPr>
                </a:pPr>
                <a:endParaRPr lang="pt-BR"/>
              </a:p>
            </c:txPr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0</c:formatCode>
              <c:ptCount val="12"/>
              <c:pt idx="0">
                <c:v>5748.45</c:v>
              </c:pt>
              <c:pt idx="1">
                <c:v>5418.536</c:v>
              </c:pt>
              <c:pt idx="2">
                <c:v>5527.476</c:v>
              </c:pt>
              <c:pt idx="3">
                <c:v>6020.161</c:v>
              </c:pt>
              <c:pt idx="4">
                <c:v>6544.042</c:v>
              </c:pt>
              <c:pt idx="5">
                <c:v>7594.22</c:v>
              </c:pt>
              <c:pt idx="6">
                <c:v>8797.35</c:v>
              </c:pt>
              <c:pt idx="7">
                <c:v>9759.071</c:v>
              </c:pt>
              <c:pt idx="8">
                <c:v>10500.192</c:v>
              </c:pt>
              <c:pt idx="9">
                <c:v>12375.969</c:v>
              </c:pt>
              <c:pt idx="10">
                <c:v>13367.627</c:v>
              </c:pt>
              <c:pt idx="11">
                <c:v>13779.648</c:v>
              </c:pt>
            </c:numLit>
          </c:val>
          <c:smooth val="0"/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4000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[&gt;=1000]#\.##0;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75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5000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Empréstimos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Tít. privados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FIDCs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Outras securitizações</c:v>
          </c:tx>
          <c:spPr>
            <a:ln w="28575">
              <a:solidFill>
                <a:srgbClr val="D7DAD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4"/>
          <c:order val="4"/>
          <c:tx>
            <c:v>Dívida externa</c:v>
          </c:tx>
          <c:spPr>
            <a:ln w="28575">
              <a:solidFill>
                <a:srgbClr val="E7E9EB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FIDCs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43.74614019622497</c:v>
              </c:pt>
              <c:pt idx="1">
                <c:v>95.41672613375</c:v>
              </c:pt>
              <c:pt idx="2">
                <c:v>116.92131905477001</c:v>
              </c:pt>
              <c:pt idx="3">
                <c:v>65.48811898356</c:v>
              </c:pt>
            </c:numLit>
          </c:val>
        </c:ser>
        <c:ser>
          <c:idx val="1"/>
          <c:order val="1"/>
          <c:tx>
            <c:v>Demais elegíveis</c:v>
          </c:tx>
          <c:spPr>
            <a:solidFill>
              <a:srgbClr val="30353A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353.4478795703001</c:v>
              </c:pt>
              <c:pt idx="1">
                <c:v>628.73334224723</c:v>
              </c:pt>
              <c:pt idx="2">
                <c:v>656.0946706342701</c:v>
              </c:pt>
              <c:pt idx="3">
                <c:v>246.82887238694</c:v>
              </c:pt>
            </c:numLit>
          </c:val>
        </c:ser>
        <c:dLbls>
          <c:txPr>
            <a:bodyPr anchorCtr="1"/>
            <a:lstStyle/>
            <a:p>
              <a:pPr>
                <a:defRPr sz="6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90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9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Debêntures</c:v>
          </c:tx>
          <c:spPr>
            <a:solidFill>
              <a:srgbClr val="151515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jan–mai</c:v>
              </c:pt>
            </c:strLit>
          </c:cat>
          <c:val>
            <c:numLit>
              <c:formatCode>0.0</c:formatCode>
              <c:ptCount val="4"/>
              <c:pt idx="0">
                <c:v>236.61663924185</c:v>
              </c:pt>
              <c:pt idx="1">
                <c:v>474.3602899026376</c:v>
              </c:pt>
              <c:pt idx="2">
                <c:v>493.39007310800173</c:v>
              </c:pt>
              <c:pt idx="3">
                <c:v>146.3144924010112</c:v>
              </c:pt>
            </c:numLit>
          </c:val>
        </c:ser>
        <c:ser>
          <c:idx val="1"/>
          <c:order val="1"/>
          <c:tx>
            <c:v>FIDCs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jan–mai</c:v>
              </c:pt>
            </c:strLit>
          </c:cat>
          <c:val>
            <c:numLit>
              <c:formatCode>0.0</c:formatCode>
              <c:ptCount val="4"/>
              <c:pt idx="0">
                <c:v>43.74614019622497</c:v>
              </c:pt>
              <c:pt idx="1">
                <c:v>82.86326248207118</c:v>
              </c:pt>
              <c:pt idx="2">
                <c:v>90.98510609270312</c:v>
              </c:pt>
              <c:pt idx="3">
                <c:v>41.64812990194184</c:v>
              </c:pt>
            </c:numLit>
          </c:val>
        </c:ser>
        <c:ser>
          <c:idx val="2"/>
          <c:order val="2"/>
          <c:tx>
            <c:v>CRI</c:v>
          </c:tx>
          <c:spPr>
            <a:solidFill>
              <a:srgbClr val="73787D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jan–mai</c:v>
              </c:pt>
            </c:strLit>
          </c:cat>
          <c:val>
            <c:numLit>
              <c:formatCode>0.0</c:formatCode>
              <c:ptCount val="4"/>
              <c:pt idx="0">
                <c:v>47.70970732449912</c:v>
              </c:pt>
              <c:pt idx="1">
                <c:v>61.35438150259683</c:v>
              </c:pt>
              <c:pt idx="2">
                <c:v>49.37089080745136</c:v>
              </c:pt>
              <c:pt idx="3">
                <c:v>15.66562156942634</c:v>
              </c:pt>
            </c:numLit>
          </c:val>
        </c:ser>
        <c:ser>
          <c:idx val="3"/>
          <c:order val="3"/>
          <c:tx>
            <c:v>Notas comerciais</c:v>
          </c:tx>
          <c:spPr>
            <a:solidFill>
              <a:srgbClr val="8D9399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jan–mai</c:v>
              </c:pt>
            </c:strLit>
          </c:cat>
          <c:val>
            <c:numLit>
              <c:formatCode>0.0</c:formatCode>
              <c:ptCount val="4"/>
              <c:pt idx="0">
                <c:v>27.907646005</c:v>
              </c:pt>
              <c:pt idx="1">
                <c:v>43.5623695</c:v>
              </c:pt>
              <c:pt idx="2">
                <c:v>51.792395853</c:v>
              </c:pt>
              <c:pt idx="3">
                <c:v>17.089791033</c:v>
              </c:pt>
            </c:numLit>
          </c:val>
        </c:ser>
        <c:ser>
          <c:idx val="4"/>
          <c:order val="4"/>
          <c:tx>
            <c:v>CRA</c:v>
          </c:tx>
          <c:spPr>
            <a:solidFill>
              <a:srgbClr val="D7DADD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jan–mai</c:v>
              </c:pt>
            </c:strLit>
          </c:cat>
          <c:val>
            <c:numLit>
              <c:formatCode>0.0</c:formatCode>
              <c:ptCount val="4"/>
              <c:pt idx="0">
                <c:v>43.29453785729</c:v>
              </c:pt>
              <c:pt idx="1">
                <c:v>41.564214397</c:v>
              </c:pt>
              <c:pt idx="2">
                <c:v>46.16839518391086</c:v>
              </c:pt>
              <c:pt idx="3">
                <c:v>5.36268</c:v>
              </c:pt>
            </c:numLit>
          </c:val>
        </c:ser>
        <c:dLbls>
          <c:txPr>
            <a:bodyPr anchorCtr="1"/>
            <a:lstStyle/>
            <a:p>
              <a:pPr>
                <a:defRPr sz="525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4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90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15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4.751893772390955</c:v>
              </c:pt>
              <c:pt idx="1">
                <c:v>10.68514314594</c:v>
              </c:pt>
              <c:pt idx="2">
                <c:v>10.93480114906</c:v>
              </c:pt>
              <c:pt idx="3">
                <c:v>4.1399598732</c:v>
              </c:pt>
              <c:pt idx="4">
                <c:v>7.32031892482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8D9399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10.432998463290515</c:v>
              </c:pt>
              <c:pt idx="1">
                <c:v>21.484603508400003</c:v>
              </c:pt>
              <c:pt idx="2">
                <c:v>28.71965699961</c:v>
              </c:pt>
              <c:pt idx="3">
                <c:v>19.39381267632</c:v>
              </c:pt>
              <c:pt idx="4">
                <c:v>9.78363727233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17.13055294499981</c:v>
              </c:pt>
              <c:pt idx="1">
                <c:v>44.66609152533</c:v>
              </c:pt>
              <c:pt idx="2">
                <c:v>51.12676092368</c:v>
              </c:pt>
              <c:pt idx="3">
                <c:v>21.12168209032</c:v>
              </c:pt>
              <c:pt idx="4">
                <c:v>39.32799902597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8.566133770094378</c:v>
              </c:pt>
              <c:pt idx="1">
                <c:v>11.55076395418</c:v>
              </c:pt>
              <c:pt idx="2">
                <c:v>15.6821287893</c:v>
              </c:pt>
              <c:pt idx="3">
                <c:v>7.79214732856</c:v>
              </c:pt>
              <c:pt idx="4">
                <c:v>6.24278421138</c:v>
              </c:pt>
            </c:numLit>
          </c:val>
        </c:ser>
        <c:dLbls>
          <c:txPr>
            <a:bodyPr anchorCtr="1"/>
            <a:lstStyle/>
            <a:p>
              <a:pPr>
                <a:defRPr sz="435" b="0" lang="pt-BR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563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7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0.1162355734379187</c:v>
              </c:pt>
              <c:pt idx="1">
                <c:v>0.1208909822074474</c:v>
              </c:pt>
              <c:pt idx="2">
                <c:v>0.1027095368376905</c:v>
              </c:pt>
              <c:pt idx="3">
                <c:v>0.0789351603852994</c:v>
              </c:pt>
              <c:pt idx="4">
                <c:v>0.1167985537852982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8D9399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0.2552004773556469</c:v>
              </c:pt>
              <c:pt idx="1">
                <c:v>0.2430753416209434</c:v>
              </c:pt>
              <c:pt idx="2">
                <c:v>0.2697609794962622</c:v>
              </c:pt>
              <c:pt idx="3">
                <c:v>0.3697750125545281</c:v>
              </c:pt>
              <c:pt idx="4">
                <c:v>0.1561017622188069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0.4190286526268034</c:v>
              </c:pt>
              <c:pt idx="1">
                <c:v>0.5053491190631926</c:v>
              </c:pt>
              <c:pt idx="2">
                <c:v>0.4802287543138286</c:v>
              </c:pt>
              <c:pt idx="3">
                <c:v>0.4027196916085114</c:v>
              </c:pt>
              <c:pt idx="4">
                <c:v>0.627493618335196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0.209535296579631</c:v>
              </c:pt>
              <c:pt idx="1">
                <c:v>0.1306845571084164</c:v>
              </c:pt>
              <c:pt idx="2">
                <c:v>0.1473007293522185</c:v>
              </c:pt>
              <c:pt idx="3">
                <c:v>0.1485701354516612</c:v>
              </c:pt>
              <c:pt idx="4">
                <c:v>0.0996060656606988</c:v>
              </c:pt>
            </c:numLit>
          </c:val>
        </c:ser>
        <c:dLbls>
          <c:txPr>
            <a:bodyPr anchorCtr="1"/>
            <a:lstStyle/>
            <a:p>
              <a:pPr>
                <a:defRPr sz="420" b="0" lang="pt-BR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563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56.03754109901</c:v>
              </c:pt>
              <c:pt idx="1">
                <c:v>71.63113667962</c:v>
              </c:pt>
              <c:pt idx="2">
                <c:v>90.9436339225</c:v>
              </c:pt>
              <c:pt idx="3">
                <c:v>95.85624007955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120.59893179347</c:v>
              </c:pt>
              <c:pt idx="1">
                <c:v>194.42720344778</c:v>
              </c:pt>
              <c:pt idx="2">
                <c:v>185.15696400279998</c:v>
              </c:pt>
              <c:pt idx="3">
                <c:v>209.31443106625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157.14931618562</c:v>
              </c:pt>
              <c:pt idx="1">
                <c:v>215.84746316414999</c:v>
              </c:pt>
              <c:pt idx="2">
                <c:v>277.12147225031</c:v>
              </c:pt>
              <c:pt idx="3">
                <c:v>327.05065731882</c:v>
              </c:pt>
            </c:numLit>
          </c:val>
        </c:ser>
        <c:ser>
          <c:idx val="3"/>
          <c:order val="3"/>
          <c:tx>
            <c:v>Precatórios e/ou Ações Judiciais</c:v>
          </c:tx>
          <c:spPr>
            <a:solidFill>
              <a:srgbClr val="15151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60.250322488660004</c:v>
              </c:pt>
              <c:pt idx="1">
                <c:v>77.69178718646</c:v>
              </c:pt>
              <c:pt idx="2">
                <c:v>99.49780005619</c:v>
              </c:pt>
              <c:pt idx="3">
                <c:v>89.12992821119</c:v>
              </c:pt>
            </c:numLit>
          </c:val>
        </c:ser>
        <c:ser>
          <c:idx val="4"/>
          <c:order val="4"/>
          <c:tx>
            <c:v>Multicedente/Multisacado</c:v>
          </c:tx>
          <c:spPr>
            <a:solidFill>
              <a:srgbClr val="8D939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44.96060014172</c:v>
              </c:pt>
              <c:pt idx="1">
                <c:v>70.64119995794</c:v>
              </c:pt>
              <c:pt idx="2">
                <c:v>98.69731432663</c:v>
              </c:pt>
              <c:pt idx="3">
                <c:v>76.90727390704</c:v>
              </c:pt>
            </c:numLit>
          </c:val>
        </c:ser>
        <c:ser>
          <c:idx val="5"/>
          <c:order val="5"/>
          <c:tx>
            <c:v>Recuperação / FIDCs NP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12.845805303059999</c:v>
              </c:pt>
              <c:pt idx="1">
                <c:v>20.99197649657</c:v>
              </c:pt>
              <c:pt idx="2">
                <c:v>20.60803987316</c:v>
              </c:pt>
              <c:pt idx="3">
                <c:v>21.46433859366</c:v>
              </c:pt>
            </c:numLit>
          </c:val>
        </c:ser>
        <c:ser>
          <c:idx val="6"/>
          <c:order val="6"/>
          <c:tx>
            <c:v>N/D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0.49252270908</c:v>
              </c:pt>
              <c:pt idx="1">
                <c:v>0.22197586638</c:v>
              </c:pt>
              <c:pt idx="2">
                <c:v>0.08320776646</c:v>
              </c:pt>
              <c:pt idx="3">
                <c:v>1.63869010794</c:v>
              </c:pt>
            </c:numLit>
          </c:val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900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0.12388503250515592</c:v>
              </c:pt>
              <c:pt idx="1">
                <c:v>0.10995599829983699</c:v>
              </c:pt>
              <c:pt idx="2">
                <c:v>0.11778609082612954</c:v>
              </c:pt>
              <c:pt idx="3">
                <c:v>0.11670407385884678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0.26661417136279486</c:v>
              </c:pt>
              <c:pt idx="1">
                <c:v>0.29845173820658644</c:v>
              </c:pt>
              <c:pt idx="2">
                <c:v>0.23980694457084523</c:v>
              </c:pt>
              <c:pt idx="3">
                <c:v>0.25483835796820054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0.3474179587826794</c:v>
              </c:pt>
              <c:pt idx="1">
                <c:v>0.33133249579514157</c:v>
              </c:pt>
              <c:pt idx="2">
                <c:v>0.35891522575578716</c:v>
              </c:pt>
              <c:pt idx="3">
                <c:v>0.39818110991673206</c:v>
              </c:pt>
            </c:numLit>
          </c:val>
        </c:ser>
        <c:ser>
          <c:idx val="3"/>
          <c:order val="3"/>
          <c:tx>
            <c:v>Precatórios e/ou Ações Judiciais</c:v>
          </c:tx>
          <c:spPr>
            <a:solidFill>
              <a:srgbClr val="15151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0.13319844185821417</c:v>
              </c:pt>
              <c:pt idx="1">
                <c:v>0.11925928326384075</c:v>
              </c:pt>
              <c:pt idx="2">
                <c:v>0.1288650607958498</c:v>
              </c:pt>
              <c:pt idx="3">
                <c:v>0.10851485220325846</c:v>
              </c:pt>
            </c:numLit>
          </c:val>
        </c:ser>
        <c:ser>
          <c:idx val="4"/>
          <c:order val="4"/>
          <c:tx>
            <c:v>Multicedente/Multisacado</c:v>
          </c:tx>
          <c:spPr>
            <a:solidFill>
              <a:srgbClr val="8D939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0.09939667766947581</c:v>
              </c:pt>
              <c:pt idx="1">
                <c:v>0.10843641497990678</c:v>
              </c:pt>
              <c:pt idx="2">
                <c:v>0.1278283078008318</c:v>
              </c:pt>
              <c:pt idx="3">
                <c:v>0.09363388514802144</c:v>
              </c:pt>
            </c:numLit>
          </c:val>
        </c:ser>
        <c:ser>
          <c:idx val="5"/>
          <c:order val="5"/>
          <c:tx>
            <c:v>Recuperação / FIDCs NP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0.028398872904018393</c:v>
              </c:pt>
              <c:pt idx="1">
                <c:v>0.032223329671435756</c:v>
              </c:pt>
              <c:pt idx="2">
                <c:v>0.026690603306186823</c:v>
              </c:pt>
              <c:pt idx="3">
                <c:v>0.02613263105758103</c:v>
              </c:pt>
            </c:numLit>
          </c:val>
        </c:ser>
        <c:ser>
          <c:idx val="6"/>
          <c:order val="6"/>
          <c:tx>
            <c:v>N/D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0.0010888449176614783</c:v>
              </c:pt>
              <c:pt idx="1">
                <c:v>0.0003407397832516652</c:v>
              </c:pt>
              <c:pt idx="2">
                <c:v>0.00010776694436961769</c:v>
              </c:pt>
              <c:pt idx="3">
                <c:v>0.001995089847359775</c:v>
              </c:pt>
            </c:numLit>
          </c:val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0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Fomento Mercantil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Financeiro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Precatórios e/ou Ações Judiciais</c:v>
          </c:tx>
          <c:spPr>
            <a:ln w="28575">
              <a:solidFill>
                <a:srgbClr val="151515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4"/>
          <c:order val="4"/>
          <c:tx>
            <c:v>Multicedente/Multisacado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5"/>
          <c:order val="5"/>
          <c:tx>
            <c:v>Recuperação / FIDCs NP</c:v>
          </c:tx>
          <c:spPr>
            <a:ln w="28575">
              <a:solidFill>
                <a:srgbClr val="E7E9EB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6"/>
          <c:order val="6"/>
          <c:tx>
            <c:v>N/D</c:v>
          </c:tx>
          <c:spPr>
            <a:ln w="28575">
              <a:solidFill>
                <a:srgbClr val="D7DAD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</c:formatCode>
              <c:ptCount val="12"/>
              <c:pt idx="0">
                <c:v>112.83368367224</c:v>
              </c:pt>
              <c:pt idx="1">
                <c:v>103.39874467744</c:v>
              </c:pt>
              <c:pt idx="2">
                <c:v>51.72285589365</c:v>
              </c:pt>
              <c:pt idx="3">
                <c:v>48.499678</c:v>
              </c:pt>
              <c:pt idx="4">
                <c:v>24.163748261490003</c:v>
              </c:pt>
              <c:pt idx="5">
                <c:v>25.154517560259997</c:v>
              </c:pt>
              <c:pt idx="6">
                <c:v>27.32144595605</c:v>
              </c:pt>
              <c:pt idx="7">
                <c:v>9.90241714442</c:v>
              </c:pt>
              <c:pt idx="8">
                <c:v>17.30426139734</c:v>
              </c:pt>
              <c:pt idx="9">
                <c:v>30.455624762630002</c:v>
              </c:pt>
              <c:pt idx="10">
                <c:v>1.36475726781</c:v>
              </c:pt>
              <c:pt idx="11">
                <c:v>0.21330512728999998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</c:formatCode>
              <c:ptCount val="12"/>
              <c:pt idx="0">
                <c:v>336.68042868161</c:v>
              </c:pt>
              <c:pt idx="1">
                <c:v>118.22202651527</c:v>
              </c:pt>
              <c:pt idx="2">
                <c:v>99.24654124799001</c:v>
              </c:pt>
              <c:pt idx="3">
                <c:v>85.66685206006</c:v>
              </c:pt>
              <c:pt idx="4">
                <c:v>57.4323241591</c:v>
              </c:pt>
              <c:pt idx="5">
                <c:v>43.107876023699994</c:v>
              </c:pt>
              <c:pt idx="6">
                <c:v>27.72682732234</c:v>
              </c:pt>
              <c:pt idx="7">
                <c:v>25.98170017243</c:v>
              </c:pt>
              <c:pt idx="8">
                <c:v>12.07779703784</c:v>
              </c:pt>
              <c:pt idx="9">
                <c:v>11.00644353036</c:v>
              </c:pt>
              <c:pt idx="10">
                <c:v>4.10910183534</c:v>
              </c:pt>
              <c:pt idx="11">
                <c:v>0.10364069841</c:v>
              </c:pt>
            </c:numLit>
          </c:val>
        </c:ser>
        <c:dLbls>
          <c:txPr>
            <a:bodyPr anchorCtr="1"/>
            <a:lstStyle/>
            <a:p>
              <a:pPr>
                <a:defRPr sz="653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 lang="pt-BR">
                <a:solidFill>
                  <a:srgbClr val="8D9399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2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0.0%</c:formatCode>
              <c:ptCount val="12"/>
              <c:pt idx="0">
                <c:v>0.2494471437409106</c:v>
              </c:pt>
              <c:pt idx="1">
                <c:v>0.2285888458725266</c:v>
              </c:pt>
              <c:pt idx="2">
                <c:v>0.1143463392214675</c:v>
              </c:pt>
              <c:pt idx="3">
                <c:v>0.1072206964774502</c:v>
              </c:pt>
              <c:pt idx="4">
                <c:v>0.0534200230793848</c:v>
              </c:pt>
              <c:pt idx="5">
                <c:v>0.055610366987701</c:v>
              </c:pt>
              <c:pt idx="6">
                <c:v>0.0604009054282524</c:v>
              </c:pt>
              <c:pt idx="7">
                <c:v>0.0218917755090035</c:v>
              </c:pt>
              <c:pt idx="8">
                <c:v>0.0382554077792155</c:v>
              </c:pt>
              <c:pt idx="9">
                <c:v>0.0673297933793512</c:v>
              </c:pt>
              <c:pt idx="10">
                <c:v>0.0030171380679527</c:v>
              </c:pt>
              <c:pt idx="11">
                <c:v>0.0004715644567835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0.0%</c:formatCode>
              <c:ptCount val="12"/>
              <c:pt idx="0">
                <c:v>0.4099052662933455</c:v>
              </c:pt>
              <c:pt idx="1">
                <c:v>0.1439342092150771</c:v>
              </c:pt>
              <c:pt idx="2">
                <c:v>0.1208317337549265</c:v>
              </c:pt>
              <c:pt idx="3">
                <c:v>0.1042985894478563</c:v>
              </c:pt>
              <c:pt idx="4">
                <c:v>0.0699233163640305</c:v>
              </c:pt>
              <c:pt idx="5">
                <c:v>0.0524834350188661</c:v>
              </c:pt>
              <c:pt idx="6">
                <c:v>0.0337571523879141</c:v>
              </c:pt>
              <c:pt idx="7">
                <c:v>0.0316324764395653</c:v>
              </c:pt>
              <c:pt idx="8">
                <c:v>0.0147046046912176</c:v>
              </c:pt>
              <c:pt idx="9">
                <c:v>0.0134002418374053</c:v>
              </c:pt>
              <c:pt idx="10">
                <c:v>0.0050027929708808</c:v>
              </c:pt>
              <c:pt idx="11">
                <c:v>0.0001261815789142</c:v>
              </c:pt>
            </c:numLit>
          </c:val>
        </c:ser>
        <c:dLbls>
          <c:txPr>
            <a:bodyPr anchorCtr="1"/>
            <a:lstStyle/>
            <a:p>
              <a:pPr>
                <a:defRPr sz="653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2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3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Dez/23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</c:formatCode>
              <c:ptCount val="10"/>
              <c:pt idx="0">
                <c:v>118.04530398702</c:v>
              </c:pt>
              <c:pt idx="1">
                <c:v>115.89580945848</c:v>
              </c:pt>
              <c:pt idx="2">
                <c:v>77.90442532195</c:v>
              </c:pt>
              <c:pt idx="3">
                <c:v>39.74983932099</c:v>
              </c:pt>
              <c:pt idx="4">
                <c:v>26.373186905759997</c:v>
              </c:pt>
              <c:pt idx="5">
                <c:v>19.27032074904</c:v>
              </c:pt>
              <c:pt idx="6">
                <c:v>26.30715069555</c:v>
              </c:pt>
              <c:pt idx="7">
                <c:v>14.24326332352</c:v>
              </c:pt>
              <c:pt idx="8">
                <c:v>1.5402300008699998</c:v>
              </c:pt>
              <c:pt idx="9">
                <c:v>0.16600309574000002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</c:formatCode>
              <c:ptCount val="10"/>
              <c:pt idx="0">
                <c:v>326.76177442545</c:v>
              </c:pt>
              <c:pt idx="1">
                <c:v>123.12261035610001</c:v>
              </c:pt>
              <c:pt idx="2">
                <c:v>78.58984371139</c:v>
              </c:pt>
              <c:pt idx="3">
                <c:v>77.39724903534</c:v>
              </c:pt>
              <c:pt idx="4">
                <c:v>57.591468014120004</c:v>
              </c:pt>
              <c:pt idx="5">
                <c:v>34.27503303086</c:v>
              </c:pt>
              <c:pt idx="6">
                <c:v>27.36423282215</c:v>
              </c:pt>
              <c:pt idx="7">
                <c:v>9.12643607218</c:v>
              </c:pt>
              <c:pt idx="8">
                <c:v>3.0872617298200002</c:v>
              </c:pt>
              <c:pt idx="9">
                <c:v>0.09505420486</c:v>
              </c:pt>
            </c:numLit>
          </c:val>
        </c:ser>
        <c:dLbls>
          <c:txPr>
            <a:bodyPr anchorCtr="1"/>
            <a:lstStyle/>
            <a:p>
              <a:pPr>
                <a:defRPr sz="615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75" lang="pt-BR">
                <a:solidFill>
                  <a:srgbClr val="8D9399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0.0%</c:formatCode>
              <c:ptCount val="10"/>
              <c:pt idx="0">
                <c:v>0.2685927277101883</c:v>
              </c:pt>
              <c:pt idx="1">
                <c:v>0.26370190546551714</c:v>
              </c:pt>
              <c:pt idx="2">
                <c:v>0.17725874212004258</c:v>
              </c:pt>
              <c:pt idx="3">
                <c:v>0.09044423970004235</c:v>
              </c:pt>
              <c:pt idx="4">
                <c:v>0.06000786113615837</c:v>
              </c:pt>
              <c:pt idx="5">
                <c:v>0.04384645419189245</c:v>
              </c:pt>
              <c:pt idx="6">
                <c:v>0.05985760657092893</c:v>
              </c:pt>
              <c:pt idx="7">
                <c:v>0.032408209546221145</c:v>
              </c:pt>
              <c:pt idx="8">
                <c:v>0.0035045407420885447</c:v>
              </c:pt>
              <c:pt idx="9">
                <c:v>0.00037771281692022964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0.0%</c:formatCode>
              <c:ptCount val="10"/>
              <c:pt idx="0">
                <c:v>0.4431203096273956</c:v>
              </c:pt>
              <c:pt idx="1">
                <c:v>0.16696606975849174</c:v>
              </c:pt>
              <c:pt idx="2">
                <c:v>0.10657536653481774</c:v>
              </c:pt>
              <c:pt idx="3">
                <c:v>0.1049580937585254</c:v>
              </c:pt>
              <c:pt idx="4">
                <c:v>0.07809955489189396</c:v>
              </c:pt>
              <c:pt idx="5">
                <c:v>0.046480232505252836</c:v>
              </c:pt>
              <c:pt idx="6">
                <c:v>0.0371085245273501</c:v>
              </c:pt>
              <c:pt idx="7">
                <c:v>0.012376322736066207</c:v>
              </c:pt>
              <c:pt idx="8">
                <c:v>0.004186623040666466</c:v>
              </c:pt>
              <c:pt idx="9">
                <c:v>0.00012890261953990822</c:v>
              </c:pt>
            </c:numLit>
          </c:val>
        </c:ser>
        <c:dLbls>
          <c:txPr>
            <a:bodyPr anchorCtr="1"/>
            <a:lstStyle/>
            <a:p>
              <a:pPr>
                <a:defRPr sz="615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6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Dez/23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7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Dez/25</c:v>
          </c:tx>
          <c:spPr>
            <a:solidFill>
              <a:srgbClr val="73787D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0.7168643095519629</c:v>
              </c:pt>
              <c:pt idx="1">
                <c:v>0.35810685850247875</c:v>
              </c:pt>
              <c:pt idx="2">
                <c:v>0.7169086306781982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0.7150145774372395</c:v>
              </c:pt>
              <c:pt idx="1">
                <c:v>0.3890568914241183</c:v>
              </c:pt>
              <c:pt idx="2">
                <c:v>0.7349339570479368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5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938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Dez/25</c:v>
          </c:tx>
          <c:spPr>
            <a:solidFill>
              <a:srgbClr val="73787D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0.497141395134468</c:v>
              </c:pt>
              <c:pt idx="1">
                <c:v>0.23645038550679134</c:v>
              </c:pt>
              <c:pt idx="2">
                <c:v>0.5170349888512263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0.5306014675789608</c:v>
              </c:pt>
              <c:pt idx="1">
                <c:v>0.2813769971812452</c:v>
              </c:pt>
              <c:pt idx="2">
                <c:v>0.5548653859259784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5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938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9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Dez/25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0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2.6883485713899997</c:v>
              </c:pt>
              <c:pt idx="1">
                <c:v>3.73037157608</c:v>
              </c:pt>
              <c:pt idx="2">
                <c:v>6.132048663440001</c:v>
              </c:pt>
              <c:pt idx="3">
                <c:v>7.52600916192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8D9399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8.02374481533</c:v>
              </c:pt>
              <c:pt idx="1">
                <c:v>11.105532948530001</c:v>
              </c:pt>
              <c:pt idx="2">
                <c:v>12.57331732135</c:v>
              </c:pt>
              <c:pt idx="3">
                <c:v>13.46173597008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17.29241994543</c:v>
              </c:pt>
              <c:pt idx="1">
                <c:v>23.74343085454</c:v>
              </c:pt>
              <c:pt idx="2">
                <c:v>28.29113812409</c:v>
              </c:pt>
              <c:pt idx="3">
                <c:v>34.29257180375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</c:numLit>
          </c:val>
        </c:ser>
        <c:dLbls>
          <c:txPr>
            <a:bodyPr anchorCtr="1"/>
            <a:lstStyle/>
            <a:p>
              <a:pPr>
                <a:defRPr sz="630" b="1" lang="pt-BR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60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0.09599697518412852</c:v>
              </c:pt>
              <c:pt idx="1">
                <c:v>0.09669351582702639</c:v>
              </c:pt>
              <c:pt idx="2">
                <c:v>0.1304788256001652</c:v>
              </c:pt>
              <c:pt idx="3">
                <c:v>0.1361426558148566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8D9399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0.28651613117370284</c:v>
              </c:pt>
              <c:pt idx="1">
                <c:v>0.28786221533852363</c:v>
              </c:pt>
              <c:pt idx="2">
                <c:v>0.2675372894166881</c:v>
              </c:pt>
              <c:pt idx="3">
                <c:v>0.24351770605306067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0.6174868936421686</c:v>
              </c:pt>
              <c:pt idx="1">
                <c:v>0.61544426883445</c:v>
              </c:pt>
              <c:pt idx="2">
                <c:v>0.6019838849831467</c:v>
              </c:pt>
              <c:pt idx="3">
                <c:v>0.6203396381320827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</c:numLit>
          </c:val>
        </c:ser>
        <c:dLbls>
          <c:txPr>
            <a:bodyPr anchorCtr="1"/>
            <a:lstStyle/>
            <a:p>
              <a:pPr>
                <a:defRPr sz="630" b="1" lang="pt-BR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2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Fomento Mercantil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Financeiro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Outros</c:v>
          </c:tx>
          <c:spPr>
            <a:ln w="28575">
              <a:solidFill>
                <a:srgbClr val="D7DAD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3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Volume registrado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30353A"/>
              </a:solidFill>
            </c:spPr>
          </c:dPt>
          <c:dPt>
            <c:idx val="1"/>
            <c:invertIfNegative val="0"/>
            <c:spPr>
              <a:solidFill>
                <a:srgbClr val="30353A"/>
              </a:solidFill>
            </c:spPr>
          </c:dPt>
          <c:dPt>
            <c:idx val="2"/>
            <c:invertIfNegative val="0"/>
            <c:spPr>
              <a:solidFill>
                <a:srgbClr val="EC7000"/>
              </a:solidFill>
            </c:spPr>
          </c:dPt>
          <c:dLbls>
            <c:dLbl>
              <c:idx val="0"/>
              <c:txPr>
                <a:bodyPr anchorCtr="1"/>
                <a:lstStyle/>
                <a:p>
                  <a:pPr>
                    <a:defRPr sz="713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713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713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3"/>
              <c:pt idx="0">
                <c:v>2024FY</c:v>
              </c:pt>
              <c:pt idx="1">
                <c:v>2025FY</c:v>
              </c:pt>
              <c:pt idx="2">
                <c:v>2026YTD</c:v>
              </c:pt>
            </c:strLit>
          </c:cat>
          <c:val>
            <c:numLit>
              <c:formatCode>0.0</c:formatCode>
              <c:ptCount val="3"/>
              <c:pt idx="0">
                <c:v>95.41672613375</c:v>
              </c:pt>
              <c:pt idx="1">
                <c:v>116.92131905477001</c:v>
              </c:pt>
              <c:pt idx="2">
                <c:v>65.48811898356</c:v>
              </c:pt>
            </c:numLit>
          </c:val>
        </c:ser>
        <c:dLbls>
          <c:txPr>
            <a:bodyPr anchorCtr="1"/>
            <a:lstStyle/>
            <a:p>
              <a:pPr>
                <a:defRPr sz="713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25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75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4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varyColors val="0"/>
        <c:ser>
          <c:idx val="0"/>
          <c:order val="0"/>
          <c:tx>
            <c:v>2024</c:v>
          </c:tx>
          <c:spPr>
            <a:ln w="19050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Jan</c:v>
              </c:pt>
              <c:pt idx="1">
                <c:v/>
              </c:pt>
              <c:pt idx="2">
                <c:v>Mar</c:v>
              </c:pt>
              <c:pt idx="3">
                <c:v/>
              </c:pt>
              <c:pt idx="4">
                <c:v>Mai</c:v>
              </c:pt>
              <c:pt idx="5">
                <c:v>Jun</c:v>
              </c:pt>
              <c:pt idx="6">
                <c:v/>
              </c:pt>
              <c:pt idx="7">
                <c:v>Ago</c:v>
              </c:pt>
              <c:pt idx="8">
                <c:v/>
              </c:pt>
              <c:pt idx="9">
                <c:v>Out</c:v>
              </c:pt>
              <c:pt idx="10">
                <c:v/>
              </c:pt>
              <c:pt idx="11">
                <c:v>Dez</c:v>
              </c:pt>
            </c:strLit>
          </c:cat>
          <c:val>
            <c:numLit>
              <c:formatCode>0.0</c:formatCode>
              <c:ptCount val="12"/>
              <c:pt idx="0">
                <c:v>3.5776889819499997</c:v>
              </c:pt>
              <c:pt idx="1">
                <c:v>6.31697433342</c:v>
              </c:pt>
              <c:pt idx="2">
                <c:v>12.75231637649</c:v>
              </c:pt>
              <c:pt idx="3">
                <c:v>18.982994111559996</c:v>
              </c:pt>
              <c:pt idx="4">
                <c:v>35.57797349489</c:v>
              </c:pt>
              <c:pt idx="5">
                <c:v>40.869510061910006</c:v>
              </c:pt>
              <c:pt idx="6">
                <c:v>49.369269147820006</c:v>
              </c:pt>
              <c:pt idx="7">
                <c:v>54.50517684065001</c:v>
              </c:pt>
              <c:pt idx="8">
                <c:v>59.275357674750005</c:v>
              </c:pt>
              <c:pt idx="9">
                <c:v>68.67479071153001</c:v>
              </c:pt>
              <c:pt idx="10">
                <c:v>80.61445578144</c:v>
              </c:pt>
              <c:pt idx="11">
                <c:v>95.41672613375</c:v>
              </c:pt>
            </c:numLit>
          </c:val>
        </c:ser>
        <c:ser>
          <c:idx val="1"/>
          <c:order val="1"/>
          <c:tx>
            <c:v>2025</c:v>
          </c:tx>
          <c:spPr>
            <a:ln w="2095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Jan</c:v>
              </c:pt>
              <c:pt idx="1">
                <c:v/>
              </c:pt>
              <c:pt idx="2">
                <c:v>Mar</c:v>
              </c:pt>
              <c:pt idx="3">
                <c:v/>
              </c:pt>
              <c:pt idx="4">
                <c:v>Mai</c:v>
              </c:pt>
              <c:pt idx="5">
                <c:v>Jun</c:v>
              </c:pt>
              <c:pt idx="6">
                <c:v/>
              </c:pt>
              <c:pt idx="7">
                <c:v>Ago</c:v>
              </c:pt>
              <c:pt idx="8">
                <c:v/>
              </c:pt>
              <c:pt idx="9">
                <c:v>Out</c:v>
              </c:pt>
              <c:pt idx="10">
                <c:v/>
              </c:pt>
              <c:pt idx="11">
                <c:v>Dez</c:v>
              </c:pt>
            </c:strLit>
          </c:cat>
          <c:val>
            <c:numLit>
              <c:formatCode>0.0</c:formatCode>
              <c:ptCount val="12"/>
              <c:pt idx="0">
                <c:v>4.69157717423</c:v>
              </c:pt>
              <c:pt idx="1">
                <c:v>13.28230156707</c:v>
              </c:pt>
              <c:pt idx="2">
                <c:v>21.89222074001</c:v>
              </c:pt>
              <c:pt idx="3">
                <c:v>36.243054840190005</c:v>
              </c:pt>
              <c:pt idx="4">
                <c:v>44.91558778326</c:v>
              </c:pt>
              <c:pt idx="5">
                <c:v>57.15870696836</c:v>
              </c:pt>
              <c:pt idx="6">
                <c:v>64.14446989868</c:v>
              </c:pt>
              <c:pt idx="7">
                <c:v>70.52665275716001</c:v>
              </c:pt>
              <c:pt idx="8">
                <c:v>78.53187842665001</c:v>
              </c:pt>
              <c:pt idx="9">
                <c:v>90.04350947167</c:v>
              </c:pt>
              <c:pt idx="10">
                <c:v>100.76052553320001</c:v>
              </c:pt>
              <c:pt idx="11">
                <c:v>116.92131905477002</c:v>
              </c:pt>
            </c:numLit>
          </c:val>
        </c:ser>
        <c:ser>
          <c:idx val="2"/>
          <c:order val="2"/>
          <c:tx>
            <c:v>2026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Jan</c:v>
              </c:pt>
              <c:pt idx="1">
                <c:v/>
              </c:pt>
              <c:pt idx="2">
                <c:v>Mar</c:v>
              </c:pt>
              <c:pt idx="3">
                <c:v/>
              </c:pt>
              <c:pt idx="4">
                <c:v>Mai</c:v>
              </c:pt>
              <c:pt idx="5">
                <c:v>Jun</c:v>
              </c:pt>
              <c:pt idx="6">
                <c:v/>
              </c:pt>
              <c:pt idx="7">
                <c:v>Ago</c:v>
              </c:pt>
              <c:pt idx="8">
                <c:v/>
              </c:pt>
              <c:pt idx="9">
                <c:v>Out</c:v>
              </c:pt>
              <c:pt idx="10">
                <c:v/>
              </c:pt>
              <c:pt idx="11">
                <c:v>Dez</c:v>
              </c:pt>
            </c:strLit>
          </c:cat>
          <c:val>
            <c:numLit>
              <c:formatCode>0.0</c:formatCode>
              <c:ptCount val="6"/>
              <c:pt idx="0">
                <c:v>8.415778112109999</c:v>
              </c:pt>
              <c:pt idx="1">
                <c:v>15.828976040429998</c:v>
              </c:pt>
              <c:pt idx="2">
                <c:v>27.564315847659994</c:v>
              </c:pt>
              <c:pt idx="3">
                <c:v>44.609140465989995</c:v>
              </c:pt>
              <c:pt idx="4">
                <c:v>51.475115157089995</c:v>
              </c:pt>
              <c:pt idx="5">
                <c:v>65.48811898356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60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75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  <c:dispBlanksAs val="gap"/>
  </c:chart>
  <c:spPr>
    <a:noFill/>
    <a:ln w="0">
      <a:noFill/>
      <a:prstDash val="solid"/>
    </a:ln>
  </c:spPr>
</c:chartSpace>
</file>

<file path=ppt/slides/charts/chart25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2024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2025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2026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>
              <a:srgbClr val="8D9399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0.2289395441030723</c:v>
              </c:pt>
              <c:pt idx="1">
                <c:v>0.2348860257680872</c:v>
              </c:pt>
              <c:pt idx="2">
                <c:v>0.1734390485629336</c:v>
              </c:pt>
              <c:pt idx="3">
                <c:v>0.1565906838453915</c:v>
              </c:pt>
              <c:pt idx="4">
                <c:v>0.0931615460852329</c:v>
              </c:pt>
              <c:pt idx="5">
                <c:v>0.0822596630327056</c:v>
              </c:pt>
              <c:pt idx="6">
                <c:v>0.0307234886025768</c:v>
              </c:pt>
            </c:numLit>
          </c:val>
        </c:ser>
        <c:ser>
          <c:idx val="1"/>
          <c:order val="1"/>
          <c:tx>
            <c:v>2025</c:v>
          </c:tx>
          <c:spPr>
            <a:solidFill>
              <a:srgbClr val="30353A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0.2376103190767141</c:v>
              </c:pt>
              <c:pt idx="1">
                <c:v>0.2545824847250509</c:v>
              </c:pt>
              <c:pt idx="2">
                <c:v>0.1629327902240326</c:v>
              </c:pt>
              <c:pt idx="3">
                <c:v>0.1575016972165648</c:v>
              </c:pt>
              <c:pt idx="4">
                <c:v>0.0950441276306856</c:v>
              </c:pt>
              <c:pt idx="5">
                <c:v>0.0678886625933469</c:v>
              </c:pt>
              <c:pt idx="6">
                <c:v>0.0244399185336048</c:v>
              </c:pt>
            </c:numLit>
          </c:val>
        </c:ser>
        <c:ser>
          <c:idx val="2"/>
          <c:order val="2"/>
          <c:tx>
            <c:v>Jan–jun/26</c:v>
          </c:tx>
          <c:spPr>
            <a:solidFill>
              <a:srgbClr val="EC7000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0.2399481193255512</c:v>
              </c:pt>
              <c:pt idx="1">
                <c:v>0.2684824902723735</c:v>
              </c:pt>
              <c:pt idx="2">
                <c:v>0.1530479896238651</c:v>
              </c:pt>
              <c:pt idx="3">
                <c:v>0.1569390402075227</c:v>
              </c:pt>
              <c:pt idx="4">
                <c:v>0.0933852140077821</c:v>
              </c:pt>
              <c:pt idx="5">
                <c:v>0.059662775616083</c:v>
              </c:pt>
              <c:pt idx="6">
                <c:v>0.0285343709468223</c:v>
              </c:pt>
            </c:numLit>
          </c:val>
        </c:ser>
        <c:dLbls>
          <c:txPr>
            <a:bodyPr anchorCtr="1"/>
            <a:lstStyle/>
            <a:p>
              <a:pPr>
                <a:defRPr sz="503" b="0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55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7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7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>
              <a:srgbClr val="8D9399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0.0103321633887131</c:v>
              </c:pt>
              <c:pt idx="1">
                <c:v>0.0361313295137315</c:v>
              </c:pt>
              <c:pt idx="2">
                <c:v>0.0618859371549046</c:v>
              </c:pt>
              <c:pt idx="3">
                <c:v>0.1088463666507672</c:v>
              </c:pt>
              <c:pt idx="4">
                <c:v>0.1257652142029994</c:v>
              </c:pt>
              <c:pt idx="5">
                <c:v>0.2452642827460449</c:v>
              </c:pt>
              <c:pt idx="6">
                <c:v>0.411774706342839</c:v>
              </c:pt>
            </c:numLit>
          </c:val>
        </c:ser>
        <c:ser>
          <c:idx val="1"/>
          <c:order val="1"/>
          <c:tx>
            <c:v>2025</c:v>
          </c:tx>
          <c:spPr>
            <a:solidFill>
              <a:srgbClr val="30353A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0.011730951363519</c:v>
              </c:pt>
              <c:pt idx="1">
                <c:v>0.0474259703898181</c:v>
              </c:pt>
              <c:pt idx="2">
                <c:v>0.0704715892035931</c:v>
              </c:pt>
              <c:pt idx="3">
                <c:v>0.1291117427322091</c:v>
              </c:pt>
              <c:pt idx="4">
                <c:v>0.1527533319156595</c:v>
              </c:pt>
              <c:pt idx="5">
                <c:v>0.2413792875044426</c:v>
              </c:pt>
              <c:pt idx="6">
                <c:v>0.3471271268907585</c:v>
              </c:pt>
            </c:numLit>
          </c:val>
        </c:ser>
        <c:ser>
          <c:idx val="2"/>
          <c:order val="2"/>
          <c:tx>
            <c:v>Jan–jun/26</c:v>
          </c:tx>
          <c:spPr>
            <a:solidFill>
              <a:srgbClr val="EC7000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0.0122362463084512</c:v>
              </c:pt>
              <c:pt idx="1">
                <c:v>0.0464655965907937</c:v>
              </c:pt>
              <c:pt idx="2">
                <c:v>0.0609833624673594</c:v>
              </c:pt>
              <c:pt idx="3">
                <c:v>0.1209441922159701</c:v>
              </c:pt>
              <c:pt idx="4">
                <c:v>0.1441593207615259</c:v>
              </c:pt>
              <c:pt idx="5">
                <c:v>0.1929168497919684</c:v>
              </c:pt>
              <c:pt idx="6">
                <c:v>0.4222944318639312</c:v>
              </c:pt>
            </c:numLit>
          </c:val>
        </c:ser>
        <c:dLbls>
          <c:txPr>
            <a:bodyPr anchorCtr="1"/>
            <a:lstStyle/>
            <a:p>
              <a:pPr>
                <a:defRPr sz="503" b="0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55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7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>
              <a:srgbClr val="8D9399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0.0,,,</c:formatCode>
              <c:ptCount val="7"/>
              <c:pt idx="0">
                <c:v>985861204.43</c:v>
              </c:pt>
              <c:pt idx="1">
                <c:v>3447533173.06</c:v>
              </c:pt>
              <c:pt idx="2">
                <c:v>5904953517.04</c:v>
              </c:pt>
              <c:pt idx="3">
                <c:v>10385763957.37</c:v>
              </c:pt>
              <c:pt idx="4">
                <c:v>12000105000.76</c:v>
              </c:pt>
              <c:pt idx="5">
                <c:v>23402314897.17</c:v>
              </c:pt>
              <c:pt idx="6">
                <c:v>39290194383.92</c:v>
              </c:pt>
            </c:numLit>
          </c:val>
        </c:ser>
        <c:ser>
          <c:idx val="1"/>
          <c:order val="1"/>
          <c:tx>
            <c:v>2025</c:v>
          </c:tx>
          <c:spPr>
            <a:solidFill>
              <a:srgbClr val="30353A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0.0,,,</c:formatCode>
              <c:ptCount val="7"/>
              <c:pt idx="0">
                <c:v>1371598307.19</c:v>
              </c:pt>
              <c:pt idx="1">
                <c:v>5545107015.43</c:v>
              </c:pt>
              <c:pt idx="2">
                <c:v>8239631165.57</c:v>
              </c:pt>
              <c:pt idx="3">
                <c:v>15095915265.71</c:v>
              </c:pt>
              <c:pt idx="4">
                <c:v>17860121057.590004</c:v>
              </c:pt>
              <c:pt idx="5">
                <c:v>28222384687.519997</c:v>
              </c:pt>
              <c:pt idx="6">
                <c:v>40586561555.76</c:v>
              </c:pt>
            </c:numLit>
          </c:val>
        </c:ser>
        <c:ser>
          <c:idx val="2"/>
          <c:order val="2"/>
          <c:tx>
            <c:v>Jan–jun/26</c:v>
          </c:tx>
          <c:spPr>
            <a:solidFill>
              <a:srgbClr val="EC7000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0.0,,,</c:formatCode>
              <c:ptCount val="7"/>
              <c:pt idx="0">
                <c:v>801328754.1599998</c:v>
              </c:pt>
              <c:pt idx="1">
                <c:v>3042944518.1800003</c:v>
              </c:pt>
              <c:pt idx="2">
                <c:v>3993685697.28</c:v>
              </c:pt>
              <c:pt idx="3">
                <c:v>7920407650.21</c:v>
              </c:pt>
              <c:pt idx="4">
                <c:v>9440722750.62</c:v>
              </c:pt>
              <c:pt idx="5">
                <c:v>12633761613.11</c:v>
              </c:pt>
              <c:pt idx="6">
                <c:v>27655268000</c:v>
              </c:pt>
            </c:numLit>
          </c:val>
        </c:ser>
        <c:dLbls>
          <c:txPr>
            <a:bodyPr anchorCtr="1"/>
            <a:lstStyle/>
            <a:p>
              <a:pPr>
                <a:defRPr sz="503" b="0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55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.0,,,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7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9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2024FY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2025FY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2026 jan–jun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30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NÚMERO DE OFERTAS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8D9399"/>
              </a:solidFill>
            </c:spPr>
          </c:dPt>
          <c:dPt>
            <c:idx val="1"/>
            <c:invertIfNegative val="0"/>
            <c:spPr>
              <a:solidFill>
                <a:srgbClr val="30353A"/>
              </a:solidFill>
            </c:spPr>
          </c:dPt>
          <c:dPt>
            <c:idx val="2"/>
            <c:invertIfNegative val="0"/>
            <c:spPr>
              <a:solidFill>
                <a:srgbClr val="EC7000"/>
              </a:solidFill>
            </c:spPr>
          </c:dPt>
          <c:cat>
            <c:strLit>
              <c:ptCount val="3"/>
              <c:pt idx="0">
                <c:v>2024FY</c:v>
              </c:pt>
              <c:pt idx="1">
                <c:v>2025FY</c:v>
              </c:pt>
              <c:pt idx="2">
                <c:v>2026 jan–jun</c:v>
              </c:pt>
            </c:strLit>
          </c:cat>
          <c:val>
            <c:numLit>
              <c:formatCode>0</c:formatCode>
              <c:ptCount val="3"/>
              <c:pt idx="0">
                <c:v>1009</c:v>
              </c:pt>
              <c:pt idx="1">
                <c:v>1473</c:v>
              </c:pt>
              <c:pt idx="2">
                <c:v>771</c:v>
              </c:pt>
            </c:numLit>
          </c:val>
        </c:ser>
        <c:dLbls>
          <c:txPr>
            <a:bodyPr anchorCtr="1"/>
            <a:lstStyle/>
            <a:p>
              <a:pPr>
                <a:defRPr sz="69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VOLUME REGISTRADO · R$ BI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8D9399"/>
              </a:solidFill>
            </c:spPr>
          </c:dPt>
          <c:dPt>
            <c:idx val="1"/>
            <c:invertIfNegative val="0"/>
            <c:spPr>
              <a:solidFill>
                <a:srgbClr val="30353A"/>
              </a:solidFill>
            </c:spPr>
          </c:dPt>
          <c:dPt>
            <c:idx val="2"/>
            <c:invertIfNegative val="0"/>
            <c:spPr>
              <a:solidFill>
                <a:srgbClr val="EC7000"/>
              </a:solidFill>
            </c:spPr>
          </c:dPt>
          <c:cat>
            <c:strLit>
              <c:ptCount val="3"/>
              <c:pt idx="0">
                <c:v>2024FY</c:v>
              </c:pt>
              <c:pt idx="1">
                <c:v>2025FY</c:v>
              </c:pt>
              <c:pt idx="2">
                <c:v>2026 jan–jun</c:v>
              </c:pt>
            </c:strLit>
          </c:cat>
          <c:val>
            <c:numLit>
              <c:formatCode>0.0,,,</c:formatCode>
              <c:ptCount val="3"/>
              <c:pt idx="0">
                <c:v>95416726133.75</c:v>
              </c:pt>
              <c:pt idx="1">
                <c:v>116921319054.77</c:v>
              </c:pt>
              <c:pt idx="2">
                <c:v>65488118983.56</c:v>
              </c:pt>
            </c:numLit>
          </c:val>
        </c:ser>
        <c:dLbls>
          <c:txPr>
            <a:bodyPr anchorCtr="1"/>
            <a:lstStyle/>
            <a:p>
              <a:pPr>
                <a:defRPr sz="69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.0,,,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2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2024FY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2025FY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2026 jan–jun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33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2026 jan–jun</c:v>
          </c:tx>
          <c:spPr>
            <a:solidFill>
              <a:srgbClr val="EC7000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</c:formatCode>
              <c:ptCount val="3"/>
              <c:pt idx="0">
                <c:v>12</c:v>
              </c:pt>
              <c:pt idx="1">
                <c:v>22</c:v>
              </c:pt>
              <c:pt idx="2">
                <c:v>737</c:v>
              </c:pt>
            </c:numLit>
          </c:val>
        </c:ser>
        <c:ser>
          <c:idx val="1"/>
          <c:order val="1"/>
          <c:tx>
            <c:v>2025FY</c:v>
          </c:tx>
          <c:spPr>
            <a:solidFill>
              <a:srgbClr val="30353A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</c:formatCode>
              <c:ptCount val="3"/>
              <c:pt idx="0">
                <c:v>21</c:v>
              </c:pt>
              <c:pt idx="1">
                <c:v>50</c:v>
              </c:pt>
              <c:pt idx="2">
                <c:v>1399</c:v>
              </c:pt>
            </c:numLit>
          </c:val>
        </c:ser>
        <c:ser>
          <c:idx val="2"/>
          <c:order val="2"/>
          <c:tx>
            <c:v>2024FY</c:v>
          </c:tx>
          <c:spPr>
            <a:solidFill>
              <a:srgbClr val="8D9399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</c:formatCode>
              <c:ptCount val="3"/>
              <c:pt idx="0">
                <c:v>26</c:v>
              </c:pt>
              <c:pt idx="1">
                <c:v>38</c:v>
              </c:pt>
              <c:pt idx="2">
                <c:v>945</c:v>
              </c:pt>
            </c:numLit>
          </c:val>
        </c:ser>
        <c:dLbls>
          <c:txPr>
            <a:bodyPr anchorCtr="1"/>
            <a:lstStyle/>
            <a:p>
              <a:pPr>
                <a:defRPr sz="563" b="0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63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b"/>
        <c:numFmt formatCode="0"/>
        <c:majorTickMark val="none"/>
        <c:minorTickMark val="none"/>
        <c:spPr>
          <a:ln w="953">
            <a:solidFill>
              <a:srgbClr val="FFFFFF"/>
            </a:solidFill>
            <a:prstDash val="solid"/>
          </a:ln>
        </c:spPr>
        <c:txPr>
          <a:bodyPr anchorCtr="1"/>
          <a:lstStyle/>
          <a:p>
            <a:pPr>
              <a:defRPr sz="100" lang="pt-BR">
                <a:solidFill>
                  <a:srgbClr val="FFFFFF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2026 jan–jun</c:v>
          </c:tx>
          <c:spPr>
            <a:solidFill>
              <a:srgbClr val="EC7000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0.0,,,</c:formatCode>
              <c:ptCount val="3"/>
              <c:pt idx="0">
                <c:v>5854000000</c:v>
              </c:pt>
              <c:pt idx="1">
                <c:v>14299992000</c:v>
              </c:pt>
              <c:pt idx="2">
                <c:v>45334126983.56</c:v>
              </c:pt>
            </c:numLit>
          </c:val>
        </c:ser>
        <c:ser>
          <c:idx val="1"/>
          <c:order val="1"/>
          <c:tx>
            <c:v>2025FY</c:v>
          </c:tx>
          <c:spPr>
            <a:solidFill>
              <a:srgbClr val="30353A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0.0,,,</c:formatCode>
              <c:ptCount val="3"/>
              <c:pt idx="0">
                <c:v>10114776653</c:v>
              </c:pt>
              <c:pt idx="1">
                <c:v>18248092653.59</c:v>
              </c:pt>
              <c:pt idx="2">
                <c:v>87985449748.18</c:v>
              </c:pt>
            </c:numLit>
          </c:val>
        </c:ser>
        <c:ser>
          <c:idx val="2"/>
          <c:order val="2"/>
          <c:tx>
            <c:v>2024FY</c:v>
          </c:tx>
          <c:spPr>
            <a:solidFill>
              <a:srgbClr val="8D9399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0.0,,,</c:formatCode>
              <c:ptCount val="3"/>
              <c:pt idx="0">
                <c:v>12379296999.96</c:v>
              </c:pt>
              <c:pt idx="1">
                <c:v>13696583000</c:v>
              </c:pt>
              <c:pt idx="2">
                <c:v>69340846133.79001</c:v>
              </c:pt>
            </c:numLit>
          </c:val>
        </c:ser>
        <c:dLbls>
          <c:txPr>
            <a:bodyPr anchorCtr="1"/>
            <a:lstStyle/>
            <a:p>
              <a:pPr>
                <a:defRPr sz="563" b="0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63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b"/>
        <c:numFmt formatCode="0.0,,,"/>
        <c:majorTickMark val="none"/>
        <c:minorTickMark val="none"/>
        <c:spPr>
          <a:ln w="953">
            <a:solidFill>
              <a:srgbClr val="FFFFFF"/>
            </a:solidFill>
            <a:prstDash val="solid"/>
          </a:ln>
        </c:spPr>
        <c:txPr>
          <a:bodyPr anchorCtr="1"/>
          <a:lstStyle/>
          <a:p>
            <a:pPr>
              <a:defRPr sz="100" lang="pt-BR">
                <a:solidFill>
                  <a:srgbClr val="FFFFFF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5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QI Tech</c:v>
          </c:tx>
          <c:spPr>
            <a:ln w="28575">
              <a:solidFill>
                <a:srgbClr val="2456D6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BTG Pactual</c:v>
          </c:tx>
          <c:spPr>
            <a:ln w="28575">
              <a:solidFill>
                <a:srgbClr val="1D408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Oliveira Trust</c:v>
          </c:tx>
          <c:spPr>
            <a:ln w="28575">
              <a:solidFill>
                <a:srgbClr val="7A1F3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Itaú</c:v>
          </c:tx>
          <c:spPr>
            <a:ln w="28575">
              <a:solidFill>
                <a:srgbClr val="FF55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4"/>
          <c:order val="4"/>
          <c:tx>
            <c:v>Genial</c:v>
          </c:tx>
          <c:spPr>
            <a:ln w="28575">
              <a:solidFill>
                <a:srgbClr val="6EC5E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5"/>
          <c:order val="5"/>
          <c:tx>
            <c:v>CBSF / REAG</c:v>
          </c:tx>
          <c:spPr>
            <a:ln w="28575">
              <a:solidFill>
                <a:srgbClr val="73C6A1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6"/>
          <c:order val="6"/>
          <c:tx>
            <c:v>Demais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3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FF5500"/>
              </a:solidFill>
            </c:spPr>
          </c:dPt>
          <c:dPt>
            <c:idx val="1"/>
            <c:invertIfNegative val="0"/>
            <c:spPr>
              <a:solidFill>
                <a:srgbClr val="73787D"/>
              </a:solidFill>
            </c:spPr>
          </c:dPt>
          <c:dPt>
            <c:idx val="2"/>
            <c:invertIfNegative val="0"/>
            <c:spPr>
              <a:solidFill>
                <a:srgbClr val="7A1F3D"/>
              </a:solidFill>
            </c:spPr>
          </c:dPt>
          <c:dPt>
            <c:idx val="3"/>
            <c:invertIfNegative val="0"/>
            <c:spPr>
              <a:solidFill>
                <a:srgbClr val="1D4080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Bradesco</c:v>
              </c:pt>
              <c:pt idx="2">
                <c:v>Oliveira Trust</c:v>
              </c:pt>
              <c:pt idx="3">
                <c:v>BTG Pactual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27.05634936661</c:v>
              </c:pt>
              <c:pt idx="1">
                <c:v>49.77770817222</c:v>
              </c:pt>
              <c:pt idx="2">
                <c:v>56.87136007691</c:v>
              </c:pt>
              <c:pt idx="3">
                <c:v>107.91817098489999</c:v>
              </c:pt>
              <c:pt idx="4">
                <c:v>116.97439427594999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65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7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7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30353A"/>
              </a:solidFill>
            </c:spPr>
          </c:dPt>
          <c:dPt>
            <c:idx val="1"/>
            <c:invertIfNegative val="0"/>
            <c:spPr>
              <a:solidFill>
                <a:srgbClr val="454A4F"/>
              </a:solidFill>
            </c:spPr>
          </c:dPt>
          <c:dPt>
            <c:idx val="2"/>
            <c:invertIfNegative val="0"/>
            <c:spPr>
              <a:solidFill>
                <a:srgbClr val="5B6065"/>
              </a:solidFill>
            </c:spPr>
          </c:dPt>
          <c:dPt>
            <c:idx val="3"/>
            <c:invertIfNegative val="0"/>
            <c:spPr>
              <a:solidFill>
                <a:srgbClr val="7A1F3D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Hemera</c:v>
              </c:pt>
              <c:pt idx="1">
                <c:v>BRL Trust</c:v>
              </c:pt>
              <c:pt idx="2">
                <c:v>Finaxis</c:v>
              </c:pt>
              <c:pt idx="3">
                <c:v>Oliveira Trust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21.00943573536</c:v>
              </c:pt>
              <c:pt idx="1">
                <c:v>21.26060727013</c:v>
              </c:pt>
              <c:pt idx="2">
                <c:v>22.30772786867</c:v>
              </c:pt>
              <c:pt idx="3">
                <c:v>56.87136007691</c:v>
              </c:pt>
              <c:pt idx="4">
                <c:v>116.97439427594999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65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7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FF5500"/>
              </a:solidFill>
            </c:spPr>
          </c:dPt>
          <c:dPt>
            <c:idx val="1"/>
            <c:invertIfNegative val="0"/>
            <c:spPr>
              <a:solidFill>
                <a:srgbClr val="6EC5E9"/>
              </a:solidFill>
            </c:spPr>
          </c:dPt>
          <c:dPt>
            <c:idx val="2"/>
            <c:invertIfNegative val="0"/>
            <c:spPr>
              <a:solidFill>
                <a:srgbClr val="7A1F3D"/>
              </a:solidFill>
            </c:spPr>
          </c:dPt>
          <c:dPt>
            <c:idx val="3"/>
            <c:invertIfNegative val="0"/>
            <c:spPr>
              <a:solidFill>
                <a:srgbClr val="73787D"/>
              </a:solidFill>
            </c:spPr>
          </c:dPt>
          <c:dPt>
            <c:idx val="4"/>
            <c:invertIfNegative val="0"/>
            <c:spPr>
              <a:solidFill>
                <a:srgbClr val="1D4080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Genial</c:v>
              </c:pt>
              <c:pt idx="2">
                <c:v>Oliveira Trust</c:v>
              </c:pt>
              <c:pt idx="3">
                <c:v>Bradesco</c:v>
              </c:pt>
              <c:pt idx="4">
                <c:v>BTG Pactual</c:v>
              </c:pt>
            </c:strLit>
          </c:cat>
          <c:val>
            <c:numLit>
              <c:formatCode>0.0</c:formatCode>
              <c:ptCount val="5"/>
              <c:pt idx="0">
                <c:v>18.57363252764</c:v>
              </c:pt>
              <c:pt idx="1">
                <c:v>26.87573463003</c:v>
              </c:pt>
              <c:pt idx="2">
                <c:v>35.02222544035998</c:v>
              </c:pt>
              <c:pt idx="3">
                <c:v>39.85656848075</c:v>
              </c:pt>
              <c:pt idx="4">
                <c:v>78.74983410723001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65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7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73C6A1"/>
              </a:solidFill>
            </c:spPr>
          </c:dPt>
          <c:dPt>
            <c:idx val="1"/>
            <c:invertIfNegative val="0"/>
            <c:spPr>
              <a:solidFill>
                <a:srgbClr val="BEC2C5"/>
              </a:solidFill>
            </c:spPr>
          </c:dPt>
          <c:dPt>
            <c:idx val="2"/>
            <c:invertIfNegative val="0"/>
            <c:spPr>
              <a:solidFill>
                <a:srgbClr val="A7ACB0"/>
              </a:solidFill>
            </c:spPr>
          </c:dPt>
          <c:dPt>
            <c:idx val="3"/>
            <c:invertIfNegative val="0"/>
            <c:spPr>
              <a:solidFill>
                <a:srgbClr val="8D9399"/>
              </a:solidFill>
            </c:spPr>
          </c:dPt>
          <c:dPt>
            <c:idx val="4"/>
            <c:invertIfNegative val="0"/>
            <c:spPr>
              <a:solidFill>
                <a:srgbClr val="7A1F3D"/>
              </a:solidFill>
            </c:spPr>
          </c:dPt>
          <c:cat>
            <c:strLit>
              <c:ptCount val="5"/>
              <c:pt idx="0">
                <c:v>CBSF</c:v>
              </c:pt>
              <c:pt idx="1">
                <c:v>Solis Investimentos</c:v>
              </c:pt>
              <c:pt idx="2">
                <c:v>Integral Investimentos</c:v>
              </c:pt>
              <c:pt idx="3">
                <c:v>Tercon Investimentos</c:v>
              </c:pt>
              <c:pt idx="4">
                <c:v>Oliveira Trust</c:v>
              </c:pt>
            </c:strLit>
          </c:cat>
          <c:val>
            <c:numLit>
              <c:formatCode>0.0</c:formatCode>
              <c:ptCount val="5"/>
              <c:pt idx="0">
                <c:v>10.17441132442</c:v>
              </c:pt>
              <c:pt idx="1">
                <c:v>14.32953247391</c:v>
              </c:pt>
              <c:pt idx="2">
                <c:v>14.931875223759999</c:v>
              </c:pt>
              <c:pt idx="3">
                <c:v>21.696113631950002</c:v>
              </c:pt>
              <c:pt idx="4">
                <c:v>35.02222544035998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65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7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0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FF5500"/>
              </a:solidFill>
            </c:spPr>
          </c:dPt>
          <c:dPt>
            <c:idx val="1"/>
            <c:invertIfNegative val="0"/>
            <c:spPr>
              <a:solidFill>
                <a:srgbClr val="BEC2C5"/>
              </a:solidFill>
            </c:spPr>
          </c:dPt>
          <c:dPt>
            <c:idx val="2"/>
            <c:invertIfNegative val="0"/>
            <c:spPr>
              <a:solidFill>
                <a:srgbClr val="7A1F3D"/>
              </a:solidFill>
            </c:spPr>
          </c:dPt>
          <c:dPt>
            <c:idx val="3"/>
            <c:invertIfNegative val="0"/>
            <c:spPr>
              <a:solidFill>
                <a:srgbClr val="1D4080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Daycoval</c:v>
              </c:pt>
              <c:pt idx="2">
                <c:v>Oliveira Trust</c:v>
              </c:pt>
              <c:pt idx="3">
                <c:v>BTG Pactual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20.405586732159996</c:v>
              </c:pt>
              <c:pt idx="1">
                <c:v>55.81924378400999</c:v>
              </c:pt>
              <c:pt idx="2">
                <c:v>71.90092760434999</c:v>
              </c:pt>
              <c:pt idx="3">
                <c:v>107.26541902169001</c:v>
              </c:pt>
              <c:pt idx="4">
                <c:v>115.31244022541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65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7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454A4F"/>
              </a:solidFill>
            </c:spPr>
          </c:dPt>
          <c:dPt>
            <c:idx val="1"/>
            <c:invertIfNegative val="0"/>
            <c:spPr>
              <a:solidFill>
                <a:srgbClr val="5B6065"/>
              </a:solidFill>
            </c:spPr>
          </c:dPt>
          <c:dPt>
            <c:idx val="2"/>
            <c:invertIfNegative val="0"/>
            <c:spPr>
              <a:solidFill>
                <a:srgbClr val="73C6A1"/>
              </a:solidFill>
            </c:spPr>
          </c:dPt>
          <c:dPt>
            <c:idx val="3"/>
            <c:invertIfNegative val="0"/>
            <c:spPr>
              <a:solidFill>
                <a:srgbClr val="7A1F3D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BRL Trust</c:v>
              </c:pt>
              <c:pt idx="1">
                <c:v>Finaxis</c:v>
              </c:pt>
              <c:pt idx="2">
                <c:v>REAG</c:v>
              </c:pt>
              <c:pt idx="3">
                <c:v>Oliveira Trust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21.26374598682</c:v>
              </c:pt>
              <c:pt idx="1">
                <c:v>22.30772786867</c:v>
              </c:pt>
              <c:pt idx="2">
                <c:v>25.04054022159</c:v>
              </c:pt>
              <c:pt idx="3">
                <c:v>71.90092760434999</c:v>
              </c:pt>
              <c:pt idx="4">
                <c:v>115.31244022541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65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7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administrado</c:v>
          </c:tx>
          <c:spPr>
            <a:solidFill>
              <a:srgbClr val="2456D6"/>
            </a:solidFill>
          </c:spPr>
          <c:dPt>
            <c:idx val="0"/>
            <c:invertIfNegative val="0"/>
            <c:spPr>
              <a:solidFill>
                <a:srgbClr val="2456D6"/>
              </a:solidFill>
            </c:spPr>
          </c:dPt>
          <c:dPt>
            <c:idx val="1"/>
            <c:invertIfNegative val="0"/>
            <c:spPr>
              <a:solidFill>
                <a:srgbClr val="2456D6"/>
              </a:solidFill>
            </c:spPr>
          </c:dPt>
          <c:cat>
            <c:strLit>
              <c:ptCount val="2"/>
              <c:pt idx="0">
                <c:v>Singulare legado</c:v>
              </c:pt>
              <c:pt idx="1">
                <c:v>QI DTVM original</c:v>
              </c:pt>
            </c:strLit>
          </c:cat>
          <c:val>
            <c:numLit>
              <c:formatCode>0.0</c:formatCode>
              <c:ptCount val="2"/>
              <c:pt idx="0">
                <c:v>78.54784980481001</c:v>
              </c:pt>
              <c:pt idx="1">
                <c:v>3.5498953478999997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50" b="0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25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3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gerido</c:v>
          </c:tx>
          <c:spPr>
            <a:solidFill>
              <a:srgbClr val="1D4080"/>
            </a:solidFill>
          </c:spPr>
          <c:dPt>
            <c:idx val="0"/>
            <c:invertIfNegative val="0"/>
            <c:spPr>
              <a:solidFill>
                <a:srgbClr val="1D4080"/>
              </a:solidFill>
            </c:spPr>
          </c:dPt>
          <c:dPt>
            <c:idx val="1"/>
            <c:invertIfNegative val="0"/>
            <c:spPr>
              <a:solidFill>
                <a:srgbClr val="73787D"/>
              </a:solidFill>
            </c:spPr>
          </c:dPt>
          <c:dPt>
            <c:idx val="2"/>
            <c:invertIfNegative val="0"/>
            <c:spPr>
              <a:solidFill>
                <a:srgbClr val="1D4080"/>
              </a:solidFill>
            </c:spPr>
          </c:dPt>
          <c:cat>
            <c:strLit>
              <c:ptCount val="3"/>
              <c:pt idx="0">
                <c:v>BTG Pactual</c:v>
              </c:pt>
              <c:pt idx="1">
                <c:v>Bradesco</c:v>
              </c:pt>
              <c:pt idx="2">
                <c:v>BTG sem coorte bancária</c:v>
              </c:pt>
            </c:strLit>
          </c:cat>
          <c:val>
            <c:numLit>
              <c:formatCode>0.0</c:formatCode>
              <c:ptCount val="3"/>
              <c:pt idx="0">
                <c:v>78.74983410723001</c:v>
              </c:pt>
              <c:pt idx="1">
                <c:v>39.85656848075</c:v>
              </c:pt>
              <c:pt idx="2">
                <c:v>27.472806819580025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5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25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4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varyColors val="0"/>
        <c:ser>
          <c:idx val="0"/>
          <c:order val="0"/>
          <c:tx>
            <c:v>Contas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2015</c:v>
              </c:pt>
              <c:pt idx="1">
                <c:v/>
              </c:pt>
              <c:pt idx="2">
                <c:v/>
              </c:pt>
              <c:pt idx="3">
                <c:v>2018</c:v>
              </c:pt>
              <c:pt idx="4">
                <c:v/>
              </c:pt>
              <c:pt idx="5">
                <c:v/>
              </c:pt>
              <c:pt idx="6">
                <c:v>2021</c:v>
              </c:pt>
              <c:pt idx="7">
                <c:v/>
              </c:pt>
              <c:pt idx="8">
                <c:v/>
              </c:pt>
              <c:pt idx="9">
                <c:v>2024</c:v>
              </c:pt>
              <c:pt idx="10">
                <c:v/>
              </c:pt>
              <c:pt idx="11">
                <c:v>Jun/26</c:v>
              </c:pt>
            </c:strLit>
          </c:cat>
          <c:val>
            <c:numLit>
              <c:formatCode>0 "mil"</c:formatCode>
              <c:ptCount val="12"/>
              <c:pt idx="0">
                <c:v>12.508</c:v>
              </c:pt>
              <c:pt idx="1">
                <c:v>13.872</c:v>
              </c:pt>
              <c:pt idx="2">
                <c:v>16.049</c:v>
              </c:pt>
              <c:pt idx="3">
                <c:v>17.678</c:v>
              </c:pt>
              <c:pt idx="4">
                <c:v>25.781</c:v>
              </c:pt>
              <c:pt idx="5">
                <c:v>32.936</c:v>
              </c:pt>
              <c:pt idx="6">
                <c:v>31.626</c:v>
              </c:pt>
              <c:pt idx="7">
                <c:v>48.608</c:v>
              </c:pt>
              <c:pt idx="8">
                <c:v>61.735</c:v>
              </c:pt>
              <c:pt idx="9">
                <c:v>148.582</c:v>
              </c:pt>
              <c:pt idx="10">
                <c:v>387.159</c:v>
              </c:pt>
              <c:pt idx="11">
                <c:v>461.222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 &quot;mil&quot;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Profissional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0.9684547923581838</c:v>
              </c:pt>
              <c:pt idx="1">
                <c:v>0.9441348233073096</c:v>
              </c:pt>
              <c:pt idx="2">
                <c:v>0.9282664027264255</c:v>
              </c:pt>
              <c:pt idx="3">
                <c:v>0.9378646364463225</c:v>
              </c:pt>
            </c:numLit>
          </c:val>
        </c:ser>
        <c:ser>
          <c:idx val="1"/>
          <c:order val="1"/>
          <c:tx>
            <c:v>Qualificado</c:v>
          </c:tx>
          <c:spPr>
            <a:solidFill>
              <a:srgbClr val="30353A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0.020214315409922565</c:v>
              </c:pt>
              <c:pt idx="1">
                <c:v>0.0558127749786242</c:v>
              </c:pt>
              <c:pt idx="2">
                <c:v>0.06683286569927906</c:v>
              </c:pt>
              <c:pt idx="3">
                <c:v>0.057045463199635146</c:v>
              </c:pt>
            </c:numLit>
          </c:val>
        </c:ser>
        <c:ser>
          <c:idx val="2"/>
          <c:order val="2"/>
          <c:tx>
            <c:v>Geral</c:v>
          </c:tx>
          <c:spPr>
            <a:solidFill>
              <a:srgbClr val="73787D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</c:v>
              </c:pt>
              <c:pt idx="1">
                <c:v>5.240171406626623E-05</c:v>
              </c:pt>
              <c:pt idx="2">
                <c:v>0</c:v>
              </c:pt>
              <c:pt idx="3">
                <c:v>0.005089900354042509</c:v>
              </c:pt>
            </c:numLit>
          </c:val>
        </c:ser>
        <c:ser>
          <c:idx val="3"/>
          <c:order val="3"/>
          <c:tx>
            <c:v>N/D</c:v>
          </c:tx>
          <c:spPr>
            <a:solidFill>
              <a:srgbClr val="E7E9EB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0.01133089223189357</c:v>
              </c:pt>
              <c:pt idx="1">
                <c:v>0</c:v>
              </c:pt>
              <c:pt idx="2">
                <c:v>0.004900731574295591</c:v>
              </c:pt>
              <c:pt idx="3">
                <c:v>0</c:v>
              </c:pt>
            </c:numLit>
          </c:val>
        </c:ser>
        <c:dLbls>
          <c:txPr>
            <a:bodyPr anchorCtr="1"/>
            <a:lstStyle/>
            <a:p>
              <a:pPr>
                <a:defRPr sz="563" b="1" lang="pt-BR">
                  <a:solidFill>
                    <a:srgbClr val="FFFFFF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75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38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Contas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EC7000"/>
              </a:solidFill>
            </c:spPr>
          </c:dPt>
          <c:dPt>
            <c:idx val="1"/>
            <c:invertIfNegative val="0"/>
            <c:spPr>
              <a:solidFill>
                <a:srgbClr val="30353A"/>
              </a:solidFill>
            </c:spPr>
          </c:dPt>
          <c:dPt>
            <c:idx val="2"/>
            <c:invertIfNegative val="0"/>
            <c:spPr>
              <a:solidFill>
                <a:srgbClr val="30353A"/>
              </a:solidFill>
            </c:spPr>
          </c:dPt>
          <c:dPt>
            <c:idx val="3"/>
            <c:invertIfNegative val="0"/>
            <c:spPr>
              <a:solidFill>
                <a:srgbClr val="30353A"/>
              </a:solidFill>
            </c:spPr>
          </c:dPt>
          <c:dPt>
            <c:idx val="4"/>
            <c:invertIfNegative val="0"/>
            <c:spPr>
              <a:solidFill>
                <a:srgbClr val="30353A"/>
              </a:solidFill>
            </c:spPr>
          </c:dPt>
          <c:cat>
            <c:strLit>
              <c:ptCount val="5"/>
              <c:pt idx="0">
                <c:v>Fundos</c:v>
              </c:pt>
              <c:pt idx="1">
                <c:v>Empresas e outros</c:v>
              </c:pt>
              <c:pt idx="2">
                <c:v>Pessoa física</c:v>
              </c:pt>
              <c:pt idx="3">
                <c:v>Instituições financeiras</c:v>
              </c:pt>
              <c:pt idx="4">
                <c:v>Previdência e seguros</c:v>
              </c:pt>
            </c:strLit>
          </c:cat>
          <c:val>
            <c:numLit>
              <c:formatCode>0.0%</c:formatCode>
              <c:ptCount val="5"/>
              <c:pt idx="0">
                <c:v>0.442722471315705</c:v>
              </c:pt>
              <c:pt idx="1">
                <c:v>0.25706375155020944</c:v>
              </c:pt>
              <c:pt idx="2">
                <c:v>0.20520653559627777</c:v>
              </c:pt>
              <c:pt idx="3">
                <c:v>0.09422238025445116</c:v>
              </c:pt>
              <c:pt idx="4">
                <c:v>0.0007848612833566045</c:v>
              </c:pt>
            </c:numLit>
          </c:val>
        </c:ser>
        <c:dLbls>
          <c:txPr>
            <a:bodyPr anchorCtr="1"/>
            <a:lstStyle/>
            <a:p>
              <a:pPr>
                <a:defRPr sz="825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25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7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Dez/23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3</c:v>
              </c:pt>
              <c:pt idx="1">
                <c:v>106</c:v>
              </c:pt>
              <c:pt idx="2">
                <c:v>104</c:v>
              </c:pt>
              <c:pt idx="3">
                <c:v>71</c:v>
              </c:pt>
              <c:pt idx="4">
                <c:v>50</c:v>
              </c:pt>
              <c:pt idx="5">
                <c:v>75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2</c:v>
              </c:pt>
              <c:pt idx="1">
                <c:v>180</c:v>
              </c:pt>
              <c:pt idx="2">
                <c:v>123</c:v>
              </c:pt>
              <c:pt idx="3">
                <c:v>153</c:v>
              </c:pt>
              <c:pt idx="4">
                <c:v>128</c:v>
              </c:pt>
              <c:pt idx="5">
                <c:v>198</c:v>
              </c:pt>
            </c:numLit>
          </c:val>
        </c:ser>
        <c:dLbls>
          <c:txPr>
            <a:bodyPr anchorCtr="1"/>
            <a:lstStyle/>
            <a:p>
              <a:pPr>
                <a:defRPr sz="638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4.08011139709</c:v>
              </c:pt>
              <c:pt idx="1">
                <c:v>107.00408055976</c:v>
              </c:pt>
              <c:pt idx="2">
                <c:v>65.98513346480999</c:v>
              </c:pt>
              <c:pt idx="3">
                <c:v>87.13513028292</c:v>
              </c:pt>
              <c:pt idx="4">
                <c:v>27.89580794356</c:v>
              </c:pt>
              <c:pt idx="5">
                <c:v>84.79440519127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2.04153385837</c:v>
              </c:pt>
              <c:pt idx="1">
                <c:v>174.97916627078</c:v>
              </c:pt>
              <c:pt idx="2">
                <c:v>85.07690883193</c:v>
              </c:pt>
              <c:pt idx="3">
                <c:v>174.00964091183</c:v>
              </c:pt>
              <c:pt idx="4">
                <c:v>80.62114320047</c:v>
              </c:pt>
              <c:pt idx="5">
                <c:v>216.35550333</c:v>
              </c:pt>
            </c:numLit>
          </c:val>
        </c:ser>
        <c:dLbls>
          <c:txPr>
            <a:bodyPr anchorCtr="1"/>
            <a:lstStyle/>
            <a:p>
              <a:pPr>
                <a:defRPr sz="638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50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0.007334963325183374</c:v>
              </c:pt>
              <c:pt idx="1">
                <c:v>0.2591687041564792</c:v>
              </c:pt>
              <c:pt idx="2">
                <c:v>0.254278728606357</c:v>
              </c:pt>
              <c:pt idx="3">
                <c:v>0.17359413202933985</c:v>
              </c:pt>
              <c:pt idx="4">
                <c:v>0.12224938875305623</c:v>
              </c:pt>
              <c:pt idx="5">
                <c:v>0.18337408312958436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0.002551020408163265</c:v>
              </c:pt>
              <c:pt idx="1">
                <c:v>0.22959183673469388</c:v>
              </c:pt>
              <c:pt idx="2">
                <c:v>0.1568877551020408</c:v>
              </c:pt>
              <c:pt idx="3">
                <c:v>0.1951530612244898</c:v>
              </c:pt>
              <c:pt idx="4">
                <c:v>0.16326530612244897</c:v>
              </c:pt>
              <c:pt idx="5">
                <c:v>0.25255102040816324</c:v>
              </c:pt>
            </c:numLit>
          </c:val>
        </c:ser>
        <c:dLbls>
          <c:txPr>
            <a:bodyPr anchorCtr="1"/>
            <a:lstStyle/>
            <a:p>
              <a:pPr>
                <a:defRPr sz="638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0.35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1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5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0.010825601247303616</c:v>
              </c:pt>
              <c:pt idx="1">
                <c:v>0.28390977481656304</c:v>
              </c:pt>
              <c:pt idx="2">
                <c:v>0.1750757941681723</c:v>
              </c:pt>
              <c:pt idx="3">
                <c:v>0.23119226003179993</c:v>
              </c:pt>
              <c:pt idx="4">
                <c:v>0.07401486476171423</c:v>
              </c:pt>
              <c:pt idx="5">
                <c:v>0.22498170497444692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0.002784857051677267</c:v>
              </c:pt>
              <c:pt idx="1">
                <c:v>0.23868914203306626</c:v>
              </c:pt>
              <c:pt idx="2">
                <c:v>0.11605344115363893</c:v>
              </c:pt>
              <c:pt idx="3">
                <c:v>0.23736661215114327</c:v>
              </c:pt>
              <c:pt idx="4">
                <c:v>0.10997532969419936</c:v>
              </c:pt>
              <c:pt idx="5">
                <c:v>0.29513061791627493</c:v>
              </c:pt>
            </c:numLit>
          </c:val>
        </c:ser>
        <c:dLbls>
          <c:txPr>
            <a:bodyPr anchorCtr="1"/>
            <a:lstStyle/>
            <a:p>
              <a:pPr>
                <a:defRPr sz="638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0.35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1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slide1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151515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7" name="">
            <a:extLst>
              <a:ext uri="{FF2B5EF4-FFF2-40B4-BE49-F238E27FC236}">
                <ns2:creationId id="{EC56817F-AB7A-4DA3-886E-BBB68E9EE93E}"/>
              </a:ext>
            </a:extLst>
          </ns0:cNvPr>
          <ns0:cNvSpPr>
            <a:spLocks noGrp="1"/>
          </ns0:cNvSpPr>
          <ns0:nvPr/>
        </ns0:nvSpPr>
        <ns0:spPr>
          <a:xfrm>
            <a:off x="571500" y="1000125"/>
            <a:ext cx="838200" cy="47625"/>
          </a:xfrm>
          <a:prstGeom prst="rect">
            <a:avLst/>
          </a:prstGeom>
          <a:solidFill>
            <a:srgbClr val="EC7000"/>
          </a:solidFill>
          <a:ln w="0">
            <a:noFill/>
            <a:prstDash val="solid"/>
          </a:ln>
        </ns0:spPr>
      </ns0:sp>
      <ns0:sp>
        <ns0:nvSpPr>
          <ns0:cNvPr id="2" name="">
            <a:extLst>
              <a:ext uri="{FF2B5EF4-FFF2-40B4-BE49-F238E27FC236}">
                <ns2:creationId id="{C421BD0B-98B5-4DCC-BD48-8AF4889D082B}"/>
              </a:ext>
            </a:extLst>
          </ns0:cNvPr>
          <ns0:cNvSpPr>
            <a:spLocks noGrp="1"/>
          </ns0:cNvSpPr>
          <ns0:nvPr/>
        </ns0:nvSpPr>
        <ns0:spPr>
          <a:xfrm>
            <a:off x="571500" y="1409700"/>
            <a:ext cx="8572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3600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00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Indústria de FIDCs — jun/26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24272F41-6957-48D5-A9A7-A3299931939D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0"/>
            <a:ext cx="11049000" cy="9525"/>
          </a:xfrm>
          <a:prstGeom prst="rect">
            <a:avLst/>
          </a:prstGeom>
          <a:solidFill>
            <a:srgbClr val="4B4F53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8701FE1A-05C7-4385-A2AB-E4A1D7706F5F}"/>
              </a:ext>
            </a:extLst>
          </ns0:cNvPr>
          <ns0:cNvSpPr>
            <a:spLocks noGrp="1"/>
          </ns0:cNvSpPr>
          <ns0:nvPr/>
        </ns0:nvSpPr>
        <ns0:spPr>
          <a:xfrm>
            <a:off x="571500" y="5286375"/>
            <a:ext cx="4762500" cy="2667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200" b="0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0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Dados de PL: 30 de junho de 2026</a:t>
            </a:r>
          </a:p>
        </ns0:txBody>
      </ns0:sp>
      <ns0:sp>
        <ns0:nvSpPr>
          <ns0:cNvPr id="5" name="">
            <a:extLst>
              <a:ext uri="{FF2B5EF4-FFF2-40B4-BE49-F238E27FC236}">
                <ns2:creationId id="{DE0B052C-118B-473C-85CD-137E0C0B86C3}"/>
              </a:ext>
            </a:extLst>
          </ns0:cNvPr>
          <ns0:cNvSpPr>
            <a:spLocks noGrp="1"/>
          </ns0:cNvSpPr>
          <ns0:nvPr/>
        </ns0:nvSpPr>
        <ns0:spPr>
          <a:xfrm>
            <a:off x="571500" y="5610225"/>
            <a:ext cx="6858000" cy="2667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200" b="0" lang="pt-BR">
                <a:solidFill>
                  <a:srgbClr val="E7E9EB"/>
                </a:solidFill>
                <a:latin typeface="Arial"/>
                <a:ea typeface="Arial"/>
                <a:cs typeface="Arial"/>
              </a:defRPr>
            </a:pPr>
            <a:r>
              <a:rPr sz="1200" b="0" lang="pt-BR">
                <a:solidFill>
                  <a:srgbClr val="E7E9EB"/>
                </a:solidFill>
                <a:latin typeface="Arial"/>
                <a:ea typeface="Arial"/>
                <a:cs typeface="Arial"/>
              </a:rPr>
              <a:t>Ofertas CVM e comparativo ANBIMA até 30 de junho de 2026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8025DB2B-334D-4D4E-83FA-99B28181A2B9}"/>
              </a:ext>
            </a:extLst>
          </ns0:cNvPr>
          <ns0:cNvSpPr>
            <a:spLocks noGrp="1"/>
          </ns0:cNvSpPr>
          <ns0:nvPr/>
        </ns0:nvSpPr>
        <ns0:spPr>
          <a:xfrm>
            <a:off x="571500" y="6257925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Itaú BBA · Junho de 2026</a:t>
            </a:r>
          </a:p>
        </ns0:txBody>
      </ns0:sp>
    </ns0:spTree>
    <ns0:extLst>
      <ns0:ext uri="{BB962C8B-B14F-4D97-AF65-F5344CB8AC3E}">
        <ns3:creationId val="2015906375"/>
      </ns0:ext>
    </ns0:extLst>
  </ns0:cSld>
</ns0:sld>
</file>

<file path=ppt/slides/slide2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0" name="">
            <a:extLst>
              <a:ext uri="{FF2B5EF4-FFF2-40B4-BE49-F238E27FC236}">
                <ns2:creationId id="{9E718E69-C936-40B0-9CE1-553C23AD55A2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ESCALA DA INDÚSTRIA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C87A645F-1EEB-4A08-81FB-7135FF975A67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FIDCs ex-FIC somam R$ 821,0 bi; o crédito privado ampliado totaliza R$ 13,780 tri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DA14CEEC-5CFD-4EE8-B29C-C2B5D3CABB7C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27203D9B-CA43-4439-9241-D209DD3AA1F0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2976F3B4-4D19-43E4-9330-479B824DB449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Informe Mensal de FIDC (jun/26); BCB, SGS 28183–28192 (último mês comum: jun/26).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9FFFBD0A-F960-4C5D-8A9F-4C0DBB1BB7AA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DB4C45D7-F8D5-4BB6-9685-F8B5364F948C}"/>
              </a:ext>
            </a:extLst>
          </ns0:cNvPr>
          <ns0:cNvSpPr>
            <a:spLocks noGrp="1"/>
          </ns0:cNvSpPr>
          <ns0:nvPr/>
        </ns0:nvSpPr>
        <ns0:spPr>
          <a:xfrm>
            <a:off x="571500" y="1266825"/>
            <a:ext cx="519112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DOS FIDCs EX-FIC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B2B4B136-4B11-4BE9-A264-81431907BDE0}"/>
              </a:ext>
            </a:extLst>
          </ns0:cNvPr>
          <ns0:cNvSpPr>
            <a:spLocks noGrp="1"/>
          </ns0:cNvSpPr>
          <ns0:nvPr/>
        </ns0:nvSpPr>
        <ns0:spPr>
          <a:xfrm>
            <a:off x="571500" y="1533525"/>
            <a:ext cx="51911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8" name="Chart"/>
          <ns0:cNvGraphicFramePr/>
          <ns0:nvPr/>
        </ns0:nvGraphicFramePr>
        <ns0:xfrm>
          <a:off x="523875" y="1571625"/>
          <a:ext cx="5286375" cy="3143250"/>
        </ns0:xfrm>
        <a:graphic>
          <a:graphicData uri="http://schemas.openxmlformats.org/drawingml/2006/chart">
            <c:chart ns4:id="Ra58824f83b044a43"/>
          </a:graphicData>
        </a:graphic>
      </ns0:graphicFrame>
      <ns0:sp>
        <ns0:nvSpPr>
          <ns0:cNvPr id="10" name="">
            <a:extLst>
              <a:ext uri="{FF2B5EF4-FFF2-40B4-BE49-F238E27FC236}">
                <ns2:creationId id="{B66A6BEA-A2F8-4E83-B19F-3A03EAB12ED5}"/>
              </a:ext>
            </a:extLst>
          </ns0:cNvPr>
          <ns0:cNvSpPr>
            <a:spLocks noGrp="1"/>
          </ns0:cNvSpPr>
          <ns0:nvPr/>
        </ns0:nvSpPr>
        <ns0:spPr>
          <a:xfrm>
            <a:off x="571500" y="5067300"/>
            <a:ext cx="5238750" cy="285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61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1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CAGR 2015–18 +16,7%   ·   2020/19 -9,0%   ·   2022/21 +22,1%   ·   2023/22 +25,1%   ·   2024/23 +44,0%   ·   2025/24 +18,5%   ·   2026 YTD +6,4%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58C2025C-1B2B-441C-8211-726822ED35D8}"/>
              </a:ext>
            </a:extLst>
          </ns0:cNvPr>
          <ns0:cNvSpPr>
            <a:spLocks noGrp="1"/>
          </ns0:cNvSpPr>
          <ns0:nvPr/>
        </ns0:nvSpPr>
        <ns0:spPr>
          <a:xfrm>
            <a:off x="6143625" y="1266825"/>
            <a:ext cx="54768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DE CRÉDITO PRIVADA AMPLIADA · R$ BI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40A47730-9AE5-4381-99D9-39C3FC1B8102}"/>
              </a:ext>
            </a:extLst>
          </ns0:cNvPr>
          <ns0:cNvSpPr>
            <a:spLocks noGrp="1"/>
          </ns0:cNvSpPr>
          <ns0:nvPr/>
        </ns0:nvSpPr>
        <ns0:spPr>
          <a:xfrm>
            <a:off x="6143625" y="1533525"/>
            <a:ext cx="54768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2" name="Chart"/>
          <ns0:cNvGraphicFramePr/>
          <ns0:nvPr/>
        </ns0:nvGraphicFramePr>
        <ns0:xfrm>
          <a:off x="6048375" y="1571625"/>
          <a:ext cx="5572125" cy="3381375"/>
        </ns0:xfrm>
        <a:graphic>
          <a:graphicData uri="http://schemas.openxmlformats.org/drawingml/2006/chart">
            <c:chart ns4:id="R285e1c8ae23f4e01"/>
          </a:graphicData>
        </a:graphic>
      </ns0:graphicFrame>
      <ns0:sp>
        <ns0:nvSpPr>
          <ns0:cNvPr id="14" name="">
            <a:extLst>
              <a:ext uri="{FF2B5EF4-FFF2-40B4-BE49-F238E27FC236}">
                <ns2:creationId id="{DF17BDDF-FCDD-4955-997C-B2E0A36BF8B0}"/>
              </a:ext>
            </a:extLst>
          </ns0:cNvPr>
          <ns0:cNvSpPr>
            <a:spLocks noGrp="1"/>
          </ns0:cNvSpPr>
          <ns0:nvPr/>
        </ns0:nvSpPr>
        <ns0:spPr>
          <a:xfrm>
            <a:off x="9315450" y="1676400"/>
            <a:ext cx="2095500" cy="419100"/>
          </a:xfrm>
          <a:prstGeom prst="rect">
            <a:avLst/>
          </a:prstGeom>
          <a:solidFill>
            <a:srgbClr val="F5F6F7"/>
          </a:solidFill>
          <a:ln w="0">
            <a:noFill/>
            <a:prstDash val="solid"/>
          </a:ln>
        </ns0:spPr>
      </ns0:sp>
      <ns0:sp>
        <ns0:nvSpPr>
          <ns0:cNvPr id="15" name="">
            <a:extLst>
              <a:ext uri="{FF2B5EF4-FFF2-40B4-BE49-F238E27FC236}">
                <ns2:creationId id="{BACD6E02-5A88-4425-8CA8-72D9A45F85D2}"/>
              </a:ext>
            </a:extLst>
          </ns0:cNvPr>
          <ns0:cNvSpPr>
            <a:spLocks noGrp="1"/>
          </ns0:cNvSpPr>
          <ns0:nvPr/>
        </ns0:nvSpPr>
        <ns0:spPr>
          <a:xfrm>
            <a:off x="9410700" y="1752600"/>
            <a:ext cx="1905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86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86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TOTAL · R$ 13,780 tri</a:t>
            </a:r>
          </a:p>
        </ns0:txBody>
      </ns0:sp>
      <ns0:graphicFrame>
        <ns0:nvGraphicFramePr>
          <ns0:cNvPr id="35" name="Chart"/>
          <ns0:cNvGraphicFramePr/>
          <ns0:nvPr/>
        </ns0:nvGraphicFramePr>
        <ns0:xfrm>
          <a:off x="6096000" y="4914900"/>
          <a:ext cx="5524500" cy="190500"/>
        </ns0:xfrm>
        <a:graphic>
          <a:graphicData uri="http://schemas.openxmlformats.org/drawingml/2006/chart">
            <c:chart ns4:id="R29fe00b4fe264145"/>
          </a:graphicData>
        </a:graphic>
      </ns0:graphicFrame>
      <ns0:sp>
        <ns0:nvSpPr>
          <ns0:cNvPr id="17" name="">
            <a:extLst>
              <a:ext uri="{FF2B5EF4-FFF2-40B4-BE49-F238E27FC236}">
                <ns2:creationId id="{D977B419-AF6F-4F76-92DB-D332760879CA}"/>
              </a:ext>
            </a:extLst>
          </ns0:cNvPr>
          <ns0:cNvSpPr>
            <a:spLocks noGrp="1"/>
          </ns0:cNvSpPr>
          <ns0:nvPr/>
        </ns0:nvSpPr>
        <ns0:spPr>
          <a:xfrm>
            <a:off x="6096000" y="5153025"/>
            <a:ext cx="55245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61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1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CAGR 2015–18 +1,6%   ·   2020/19 +16,0%   ·   2022/21 +10,9%   ·   2023/22 +7,6%   ·   2024/23 +17,9%   ·   2025/24 +8,0%   ·   2026 YTD +3,1%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D4E93508-7253-4413-8B95-D9EB72921C6E}"/>
              </a:ext>
            </a:extLst>
          </ns0:cNvPr>
          <ns0:cNvSpPr>
            <a:spLocks noGrp="1"/>
          </ns0:cNvSpPr>
          <ns0:nvPr/>
        </ns0:nvSpPr>
        <ns0:spPr>
          <a:xfrm>
            <a:off x="6096000" y="5543550"/>
            <a:ext cx="5524500" cy="4000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615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15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Jun/26: total privado R$ 13,780 tri; securitização R$ 1.174 bi; carteira FIDC R$ 677 bi. O total BCB de R$ 21,681 tri inclui R$ 7.901 bi de títulos públicos e permanece no export para reconciliação.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4DC83C46-09E0-4652-95F1-CBE55941A887}"/>
              </a:ext>
            </a:extLst>
          </ns0:cNvPr>
          <ns0:cNvSpPr>
            <a:spLocks noGrp="1"/>
          </ns0:cNvSpPr>
          <ns0:nvPr/>
        </ns0:nvSpPr>
        <ns0:spPr>
          <a:xfrm>
            <a:off x="571500" y="60198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615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15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Banco Central do Brasil. Série de carteira de crédito ampliada, excluídos títulos públicos. Securitizações abertas entre FIDCs e demais securitizações (CRIs e CRAs). PL direto e carteira privada têm perímetros contábeis distintos.</a:t>
            </a:r>
          </a:p>
        </ns0:txBody>
      </ns0:sp>
    </ns0:spTree>
    <ns0:extLst>
      <ns0:ext uri="{BB962C8B-B14F-4D97-AF65-F5344CB8AC3E}">
        <ns5:creationId val="194141683"/>
      </ns0:ext>
    </ns0:extLst>
  </ns0:cSld>
</ns0:sld>
</file>

<file path=ppt/slides/slide3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3" name="">
            <a:extLst>
              <a:ext uri="{FF2B5EF4-FFF2-40B4-BE49-F238E27FC236}">
                <ns2:creationId id="{64695933-4B15-4DB2-A570-DDDC378FCE73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FIDCs seguem ganhando escala nas emissões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E365A19A-5EF0-48FA-9291-20B77C5395AC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Abertura por instrumento usa o valor encerrado ANBIMA; 2023 corrigido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23D82487-2F18-43E3-A156-DC1DB8123EAD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8F5A29AF-51C6-4E30-BB4F-D9BD41D8EF2D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2735CFEB-3509-4E0C-B96B-F5793CB2A450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CVM/SRE, snapshot 24/jul/26; ANBIMA Data, Boletim de Mercado de Capitais, snapshot mai/26.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D55EA8EE-415F-44BB-8244-D9A22B8B69ED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60FFC2CB-1EEF-4772-8F1F-F2D34F65D558}"/>
              </a:ext>
            </a:extLst>
          </ns0:cNvPr>
          <ns0:cNvSpPr>
            <a:spLocks noGrp="1"/>
          </ns0:cNvSpPr>
          <ns0:nvPr/>
        </ns0:nvSpPr>
        <ns0:spPr>
          <a:xfrm>
            <a:off x="571500" y="125730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FIDCs E DEMAIS INSTRUMENTOS ELEGÍVEIS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4CC45797-FAB3-45A4-9560-99E3199E82E0}"/>
              </a:ext>
            </a:extLst>
          </ns0:cNvPr>
          <ns0:cNvSpPr>
            <a:spLocks noGrp="1"/>
          </ns0:cNvSpPr>
          <ns0:nvPr/>
        </ns0:nvSpPr>
        <ns0:spPr>
          <a:xfrm>
            <a:off x="571500" y="15240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1" name="Chart"/>
          <ns0:cNvGraphicFramePr/>
          <ns0:nvPr/>
        </ns0:nvGraphicFramePr>
        <ns0:xfrm>
          <a:off x="571500" y="1666875"/>
          <a:ext cx="5238750" cy="3857625"/>
        </ns0:xfrm>
        <a:graphic>
          <a:graphicData uri="http://schemas.openxmlformats.org/drawingml/2006/chart">
            <c:chart ns4:id="R04a03bec567e4c36"/>
          </a:graphicData>
        </a:graphic>
      </ns0:graphicFrame>
      <ns0:sp>
        <ns0:nvSpPr>
          <ns0:cNvPr id="10" name="">
            <a:extLst>
              <a:ext uri="{FF2B5EF4-FFF2-40B4-BE49-F238E27FC236}">
                <ns2:creationId id="{D538269A-72CF-449C-AB98-22A255DA34AB}"/>
              </a:ext>
            </a:extLst>
          </ns0:cNvPr>
          <ns0:cNvSpPr>
            <a:spLocks noGrp="1"/>
          </ns0:cNvSpPr>
          <ns0:nvPr/>
        </ns0:nvSpPr>
        <ns0:spPr>
          <a:xfrm>
            <a:off x="6381750" y="125730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ENCERRADO POR INSTRUMENTO · R$ BI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A0445DEF-A190-4E2F-AA93-E467ECA7062B}"/>
              </a:ext>
            </a:extLst>
          </ns0:cNvPr>
          <ns0:cNvSpPr>
            <a:spLocks noGrp="1"/>
          </ns0:cNvSpPr>
          <ns0:nvPr/>
        </ns0:nvSpPr>
        <ns0:spPr>
          <a:xfrm>
            <a:off x="6381750" y="15240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4" name="Chart"/>
          <ns0:cNvGraphicFramePr/>
          <ns0:nvPr/>
        </ns0:nvGraphicFramePr>
        <ns0:xfrm>
          <a:off x="6381750" y="1666875"/>
          <a:ext cx="5238750" cy="3857625"/>
        </ns0:xfrm>
        <a:graphic>
          <a:graphicData uri="http://schemas.openxmlformats.org/drawingml/2006/chart">
            <c:chart ns4:id="R8b8e8cc345434d4e"/>
          </a:graphicData>
        </a:graphic>
      </ns0:graphicFrame>
    </ns0:spTree>
    <ns0:extLst>
      <ns0:ext uri="{BB962C8B-B14F-4D97-AF65-F5344CB8AC3E}">
        <ns5:creationId val="1180306539"/>
      </ns0:ext>
    </ns0:extLst>
  </ns0:cSld>
</ns0:sld>
</file>

<file path=ppt/slides/slide4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6" name="">
            <a:extLst>
              <a:ext uri="{FF2B5EF4-FFF2-40B4-BE49-F238E27FC236}">
                <ns2:creationId id="{D1CAF540-42A5-42FB-A490-D37F2B148D3F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POR CATEGORIA ANBIMA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6730A50C-70F6-46E6-BADE-2D2206C7B31F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97706"/>
          </a:bodyPr>
          <a:lstStyle/>
          <a:p>
            <a:pPr algn="l">
              <a:lnSpc>
                <a:spcPct val="100000"/>
              </a:lnSpc>
              <a:buNone/>
              <a:def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lidera o 1S26; a composição mostra quais categorias explicam o aumento dos FIDCs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0C5A1ADD-0C74-4C4A-9E86-2E0D098902AF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AE0A08B5-B131-4C32-89AA-F53C93E4CE63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6D95A3CA-16EC-40D4-82D8-A42D64FF5144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CVM/SRE; FIDCs 2023 corrigidos pelo valor encerrado ANBIMA. Quatro tipos + FIC-FIDC reconciliam com o volume emitido.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C34E0FC3-7590-4EA8-BD6B-BE925F1F82CB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4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EBC09170-7A5A-4A53-95E6-C050C278A2F0}"/>
              </a:ext>
            </a:extLst>
          </ns0:cNvPr>
          <ns0:cNvSpPr>
            <a:spLocks noGrp="1"/>
          </ns0:cNvSpPr>
          <ns0:nvPr/>
        </ns0:nvSpPr>
        <ns0:spPr>
          <a:xfrm>
            <a:off x="571500" y="125730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POR SETOR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5FBAA10E-5AA5-467C-896E-201423160E85}"/>
              </a:ext>
            </a:extLst>
          </ns0:cNvPr>
          <ns0:cNvSpPr>
            <a:spLocks noGrp="1"/>
          </ns0:cNvSpPr>
          <ns0:nvPr/>
        </ns0:nvSpPr>
        <ns0:spPr>
          <a:xfrm>
            <a:off x="571500" y="15240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4" name="Chart"/>
          <ns0:cNvGraphicFramePr/>
          <ns0:nvPr/>
        </ns0:nvGraphicFramePr>
        <ns0:xfrm>
          <a:off x="571500" y="1562100"/>
          <a:ext cx="5238750" cy="1857375"/>
        </ns0:xfrm>
        <a:graphic>
          <a:graphicData uri="http://schemas.openxmlformats.org/drawingml/2006/chart">
            <c:chart ns4:id="Re56aee317e3b4e88"/>
          </a:graphicData>
        </a:graphic>
      </ns0:graphicFrame>
      <ns0:sp>
        <ns0:nvSpPr>
          <ns0:cNvPr id="10" name="">
            <a:extLst>
              <a:ext uri="{FF2B5EF4-FFF2-40B4-BE49-F238E27FC236}">
                <ns2:creationId id="{2AC93AAA-0962-4F27-B43A-3EDD8BFD17D0}"/>
              </a:ext>
            </a:extLst>
          </ns0:cNvPr>
          <ns0:cNvSpPr>
            <a:spLocks noGrp="1"/>
          </ns0:cNvSpPr>
          <ns0:nvPr/>
        </ns0:nvSpPr>
        <ns0:spPr>
          <a:xfrm>
            <a:off x="6381750" y="125730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POR SETOR · % DO TOTAL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B5CC9A78-4688-426A-81CC-A6D5DA1F67BF}"/>
              </a:ext>
            </a:extLst>
          </ns0:cNvPr>
          <ns0:cNvSpPr>
            <a:spLocks noGrp="1"/>
          </ns0:cNvSpPr>
          <ns0:nvPr/>
        </ns0:nvSpPr>
        <ns0:spPr>
          <a:xfrm>
            <a:off x="6381750" y="15240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7" name="Chart"/>
          <ns0:cNvGraphicFramePr/>
          <ns0:nvPr/>
        </ns0:nvGraphicFramePr>
        <ns0:xfrm>
          <a:off x="6381750" y="1562100"/>
          <a:ext cx="5238750" cy="1857375"/>
        </ns0:xfrm>
        <a:graphic>
          <a:graphicData uri="http://schemas.openxmlformats.org/drawingml/2006/chart">
            <c:chart ns4:id="Re329659b53ec42e7"/>
          </a:graphicData>
        </a:graphic>
      </ns0:graphicFrame>
      <ns0:sp>
        <ns0:nvSpPr>
          <ns0:cNvPr id="13" name="">
            <a:extLst>
              <a:ext uri="{FF2B5EF4-FFF2-40B4-BE49-F238E27FC236}">
                <ns2:creationId id="{C60F5D7B-CC7B-4D50-99B4-3CCDFAE56040}"/>
              </a:ext>
            </a:extLst>
          </ns0:cNvPr>
          <ns0:cNvSpPr>
            <a:spLocks noGrp="1"/>
          </ns0:cNvSpPr>
          <ns0:nvPr/>
        </ns0:nvSpPr>
        <ns0:spPr>
          <a:xfrm>
            <a:off x="571500" y="3562350"/>
            <a:ext cx="1104900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POR CATEGORIA ANBIMA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B0746CBA-3A6D-41C4-9359-0C54939B89C3}"/>
              </a:ext>
            </a:extLst>
          </ns0:cNvPr>
          <ns0:cNvSpPr>
            <a:spLocks noGrp="1"/>
          </ns0:cNvSpPr>
          <ns0:nvPr/>
        </ns0:nvSpPr>
        <ns0:spPr>
          <a:xfrm>
            <a:off x="571500" y="377190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0" name=""/>
          <ns0:cNvGraphicFramePr/>
          <ns0:nvPr/>
        </ns0:nvGraphicFramePr>
        <ns0:xfrm>
          <a:off x="571500" y="3810000"/>
          <a:ext cx="11049000" cy="2238375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000250"/>
                <a:gridCol w="809625"/>
                <a:gridCol w="495300"/>
                <a:gridCol w="809625"/>
                <a:gridCol w="495300"/>
                <a:gridCol w="809625"/>
                <a:gridCol w="495300"/>
                <a:gridCol w="952500"/>
                <a:gridCol w="590550"/>
                <a:gridCol w="952500"/>
                <a:gridCol w="590550"/>
              </a:tblGrid>
              <a:tr h="2857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1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Categoria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2023</a:t>
                      </a:r>
                    </a:p>
                    <a:p>
                      <a:pPr algn="r"/>
                      <a:r>
                        <a:rPr sz="51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2023</a:t>
                      </a:r>
                    </a:p>
                    <a:p>
                      <a:pPr algn="r"/>
                      <a:r>
                        <a:rPr sz="51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%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2024</a:t>
                      </a:r>
                    </a:p>
                    <a:p>
                      <a:pPr algn="r"/>
                      <a:r>
                        <a:rPr sz="51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2024</a:t>
                      </a:r>
                    </a:p>
                    <a:p>
                      <a:pPr algn="r"/>
                      <a:r>
                        <a:rPr sz="51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%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2025</a:t>
                      </a:r>
                    </a:p>
                    <a:p>
                      <a:pPr algn="r"/>
                      <a:r>
                        <a:rPr sz="51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2025</a:t>
                      </a:r>
                    </a:p>
                    <a:p>
                      <a:pPr algn="r"/>
                      <a:r>
                        <a:rPr sz="51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%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jan–jun/25</a:t>
                      </a:r>
                    </a:p>
                    <a:p>
                      <a:pPr algn="r"/>
                      <a:r>
                        <a:rPr sz="51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jan–jun/25</a:t>
                      </a:r>
                    </a:p>
                    <a:p>
                      <a:pPr algn="r"/>
                      <a:r>
                        <a:rPr sz="51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%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jan–jun/26</a:t>
                      </a:r>
                    </a:p>
                    <a:p>
                      <a:pPr algn="r"/>
                      <a:r>
                        <a:rPr sz="51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jan–jun/26</a:t>
                      </a:r>
                    </a:p>
                    <a:p>
                      <a:pPr algn="r"/>
                      <a:r>
                        <a:rPr sz="51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%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7894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Fomento Mercantil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b="1" lang="pt-BR">
                          <a:solidFill>
                            <a:srgbClr val="007A3D"/>
                          </a:solidFill>
                          <a:latin typeface="Arial"/>
                          <a:ea typeface="Arial"/>
                          <a:cs typeface="Arial"/>
                        </a:rPr>
                        <a:t>12,1%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b="1" lang="pt-BR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10,3%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7,9%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b="1" lang="pt-BR">
                          <a:solidFill>
                            <a:srgbClr val="007A3D"/>
                          </a:solidFill>
                          <a:latin typeface="Arial"/>
                          <a:ea typeface="Arial"/>
                          <a:cs typeface="Arial"/>
                        </a:rPr>
                        <a:t>11,7%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7894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Agro, Indústria e Comércio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b="1" lang="pt-BR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24,3%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b="1" lang="pt-BR">
                          <a:solidFill>
                            <a:srgbClr val="007A3D"/>
                          </a:solidFill>
                          <a:latin typeface="Arial"/>
                          <a:ea typeface="Arial"/>
                          <a:cs typeface="Arial"/>
                        </a:rPr>
                        <a:t>27,0%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19,4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37,0%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b="1" lang="pt-BR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15,6%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7894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41,9%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44,7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b="1" lang="pt-BR">
                          <a:solidFill>
                            <a:srgbClr val="007A3D"/>
                          </a:solidFill>
                          <a:latin typeface="Arial"/>
                          <a:ea typeface="Arial"/>
                          <a:cs typeface="Arial"/>
                        </a:rPr>
                        <a:t>50,5%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b="1" lang="pt-BR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48,0%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40,3%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39,3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b="1" lang="pt-BR">
                          <a:solidFill>
                            <a:srgbClr val="007A3D"/>
                          </a:solidFill>
                          <a:latin typeface="Arial"/>
                          <a:ea typeface="Arial"/>
                          <a:cs typeface="Arial"/>
                        </a:rPr>
                        <a:t>62,7%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7894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21,0%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11,6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b="1" lang="pt-BR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13,1%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b="1" lang="pt-BR">
                          <a:solidFill>
                            <a:srgbClr val="007A3D"/>
                          </a:solidFill>
                          <a:latin typeface="Arial"/>
                          <a:ea typeface="Arial"/>
                          <a:cs typeface="Arial"/>
                        </a:rPr>
                        <a:t>14,7%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b="1" lang="pt-BR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7894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Total · quatro tipos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40,9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100,0%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88,4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100,0%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106,5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100,0%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52,4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100,0%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62,7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100,0%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7894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FIC-FIDC · reconciliação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7894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Total emitido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43,7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95,4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116,9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57,2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65,5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ns0:graphicFrame>
    </ns0:spTree>
    <ns0:extLst>
      <ns0:ext uri="{BB962C8B-B14F-4D97-AF65-F5344CB8AC3E}">
        <ns5:creationId val="195271820"/>
      </ns0:ext>
    </ns0:extLst>
  </ns0:cSld>
</ns0:sld>
</file>

<file path=ppt/slides/slide5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6" name="">
            <a:extLst>
              <a:ext uri="{FF2B5EF4-FFF2-40B4-BE49-F238E27FC236}">
                <ns2:creationId id="{844D17ED-2A6D-4564-8E0B-7F2F3B20A643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Abrir "Outros" revela que 63% do mercado é crédito financeiro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16248664-CAA1-4368-A6D1-FCA7760D0EA7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Financeiro somado aos componentes de Outros, jun/26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0178B308-4DC3-4E94-BC9A-76A7DB7F6865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EEDF41EB-0B41-438A-8F93-FEB513C846DD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8289AAD8-6346-4D9C-8640-210BAB5A931C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ANBIMA Data (Tipo/Foco, dez/25), Informe Mensal CVM (jun/26) e ledger documental aprovado; classificação oficial preservada no workbook.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02602795-AA8B-48AC-BBD6-EC15CC26EBEC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5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65A467EA-5BE9-467F-91FA-7746A43A2AA1}"/>
              </a:ext>
            </a:extLst>
          </ns0:cNvPr>
          <ns0:cNvSpPr>
            <a:spLocks noGrp="1"/>
          </ns0:cNvSpPr>
          <ns0:nvPr/>
        </ns0:nvSpPr>
        <ns0:spPr>
          <a:xfrm>
            <a:off x="571500" y="1381125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· R$ BILHÕES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AC81F600-3A5D-4B15-9C17-654A3DA32538}"/>
              </a:ext>
            </a:extLst>
          </ns0:cNvPr>
          <ns0:cNvSpPr>
            <a:spLocks noGrp="1"/>
          </ns0:cNvSpPr>
          <ns0:nvPr/>
        </ns0:nvSpPr>
        <ns0:spPr>
          <a:xfrm>
            <a:off x="571500" y="1647825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4" name="Chart"/>
          <ns0:cNvGraphicFramePr/>
          <ns0:nvPr/>
        </ns0:nvGraphicFramePr>
        <ns0:xfrm>
          <a:off x="571500" y="1762125"/>
          <a:ext cx="5238750" cy="3381375"/>
        </ns0:xfrm>
        <a:graphic>
          <a:graphicData uri="http://schemas.openxmlformats.org/drawingml/2006/chart">
            <c:chart ns4:id="R03fb2c608aae4f92"/>
          </a:graphicData>
        </a:graphic>
      </ns0:graphicFrame>
      <ns0:sp>
        <ns0:nvSpPr>
          <ns0:cNvPr id="10" name="">
            <a:extLst>
              <a:ext uri="{FF2B5EF4-FFF2-40B4-BE49-F238E27FC236}">
                <ns2:creationId id="{8DAD3B2E-32B2-4381-A0F4-822555C05CCB}"/>
              </a:ext>
            </a:extLst>
          </ns0:cNvPr>
          <ns0:cNvSpPr>
            <a:spLocks noGrp="1"/>
          </ns0:cNvSpPr>
          <ns0:nvPr/>
        </ns0:nvSpPr>
        <ns0:spPr>
          <a:xfrm>
            <a:off x="6381750" y="1381125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PARTICIPAÇÃO NO PL EX-FIC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C71091B8-A1D0-4C2A-8487-F600C6B20487}"/>
              </a:ext>
            </a:extLst>
          </ns0:cNvPr>
          <ns0:cNvSpPr>
            <a:spLocks noGrp="1"/>
          </ns0:cNvSpPr>
          <ns0:nvPr/>
        </ns0:nvSpPr>
        <ns0:spPr>
          <a:xfrm>
            <a:off x="6381750" y="1647825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7" name="Chart"/>
          <ns0:cNvGraphicFramePr/>
          <ns0:nvPr/>
        </ns0:nvGraphicFramePr>
        <ns0:xfrm>
          <a:off x="6381750" y="1762125"/>
          <a:ext cx="5238750" cy="3381375"/>
        </ns0:xfrm>
        <a:graphic>
          <a:graphicData uri="http://schemas.openxmlformats.org/drawingml/2006/chart">
            <c:chart ns4:id="R62a57983544e4241"/>
          </a:graphicData>
        </a:graphic>
      </ns0:graphicFrame>
      <ns0:graphicFrame>
        <ns0:nvGraphicFramePr>
          <ns0:cNvPr id="28" name="Chart"/>
          <ns0:cNvGraphicFramePr/>
          <ns0:nvPr/>
        </ns0:nvGraphicFramePr>
        <ns0:xfrm>
          <a:off x="857250" y="5219700"/>
          <a:ext cx="10477500" cy="428625"/>
        </ns0:xfrm>
        <a:graphic>
          <a:graphicData uri="http://schemas.openxmlformats.org/drawingml/2006/chart">
            <c:chart ns4:id="R905fdae3dfa8406a"/>
          </a:graphicData>
        </a:graphic>
      </ns0:graphicFrame>
      <ns0:sp>
        <ns0:nvSpPr>
          <ns0:cNvPr id="14" name="">
            <a:extLst>
              <a:ext uri="{FF2B5EF4-FFF2-40B4-BE49-F238E27FC236}">
                <ns2:creationId id="{B3F53E9B-A582-40D1-94A0-DFCFD4556794}"/>
              </a:ext>
            </a:extLst>
          </ns0:cNvPr>
          <ns0:cNvSpPr>
            <a:spLocks noGrp="1"/>
          </ns0:cNvSpPr>
          <ns0:nvPr/>
        </ns0:nvSpPr>
        <ns0:spPr>
          <a:xfrm>
            <a:off x="1143000" y="5676900"/>
            <a:ext cx="9906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7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Os sete blocos somam R$ 821,4 bi e fecham 100% do PL ex-FIC de jun/26.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8BFDE517-ECA7-4F8B-8DBC-9247C9A76FC8}"/>
              </a:ext>
            </a:extLst>
          </ns0:cNvPr>
          <ns0:cNvSpPr>
            <a:spLocks noGrp="1"/>
          </ns0:cNvSpPr>
          <ns0:nvPr/>
        </ns0:nvSpPr>
        <ns0:spPr>
          <a:xfrm>
            <a:off x="666750" y="5905500"/>
            <a:ext cx="108585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653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53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Rótulos de exibição: Poder Público → Precatórios e/ou Ações Judiciais; Multicarteira Outros → Multicedente/Multisacado; Recuperação → Recuperação / FIDCs NP. N/D permanece como residual observado. Tipo/Foco oficial e evidências seguem no workbook.</a:t>
            </a:r>
          </a:p>
        </ns0:txBody>
      </ns0:sp>
    </ns0:spTree>
    <ns0:extLst>
      <ns0:ext uri="{BB962C8B-B14F-4D97-AF65-F5344CB8AC3E}">
        <ns5:creationId val="1517242926"/>
      </ns0:ext>
    </ns0:extLst>
  </ns0:cSld>
</ns0:sld>
</file>

<file path=ppt/slides/slide6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5" name="">
            <a:extLst>
              <a:ext uri="{FF2B5EF4-FFF2-40B4-BE49-F238E27FC236}">
                <ns2:creationId id="{A9642952-E9C4-457E-B37B-3800F9C3240A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Adquirência é R$ 99 bi que a taxonomia oficial não mostra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4D58099B-342D-48B3-A77E-700B74599DC0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33 CNPJs reclassificados, 12,1% do PL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048ABD90-2D62-4113-B3F0-E767B79F559F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CE15C690-D4CD-4E3B-9CD1-0A2282384DFA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D3A47DB2-BF5E-4058-A070-523F3195DB8C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e regulamentos no FundosNet. Curadoria em 21/jul/26; a categoria CVM original permanece preservada.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DF4E6F21-BE1D-4652-9C4A-80C2C7F13134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6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35876265-E985-4DBB-B61D-C64A4DB39C3A}"/>
              </a:ext>
            </a:extLst>
          </ns0:cNvPr>
          <ns0:cNvSpPr>
            <a:spLocks noGrp="1"/>
          </ns0:cNvSpPr>
          <ns0:nvPr/>
        </ns0:nvSpPr>
        <ns0:spPr>
          <a:xfrm>
            <a:off x="571500" y="14287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· R$ BI · DEZ/23 → JUN/26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B51D2246-ECBD-4A7F-A082-0D0B88C503E9}"/>
              </a:ext>
            </a:extLst>
          </ns0:cNvPr>
          <ns0:cNvSpPr>
            <a:spLocks noGrp="1"/>
          </ns0:cNvSpPr>
          <ns0:nvPr/>
        </ns0:nvSpPr>
        <ns0:spPr>
          <a:xfrm>
            <a:off x="571500" y="16954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3" name="Chart"/>
          <ns0:cNvGraphicFramePr/>
          <ns0:nvPr/>
        </ns0:nvGraphicFramePr>
        <ns0:xfrm>
          <a:off x="571500" y="1762125"/>
          <a:ext cx="5238750" cy="3810000"/>
        </ns0:xfrm>
        <a:graphic>
          <a:graphicData uri="http://schemas.openxmlformats.org/drawingml/2006/chart">
            <c:chart ns4:id="R56905bf0c3934277"/>
          </a:graphicData>
        </a:graphic>
      </ns0:graphicFrame>
      <ns0:sp>
        <ns0:nvSpPr>
          <ns0:cNvPr id="10" name="">
            <a:extLst>
              <a:ext uri="{FF2B5EF4-FFF2-40B4-BE49-F238E27FC236}">
                <ns2:creationId id="{FD68EFAC-0C8B-4378-97A0-55B729D55008}"/>
              </a:ext>
            </a:extLst>
          </ns0:cNvPr>
          <ns0:cNvSpPr>
            <a:spLocks noGrp="1"/>
          </ns0:cNvSpPr>
          <ns0:nvPr/>
        </ns0:nvSpPr>
        <ns0:spPr>
          <a:xfrm>
            <a:off x="6381750" y="14287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PL EX-FIC · DEZ/23 → JUN/26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EA9DBEE6-1239-4A0E-AD65-3B0C4C01724A}"/>
              </a:ext>
            </a:extLst>
          </ns0:cNvPr>
          <ns0:cNvSpPr>
            <a:spLocks noGrp="1"/>
          </ns0:cNvSpPr>
          <ns0:nvPr/>
        </ns0:nvSpPr>
        <ns0:spPr>
          <a:xfrm>
            <a:off x="6381750" y="16954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6" name="Chart"/>
          <ns0:cNvGraphicFramePr/>
          <ns0:nvPr/>
        </ns0:nvGraphicFramePr>
        <ns0:xfrm>
          <a:off x="6381750" y="1762125"/>
          <a:ext cx="5238750" cy="3810000"/>
        </ns0:xfrm>
        <a:graphic>
          <a:graphicData uri="http://schemas.openxmlformats.org/drawingml/2006/chart">
            <c:chart ns4:id="R6363371955964674"/>
          </a:graphicData>
        </a:graphic>
      </ns0:graphicFrame>
      <ns0:graphicFrame>
        <ns0:nvGraphicFramePr>
          <ns0:cNvPr id="27" name="Chart"/>
          <ns0:cNvGraphicFramePr/>
          <ns0:nvPr/>
        </ns0:nvGraphicFramePr>
        <ns0:xfrm>
          <a:off x="8858250" y="1200150"/>
          <a:ext cx="2762250" cy="209550"/>
        </ns0:xfrm>
        <a:graphic>
          <a:graphicData uri="http://schemas.openxmlformats.org/drawingml/2006/chart">
            <c:chart ns4:id="R92db0e06755f4f5f"/>
          </a:graphicData>
        </a:graphic>
      </ns0:graphicFrame>
      <ns0:sp>
        <ns0:nvSpPr>
          <ns0:cNvPr id="14" name="">
            <a:extLst>
              <a:ext uri="{FF2B5EF4-FFF2-40B4-BE49-F238E27FC236}">
                <ns2:creationId id="{B35C9582-B3F5-4165-8CF8-4FE1B1F83A95}"/>
              </a:ext>
            </a:extLst>
          </ns0:cNvPr>
          <ns0:cNvSpPr>
            <a:spLocks noGrp="1"/>
          </ns0:cNvSpPr>
          <ns0:nvPr/>
        </ns0:nvSpPr>
        <ns0:spPr>
          <a:xfrm>
            <a:off x="571500" y="5953125"/>
            <a:ext cx="11049000" cy="285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803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803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Bucket Cartão: 26 incluídos, 17 fora e 1 pendente. Em jun/26, 31 dos 33 CNPJs selecionados têm reporte ativo; 2 não reportam.</a:t>
            </a:r>
          </a:p>
        </ns0:txBody>
      </ns0:sp>
    </ns0:spTree>
    <ns0:extLst>
      <ns0:ext uri="{BB962C8B-B14F-4D97-AF65-F5344CB8AC3E}">
        <ns5:creationId val="1384969221"/>
      </ns0:ext>
    </ns0:extLst>
  </ns0:cSld>
</ns0:sld>
</file>

<file path=ppt/slides/slide7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6" name="">
            <a:extLst>
              <a:ext uri="{FF2B5EF4-FFF2-40B4-BE49-F238E27FC236}">
                <ns2:creationId id="{6CAF61F3-E99E-4E32-BD6C-E32D309439DE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explicou 70% do crescimento da carteira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D8826F6C-FC77-44A8-BFF4-44C04155A3EC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Ganho de 17,5 p.p. de participação no período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CFA1FC9A-DEB4-4B30-A749-B188955A23B6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31A6B6C3-3884-4FA2-A528-A3A16A5349ED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768A05F9-2A48-4940-BCB4-A19EBE68750A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Mensal, Tabela II; dez/23 e jun/26. Percentuais sobre a soma dos segmentos reportados; contribuição = Δ Financeiro / Δ total líquido.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35D0C748-B17E-4DDD-8B85-6246F0E9DCEC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7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5D025435-3A42-4036-9EEA-5B52687B2DEB}"/>
              </a:ext>
            </a:extLst>
          </ns0:cNvPr>
          <ns0:cNvSpPr>
            <a:spLocks noGrp="1"/>
          </ns0:cNvSpPr>
          <ns0:nvPr/>
        </ns0:nvSpPr>
        <ns0:spPr>
          <a:xfrm>
            <a:off x="571500" y="14287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REPORTADO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F8D6AA30-E614-4D5B-8C97-3DF615A9A95E}"/>
              </a:ext>
            </a:extLst>
          </ns0:cNvPr>
          <ns0:cNvSpPr>
            <a:spLocks noGrp="1"/>
          </ns0:cNvSpPr>
          <ns0:nvPr/>
        </ns0:nvSpPr>
        <ns0:spPr>
          <a:xfrm>
            <a:off x="571500" y="16954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4" name="Chart"/>
          <ns0:cNvGraphicFramePr/>
          <ns0:nvPr/>
        </ns0:nvGraphicFramePr>
        <ns0:xfrm>
          <a:off x="571500" y="1743075"/>
          <a:ext cx="5238750" cy="4238625"/>
        </ns0:xfrm>
        <a:graphic>
          <a:graphicData uri="http://schemas.openxmlformats.org/drawingml/2006/chart">
            <c:chart ns4:id="R1ee119619c1a4199"/>
          </a:graphicData>
        </a:graphic>
      </ns0:graphicFrame>
      <ns0:sp>
        <ns0:nvSpPr>
          <ns0:cNvPr id="10" name="">
            <a:extLst>
              <a:ext uri="{FF2B5EF4-FFF2-40B4-BE49-F238E27FC236}">
                <ns2:creationId id="{DDF9EB36-48A7-49BB-B761-4FA76CC38A32}"/>
              </a:ext>
            </a:extLst>
          </ns0:cNvPr>
          <ns0:cNvSpPr>
            <a:spLocks noGrp="1"/>
          </ns0:cNvSpPr>
          <ns0:nvPr/>
        </ns0:nvSpPr>
        <ns0:spPr>
          <a:xfrm>
            <a:off x="6381750" y="14287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VALOR SEGMENTADO DA TABELA II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C44D1E95-D2D2-44DA-A05B-1701CE4BE902}"/>
              </a:ext>
            </a:extLst>
          </ns0:cNvPr>
          <ns0:cNvSpPr>
            <a:spLocks noGrp="1"/>
          </ns0:cNvSpPr>
          <ns0:nvPr/>
        </ns0:nvSpPr>
        <ns0:spPr>
          <a:xfrm>
            <a:off x="6381750" y="16954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7" name="Chart"/>
          <ns0:cNvGraphicFramePr/>
          <ns0:nvPr/>
        </ns0:nvGraphicFramePr>
        <ns0:xfrm>
          <a:off x="6381750" y="1743075"/>
          <a:ext cx="5238750" cy="4238625"/>
        </ns0:xfrm>
        <a:graphic>
          <a:graphicData uri="http://schemas.openxmlformats.org/drawingml/2006/chart">
            <c:chart ns4:id="R2c54e7b789fd44bd"/>
          </a:graphicData>
        </a:graphic>
      </ns0:graphicFrame>
      <ns0:sp>
        <ns0:nvSpPr>
          <ns0:cNvPr id="13" name="">
            <a:extLst>
              <a:ext uri="{FF2B5EF4-FFF2-40B4-BE49-F238E27FC236}">
                <ns2:creationId id="{B1DB666C-9C2C-44E8-85C4-490FFFF5F34C}"/>
              </a:ext>
            </a:extLst>
          </ns0:cNvPr>
          <ns0:cNvSpPr>
            <a:spLocks noGrp="1"/>
          </ns0:cNvSpPr>
          <ns0:nvPr/>
        </ns0:nvSpPr>
        <ns0:spPr>
          <a:xfrm>
            <a:off x="7239000" y="5715000"/>
            <a:ext cx="4381500" cy="2286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ns0:spPr>
      </ns0:sp>
      <ns0:sp>
        <ns0:nvSpPr>
          <ns0:cNvPr id="14" name="">
            <a:extLst>
              <a:ext uri="{FF2B5EF4-FFF2-40B4-BE49-F238E27FC236}">
                <ns2:creationId id="{5C97149A-7DE3-4C1B-A708-121CE25E68F3}"/>
              </a:ext>
            </a:extLst>
          </ns0:cNvPr>
          <ns0:cNvSpPr>
            <a:spLocks noGrp="1"/>
          </ns0:cNvSpPr>
          <ns0:nvPr/>
        </ns0:nvSpPr>
        <ns0:spPr>
          <a:xfrm>
            <a:off x="571500" y="6048375"/>
            <a:ext cx="11049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3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3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Diferença Tabela II − Tabela I: R$ 51,7 bi em dez/23 e R$ 60,4 bi em jun/26. Em jun/26, 0 fundos sem abertura (R$ 0,0 bi de PL); Top 20 explicam 40,5% do gap positivo.</a:t>
            </a:r>
          </a:p>
        </ns0:txBody>
      </ns0:sp>
      <ns0:graphicFrame>
        <ns0:nvGraphicFramePr>
          <ns0:cNvPr id="30" name="Chart"/>
          <ns0:cNvGraphicFramePr/>
          <ns0:nvPr/>
        </ns0:nvGraphicFramePr>
        <ns0:xfrm>
          <a:off x="9239250" y="1219200"/>
          <a:ext cx="2381250" cy="209550"/>
        </ns0:xfrm>
        <a:graphic>
          <a:graphicData uri="http://schemas.openxmlformats.org/drawingml/2006/chart">
            <c:chart ns4:id="Rc8fd3238682542e8"/>
          </a:graphicData>
        </a:graphic>
      </ns0:graphicFrame>
    </ns0:spTree>
    <ns0:extLst>
      <ns0:ext uri="{BB962C8B-B14F-4D97-AF65-F5344CB8AC3E}">
        <ns5:creationId val="1163329946"/>
      </ns0:ext>
    </ns0:extLst>
  </ns0:cSld>
</ns0:sld>
</file>

<file path=ppt/slides/slide8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8" name="">
            <a:extLst>
              <a:ext uri="{FF2B5EF4-FFF2-40B4-BE49-F238E27FC236}">
                <ns2:creationId id="{E96477AA-C6D2-442E-A8FD-F808F42D8341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RANKING E CONCENTRAÇÃO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8F3BEBC9-1DFB-491C-AC8F-7F835CCB64BB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10 mantém cerca de 72% em administração e custódia; gestão subiu a 38,9%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EB49C6B8-606C-4FC7-A5C7-D2B24CFBB731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A5AFFF01-D990-4475-A0A6-CEE76181602E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8B537E08-5490-479E-BC04-558FBF72A28F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dez/25 e jun/26. PL ex-FIC; Sistema Petrobras e TAPSO excluídos do numerador e denominador. Administração observada; gestão/custódia históricas reconstruídas com cadastro vigente.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9FF3715B-D15E-4E51-859F-5A4C0A740F47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8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1DC9B55D-1E18-4584-AE0A-D4839514D5E1}"/>
              </a:ext>
            </a:extLst>
          </ns0:cNvPr>
          <ns0:cNvSpPr>
            <a:spLocks noGrp="1"/>
          </ns0:cNvSpPr>
          <ns0:nvPr/>
        </ns0:nvSpPr>
        <ns0:spPr>
          <a:xfrm>
            <a:off x="571500" y="1476375"/>
            <a:ext cx="51435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10 · % DO PL EX-FIC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EC377276-A6E0-42B9-BBC9-9B0C752A314E}"/>
              </a:ext>
            </a:extLst>
          </ns0:cNvPr>
          <ns0:cNvSpPr>
            <a:spLocks noGrp="1"/>
          </ns0:cNvSpPr>
          <ns0:nvPr/>
        </ns0:nvSpPr>
        <ns0:spPr>
          <a:xfrm>
            <a:off x="571500" y="1743075"/>
            <a:ext cx="51435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6" name="Chart"/>
          <ns0:cNvGraphicFramePr/>
          <ns0:nvPr/>
        </ns0:nvGraphicFramePr>
        <ns0:xfrm>
          <a:off x="571500" y="1857375"/>
          <a:ext cx="5143500" cy="3000375"/>
        </ns0:xfrm>
        <a:graphic>
          <a:graphicData uri="http://schemas.openxmlformats.org/drawingml/2006/chart">
            <c:chart ns4:id="R939805b580294f9d"/>
          </a:graphicData>
        </a:graphic>
      </ns0:graphicFrame>
      <ns0:sp>
        <ns0:nvSpPr>
          <ns0:cNvPr id="10" name="">
            <a:extLst>
              <a:ext uri="{FF2B5EF4-FFF2-40B4-BE49-F238E27FC236}">
                <ns2:creationId id="{0BDC431B-4243-4304-8B5B-87C1505E2049}"/>
              </a:ext>
            </a:extLst>
          </ns0:cNvPr>
          <ns0:cNvSpPr>
            <a:spLocks noGrp="1"/>
          </ns0:cNvSpPr>
          <ns0:nvPr/>
        </ns0:nvSpPr>
        <ns0:spPr>
          <a:xfrm>
            <a:off x="571500" y="4629150"/>
            <a:ext cx="5143500" cy="333375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ns0:spPr>
      </ns0:sp>
      <ns0:sp>
        <ns0:nvSpPr>
          <ns0:cNvPr id="11" name="">
            <a:extLst>
              <a:ext uri="{FF2B5EF4-FFF2-40B4-BE49-F238E27FC236}">
                <ns2:creationId id="{E0AC8C32-2067-4CA3-902F-526DF170A29F}"/>
              </a:ext>
            </a:extLst>
          </ns0:cNvPr>
          <ns0:cNvSpPr>
            <a:spLocks noGrp="1"/>
          </ns0:cNvSpPr>
          <ns0:nvPr/>
        </ns0:nvSpPr>
        <ns0:spPr>
          <a:xfrm>
            <a:off x="6477000" y="1476375"/>
            <a:ext cx="51435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5 · % DO PL EX-FIC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A247AC52-9963-40CE-AAE5-AE62F7361CD2}"/>
              </a:ext>
            </a:extLst>
          </ns0:cNvPr>
          <ns0:cNvSpPr>
            <a:spLocks noGrp="1"/>
          </ns0:cNvSpPr>
          <ns0:nvPr/>
        </ns0:nvSpPr>
        <ns0:spPr>
          <a:xfrm>
            <a:off x="6477000" y="1743075"/>
            <a:ext cx="51435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0" name="Chart"/>
          <ns0:cNvGraphicFramePr/>
          <ns0:nvPr/>
        </ns0:nvGraphicFramePr>
        <ns0:xfrm>
          <a:off x="6477000" y="1857375"/>
          <a:ext cx="5143500" cy="3000375"/>
        </ns0:xfrm>
        <a:graphic>
          <a:graphicData uri="http://schemas.openxmlformats.org/drawingml/2006/chart">
            <c:chart ns4:id="Re69b2144268941f1"/>
          </a:graphicData>
        </a:graphic>
      </ns0:graphicFrame>
      <ns0:sp>
        <ns0:nvSpPr>
          <ns0:cNvPr id="14" name="">
            <a:extLst>
              <a:ext uri="{FF2B5EF4-FFF2-40B4-BE49-F238E27FC236}">
                <ns2:creationId id="{A0C10249-6F79-49CA-B815-ADF23271AE07}"/>
              </a:ext>
            </a:extLst>
          </ns0:cNvPr>
          <ns0:cNvSpPr>
            <a:spLocks noGrp="1"/>
          </ns0:cNvSpPr>
          <ns0:nvPr/>
        </ns0:nvSpPr>
        <ns0:spPr>
          <a:xfrm>
            <a:off x="6477000" y="4629150"/>
            <a:ext cx="5143500" cy="333375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ns0:spPr>
      </ns0:sp>
      <ns0:sp>
        <ns0:nvSpPr>
          <ns0:cNvPr id="15" name="">
            <a:extLst>
              <a:ext uri="{FF2B5EF4-FFF2-40B4-BE49-F238E27FC236}">
                <ns2:creationId id="{87DF059B-D5A7-40F1-B2AA-BAAF7249BF98}"/>
              </a:ext>
            </a:extLst>
          </ns0:cNvPr>
          <ns0:cNvSpPr>
            <a:spLocks noGrp="1"/>
          </ns0:cNvSpPr>
          <ns0:nvPr/>
        </ns0:nvSpPr>
        <ns0:spPr>
          <a:xfrm>
            <a:off x="571500" y="519112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6" name="">
            <a:extLst>
              <a:ext uri="{FF2B5EF4-FFF2-40B4-BE49-F238E27FC236}">
                <ns2:creationId id="{852ACDB1-E2D7-462A-925D-110EC49104C1}"/>
              </a:ext>
            </a:extLst>
          </ns0:cNvPr>
          <ns0:cNvSpPr>
            <a:spLocks noGrp="1"/>
          </ns0:cNvSpPr>
          <ns0:nvPr/>
        </ns0:nvSpPr>
        <ns0:spPr>
          <a:xfrm>
            <a:off x="571500" y="5429250"/>
            <a:ext cx="11049000" cy="4000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9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9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Cobertura de PL, dez/25 → Jun/26: administração 100,0% → 100,0%; gestão 98,9% → 99,8%; custódia 97,8% → 98,8%.</a:t>
            </a:r>
          </a:p>
        </ns0:txBody>
      </ns0:sp>
      <ns0:graphicFrame>
        <ns0:nvGraphicFramePr>
          <ns0:cNvPr id="34" name="Chart"/>
          <ns0:cNvGraphicFramePr/>
          <ns0:nvPr/>
        </ns0:nvGraphicFramePr>
        <ns0:xfrm>
          <a:off x="9239250" y="1219200"/>
          <a:ext cx="2381250" cy="209550"/>
        </ns0:xfrm>
        <a:graphic>
          <a:graphicData uri="http://schemas.openxmlformats.org/drawingml/2006/chart">
            <c:chart ns4:id="R9dd9abec082a4cea"/>
          </a:graphicData>
        </a:graphic>
      </ns0:graphicFrame>
    </ns0:spTree>
    <ns0:extLst>
      <ns0:ext uri="{BB962C8B-B14F-4D97-AF65-F5344CB8AC3E}">
        <ns5:creationId val="1470953344"/>
      </ns0:ext>
    </ns0:extLst>
  </ns0:cSld>
</ns0:sld>
</file>

<file path=ppt/slides/slide9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9" name="">
            <a:extLst>
              <a:ext uri="{FF2B5EF4-FFF2-40B4-BE49-F238E27FC236}">
                <ns2:creationId id="{674E81FB-171D-4093-9087-5BC4EBA7FDF6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FIDCs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27F4D77B-E578-440A-9053-3B26A9579F67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20 somam 27,5% do PL ex-FIC; Petrobras e TAPSO são 45,5% do bloco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F856E39F-B82A-493A-A2FC-3B8B5F43796A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3B619E1F-0D26-4A29-B310-BB696938B16B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74DDC0EE-D4BB-4A0F-A7CB-926AE83DBB8A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ANBIMA e ledger analítico aprovado, jun/26. Ranking derivado do universo completo ex-FIC; denominação legal completa no apêndice.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D988E5A6-F8DC-4FF3-996A-B923C9E8A7EF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9</a:t>
            </a:r>
          </a:p>
        </ns0:txBody>
      </ns0:sp>
      <ns0:graphicFrame>
        <ns0:nvGraphicFramePr>
          <ns0:cNvPr id="15" name=""/>
          <ns0:cNvGraphicFramePr/>
          <ns0:nvPr/>
        </ns0:nvGraphicFramePr>
        <ns0:xfrm>
          <a:off x="571500" y="1428750"/>
          <a:ext cx="5429250" cy="46672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2238375"/>
                <a:gridCol w="666750"/>
                <a:gridCol w="619125"/>
                <a:gridCol w="16192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Share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Tipo / Foco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Sistema Petrobras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61,3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Agro, Indústria e Comércio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Recebíveis Comerciais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TAPSO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41,5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5,1%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Adquirência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PAN Auto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18,0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2,2%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Agro, Indústria e Comércio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Recebíveis Comerciais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Adquirência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MT Global · Consignado Privado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Crédito Consignado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Crédito Privado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Multicarteira Outros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Crédito Consignado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Aetos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Agro, Indústria e Comércio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Infraestrutura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Adquirência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Rio Vermelho NP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Recuperação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graphicFrame>
        <ns0:nvGraphicFramePr>
          <ns0:cNvPr id="16" name=""/>
          <ns0:cNvGraphicFramePr/>
          <ns0:nvPr/>
        </ns0:nvGraphicFramePr>
        <ns0:xfrm>
          <a:off x="6191250" y="1428750"/>
          <a:ext cx="5429250" cy="46672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2238375"/>
                <a:gridCol w="666750"/>
                <a:gridCol w="619125"/>
                <a:gridCol w="16192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Share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Tipo / Foco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6,2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Adquirência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Crédito Consignado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5,9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Poder Público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Monee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5,8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Crédito PF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4,8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Adquirência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Marobá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Multicarteira Financeiro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Venda de Veículos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4,2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Financiamento de Veículos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 Maxx 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Fomento Mercantil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Fomento Mercantil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BEM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Adquirência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 ECONÔMICO, FINANCEIRO E COMERCIAL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3,7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Multicarteira Financeiro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</ns0:spTree>
    <ns0:extLst>
      <ns0:ext uri="{BB962C8B-B14F-4D97-AF65-F5344CB8AC3E}">
        <ns3:creationId val="978022224"/>
      </ns0:ext>
    </ns0:extLst>
  </ns0:cSld>
</ns0:sld>
</file>

<file path=ppt/slides/slide10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5" name="">
            <a:extLst>
              <a:ext uri="{FF2B5EF4-FFF2-40B4-BE49-F238E27FC236}">
                <ns2:creationId id="{F6933F76-DFC5-4B05-963A-6076CD3B84FC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Fomento Mercantil: crescimento marginal em seis meses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DC4AA9A2-4BD0-4426-ACB1-B1417F098A6C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vai de R$ 30,4 bi a R$ 31,9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98CCE73B-A1E2-4B99-B7EE-373186E313D4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FFA034C1-8A40-436A-99F6-28554A1E9694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21935908-FE12-4554-BF33-A56666F25A7B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e ledger documental aprovado. Agrupamento pela taxonomia analítica reclassificada; campos oficiais permanecem no workbook.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EF4276F5-D52F-4CDD-BC06-AAD33889F7A1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10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991E1E0C-1DDB-4D29-B45B-7E8A283DDE13}"/>
              </a:ext>
            </a:extLst>
          </ns0:cNvPr>
          <ns0:cNvSpPr>
            <a:spLocks noGrp="1"/>
          </ns0:cNvSpPr>
          <ns0:nvPr/>
        </ns0:nvSpPr>
        <ns0:spPr>
          <a:xfrm>
            <a:off x="571500" y="1295400"/>
            <a:ext cx="53816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90CD323E-E88A-4020-840C-759B9ED52136}"/>
              </a:ext>
            </a:extLst>
          </ns0:cNvPr>
          <ns0:cNvSpPr>
            <a:spLocks noGrp="1"/>
          </ns0:cNvSpPr>
          <ns0:nvPr/>
        </ns0:nvSpPr>
        <ns0:spPr>
          <a:xfrm>
            <a:off x="571500" y="1543050"/>
            <a:ext cx="53816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3" name=""/>
          <ns0:cNvGraphicFramePr/>
          <ns0:nvPr/>
        </ns0:nvGraphicFramePr>
        <ns0:xfrm>
          <a:off x="571500" y="1609725"/>
          <a:ext cx="5381625" cy="407670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09550"/>
                <a:gridCol w="1428750"/>
                <a:gridCol w="1190625"/>
                <a:gridCol w="1095375"/>
                <a:gridCol w="885825"/>
                <a:gridCol w="571500"/>
              </a:tblGrid>
              <a:tr h="3143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394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394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394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 / cedente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394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 / preço por cota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394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394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 MAXX 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REAL LP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3,39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COMERCIAIS MEDICI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ATLANTA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CITY - 02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EUV SP1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MULTIPLICA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IOX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NÃO-PADRONIZADOS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CF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ALDEBARAN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SIFRA STAR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NAGOYA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SIFRA PLUS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MULTIPLIKE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FDBD9996-E73D-4334-B3ED-94B792E46E5A}"/>
              </a:ext>
            </a:extLst>
          </ns0:cNvPr>
          <ns0:cNvSpPr>
            <a:spLocks noGrp="1"/>
          </ns0:cNvSpPr>
          <ns0:nvPr/>
        </ns0:nvSpPr>
        <ns0:spPr>
          <a:xfrm>
            <a:off x="571500" y="5762625"/>
            <a:ext cx="53816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69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69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Subtotal Top 15 · R$ 31,9 bi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A7ED8052-3617-484B-B966-26BAF31BFAEB}"/>
              </a:ext>
            </a:extLst>
          </ns0:cNvPr>
          <ns0:cNvSpPr>
            <a:spLocks noGrp="1"/>
          </ns0:cNvSpPr>
          <ns0:nvPr/>
        </ns0:nvSpPr>
        <ns0:spPr>
          <a:xfrm>
            <a:off x="6238875" y="1295400"/>
            <a:ext cx="53816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DEZ/25 · TOP 15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0BA0154F-2DDC-48A8-A86D-8BBB16A8B561}"/>
              </a:ext>
            </a:extLst>
          </ns0:cNvPr>
          <ns0:cNvSpPr>
            <a:spLocks noGrp="1"/>
          </ns0:cNvSpPr>
          <ns0:nvPr/>
        </ns0:nvSpPr>
        <ns0:spPr>
          <a:xfrm>
            <a:off x="6238875" y="1543050"/>
            <a:ext cx="53816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7" name=""/>
          <ns0:cNvGraphicFramePr/>
          <ns0:nvPr/>
        </ns0:nvGraphicFramePr>
        <ns0:xfrm>
          <a:off x="6238875" y="1609725"/>
          <a:ext cx="5381625" cy="407670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09550"/>
                <a:gridCol w="1428750"/>
                <a:gridCol w="1190625"/>
                <a:gridCol w="1095375"/>
                <a:gridCol w="885825"/>
                <a:gridCol w="571500"/>
              </a:tblGrid>
              <a:tr h="3143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394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394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394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 / 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394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 / 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394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394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 MAXX 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REAL LP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ATLANTA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CITY - 02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EUV SP1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COMERCIAIS MEDICI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RHODONITE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MULTIPLICA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CF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ALDEBARAN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NÃO-PADRONIZADOS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FOR-TE FIDC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1,35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MULTIPLIKE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SIFRA STAR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IOX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4" name="">
            <a:extLst>
              <a:ext uri="{FF2B5EF4-FFF2-40B4-BE49-F238E27FC236}">
                <ns2:creationId id="{2727A28C-3B65-4BB9-943B-E03B27F01BB6}"/>
              </a:ext>
            </a:extLst>
          </ns0:cNvPr>
          <ns0:cNvSpPr>
            <a:spLocks noGrp="1"/>
          </ns0:cNvSpPr>
          <ns0:nvPr/>
        </ns0:nvSpPr>
        <ns0:spPr>
          <a:xfrm>
            <a:off x="6238875" y="5762625"/>
            <a:ext cx="53816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69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9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Subtotal Top 15 · R$ 30,4 bi</a:t>
            </a:r>
          </a:p>
        </ns0:txBody>
      </ns0:sp>
    </ns0:spTree>
    <ns0:extLst>
      <ns0:ext uri="{BB962C8B-B14F-4D97-AF65-F5344CB8AC3E}">
        <ns3:creationId val="1986310454"/>
      </ns0:ext>
    </ns0:extLst>
  </ns0:cSld>
</ns0:sld>
</file>

<file path=ppt/slides/slide11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5" name="">
            <a:extLst>
              <a:ext uri="{FF2B5EF4-FFF2-40B4-BE49-F238E27FC236}">
                <ns2:creationId id="{8F85BA22-0D28-4863-B934-7E8B6D9F3FB4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Agro, Indústria e Comércio: o maior salto absoluto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A8C1756E-23CD-4CE5-99F3-45675BA4934E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sobe R$ 18,2 bi, para R$ 112,2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AAD3B5A6-E237-47EE-BD51-035580A8CC82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FB456057-FAFA-4087-8E1F-BBE1352CD917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BFA82764-1A6A-4670-B0C0-4B6F6AEC0EC8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e ledger documental aprovado. Agrupamento pela taxonomia analítica reclassificada; campos oficiais permanecem no workbook.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FC642D80-F371-41C2-8939-59DD15AFCA20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11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CAE7E247-92CF-4DCE-8475-CE2DD1185ED0}"/>
              </a:ext>
            </a:extLst>
          </ns0:cNvPr>
          <ns0:cNvSpPr>
            <a:spLocks noGrp="1"/>
          </ns0:cNvSpPr>
          <ns0:nvPr/>
        </ns0:nvSpPr>
        <ns0:spPr>
          <a:xfrm>
            <a:off x="571500" y="1295400"/>
            <a:ext cx="53816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71EA28D6-0421-4AFE-B8EC-9EB1BBA89F16}"/>
              </a:ext>
            </a:extLst>
          </ns0:cNvPr>
          <ns0:cNvSpPr>
            <a:spLocks noGrp="1"/>
          </ns0:cNvSpPr>
          <ns0:nvPr/>
        </ns0:nvSpPr>
        <ns0:spPr>
          <a:xfrm>
            <a:off x="571500" y="1543050"/>
            <a:ext cx="53816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3" name=""/>
          <ns0:cNvGraphicFramePr/>
          <ns0:nvPr/>
        </ns0:nvGraphicFramePr>
        <ns0:xfrm>
          <a:off x="571500" y="1609725"/>
          <a:ext cx="5381625" cy="407670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09550"/>
                <a:gridCol w="1428750"/>
                <a:gridCol w="1190625"/>
                <a:gridCol w="1095375"/>
                <a:gridCol w="885825"/>
                <a:gridCol w="571500"/>
              </a:tblGrid>
              <a:tr h="3143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394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394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394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 / cedente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394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 / preço por cota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394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394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DO SISTEMA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PAN AUTO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17,97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AETOS ENERGIA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7,35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GM - VENDA DE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GAZIN MULTISSEGMENTOS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VITA AUTO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ÂMBAR ENERGIA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ÂMBAR ENERGIA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EB VESTA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2,20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HYUNDAI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IBCB-AF01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AUTO-HONDA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CATERPILLAR DO SEGMENTO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- MULTISETORIAL LP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SAPPHIRE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205997CA-7E30-4700-A230-2EA2C06D9835}"/>
              </a:ext>
            </a:extLst>
          </ns0:cNvPr>
          <ns0:cNvSpPr>
            <a:spLocks noGrp="1"/>
          </ns0:cNvSpPr>
          <ns0:nvPr/>
        </ns0:nvSpPr>
        <ns0:spPr>
          <a:xfrm>
            <a:off x="571500" y="5762625"/>
            <a:ext cx="53816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69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69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Subtotal Top 15 · R$ 112,2 bi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B3110D24-0516-418E-858F-ADDFDE2DE62C}"/>
              </a:ext>
            </a:extLst>
          </ns0:cNvPr>
          <ns0:cNvSpPr>
            <a:spLocks noGrp="1"/>
          </ns0:cNvSpPr>
          <ns0:nvPr/>
        </ns0:nvSpPr>
        <ns0:spPr>
          <a:xfrm>
            <a:off x="6238875" y="1295400"/>
            <a:ext cx="53816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DEZ/25 · TOP 15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0ACA5F9E-B48A-4CBF-9176-DAC7EAD6BDE1}"/>
              </a:ext>
            </a:extLst>
          </ns0:cNvPr>
          <ns0:cNvSpPr>
            <a:spLocks noGrp="1"/>
          </ns0:cNvSpPr>
          <ns0:nvPr/>
        </ns0:nvSpPr>
        <ns0:spPr>
          <a:xfrm>
            <a:off x="6238875" y="1543050"/>
            <a:ext cx="53816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7" name=""/>
          <ns0:cNvGraphicFramePr/>
          <ns0:nvPr/>
        </ns0:nvGraphicFramePr>
        <ns0:xfrm>
          <a:off x="6238875" y="1609725"/>
          <a:ext cx="5381625" cy="407670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09550"/>
                <a:gridCol w="1428750"/>
                <a:gridCol w="1190625"/>
                <a:gridCol w="1095375"/>
                <a:gridCol w="885825"/>
                <a:gridCol w="571500"/>
              </a:tblGrid>
              <a:tr h="3143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394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394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394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 / 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394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 / 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394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394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DO SISTEMA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61,56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AETOS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6,64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GM - VENDA DE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ÂMBAR ENERGIA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ÂMBAR ENERGIA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VITA AUTO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2,22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HYUNDAI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FRANQUIAS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ÚNICA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AUTO-HONDA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GAZIN MULTISSEGMENTOS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EB VESTA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CATERPILLAR DO SEGMENTO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IBCB-AF01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- MULTISETORIAL LP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4" name="">
            <a:extLst>
              <a:ext uri="{FF2B5EF4-FFF2-40B4-BE49-F238E27FC236}">
                <ns2:creationId id="{759B398B-03F5-4C29-AF2A-1B49664E752E}"/>
              </a:ext>
            </a:extLst>
          </ns0:cNvPr>
          <ns0:cNvSpPr>
            <a:spLocks noGrp="1"/>
          </ns0:cNvSpPr>
          <ns0:nvPr/>
        </ns0:nvSpPr>
        <ns0:spPr>
          <a:xfrm>
            <a:off x="6238875" y="5762625"/>
            <a:ext cx="53816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69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9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Subtotal Top 15 · R$ 94,0 bi</a:t>
            </a:r>
          </a:p>
        </ns0:txBody>
      </ns0:sp>
    </ns0:spTree>
    <ns0:extLst>
      <ns0:ext uri="{BB962C8B-B14F-4D97-AF65-F5344CB8AC3E}">
        <ns3:creationId val="1971395186"/>
      </ns0:ext>
    </ns0:extLst>
  </ns0:cSld>
</ns0:sld>
</file>

<file path=ppt/slides/slide12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5" name="">
            <a:extLst>
              <a:ext uri="{FF2B5EF4-FFF2-40B4-BE49-F238E27FC236}">
                <ns2:creationId id="{D9ACBB27-71DA-477F-9F68-57BA5CF8CAF6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Financeiro: o maior bloco, e ainda crescendo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BEFB40A5-B853-43B2-9F1A-D8F6DFF219F1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vai a R$ 121,1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EDF45727-BAF3-4D95-B367-CCEE15C6BCF0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28B1C460-1050-4EB6-BD59-056959605565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0E295C1B-50C2-4B97-B06C-261AAD8613D6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e ledger documental aprovado. Agrupamento pela taxonomia analítica reclassificada; campos oficiais permanecem no workbook.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80D26213-B4B7-48AA-9E07-6DF2EF24719F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12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73C091F6-0794-40FD-8102-A6E66929C237}"/>
              </a:ext>
            </a:extLst>
          </ns0:cNvPr>
          <ns0:cNvSpPr>
            <a:spLocks noGrp="1"/>
          </ns0:cNvSpPr>
          <ns0:nvPr/>
        </ns0:nvSpPr>
        <ns0:spPr>
          <a:xfrm>
            <a:off x="571500" y="1295400"/>
            <a:ext cx="53816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27D9C995-9F02-4369-80F7-B12021D4D808}"/>
              </a:ext>
            </a:extLst>
          </ns0:cNvPr>
          <ns0:cNvSpPr>
            <a:spLocks noGrp="1"/>
          </ns0:cNvSpPr>
          <ns0:nvPr/>
        </ns0:nvSpPr>
        <ns0:spPr>
          <a:xfrm>
            <a:off x="571500" y="1543050"/>
            <a:ext cx="53816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3" name=""/>
          <ns0:cNvGraphicFramePr/>
          <ns0:nvPr/>
        </ns0:nvGraphicFramePr>
        <ns0:xfrm>
          <a:off x="571500" y="1609725"/>
          <a:ext cx="5381625" cy="407670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09550"/>
                <a:gridCol w="1428750"/>
                <a:gridCol w="1190625"/>
                <a:gridCol w="1095375"/>
                <a:gridCol w="885825"/>
                <a:gridCol w="571500"/>
              </a:tblGrid>
              <a:tr h="3143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394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394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394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 / cedente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394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 / preço por cota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394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394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TAPSO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 SEGMENTO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1,0% até D+180;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R$ 1.000,00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CONSIGNADO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9,41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 CONSIGNADOS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6,48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6,23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 CONSIGNADOS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MONEE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5,75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4,76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MAROBÁ FUNDO DE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4,47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VENDA DE VEÍCULOS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4,24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ACR BEM BANCOS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 SEGMENTO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FIDC SEGMENTO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10,0%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R$ 1.000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PI SEGMENTO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Cloudwalk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Cloudwalk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2,5%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R$ 1,00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33E97DDD-5A42-41DA-BE43-298A7369AA00}"/>
              </a:ext>
            </a:extLst>
          </ns0:cNvPr>
          <ns0:cNvSpPr>
            <a:spLocks noGrp="1"/>
          </ns0:cNvSpPr>
          <ns0:nvPr/>
        </ns0:nvSpPr>
        <ns0:spPr>
          <a:xfrm>
            <a:off x="571500" y="5762625"/>
            <a:ext cx="53816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69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69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Subtotal Top 15 · R$ 121,1 bi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5478B18C-5BC3-414A-96F1-A6D62B4C3AAD}"/>
              </a:ext>
            </a:extLst>
          </ns0:cNvPr>
          <ns0:cNvSpPr>
            <a:spLocks noGrp="1"/>
          </ns0:cNvSpPr>
          <ns0:nvPr/>
        </ns0:nvSpPr>
        <ns0:spPr>
          <a:xfrm>
            <a:off x="6238875" y="1295400"/>
            <a:ext cx="53816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DEZ/25 · TOP 15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06E7E283-3E1E-4EFE-A9B1-1689D669C2C5}"/>
              </a:ext>
            </a:extLst>
          </ns0:cNvPr>
          <ns0:cNvSpPr>
            <a:spLocks noGrp="1"/>
          </ns0:cNvSpPr>
          <ns0:nvPr/>
        </ns0:nvSpPr>
        <ns0:spPr>
          <a:xfrm>
            <a:off x="6238875" y="1543050"/>
            <a:ext cx="53816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7" name=""/>
          <ns0:cNvGraphicFramePr/>
          <ns0:nvPr/>
        </ns0:nvGraphicFramePr>
        <ns0:xfrm>
          <a:off x="6238875" y="1609725"/>
          <a:ext cx="5381625" cy="407670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09550"/>
                <a:gridCol w="1428750"/>
                <a:gridCol w="1190625"/>
                <a:gridCol w="1095375"/>
                <a:gridCol w="885825"/>
                <a:gridCol w="571500"/>
              </a:tblGrid>
              <a:tr h="3143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394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394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394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 / 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394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 / 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394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394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TAPSO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36,63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 CONSIGNADOS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9,05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ALEPO NÃO PADRONIZADO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8,07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5,34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FIDC SEGMENTO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10,0%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R$ 1.000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4,68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 SEGMENTO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1,0% até D+180;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R$ 1.000,00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MT CONSIGNADO PRIVADO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Parati Crédito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Parati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5,0%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R$ 1.000,00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3,99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VENDA DE VEÍCULOS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3,77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ACR BEM BANCOS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MONEE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 SEGMENTO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PI SEGMENTO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Cloudwalk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2,5%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R$ 1,00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3,25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SANTANDER AUTO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4" name="">
            <a:extLst>
              <a:ext uri="{FF2B5EF4-FFF2-40B4-BE49-F238E27FC236}">
                <ns2:creationId id="{557393EC-AB53-4901-858F-790B231F0597}"/>
              </a:ext>
            </a:extLst>
          </ns0:cNvPr>
          <ns0:cNvSpPr>
            <a:spLocks noGrp="1"/>
          </ns0:cNvSpPr>
          <ns0:nvPr/>
        </ns0:nvSpPr>
        <ns0:spPr>
          <a:xfrm>
            <a:off x="6238875" y="5762625"/>
            <a:ext cx="53816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69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9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Subtotal Top 15 · R$ 106,3 bi</a:t>
            </a:r>
          </a:p>
        </ns0:txBody>
      </ns0:sp>
    </ns0:spTree>
    <ns0:extLst>
      <ns0:ext uri="{BB962C8B-B14F-4D97-AF65-F5344CB8AC3E}">
        <ns3:creationId val="246660634"/>
      </ns0:ext>
    </ns0:extLst>
  </ns0:cSld>
</ns0:sld>
</file>

<file path=ppt/slides/slide13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5" name="">
            <a:extLst>
              <a:ext uri="{FF2B5EF4-FFF2-40B4-BE49-F238E27FC236}">
                <ns2:creationId id="{3BD4944A-A58B-4766-B7EB-C8D192F28B36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Outros: o único bloco que encolheu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8030C6BB-5FC3-4349-BEE1-50A7FDA3D52A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recua de R$ 60,9 bi para R$ 55,1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1D0B3A35-B5F6-45EC-AA11-A10C610F4FE9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1EF77B27-208E-460C-94EB-2214BEE5479A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110AAC86-18E8-484B-9537-E7DDBC8FB367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e ledger documental aprovado. Agrupamento pela taxonomia analítica reclassificada; campos oficiais permanecem no workbook.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E0D80DA1-3030-44A7-A430-F252690C5881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13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832CAD25-8B28-45A7-AB4A-B3511345CCCB}"/>
              </a:ext>
            </a:extLst>
          </ns0:cNvPr>
          <ns0:cNvSpPr>
            <a:spLocks noGrp="1"/>
          </ns0:cNvSpPr>
          <ns0:nvPr/>
        </ns0:nvSpPr>
        <ns0:spPr>
          <a:xfrm>
            <a:off x="571500" y="1295400"/>
            <a:ext cx="53816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D8DD5766-31BB-4228-BF57-190525BFCD62}"/>
              </a:ext>
            </a:extLst>
          </ns0:cNvPr>
          <ns0:cNvSpPr>
            <a:spLocks noGrp="1"/>
          </ns0:cNvSpPr>
          <ns0:nvPr/>
        </ns0:nvSpPr>
        <ns0:spPr>
          <a:xfrm>
            <a:off x="571500" y="1543050"/>
            <a:ext cx="53816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3" name=""/>
          <ns0:cNvGraphicFramePr/>
          <ns0:nvPr/>
        </ns0:nvGraphicFramePr>
        <ns0:xfrm>
          <a:off x="571500" y="1609725"/>
          <a:ext cx="5381625" cy="407670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09550"/>
                <a:gridCol w="1428750"/>
                <a:gridCol w="1190625"/>
                <a:gridCol w="1095375"/>
                <a:gridCol w="885825"/>
                <a:gridCol w="571500"/>
              </a:tblGrid>
              <a:tr h="3143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394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394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394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 / cedente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394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 / preço por cota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394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394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CRÉDITO PRIVADO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RIO VERMELHO 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6,39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5,86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RSCRED MULTIESTRÉGIA -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OCCAM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ASA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PCG - BRASIL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3,14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CARNIVAL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GSR NÃO PADRONIZADOS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MULTISEGMENTOS NPL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2,63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ACONCÁGUA 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ITAL NÃO 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RSG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VALE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D977D762-2771-46C2-8682-4DF7F2DBD5F4}"/>
              </a:ext>
            </a:extLst>
          </ns0:cNvPr>
          <ns0:cNvSpPr>
            <a:spLocks noGrp="1"/>
          </ns0:cNvSpPr>
          <ns0:nvPr/>
        </ns0:nvSpPr>
        <ns0:spPr>
          <a:xfrm>
            <a:off x="571500" y="5762625"/>
            <a:ext cx="53816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69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69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Subtotal Top 15 · R$ 55,1 bi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2FA9D9EA-E91A-4D83-BC58-1CE047BB18AE}"/>
              </a:ext>
            </a:extLst>
          </ns0:cNvPr>
          <ns0:cNvSpPr>
            <a:spLocks noGrp="1"/>
          </ns0:cNvSpPr>
          <ns0:nvPr/>
        </ns0:nvSpPr>
        <ns0:spPr>
          <a:xfrm>
            <a:off x="6238875" y="1295400"/>
            <a:ext cx="53816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DEZ/25 · TOP 15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CFCEA8B2-9F51-40EF-AB8B-43E84B72C635}"/>
              </a:ext>
            </a:extLst>
          </ns0:cNvPr>
          <ns0:cNvSpPr>
            <a:spLocks noGrp="1"/>
          </ns0:cNvSpPr>
          <ns0:nvPr/>
        </ns0:nvSpPr>
        <ns0:spPr>
          <a:xfrm>
            <a:off x="6238875" y="1543050"/>
            <a:ext cx="53816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7" name=""/>
          <ns0:cNvGraphicFramePr/>
          <ns0:nvPr/>
        </ns0:nvGraphicFramePr>
        <ns0:xfrm>
          <a:off x="6238875" y="1609725"/>
          <a:ext cx="5381625" cy="407670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09550"/>
                <a:gridCol w="1428750"/>
                <a:gridCol w="1190625"/>
                <a:gridCol w="1095375"/>
                <a:gridCol w="885825"/>
                <a:gridCol w="571500"/>
              </a:tblGrid>
              <a:tr h="3143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394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394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394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 / 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394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 / 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394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394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CRÉDITO PRIVADO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8,14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ESPERANZA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6,48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RIO VERMELHO 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6,38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NC 2025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5,34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HIGH TOWER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3,97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RSCRED MULTIESTRÉGIA -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ACONCÁGUA 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GSR NÃO PADRONIZADOS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CARNIVAL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OCCAM CRÉDITO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PCG -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JC DIVERSIFICADO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SCARLET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4" name="">
            <a:extLst>
              <a:ext uri="{FF2B5EF4-FFF2-40B4-BE49-F238E27FC236}">
                <ns2:creationId id="{7CBFE57A-1657-4144-8859-7A6249F67EE6}"/>
              </a:ext>
            </a:extLst>
          </ns0:cNvPr>
          <ns0:cNvSpPr>
            <a:spLocks noGrp="1"/>
          </ns0:cNvSpPr>
          <ns0:nvPr/>
        </ns0:nvSpPr>
        <ns0:spPr>
          <a:xfrm>
            <a:off x="6238875" y="5762625"/>
            <a:ext cx="53816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69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9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Subtotal Top 15 · R$ 60,9 bi</a:t>
            </a:r>
          </a:p>
        </ns0:txBody>
      </ns0:sp>
    </ns0:spTree>
    <ns0:extLst>
      <ns0:ext uri="{BB962C8B-B14F-4D97-AF65-F5344CB8AC3E}">
        <ns3:creationId val="1445020761"/>
      </ns0:ext>
    </ns0:extLst>
  </ns0:cSld>
</ns0:sld>
</file>

<file path=ppt/slides/slide14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94" name="">
            <a:extLst>
              <a:ext uri="{FF2B5EF4-FFF2-40B4-BE49-F238E27FC236}">
                <ns2:creationId id="{00A9C2E8-2D6E-4A06-A024-5CF5AD318DB4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CURADORIA · FUNDOS FLAGSHIP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0BFF65BA-8A2B-44D5-8C05-92126EB70330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26 famílias · 47 CNPJs · 12 mínimos júnior localizados em 24 regulamentos revistos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E59121A6-8AC6-438E-9EF3-FEC555D915DB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FA241933-5189-4DC5-9D71-1012347AA549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0441AD32-DBA6-408D-863C-6385AAD335A9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CVM, Informe Mensal, jun/26; regulamentos, emissões e assembleias dos pacotes documentais versionados. Lacunas = N/D.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18D48678-F179-40C3-9931-868E0F5893D2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14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1E9387C9-3D2E-4443-84B8-7386DB1B1041}"/>
              </a:ext>
            </a:extLst>
          </ns0:cNvPr>
          <ns0:cNvSpPr>
            <a:spLocks noGrp="1"/>
          </ns0:cNvSpPr>
          <ns0:nvPr/>
        </ns0:nvSpPr>
        <ns0:spPr>
          <a:xfrm>
            <a:off x="571500" y="1295400"/>
            <a:ext cx="1793875" cy="276225"/>
          </a:xfrm>
          <a:prstGeom prst="rect">
            <a:avLst/>
          </a:prstGeom>
          <a:solidFill>
            <a:srgbClr val="30353A"/>
          </a:solidFill>
          <a:ln w="0">
            <a:noFill/>
            <a:prstDash val="solid"/>
          </a:ln>
        </ns0:spPr>
      </ns0:sp>
      <ns0:sp>
        <ns0:nvSpPr>
          <ns0:cNvPr id="8" name="">
            <a:extLst>
              <a:ext uri="{FF2B5EF4-FFF2-40B4-BE49-F238E27FC236}">
                <ns2:creationId id="{6A94A972-A1EA-4FB9-80C8-4AAD11ECB35C}"/>
              </a:ext>
            </a:extLst>
          </ns0:cNvPr>
          <ns0:cNvSpPr>
            <a:spLocks noGrp="1"/>
          </ns0:cNvSpPr>
          <ns0:nvPr/>
        </ns0:nvSpPr>
        <ns0:spPr>
          <a:xfrm>
            <a:off x="619125" y="1323975"/>
            <a:ext cx="1698625" cy="2190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788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&lt; 10%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3677CEE5-2FD5-486C-8CAF-15A16327571B}"/>
              </a:ext>
            </a:extLst>
          </ns0:cNvPr>
          <ns0:cNvSpPr>
            <a:spLocks noGrp="1"/>
          </ns0:cNvSpPr>
          <ns0:nvPr/>
        </ns0:nvSpPr>
        <ns0:spPr>
          <a:xfrm>
            <a:off x="2422525" y="1295400"/>
            <a:ext cx="1793875" cy="276225"/>
          </a:xfrm>
          <a:prstGeom prst="rect">
            <a:avLst/>
          </a:prstGeom>
          <a:solidFill>
            <a:srgbClr val="30353A"/>
          </a:solidFill>
          <a:ln w="0">
            <a:noFill/>
            <a:prstDash val="solid"/>
          </a:ln>
        </ns0:spPr>
      </ns0:sp>
      <ns0:sp>
        <ns0:nvSpPr>
          <ns0:cNvPr id="10" name="">
            <a:extLst>
              <a:ext uri="{FF2B5EF4-FFF2-40B4-BE49-F238E27FC236}">
                <ns2:creationId id="{CDCFDCCF-6DF6-4250-BA33-737D6A6A8032}"/>
              </a:ext>
            </a:extLst>
          </ns0:cNvPr>
          <ns0:cNvSpPr>
            <a:spLocks noGrp="1"/>
          </ns0:cNvSpPr>
          <ns0:nvPr/>
        </ns0:nvSpPr>
        <ns0:spPr>
          <a:xfrm>
            <a:off x="2470150" y="1323975"/>
            <a:ext cx="1698625" cy="2190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788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10%–15%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C94F9D11-F089-4739-8C15-54465D5A88AA}"/>
              </a:ext>
            </a:extLst>
          </ns0:cNvPr>
          <ns0:cNvSpPr>
            <a:spLocks noGrp="1"/>
          </ns0:cNvSpPr>
          <ns0:nvPr/>
        </ns0:nvSpPr>
        <ns0:spPr>
          <a:xfrm>
            <a:off x="4273550" y="1295400"/>
            <a:ext cx="1793875" cy="276225"/>
          </a:xfrm>
          <a:prstGeom prst="rect">
            <a:avLst/>
          </a:prstGeom>
          <a:solidFill>
            <a:srgbClr val="30353A"/>
          </a:solidFill>
          <a:ln w="0">
            <a:noFill/>
            <a:prstDash val="solid"/>
          </a:ln>
        </ns0:spPr>
      </ns0:sp>
      <ns0:sp>
        <ns0:nvSpPr>
          <ns0:cNvPr id="12" name="">
            <a:extLst>
              <a:ext uri="{FF2B5EF4-FFF2-40B4-BE49-F238E27FC236}">
                <ns2:creationId id="{E5DCC0C6-26A5-4BB8-B058-6DF47211EFEB}"/>
              </a:ext>
            </a:extLst>
          </ns0:cNvPr>
          <ns0:cNvSpPr>
            <a:spLocks noGrp="1"/>
          </ns0:cNvSpPr>
          <ns0:nvPr/>
        </ns0:nvSpPr>
        <ns0:spPr>
          <a:xfrm>
            <a:off x="4321175" y="1323975"/>
            <a:ext cx="1698625" cy="2190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788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15%–20%</a:t>
            </a:r>
          </a:p>
        </ns0:txBody>
      </ns0:sp>
      <ns0:sp>
        <ns0:nvSpPr>
          <ns0:cNvPr id="13" name="">
            <a:extLst>
              <a:ext uri="{FF2B5EF4-FFF2-40B4-BE49-F238E27FC236}">
                <ns2:creationId id="{C0F38CC2-481B-4001-93B9-8D8F3B486816}"/>
              </a:ext>
            </a:extLst>
          </ns0:cNvPr>
          <ns0:cNvSpPr>
            <a:spLocks noGrp="1"/>
          </ns0:cNvSpPr>
          <ns0:nvPr/>
        </ns0:nvSpPr>
        <ns0:spPr>
          <a:xfrm>
            <a:off x="6124575" y="1295400"/>
            <a:ext cx="1793875" cy="276225"/>
          </a:xfrm>
          <a:prstGeom prst="rect">
            <a:avLst/>
          </a:prstGeom>
          <a:solidFill>
            <a:srgbClr val="30353A"/>
          </a:solidFill>
          <a:ln w="0">
            <a:noFill/>
            <a:prstDash val="solid"/>
          </a:ln>
        </ns0:spPr>
      </ns0:sp>
      <ns0:sp>
        <ns0:nvSpPr>
          <ns0:cNvPr id="14" name="">
            <a:extLst>
              <a:ext uri="{FF2B5EF4-FFF2-40B4-BE49-F238E27FC236}">
                <ns2:creationId id="{CE09CF1A-01EE-49DE-82E0-2CEA95A35C02}"/>
              </a:ext>
            </a:extLst>
          </ns0:cNvPr>
          <ns0:cNvSpPr>
            <a:spLocks noGrp="1"/>
          </ns0:cNvSpPr>
          <ns0:nvPr/>
        </ns0:nvSpPr>
        <ns0:spPr>
          <a:xfrm>
            <a:off x="6172200" y="1323975"/>
            <a:ext cx="1698625" cy="2190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788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20%–35%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E9801381-815F-4856-9143-FFAEB5E03C2D}"/>
              </a:ext>
            </a:extLst>
          </ns0:cNvPr>
          <ns0:cNvSpPr>
            <a:spLocks noGrp="1"/>
          </ns0:cNvSpPr>
          <ns0:nvPr/>
        </ns0:nvSpPr>
        <ns0:spPr>
          <a:xfrm>
            <a:off x="7975600" y="1295400"/>
            <a:ext cx="1793875" cy="276225"/>
          </a:xfrm>
          <a:prstGeom prst="rect">
            <a:avLst/>
          </a:prstGeom>
          <a:solidFill>
            <a:srgbClr val="30353A"/>
          </a:solidFill>
          <a:ln w="0">
            <a:noFill/>
            <a:prstDash val="solid"/>
          </a:ln>
        </ns0:spPr>
      </ns0:sp>
      <ns0:sp>
        <ns0:nvSpPr>
          <ns0:cNvPr id="16" name="">
            <a:extLst>
              <a:ext uri="{FF2B5EF4-FFF2-40B4-BE49-F238E27FC236}">
                <ns2:creationId id="{782D39DE-7EE7-4D39-B64A-850D87A8CB25}"/>
              </a:ext>
            </a:extLst>
          </ns0:cNvPr>
          <ns0:cNvSpPr>
            <a:spLocks noGrp="1"/>
          </ns0:cNvSpPr>
          <ns0:nvPr/>
        </ns0:nvSpPr>
        <ns0:spPr>
          <a:xfrm>
            <a:off x="8023225" y="1323975"/>
            <a:ext cx="1698625" cy="2190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788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35%–60%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70D088EC-430A-44A5-B287-D47396F24806}"/>
              </a:ext>
            </a:extLst>
          </ns0:cNvPr>
          <ns0:cNvSpPr>
            <a:spLocks noGrp="1"/>
          </ns0:cNvSpPr>
          <ns0:nvPr/>
        </ns0:nvSpPr>
        <ns0:spPr>
          <a:xfrm>
            <a:off x="9826625" y="1295400"/>
            <a:ext cx="1793875" cy="276225"/>
          </a:xfrm>
          <a:prstGeom prst="rect">
            <a:avLst/>
          </a:prstGeom>
          <a:solidFill>
            <a:srgbClr val="30353A"/>
          </a:solidFill>
          <a:ln w="0">
            <a:noFill/>
            <a:prstDash val="solid"/>
          </a:ln>
        </ns0:spPr>
      </ns0:sp>
      <ns0:sp>
        <ns0:nvSpPr>
          <ns0:cNvPr id="18" name="">
            <a:extLst>
              <a:ext uri="{FF2B5EF4-FFF2-40B4-BE49-F238E27FC236}">
                <ns2:creationId id="{CF4A1458-BF27-4727-A0A9-871F100D3752}"/>
              </a:ext>
            </a:extLst>
          </ns0:cNvPr>
          <ns0:cNvSpPr>
            <a:spLocks noGrp="1"/>
          </ns0:cNvSpPr>
          <ns0:nvPr/>
        </ns0:nvSpPr>
        <ns0:spPr>
          <a:xfrm>
            <a:off x="9874250" y="1323975"/>
            <a:ext cx="1698625" cy="2190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788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≥ 60%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663DC280-337A-42A6-ABB1-BA5C5ED35EE5}"/>
              </a:ext>
            </a:extLst>
          </ns0:cNvPr>
          <ns0:cNvSpPr>
            <a:spLocks noGrp="1"/>
          </ns0:cNvSpPr>
          <ns0:nvPr/>
        </ns0:nvSpPr>
        <ns0:spPr>
          <a:xfrm>
            <a:off x="571500" y="11049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675" b="1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75" b="1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SUBORDINAÇÃO ATUAL / PL · FAIXAS DESCRITIVAS</a:t>
            </a:r>
          </a:p>
        </ns0:txBody>
      </ns0:sp>
      <ns0:sp>
        <ns0:nvSpPr>
          <ns0:cNvPr id="20" name="">
            <a:extLst>
              <a:ext uri="{FF2B5EF4-FFF2-40B4-BE49-F238E27FC236}">
                <ns2:creationId id="{AA56173E-32D7-4FA4-BD92-F14D999730DA}"/>
              </a:ext>
            </a:extLst>
          </ns0:cNvPr>
          <ns0:cNvSpPr>
            <a:spLocks noGrp="1"/>
          </ns0:cNvSpPr>
          <ns0:nvPr/>
        </ns0:nvSpPr>
        <ns0:spPr>
          <a:xfrm>
            <a:off x="571500" y="1685925"/>
            <a:ext cx="1793875" cy="685800"/>
          </a:xfrm>
          <a:prstGeom prst="rect">
            <a:avLst/>
          </a:prstGeom>
          <a:solidFill>
            <a:srgbClr val="E8E2F3"/>
          </a:solidFill>
          <a:ln w="0">
            <a:noFill/>
            <a:prstDash val="solid"/>
          </a:ln>
        </ns0:spPr>
      </ns0:sp>
      <ns0:sp>
        <ns0:nvSpPr>
          <ns0:cNvPr id="21" name="">
            <a:extLst>
              <a:ext uri="{FF2B5EF4-FFF2-40B4-BE49-F238E27FC236}">
                <ns2:creationId id="{CCBE2056-51A6-4BA4-9950-18C59D6487F2}"/>
              </a:ext>
            </a:extLst>
          </ns0:cNvPr>
          <ns0:cNvSpPr>
            <a:spLocks noGrp="1"/>
          </ns0:cNvSpPr>
          <ns0:nvPr/>
        </ns0:nvSpPr>
        <ns0:spPr>
          <a:xfrm>
            <a:off x="647700" y="1733550"/>
            <a:ext cx="16414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MT Consignado Privado I e II</a:t>
            </a:r>
          </a:p>
        </ns0:txBody>
      </ns0:sp>
      <ns0:sp>
        <ns0:nvSpPr>
          <ns0:cNvPr id="22" name="">
            <a:extLst>
              <a:ext uri="{FF2B5EF4-FFF2-40B4-BE49-F238E27FC236}">
                <ns2:creationId id="{C0E8F900-7AD4-4E30-87C8-2B3EA6438B2F}"/>
              </a:ext>
            </a:extLst>
          </ns0:cNvPr>
          <ns0:cNvSpPr>
            <a:spLocks noGrp="1"/>
          </ns0:cNvSpPr>
          <ns0:nvPr/>
        </ns0:nvSpPr>
        <ns0:spPr>
          <a:xfrm>
            <a:off x="647700" y="1943100"/>
            <a:ext cx="164147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R$ 3,5 bi · atual 8,3%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808503F3-FFF0-48F0-960E-9EEF217DFF6C}"/>
              </a:ext>
            </a:extLst>
          </ns0:cNvPr>
          <ns0:cNvSpPr>
            <a:spLocks noGrp="1"/>
          </ns0:cNvSpPr>
          <ns0:nvPr/>
        </ns0:nvSpPr>
        <ns0:spPr>
          <a:xfrm>
            <a:off x="647700" y="2105025"/>
            <a:ext cx="1641475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5,0% · emissão N/D</a:t>
            </a:r>
          </a:p>
        </ns0:txBody>
      </ns0:sp>
      <ns0:sp>
        <ns0:nvSpPr>
          <ns0:cNvPr id="24" name="">
            <a:extLst>
              <a:ext uri="{FF2B5EF4-FFF2-40B4-BE49-F238E27FC236}">
                <ns2:creationId id="{1DDF1FD1-4FE5-4FD0-8187-E0A70908C886}"/>
              </a:ext>
            </a:extLst>
          </ns0:cNvPr>
          <ns0:cNvSpPr>
            <a:spLocks noGrp="1"/>
          </ns0:cNvSpPr>
          <ns0:nvPr/>
        </ns0:nvSpPr>
        <ns0:spPr>
          <a:xfrm>
            <a:off x="647700" y="2286000"/>
            <a:ext cx="1641475" cy="1905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5" name="">
            <a:extLst>
              <a:ext uri="{FF2B5EF4-FFF2-40B4-BE49-F238E27FC236}">
                <ns2:creationId id="{997DE8EE-6AB2-4078-AD7C-C164A28A429C}"/>
              </a:ext>
            </a:extLst>
          </ns0:cNvPr>
          <ns0:cNvSpPr>
            <a:spLocks noGrp="1"/>
          </ns0:cNvSpPr>
          <ns0:nvPr/>
        </ns0:nvSpPr>
        <ns0:spPr>
          <a:xfrm>
            <a:off x="826521" y="2247900"/>
            <a:ext cx="28575" cy="952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26" name="">
            <a:extLst>
              <a:ext uri="{FF2B5EF4-FFF2-40B4-BE49-F238E27FC236}">
                <ns2:creationId id="{6C35BC65-027D-412E-8E9D-9391394C6B6A}"/>
              </a:ext>
            </a:extLst>
          </ns0:cNvPr>
          <ns0:cNvSpPr>
            <a:spLocks noGrp="1"/>
          </ns0:cNvSpPr>
          <ns0:nvPr/>
        </ns0:nvSpPr>
        <ns0:spPr>
          <a:xfrm>
            <a:off x="571500" y="2428875"/>
            <a:ext cx="1793875" cy="685800"/>
          </a:xfrm>
          <a:prstGeom prst="rect">
            <a:avLst/>
          </a:prstGeom>
          <a:solidFill>
            <a:srgbClr val="F3E0E8"/>
          </a:solidFill>
          <a:ln w="0">
            <a:noFill/>
            <a:prstDash val="solid"/>
          </a:ln>
        </ns0:spPr>
      </ns0:sp>
      <ns0:sp>
        <ns0:nvSpPr>
          <ns0:cNvPr id="27" name="">
            <a:extLst>
              <a:ext uri="{FF2B5EF4-FFF2-40B4-BE49-F238E27FC236}">
                <ns2:creationId id="{DE96C2C3-3DED-4782-9D4A-EF0E3F4DC479}"/>
              </a:ext>
            </a:extLst>
          </ns0:cNvPr>
          <ns0:cNvSpPr>
            <a:spLocks noGrp="1"/>
          </ns0:cNvSpPr>
          <ns0:nvPr/>
        </ns0:nvSpPr>
        <ns0:spPr>
          <a:xfrm>
            <a:off x="647700" y="2476500"/>
            <a:ext cx="16414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CM Estadual I e II</a:t>
            </a:r>
          </a:p>
        </ns0:txBody>
      </ns0:sp>
      <ns0:sp>
        <ns0:nvSpPr>
          <ns0:cNvPr id="28" name="">
            <a:extLst>
              <a:ext uri="{FF2B5EF4-FFF2-40B4-BE49-F238E27FC236}">
                <ns2:creationId id="{0E8CA04A-6DE6-4BB6-BFF0-E9028E3A55D8}"/>
              </a:ext>
            </a:extLst>
          </ns0:cNvPr>
          <ns0:cNvSpPr>
            <a:spLocks noGrp="1"/>
          </ns0:cNvSpPr>
          <ns0:nvPr/>
        </ns0:nvSpPr>
        <ns0:spPr>
          <a:xfrm>
            <a:off x="647700" y="2686050"/>
            <a:ext cx="164147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R$ 91,7 mi · atual 9,3%</a:t>
            </a:r>
          </a:p>
        </ns0:txBody>
      </ns0:sp>
      <ns0:sp>
        <ns0:nvSpPr>
          <ns0:cNvPr id="29" name="">
            <a:extLst>
              <a:ext uri="{FF2B5EF4-FFF2-40B4-BE49-F238E27FC236}">
                <ns2:creationId id="{31CCA395-4624-4BD2-848A-15A10D1016CC}"/>
              </a:ext>
            </a:extLst>
          </ns0:cNvPr>
          <ns0:cNvSpPr>
            <a:spLocks noGrp="1"/>
          </ns0:cNvSpPr>
          <ns0:nvPr/>
        </ns0:nvSpPr>
        <ns0:spPr>
          <a:xfrm>
            <a:off x="647700" y="2847975"/>
            <a:ext cx="1641475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emissão N/D</a:t>
            </a:r>
          </a:p>
        </ns0:txBody>
      </ns0:sp>
      <ns0:sp>
        <ns0:nvSpPr>
          <ns0:cNvPr id="30" name="">
            <a:extLst>
              <a:ext uri="{FF2B5EF4-FFF2-40B4-BE49-F238E27FC236}">
                <ns2:creationId id="{BC6A792A-183C-4DBD-B2B3-9C53B892F235}"/>
              </a:ext>
            </a:extLst>
          </ns0:cNvPr>
          <ns0:cNvSpPr>
            <a:spLocks noGrp="1"/>
          </ns0:cNvSpPr>
          <ns0:nvPr/>
        </ns0:nvSpPr>
        <ns0:spPr>
          <a:xfrm>
            <a:off x="647700" y="3028950"/>
            <a:ext cx="1641475" cy="1905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31" name="">
            <a:extLst>
              <a:ext uri="{FF2B5EF4-FFF2-40B4-BE49-F238E27FC236}">
                <ns2:creationId id="{9294049D-F5F4-489F-B877-1A5209079025}"/>
              </a:ext>
            </a:extLst>
          </ns0:cNvPr>
          <ns0:cNvSpPr>
            <a:spLocks noGrp="1"/>
          </ns0:cNvSpPr>
          <ns0:nvPr/>
        </ns0:nvSpPr>
        <ns0:spPr>
          <a:xfrm>
            <a:off x="847030" y="2990850"/>
            <a:ext cx="28575" cy="952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32" name="">
            <a:extLst>
              <a:ext uri="{FF2B5EF4-FFF2-40B4-BE49-F238E27FC236}">
                <ns2:creationId id="{1E9E2E44-5BFD-4284-BB36-FFFE61831B6E}"/>
              </a:ext>
            </a:extLst>
          </ns0:cNvPr>
          <ns0:cNvSpPr>
            <a:spLocks noGrp="1"/>
          </ns0:cNvSpPr>
          <ns0:nvPr/>
        </ns0:nvSpPr>
        <ns0:spPr>
          <a:xfrm>
            <a:off x="571500" y="3171825"/>
            <a:ext cx="1793875" cy="685800"/>
          </a:xfrm>
          <a:prstGeom prst="rect">
            <a:avLst/>
          </a:prstGeom>
          <a:solidFill>
            <a:srgbClr val="DCEAF7"/>
          </a:solidFill>
          <a:ln w="0">
            <a:noFill/>
            <a:prstDash val="solid"/>
          </a:ln>
        </ns0:spPr>
      </ns0:sp>
      <ns0:sp>
        <ns0:nvSpPr>
          <ns0:cNvPr id="33" name="">
            <a:extLst>
              <a:ext uri="{FF2B5EF4-FFF2-40B4-BE49-F238E27FC236}">
                <ns2:creationId id="{C37D73BE-A8A7-4BAC-931E-BC334EAAAF18}"/>
              </a:ext>
            </a:extLst>
          </ns0:cNvPr>
          <ns0:cNvSpPr>
            <a:spLocks noGrp="1"/>
          </ns0:cNvSpPr>
          <ns0:nvPr/>
        </ns0:nvSpPr>
        <ns0:spPr>
          <a:xfrm>
            <a:off x="647700" y="3219450"/>
            <a:ext cx="16414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ACR BEM, ACR I e ACR IV</a:t>
            </a:r>
          </a:p>
        </ns0:txBody>
      </ns0:sp>
      <ns0:sp>
        <ns0:nvSpPr>
          <ns0:cNvPr id="34" name="">
            <a:extLst>
              <a:ext uri="{FF2B5EF4-FFF2-40B4-BE49-F238E27FC236}">
                <ns2:creationId id="{858B79C0-A82C-4411-8527-487AC1E7F9B8}"/>
              </a:ext>
            </a:extLst>
          </ns0:cNvPr>
          <ns0:cNvSpPr>
            <a:spLocks noGrp="1"/>
          </ns0:cNvSpPr>
          <ns0:nvPr/>
        </ns0:nvSpPr>
        <ns0:spPr>
          <a:xfrm>
            <a:off x="647700" y="3429000"/>
            <a:ext cx="164147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R$ 6,9 bi · atual 5,1%</a:t>
            </a:r>
          </a:p>
        </ns0:txBody>
      </ns0:sp>
      <ns0:sp>
        <ns0:nvSpPr>
          <ns0:cNvPr id="35" name="">
            <a:extLst>
              <a:ext uri="{FF2B5EF4-FFF2-40B4-BE49-F238E27FC236}">
                <ns2:creationId id="{7762B998-9CD7-4D73-B023-300DD6DAB914}"/>
              </a:ext>
            </a:extLst>
          </ns0:cNvPr>
          <ns0:cNvSpPr>
            <a:spLocks noGrp="1"/>
          </ns0:cNvSpPr>
          <ns0:nvPr/>
        </ns0:nvSpPr>
        <ns0:spPr>
          <a:xfrm>
            <a:off x="647700" y="3590925"/>
            <a:ext cx="1641475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emissão N/D</a:t>
            </a:r>
          </a:p>
        </ns0:txBody>
      </ns0:sp>
      <ns0:sp>
        <ns0:nvSpPr>
          <ns0:cNvPr id="36" name="">
            <a:extLst>
              <a:ext uri="{FF2B5EF4-FFF2-40B4-BE49-F238E27FC236}">
                <ns2:creationId id="{4802377E-3554-4C96-BACD-FC2EEFFF7974}"/>
              </a:ext>
            </a:extLst>
          </ns0:cNvPr>
          <ns0:cNvSpPr>
            <a:spLocks noGrp="1"/>
          </ns0:cNvSpPr>
          <ns0:nvPr/>
        </ns0:nvSpPr>
        <ns0:spPr>
          <a:xfrm>
            <a:off x="647700" y="3771900"/>
            <a:ext cx="1641475" cy="1905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37" name="">
            <a:extLst>
              <a:ext uri="{FF2B5EF4-FFF2-40B4-BE49-F238E27FC236}">
                <ns2:creationId id="{2BB882B3-0213-4605-A33A-1BA16AFB13D3}"/>
              </a:ext>
            </a:extLst>
          </ns0:cNvPr>
          <ns0:cNvSpPr>
            <a:spLocks noGrp="1"/>
          </ns0:cNvSpPr>
          <ns0:nvPr/>
        </ns0:nvSpPr>
        <ns0:spPr>
          <a:xfrm>
            <a:off x="756986" y="3733800"/>
            <a:ext cx="28575" cy="952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38" name="">
            <a:extLst>
              <a:ext uri="{FF2B5EF4-FFF2-40B4-BE49-F238E27FC236}">
                <ns2:creationId id="{58DE840D-162D-4442-A351-0343D3D162FB}"/>
              </a:ext>
            </a:extLst>
          </ns0:cNvPr>
          <ns0:cNvSpPr>
            <a:spLocks noGrp="1"/>
          </ns0:cNvSpPr>
          <ns0:nvPr/>
        </ns0:nvSpPr>
        <ns0:spPr>
          <a:xfrm>
            <a:off x="571500" y="3914775"/>
            <a:ext cx="1793875" cy="685800"/>
          </a:xfrm>
          <a:prstGeom prst="rect">
            <a:avLst/>
          </a:prstGeom>
          <a:solidFill>
            <a:srgbClr val="ECE2F1"/>
          </a:solidFill>
          <a:ln w="0">
            <a:noFill/>
            <a:prstDash val="solid"/>
          </a:ln>
        </ns0:spPr>
      </ns0:sp>
      <ns0:sp>
        <ns0:nvSpPr>
          <ns0:cNvPr id="39" name="">
            <a:extLst>
              <a:ext uri="{FF2B5EF4-FFF2-40B4-BE49-F238E27FC236}">
                <ns2:creationId id="{018E2DF9-F57B-48B1-B7FF-109D0E6C418F}"/>
              </a:ext>
            </a:extLst>
          </ns0:cNvPr>
          <ns0:cNvSpPr>
            <a:spLocks noGrp="1"/>
          </ns0:cNvSpPr>
          <ns0:nvPr/>
        </ns0:nvSpPr>
        <ns0:spPr>
          <a:xfrm>
            <a:off x="647700" y="3962400"/>
            <a:ext cx="16414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MT Cartão Consignado I</a:t>
            </a:r>
          </a:p>
        </ns0:txBody>
      </ns0:sp>
      <ns0:sp>
        <ns0:nvSpPr>
          <ns0:cNvPr id="40" name="">
            <a:extLst>
              <a:ext uri="{FF2B5EF4-FFF2-40B4-BE49-F238E27FC236}">
                <ns2:creationId id="{68ECC435-9085-43D5-9B82-62ED92E5ED77}"/>
              </a:ext>
            </a:extLst>
          </ns0:cNvPr>
          <ns0:cNvSpPr>
            <a:spLocks noGrp="1"/>
          </ns0:cNvSpPr>
          <ns0:nvPr/>
        </ns0:nvSpPr>
        <ns0:spPr>
          <a:xfrm>
            <a:off x="647700" y="4171950"/>
            <a:ext cx="164147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R$ 68,1 mi · atual 2,5%</a:t>
            </a:r>
          </a:p>
        </ns0:txBody>
      </ns0:sp>
      <ns0:sp>
        <ns0:nvSpPr>
          <ns0:cNvPr id="41" name="">
            <a:extLst>
              <a:ext uri="{FF2B5EF4-FFF2-40B4-BE49-F238E27FC236}">
                <ns2:creationId id="{0354F9F3-33BB-4DC9-A32E-CA9B83C1A13F}"/>
              </a:ext>
            </a:extLst>
          </ns0:cNvPr>
          <ns0:cNvSpPr>
            <a:spLocks noGrp="1"/>
          </ns0:cNvSpPr>
          <ns0:nvPr/>
        </ns0:nvSpPr>
        <ns0:spPr>
          <a:xfrm>
            <a:off x="647700" y="4333875"/>
            <a:ext cx="1641475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emissão N/D</a:t>
            </a:r>
          </a:p>
        </ns0:txBody>
      </ns0:sp>
      <ns0:sp>
        <ns0:nvSpPr>
          <ns0:cNvPr id="42" name="">
            <a:extLst>
              <a:ext uri="{FF2B5EF4-FFF2-40B4-BE49-F238E27FC236}">
                <ns2:creationId id="{F359E635-6579-4E2C-ADA4-CAF54944A774}"/>
              </a:ext>
            </a:extLst>
          </ns0:cNvPr>
          <ns0:cNvSpPr>
            <a:spLocks noGrp="1"/>
          </ns0:cNvSpPr>
          <ns0:nvPr/>
        </ns0:nvSpPr>
        <ns0:spPr>
          <a:xfrm>
            <a:off x="647700" y="4514850"/>
            <a:ext cx="1641475" cy="1905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3" name="">
            <a:extLst>
              <a:ext uri="{FF2B5EF4-FFF2-40B4-BE49-F238E27FC236}">
                <ns2:creationId id="{6BB19169-B7EE-4830-A672-E58CAA946481}"/>
              </a:ext>
            </a:extLst>
          </ns0:cNvPr>
          <ns0:cNvSpPr>
            <a:spLocks noGrp="1"/>
          </ns0:cNvSpPr>
          <ns0:nvPr/>
        </ns0:nvSpPr>
        <ns0:spPr>
          <a:xfrm>
            <a:off x="700942" y="4476750"/>
            <a:ext cx="28575" cy="952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44" name="">
            <a:extLst>
              <a:ext uri="{FF2B5EF4-FFF2-40B4-BE49-F238E27FC236}">
                <ns2:creationId id="{5AE71453-56F9-4EB4-BF2C-0AEFA889A7E0}"/>
              </a:ext>
            </a:extLst>
          </ns0:cNvPr>
          <ns0:cNvSpPr>
            <a:spLocks noGrp="1"/>
          </ns0:cNvSpPr>
          <ns0:nvPr/>
        </ns0:nvSpPr>
        <ns0:spPr>
          <a:xfrm>
            <a:off x="571500" y="4657725"/>
            <a:ext cx="1793875" cy="685800"/>
          </a:xfrm>
          <a:prstGeom prst="rect">
            <a:avLst/>
          </a:prstGeom>
          <a:solidFill>
            <a:srgbClr val="F1E8D9"/>
          </a:solidFill>
          <a:ln w="0">
            <a:noFill/>
            <a:prstDash val="solid"/>
          </a:ln>
        </ns0:spPr>
      </ns0:sp>
      <ns0:sp>
        <ns0:nvSpPr>
          <ns0:cNvPr id="45" name="">
            <a:extLst>
              <a:ext uri="{FF2B5EF4-FFF2-40B4-BE49-F238E27FC236}">
                <ns2:creationId id="{1BFDA9EB-92B2-4416-ADD8-08384CD9F414}"/>
              </a:ext>
            </a:extLst>
          </ns0:cNvPr>
          <ns0:cNvSpPr>
            <a:spLocks noGrp="1"/>
          </ns0:cNvSpPr>
          <ns0:nvPr/>
        </ns0:nvSpPr>
        <ns0:spPr>
          <a:xfrm>
            <a:off x="647700" y="4705350"/>
            <a:ext cx="16414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Brasilfactors Crédito Corporativo</a:t>
            </a:r>
          </a:p>
        </ns0:txBody>
      </ns0:sp>
      <ns0:sp>
        <ns0:nvSpPr>
          <ns0:cNvPr id="46" name="">
            <a:extLst>
              <a:ext uri="{FF2B5EF4-FFF2-40B4-BE49-F238E27FC236}">
                <ns2:creationId id="{7ACC9349-1257-4B23-B3C1-60105E67AF2E}"/>
              </a:ext>
            </a:extLst>
          </ns0:cNvPr>
          <ns0:cNvSpPr>
            <a:spLocks noGrp="1"/>
          </ns0:cNvSpPr>
          <ns0:nvPr/>
        </ns0:nvSpPr>
        <ns0:spPr>
          <a:xfrm>
            <a:off x="647700" y="4914900"/>
            <a:ext cx="164147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R$ 110,9 mi · atual 2,1%</a:t>
            </a:r>
          </a:p>
        </ns0:txBody>
      </ns0:sp>
      <ns0:sp>
        <ns0:nvSpPr>
          <ns0:cNvPr id="47" name="">
            <a:extLst>
              <a:ext uri="{FF2B5EF4-FFF2-40B4-BE49-F238E27FC236}">
                <ns2:creationId id="{3A845C5B-0192-45A2-B093-1DBAF00CCEC7}"/>
              </a:ext>
            </a:extLst>
          </ns0:cNvPr>
          <ns0:cNvSpPr>
            <a:spLocks noGrp="1"/>
          </ns0:cNvSpPr>
          <ns0:nvPr/>
        </ns0:nvSpPr>
        <ns0:spPr>
          <a:xfrm>
            <a:off x="647700" y="5076825"/>
            <a:ext cx="1641475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emissão N/D</a:t>
            </a:r>
          </a:p>
        </ns0:txBody>
      </ns0:sp>
      <ns0:sp>
        <ns0:nvSpPr>
          <ns0:cNvPr id="48" name="">
            <a:extLst>
              <a:ext uri="{FF2B5EF4-FFF2-40B4-BE49-F238E27FC236}">
                <ns2:creationId id="{A5671D34-E73F-4E5B-9536-CBF4D5601BD9}"/>
              </a:ext>
            </a:extLst>
          </ns0:cNvPr>
          <ns0:cNvSpPr>
            <a:spLocks noGrp="1"/>
          </ns0:cNvSpPr>
          <ns0:nvPr/>
        </ns0:nvSpPr>
        <ns0:spPr>
          <a:xfrm>
            <a:off x="647700" y="5257800"/>
            <a:ext cx="1641475" cy="1905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9" name="">
            <a:extLst>
              <a:ext uri="{FF2B5EF4-FFF2-40B4-BE49-F238E27FC236}">
                <ns2:creationId id="{59783052-9343-41F6-817D-0D6681F6D2D3}"/>
              </a:ext>
            </a:extLst>
          </ns0:cNvPr>
          <ns0:cNvSpPr>
            <a:spLocks noGrp="1"/>
          </ns0:cNvSpPr>
          <ns0:nvPr/>
        </ns0:nvSpPr>
        <ns0:spPr>
          <a:xfrm>
            <a:off x="692249" y="5219700"/>
            <a:ext cx="28575" cy="952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50" name="">
            <a:extLst>
              <a:ext uri="{FF2B5EF4-FFF2-40B4-BE49-F238E27FC236}">
                <ns2:creationId id="{C501A5D8-B898-4FFE-8E7C-45CC9E6AC0DD}"/>
              </a:ext>
            </a:extLst>
          </ns0:cNvPr>
          <ns0:cNvSpPr>
            <a:spLocks noGrp="1"/>
          </ns0:cNvSpPr>
          <ns0:nvPr/>
        </ns0:nvSpPr>
        <ns0:spPr>
          <a:xfrm>
            <a:off x="2422525" y="1685925"/>
            <a:ext cx="1793875" cy="685800"/>
          </a:xfrm>
          <a:prstGeom prst="rect">
            <a:avLst/>
          </a:prstGeom>
          <a:solidFill>
            <a:srgbClr val="DDEEDB"/>
          </a:solidFill>
          <a:ln w="0">
            <a:noFill/>
            <a:prstDash val="solid"/>
          </a:ln>
        </ns0:spPr>
      </ns0:sp>
      <ns0:sp>
        <ns0:nvSpPr>
          <ns0:cNvPr id="51" name="">
            <a:extLst>
              <a:ext uri="{FF2B5EF4-FFF2-40B4-BE49-F238E27FC236}">
                <ns2:creationId id="{4323F39B-8748-4E60-B7C6-7403428D793C}"/>
              </a:ext>
            </a:extLst>
          </ns0:cNvPr>
          <ns0:cNvSpPr>
            <a:spLocks noGrp="1"/>
          </ns0:cNvSpPr>
          <ns0:nvPr/>
        </ns0:nvSpPr>
        <ns0:spPr>
          <a:xfrm>
            <a:off x="2498725" y="1733550"/>
            <a:ext cx="16414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ICRED Chopin INSS</a:t>
            </a:r>
          </a:p>
        </ns0:txBody>
      </ns0:sp>
      <ns0:sp>
        <ns0:nvSpPr>
          <ns0:cNvPr id="52" name="">
            <a:extLst>
              <a:ext uri="{FF2B5EF4-FFF2-40B4-BE49-F238E27FC236}">
                <ns2:creationId id="{5876ACBA-8850-430D-9E60-282310AD5172}"/>
              </a:ext>
            </a:extLst>
          </ns0:cNvPr>
          <ns0:cNvSpPr>
            <a:spLocks noGrp="1"/>
          </ns0:cNvSpPr>
          <ns0:nvPr/>
        </ns0:nvSpPr>
        <ns0:spPr>
          <a:xfrm>
            <a:off x="2498725" y="1943100"/>
            <a:ext cx="164147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R$ 1,1 bi · atual 13,8%</a:t>
            </a:r>
          </a:p>
        </ns0:txBody>
      </ns0:sp>
      <ns0:sp>
        <ns0:nvSpPr>
          <ns0:cNvPr id="53" name="">
            <a:extLst>
              <a:ext uri="{FF2B5EF4-FFF2-40B4-BE49-F238E27FC236}">
                <ns2:creationId id="{4FA48908-C3E2-4691-9C08-D194C993B702}"/>
              </a:ext>
            </a:extLst>
          </ns0:cNvPr>
          <ns0:cNvSpPr>
            <a:spLocks noGrp="1"/>
          </ns0:cNvSpPr>
          <ns0:nvPr/>
        </ns0:nvSpPr>
        <ns0:spPr>
          <a:xfrm>
            <a:off x="2498725" y="2105025"/>
            <a:ext cx="1641475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emissão N/D</a:t>
            </a:r>
          </a:p>
        </ns0:txBody>
      </ns0:sp>
      <ns0:sp>
        <ns0:nvSpPr>
          <ns0:cNvPr id="54" name="">
            <a:extLst>
              <a:ext uri="{FF2B5EF4-FFF2-40B4-BE49-F238E27FC236}">
                <ns2:creationId id="{AC62CC26-8BFF-46DC-91E0-83B164C6C71C}"/>
              </a:ext>
            </a:extLst>
          </ns0:cNvPr>
          <ns0:cNvSpPr>
            <a:spLocks noGrp="1"/>
          </ns0:cNvSpPr>
          <ns0:nvPr/>
        </ns0:nvSpPr>
        <ns0:spPr>
          <a:xfrm>
            <a:off x="2498725" y="2286000"/>
            <a:ext cx="1641475" cy="1905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5" name="">
            <a:extLst>
              <a:ext uri="{FF2B5EF4-FFF2-40B4-BE49-F238E27FC236}">
                <ns2:creationId id="{A640E83D-E9A2-4094-9BC0-A653077E2EF5}"/>
              </a:ext>
            </a:extLst>
          </ns0:cNvPr>
          <ns0:cNvSpPr>
            <a:spLocks noGrp="1"/>
          </ns0:cNvSpPr>
          <ns0:nvPr/>
        </ns0:nvSpPr>
        <ns0:spPr>
          <a:xfrm>
            <a:off x="2795298" y="2247900"/>
            <a:ext cx="28575" cy="952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56" name="">
            <a:extLst>
              <a:ext uri="{FF2B5EF4-FFF2-40B4-BE49-F238E27FC236}">
                <ns2:creationId id="{6DF8F77E-B0E7-4A0E-AA63-65AC43C62BC0}"/>
              </a:ext>
            </a:extLst>
          </ns0:cNvPr>
          <ns0:cNvSpPr>
            <a:spLocks noGrp="1"/>
          </ns0:cNvSpPr>
          <ns0:nvPr/>
        </ns0:nvSpPr>
        <ns0:spPr>
          <a:xfrm>
            <a:off x="2422525" y="2428875"/>
            <a:ext cx="1793875" cy="685800"/>
          </a:xfrm>
          <a:prstGeom prst="rect">
            <a:avLst/>
          </a:prstGeom>
          <a:solidFill>
            <a:srgbClr val="DCEAF7"/>
          </a:solidFill>
          <a:ln w="0">
            <a:noFill/>
            <a:prstDash val="solid"/>
          </a:ln>
        </ns0:spPr>
      </ns0:sp>
      <ns0:sp>
        <ns0:nvSpPr>
          <ns0:cNvPr id="57" name="">
            <a:extLst>
              <a:ext uri="{FF2B5EF4-FFF2-40B4-BE49-F238E27FC236}">
                <ns2:creationId id="{09C8414E-B532-4519-9A85-05A90185F720}"/>
              </a:ext>
            </a:extLst>
          </ns0:cNvPr>
          <ns0:cNvSpPr>
            <a:spLocks noGrp="1"/>
          </ns0:cNvSpPr>
          <ns0:nvPr/>
        </ns0:nvSpPr>
        <ns0:spPr>
          <a:xfrm>
            <a:off x="2498725" y="2476500"/>
            <a:ext cx="16414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Cloudwalk Bela Pi e Big Picture</a:t>
            </a:r>
          </a:p>
        </ns0:txBody>
      </ns0:sp>
      <ns0:sp>
        <ns0:nvSpPr>
          <ns0:cNvPr id="58" name="">
            <a:extLst>
              <a:ext uri="{FF2B5EF4-FFF2-40B4-BE49-F238E27FC236}">
                <ns2:creationId id="{AC4E7ECF-6543-4F1A-AA20-1B44584A2940}"/>
              </a:ext>
            </a:extLst>
          </ns0:cNvPr>
          <ns0:cNvSpPr>
            <a:spLocks noGrp="1"/>
          </ns0:cNvSpPr>
          <ns0:nvPr/>
        </ns0:nvSpPr>
        <ns0:spPr>
          <a:xfrm>
            <a:off x="2498725" y="2686050"/>
            <a:ext cx="164147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R$ 14,9 bi · atual 14,7%</a:t>
            </a:r>
          </a:p>
        </ns0:txBody>
      </ns0:sp>
      <ns0:sp>
        <ns0:nvSpPr>
          <ns0:cNvPr id="59" name="">
            <a:extLst>
              <a:ext uri="{FF2B5EF4-FFF2-40B4-BE49-F238E27FC236}">
                <ns2:creationId id="{2F50EF18-41ED-440B-A7FD-6985FDE742A5}"/>
              </a:ext>
            </a:extLst>
          </ns0:cNvPr>
          <ns0:cNvSpPr>
            <a:spLocks noGrp="1"/>
          </ns0:cNvSpPr>
          <ns0:nvPr/>
        </ns0:nvSpPr>
        <ns0:spPr>
          <a:xfrm>
            <a:off x="2498725" y="2847975"/>
            <a:ext cx="1641475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4 valores; ver aba · emissão fev/26</a:t>
            </a:r>
          </a:p>
        </ns0:txBody>
      </ns0:sp>
      <ns0:sp>
        <ns0:nvSpPr>
          <ns0:cNvPr id="60" name="">
            <a:extLst>
              <a:ext uri="{FF2B5EF4-FFF2-40B4-BE49-F238E27FC236}">
                <ns2:creationId id="{B9926F08-6560-4DCA-83D0-E55D7AE7FEAE}"/>
              </a:ext>
            </a:extLst>
          </ns0:cNvPr>
          <ns0:cNvSpPr>
            <a:spLocks noGrp="1"/>
          </ns0:cNvSpPr>
          <ns0:nvPr/>
        </ns0:nvSpPr>
        <ns0:spPr>
          <a:xfrm>
            <a:off x="2498725" y="3028950"/>
            <a:ext cx="1641475" cy="1905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61" name="">
            <a:extLst>
              <a:ext uri="{FF2B5EF4-FFF2-40B4-BE49-F238E27FC236}">
                <ns2:creationId id="{92BD2146-31B0-4AEA-BC36-E0E0C8978FAD}"/>
              </a:ext>
            </a:extLst>
          </ns0:cNvPr>
          <ns0:cNvSpPr>
            <a:spLocks noGrp="1"/>
          </ns0:cNvSpPr>
          <ns0:nvPr/>
        </ns0:nvSpPr>
        <ns0:spPr>
          <a:xfrm>
            <a:off x="2814262" y="2990850"/>
            <a:ext cx="28575" cy="952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62" name="">
            <a:extLst>
              <a:ext uri="{FF2B5EF4-FFF2-40B4-BE49-F238E27FC236}">
                <ns2:creationId id="{B90EBE4D-3C76-437C-ADAF-0FA8D13DDD23}"/>
              </a:ext>
            </a:extLst>
          </ns0:cNvPr>
          <ns0:cNvSpPr>
            <a:spLocks noGrp="1"/>
          </ns0:cNvSpPr>
          <ns0:nvPr/>
        </ns0:nvSpPr>
        <ns0:spPr>
          <a:xfrm>
            <a:off x="2422525" y="3171825"/>
            <a:ext cx="1793875" cy="685800"/>
          </a:xfrm>
          <a:prstGeom prst="rect">
            <a:avLst/>
          </a:prstGeom>
          <a:solidFill>
            <a:srgbClr val="E1E9EF"/>
          </a:solidFill>
          <a:ln w="0">
            <a:noFill/>
            <a:prstDash val="solid"/>
          </a:ln>
        </ns0:spPr>
      </ns0:sp>
      <ns0:sp>
        <ns0:nvSpPr>
          <ns0:cNvPr id="63" name="">
            <a:extLst>
              <a:ext uri="{FF2B5EF4-FFF2-40B4-BE49-F238E27FC236}">
                <ns2:creationId id="{00718954-653A-4772-BC13-530A2AA808BA}"/>
              </a:ext>
            </a:extLst>
          </ns0:cNvPr>
          <ns0:cNvSpPr>
            <a:spLocks noGrp="1"/>
          </ns0:cNvSpPr>
          <ns0:nvPr/>
        </ns0:nvSpPr>
        <ns0:spPr>
          <a:xfrm>
            <a:off x="2498725" y="3219450"/>
            <a:ext cx="16414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Santander Auto Loans I</a:t>
            </a:r>
          </a:p>
        </ns0:txBody>
      </ns0:sp>
      <ns0:sp>
        <ns0:nvSpPr>
          <ns0:cNvPr id="64" name="">
            <a:extLst>
              <a:ext uri="{FF2B5EF4-FFF2-40B4-BE49-F238E27FC236}">
                <ns2:creationId id="{4CA2C893-B86D-427B-BEBF-00DBB462A076}"/>
              </a:ext>
            </a:extLst>
          </ns0:cNvPr>
          <ns0:cNvSpPr>
            <a:spLocks noGrp="1"/>
          </ns0:cNvSpPr>
          <ns0:nvPr/>
        </ns0:nvSpPr>
        <ns0:spPr>
          <a:xfrm>
            <a:off x="2498725" y="3429000"/>
            <a:ext cx="164147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R$ 2,4 bi · atual 13,3%</a:t>
            </a:r>
          </a:p>
        </ns0:txBody>
      </ns0:sp>
      <ns0:sp>
        <ns0:nvSpPr>
          <ns0:cNvPr id="65" name="">
            <a:extLst>
              <a:ext uri="{FF2B5EF4-FFF2-40B4-BE49-F238E27FC236}">
                <ns2:creationId id="{48AEC248-E478-4F0A-AA57-C213D69AD8C8}"/>
              </a:ext>
            </a:extLst>
          </ns0:cNvPr>
          <ns0:cNvSpPr>
            <a:spLocks noGrp="1"/>
          </ns0:cNvSpPr>
          <ns0:nvPr/>
        </ns0:nvSpPr>
        <ns0:spPr>
          <a:xfrm>
            <a:off x="2498725" y="3590925"/>
            <a:ext cx="1641475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emissão N/D</a:t>
            </a:r>
          </a:p>
        </ns0:txBody>
      </ns0:sp>
      <ns0:sp>
        <ns0:nvSpPr>
          <ns0:cNvPr id="66" name="">
            <a:extLst>
              <a:ext uri="{FF2B5EF4-FFF2-40B4-BE49-F238E27FC236}">
                <ns2:creationId id="{F1D572F3-811F-4DE2-92C7-19E903DA9FA2}"/>
              </a:ext>
            </a:extLst>
          </ns0:cNvPr>
          <ns0:cNvSpPr>
            <a:spLocks noGrp="1"/>
          </ns0:cNvSpPr>
          <ns0:nvPr/>
        </ns0:nvSpPr>
        <ns0:spPr>
          <a:xfrm>
            <a:off x="2498725" y="3771900"/>
            <a:ext cx="1641475" cy="1905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67" name="">
            <a:extLst>
              <a:ext uri="{FF2B5EF4-FFF2-40B4-BE49-F238E27FC236}">
                <ns2:creationId id="{D945AA3C-F353-4BF9-8D49-E0AFFB588779}"/>
              </a:ext>
            </a:extLst>
          </ns0:cNvPr>
          <ns0:cNvSpPr>
            <a:spLocks noGrp="1"/>
          </ns0:cNvSpPr>
          <ns0:nvPr/>
        </ns0:nvSpPr>
        <ns0:spPr>
          <a:xfrm>
            <a:off x="2785216" y="3733800"/>
            <a:ext cx="28575" cy="952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68" name="">
            <a:extLst>
              <a:ext uri="{FF2B5EF4-FFF2-40B4-BE49-F238E27FC236}">
                <ns2:creationId id="{FDC393CE-06F8-46EC-8DC0-2DFBC189AE75}"/>
              </a:ext>
            </a:extLst>
          </ns0:cNvPr>
          <ns0:cNvSpPr>
            <a:spLocks noGrp="1"/>
          </ns0:cNvSpPr>
          <ns0:nvPr/>
        </ns0:nvSpPr>
        <ns0:spPr>
          <a:xfrm>
            <a:off x="2422525" y="3914775"/>
            <a:ext cx="1793875" cy="685800"/>
          </a:xfrm>
          <a:prstGeom prst="rect">
            <a:avLst/>
          </a:prstGeom>
          <a:solidFill>
            <a:srgbClr val="E1E9EF"/>
          </a:solidFill>
          <a:ln w="0">
            <a:noFill/>
            <a:prstDash val="solid"/>
          </a:ln>
        </ns0:spPr>
      </ns0:sp>
      <ns0:sp>
        <ns0:nvSpPr>
          <ns0:cNvPr id="69" name="">
            <a:extLst>
              <a:ext uri="{FF2B5EF4-FFF2-40B4-BE49-F238E27FC236}">
                <ns2:creationId id="{FBCF17F0-DD47-43BF-85CC-8037E8771E82}"/>
              </a:ext>
            </a:extLst>
          </ns0:cNvPr>
          <ns0:cNvSpPr>
            <a:spLocks noGrp="1"/>
          </ns0:cNvSpPr>
          <ns0:nvPr/>
        </ns0:nvSpPr>
        <ns0:spPr>
          <a:xfrm>
            <a:off x="2498725" y="3962400"/>
            <a:ext cx="16414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Driver Brasil Six Banco Volkswagen</a:t>
            </a:r>
          </a:p>
        </ns0:txBody>
      </ns0:sp>
      <ns0:sp>
        <ns0:nvSpPr>
          <ns0:cNvPr id="70" name="">
            <a:extLst>
              <a:ext uri="{FF2B5EF4-FFF2-40B4-BE49-F238E27FC236}">
                <ns2:creationId id="{46D72459-1DAA-4471-AE06-D2F6B0B66682}"/>
              </a:ext>
            </a:extLst>
          </ns0:cNvPr>
          <ns0:cNvSpPr>
            <a:spLocks noGrp="1"/>
          </ns0:cNvSpPr>
          <ns0:nvPr/>
        </ns0:nvSpPr>
        <ns0:spPr>
          <a:xfrm>
            <a:off x="2498725" y="4171950"/>
            <a:ext cx="164147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R$ 1,9 bi · atual 13,4%</a:t>
            </a:r>
          </a:p>
        </ns0:txBody>
      </ns0:sp>
      <ns0:sp>
        <ns0:nvSpPr>
          <ns0:cNvPr id="71" name="">
            <a:extLst>
              <a:ext uri="{FF2B5EF4-FFF2-40B4-BE49-F238E27FC236}">
                <ns2:creationId id="{4A5976CB-676C-4211-8FA8-34FFD32C8468}"/>
              </a:ext>
            </a:extLst>
          </ns0:cNvPr>
          <ns0:cNvSpPr>
            <a:spLocks noGrp="1"/>
          </ns0:cNvSpPr>
          <ns0:nvPr/>
        </ns0:nvSpPr>
        <ns0:spPr>
          <a:xfrm>
            <a:off x="2498725" y="4333875"/>
            <a:ext cx="1641475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emissão N/D</a:t>
            </a:r>
          </a:p>
        </ns0:txBody>
      </ns0:sp>
      <ns0:sp>
        <ns0:nvSpPr>
          <ns0:cNvPr id="72" name="">
            <a:extLst>
              <a:ext uri="{FF2B5EF4-FFF2-40B4-BE49-F238E27FC236}">
                <ns2:creationId id="{4AE0074D-BC54-4F03-A82C-A2AFDC899FBE}"/>
              </a:ext>
            </a:extLst>
          </ns0:cNvPr>
          <ns0:cNvSpPr>
            <a:spLocks noGrp="1"/>
          </ns0:cNvSpPr>
          <ns0:nvPr/>
        </ns0:nvSpPr>
        <ns0:spPr>
          <a:xfrm>
            <a:off x="2498725" y="4514850"/>
            <a:ext cx="1641475" cy="1905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73" name="">
            <a:extLst>
              <a:ext uri="{FF2B5EF4-FFF2-40B4-BE49-F238E27FC236}">
                <ns2:creationId id="{8C59B4FA-EB92-4037-B67A-FE3BEA966C11}"/>
              </a:ext>
            </a:extLst>
          </ns0:cNvPr>
          <ns0:cNvSpPr>
            <a:spLocks noGrp="1"/>
          </ns0:cNvSpPr>
          <ns0:nvPr/>
        </ns0:nvSpPr>
        <ns0:spPr>
          <a:xfrm>
            <a:off x="2786995" y="4476750"/>
            <a:ext cx="28575" cy="952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74" name="">
            <a:extLst>
              <a:ext uri="{FF2B5EF4-FFF2-40B4-BE49-F238E27FC236}">
                <ns2:creationId id="{8A686786-DD94-4F10-80DF-C4E887786907}"/>
              </a:ext>
            </a:extLst>
          </ns0:cNvPr>
          <ns0:cNvSpPr>
            <a:spLocks noGrp="1"/>
          </ns0:cNvSpPr>
          <ns0:nvPr/>
        </ns0:nvSpPr>
        <ns0:spPr>
          <a:xfrm>
            <a:off x="4273550" y="1685925"/>
            <a:ext cx="1793875" cy="685800"/>
          </a:xfrm>
          <a:prstGeom prst="rect">
            <a:avLst/>
          </a:prstGeom>
          <a:solidFill>
            <a:srgbClr val="DDEEDB"/>
          </a:solidFill>
          <a:ln w="0">
            <a:noFill/>
            <a:prstDash val="solid"/>
          </a:ln>
        </ns0:spPr>
      </ns0:sp>
      <ns0:sp>
        <ns0:nvSpPr>
          <ns0:cNvPr id="75" name="">
            <a:extLst>
              <a:ext uri="{FF2B5EF4-FFF2-40B4-BE49-F238E27FC236}">
                <ns2:creationId id="{A46C6C70-0198-4100-BBC6-8EB0BDE2DB3F}"/>
              </a:ext>
            </a:extLst>
          </ns0:cNvPr>
          <ns0:cNvSpPr>
            <a:spLocks noGrp="1"/>
          </ns0:cNvSpPr>
          <ns0:nvPr/>
        </ns0:nvSpPr>
        <ns0:spPr>
          <a:xfrm>
            <a:off x="4349750" y="1733550"/>
            <a:ext cx="16414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Pine INSS I, II e III</a:t>
            </a:r>
          </a:p>
        </ns0:txBody>
      </ns0:sp>
      <ns0:sp>
        <ns0:nvSpPr>
          <ns0:cNvPr id="76" name="">
            <a:extLst>
              <a:ext uri="{FF2B5EF4-FFF2-40B4-BE49-F238E27FC236}">
                <ns2:creationId id="{282FBE33-2EC6-4F87-A3E8-9C64F950BB98}"/>
              </a:ext>
            </a:extLst>
          </ns0:cNvPr>
          <ns0:cNvSpPr>
            <a:spLocks noGrp="1"/>
          </ns0:cNvSpPr>
          <ns0:nvPr/>
        </ns0:nvSpPr>
        <ns0:spPr>
          <a:xfrm>
            <a:off x="4349750" y="1943100"/>
            <a:ext cx="164147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R$ 3,2 bi · atual 15,8%</a:t>
            </a:r>
          </a:p>
        </ns0:txBody>
      </ns0:sp>
      <ns0:sp>
        <ns0:nvSpPr>
          <ns0:cNvPr id="77" name="">
            <a:extLst>
              <a:ext uri="{FF2B5EF4-FFF2-40B4-BE49-F238E27FC236}">
                <ns2:creationId id="{24991739-0D80-41DA-8BE2-93AE78EE6E17}"/>
              </a:ext>
            </a:extLst>
          </ns0:cNvPr>
          <ns0:cNvSpPr>
            <a:spLocks noGrp="1"/>
          </ns0:cNvSpPr>
          <ns0:nvPr/>
        </ns0:nvSpPr>
        <ns0:spPr>
          <a:xfrm>
            <a:off x="4349750" y="2105025"/>
            <a:ext cx="1641475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1,5% inicial; meta 2,5% · emissão abr/26</a:t>
            </a:r>
          </a:p>
        </ns0:txBody>
      </ns0:sp>
      <ns0:sp>
        <ns0:nvSpPr>
          <ns0:cNvPr id="78" name="">
            <a:extLst>
              <a:ext uri="{FF2B5EF4-FFF2-40B4-BE49-F238E27FC236}">
                <ns2:creationId id="{DFA743F3-56C5-4F49-9EA7-455B5148A57D}"/>
              </a:ext>
            </a:extLst>
          </ns0:cNvPr>
          <ns0:cNvSpPr>
            <a:spLocks noGrp="1"/>
          </ns0:cNvSpPr>
          <ns0:nvPr/>
        </ns0:nvSpPr>
        <ns0:spPr>
          <a:xfrm>
            <a:off x="4349750" y="2286000"/>
            <a:ext cx="1641475" cy="1905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79" name="">
            <a:extLst>
              <a:ext uri="{FF2B5EF4-FFF2-40B4-BE49-F238E27FC236}">
                <ns2:creationId id="{4CA27FC5-8A04-449B-AD44-623EE4DECFCE}"/>
              </a:ext>
            </a:extLst>
          </ns0:cNvPr>
          <ns0:cNvSpPr>
            <a:spLocks noGrp="1"/>
          </ns0:cNvSpPr>
          <ns0:nvPr/>
        </ns0:nvSpPr>
        <ns0:spPr>
          <a:xfrm>
            <a:off x="4688671" y="2247900"/>
            <a:ext cx="28575" cy="952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80" name="">
            <a:extLst>
              <a:ext uri="{FF2B5EF4-FFF2-40B4-BE49-F238E27FC236}">
                <ns2:creationId id="{56919813-6A80-473C-A10B-5249D00CD106}"/>
              </a:ext>
            </a:extLst>
          </ns0:cNvPr>
          <ns0:cNvSpPr>
            <a:spLocks noGrp="1"/>
          </ns0:cNvSpPr>
          <ns0:nvPr/>
        </ns0:nvSpPr>
        <ns0:spPr>
          <a:xfrm>
            <a:off x="4273550" y="2428875"/>
            <a:ext cx="1793875" cy="685800"/>
          </a:xfrm>
          <a:prstGeom prst="rect">
            <a:avLst/>
          </a:prstGeom>
          <a:solidFill>
            <a:srgbClr val="F8E7BF"/>
          </a:solidFill>
          <a:ln w="0">
            <a:noFill/>
            <a:prstDash val="solid"/>
          </a:ln>
        </ns0:spPr>
      </ns0:sp>
      <ns0:sp>
        <ns0:nvSpPr>
          <ns0:cNvPr id="81" name="">
            <a:extLst>
              <a:ext uri="{FF2B5EF4-FFF2-40B4-BE49-F238E27FC236}">
                <ns2:creationId id="{9AABFCAD-0D26-4652-929E-BDCAB5748C77}"/>
              </a:ext>
            </a:extLst>
          </ns0:cNvPr>
          <ns0:cNvSpPr>
            <a:spLocks noGrp="1"/>
          </ns0:cNvSpPr>
          <ns0:nvPr/>
        </ns0:nvSpPr>
        <ns0:spPr>
          <a:xfrm>
            <a:off x="4349750" y="2476500"/>
            <a:ext cx="16414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PicPay FGTS I e II</a:t>
            </a:r>
          </a:p>
        </ns0:txBody>
      </ns0:sp>
      <ns0:sp>
        <ns0:nvSpPr>
          <ns0:cNvPr id="82" name="">
            <a:extLst>
              <a:ext uri="{FF2B5EF4-FFF2-40B4-BE49-F238E27FC236}">
                <ns2:creationId id="{CC00A007-5A96-458F-BCBF-625ED08A3F9C}"/>
              </a:ext>
            </a:extLst>
          </ns0:cNvPr>
          <ns0:cNvSpPr>
            <a:spLocks noGrp="1"/>
          </ns0:cNvSpPr>
          <ns0:nvPr/>
        </ns0:nvSpPr>
        <ns0:spPr>
          <a:xfrm>
            <a:off x="4349750" y="2686050"/>
            <a:ext cx="164147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R$ 2,3 bi · atual 16,8%</a:t>
            </a:r>
          </a:p>
        </ns0:txBody>
      </ns0:sp>
      <ns0:sp>
        <ns0:nvSpPr>
          <ns0:cNvPr id="83" name="">
            <a:extLst>
              <a:ext uri="{FF2B5EF4-FFF2-40B4-BE49-F238E27FC236}">
                <ns2:creationId id="{FB2D0EE3-3A7B-46CC-A71D-B9C8F999B25F}"/>
              </a:ext>
            </a:extLst>
          </ns0:cNvPr>
          <ns0:cNvSpPr>
            <a:spLocks noGrp="1"/>
          </ns0:cNvSpPr>
          <ns0:nvPr/>
        </ns0:nvSpPr>
        <ns0:spPr>
          <a:xfrm>
            <a:off x="4349750" y="2847975"/>
            <a:ext cx="1641475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emissão N/D</a:t>
            </a:r>
          </a:p>
        </ns0:txBody>
      </ns0:sp>
      <ns0:sp>
        <ns0:nvSpPr>
          <ns0:cNvPr id="84" name="">
            <a:extLst>
              <a:ext uri="{FF2B5EF4-FFF2-40B4-BE49-F238E27FC236}">
                <ns2:creationId id="{392FD5AA-266B-4A93-8B79-7B99FBA7ACE7}"/>
              </a:ext>
            </a:extLst>
          </ns0:cNvPr>
          <ns0:cNvSpPr>
            <a:spLocks noGrp="1"/>
          </ns0:cNvSpPr>
          <ns0:nvPr/>
        </ns0:nvSpPr>
        <ns0:spPr>
          <a:xfrm>
            <a:off x="4349750" y="3028950"/>
            <a:ext cx="1641475" cy="1905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85" name="">
            <a:extLst>
              <a:ext uri="{FF2B5EF4-FFF2-40B4-BE49-F238E27FC236}">
                <ns2:creationId id="{8F52B18C-5C53-4AC7-BF1C-46B288CFE7D9}"/>
              </a:ext>
            </a:extLst>
          </ns0:cNvPr>
          <ns0:cNvSpPr>
            <a:spLocks noGrp="1"/>
          </ns0:cNvSpPr>
          <ns0:nvPr/>
        </ns0:nvSpPr>
        <ns0:spPr>
          <a:xfrm>
            <a:off x="4711207" y="2990850"/>
            <a:ext cx="28575" cy="952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86" name="">
            <a:extLst>
              <a:ext uri="{FF2B5EF4-FFF2-40B4-BE49-F238E27FC236}">
                <ns2:creationId id="{92BF8985-93C9-49DB-B73E-428434738C37}"/>
              </a:ext>
            </a:extLst>
          </ns0:cNvPr>
          <ns0:cNvSpPr>
            <a:spLocks noGrp="1"/>
          </ns0:cNvSpPr>
          <ns0:nvPr/>
        </ns0:nvSpPr>
        <ns0:spPr>
          <a:xfrm>
            <a:off x="4273550" y="3171825"/>
            <a:ext cx="1793875" cy="685800"/>
          </a:xfrm>
          <a:prstGeom prst="rect">
            <a:avLst/>
          </a:prstGeom>
          <a:solidFill>
            <a:srgbClr val="F8E7BF"/>
          </a:solidFill>
          <a:ln w="0">
            <a:noFill/>
            <a:prstDash val="solid"/>
          </a:ln>
        </ns0:spPr>
      </ns0:sp>
      <ns0:sp>
        <ns0:nvSpPr>
          <ns0:cNvPr id="87" name="">
            <a:extLst>
              <a:ext uri="{FF2B5EF4-FFF2-40B4-BE49-F238E27FC236}">
                <ns2:creationId id="{CACAB4C3-1C56-4203-B7AD-69DD1E01929E}"/>
              </a:ext>
            </a:extLst>
          </ns0:cNvPr>
          <ns0:cNvSpPr>
            <a:spLocks noGrp="1"/>
          </ns0:cNvSpPr>
          <ns0:nvPr/>
        </ns0:nvSpPr>
        <ns0:spPr>
          <a:xfrm>
            <a:off x="4349750" y="3219450"/>
            <a:ext cx="16414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MT FGTS II e IV</a:t>
            </a:r>
          </a:p>
        </ns0:txBody>
      </ns0:sp>
      <ns0:sp>
        <ns0:nvSpPr>
          <ns0:cNvPr id="88" name="">
            <a:extLst>
              <a:ext uri="{FF2B5EF4-FFF2-40B4-BE49-F238E27FC236}">
                <ns2:creationId id="{79562483-6BAC-4DBD-9224-DC02E6F0B33F}"/>
              </a:ext>
            </a:extLst>
          </ns0:cNvPr>
          <ns0:cNvSpPr>
            <a:spLocks noGrp="1"/>
          </ns0:cNvSpPr>
          <ns0:nvPr/>
        </ns0:nvSpPr>
        <ns0:spPr>
          <a:xfrm>
            <a:off x="4349750" y="3429000"/>
            <a:ext cx="164147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R$ 1,3 bi · atual 18,4%</a:t>
            </a:r>
          </a:p>
        </ns0:txBody>
      </ns0:sp>
      <ns0:sp>
        <ns0:nvSpPr>
          <ns0:cNvPr id="89" name="">
            <a:extLst>
              <a:ext uri="{FF2B5EF4-FFF2-40B4-BE49-F238E27FC236}">
                <ns2:creationId id="{5E917DD6-7574-42D8-828D-5DE64C717524}"/>
              </a:ext>
            </a:extLst>
          </ns0:cNvPr>
          <ns0:cNvSpPr>
            <a:spLocks noGrp="1"/>
          </ns0:cNvSpPr>
          <ns0:nvPr/>
        </ns0:nvSpPr>
        <ns0:spPr>
          <a:xfrm>
            <a:off x="4349750" y="3590925"/>
            <a:ext cx="1641475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emissão N/D</a:t>
            </a:r>
          </a:p>
        </ns0:txBody>
      </ns0:sp>
      <ns0:sp>
        <ns0:nvSpPr>
          <ns0:cNvPr id="90" name="">
            <a:extLst>
              <a:ext uri="{FF2B5EF4-FFF2-40B4-BE49-F238E27FC236}">
                <ns2:creationId id="{EEA23AE9-1976-4AB9-B323-05403A53E4B5}"/>
              </a:ext>
            </a:extLst>
          </ns0:cNvPr>
          <ns0:cNvSpPr>
            <a:spLocks noGrp="1"/>
          </ns0:cNvSpPr>
          <ns0:nvPr/>
        </ns0:nvSpPr>
        <ns0:spPr>
          <a:xfrm>
            <a:off x="4349750" y="3771900"/>
            <a:ext cx="1641475" cy="1905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91" name="">
            <a:extLst>
              <a:ext uri="{FF2B5EF4-FFF2-40B4-BE49-F238E27FC236}">
                <ns2:creationId id="{72891F56-A0C3-4CF9-8F2C-944AC390BFC5}"/>
              </a:ext>
            </a:extLst>
          </ns0:cNvPr>
          <ns0:cNvSpPr>
            <a:spLocks noGrp="1"/>
          </ns0:cNvSpPr>
          <ns0:nvPr/>
        </ns0:nvSpPr>
        <ns0:spPr>
          <a:xfrm>
            <a:off x="4745376" y="3733800"/>
            <a:ext cx="28575" cy="952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92" name="">
            <a:extLst>
              <a:ext uri="{FF2B5EF4-FFF2-40B4-BE49-F238E27FC236}">
                <ns2:creationId id="{6E167101-D0BC-4966-9DDF-63D4D2D3C9EB}"/>
              </a:ext>
            </a:extLst>
          </ns0:cNvPr>
          <ns0:cNvSpPr>
            <a:spLocks noGrp="1"/>
          </ns0:cNvSpPr>
          <ns0:nvPr/>
        </ns0:nvSpPr>
        <ns0:spPr>
          <a:xfrm>
            <a:off x="4273550" y="3914775"/>
            <a:ext cx="1793875" cy="685800"/>
          </a:xfrm>
          <a:prstGeom prst="rect">
            <a:avLst/>
          </a:prstGeom>
          <a:solidFill>
            <a:srgbClr val="F8E7BF"/>
          </a:solidFill>
          <a:ln w="0">
            <a:noFill/>
            <a:prstDash val="solid"/>
          </a:ln>
        </ns0:spPr>
      </ns0:sp>
      <ns0:sp>
        <ns0:nvSpPr>
          <ns0:cNvPr id="93" name="">
            <a:extLst>
              <a:ext uri="{FF2B5EF4-FFF2-40B4-BE49-F238E27FC236}">
                <ns2:creationId id="{9C566AD5-C149-487B-A842-3857191A5B7A}"/>
              </a:ext>
            </a:extLst>
          </ns0:cNvPr>
          <ns0:cNvSpPr>
            <a:spLocks noGrp="1"/>
          </ns0:cNvSpPr>
          <ns0:nvPr/>
        </ns0:nvSpPr>
        <ns0:spPr>
          <a:xfrm>
            <a:off x="4349750" y="3962400"/>
            <a:ext cx="16414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Daycoval FGTS I</a:t>
            </a:r>
          </a:p>
        </ns0:txBody>
      </ns0:sp>
      <ns0:sp>
        <ns0:nvSpPr>
          <ns0:cNvPr id="94" name="">
            <a:extLst>
              <a:ext uri="{FF2B5EF4-FFF2-40B4-BE49-F238E27FC236}">
                <ns2:creationId id="{0BCC27E4-F272-457A-9AA1-4D2625AA92FD}"/>
              </a:ext>
            </a:extLst>
          </ns0:cNvPr>
          <ns0:cNvSpPr>
            <a:spLocks noGrp="1"/>
          </ns0:cNvSpPr>
          <ns0:nvPr/>
        </ns0:nvSpPr>
        <ns0:spPr>
          <a:xfrm>
            <a:off x="4349750" y="4171950"/>
            <a:ext cx="164147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R$ 102,7 mi · atual 17,0%</a:t>
            </a:r>
          </a:p>
        </ns0:txBody>
      </ns0:sp>
      <ns0:sp>
        <ns0:nvSpPr>
          <ns0:cNvPr id="95" name="">
            <a:extLst>
              <a:ext uri="{FF2B5EF4-FFF2-40B4-BE49-F238E27FC236}">
                <ns2:creationId id="{C732E268-1D61-4DE6-A125-E6C4D7AC9E8E}"/>
              </a:ext>
            </a:extLst>
          </ns0:cNvPr>
          <ns0:cNvSpPr>
            <a:spLocks noGrp="1"/>
          </ns0:cNvSpPr>
          <ns0:nvPr/>
        </ns0:nvSpPr>
        <ns0:spPr>
          <a:xfrm>
            <a:off x="4349750" y="4333875"/>
            <a:ext cx="1641475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emissão N/D</a:t>
            </a:r>
          </a:p>
        </ns0:txBody>
      </ns0:sp>
      <ns0:sp>
        <ns0:nvSpPr>
          <ns0:cNvPr id="96" name="">
            <a:extLst>
              <a:ext uri="{FF2B5EF4-FFF2-40B4-BE49-F238E27FC236}">
                <ns2:creationId id="{07A54A6C-B53E-4601-B410-4C432DAB2FF3}"/>
              </a:ext>
            </a:extLst>
          </ns0:cNvPr>
          <ns0:cNvSpPr>
            <a:spLocks noGrp="1"/>
          </ns0:cNvSpPr>
          <ns0:nvPr/>
        </ns0:nvSpPr>
        <ns0:spPr>
          <a:xfrm>
            <a:off x="4349750" y="4514850"/>
            <a:ext cx="1641475" cy="1905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97" name="">
            <a:extLst>
              <a:ext uri="{FF2B5EF4-FFF2-40B4-BE49-F238E27FC236}">
                <ns2:creationId id="{543E5400-F32E-48E0-BCB4-41A5C057753D}"/>
              </a:ext>
            </a:extLst>
          </ns0:cNvPr>
          <ns0:cNvSpPr>
            <a:spLocks noGrp="1"/>
          </ns0:cNvSpPr>
          <ns0:nvPr/>
        </ns0:nvSpPr>
        <ns0:spPr>
          <a:xfrm>
            <a:off x="4715811" y="4476750"/>
            <a:ext cx="28575" cy="952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98" name="">
            <a:extLst>
              <a:ext uri="{FF2B5EF4-FFF2-40B4-BE49-F238E27FC236}">
                <ns2:creationId id="{57C83FB5-6FB2-4558-A546-FE83B929BD2E}"/>
              </a:ext>
            </a:extLst>
          </ns0:cNvPr>
          <ns0:cNvSpPr>
            <a:spLocks noGrp="1"/>
          </ns0:cNvSpPr>
          <ns0:nvPr/>
        </ns0:nvSpPr>
        <ns0:spPr>
          <a:xfrm>
            <a:off x="4273550" y="4657725"/>
            <a:ext cx="1793875" cy="685800"/>
          </a:xfrm>
          <a:prstGeom prst="rect">
            <a:avLst/>
          </a:prstGeom>
          <a:solidFill>
            <a:srgbClr val="E1E9EF"/>
          </a:solidFill>
          <a:ln w="0">
            <a:noFill/>
            <a:prstDash val="solid"/>
          </a:ln>
        </ns0:spPr>
      </ns0:sp>
      <ns0:sp>
        <ns0:nvSpPr>
          <ns0:cNvPr id="99" name="">
            <a:extLst>
              <a:ext uri="{FF2B5EF4-FFF2-40B4-BE49-F238E27FC236}">
                <ns2:creationId id="{5EBBB513-8284-4BD6-A6E4-F3C32E677ED4}"/>
              </a:ext>
            </a:extLst>
          </ns0:cNvPr>
          <ns0:cNvSpPr>
            <a:spLocks noGrp="1"/>
          </ns0:cNvSpPr>
          <ns0:nvPr/>
        </ns0:nvSpPr>
        <ns0:spPr>
          <a:xfrm>
            <a:off x="4349750" y="4705350"/>
            <a:ext cx="16414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BV Auto I, II e III</a:t>
            </a:r>
          </a:p>
        </ns0:txBody>
      </ns0:sp>
      <ns0:sp>
        <ns0:nvSpPr>
          <ns0:cNvPr id="100" name="">
            <a:extLst>
              <a:ext uri="{FF2B5EF4-FFF2-40B4-BE49-F238E27FC236}">
                <ns2:creationId id="{AEB01DBC-5502-4DA9-936E-5C69B34BD9F6}"/>
              </a:ext>
            </a:extLst>
          </ns0:cNvPr>
          <ns0:cNvSpPr>
            <a:spLocks noGrp="1"/>
          </ns0:cNvSpPr>
          <ns0:nvPr/>
        </ns0:nvSpPr>
        <ns0:spPr>
          <a:xfrm>
            <a:off x="4349750" y="4914900"/>
            <a:ext cx="164147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R$ 3,7 bi · atual 15,3%</a:t>
            </a:r>
          </a:p>
        </ns0:txBody>
      </ns0:sp>
      <ns0:sp>
        <ns0:nvSpPr>
          <ns0:cNvPr id="101" name="">
            <a:extLst>
              <a:ext uri="{FF2B5EF4-FFF2-40B4-BE49-F238E27FC236}">
                <ns2:creationId id="{FD3D83C6-092B-498A-A86B-2E4B83B4FCC2}"/>
              </a:ext>
            </a:extLst>
          </ns0:cNvPr>
          <ns0:cNvSpPr>
            <a:spLocks noGrp="1"/>
          </ns0:cNvSpPr>
          <ns0:nvPr/>
        </ns0:nvSpPr>
        <ns0:spPr>
          <a:xfrm>
            <a:off x="4349750" y="5076825"/>
            <a:ext cx="1641475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emissão N/D</a:t>
            </a:r>
          </a:p>
        </ns0:txBody>
      </ns0:sp>
      <ns0:sp>
        <ns0:nvSpPr>
          <ns0:cNvPr id="102" name="">
            <a:extLst>
              <a:ext uri="{FF2B5EF4-FFF2-40B4-BE49-F238E27FC236}">
                <ns2:creationId id="{591CBA68-2027-47B3-8DA0-A046F3C851C7}"/>
              </a:ext>
            </a:extLst>
          </ns0:cNvPr>
          <ns0:cNvSpPr>
            <a:spLocks noGrp="1"/>
          </ns0:cNvSpPr>
          <ns0:nvPr/>
        </ns0:nvSpPr>
        <ns0:spPr>
          <a:xfrm>
            <a:off x="4349750" y="5257800"/>
            <a:ext cx="1641475" cy="1905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03" name="">
            <a:extLst>
              <a:ext uri="{FF2B5EF4-FFF2-40B4-BE49-F238E27FC236}">
                <ns2:creationId id="{DD303E20-6C68-4B01-AF2B-523106CC171A}"/>
              </a:ext>
            </a:extLst>
          </ns0:cNvPr>
          <ns0:cNvSpPr>
            <a:spLocks noGrp="1"/>
          </ns0:cNvSpPr>
          <ns0:nvPr/>
        </ns0:nvSpPr>
        <ns0:spPr>
          <a:xfrm>
            <a:off x="4679409" y="5219700"/>
            <a:ext cx="28575" cy="952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104" name="">
            <a:extLst>
              <a:ext uri="{FF2B5EF4-FFF2-40B4-BE49-F238E27FC236}">
                <ns2:creationId id="{A0B03EE3-087E-4B41-BE13-B6520D5CA6D3}"/>
              </a:ext>
            </a:extLst>
          </ns0:cNvPr>
          <ns0:cNvSpPr>
            <a:spLocks noGrp="1"/>
          </ns0:cNvSpPr>
          <ns0:nvPr/>
        </ns0:nvSpPr>
        <ns0:spPr>
          <a:xfrm>
            <a:off x="4273550" y="5400675"/>
            <a:ext cx="1793875" cy="685800"/>
          </a:xfrm>
          <a:prstGeom prst="rect">
            <a:avLst/>
          </a:prstGeom>
          <a:solidFill>
            <a:srgbClr val="ECE2F1"/>
          </a:solidFill>
          <a:ln w="0">
            <a:noFill/>
            <a:prstDash val="solid"/>
          </a:ln>
        </ns0:spPr>
      </ns0:sp>
      <ns0:sp>
        <ns0:nvSpPr>
          <ns0:cNvPr id="105" name="">
            <a:extLst>
              <a:ext uri="{FF2B5EF4-FFF2-40B4-BE49-F238E27FC236}">
                <ns2:creationId id="{7C5386DA-24B0-4653-AEAA-4DE14F606A50}"/>
              </a:ext>
            </a:extLst>
          </ns0:cNvPr>
          <ns0:cNvSpPr>
            <a:spLocks noGrp="1"/>
          </ns0:cNvSpPr>
          <ns0:nvPr/>
        </ns0:nvSpPr>
        <ns0:spPr>
          <a:xfrm>
            <a:off x="4349750" y="5448300"/>
            <a:ext cx="16414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Pine Lift I Cartão INSS</a:t>
            </a:r>
          </a:p>
        </ns0:txBody>
      </ns0:sp>
      <ns0:sp>
        <ns0:nvSpPr>
          <ns0:cNvPr id="106" name="">
            <a:extLst>
              <a:ext uri="{FF2B5EF4-FFF2-40B4-BE49-F238E27FC236}">
                <ns2:creationId id="{0C104130-B976-4483-A94C-BC0287426391}"/>
              </a:ext>
            </a:extLst>
          </ns0:cNvPr>
          <ns0:cNvSpPr>
            <a:spLocks noGrp="1"/>
          </ns0:cNvSpPr>
          <ns0:nvPr/>
        </ns0:nvSpPr>
        <ns0:spPr>
          <a:xfrm>
            <a:off x="4349750" y="5657850"/>
            <a:ext cx="164147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R$ 160,7 mi · atual 17,2%</a:t>
            </a:r>
          </a:p>
        </ns0:txBody>
      </ns0:sp>
      <ns0:sp>
        <ns0:nvSpPr>
          <ns0:cNvPr id="107" name="">
            <a:extLst>
              <a:ext uri="{FF2B5EF4-FFF2-40B4-BE49-F238E27FC236}">
                <ns2:creationId id="{9798FCF3-FDCE-4CB1-A336-8BC452FDF352}"/>
              </a:ext>
            </a:extLst>
          </ns0:cNvPr>
          <ns0:cNvSpPr>
            <a:spLocks noGrp="1"/>
          </ns0:cNvSpPr>
          <ns0:nvPr/>
        </ns0:nvSpPr>
        <ns0:spPr>
          <a:xfrm>
            <a:off x="4349750" y="5819775"/>
            <a:ext cx="1641475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emissão N/D</a:t>
            </a:r>
          </a:p>
        </ns0:txBody>
      </ns0:sp>
      <ns0:sp>
        <ns0:nvSpPr>
          <ns0:cNvPr id="108" name="">
            <a:extLst>
              <a:ext uri="{FF2B5EF4-FFF2-40B4-BE49-F238E27FC236}">
                <ns2:creationId id="{F69D361E-56BB-4B91-89E1-415A45F33C39}"/>
              </a:ext>
            </a:extLst>
          </ns0:cNvPr>
          <ns0:cNvSpPr>
            <a:spLocks noGrp="1"/>
          </ns0:cNvSpPr>
          <ns0:nvPr/>
        </ns0:nvSpPr>
        <ns0:spPr>
          <a:xfrm>
            <a:off x="4349750" y="6000750"/>
            <a:ext cx="1641475" cy="1905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09" name="">
            <a:extLst>
              <a:ext uri="{FF2B5EF4-FFF2-40B4-BE49-F238E27FC236}">
                <ns2:creationId id="{F2706A33-C030-48DE-9D3D-127AD7ADA38F}"/>
              </a:ext>
            </a:extLst>
          </ns0:cNvPr>
          <ns0:cNvSpPr>
            <a:spLocks noGrp="1"/>
          </ns0:cNvSpPr>
          <ns0:nvPr/>
        </ns0:nvSpPr>
        <ns0:spPr>
          <a:xfrm>
            <a:off x="4719113" y="5962650"/>
            <a:ext cx="28575" cy="952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110" name="">
            <a:extLst>
              <a:ext uri="{FF2B5EF4-FFF2-40B4-BE49-F238E27FC236}">
                <ns2:creationId id="{8C947E92-3C81-4515-9FBB-8F9A3B567008}"/>
              </a:ext>
            </a:extLst>
          </ns0:cNvPr>
          <ns0:cNvSpPr>
            <a:spLocks noGrp="1"/>
          </ns0:cNvSpPr>
          <ns0:nvPr/>
        </ns0:nvSpPr>
        <ns0:spPr>
          <a:xfrm>
            <a:off x="6124575" y="1685925"/>
            <a:ext cx="1793875" cy="685800"/>
          </a:xfrm>
          <a:prstGeom prst="rect">
            <a:avLst/>
          </a:prstGeom>
          <a:solidFill>
            <a:srgbClr val="E8E2F3"/>
          </a:solidFill>
          <a:ln w="0">
            <a:noFill/>
            <a:prstDash val="solid"/>
          </a:ln>
        </ns0:spPr>
      </ns0:sp>
      <ns0:sp>
        <ns0:nvSpPr>
          <ns0:cNvPr id="111" name="">
            <a:extLst>
              <a:ext uri="{FF2B5EF4-FFF2-40B4-BE49-F238E27FC236}">
                <ns2:creationId id="{6596604E-3009-42EA-A464-FC61BC12FBA4}"/>
              </a:ext>
            </a:extLst>
          </ns0:cNvPr>
          <ns0:cNvSpPr>
            <a:spLocks noGrp="1"/>
          </ns0:cNvSpPr>
          <ns0:nvPr/>
        </ns0:nvSpPr>
        <ns0:spPr>
          <a:xfrm>
            <a:off x="6200775" y="1733550"/>
            <a:ext cx="16414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Paketa</a:t>
            </a:r>
          </a:p>
        </ns0:txBody>
      </ns0:sp>
      <ns0:sp>
        <ns0:nvSpPr>
          <ns0:cNvPr id="112" name="">
            <a:extLst>
              <a:ext uri="{FF2B5EF4-FFF2-40B4-BE49-F238E27FC236}">
                <ns2:creationId id="{15FB1451-A395-4F37-99D1-50800C64EE27}"/>
              </a:ext>
            </a:extLst>
          </ns0:cNvPr>
          <ns0:cNvSpPr>
            <a:spLocks noGrp="1"/>
          </ns0:cNvSpPr>
          <ns0:nvPr/>
        </ns0:nvSpPr>
        <ns0:spPr>
          <a:xfrm>
            <a:off x="6200775" y="1943100"/>
            <a:ext cx="164147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R$ 1,9 bi · atual 32,0%</a:t>
            </a:r>
          </a:p>
        </ns0:txBody>
      </ns0:sp>
      <ns0:sp>
        <ns0:nvSpPr>
          <ns0:cNvPr id="113" name="">
            <a:extLst>
              <a:ext uri="{FF2B5EF4-FFF2-40B4-BE49-F238E27FC236}">
                <ns2:creationId id="{99B58874-CC3F-4C37-8828-888871608DB7}"/>
              </a:ext>
            </a:extLst>
          </ns0:cNvPr>
          <ns0:cNvSpPr>
            <a:spLocks noGrp="1"/>
          </ns0:cNvSpPr>
          <ns0:nvPr/>
        </ns0:nvSpPr>
        <ns0:spPr>
          <a:xfrm>
            <a:off x="6200775" y="2105025"/>
            <a:ext cx="1641475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emissão N/D</a:t>
            </a:r>
          </a:p>
        </ns0:txBody>
      </ns0:sp>
      <ns0:sp>
        <ns0:nvSpPr>
          <ns0:cNvPr id="114" name="">
            <a:extLst>
              <a:ext uri="{FF2B5EF4-FFF2-40B4-BE49-F238E27FC236}">
                <ns2:creationId id="{172E79DE-0FD2-4AAB-AEC2-BCA921AC9E6B}"/>
              </a:ext>
            </a:extLst>
          </ns0:cNvPr>
          <ns0:cNvSpPr>
            <a:spLocks noGrp="1"/>
          </ns0:cNvSpPr>
          <ns0:nvPr/>
        </ns0:nvSpPr>
        <ns0:spPr>
          <a:xfrm>
            <a:off x="6200775" y="2286000"/>
            <a:ext cx="1641475" cy="1905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15" name="">
            <a:extLst>
              <a:ext uri="{FF2B5EF4-FFF2-40B4-BE49-F238E27FC236}">
                <ns2:creationId id="{271A99A1-22B4-4940-BBF7-A526565D6C75}"/>
              </a:ext>
            </a:extLst>
          </ns0:cNvPr>
          <ns0:cNvSpPr>
            <a:spLocks noGrp="1"/>
          </ns0:cNvSpPr>
          <ns0:nvPr/>
        </ns0:nvSpPr>
        <ns0:spPr>
          <a:xfrm>
            <a:off x="6888761" y="2247900"/>
            <a:ext cx="28575" cy="952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116" name="">
            <a:extLst>
              <a:ext uri="{FF2B5EF4-FFF2-40B4-BE49-F238E27FC236}">
                <ns2:creationId id="{84EF55AC-0EFE-4E04-B3BB-3ABFE84A39D4}"/>
              </a:ext>
            </a:extLst>
          </ns0:cNvPr>
          <ns0:cNvSpPr>
            <a:spLocks noGrp="1"/>
          </ns0:cNvSpPr>
          <ns0:nvPr/>
        </ns0:nvSpPr>
        <ns0:spPr>
          <a:xfrm>
            <a:off x="6124575" y="2428875"/>
            <a:ext cx="1793875" cy="685800"/>
          </a:xfrm>
          <a:prstGeom prst="rect">
            <a:avLst/>
          </a:prstGeom>
          <a:solidFill>
            <a:srgbClr val="DDEEDB"/>
          </a:solidFill>
          <a:ln w="0">
            <a:noFill/>
            <a:prstDash val="solid"/>
          </a:ln>
        </ns0:spPr>
      </ns0:sp>
      <ns0:sp>
        <ns0:nvSpPr>
          <ns0:cNvPr id="117" name="">
            <a:extLst>
              <a:ext uri="{FF2B5EF4-FFF2-40B4-BE49-F238E27FC236}">
                <ns2:creationId id="{BCE61A78-0CA9-4F60-B116-67B12FE68179}"/>
              </a:ext>
            </a:extLst>
          </ns0:cNvPr>
          <ns0:cNvSpPr>
            <a:spLocks noGrp="1"/>
          </ns0:cNvSpPr>
          <ns0:nvPr/>
        </ns0:nvSpPr>
        <ns0:spPr>
          <a:xfrm>
            <a:off x="6200775" y="2476500"/>
            <a:ext cx="16414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MT INSS Receivables VI</a:t>
            </a:r>
          </a:p>
        </ns0:txBody>
      </ns0:sp>
      <ns0:sp>
        <ns0:nvSpPr>
          <ns0:cNvPr id="118" name="">
            <a:extLst>
              <a:ext uri="{FF2B5EF4-FFF2-40B4-BE49-F238E27FC236}">
                <ns2:creationId id="{57EBF19E-C1B3-43BA-993B-74E1753DDAD9}"/>
              </a:ext>
            </a:extLst>
          </ns0:cNvPr>
          <ns0:cNvSpPr>
            <a:spLocks noGrp="1"/>
          </ns0:cNvSpPr>
          <ns0:nvPr/>
        </ns0:nvSpPr>
        <ns0:spPr>
          <a:xfrm>
            <a:off x="6200775" y="2686050"/>
            <a:ext cx="164147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R$ 1,5 bi · atual 20,3%</a:t>
            </a:r>
          </a:p>
        </ns0:txBody>
      </ns0:sp>
      <ns0:sp>
        <ns0:nvSpPr>
          <ns0:cNvPr id="119" name="">
            <a:extLst>
              <a:ext uri="{FF2B5EF4-FFF2-40B4-BE49-F238E27FC236}">
                <ns2:creationId id="{BAD56E0F-E669-49A9-B716-AD74720E525E}"/>
              </a:ext>
            </a:extLst>
          </ns0:cNvPr>
          <ns0:cNvSpPr>
            <a:spLocks noGrp="1"/>
          </ns0:cNvSpPr>
          <ns0:nvPr/>
        </ns0:nvSpPr>
        <ns0:spPr>
          <a:xfrm>
            <a:off x="6200775" y="2847975"/>
            <a:ext cx="1641475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emissão N/D</a:t>
            </a:r>
          </a:p>
        </ns0:txBody>
      </ns0:sp>
      <ns0:sp>
        <ns0:nvSpPr>
          <ns0:cNvPr id="120" name="">
            <a:extLst>
              <a:ext uri="{FF2B5EF4-FFF2-40B4-BE49-F238E27FC236}">
                <ns2:creationId id="{1ADDC2DC-E82D-449D-B70C-20275317F843}"/>
              </a:ext>
            </a:extLst>
          </ns0:cNvPr>
          <ns0:cNvSpPr>
            <a:spLocks noGrp="1"/>
          </ns0:cNvSpPr>
          <ns0:nvPr/>
        </ns0:nvSpPr>
        <ns0:spPr>
          <a:xfrm>
            <a:off x="6200775" y="3028950"/>
            <a:ext cx="1641475" cy="1905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21" name="">
            <a:extLst>
              <a:ext uri="{FF2B5EF4-FFF2-40B4-BE49-F238E27FC236}">
                <ns2:creationId id="{BC2E4871-1DC5-43C5-BC5C-80DE808EF7EF}"/>
              </a:ext>
            </a:extLst>
          </ns0:cNvPr>
          <ns0:cNvSpPr>
            <a:spLocks noGrp="1"/>
          </ns0:cNvSpPr>
          <ns0:nvPr/>
        </ns0:nvSpPr>
        <ns0:spPr>
          <a:xfrm>
            <a:off x="6636626" y="2990850"/>
            <a:ext cx="28575" cy="952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122" name="">
            <a:extLst>
              <a:ext uri="{FF2B5EF4-FFF2-40B4-BE49-F238E27FC236}">
                <ns2:creationId id="{58BF21DF-BAAE-4702-B6A1-1B8E50878080}"/>
              </a:ext>
            </a:extLst>
          </ns0:cNvPr>
          <ns0:cNvSpPr>
            <a:spLocks noGrp="1"/>
          </ns0:cNvSpPr>
          <ns0:nvPr/>
        </ns0:nvSpPr>
        <ns0:spPr>
          <a:xfrm>
            <a:off x="6124575" y="3171825"/>
            <a:ext cx="1793875" cy="685800"/>
          </a:xfrm>
          <a:prstGeom prst="rect">
            <a:avLst/>
          </a:prstGeom>
          <a:solidFill>
            <a:srgbClr val="E1E9EF"/>
          </a:solidFill>
          <a:ln w="0">
            <a:noFill/>
            <a:prstDash val="solid"/>
          </a:ln>
        </ns0:spPr>
      </ns0:sp>
      <ns0:sp>
        <ns0:nvSpPr>
          <ns0:cNvPr id="123" name="">
            <a:extLst>
              <a:ext uri="{FF2B5EF4-FFF2-40B4-BE49-F238E27FC236}">
                <ns2:creationId id="{0706A65A-FDB8-4CF6-8507-3EA52050DE72}"/>
              </a:ext>
            </a:extLst>
          </ns0:cNvPr>
          <ns0:cNvSpPr>
            <a:spLocks noGrp="1"/>
          </ns0:cNvSpPr>
          <ns0:nvPr/>
        </ns0:nvSpPr>
        <ns0:spPr>
          <a:xfrm>
            <a:off x="6200775" y="3219450"/>
            <a:ext cx="16414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Creditas Auto X, XI e XII</a:t>
            </a:r>
          </a:p>
        </ns0:txBody>
      </ns0:sp>
      <ns0:sp>
        <ns0:nvSpPr>
          <ns0:cNvPr id="124" name="">
            <a:extLst>
              <a:ext uri="{FF2B5EF4-FFF2-40B4-BE49-F238E27FC236}">
                <ns2:creationId id="{D12DC41C-E81D-4FA9-8F46-C0B0AEE14DC0}"/>
              </a:ext>
            </a:extLst>
          </ns0:cNvPr>
          <ns0:cNvSpPr>
            <a:spLocks noGrp="1"/>
          </ns0:cNvSpPr>
          <ns0:nvPr/>
        </ns0:nvSpPr>
        <ns0:spPr>
          <a:xfrm>
            <a:off x="6200775" y="3429000"/>
            <a:ext cx="164147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R$ 2,9 bi · atual 24,9%</a:t>
            </a:r>
          </a:p>
        </ns0:txBody>
      </ns0:sp>
      <ns0:sp>
        <ns0:nvSpPr>
          <ns0:cNvPr id="125" name="">
            <a:extLst>
              <a:ext uri="{FF2B5EF4-FFF2-40B4-BE49-F238E27FC236}">
                <ns2:creationId id="{512EAC1A-7825-49AD-BFC9-C1C863946C59}"/>
              </a:ext>
            </a:extLst>
          </ns0:cNvPr>
          <ns0:cNvSpPr>
            <a:spLocks noGrp="1"/>
          </ns0:cNvSpPr>
          <ns0:nvPr/>
        </ns0:nvSpPr>
        <ns0:spPr>
          <a:xfrm>
            <a:off x="6200775" y="3590925"/>
            <a:ext cx="1641475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emissão N/D</a:t>
            </a:r>
          </a:p>
        </ns0:txBody>
      </ns0:sp>
      <ns0:sp>
        <ns0:nvSpPr>
          <ns0:cNvPr id="126" name="">
            <a:extLst>
              <a:ext uri="{FF2B5EF4-FFF2-40B4-BE49-F238E27FC236}">
                <ns2:creationId id="{3F37831B-53FD-4630-A954-D46D41B732D2}"/>
              </a:ext>
            </a:extLst>
          </ns0:cNvPr>
          <ns0:cNvSpPr>
            <a:spLocks noGrp="1"/>
          </ns0:cNvSpPr>
          <ns0:nvPr/>
        </ns0:nvSpPr>
        <ns0:spPr>
          <a:xfrm>
            <a:off x="6200775" y="3771900"/>
            <a:ext cx="1641475" cy="1905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27" name="">
            <a:extLst>
              <a:ext uri="{FF2B5EF4-FFF2-40B4-BE49-F238E27FC236}">
                <ns2:creationId id="{4A7D0E84-56AE-4B02-B485-99F8C4B9A006}"/>
              </a:ext>
            </a:extLst>
          </ns0:cNvPr>
          <ns0:cNvSpPr>
            <a:spLocks noGrp="1"/>
          </ns0:cNvSpPr>
          <ns0:nvPr/>
        </ns0:nvSpPr>
        <ns0:spPr>
          <a:xfrm>
            <a:off x="6736120" y="3733800"/>
            <a:ext cx="28575" cy="952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128" name="">
            <a:extLst>
              <a:ext uri="{FF2B5EF4-FFF2-40B4-BE49-F238E27FC236}">
                <ns2:creationId id="{ED88B71A-E57D-400F-940E-E8E17B4FC9A2}"/>
              </a:ext>
            </a:extLst>
          </ns0:cNvPr>
          <ns0:cNvSpPr>
            <a:spLocks noGrp="1"/>
          </ns0:cNvSpPr>
          <ns0:nvPr/>
        </ns0:nvSpPr>
        <ns0:spPr>
          <a:xfrm>
            <a:off x="7975600" y="1685925"/>
            <a:ext cx="1793875" cy="685800"/>
          </a:xfrm>
          <a:prstGeom prst="rect">
            <a:avLst/>
          </a:prstGeom>
          <a:solidFill>
            <a:srgbClr val="E8E2F3"/>
          </a:solidFill>
          <a:ln w="0">
            <a:noFill/>
            <a:prstDash val="solid"/>
          </a:ln>
        </ns0:spPr>
      </ns0:sp>
      <ns0:sp>
        <ns0:nvSpPr>
          <ns0:cNvPr id="129" name="">
            <a:extLst>
              <a:ext uri="{FF2B5EF4-FFF2-40B4-BE49-F238E27FC236}">
                <ns2:creationId id="{353199DC-BD2D-4C04-9BA9-3984068A07C4}"/>
              </a:ext>
            </a:extLst>
          </ns0:cNvPr>
          <ns0:cNvSpPr>
            <a:spLocks noGrp="1"/>
          </ns0:cNvSpPr>
          <ns0:nvPr/>
        </ns0:nvSpPr>
        <ns0:spPr>
          <a:xfrm>
            <a:off x="8051800" y="1733550"/>
            <a:ext cx="16414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CLT Now</a:t>
            </a:r>
          </a:p>
        </ns0:txBody>
      </ns0:sp>
      <ns0:sp>
        <ns0:nvSpPr>
          <ns0:cNvPr id="130" name="">
            <a:extLst>
              <a:ext uri="{FF2B5EF4-FFF2-40B4-BE49-F238E27FC236}">
                <ns2:creationId id="{D68D4120-8F7D-48CC-B0CE-936FD5A42D20}"/>
              </a:ext>
            </a:extLst>
          </ns0:cNvPr>
          <ns0:cNvSpPr>
            <a:spLocks noGrp="1"/>
          </ns0:cNvSpPr>
          <ns0:nvPr/>
        </ns0:nvSpPr>
        <ns0:spPr>
          <a:xfrm>
            <a:off x="8051800" y="1943100"/>
            <a:ext cx="164147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R$ 474,4 mi · atual 35,7%</a:t>
            </a:r>
          </a:p>
        </ns0:txBody>
      </ns0:sp>
      <ns0:sp>
        <ns0:nvSpPr>
          <ns0:cNvPr id="131" name="">
            <a:extLst>
              <a:ext uri="{FF2B5EF4-FFF2-40B4-BE49-F238E27FC236}">
                <ns2:creationId id="{7F65F182-A9E2-43E5-96C5-8E7804584334}"/>
              </a:ext>
            </a:extLst>
          </ns0:cNvPr>
          <ns0:cNvSpPr>
            <a:spLocks noGrp="1"/>
          </ns0:cNvSpPr>
          <ns0:nvPr/>
        </ns0:nvSpPr>
        <ns0:spPr>
          <a:xfrm>
            <a:off x="8051800" y="2105025"/>
            <a:ext cx="1641475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emissão N/D</a:t>
            </a:r>
          </a:p>
        </ns0:txBody>
      </ns0:sp>
      <ns0:sp>
        <ns0:nvSpPr>
          <ns0:cNvPr id="132" name="">
            <a:extLst>
              <a:ext uri="{FF2B5EF4-FFF2-40B4-BE49-F238E27FC236}">
                <ns2:creationId id="{330DFBC4-994E-41E0-A489-6785EFB29732}"/>
              </a:ext>
            </a:extLst>
          </ns0:cNvPr>
          <ns0:cNvSpPr>
            <a:spLocks noGrp="1"/>
          </ns0:cNvSpPr>
          <ns0:nvPr/>
        </ns0:nvSpPr>
        <ns0:spPr>
          <a:xfrm>
            <a:off x="8051800" y="2286000"/>
            <a:ext cx="1641475" cy="1905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33" name="">
            <a:extLst>
              <a:ext uri="{FF2B5EF4-FFF2-40B4-BE49-F238E27FC236}">
                <ns2:creationId id="{C3E20E41-CB1D-480B-BBFF-3CEF32886FC0}"/>
              </a:ext>
            </a:extLst>
          </ns0:cNvPr>
          <ns0:cNvSpPr>
            <a:spLocks noGrp="1"/>
          </ns0:cNvSpPr>
          <ns0:nvPr/>
        </ns0:nvSpPr>
        <ns0:spPr>
          <a:xfrm>
            <a:off x="8819041" y="2247900"/>
            <a:ext cx="28575" cy="952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134" name="">
            <a:extLst>
              <a:ext uri="{FF2B5EF4-FFF2-40B4-BE49-F238E27FC236}">
                <ns2:creationId id="{D089EAC6-1140-420C-8735-C52E6F595158}"/>
              </a:ext>
            </a:extLst>
          </ns0:cNvPr>
          <ns0:cNvSpPr>
            <a:spLocks noGrp="1"/>
          </ns0:cNvSpPr>
          <ns0:nvPr/>
        </ns0:nvSpPr>
        <ns0:spPr>
          <a:xfrm>
            <a:off x="7975600" y="2428875"/>
            <a:ext cx="1793875" cy="685800"/>
          </a:xfrm>
          <a:prstGeom prst="rect">
            <a:avLst/>
          </a:prstGeom>
          <a:solidFill>
            <a:srgbClr val="DCEAF7"/>
          </a:solidFill>
          <a:ln w="0">
            <a:noFill/>
            <a:prstDash val="solid"/>
          </a:ln>
        </ns0:spPr>
      </ns0:sp>
      <ns0:sp>
        <ns0:nvSpPr>
          <ns0:cNvPr id="135" name="">
            <a:extLst>
              <a:ext uri="{FF2B5EF4-FFF2-40B4-BE49-F238E27FC236}">
                <ns2:creationId id="{6EEACDF5-F893-4A14-9192-7511585248ED}"/>
              </a:ext>
            </a:extLst>
          </ns0:cNvPr>
          <ns0:cNvSpPr>
            <a:spLocks noGrp="1"/>
          </ns0:cNvSpPr>
          <ns0:nvPr/>
        </ns0:nvSpPr>
        <ns0:spPr>
          <a:xfrm>
            <a:off x="8051800" y="2476500"/>
            <a:ext cx="16414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Seller I, II e III</a:t>
            </a:r>
          </a:p>
        </ns0:txBody>
      </ns0:sp>
      <ns0:sp>
        <ns0:nvSpPr>
          <ns0:cNvPr id="136" name="">
            <a:extLst>
              <a:ext uri="{FF2B5EF4-FFF2-40B4-BE49-F238E27FC236}">
                <ns2:creationId id="{36F7915C-96AC-4F43-8032-7CDF5D42A6D8}"/>
              </a:ext>
            </a:extLst>
          </ns0:cNvPr>
          <ns0:cNvSpPr>
            <a:spLocks noGrp="1"/>
          </ns0:cNvSpPr>
          <ns0:nvPr/>
        </ns0:nvSpPr>
        <ns0:spPr>
          <a:xfrm>
            <a:off x="8051800" y="2686050"/>
            <a:ext cx="164147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R$ 8,4 bi · atual 48,0%</a:t>
            </a:r>
          </a:p>
        </ns0:txBody>
      </ns0:sp>
      <ns0:sp>
        <ns0:nvSpPr>
          <ns0:cNvPr id="137" name="">
            <a:extLst>
              <a:ext uri="{FF2B5EF4-FFF2-40B4-BE49-F238E27FC236}">
                <ns2:creationId id="{3C98336C-0D02-4905-9C1C-E6D032C3EA33}"/>
              </a:ext>
            </a:extLst>
          </ns0:cNvPr>
          <ns0:cNvSpPr>
            <a:spLocks noGrp="1"/>
          </ns0:cNvSpPr>
          <ns0:nvPr/>
        </ns0:nvSpPr>
        <ns0:spPr>
          <a:xfrm>
            <a:off x="8051800" y="2847975"/>
            <a:ext cx="1641475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10,0% / 33,3% · emissão fev/26</a:t>
            </a:r>
          </a:p>
        </ns0:txBody>
      </ns0:sp>
      <ns0:sp>
        <ns0:nvSpPr>
          <ns0:cNvPr id="138" name="">
            <a:extLst>
              <a:ext uri="{FF2B5EF4-FFF2-40B4-BE49-F238E27FC236}">
                <ns2:creationId id="{E8F4774B-8016-4075-9C73-AC4E393C701A}"/>
              </a:ext>
            </a:extLst>
          </ns0:cNvPr>
          <ns0:cNvSpPr>
            <a:spLocks noGrp="1"/>
          </ns0:cNvSpPr>
          <ns0:nvPr/>
        </ns0:nvSpPr>
        <ns0:spPr>
          <a:xfrm>
            <a:off x="8051800" y="3028950"/>
            <a:ext cx="1641475" cy="1905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39" name="">
            <a:extLst>
              <a:ext uri="{FF2B5EF4-FFF2-40B4-BE49-F238E27FC236}">
                <ns2:creationId id="{0BB39812-54E7-4C1A-8E6A-198D14B6AD3D}"/>
              </a:ext>
            </a:extLst>
          </ns0:cNvPr>
          <ns0:cNvSpPr>
            <a:spLocks noGrp="1"/>
          </ns0:cNvSpPr>
          <ns0:nvPr/>
        </ns0:nvSpPr>
        <ns0:spPr>
          <a:xfrm>
            <a:off x="9085104" y="2990850"/>
            <a:ext cx="28575" cy="952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140" name="">
            <a:extLst>
              <a:ext uri="{FF2B5EF4-FFF2-40B4-BE49-F238E27FC236}">
                <ns2:creationId id="{42065F9E-8987-43D5-883C-596B23200CFA}"/>
              </a:ext>
            </a:extLst>
          </ns0:cNvPr>
          <ns0:cNvSpPr>
            <a:spLocks noGrp="1"/>
          </ns0:cNvSpPr>
          <ns0:nvPr/>
        </ns0:nvSpPr>
        <ns0:spPr>
          <a:xfrm>
            <a:off x="7975600" y="3171825"/>
            <a:ext cx="1793875" cy="685800"/>
          </a:xfrm>
          <a:prstGeom prst="rect">
            <a:avLst/>
          </a:prstGeom>
          <a:solidFill>
            <a:srgbClr val="ECE2F1"/>
          </a:solidFill>
          <a:ln w="0">
            <a:noFill/>
            <a:prstDash val="solid"/>
          </a:ln>
        </ns0:spPr>
      </ns0:sp>
      <ns0:sp>
        <ns0:nvSpPr>
          <ns0:cNvPr id="141" name="">
            <a:extLst>
              <a:ext uri="{FF2B5EF4-FFF2-40B4-BE49-F238E27FC236}">
                <ns2:creationId id="{F1830AA5-0A96-4FA4-BE5D-FA40185915F4}"/>
              </a:ext>
            </a:extLst>
          </ns0:cNvPr>
          <ns0:cNvSpPr>
            <a:spLocks noGrp="1"/>
          </ns0:cNvSpPr>
          <ns0:nvPr/>
        </ns0:nvSpPr>
        <ns0:spPr>
          <a:xfrm>
            <a:off x="8051800" y="3219450"/>
            <a:ext cx="16414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Somapay Cartão Consignado Público</a:t>
            </a:r>
          </a:p>
        </ns0:txBody>
      </ns0:sp>
      <ns0:sp>
        <ns0:nvSpPr>
          <ns0:cNvPr id="142" name="">
            <a:extLst>
              <a:ext uri="{FF2B5EF4-FFF2-40B4-BE49-F238E27FC236}">
                <ns2:creationId id="{04AE9850-7347-4B36-98CD-DB641D735984}"/>
              </a:ext>
            </a:extLst>
          </ns0:cNvPr>
          <ns0:cNvSpPr>
            <a:spLocks noGrp="1"/>
          </ns0:cNvSpPr>
          <ns0:nvPr/>
        </ns0:nvSpPr>
        <ns0:spPr>
          <a:xfrm>
            <a:off x="8051800" y="3429000"/>
            <a:ext cx="164147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R$ 159,2 mi · atual 43,1%</a:t>
            </a:r>
          </a:p>
        </ns0:txBody>
      </ns0:sp>
      <ns0:sp>
        <ns0:nvSpPr>
          <ns0:cNvPr id="143" name="">
            <a:extLst>
              <a:ext uri="{FF2B5EF4-FFF2-40B4-BE49-F238E27FC236}">
                <ns2:creationId id="{C4AFB282-F101-4676-8717-0EC9344106E0}"/>
              </a:ext>
            </a:extLst>
          </ns0:cNvPr>
          <ns0:cNvSpPr>
            <a:spLocks noGrp="1"/>
          </ns0:cNvSpPr>
          <ns0:nvPr/>
        </ns0:nvSpPr>
        <ns0:spPr>
          <a:xfrm>
            <a:off x="8051800" y="3590925"/>
            <a:ext cx="1641475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emissão N/D</a:t>
            </a:r>
          </a:p>
        </ns0:txBody>
      </ns0:sp>
      <ns0:sp>
        <ns0:nvSpPr>
          <ns0:cNvPr id="144" name="">
            <a:extLst>
              <a:ext uri="{FF2B5EF4-FFF2-40B4-BE49-F238E27FC236}">
                <ns2:creationId id="{299D777C-D540-4446-B58E-CECAF49A3FAA}"/>
              </a:ext>
            </a:extLst>
          </ns0:cNvPr>
          <ns0:cNvSpPr>
            <a:spLocks noGrp="1"/>
          </ns0:cNvSpPr>
          <ns0:nvPr/>
        </ns0:nvSpPr>
        <ns0:spPr>
          <a:xfrm>
            <a:off x="8051800" y="3771900"/>
            <a:ext cx="1641475" cy="1905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45" name="">
            <a:extLst>
              <a:ext uri="{FF2B5EF4-FFF2-40B4-BE49-F238E27FC236}">
                <ns2:creationId id="{1676014F-7B76-4532-BA67-E145E26268E4}"/>
              </a:ext>
            </a:extLst>
          </ns0:cNvPr>
          <ns0:cNvSpPr>
            <a:spLocks noGrp="1"/>
          </ns0:cNvSpPr>
          <ns0:nvPr/>
        </ns0:nvSpPr>
        <ns0:spPr>
          <a:xfrm>
            <a:off x="8978070" y="3733800"/>
            <a:ext cx="28575" cy="952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146" name="">
            <a:extLst>
              <a:ext uri="{FF2B5EF4-FFF2-40B4-BE49-F238E27FC236}">
                <ns2:creationId id="{015A2F32-5F1C-4D80-A348-758C37A3F8CA}"/>
              </a:ext>
            </a:extLst>
          </ns0:cNvPr>
          <ns0:cNvSpPr>
            <a:spLocks noGrp="1"/>
          </ns0:cNvSpPr>
          <ns0:nvPr/>
        </ns0:nvSpPr>
        <ns0:spPr>
          <a:xfrm>
            <a:off x="7975600" y="3914775"/>
            <a:ext cx="1793875" cy="685800"/>
          </a:xfrm>
          <a:prstGeom prst="rect">
            <a:avLst/>
          </a:prstGeom>
          <a:solidFill>
            <a:srgbClr val="DDEDEA"/>
          </a:solidFill>
          <a:ln w="0">
            <a:noFill/>
            <a:prstDash val="solid"/>
          </a:ln>
        </ns0:spPr>
      </ns0:sp>
      <ns0:sp>
        <ns0:nvSpPr>
          <ns0:cNvPr id="147" name="">
            <a:extLst>
              <a:ext uri="{FF2B5EF4-FFF2-40B4-BE49-F238E27FC236}">
                <ns2:creationId id="{9BA5EC46-AF5F-4530-A6C8-0DC9DA0EAC7B}"/>
              </a:ext>
            </a:extLst>
          </ns0:cNvPr>
          <ns0:cNvSpPr>
            <a:spLocks noGrp="1"/>
          </ns0:cNvSpPr>
          <ns0:nvPr/>
        </ns0:nvSpPr>
        <ns0:spPr>
          <a:xfrm>
            <a:off x="8051800" y="3962400"/>
            <a:ext cx="16414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Mercado Crédito, Mercado Crédito I</a:t>
            </a:r>
          </a:p>
        </ns0:txBody>
      </ns0:sp>
      <ns0:sp>
        <ns0:nvSpPr>
          <ns0:cNvPr id="148" name="">
            <a:extLst>
              <a:ext uri="{FF2B5EF4-FFF2-40B4-BE49-F238E27FC236}">
                <ns2:creationId id="{E364ADF5-F3C1-4A76-9D01-5AE5B3F1CD54}"/>
              </a:ext>
            </a:extLst>
          </ns0:cNvPr>
          <ns0:cNvSpPr>
            <a:spLocks noGrp="1"/>
          </ns0:cNvSpPr>
          <ns0:nvPr/>
        </ns0:nvSpPr>
        <ns0:spPr>
          <a:xfrm>
            <a:off x="8051800" y="4171950"/>
            <a:ext cx="164147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R$ 5,5 bi · atual 52,3%</a:t>
            </a:r>
          </a:p>
        </ns0:txBody>
      </ns0:sp>
      <ns0:sp>
        <ns0:nvSpPr>
          <ns0:cNvPr id="149" name="">
            <a:extLst>
              <a:ext uri="{FF2B5EF4-FFF2-40B4-BE49-F238E27FC236}">
                <ns2:creationId id="{0D6FC353-A225-4B0C-9E35-3DC1219F49ED}"/>
              </a:ext>
            </a:extLst>
          </ns0:cNvPr>
          <ns0:cNvSpPr>
            <a:spLocks noGrp="1"/>
          </ns0:cNvSpPr>
          <ns0:nvPr/>
        </ns0:nvSpPr>
        <ns0:spPr>
          <a:xfrm>
            <a:off x="8051800" y="4333875"/>
            <a:ext cx="1641475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77799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10,0% base; aumentos condicionais / 10,0% · emissão dez/25</a:t>
            </a:r>
          </a:p>
        </ns0:txBody>
      </ns0:sp>
      <ns0:sp>
        <ns0:nvSpPr>
          <ns0:cNvPr id="150" name="">
            <a:extLst>
              <a:ext uri="{FF2B5EF4-FFF2-40B4-BE49-F238E27FC236}">
                <ns2:creationId id="{76EF95EA-4BD4-44DE-9961-7E73C1A2EA13}"/>
              </a:ext>
            </a:extLst>
          </ns0:cNvPr>
          <ns0:cNvSpPr>
            <a:spLocks noGrp="1"/>
          </ns0:cNvSpPr>
          <ns0:nvPr/>
        </ns0:nvSpPr>
        <ns0:spPr>
          <a:xfrm>
            <a:off x="8051800" y="4514850"/>
            <a:ext cx="1641475" cy="1905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51" name="">
            <a:extLst>
              <a:ext uri="{FF2B5EF4-FFF2-40B4-BE49-F238E27FC236}">
                <ns2:creationId id="{19F42779-C5E9-4657-9B97-DF363E3F8E64}"/>
              </a:ext>
            </a:extLst>
          </ns0:cNvPr>
          <ns0:cNvSpPr>
            <a:spLocks noGrp="1"/>
          </ns0:cNvSpPr>
          <ns0:nvPr/>
        </ns0:nvSpPr>
        <ns0:spPr>
          <a:xfrm>
            <a:off x="9175689" y="4476750"/>
            <a:ext cx="28575" cy="952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152" name="">
            <a:extLst>
              <a:ext uri="{FF2B5EF4-FFF2-40B4-BE49-F238E27FC236}">
                <ns2:creationId id="{06256C94-FABB-48ED-95F2-D0127D66A5C5}"/>
              </a:ext>
            </a:extLst>
          </ns0:cNvPr>
          <ns0:cNvSpPr>
            <a:spLocks noGrp="1"/>
          </ns0:cNvSpPr>
          <ns0:nvPr/>
        </ns0:nvSpPr>
        <ns0:spPr>
          <a:xfrm>
            <a:off x="9826625" y="1685925"/>
            <a:ext cx="1793875" cy="685800"/>
          </a:xfrm>
          <a:prstGeom prst="rect">
            <a:avLst/>
          </a:prstGeom>
          <a:solidFill>
            <a:srgbClr val="DCEAF7"/>
          </a:solidFill>
          <a:ln w="0">
            <a:noFill/>
            <a:prstDash val="solid"/>
          </a:ln>
        </ns0:spPr>
      </ns0:sp>
      <ns0:sp>
        <ns0:nvSpPr>
          <ns0:cNvPr id="153" name="">
            <a:extLst>
              <a:ext uri="{FF2B5EF4-FFF2-40B4-BE49-F238E27FC236}">
                <ns2:creationId id="{31CB6850-BCC5-491B-8621-FC13D619A77F}"/>
              </a:ext>
            </a:extLst>
          </ns0:cNvPr>
          <ns0:cNvSpPr>
            <a:spLocks noGrp="1"/>
          </ns0:cNvSpPr>
          <ns0:nvPr/>
        </ns0:nvSpPr>
        <ns0:spPr>
          <a:xfrm>
            <a:off x="9902825" y="1733550"/>
            <a:ext cx="16414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Cielo</a:t>
            </a:r>
          </a:p>
        </ns0:txBody>
      </ns0:sp>
      <ns0:sp>
        <ns0:nvSpPr>
          <ns0:cNvPr id="154" name="">
            <a:extLst>
              <a:ext uri="{FF2B5EF4-FFF2-40B4-BE49-F238E27FC236}">
                <ns2:creationId id="{6ECE93E5-A372-4651-AC35-EBB5A0A990DA}"/>
              </a:ext>
            </a:extLst>
          </ns0:cNvPr>
          <ns0:cNvSpPr>
            <a:spLocks noGrp="1"/>
          </ns0:cNvSpPr>
          <ns0:nvPr/>
        </ns0:nvSpPr>
        <ns0:spPr>
          <a:xfrm>
            <a:off x="9902825" y="1943100"/>
            <a:ext cx="164147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R$ 6,5 bi · atual 84,1%</a:t>
            </a:r>
          </a:p>
        </ns0:txBody>
      </ns0:sp>
      <ns0:sp>
        <ns0:nvSpPr>
          <ns0:cNvPr id="155" name="">
            <a:extLst>
              <a:ext uri="{FF2B5EF4-FFF2-40B4-BE49-F238E27FC236}">
                <ns2:creationId id="{0E538F93-F2AC-4A68-AC99-7CC533A9B57B}"/>
              </a:ext>
            </a:extLst>
          </ns0:cNvPr>
          <ns0:cNvSpPr>
            <a:spLocks noGrp="1"/>
          </ns0:cNvSpPr>
          <ns0:nvPr/>
        </ns0:nvSpPr>
        <ns0:spPr>
          <a:xfrm>
            <a:off x="9902825" y="2105025"/>
            <a:ext cx="1641475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emissão N/D</a:t>
            </a:r>
          </a:p>
        </ns0:txBody>
      </ns0:sp>
      <ns0:sp>
        <ns0:nvSpPr>
          <ns0:cNvPr id="156" name="">
            <a:extLst>
              <a:ext uri="{FF2B5EF4-FFF2-40B4-BE49-F238E27FC236}">
                <ns2:creationId id="{305CE971-63C6-40B2-9C3F-3D4395E9E520}"/>
              </a:ext>
            </a:extLst>
          </ns0:cNvPr>
          <ns0:cNvSpPr>
            <a:spLocks noGrp="1"/>
          </ns0:cNvSpPr>
          <ns0:nvPr/>
        </ns0:nvSpPr>
        <ns0:spPr>
          <a:xfrm>
            <a:off x="9902825" y="2286000"/>
            <a:ext cx="1641475" cy="1905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57" name="">
            <a:extLst>
              <a:ext uri="{FF2B5EF4-FFF2-40B4-BE49-F238E27FC236}">
                <ns2:creationId id="{DA2DDC40-7C06-4069-9711-E87155C6C6EE}"/>
              </a:ext>
            </a:extLst>
          </ns0:cNvPr>
          <ns0:cNvSpPr>
            <a:spLocks noGrp="1"/>
          </ns0:cNvSpPr>
          <ns0:nvPr/>
        </ns0:nvSpPr>
        <ns0:spPr>
          <a:xfrm>
            <a:off x="11515725" y="2247900"/>
            <a:ext cx="28575" cy="952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158" name="">
            <a:extLst>
              <a:ext uri="{FF2B5EF4-FFF2-40B4-BE49-F238E27FC236}">
                <ns2:creationId id="{202E6B88-5EA5-44ED-BA3B-2843D84F847B}"/>
              </a:ext>
            </a:extLst>
          </ns0:cNvPr>
          <ns0:cNvSpPr>
            <a:spLocks noGrp="1"/>
          </ns0:cNvSpPr>
          <ns0:nvPr/>
        </ns0:nvSpPr>
        <ns0:spPr>
          <a:xfrm>
            <a:off x="9826625" y="2428875"/>
            <a:ext cx="1793875" cy="685800"/>
          </a:xfrm>
          <a:prstGeom prst="rect">
            <a:avLst/>
          </a:prstGeom>
          <a:solidFill>
            <a:srgbClr val="DCEAF7"/>
          </a:solidFill>
          <a:ln w="0">
            <a:noFill/>
            <a:prstDash val="solid"/>
          </a:ln>
        </ns0:spPr>
      </ns0:sp>
      <ns0:sp>
        <ns0:nvSpPr>
          <ns0:cNvPr id="159" name="">
            <a:extLst>
              <a:ext uri="{FF2B5EF4-FFF2-40B4-BE49-F238E27FC236}">
                <ns2:creationId id="{24593AF1-F431-4CC3-A350-9135E84E3035}"/>
              </a:ext>
            </a:extLst>
          </ns0:cNvPr>
          <ns0:cNvSpPr>
            <a:spLocks noGrp="1"/>
          </ns0:cNvSpPr>
          <ns0:nvPr/>
        </ns0:nvSpPr>
        <ns0:spPr>
          <a:xfrm>
            <a:off x="9902825" y="2476500"/>
            <a:ext cx="16414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Tapso</a:t>
            </a:r>
          </a:p>
        </ns0:txBody>
      </ns0:sp>
      <ns0:sp>
        <ns0:nvSpPr>
          <ns0:cNvPr id="160" name="">
            <a:extLst>
              <a:ext uri="{FF2B5EF4-FFF2-40B4-BE49-F238E27FC236}">
                <ns2:creationId id="{84F31D8B-4436-41D6-9A12-DCF8E02970C5}"/>
              </a:ext>
            </a:extLst>
          </ns0:cNvPr>
          <ns0:cNvSpPr>
            <a:spLocks noGrp="1"/>
          </ns0:cNvSpPr>
          <ns0:nvPr/>
        </ns0:nvSpPr>
        <ns0:spPr>
          <a:xfrm>
            <a:off x="9902825" y="2686050"/>
            <a:ext cx="164147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R$ 41,5 bi · atual 100,0%</a:t>
            </a:r>
          </a:p>
        </ns0:txBody>
      </ns0:sp>
      <ns0:sp>
        <ns0:nvSpPr>
          <ns0:cNvPr id="161" name="">
            <a:extLst>
              <a:ext uri="{FF2B5EF4-FFF2-40B4-BE49-F238E27FC236}">
                <ns2:creationId id="{FCFCA2F7-E696-4140-9FA7-43B2D04A8DD1}"/>
              </a:ext>
            </a:extLst>
          </ns0:cNvPr>
          <ns0:cNvSpPr>
            <a:spLocks noGrp="1"/>
          </ns0:cNvSpPr>
          <ns0:nvPr/>
        </ns0:nvSpPr>
        <ns0:spPr>
          <a:xfrm>
            <a:off x="9902825" y="2847975"/>
            <a:ext cx="1641475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emissão N/D</a:t>
            </a:r>
          </a:p>
        </ns0:txBody>
      </ns0:sp>
      <ns0:sp>
        <ns0:nvSpPr>
          <ns0:cNvPr id="162" name="">
            <a:extLst>
              <a:ext uri="{FF2B5EF4-FFF2-40B4-BE49-F238E27FC236}">
                <ns2:creationId id="{D990F99E-322D-47D4-874E-D71BF56FD38B}"/>
              </a:ext>
            </a:extLst>
          </ns0:cNvPr>
          <ns0:cNvSpPr>
            <a:spLocks noGrp="1"/>
          </ns0:cNvSpPr>
          <ns0:nvPr/>
        </ns0:nvSpPr>
        <ns0:spPr>
          <a:xfrm>
            <a:off x="9902825" y="3028950"/>
            <a:ext cx="1641475" cy="1905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63" name="">
            <a:extLst>
              <a:ext uri="{FF2B5EF4-FFF2-40B4-BE49-F238E27FC236}">
                <ns2:creationId id="{1B51B4DF-B0A5-47EF-BE55-67B74CB34727}"/>
              </a:ext>
            </a:extLst>
          </ns0:cNvPr>
          <ns0:cNvSpPr>
            <a:spLocks noGrp="1"/>
          </ns0:cNvSpPr>
          <ns0:nvPr/>
        </ns0:nvSpPr>
        <ns0:spPr>
          <a:xfrm>
            <a:off x="11515725" y="2990850"/>
            <a:ext cx="28575" cy="952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164" name="">
            <a:extLst>
              <a:ext uri="{FF2B5EF4-FFF2-40B4-BE49-F238E27FC236}">
                <ns2:creationId id="{797B6848-433E-479A-9E63-4F61EC6E57B5}"/>
              </a:ext>
            </a:extLst>
          </ns0:cNvPr>
          <ns0:cNvSpPr>
            <a:spLocks noGrp="1"/>
          </ns0:cNvSpPr>
          <ns0:nvPr/>
        </ns0:nvSpPr>
        <ns0:spPr>
          <a:xfrm>
            <a:off x="9826625" y="3171825"/>
            <a:ext cx="1793875" cy="685800"/>
          </a:xfrm>
          <a:prstGeom prst="rect">
            <a:avLst/>
          </a:prstGeom>
          <a:solidFill>
            <a:srgbClr val="DCEAF7"/>
          </a:solidFill>
          <a:ln w="0">
            <a:noFill/>
            <a:prstDash val="solid"/>
          </a:ln>
        </ns0:spPr>
      </ns0:sp>
      <ns0:sp>
        <ns0:nvSpPr>
          <ns0:cNvPr id="165" name="">
            <a:extLst>
              <a:ext uri="{FF2B5EF4-FFF2-40B4-BE49-F238E27FC236}">
                <ns2:creationId id="{2C37EA94-C0FD-452F-9CD5-A99A801B10C3}"/>
              </a:ext>
            </a:extLst>
          </ns0:cNvPr>
          <ns0:cNvSpPr>
            <a:spLocks noGrp="1"/>
          </ns0:cNvSpPr>
          <ns0:nvPr/>
        </ns0:nvSpPr>
        <ns0:spPr>
          <a:xfrm>
            <a:off x="9902825" y="3219450"/>
            <a:ext cx="16414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PagSeguro I</a:t>
            </a:r>
          </a:p>
        </ns0:txBody>
      </ns0:sp>
      <ns0:sp>
        <ns0:nvSpPr>
          <ns0:cNvPr id="166" name="">
            <a:extLst>
              <a:ext uri="{FF2B5EF4-FFF2-40B4-BE49-F238E27FC236}">
                <ns2:creationId id="{851B272A-7FFD-484B-A4F9-C29FF2800302}"/>
              </a:ext>
            </a:extLst>
          </ns0:cNvPr>
          <ns0:cNvSpPr>
            <a:spLocks noGrp="1"/>
          </ns0:cNvSpPr>
          <ns0:nvPr/>
        </ns0:nvSpPr>
        <ns0:spPr>
          <a:xfrm>
            <a:off x="9902825" y="3429000"/>
            <a:ext cx="164147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R$ 6,2 bi · atual 63,2%</a:t>
            </a:r>
          </a:p>
        </ns0:txBody>
      </ns0:sp>
      <ns0:sp>
        <ns0:nvSpPr>
          <ns0:cNvPr id="167" name="">
            <a:extLst>
              <a:ext uri="{FF2B5EF4-FFF2-40B4-BE49-F238E27FC236}">
                <ns2:creationId id="{5D7CD352-D3FC-4638-81CF-08868D2A18C8}"/>
              </a:ext>
            </a:extLst>
          </ns0:cNvPr>
          <ns0:cNvSpPr>
            <a:spLocks noGrp="1"/>
          </ns0:cNvSpPr>
          <ns0:nvPr/>
        </ns0:nvSpPr>
        <ns0:spPr>
          <a:xfrm>
            <a:off x="9902825" y="3590925"/>
            <a:ext cx="1641475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emissão mar/26</a:t>
            </a:r>
          </a:p>
        </ns0:txBody>
      </ns0:sp>
      <ns0:sp>
        <ns0:nvSpPr>
          <ns0:cNvPr id="168" name="">
            <a:extLst>
              <a:ext uri="{FF2B5EF4-FFF2-40B4-BE49-F238E27FC236}">
                <ns2:creationId id="{B9945496-4FCC-4314-AB41-C95E0AC0A036}"/>
              </a:ext>
            </a:extLst>
          </ns0:cNvPr>
          <ns0:cNvSpPr>
            <a:spLocks noGrp="1"/>
          </ns0:cNvSpPr>
          <ns0:nvPr/>
        </ns0:nvSpPr>
        <ns0:spPr>
          <a:xfrm>
            <a:off x="9902825" y="3771900"/>
            <a:ext cx="1641475" cy="1905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69" name="">
            <a:extLst>
              <a:ext uri="{FF2B5EF4-FFF2-40B4-BE49-F238E27FC236}">
                <ns2:creationId id="{7D6473E0-17D9-479C-B9EA-9E26FAEAD85C}"/>
              </a:ext>
            </a:extLst>
          </ns0:cNvPr>
          <ns0:cNvSpPr>
            <a:spLocks noGrp="1"/>
          </ns0:cNvSpPr>
          <ns0:nvPr/>
        </ns0:nvSpPr>
        <ns0:spPr>
          <a:xfrm>
            <a:off x="11262772" y="3733800"/>
            <a:ext cx="28575" cy="952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170" name="">
            <a:extLst>
              <a:ext uri="{FF2B5EF4-FFF2-40B4-BE49-F238E27FC236}">
                <ns2:creationId id="{D9A73928-FE19-4A0D-99FA-55822613173C}"/>
              </a:ext>
            </a:extLst>
          </ns0:cNvPr>
          <ns0:cNvSpPr>
            <a:spLocks noGrp="1"/>
          </ns0:cNvSpPr>
          <ns0:nvPr/>
        </ns0:nvSpPr>
        <ns0:spPr>
          <a:xfrm>
            <a:off x="9826625" y="3914775"/>
            <a:ext cx="1793875" cy="685800"/>
          </a:xfrm>
          <a:prstGeom prst="rect">
            <a:avLst/>
          </a:prstGeom>
          <a:solidFill>
            <a:srgbClr val="F1E8D9"/>
          </a:solidFill>
          <a:ln w="0">
            <a:noFill/>
            <a:prstDash val="solid"/>
          </a:ln>
        </ns0:spPr>
      </ns0:sp>
      <ns0:sp>
        <ns0:nvSpPr>
          <ns0:cNvPr id="171" name="">
            <a:extLst>
              <a:ext uri="{FF2B5EF4-FFF2-40B4-BE49-F238E27FC236}">
                <ns2:creationId id="{6375462C-0302-4223-98F5-B54A8E9C28FA}"/>
              </a:ext>
            </a:extLst>
          </ns0:cNvPr>
          <ns0:cNvSpPr>
            <a:spLocks noGrp="1"/>
          </ns0:cNvSpPr>
          <ns0:nvPr/>
        </ns0:nvSpPr>
        <ns0:spPr>
          <a:xfrm>
            <a:off x="9902825" y="3962400"/>
            <a:ext cx="16414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Fratto</a:t>
            </a:r>
          </a:p>
        </ns0:txBody>
      </ns0:sp>
      <ns0:sp>
        <ns0:nvSpPr>
          <ns0:cNvPr id="172" name="">
            <a:extLst>
              <a:ext uri="{FF2B5EF4-FFF2-40B4-BE49-F238E27FC236}">
                <ns2:creationId id="{958F0A77-CB9D-451A-8BAB-B3C202E3D0A6}"/>
              </a:ext>
            </a:extLst>
          </ns0:cNvPr>
          <ns0:cNvSpPr>
            <a:spLocks noGrp="1"/>
          </ns0:cNvSpPr>
          <ns0:nvPr/>
        </ns0:nvSpPr>
        <ns0:spPr>
          <a:xfrm>
            <a:off x="9902825" y="4171950"/>
            <a:ext cx="164147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R$ 103,6 mi · atual 90,3%</a:t>
            </a:r>
          </a:p>
        </ns0:txBody>
      </ns0:sp>
      <ns0:sp>
        <ns0:nvSpPr>
          <ns0:cNvPr id="173" name="">
            <a:extLst>
              <a:ext uri="{FF2B5EF4-FFF2-40B4-BE49-F238E27FC236}">
                <ns2:creationId id="{D8B9D430-E4D2-4143-8023-BB3FD7C29896}"/>
              </a:ext>
            </a:extLst>
          </ns0:cNvPr>
          <ns0:cNvSpPr>
            <a:spLocks noGrp="1"/>
          </ns0:cNvSpPr>
          <ns0:nvPr/>
        </ns0:nvSpPr>
        <ns0:spPr>
          <a:xfrm>
            <a:off x="9902825" y="4333875"/>
            <a:ext cx="1641475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emissão N/D</a:t>
            </a:r>
          </a:p>
        </ns0:txBody>
      </ns0:sp>
      <ns0:sp>
        <ns0:nvSpPr>
          <ns0:cNvPr id="174" name="">
            <a:extLst>
              <a:ext uri="{FF2B5EF4-FFF2-40B4-BE49-F238E27FC236}">
                <ns2:creationId id="{FCE91C90-F06A-4DF0-B144-8F595E671B59}"/>
              </a:ext>
            </a:extLst>
          </ns0:cNvPr>
          <ns0:cNvSpPr>
            <a:spLocks noGrp="1"/>
          </ns0:cNvSpPr>
          <ns0:nvPr/>
        </ns0:nvSpPr>
        <ns0:spPr>
          <a:xfrm>
            <a:off x="9902825" y="4514850"/>
            <a:ext cx="1641475" cy="1905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75" name="">
            <a:extLst>
              <a:ext uri="{FF2B5EF4-FFF2-40B4-BE49-F238E27FC236}">
                <ns2:creationId id="{2E80E3EF-7EBF-4BB7-8977-FD008185954D}"/>
              </a:ext>
            </a:extLst>
          </ns0:cNvPr>
          <ns0:cNvSpPr>
            <a:spLocks noGrp="1"/>
          </ns0:cNvSpPr>
          <ns0:nvPr/>
        </ns0:nvSpPr>
        <ns0:spPr>
          <a:xfrm>
            <a:off x="11515725" y="4476750"/>
            <a:ext cx="28575" cy="952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176" name="">
            <a:extLst>
              <a:ext uri="{FF2B5EF4-FFF2-40B4-BE49-F238E27FC236}">
                <ns2:creationId id="{36F58126-B0DE-4BF4-AA06-9FFD5FEE6BAE}"/>
              </a:ext>
            </a:extLst>
          </ns0:cNvPr>
          <ns0:cNvSpPr>
            <a:spLocks noGrp="1"/>
          </ns0:cNvSpPr>
          <ns0:nvPr/>
        </ns0:nvSpPr>
        <ns0:spPr>
          <a:xfrm>
            <a:off x="571500" y="6191250"/>
            <a:ext cx="95250" cy="95250"/>
          </a:xfrm>
          <a:prstGeom prst="rect">
            <a:avLst/>
          </a:prstGeom>
          <a:solidFill>
            <a:srgbClr val="DCEAF7"/>
          </a:solidFill>
          <a:ln w="0">
            <a:noFill/>
            <a:prstDash val="solid"/>
          </a:ln>
        </ns0:spPr>
      </ns0:sp>
      <ns0:sp>
        <ns0:nvSpPr>
          <ns0:cNvPr id="177" name="">
            <a:extLst>
              <a:ext uri="{FF2B5EF4-FFF2-40B4-BE49-F238E27FC236}">
                <ns2:creationId id="{A75641BC-5058-40F4-8CB9-977EB89DD579}"/>
              </a:ext>
            </a:extLst>
          </ns0:cNvPr>
          <ns0:cNvSpPr>
            <a:spLocks noGrp="1"/>
          </ns0:cNvSpPr>
          <ns0:nvPr/>
        </ns0:nvSpPr>
        <ns0:spPr>
          <a:xfrm>
            <a:off x="704850" y="6162675"/>
            <a:ext cx="629603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1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1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Adquirência</a:t>
            </a:r>
          </a:p>
        </ns0:txBody>
      </ns0:sp>
      <ns0:sp>
        <ns0:nvSpPr>
          <ns0:cNvPr id="178" name="">
            <a:extLst>
              <a:ext uri="{FF2B5EF4-FFF2-40B4-BE49-F238E27FC236}">
                <ns2:creationId id="{DB2A81C0-C4FF-44BA-8ED6-D8919D270B35}"/>
              </a:ext>
            </a:extLst>
          </ns0:cNvPr>
          <ns0:cNvSpPr>
            <a:spLocks noGrp="1"/>
          </ns0:cNvSpPr>
          <ns0:nvPr/>
        </ns0:nvSpPr>
        <ns0:spPr>
          <a:xfrm>
            <a:off x="1334453" y="6191250"/>
            <a:ext cx="95250" cy="95250"/>
          </a:xfrm>
          <a:prstGeom prst="rect">
            <a:avLst/>
          </a:prstGeom>
          <a:solidFill>
            <a:srgbClr val="DDEEDB"/>
          </a:solidFill>
          <a:ln w="0">
            <a:noFill/>
            <a:prstDash val="solid"/>
          </a:ln>
        </ns0:spPr>
      </ns0:sp>
      <ns0:sp>
        <ns0:nvSpPr>
          <ns0:cNvPr id="179" name="">
            <a:extLst>
              <a:ext uri="{FF2B5EF4-FFF2-40B4-BE49-F238E27FC236}">
                <ns2:creationId id="{72E577FD-C0E6-4A3C-B9EF-3C2FC266DD35}"/>
              </a:ext>
            </a:extLst>
          </ns0:cNvPr>
          <ns0:cNvSpPr>
            <a:spLocks noGrp="1"/>
          </ns0:cNvSpPr>
          <ns0:nvPr/>
        </ns0:nvSpPr>
        <ns0:spPr>
          <a:xfrm>
            <a:off x="1467803" y="6162675"/>
            <a:ext cx="823913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1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1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Consignado INSS</a:t>
            </a:r>
          </a:p>
        </ns0:txBody>
      </ns0:sp>
      <ns0:sp>
        <ns0:nvSpPr>
          <ns0:cNvPr id="180" name="">
            <a:extLst>
              <a:ext uri="{FF2B5EF4-FFF2-40B4-BE49-F238E27FC236}">
                <ns2:creationId id="{AD1CA81E-4C74-4D79-B716-DD2D3DC403AF}"/>
              </a:ext>
            </a:extLst>
          </ns0:cNvPr>
          <ns0:cNvSpPr>
            <a:spLocks noGrp="1"/>
          </ns0:cNvSpPr>
          <ns0:nvPr/>
        </ns0:nvSpPr>
        <ns0:spPr>
          <a:xfrm>
            <a:off x="2291715" y="6191250"/>
            <a:ext cx="95250" cy="95250"/>
          </a:xfrm>
          <a:prstGeom prst="rect">
            <a:avLst/>
          </a:prstGeom>
          <a:solidFill>
            <a:srgbClr val="F8E7BF"/>
          </a:solidFill>
          <a:ln w="0">
            <a:noFill/>
            <a:prstDash val="solid"/>
          </a:ln>
        </ns0:spPr>
      </ns0:sp>
      <ns0:sp>
        <ns0:nvSpPr>
          <ns0:cNvPr id="181" name="">
            <a:extLst>
              <a:ext uri="{FF2B5EF4-FFF2-40B4-BE49-F238E27FC236}">
                <ns2:creationId id="{2CCE2086-7248-4512-B7CE-44F10B529143}"/>
              </a:ext>
            </a:extLst>
          </ns0:cNvPr>
          <ns0:cNvSpPr>
            <a:spLocks noGrp="1"/>
          </ns0:cNvSpPr>
          <ns0:nvPr/>
        </ns0:nvSpPr>
        <ns0:spPr>
          <a:xfrm>
            <a:off x="2425065" y="6162675"/>
            <a:ext cx="823913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1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1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Consignado FGTS</a:t>
            </a:r>
          </a:p>
        </ns0:txBody>
      </ns0:sp>
      <ns0:sp>
        <ns0:nvSpPr>
          <ns0:cNvPr id="182" name="">
            <a:extLst>
              <a:ext uri="{FF2B5EF4-FFF2-40B4-BE49-F238E27FC236}">
                <ns2:creationId id="{F2EF4867-1C69-44CF-B74D-8897DCCB5CA1}"/>
              </a:ext>
            </a:extLst>
          </ns0:cNvPr>
          <ns0:cNvSpPr>
            <a:spLocks noGrp="1"/>
          </ns0:cNvSpPr>
          <ns0:nvPr/>
        </ns0:nvSpPr>
        <ns0:spPr>
          <a:xfrm>
            <a:off x="3248978" y="6191250"/>
            <a:ext cx="95250" cy="95250"/>
          </a:xfrm>
          <a:prstGeom prst="rect">
            <a:avLst/>
          </a:prstGeom>
          <a:solidFill>
            <a:srgbClr val="E8E2F3"/>
          </a:solidFill>
          <a:ln w="0">
            <a:noFill/>
            <a:prstDash val="solid"/>
          </a:ln>
        </ns0:spPr>
      </ns0:sp>
      <ns0:sp>
        <ns0:nvSpPr>
          <ns0:cNvPr id="183" name="">
            <a:extLst>
              <a:ext uri="{FF2B5EF4-FFF2-40B4-BE49-F238E27FC236}">
                <ns2:creationId id="{B86EC0D5-3022-46CB-BD49-6B3EBA978F3F}"/>
              </a:ext>
            </a:extLst>
          </ns0:cNvPr>
          <ns0:cNvSpPr>
            <a:spLocks noGrp="1"/>
          </ns0:cNvSpPr>
          <ns0:nvPr/>
        </ns0:nvSpPr>
        <ns0:spPr>
          <a:xfrm>
            <a:off x="3382328" y="6162675"/>
            <a:ext cx="77533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1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1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Consignado CLT</a:t>
            </a:r>
          </a:p>
        </ns0:txBody>
      </ns0:sp>
      <ns0:sp>
        <ns0:nvSpPr>
          <ns0:cNvPr id="184" name="">
            <a:extLst>
              <a:ext uri="{FF2B5EF4-FFF2-40B4-BE49-F238E27FC236}">
                <ns2:creationId id="{30225913-7624-44E1-A9E6-9C43DAC28623}"/>
              </a:ext>
            </a:extLst>
          </ns0:cNvPr>
          <ns0:cNvSpPr>
            <a:spLocks noGrp="1"/>
          </ns0:cNvSpPr>
          <ns0:nvPr/>
        </ns0:nvSpPr>
        <ns0:spPr>
          <a:xfrm>
            <a:off x="4157663" y="6191250"/>
            <a:ext cx="95250" cy="95250"/>
          </a:xfrm>
          <a:prstGeom prst="rect">
            <a:avLst/>
          </a:prstGeom>
          <a:solidFill>
            <a:srgbClr val="F3E0E8"/>
          </a:solidFill>
          <a:ln w="0">
            <a:noFill/>
            <a:prstDash val="solid"/>
          </a:ln>
        </ns0:spPr>
      </ns0:sp>
      <ns0:sp>
        <ns0:nvSpPr>
          <ns0:cNvPr id="185" name="">
            <a:extLst>
              <a:ext uri="{FF2B5EF4-FFF2-40B4-BE49-F238E27FC236}">
                <ns2:creationId id="{96238419-DE9C-4271-8B6F-EB05F6CFB7CB}"/>
              </a:ext>
            </a:extLst>
          </ns0:cNvPr>
          <ns0:cNvSpPr>
            <a:spLocks noGrp="1"/>
          </ns0:cNvSpPr>
          <ns0:nvPr/>
        </ns0:nvSpPr>
        <ns0:spPr>
          <a:xfrm>
            <a:off x="4291013" y="6162675"/>
            <a:ext cx="1018222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1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1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Consignado estadual</a:t>
            </a:r>
          </a:p>
        </ns0:txBody>
      </ns0:sp>
      <ns0:sp>
        <ns0:nvSpPr>
          <ns0:cNvPr id="186" name="">
            <a:extLst>
              <a:ext uri="{FF2B5EF4-FFF2-40B4-BE49-F238E27FC236}">
                <ns2:creationId id="{7B74C4AB-BEBE-4CD6-B991-126914D3EBF9}"/>
              </a:ext>
            </a:extLst>
          </ns0:cNvPr>
          <ns0:cNvSpPr>
            <a:spLocks noGrp="1"/>
          </ns0:cNvSpPr>
          <ns0:nvPr/>
        </ns0:nvSpPr>
        <ns0:spPr>
          <a:xfrm>
            <a:off x="5309235" y="6191250"/>
            <a:ext cx="95250" cy="95250"/>
          </a:xfrm>
          <a:prstGeom prst="rect">
            <a:avLst/>
          </a:prstGeom>
          <a:solidFill>
            <a:srgbClr val="E1E9EF"/>
          </a:solidFill>
          <a:ln w="0">
            <a:noFill/>
            <a:prstDash val="solid"/>
          </a:ln>
        </ns0:spPr>
      </ns0:sp>
      <ns0:sp>
        <ns0:nvSpPr>
          <ns0:cNvPr id="187" name="">
            <a:extLst>
              <a:ext uri="{FF2B5EF4-FFF2-40B4-BE49-F238E27FC236}">
                <ns2:creationId id="{7A965174-E46B-48C4-A507-50E8C5E56769}"/>
              </a:ext>
            </a:extLst>
          </ns0:cNvPr>
          <ns0:cNvSpPr>
            <a:spLocks noGrp="1"/>
          </ns0:cNvSpPr>
          <ns0:nvPr/>
        </ns0:nvSpPr>
        <ns0:spPr>
          <a:xfrm>
            <a:off x="5442585" y="6162675"/>
            <a:ext cx="6096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1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1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Veículos</a:t>
            </a:r>
          </a:p>
        </ns0:txBody>
      </ns0:sp>
      <ns0:sp>
        <ns0:nvSpPr>
          <ns0:cNvPr id="188" name="">
            <a:extLst>
              <a:ext uri="{FF2B5EF4-FFF2-40B4-BE49-F238E27FC236}">
                <ns2:creationId id="{2CECA34D-CC4C-423E-964F-07B596490FC5}"/>
              </a:ext>
            </a:extLst>
          </ns0:cNvPr>
          <ns0:cNvSpPr>
            <a:spLocks noGrp="1"/>
          </ns0:cNvSpPr>
          <ns0:nvPr/>
        </ns0:nvSpPr>
        <ns0:spPr>
          <a:xfrm>
            <a:off x="6052185" y="6191250"/>
            <a:ext cx="95250" cy="95250"/>
          </a:xfrm>
          <a:prstGeom prst="rect">
            <a:avLst/>
          </a:prstGeom>
          <a:solidFill>
            <a:srgbClr val="ECE2F1"/>
          </a:solidFill>
          <a:ln w="0">
            <a:noFill/>
            <a:prstDash val="solid"/>
          </a:ln>
        </ns0:spPr>
      </ns0:sp>
      <ns0:sp>
        <ns0:nvSpPr>
          <ns0:cNvPr id="189" name="">
            <a:extLst>
              <a:ext uri="{FF2B5EF4-FFF2-40B4-BE49-F238E27FC236}">
                <ns2:creationId id="{7F8A6910-54E9-45FC-85AA-ACCC96263E7E}"/>
              </a:ext>
            </a:extLst>
          </ns0:cNvPr>
          <ns0:cNvSpPr>
            <a:spLocks noGrp="1"/>
          </ns0:cNvSpPr>
          <ns0:nvPr/>
        </ns0:nvSpPr>
        <ns0:spPr>
          <a:xfrm>
            <a:off x="6185535" y="6162675"/>
            <a:ext cx="921067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1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1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Cartão consignado</a:t>
            </a:r>
          </a:p>
        </ns0:txBody>
      </ns0:sp>
      <ns0:sp>
        <ns0:nvSpPr>
          <ns0:cNvPr id="190" name="">
            <a:extLst>
              <a:ext uri="{FF2B5EF4-FFF2-40B4-BE49-F238E27FC236}">
                <ns2:creationId id="{A7CBF4DC-CFE3-4AEF-B878-C4C07025220F}"/>
              </a:ext>
            </a:extLst>
          </ns0:cNvPr>
          <ns0:cNvSpPr>
            <a:spLocks noGrp="1"/>
          </ns0:cNvSpPr>
          <ns0:nvPr/>
        </ns0:nvSpPr>
        <ns0:spPr>
          <a:xfrm>
            <a:off x="7106602" y="6191250"/>
            <a:ext cx="95250" cy="95250"/>
          </a:xfrm>
          <a:prstGeom prst="rect">
            <a:avLst/>
          </a:prstGeom>
          <a:solidFill>
            <a:srgbClr val="F1E8D9"/>
          </a:solidFill>
          <a:ln w="0">
            <a:noFill/>
            <a:prstDash val="solid"/>
          </a:ln>
        </ns0:spPr>
      </ns0:sp>
      <ns0:sp>
        <ns0:nvSpPr>
          <ns0:cNvPr id="191" name="">
            <a:extLst>
              <a:ext uri="{FF2B5EF4-FFF2-40B4-BE49-F238E27FC236}">
                <ns2:creationId id="{1DCBEA34-AE49-4B0E-AB20-888A3D3CD894}"/>
              </a:ext>
            </a:extLst>
          </ns0:cNvPr>
          <ns0:cNvSpPr>
            <a:spLocks noGrp="1"/>
          </ns0:cNvSpPr>
          <ns0:nvPr/>
        </ns0:nvSpPr>
        <ns0:spPr>
          <a:xfrm>
            <a:off x="7239952" y="6162675"/>
            <a:ext cx="6096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1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1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Factoring</a:t>
            </a:r>
          </a:p>
        </ns0:txBody>
      </ns0:sp>
      <ns0:sp>
        <ns0:nvSpPr>
          <ns0:cNvPr id="192" name="">
            <a:extLst>
              <a:ext uri="{FF2B5EF4-FFF2-40B4-BE49-F238E27FC236}">
                <ns2:creationId id="{8E39ACC0-88F7-466A-8D51-AF802A64E420}"/>
              </a:ext>
            </a:extLst>
          </ns0:cNvPr>
          <ns0:cNvSpPr>
            <a:spLocks noGrp="1"/>
          </ns0:cNvSpPr>
          <ns0:nvPr/>
        </ns0:nvSpPr>
        <ns0:spPr>
          <a:xfrm>
            <a:off x="7849552" y="6191250"/>
            <a:ext cx="95250" cy="95250"/>
          </a:xfrm>
          <a:prstGeom prst="rect">
            <a:avLst/>
          </a:prstGeom>
          <a:solidFill>
            <a:srgbClr val="DDEDEA"/>
          </a:solidFill>
          <a:ln w="0">
            <a:noFill/>
            <a:prstDash val="solid"/>
          </a:ln>
        </ns0:spPr>
      </ns0:sp>
      <ns0:sp>
        <ns0:nvSpPr>
          <ns0:cNvPr id="193" name="">
            <a:extLst>
              <a:ext uri="{FF2B5EF4-FFF2-40B4-BE49-F238E27FC236}">
                <ns2:creationId id="{C5CA772C-BE7B-42FE-A564-091C0E690A92}"/>
              </a:ext>
            </a:extLst>
          </ns0:cNvPr>
          <ns0:cNvSpPr>
            <a:spLocks noGrp="1"/>
          </ns0:cNvSpPr>
          <ns0:nvPr/>
        </ns0:nvSpPr>
        <ns0:spPr>
          <a:xfrm>
            <a:off x="7982902" y="6162675"/>
            <a:ext cx="6096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1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1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Crédito PJ</a:t>
            </a:r>
          </a:p>
        </ns0:txBody>
      </ns0:sp>
    </ns0:spTree>
    <ns0:extLst>
      <ns0:ext uri="{BB962C8B-B14F-4D97-AF65-F5344CB8AC3E}">
        <ns3:creationId val="304558229"/>
      </ns0:ext>
    </ns0:extLst>
  </ns0:cSld>
</ns0:sld>
</file>

<file path=ppt/slides/slide15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44" name="">
            <a:extLst>
              <a:ext uri="{FF2B5EF4-FFF2-40B4-BE49-F238E27FC236}">
                <ns2:creationId id="{EA1E8C5E-9DE1-464F-8A96-0E9F88D8BCF4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CARTEIRA 1 VS. 47 CNPJS FLAGSHIP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AF831B73-435B-49C9-AD62-14A91F94C125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95729"/>
          </a:bodyPr>
          <a:lstStyle/>
          <a:p>
            <a:pPr algn="l">
              <a:lnSpc>
                <a:spcPct val="100000"/>
              </a:lnSpc>
              <a:buNone/>
              <a:def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O perfil aceito é comparado por sacado e pela mediana da subordinação atual dentro de cada tipo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429819D9-E081-4FD5-BDAF-D67932B8D37D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20AD852D-6B36-479A-AD64-C3FCE02738C3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A0E3CAB0-8B91-422E-AAB4-A20C0A235B4C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CVM, Informe Mensal, jun/26; taxonomia analítica e curadoria documental por CNPJ. N/D permanece ausente.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4D32764A-A2B4-451E-A78C-4D8A2EA9D668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15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217503CA-3A86-41A5-97B7-F5BA1E7CEE94}"/>
              </a:ext>
            </a:extLst>
          </ns0:cNvPr>
          <ns0:cNvSpPr>
            <a:spLocks noGrp="1"/>
          </ns0:cNvSpPr>
          <ns0:nvPr/>
        </ns0:nvSpPr>
        <ns0:spPr>
          <a:xfrm>
            <a:off x="571500" y="1257300"/>
            <a:ext cx="5334000" cy="1133475"/>
          </a:xfrm>
          <a:prstGeom prst="rect">
            <a:avLst/>
          </a:prstGeom>
          <a:solidFill>
            <a:srgbClr val="F1E8D9"/>
          </a:solidFill>
          <a:ln w="0">
            <a:noFill/>
            <a:prstDash val="solid"/>
          </a:ln>
        </ns0:spPr>
      </ns0:sp>
      <ns0:sp>
        <ns0:nvSpPr>
          <ns0:cNvPr id="8" name="">
            <a:extLst>
              <a:ext uri="{FF2B5EF4-FFF2-40B4-BE49-F238E27FC236}">
                <ns2:creationId id="{47C0BDA8-0A15-4E7D-A985-60E11BADDF16}"/>
              </a:ext>
            </a:extLst>
          </ns0:cNvPr>
          <ns0:cNvSpPr>
            <a:spLocks noGrp="1"/>
          </ns0:cNvSpPr>
          <ns0:nvPr/>
        </ns0:nvSpPr>
        <ns0:spPr>
          <a:xfrm>
            <a:off x="666750" y="1323975"/>
            <a:ext cx="51435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23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23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FOMENTO MERCANTIL · FACTORING</a:t>
            </a:r>
          </a:p>
        </ns0:txBody>
      </ns0:sp>
      <ns0:graphicFrame>
        <ns0:nvGraphicFramePr>
          <ns0:cNvPr id="52" name=""/>
          <ns0:cNvGraphicFramePr/>
          <ns0:nvPr/>
        </ns0:nvGraphicFramePr>
        <ns0:xfrm>
          <a:off x="666750" y="1514475"/>
          <a:ext cx="5143500" cy="514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1238250"/>
                <a:gridCol w="523875"/>
                <a:gridCol w="904875"/>
                <a:gridCol w="2476500"/>
              </a:tblGrid>
              <a:tr h="1619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72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Referência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72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72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72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Subord. mediana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7621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1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Carteira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4/5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R$ 7,5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46,5%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17621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1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 flagships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2/2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R$ 214,6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46,2%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EF46B0BD-C5DD-49A7-8E46-7AAE958ABC0A}"/>
              </a:ext>
            </a:extLst>
          </ns0:cNvPr>
          <ns0:cNvSpPr>
            <a:spLocks noGrp="1"/>
          </ns0:cNvSpPr>
          <ns0:nvPr/>
        </ns0:nvSpPr>
        <ns0:spPr>
          <a:xfrm>
            <a:off x="666750" y="2066925"/>
            <a:ext cx="5143500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54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Risco aceito: Multicedente / multisacado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51D4B478-C17C-44B6-A9C2-C9CF639BE4C2}"/>
              </a:ext>
            </a:extLst>
          </ns0:cNvPr>
          <ns0:cNvSpPr>
            <a:spLocks noGrp="1"/>
          </ns0:cNvSpPr>
          <ns0:nvPr/>
        </ns0:nvSpPr>
        <ns0:spPr>
          <a:xfrm>
            <a:off x="666750" y="2219325"/>
            <a:ext cx="5143500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3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3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Em linha · diferença de até 2 p.p.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E597E9C4-0E6D-46A6-8B8F-39C6C26D2BA5}"/>
              </a:ext>
            </a:extLst>
          </ns0:cNvPr>
          <ns0:cNvSpPr>
            <a:spLocks noGrp="1"/>
          </ns0:cNvSpPr>
          <ns0:nvPr/>
        </ns0:nvSpPr>
        <ns0:spPr>
          <a:xfrm>
            <a:off x="571500" y="2457450"/>
            <a:ext cx="5334000" cy="11334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13" name="">
            <a:extLst>
              <a:ext uri="{FF2B5EF4-FFF2-40B4-BE49-F238E27FC236}">
                <ns2:creationId id="{5A1C3869-3D38-46A5-A15E-CB5B0FFC63F1}"/>
              </a:ext>
            </a:extLst>
          </ns0:cNvPr>
          <ns0:cNvSpPr>
            <a:spLocks noGrp="1"/>
          </ns0:cNvSpPr>
          <ns0:nvPr/>
        </ns0:nvSpPr>
        <ns0:spPr>
          <a:xfrm>
            <a:off x="666750" y="2524125"/>
            <a:ext cx="51435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23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23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 · AGRO / REVENDA</a:t>
            </a:r>
          </a:p>
        </ns0:txBody>
      </ns0:sp>
      <ns0:graphicFrame>
        <ns0:nvGraphicFramePr>
          <ns0:cNvPr id="57" name=""/>
          <ns0:cNvGraphicFramePr/>
          <ns0:nvPr/>
        </ns0:nvGraphicFramePr>
        <ns0:xfrm>
          <a:off x="666750" y="2714625"/>
          <a:ext cx="5143500" cy="514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1238250"/>
                <a:gridCol w="523875"/>
                <a:gridCol w="904875"/>
                <a:gridCol w="2476500"/>
              </a:tblGrid>
              <a:tr h="1619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72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Referência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72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72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72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Subord. mediana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7621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1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Carteira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34/54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R$ 13,5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34,4%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17621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1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 flagships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0/0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sp>
        <ns0:nvSpPr>
          <ns0:cNvPr id="15" name="">
            <a:extLst>
              <a:ext uri="{FF2B5EF4-FFF2-40B4-BE49-F238E27FC236}">
                <ns2:creationId id="{5CAC4A75-04A5-4374-A422-BFF49A5A9CD1}"/>
              </a:ext>
            </a:extLst>
          </ns0:cNvPr>
          <ns0:cNvSpPr>
            <a:spLocks noGrp="1"/>
          </ns0:cNvSpPr>
          <ns0:nvPr/>
        </ns0:nvSpPr>
        <ns0:spPr>
          <a:xfrm>
            <a:off x="666750" y="3267075"/>
            <a:ext cx="5143500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54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Risco aceito: Sacado corporativo / revenda</a:t>
            </a:r>
          </a:p>
        </ns0:txBody>
      </ns0:sp>
      <ns0:sp>
        <ns0:nvSpPr>
          <ns0:cNvPr id="16" name="">
            <a:extLst>
              <a:ext uri="{FF2B5EF4-FFF2-40B4-BE49-F238E27FC236}">
                <ns2:creationId id="{169739DF-A69B-4596-94C9-589658D43E8E}"/>
              </a:ext>
            </a:extLst>
          </ns0:cNvPr>
          <ns0:cNvSpPr>
            <a:spLocks noGrp="1"/>
          </ns0:cNvSpPr>
          <ns0:nvPr/>
        </ns0:nvSpPr>
        <ns0:spPr>
          <a:xfrm>
            <a:off x="666750" y="3419475"/>
            <a:ext cx="5143500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3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3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N/D — comparação estrutural incompleta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E2C699A5-475D-44E4-BD50-688ADF63E380}"/>
              </a:ext>
            </a:extLst>
          </ns0:cNvPr>
          <ns0:cNvSpPr>
            <a:spLocks noGrp="1"/>
          </ns0:cNvSpPr>
          <ns0:nvPr/>
        </ns0:nvSpPr>
        <ns0:spPr>
          <a:xfrm>
            <a:off x="571500" y="3657600"/>
            <a:ext cx="5334000" cy="1133475"/>
          </a:xfrm>
          <a:prstGeom prst="rect">
            <a:avLst/>
          </a:prstGeom>
          <a:solidFill>
            <a:srgbClr val="DCEAF7"/>
          </a:solidFill>
          <a:ln w="0">
            <a:noFill/>
            <a:prstDash val="solid"/>
          </a:ln>
        </ns0:spPr>
      </ns0:sp>
      <ns0:sp>
        <ns0:nvSpPr>
          <ns0:cNvPr id="18" name="">
            <a:extLst>
              <a:ext uri="{FF2B5EF4-FFF2-40B4-BE49-F238E27FC236}">
                <ns2:creationId id="{7D74E149-90D8-4165-926F-43FC6BFDAF06}"/>
              </a:ext>
            </a:extLst>
          </ns0:cNvPr>
          <ns0:cNvSpPr>
            <a:spLocks noGrp="1"/>
          </ns0:cNvSpPr>
          <ns0:nvPr/>
        </ns0:nvSpPr>
        <ns0:spPr>
          <a:xfrm>
            <a:off x="666750" y="3724275"/>
            <a:ext cx="51435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23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23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ADQUIRÊNCIA</a:t>
            </a:r>
          </a:p>
        </ns0:txBody>
      </ns0:sp>
      <ns0:graphicFrame>
        <ns0:nvGraphicFramePr>
          <ns0:cNvPr id="62" name=""/>
          <ns0:cNvGraphicFramePr/>
          <ns0:nvPr/>
        </ns0:nvGraphicFramePr>
        <ns0:xfrm>
          <a:off x="666750" y="3914775"/>
          <a:ext cx="5143500" cy="514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1238250"/>
                <a:gridCol w="523875"/>
                <a:gridCol w="904875"/>
                <a:gridCol w="2476500"/>
              </a:tblGrid>
              <a:tr h="1619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72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Referência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72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72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72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Subord. mediana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7621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1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Carteira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3/6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R$ 10,2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51,3%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17621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1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 flagships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15/15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R$ 84,4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sp>
        <ns0:nvSpPr>
          <ns0:cNvPr id="20" name="">
            <a:extLst>
              <a:ext uri="{FF2B5EF4-FFF2-40B4-BE49-F238E27FC236}">
                <ns2:creationId id="{BB5D21DB-FF10-4241-AA3D-507755484D74}"/>
              </a:ext>
            </a:extLst>
          </ns0:cNvPr>
          <ns0:cNvSpPr>
            <a:spLocks noGrp="1"/>
          </ns0:cNvSpPr>
          <ns0:nvPr/>
        </ns0:nvSpPr>
        <ns0:spPr>
          <a:xfrm>
            <a:off x="666750" y="4467225"/>
            <a:ext cx="5143500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54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Risco aceito: Banco emissor e adquirente corporativo</a:t>
            </a:r>
          </a:p>
        </ns0:txBody>
      </ns0:sp>
      <ns0:sp>
        <ns0:nvSpPr>
          <ns0:cNvPr id="21" name="">
            <a:extLst>
              <a:ext uri="{FF2B5EF4-FFF2-40B4-BE49-F238E27FC236}">
                <ns2:creationId id="{52CB9C06-C563-4544-BD6C-5A3B209DDF01}"/>
              </a:ext>
            </a:extLst>
          </ns0:cNvPr>
          <ns0:cNvSpPr>
            <a:spLocks noGrp="1"/>
          </ns0:cNvSpPr>
          <ns0:nvPr/>
        </ns0:nvSpPr>
        <ns0:spPr>
          <a:xfrm>
            <a:off x="666750" y="4619625"/>
            <a:ext cx="5143500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3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3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Menos risco estrutural · maior subordinação</a:t>
            </a:r>
          </a:p>
        </ns0:txBody>
      </ns0:sp>
      <ns0:sp>
        <ns0:nvSpPr>
          <ns0:cNvPr id="22" name="">
            <a:extLst>
              <a:ext uri="{FF2B5EF4-FFF2-40B4-BE49-F238E27FC236}">
                <ns2:creationId id="{DE569DA4-E9DC-42F7-8492-3CDF0AFFDEB1}"/>
              </a:ext>
            </a:extLst>
          </ns0:cNvPr>
          <ns0:cNvSpPr>
            <a:spLocks noGrp="1"/>
          </ns0:cNvSpPr>
          <ns0:nvPr/>
        </ns0:nvSpPr>
        <ns0:spPr>
          <a:xfrm>
            <a:off x="571500" y="4857750"/>
            <a:ext cx="5334000" cy="1133475"/>
          </a:xfrm>
          <a:prstGeom prst="rect">
            <a:avLst/>
          </a:prstGeom>
          <a:solidFill>
            <a:srgbClr val="DDEEDB"/>
          </a:solidFill>
          <a:ln w="0">
            <a:noFill/>
            <a:prstDash val="solid"/>
          </a:ln>
        </ns0:spPr>
      </ns0:sp>
      <ns0:sp>
        <ns0:nvSpPr>
          <ns0:cNvPr id="23" name="">
            <a:extLst>
              <a:ext uri="{FF2B5EF4-FFF2-40B4-BE49-F238E27FC236}">
                <ns2:creationId id="{5ECC2C4C-419C-40BD-AD10-CD3B1596D4D8}"/>
              </a:ext>
            </a:extLst>
          </ns0:cNvPr>
          <ns0:cNvSpPr>
            <a:spLocks noGrp="1"/>
          </ns0:cNvSpPr>
          <ns0:nvPr/>
        </ns0:nvSpPr>
        <ns0:spPr>
          <a:xfrm>
            <a:off x="666750" y="4924425"/>
            <a:ext cx="51435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23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23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CONSIGNADO INSS</a:t>
            </a:r>
          </a:p>
        </ns0:txBody>
      </ns0:sp>
      <ns0:graphicFrame>
        <ns0:nvGraphicFramePr>
          <ns0:cNvPr id="67" name=""/>
          <ns0:cNvGraphicFramePr/>
          <ns0:nvPr/>
        </ns0:nvGraphicFramePr>
        <ns0:xfrm>
          <a:off x="666750" y="5114925"/>
          <a:ext cx="5143500" cy="514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1238250"/>
                <a:gridCol w="523875"/>
                <a:gridCol w="904875"/>
                <a:gridCol w="2476500"/>
              </a:tblGrid>
              <a:tr h="1619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72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Referência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72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72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72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Subord. mediana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7621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1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Carteira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3/5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R$ 7,9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14,9%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17621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1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 flagships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5/5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R$ 5,8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16,1%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sp>
        <ns0:nvSpPr>
          <ns0:cNvPr id="25" name="">
            <a:extLst>
              <a:ext uri="{FF2B5EF4-FFF2-40B4-BE49-F238E27FC236}">
                <ns2:creationId id="{812A8344-0877-4451-8E0F-DF4A23CCEF3A}"/>
              </a:ext>
            </a:extLst>
          </ns0:cNvPr>
          <ns0:cNvSpPr>
            <a:spLocks noGrp="1"/>
          </ns0:cNvSpPr>
          <ns0:nvPr/>
        </ns0:nvSpPr>
        <ns0:spPr>
          <a:xfrm>
            <a:off x="666750" y="5667375"/>
            <a:ext cx="5143500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54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Risco aceito: Crédito consignado INSS</a:t>
            </a:r>
          </a:p>
        </ns0:txBody>
      </ns0:sp>
      <ns0:sp>
        <ns0:nvSpPr>
          <ns0:cNvPr id="26" name="">
            <a:extLst>
              <a:ext uri="{FF2B5EF4-FFF2-40B4-BE49-F238E27FC236}">
                <ns2:creationId id="{A67D34AC-A919-4769-916C-57C6FC85334F}"/>
              </a:ext>
            </a:extLst>
          </ns0:cNvPr>
          <ns0:cNvSpPr>
            <a:spLocks noGrp="1"/>
          </ns0:cNvSpPr>
          <ns0:nvPr/>
        </ns0:nvSpPr>
        <ns0:spPr>
          <a:xfrm>
            <a:off x="666750" y="5819775"/>
            <a:ext cx="5143500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3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3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Em linha · diferença de até 2 p.p.</a:t>
            </a:r>
          </a:p>
        </ns0:txBody>
      </ns0:sp>
      <ns0:sp>
        <ns0:nvSpPr>
          <ns0:cNvPr id="27" name="">
            <a:extLst>
              <a:ext uri="{FF2B5EF4-FFF2-40B4-BE49-F238E27FC236}">
                <ns2:creationId id="{40A75357-3A43-4A16-B5C2-E123A9D28B55}"/>
              </a:ext>
            </a:extLst>
          </ns0:cNvPr>
          <ns0:cNvSpPr>
            <a:spLocks noGrp="1"/>
          </ns0:cNvSpPr>
          <ns0:nvPr/>
        </ns0:nvSpPr>
        <ns0:spPr>
          <a:xfrm>
            <a:off x="6286500" y="1257300"/>
            <a:ext cx="5334000" cy="1133475"/>
          </a:xfrm>
          <a:prstGeom prst="rect">
            <a:avLst/>
          </a:prstGeom>
          <a:solidFill>
            <a:srgbClr val="F8E7BF"/>
          </a:solidFill>
          <a:ln w="0">
            <a:noFill/>
            <a:prstDash val="solid"/>
          </a:ln>
        </ns0:spPr>
      </ns0:sp>
      <ns0:sp>
        <ns0:nvSpPr>
          <ns0:cNvPr id="28" name="">
            <a:extLst>
              <a:ext uri="{FF2B5EF4-FFF2-40B4-BE49-F238E27FC236}">
                <ns2:creationId id="{160B1612-F71C-42B2-9278-C5418B0DD2CF}"/>
              </a:ext>
            </a:extLst>
          </ns0:cNvPr>
          <ns0:cNvSpPr>
            <a:spLocks noGrp="1"/>
          </ns0:cNvSpPr>
          <ns0:nvPr/>
        </ns0:nvSpPr>
        <ns0:spPr>
          <a:xfrm>
            <a:off x="6381750" y="1323975"/>
            <a:ext cx="51435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23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23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CONSIGNADO FGTS</a:t>
            </a:r>
          </a:p>
        </ns0:txBody>
      </ns0:sp>
      <ns0:graphicFrame>
        <ns0:nvGraphicFramePr>
          <ns0:cNvPr id="72" name=""/>
          <ns0:cNvGraphicFramePr/>
          <ns0:nvPr/>
        </ns0:nvGraphicFramePr>
        <ns0:xfrm>
          <a:off x="6381750" y="1514475"/>
          <a:ext cx="5143500" cy="514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1238250"/>
                <a:gridCol w="523875"/>
                <a:gridCol w="904875"/>
                <a:gridCol w="2476500"/>
              </a:tblGrid>
              <a:tr h="1619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72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Referência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72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72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72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Subord. mediana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7621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1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Carteira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6/6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R$ 2,4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18,3%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17621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1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 flagships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5/5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R$ 3,6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sp>
        <ns0:nvSpPr>
          <ns0:cNvPr id="30" name="">
            <a:extLst>
              <a:ext uri="{FF2B5EF4-FFF2-40B4-BE49-F238E27FC236}">
                <ns2:creationId id="{F5ADF33F-199D-4EF4-87B8-8CBAECAA9CE1}"/>
              </a:ext>
            </a:extLst>
          </ns0:cNvPr>
          <ns0:cNvSpPr>
            <a:spLocks noGrp="1"/>
          </ns0:cNvSpPr>
          <ns0:nvPr/>
        </ns0:nvSpPr>
        <ns0:spPr>
          <a:xfrm>
            <a:off x="6381750" y="2066925"/>
            <a:ext cx="5143500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54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Risco aceito: Antecipação de saque FGTS</a:t>
            </a:r>
          </a:p>
        </ns0:txBody>
      </ns0:sp>
      <ns0:sp>
        <ns0:nvSpPr>
          <ns0:cNvPr id="31" name="">
            <a:extLst>
              <a:ext uri="{FF2B5EF4-FFF2-40B4-BE49-F238E27FC236}">
                <ns2:creationId id="{00F8E652-086D-4B54-999D-FBD48F2D902E}"/>
              </a:ext>
            </a:extLst>
          </ns0:cNvPr>
          <ns0:cNvSpPr>
            <a:spLocks noGrp="1"/>
          </ns0:cNvSpPr>
          <ns0:nvPr/>
        </ns0:nvSpPr>
        <ns0:spPr>
          <a:xfrm>
            <a:off x="6381750" y="2219325"/>
            <a:ext cx="5143500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3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3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Em linha · diferença de até 2 p.p.</a:t>
            </a:r>
          </a:p>
        </ns0:txBody>
      </ns0:sp>
      <ns0:sp>
        <ns0:nvSpPr>
          <ns0:cNvPr id="32" name="">
            <a:extLst>
              <a:ext uri="{FF2B5EF4-FFF2-40B4-BE49-F238E27FC236}">
                <ns2:creationId id="{5AABEFA3-F897-4B53-92C4-7CC3ADAE6BC2}"/>
              </a:ext>
            </a:extLst>
          </ns0:cNvPr>
          <ns0:cNvSpPr>
            <a:spLocks noGrp="1"/>
          </ns0:cNvSpPr>
          <ns0:nvPr/>
        </ns0:nvSpPr>
        <ns0:spPr>
          <a:xfrm>
            <a:off x="6286500" y="2457450"/>
            <a:ext cx="5334000" cy="1133475"/>
          </a:xfrm>
          <a:prstGeom prst="rect">
            <a:avLst/>
          </a:prstGeom>
          <a:solidFill>
            <a:srgbClr val="E1E9EF"/>
          </a:solidFill>
          <a:ln w="0">
            <a:noFill/>
            <a:prstDash val="solid"/>
          </a:ln>
        </ns0:spPr>
      </ns0:sp>
      <ns0:sp>
        <ns0:nvSpPr>
          <ns0:cNvPr id="33" name="">
            <a:extLst>
              <a:ext uri="{FF2B5EF4-FFF2-40B4-BE49-F238E27FC236}">
                <ns2:creationId id="{1967BC88-A8AB-44F2-9745-CD1C201C4DEE}"/>
              </a:ext>
            </a:extLst>
          </ns0:cNvPr>
          <ns0:cNvSpPr>
            <a:spLocks noGrp="1"/>
          </ns0:cNvSpPr>
          <ns0:nvPr/>
        </ns0:nvSpPr>
        <ns0:spPr>
          <a:xfrm>
            <a:off x="6381750" y="2524125"/>
            <a:ext cx="51435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23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23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VEÍCULOS</a:t>
            </a:r>
          </a:p>
        </ns0:txBody>
      </ns0:sp>
      <ns0:graphicFrame>
        <ns0:nvGraphicFramePr>
          <ns0:cNvPr id="77" name=""/>
          <ns0:cNvGraphicFramePr/>
          <ns0:nvPr/>
        </ns0:nvGraphicFramePr>
        <ns0:xfrm>
          <a:off x="6381750" y="2714625"/>
          <a:ext cx="5143500" cy="514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1238250"/>
                <a:gridCol w="523875"/>
                <a:gridCol w="904875"/>
                <a:gridCol w="2476500"/>
              </a:tblGrid>
              <a:tr h="1619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72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Referência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72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72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72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Subord. mediana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7621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1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Carteira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0/1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17621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1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 flagships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8/8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R$ 11,0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sp>
        <ns0:nvSpPr>
          <ns0:cNvPr id="35" name="">
            <a:extLst>
              <a:ext uri="{FF2B5EF4-FFF2-40B4-BE49-F238E27FC236}">
                <ns2:creationId id="{C5B2A229-C175-477A-87E3-83AA40E5A4D1}"/>
              </a:ext>
            </a:extLst>
          </ns0:cNvPr>
          <ns0:cNvSpPr>
            <a:spLocks noGrp="1"/>
          </ns0:cNvSpPr>
          <ns0:nvPr/>
        </ns0:nvSpPr>
        <ns0:spPr>
          <a:xfrm>
            <a:off x="6381750" y="3267075"/>
            <a:ext cx="5143500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54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Risco aceito: Devedor PF do crédito de veículo (FIDC BV)</a:t>
            </a:r>
          </a:p>
        </ns0:txBody>
      </ns0:sp>
      <ns0:sp>
        <ns0:nvSpPr>
          <ns0:cNvPr id="36" name="">
            <a:extLst>
              <a:ext uri="{FF2B5EF4-FFF2-40B4-BE49-F238E27FC236}">
                <ns2:creationId id="{443F2E41-3D00-446D-9931-CF9E26005FA1}"/>
              </a:ext>
            </a:extLst>
          </ns0:cNvPr>
          <ns0:cNvSpPr>
            <a:spLocks noGrp="1"/>
          </ns0:cNvSpPr>
          <ns0:nvPr/>
        </ns0:nvSpPr>
        <ns0:spPr>
          <a:xfrm>
            <a:off x="6381750" y="3419475"/>
            <a:ext cx="5143500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3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3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N/D — comparação estrutural incompleta</a:t>
            </a:r>
          </a:p>
        </ns0:txBody>
      </ns0:sp>
      <ns0:sp>
        <ns0:nvSpPr>
          <ns0:cNvPr id="37" name="">
            <a:extLst>
              <a:ext uri="{FF2B5EF4-FFF2-40B4-BE49-F238E27FC236}">
                <ns2:creationId id="{4857E286-AF66-415A-B1B9-93B7657BFACF}"/>
              </a:ext>
            </a:extLst>
          </ns0:cNvPr>
          <ns0:cNvSpPr>
            <a:spLocks noGrp="1"/>
          </ns0:cNvSpPr>
          <ns0:nvPr/>
        </ns0:nvSpPr>
        <ns0:spPr>
          <a:xfrm>
            <a:off x="6286500" y="3657600"/>
            <a:ext cx="5334000" cy="1133475"/>
          </a:xfrm>
          <a:prstGeom prst="rect">
            <a:avLst/>
          </a:prstGeom>
          <a:solidFill>
            <a:srgbClr val="E8ECEF"/>
          </a:solidFill>
          <a:ln w="0">
            <a:noFill/>
            <a:prstDash val="solid"/>
          </a:ln>
        </ns0:spPr>
      </ns0:sp>
      <ns0:sp>
        <ns0:nvSpPr>
          <ns0:cNvPr id="38" name="">
            <a:extLst>
              <a:ext uri="{FF2B5EF4-FFF2-40B4-BE49-F238E27FC236}">
                <ns2:creationId id="{C00B0E35-F9D2-49F0-9B6D-1B4BFD6E149C}"/>
              </a:ext>
            </a:extLst>
          </ns0:cNvPr>
          <ns0:cNvSpPr>
            <a:spLocks noGrp="1"/>
          </ns0:cNvSpPr>
          <ns0:nvPr/>
        </ns0:nvSpPr>
        <ns0:spPr>
          <a:xfrm>
            <a:off x="6381750" y="3724275"/>
            <a:ext cx="51435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23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23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FINANCEIRO</a:t>
            </a:r>
          </a:p>
        </ns0:txBody>
      </ns0:sp>
      <ns0:graphicFrame>
        <ns0:nvGraphicFramePr>
          <ns0:cNvPr id="82" name=""/>
          <ns0:cNvGraphicFramePr/>
          <ns0:nvPr/>
        </ns0:nvGraphicFramePr>
        <ns0:xfrm>
          <a:off x="6381750" y="3914775"/>
          <a:ext cx="5143500" cy="514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1238250"/>
                <a:gridCol w="523875"/>
                <a:gridCol w="904875"/>
                <a:gridCol w="2476500"/>
              </a:tblGrid>
              <a:tr h="1619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72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Referência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72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72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72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Subord. mediana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7621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1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Carteira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18/23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R$ 13,8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31,1%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17621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1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 flagships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12/12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R$ 11,9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30,1%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sp>
        <ns0:nvSpPr>
          <ns0:cNvPr id="40" name="">
            <a:extLst>
              <a:ext uri="{FF2B5EF4-FFF2-40B4-BE49-F238E27FC236}">
                <ns2:creationId id="{6DE610FF-E8AF-470E-BCD0-EC2C9646B02A}"/>
              </a:ext>
            </a:extLst>
          </ns0:cNvPr>
          <ns0:cNvSpPr>
            <a:spLocks noGrp="1"/>
          </ns0:cNvSpPr>
          <ns0:nvPr/>
        </ns0:nvSpPr>
        <ns0:spPr>
          <a:xfrm>
            <a:off x="6381750" y="4467225"/>
            <a:ext cx="5143500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54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Risco aceito: Demais riscos PF/PJ e multicarteira</a:t>
            </a:r>
          </a:p>
        </ns0:txBody>
      </ns0:sp>
      <ns0:sp>
        <ns0:nvSpPr>
          <ns0:cNvPr id="41" name="">
            <a:extLst>
              <a:ext uri="{FF2B5EF4-FFF2-40B4-BE49-F238E27FC236}">
                <ns2:creationId id="{EA55D15B-402B-463E-9591-11730E4FFB81}"/>
              </a:ext>
            </a:extLst>
          </ns0:cNvPr>
          <ns0:cNvSpPr>
            <a:spLocks noGrp="1"/>
          </ns0:cNvSpPr>
          <ns0:nvPr/>
        </ns0:nvSpPr>
        <ns0:spPr>
          <a:xfrm>
            <a:off x="6381750" y="4619625"/>
            <a:ext cx="5143500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3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3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Em linha · diferença de até 2 p.p.</a:t>
            </a:r>
          </a:p>
        </ns0:txBody>
      </ns0:sp>
      <ns0:sp>
        <ns0:nvSpPr>
          <ns0:cNvPr id="42" name="">
            <a:extLst>
              <a:ext uri="{FF2B5EF4-FFF2-40B4-BE49-F238E27FC236}">
                <ns2:creationId id="{A259E601-6450-490B-90F4-52797F2FCC9E}"/>
              </a:ext>
            </a:extLst>
          </ns0:cNvPr>
          <ns0:cNvSpPr>
            <a:spLocks noGrp="1"/>
          </ns0:cNvSpPr>
          <ns0:nvPr/>
        </ns0:nvSpPr>
        <ns0:spPr>
          <a:xfrm>
            <a:off x="6286500" y="4962525"/>
            <a:ext cx="5334000" cy="4000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3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Cobertura: 100/101 CNPJs da Carteira I classificados; 1 fora do perímetro FIDC. A comparação mede proteção estrutural, com tolerância de ±2 p.p.</a:t>
            </a:r>
          </a:p>
        </ns0:txBody>
      </ns0:sp>
      <ns0:sp>
        <ns0:nvSpPr>
          <ns0:cNvPr id="43" name="">
            <a:extLst>
              <a:ext uri="{FF2B5EF4-FFF2-40B4-BE49-F238E27FC236}">
                <ns2:creationId id="{FF6FA964-267D-4E67-A2FC-86EC4FE3FC6F}"/>
              </a:ext>
            </a:extLst>
          </ns0:cNvPr>
          <ns0:cNvSpPr>
            <a:spLocks noGrp="1"/>
          </ns0:cNvSpPr>
          <ns0:nvPr/>
        </ns0:nvSpPr>
        <ns0:spPr>
          <a:xfrm>
            <a:off x="6286500" y="5457825"/>
            <a:ext cx="5334000" cy="666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7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57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Risco estrutural compara a mediana da subordinação atual por tipo. Diferenças acima de 2 p.p. indicam maior ou menor proteção; dentro de ±2 p.p. ficam em linha. A leitura não substitui análise de lastro, sacado, garantias, liquidez ou gatilhos.</a:t>
            </a:r>
          </a:p>
        </ns0:txBody>
      </ns0:sp>
    </ns0:spTree>
    <ns0:extLst>
      <ns0:ext uri="{BB962C8B-B14F-4D97-AF65-F5344CB8AC3E}">
        <ns3:creationId val="619116993"/>
      </ns0:ext>
    </ns0:extLst>
  </ns0:cSld>
</ns0:sld>
</file>

<file path=ppt/slides/slide16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6" name="">
            <a:extLst>
              <a:ext uri="{FF2B5EF4-FFF2-40B4-BE49-F238E27FC236}">
                <ns2:creationId id="{4AC922FB-3909-48DC-BDC0-0904CB1C3D28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 carteira lida com o mesmo critério do mercado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256491DC-A3CB-4A5D-8A7D-6F1464A5B271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R$ 55,3 bi de PL observado, composição reclassificada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8EE052F4-3A4B-4A46-AC95-90ABB38C8959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B4F2EC36-12F4-4243-9BF7-6AC7899804D5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5C34D3B1-298E-4CB8-AAFD-21FE6B408E69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FIDC, e ledger aprovado. 60 CNPJs observados em dez/23 e 78 em jun/26; ausências não recebem PL imputado.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86851BCA-5F47-4EE9-92FF-41CB4535B1AD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16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515EA643-F523-4D4F-AAEE-BBE18F7F960D}"/>
              </a:ext>
            </a:extLst>
          </ns0:cNvPr>
          <ns0:cNvSpPr>
            <a:spLocks noGrp="1"/>
          </ns0:cNvSpPr>
          <ns0:nvPr/>
        </ns0:nvSpPr>
        <ns0:spPr>
          <a:xfrm>
            <a:off x="571500" y="1381125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EVOLUÇÃO DO PL · R$ BILHÕES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56CFBD5E-F994-48D7-B8C3-4AF55F0FD892}"/>
              </a:ext>
            </a:extLst>
          </ns0:cNvPr>
          <ns0:cNvSpPr>
            <a:spLocks noGrp="1"/>
          </ns0:cNvSpPr>
          <ns0:nvPr/>
        </ns0:nvSpPr>
        <ns0:spPr>
          <a:xfrm>
            <a:off x="571500" y="1647825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4" name="Chart"/>
          <ns0:cNvGraphicFramePr/>
          <ns0:nvPr/>
        </ns0:nvGraphicFramePr>
        <ns0:xfrm>
          <a:off x="571500" y="1762125"/>
          <a:ext cx="5238750" cy="3333750"/>
        </ns0:xfrm>
        <a:graphic>
          <a:graphicData uri="http://schemas.openxmlformats.org/drawingml/2006/chart">
            <c:chart ns4:id="R27d70bb901024c45"/>
          </a:graphicData>
        </a:graphic>
      </ns0:graphicFrame>
      <ns0:sp>
        <ns0:nvSpPr>
          <ns0:cNvPr id="10" name="">
            <a:extLst>
              <a:ext uri="{FF2B5EF4-FFF2-40B4-BE49-F238E27FC236}">
                <ns2:creationId id="{FB0BB424-9DBD-47D1-AFF3-FF122BF3F43B}"/>
              </a:ext>
            </a:extLst>
          </ns0:cNvPr>
          <ns0:cNvSpPr>
            <a:spLocks noGrp="1"/>
          </ns0:cNvSpPr>
          <ns0:nvPr/>
        </ns0:nvSpPr>
        <ns0:spPr>
          <a:xfrm>
            <a:off x="6381750" y="1381125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PARTICIPAÇÃO NO PL OBSERVADO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86699FE5-A431-4800-BD5A-7B71AB792DDE}"/>
              </a:ext>
            </a:extLst>
          </ns0:cNvPr>
          <ns0:cNvSpPr>
            <a:spLocks noGrp="1"/>
          </ns0:cNvSpPr>
          <ns0:nvPr/>
        </ns0:nvSpPr>
        <ns0:spPr>
          <a:xfrm>
            <a:off x="6381750" y="1647825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7" name="Chart"/>
          <ns0:cNvGraphicFramePr/>
          <ns0:nvPr/>
        </ns0:nvGraphicFramePr>
        <ns0:xfrm>
          <a:off x="6381750" y="1762125"/>
          <a:ext cx="5238750" cy="3333750"/>
        </ns0:xfrm>
        <a:graphic>
          <a:graphicData uri="http://schemas.openxmlformats.org/drawingml/2006/chart">
            <c:chart ns4:id="R969fe1f9b19f4001"/>
          </a:graphicData>
        </a:graphic>
      </ns0:graphicFrame>
      <ns0:graphicFrame>
        <ns0:nvGraphicFramePr>
          <ns0:cNvPr id="28" name="Chart"/>
          <ns0:cNvGraphicFramePr/>
          <ns0:nvPr/>
        </ns0:nvGraphicFramePr>
        <ns0:xfrm>
          <a:off x="2000250" y="5181600"/>
          <a:ext cx="8191500" cy="247650"/>
        </ns0:xfrm>
        <a:graphic>
          <a:graphicData uri="http://schemas.openxmlformats.org/drawingml/2006/chart">
            <c:chart ns4:id="R93330a5dbb26413a"/>
          </a:graphicData>
        </a:graphic>
      </ns0:graphicFrame>
      <ns0:sp>
        <ns0:nvSpPr>
          <ns0:cNvPr id="14" name="">
            <a:extLst>
              <a:ext uri="{FF2B5EF4-FFF2-40B4-BE49-F238E27FC236}">
                <ns2:creationId id="{61BCA12A-010A-4798-AEBC-99FA68285ABC}"/>
              </a:ext>
            </a:extLst>
          </ns0:cNvPr>
          <ns0:cNvSpPr>
            <a:spLocks noGrp="1"/>
          </ns0:cNvSpPr>
          <ns0:nvPr/>
        </ns0:nvSpPr>
        <ns0:spPr>
          <a:xfrm>
            <a:off x="571500" y="5534025"/>
            <a:ext cx="11049000" cy="285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63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CRESCIMENTO DEZ/23 → JUN/26 · Fomento Mercantil: carteira +179,9% · mercado +71,1%   |   Agro/Ind./Com.: carteira +67,8% · mercado +73,6%   |   Financeiro: carteira +98,3% · mercado +108,1%   |   Outros: carteira N/D · mercado +59,5%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14A19F2D-C64E-4B71-BD70-B2379D6A8F55}"/>
              </a:ext>
            </a:extLst>
          </ns0:cNvPr>
          <ns0:cNvSpPr>
            <a:spLocks noGrp="1"/>
          </ns0:cNvSpPr>
          <ns0:nvPr/>
        </ns0:nvSpPr>
        <ns0:spPr>
          <a:xfrm>
            <a:off x="666750" y="5886450"/>
            <a:ext cx="108585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653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53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CNPJs salvos da Carteira 1, ex-FIC, com classificação analítica aprovada retroaplicada às competências observadas. CNPJ ausente em uma competência permanece ausente e não recebe PL imputado. O mercado usa o mesmo Tipo ANBIMA reclassificado e o denominador ex-FIC.</a:t>
            </a:r>
          </a:p>
        </ns0:txBody>
      </ns0:sp>
    </ns0:spTree>
    <ns0:extLst>
      <ns0:ext uri="{BB962C8B-B14F-4D97-AF65-F5344CB8AC3E}">
        <ns5:creationId val="1647288199"/>
      </ns0:ext>
    </ns0:extLst>
  </ns0:cSld>
</ns0:sld>
</file>

<file path=ppt/slides/slide17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7" name="">
            <a:extLst>
              <a:ext uri="{FF2B5EF4-FFF2-40B4-BE49-F238E27FC236}">
                <ns2:creationId id="{5830AB39-8FA0-4B42-BAF3-BDC82EA37697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Emissões crescem 15% no semestre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18595644-45C6-4C5F-A496-A9754C939709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R$ 65,5 bi em 771 ofertas no jan–jun/26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F39BF0A9-013D-4B31-B948-8ED1774EFA50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7895FCE1-07AF-47E8-9C19-3ADFF453F5E9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FFCAA70B-B49D-44A8-AABC-6B4163D728C6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ofertas, snapshot 24/jul/26. Primárias encerradas, todos os ritos;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B4305234-A469-4CD2-86D1-BC7B4F0E2E77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17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CFF1AD14-ED2F-466D-A20A-2FEF848A2464}"/>
              </a:ext>
            </a:extLst>
          </ns0:cNvPr>
          <ns0:cNvSpPr>
            <a:spLocks noGrp="1"/>
          </ns0:cNvSpPr>
          <ns0:nvPr/>
        </ns0:nvSpPr>
        <ns0:spPr>
          <a:xfrm>
            <a:off x="571500" y="1381125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REGISTRADO E TICKET · FY / YTD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2D95BAAB-3925-4D7F-8EC5-364FE30471AC}"/>
              </a:ext>
            </a:extLst>
          </ns0:cNvPr>
          <ns0:cNvSpPr>
            <a:spLocks noGrp="1"/>
          </ns0:cNvSpPr>
          <ns0:nvPr/>
        </ns0:nvSpPr>
        <ns0:spPr>
          <a:xfrm>
            <a:off x="571500" y="1647825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5" name="Chart"/>
          <ns0:cNvGraphicFramePr/>
          <ns0:nvPr/>
        </ns0:nvGraphicFramePr>
        <ns0:xfrm>
          <a:off x="571500" y="1714500"/>
          <a:ext cx="5238750" cy="2333625"/>
        </ns0:xfrm>
        <a:graphic>
          <a:graphicData uri="http://schemas.openxmlformats.org/drawingml/2006/chart">
            <c:chart ns4:id="Recc43099d64548af"/>
          </a:graphicData>
        </a:graphic>
      </ns0:graphicFrame>
      <ns0:sp>
        <ns0:nvSpPr>
          <ns0:cNvPr id="10" name="">
            <a:extLst>
              <a:ext uri="{FF2B5EF4-FFF2-40B4-BE49-F238E27FC236}">
                <ns2:creationId id="{4F75B3DB-9254-40EC-AEF1-FAA56258C04C}"/>
              </a:ext>
            </a:extLst>
          </ns0:cNvPr>
          <ns0:cNvSpPr>
            <a:spLocks noGrp="1"/>
          </ns0:cNvSpPr>
          <ns0:nvPr/>
        </ns0:nvSpPr>
        <ns0:spPr>
          <a:xfrm>
            <a:off x="6381750" y="1381125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ACUMULADO · JAN–DEZ · R$ BI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05C27492-82DA-453D-9CC3-30420E4C92B5}"/>
              </a:ext>
            </a:extLst>
          </ns0:cNvPr>
          <ns0:cNvSpPr>
            <a:spLocks noGrp="1"/>
          </ns0:cNvSpPr>
          <ns0:nvPr/>
        </ns0:nvSpPr>
        <ns0:spPr>
          <a:xfrm>
            <a:off x="6381750" y="1647825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8" name="Chart"/>
          <ns0:cNvGraphicFramePr/>
          <ns0:nvPr/>
        </ns0:nvGraphicFramePr>
        <ns0:xfrm>
          <a:off x="6381750" y="1714500"/>
          <a:ext cx="5238750" cy="2333625"/>
        </ns0:xfrm>
        <a:graphic>
          <a:graphicData uri="http://schemas.openxmlformats.org/drawingml/2006/chart">
            <c:chart ns4:id="R167668c18e484215"/>
          </a:graphicData>
        </a:graphic>
      </ns0:graphicFrame>
      <ns0:graphicFrame>
        <ns0:nvGraphicFramePr>
          <ns0:cNvPr id="29" name="Chart"/>
          <ns0:cNvGraphicFramePr/>
          <ns0:nvPr/>
        </ns0:nvGraphicFramePr>
        <ns0:xfrm>
          <a:off x="7715250" y="4000500"/>
          <a:ext cx="3905250" cy="209550"/>
        </ns0:xfrm>
        <a:graphic>
          <a:graphicData uri="http://schemas.openxmlformats.org/drawingml/2006/chart">
            <c:chart ns4:id="Rb4e548aa437e4388"/>
          </a:graphicData>
        </a:graphic>
      </ns0:graphicFrame>
      <ns0:sp>
        <ns0:nvSpPr>
          <ns0:cNvPr id="14" name="">
            <a:extLst>
              <a:ext uri="{FF2B5EF4-FFF2-40B4-BE49-F238E27FC236}">
                <ns2:creationId id="{FDF14E6B-AEB2-4231-A0A3-A238615E5E21}"/>
              </a:ext>
            </a:extLst>
          </ns0:cNvPr>
          <ns0:cNvSpPr>
            <a:spLocks noGrp="1"/>
          </ns0:cNvSpPr>
          <ns0:nvPr/>
        </ns0:nvSpPr>
        <ns0:spPr>
          <a:xfrm>
            <a:off x="6381750" y="4219575"/>
            <a:ext cx="523875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63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3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2026 encerra em jun/26; as curvas de 2024 e 2025 seguem até dezembro.</a:t>
            </a:r>
          </a:p>
        </ns0:txBody>
      </ns0:sp>
      <ns0:graphicFrame>
        <ns0:nvGraphicFramePr>
          <ns0:cNvPr id="31" name=""/>
          <ns0:cNvGraphicFramePr/>
          <ns0:nvPr/>
        </ns0:nvGraphicFramePr>
        <ns0:xfrm>
          <a:off x="571500" y="4438650"/>
          <a:ext cx="11049000" cy="14287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952500"/>
                <a:gridCol w="1476375"/>
                <a:gridCol w="1714500"/>
                <a:gridCol w="1476375"/>
                <a:gridCol w="1476375"/>
                <a:gridCol w="1952625"/>
                <a:gridCol w="20002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Ano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Ofertas encerradas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Volume registrado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Ticket médio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Ticket mediano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PF no volume colocado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Público profissional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438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2022 FY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R$ 2,7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R$ 392,7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R$ 200,0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2023 FY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R$ 26,5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R$ 75,6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R$ 23,3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96,8%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438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2024 FY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1.009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R$ 95,4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R$ 94,6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R$ 30,0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94,4%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2025 FY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1.473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R$ 116,9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R$ 79,4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R$ 25,0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6,6%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92,8%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438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2026 jan–jun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771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R$ 65,5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R$ 84,9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R$ 22,5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93,8%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ns0:graphicFrame>
      <ns0:sp>
        <ns0:nvSpPr>
          <ns0:cNvPr id="16" name="">
            <a:extLst>
              <a:ext uri="{FF2B5EF4-FFF2-40B4-BE49-F238E27FC236}">
                <ns2:creationId id="{9437EB5A-7418-4F2C-9543-C3771CF83617}"/>
              </a:ext>
            </a:extLst>
          </ns0:cNvPr>
          <ns0:cNvSpPr>
            <a:spLocks noGrp="1"/>
          </ns0:cNvSpPr>
          <ns0:nvPr/>
        </ns0:nvSpPr>
        <ns0:spPr>
          <a:xfrm>
            <a:off x="571500" y="5962650"/>
            <a:ext cx="11049000" cy="285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65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65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PF representa 4,0% do proxy colocado; cobertura 97,3%. Público profissional usa o volume registrado total como denominador, incluindo N/D; 2022 = N/D por ausência de reporte.</a:t>
            </a:r>
          </a:p>
        </ns0:txBody>
      </ns0:sp>
    </ns0:spTree>
    <ns0:extLst>
      <ns0:ext uri="{BB962C8B-B14F-4D97-AF65-F5344CB8AC3E}">
        <ns5:creationId val="402094698"/>
      </ns0:ext>
    </ns0:extLst>
  </ns0:cSld>
</ns0:sld>
</file>

<file path=ppt/slides/slide18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6" name="">
            <a:extLst>
              <a:ext uri="{FF2B5EF4-FFF2-40B4-BE49-F238E27FC236}">
                <ns2:creationId id="{649DFCA6-21F0-4416-9FAE-ADEEEE84CD62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22 ofertas concentram 42% de todo o volume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50326845-BB73-4C7E-8EF7-D45514D8A44E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Tickets acima de R$ 500 mi, jan–jun/26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75CCC933-A3DE-4353-94AD-E93AE8EB684B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255B9DF4-AB80-457D-8545-6AF5506AB3C6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CC3192A6-304E-4A87-8004-B36D378CB65A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ofertas; mesma coorte primária encerrada do slide anterior. 2026 = jan–jun.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1688765A-6D1E-4E53-91FC-3A29F05CFFF0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18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B5F042F1-D457-42F0-9FB1-D2F3B8BE6D97}"/>
              </a:ext>
            </a:extLst>
          </ns0:cNvPr>
          <ns0:cNvSpPr>
            <a:spLocks noGrp="1"/>
          </ns0:cNvSpPr>
          <ns0:nvPr/>
        </ns0:nvSpPr>
        <ns0:spPr>
          <a:xfrm>
            <a:off x="571500" y="1381125"/>
            <a:ext cx="3429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DAS OFERTAS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C58C0E64-F6F4-4FB9-B473-049BA70197A4}"/>
              </a:ext>
            </a:extLst>
          </ns0:cNvPr>
          <ns0:cNvSpPr>
            <a:spLocks noGrp="1"/>
          </ns0:cNvSpPr>
          <ns0:nvPr/>
        </ns0:nvSpPr>
        <ns0:spPr>
          <a:xfrm>
            <a:off x="571500" y="1647825"/>
            <a:ext cx="342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4" name="Chart"/>
          <ns0:cNvGraphicFramePr/>
          <ns0:nvPr/>
        </ns0:nvGraphicFramePr>
        <ns0:xfrm>
          <a:off x="571500" y="1743075"/>
          <a:ext cx="3429000" cy="3714750"/>
        </ns0:xfrm>
        <a:graphic>
          <a:graphicData uri="http://schemas.openxmlformats.org/drawingml/2006/chart">
            <c:chart ns4:id="Rf8288613ef9f4f01"/>
          </a:graphicData>
        </a:graphic>
      </ns0:graphicFrame>
      <ns0:sp>
        <ns0:nvSpPr>
          <ns0:cNvPr id="10" name="">
            <a:extLst>
              <a:ext uri="{FF2B5EF4-FFF2-40B4-BE49-F238E27FC236}">
                <ns2:creationId id="{4F5E19C0-8584-4960-AB08-E7B60B46BA9C}"/>
              </a:ext>
            </a:extLst>
          </ns0:cNvPr>
          <ns0:cNvSpPr>
            <a:spLocks noGrp="1"/>
          </ns0:cNvSpPr>
          <ns0:nvPr/>
        </ns0:nvSpPr>
        <ns0:spPr>
          <a:xfrm>
            <a:off x="4286250" y="1381125"/>
            <a:ext cx="3429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VOLUME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2B13808C-986A-4CBD-B434-82243047D223}"/>
              </a:ext>
            </a:extLst>
          </ns0:cNvPr>
          <ns0:cNvSpPr>
            <a:spLocks noGrp="1"/>
          </ns0:cNvSpPr>
          <ns0:nvPr/>
        </ns0:nvSpPr>
        <ns0:spPr>
          <a:xfrm>
            <a:off x="4286250" y="1647825"/>
            <a:ext cx="342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7" name="Chart"/>
          <ns0:cNvGraphicFramePr/>
          <ns0:nvPr/>
        </ns0:nvGraphicFramePr>
        <ns0:xfrm>
          <a:off x="4286250" y="1743075"/>
          <a:ext cx="3429000" cy="3714750"/>
        </ns0:xfrm>
        <a:graphic>
          <a:graphicData uri="http://schemas.openxmlformats.org/drawingml/2006/chart">
            <c:chart ns4:id="R4caf2783d2b5494c"/>
          </a:graphicData>
        </a:graphic>
      </ns0:graphicFrame>
      <ns0:sp>
        <ns0:nvSpPr>
          <ns0:cNvPr id="13" name="">
            <a:extLst>
              <a:ext uri="{FF2B5EF4-FFF2-40B4-BE49-F238E27FC236}">
                <ns2:creationId id="{8ACB3622-BD69-4C67-ACB8-CD37213D85EE}"/>
              </a:ext>
            </a:extLst>
          </ns0:cNvPr>
          <ns0:cNvSpPr>
            <a:spLocks noGrp="1"/>
          </ns0:cNvSpPr>
          <ns0:nvPr/>
        </ns0:nvSpPr>
        <ns0:spPr>
          <a:xfrm>
            <a:off x="8001000" y="1381125"/>
            <a:ext cx="36195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· R$ BI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3F68DEDE-24A4-454E-9012-59EA8EBEB941}"/>
              </a:ext>
            </a:extLst>
          </ns0:cNvPr>
          <ns0:cNvSpPr>
            <a:spLocks noGrp="1"/>
          </ns0:cNvSpPr>
          <ns0:nvPr/>
        </ns0:nvSpPr>
        <ns0:spPr>
          <a:xfrm>
            <a:off x="8001000" y="1647825"/>
            <a:ext cx="36195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40" name="Chart"/>
          <ns0:cNvGraphicFramePr/>
          <ns0:nvPr/>
        </ns0:nvGraphicFramePr>
        <ns0:xfrm>
          <a:off x="8001000" y="1743075"/>
          <a:ext cx="3619500" cy="3714750"/>
        </ns0:xfrm>
        <a:graphic>
          <a:graphicData uri="http://schemas.openxmlformats.org/drawingml/2006/chart">
            <c:chart ns4:id="R372df8ece4c94c7b"/>
          </a:graphicData>
        </a:graphic>
      </ns0:graphicFrame>
      <ns0:graphicFrame>
        <ns0:nvGraphicFramePr>
          <ns0:cNvPr id="41" name="Chart"/>
          <ns0:cNvGraphicFramePr/>
          <ns0:nvPr/>
        </ns0:nvGraphicFramePr>
        <ns0:xfrm>
          <a:off x="4048125" y="5486400"/>
          <a:ext cx="4095750" cy="209550"/>
        </ns0:xfrm>
        <a:graphic>
          <a:graphicData uri="http://schemas.openxmlformats.org/drawingml/2006/chart">
            <c:chart ns4:id="R93f3c8085363498d"/>
          </a:graphicData>
        </a:graphic>
      </ns0:graphicFrame>
      <ns0:sp>
        <ns0:nvSpPr>
          <ns0:cNvPr id="17" name="">
            <a:extLst>
              <a:ext uri="{FF2B5EF4-FFF2-40B4-BE49-F238E27FC236}">
                <ns2:creationId id="{4529465A-17E0-450E-AA54-BF48220FA958}"/>
              </a:ext>
            </a:extLst>
          </ns0:cNvPr>
          <ns0:cNvSpPr>
            <a:spLocks noGrp="1"/>
          </ns0:cNvSpPr>
          <ns0:nvPr/>
        </ns0:nvSpPr>
        <ns0:spPr>
          <a:xfrm>
            <a:off x="571500" y="5705475"/>
            <a:ext cx="11049000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615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15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Faixas fecham no limite inferior; “&gt; R$ 100 mi” é estrito e exclui ofertas exatamente iguais a R$ 100 mi.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8D219126-17AF-415B-841B-34B840B5551D}"/>
              </a:ext>
            </a:extLst>
          </ns0:cNvPr>
          <ns0:cNvSpPr>
            <a:spLocks noGrp="1"/>
          </ns0:cNvSpPr>
          <ns0:nvPr/>
        </ns0:nvSpPr>
        <ns0:spPr>
          <a:xfrm>
            <a:off x="571500" y="5867400"/>
            <a:ext cx="342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6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6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2024FY · &gt; R$ 100 mi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9A3AFE7E-8BC4-4238-86B5-897D4D671522}"/>
              </a:ext>
            </a:extLst>
          </ns0:cNvPr>
          <ns0:cNvSpPr>
            <a:spLocks noGrp="1"/>
          </ns0:cNvSpPr>
          <ns0:nvPr/>
        </ns0:nvSpPr>
        <ns0:spPr>
          <a:xfrm>
            <a:off x="571500" y="6048375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53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R$ 72,0 bi · 75,5% do volume · 181 ofertas (17,9%)</a:t>
            </a:r>
          </a:p>
        </ns0:txBody>
      </ns0:sp>
      <ns0:sp>
        <ns0:nvSpPr>
          <ns0:cNvPr id="20" name="">
            <a:extLst>
              <a:ext uri="{FF2B5EF4-FFF2-40B4-BE49-F238E27FC236}">
                <ns2:creationId id="{FE13D588-47B5-4DD3-807D-C03559849C23}"/>
              </a:ext>
            </a:extLst>
          </ns0:cNvPr>
          <ns0:cNvSpPr>
            <a:spLocks noGrp="1"/>
          </ns0:cNvSpPr>
          <ns0:nvPr/>
        </ns0:nvSpPr>
        <ns0:spPr>
          <a:xfrm>
            <a:off x="4143375" y="5867400"/>
            <a:ext cx="95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1" name="">
            <a:extLst>
              <a:ext uri="{FF2B5EF4-FFF2-40B4-BE49-F238E27FC236}">
                <ns2:creationId id="{914B1D74-5B81-400E-B726-629D57E37C00}"/>
              </a:ext>
            </a:extLst>
          </ns0:cNvPr>
          <ns0:cNvSpPr>
            <a:spLocks noGrp="1"/>
          </ns0:cNvSpPr>
          <ns0:nvPr/>
        </ns0:nvSpPr>
        <ns0:spPr>
          <a:xfrm>
            <a:off x="4286250" y="5867400"/>
            <a:ext cx="342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6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6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2025FY · &gt; R$ 100 mi</a:t>
            </a:r>
          </a:p>
        </ns0:txBody>
      </ns0:sp>
      <ns0:sp>
        <ns0:nvSpPr>
          <ns0:cNvPr id="22" name="">
            <a:extLst>
              <a:ext uri="{FF2B5EF4-FFF2-40B4-BE49-F238E27FC236}">
                <ns2:creationId id="{1AF1D4FD-9F3E-4792-8AC3-CD1EDD45E7A7}"/>
              </a:ext>
            </a:extLst>
          </ns0:cNvPr>
          <ns0:cNvSpPr>
            <a:spLocks noGrp="1"/>
          </ns0:cNvSpPr>
          <ns0:nvPr/>
        </ns0:nvSpPr>
        <ns0:spPr>
          <a:xfrm>
            <a:off x="4286250" y="6048375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53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R$ 81,8 bi · 69,9% do volume · 227 ofertas (15,4%)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326619D6-5293-4534-940F-38B21EF62207}"/>
              </a:ext>
            </a:extLst>
          </ns0:cNvPr>
          <ns0:cNvSpPr>
            <a:spLocks noGrp="1"/>
          </ns0:cNvSpPr>
          <ns0:nvPr/>
        </ns0:nvSpPr>
        <ns0:spPr>
          <a:xfrm>
            <a:off x="7858125" y="5867400"/>
            <a:ext cx="95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4" name="">
            <a:extLst>
              <a:ext uri="{FF2B5EF4-FFF2-40B4-BE49-F238E27FC236}">
                <ns2:creationId id="{16A6D8F6-A643-4AAC-BEE2-CC205E8EA880}"/>
              </a:ext>
            </a:extLst>
          </ns0:cNvPr>
          <ns0:cNvSpPr>
            <a:spLocks noGrp="1"/>
          </ns0:cNvSpPr>
          <ns0:nvPr/>
        </ns0:nvSpPr>
        <ns0:spPr>
          <a:xfrm>
            <a:off x="8001000" y="5867400"/>
            <a:ext cx="342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6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66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2026 YTD · &gt; R$ 100 mi</a:t>
            </a:r>
          </a:p>
        </ns0:txBody>
      </ns0:sp>
      <ns0:sp>
        <ns0:nvSpPr>
          <ns0:cNvPr id="25" name="">
            <a:extLst>
              <a:ext uri="{FF2B5EF4-FFF2-40B4-BE49-F238E27FC236}">
                <ns2:creationId id="{FAB242FC-22D7-4765-9003-D99D8FA57B64}"/>
              </a:ext>
            </a:extLst>
          </ns0:cNvPr>
          <ns0:cNvSpPr>
            <a:spLocks noGrp="1"/>
          </ns0:cNvSpPr>
          <ns0:nvPr/>
        </ns0:nvSpPr>
        <ns0:spPr>
          <a:xfrm>
            <a:off x="8001000" y="6048375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53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R$ 47,7 bi · 72,9% do volume · 120 ofertas (15,6%)</a:t>
            </a:r>
          </a:p>
        </ns0:txBody>
      </ns0:sp>
    </ns0:spTree>
    <ns0:extLst>
      <ns0:ext uri="{BB962C8B-B14F-4D97-AF65-F5344CB8AC3E}">
        <ns5:creationId val="1449558598"/>
      </ns0:ext>
    </ns0:extLst>
  </ns0:cSld>
</ns0:sld>
</file>

<file path=ppt/slides/slide19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1" name="">
            <a:extLst>
              <a:ext uri="{FF2B5EF4-FFF2-40B4-BE49-F238E27FC236}">
                <ns2:creationId id="{1A06F00E-98C3-456A-9C42-07C9CD5C6B0F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· VOLUME E REGIME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145F8549-6994-4EE1-A0E0-5DAA799786E1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Melhores esforços concentram 96% das ofertas e 69% do volume em jan–jun/26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E035E527-6862-4131-B9E9-085AC489C02F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A389AF43-3D1B-494B-B29A-36B15BB2B5B0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585DB3C2-BFCE-4ED0-87C2-B56C81D3BE14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ofertas, snapshot 24/jul/26. Regime declarado; campo ausente = Não informado.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D5467DB5-199C-456A-AE07-B694DEA726DF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19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BCEDDBF4-55A7-46FD-A26B-2CF575341FB3}"/>
              </a:ext>
            </a:extLst>
          </ns0:cNvPr>
          <ns0:cNvSpPr>
            <a:spLocks noGrp="1"/>
          </ns0:cNvSpPr>
          <ns0:nvPr/>
        </ns0:nvSpPr>
        <ns0:spPr>
          <a:xfrm>
            <a:off x="571500" y="1304925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NÚMERO DE OFERTAS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4E544C98-510C-43DF-A47C-60806FD58999}"/>
              </a:ext>
            </a:extLst>
          </ns0:cNvPr>
          <ns0:cNvSpPr>
            <a:spLocks noGrp="1"/>
          </ns0:cNvSpPr>
          <ns0:nvPr/>
        </ns0:nvSpPr>
        <ns0:spPr>
          <a:xfrm>
            <a:off x="571500" y="1571625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9" name="Chart"/>
          <ns0:cNvGraphicFramePr/>
          <ns0:nvPr/>
        </ns0:nvGraphicFramePr>
        <ns0:xfrm>
          <a:off x="571500" y="1628775"/>
          <a:ext cx="5286375" cy="1885950"/>
        </ns0:xfrm>
        <a:graphic>
          <a:graphicData uri="http://schemas.openxmlformats.org/drawingml/2006/chart">
            <c:chart ns4:id="Rf24437b5bbe94bb1"/>
          </a:graphicData>
        </a:graphic>
      </ns0:graphicFrame>
      <ns0:sp>
        <ns0:nvSpPr>
          <ns0:cNvPr id="10" name="">
            <a:extLst>
              <a:ext uri="{FF2B5EF4-FFF2-40B4-BE49-F238E27FC236}">
                <ns2:creationId id="{F20D1A07-B449-4627-B830-F75C3AECBD18}"/>
              </a:ext>
            </a:extLst>
          </ns0:cNvPr>
          <ns0:cNvSpPr>
            <a:spLocks noGrp="1"/>
          </ns0:cNvSpPr>
          <ns0:nvPr/>
        </ns0:nvSpPr>
        <ns0:spPr>
          <a:xfrm>
            <a:off x="6334125" y="1304925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REGISTRADO · R$ BI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2A55E080-BFB2-4E34-AB02-6ACB9240147F}"/>
              </a:ext>
            </a:extLst>
          </ns0:cNvPr>
          <ns0:cNvSpPr>
            <a:spLocks noGrp="1"/>
          </ns0:cNvSpPr>
          <ns0:nvPr/>
        </ns0:nvSpPr>
        <ns0:spPr>
          <a:xfrm>
            <a:off x="6334125" y="1571625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2" name="Chart"/>
          <ns0:cNvGraphicFramePr/>
          <ns0:nvPr/>
        </ns0:nvGraphicFramePr>
        <ns0:xfrm>
          <a:off x="6334125" y="1628775"/>
          <a:ext cx="5286375" cy="1885950"/>
        </ns0:xfrm>
        <a:graphic>
          <a:graphicData uri="http://schemas.openxmlformats.org/drawingml/2006/chart">
            <c:chart ns4:id="R4ba2431024cc43f6"/>
          </a:graphicData>
        </a:graphic>
      </ns0:graphicFrame>
      <ns0:graphicFrame>
        <ns0:nvGraphicFramePr>
          <ns0:cNvPr id="33" name="Chart"/>
          <ns0:cNvGraphicFramePr/>
          <ns0:nvPr/>
        </ns0:nvGraphicFramePr>
        <ns0:xfrm>
          <a:off x="4333875" y="3552825"/>
          <a:ext cx="3524250" cy="209550"/>
        </ns0:xfrm>
        <a:graphic>
          <a:graphicData uri="http://schemas.openxmlformats.org/drawingml/2006/chart">
            <c:chart ns4:id="R6ab0a812a1f44cdc"/>
          </a:graphicData>
        </a:graphic>
      </ns0:graphicFrame>
      <ns0:sp>
        <ns0:nvSpPr>
          <ns0:cNvPr id="14" name="">
            <a:extLst>
              <a:ext uri="{FF2B5EF4-FFF2-40B4-BE49-F238E27FC236}">
                <ns2:creationId id="{D56055C8-9EE2-424F-94DF-E2B35583A7EB}"/>
              </a:ext>
            </a:extLst>
          </ns0:cNvPr>
          <ns0:cNvSpPr>
            <a:spLocks noGrp="1"/>
          </ns0:cNvSpPr>
          <ns0:nvPr/>
        </ns0:nvSpPr>
        <ns0:spPr>
          <a:xfrm>
            <a:off x="571500" y="3724275"/>
            <a:ext cx="528637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% do período (Melhores esforços / Garantia firme / Misto) · 2024FY: 94 / 4 / 3%   ·   2025FY: 95 / 3 / 1%   ·   2026 jan–jun: 96 / 3 / 2%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9F35F0FD-FECF-425A-AA60-5F7499B96921}"/>
              </a:ext>
            </a:extLst>
          </ns0:cNvPr>
          <ns0:cNvSpPr>
            <a:spLocks noGrp="1"/>
          </ns0:cNvSpPr>
          <ns0:nvPr/>
        </ns0:nvSpPr>
        <ns0:spPr>
          <a:xfrm>
            <a:off x="571500" y="386715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REGIME DE COLOCAÇÃO · NÚMERO DE OFERTAS</a:t>
            </a:r>
          </a:p>
        </ns0:txBody>
      </ns0:sp>
      <ns0:sp>
        <ns0:nvSpPr>
          <ns0:cNvPr id="16" name="">
            <a:extLst>
              <a:ext uri="{FF2B5EF4-FFF2-40B4-BE49-F238E27FC236}">
                <ns2:creationId id="{0F9D71BB-A8AB-4E83-B088-69703EE085D3}"/>
              </a:ext>
            </a:extLst>
          </ns0:cNvPr>
          <ns0:cNvSpPr>
            <a:spLocks noGrp="1"/>
          </ns0:cNvSpPr>
          <ns0:nvPr/>
        </ns0:nvSpPr>
        <ns0:spPr>
          <a:xfrm>
            <a:off x="571500" y="413385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7" name="Chart"/>
          <ns0:cNvGraphicFramePr/>
          <ns0:nvPr/>
        </ns0:nvGraphicFramePr>
        <ns0:xfrm>
          <a:off x="571500" y="4171950"/>
          <a:ext cx="5286375" cy="1857375"/>
        </ns0:xfrm>
        <a:graphic>
          <a:graphicData uri="http://schemas.openxmlformats.org/drawingml/2006/chart">
            <c:chart ns4:id="R9aa1679eee344c67"/>
          </a:graphicData>
        </a:graphic>
      </ns0:graphicFrame>
      <ns0:sp>
        <ns0:nvSpPr>
          <ns0:cNvPr id="18" name="">
            <a:extLst>
              <a:ext uri="{FF2B5EF4-FFF2-40B4-BE49-F238E27FC236}">
                <ns2:creationId id="{C9EB66BD-1886-45D9-B202-19AF83B60542}"/>
              </a:ext>
            </a:extLst>
          </ns0:cNvPr>
          <ns0:cNvSpPr>
            <a:spLocks noGrp="1"/>
          </ns0:cNvSpPr>
          <ns0:nvPr/>
        </ns0:nvSpPr>
        <ns0:spPr>
          <a:xfrm>
            <a:off x="6334125" y="386715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REGIME DE COLOCAÇÃO · VOLUME · R$ BI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08D2D0E8-7AAB-4FE7-9E06-F77341EFD1D4}"/>
              </a:ext>
            </a:extLst>
          </ns0:cNvPr>
          <ns0:cNvSpPr>
            <a:spLocks noGrp="1"/>
          </ns0:cNvSpPr>
          <ns0:nvPr/>
        </ns0:nvSpPr>
        <ns0:spPr>
          <a:xfrm>
            <a:off x="6334125" y="413385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40" name="Chart"/>
          <ns0:cNvGraphicFramePr/>
          <ns0:nvPr/>
        </ns0:nvGraphicFramePr>
        <ns0:xfrm>
          <a:off x="6334125" y="4171950"/>
          <a:ext cx="5286375" cy="1857375"/>
        </ns0:xfrm>
        <a:graphic>
          <a:graphicData uri="http://schemas.openxmlformats.org/drawingml/2006/chart">
            <c:chart ns4:id="R1e5cd66f19e242db"/>
          </a:graphicData>
        </a:graphic>
      </ns0:graphicFrame>
    </ns0:spTree>
    <ns0:extLst>
      <ns0:ext uri="{BB962C8B-B14F-4D97-AF65-F5344CB8AC3E}">
        <ns5:creationId val="966595823"/>
      </ns0:ext>
    </ns0:extLst>
  </ns0:cSld>
</ns0:sld>
</file>

<file path=ppt/slides/slide20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6" name="">
            <a:extLst>
              <a:ext uri="{FF2B5EF4-FFF2-40B4-BE49-F238E27FC236}">
                <ns2:creationId id="{898876A9-5677-45D7-810D-685F9C774825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IBBA esteve em 8 das 15 maiores ofertas do semestre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E6940829-71FC-49AD-BCA2-0744AB7E370C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Liderou 5 delas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D66033B4-2895-49FB-B2C7-93201A69D9A3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3744137F-0DF1-4A14-8192-A57F49611741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CBC80E51-2A31-4CE2-9974-95CD0E262525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ofertas, e FundosNet. Primárias encerradas, todos os ritos;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789009C4-A36F-48BF-A1CE-F5D7BC7D7DC5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20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3474690D-D084-49FB-AF05-2900E731896D}"/>
              </a:ext>
            </a:extLst>
          </ns0:cNvPr>
          <ns0:cNvSpPr>
            <a:spLocks noGrp="1"/>
          </ns0:cNvSpPr>
          <ns0:nvPr/>
        </ns0:nvSpPr>
        <ns0:spPr>
          <a:xfrm>
            <a:off x="571500" y="1314450"/>
            <a:ext cx="5334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JAN–JUN/26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CACDBF8E-A1FF-47C1-BF1D-D7BF74B3B470}"/>
              </a:ext>
            </a:extLst>
          </ns0:cNvPr>
          <ns0:cNvSpPr>
            <a:spLocks noGrp="1"/>
          </ns0:cNvSpPr>
          <ns0:nvPr/>
        </ns0:nvSpPr>
        <ns0:spPr>
          <a:xfrm>
            <a:off x="571500" y="1581150"/>
            <a:ext cx="5334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4" name=""/>
          <ns0:cNvGraphicFramePr/>
          <ns0:nvPr/>
        </ns0:nvGraphicFramePr>
        <ns0:xfrm>
          <a:off x="571500" y="1657350"/>
          <a:ext cx="5334000" cy="419100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09550"/>
                <a:gridCol w="781050"/>
                <a:gridCol w="1066800"/>
                <a:gridCol w="1000125"/>
                <a:gridCol w="952500"/>
                <a:gridCol w="800100"/>
                <a:gridCol w="523875"/>
              </a:tblGrid>
              <a:tr h="3238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Emissão / 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 / 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 / 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E 24947</a:t>
                      </a:r>
                    </a:p>
                    <a:p>
                      <a:pPr algn="l"/>
                      <a:r>
                        <a:rPr sz="41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62.393.679/0001-83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CloudWalk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1,0% até D+180;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R$ 1.000,00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E 22244</a:t>
                      </a:r>
                    </a:p>
                    <a:p>
                      <a:pPr algn="l"/>
                      <a:r>
                        <a:rPr sz="41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62.588.266/0001-54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VTK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E 25826</a:t>
                      </a:r>
                    </a:p>
                    <a:p>
                      <a:pPr algn="l"/>
                      <a:r>
                        <a:rPr sz="41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65.976.848/0001-04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 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Agibank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E 24712</a:t>
                      </a:r>
                    </a:p>
                    <a:p>
                      <a:pPr algn="l"/>
                      <a:r>
                        <a:rPr sz="41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50.114.948/0001-46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DRIVER BRASIL SIX BANCO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Volkswagen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24433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63.572.282/0001-11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3 MEIOS PAGAMENTO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Mercado Pago /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10,0%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R$ 1.000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E 25379</a:t>
                      </a:r>
                    </a:p>
                    <a:p>
                      <a:pPr algn="l"/>
                      <a:r>
                        <a:rPr sz="41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63.546.406/0001-94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Pine INSS III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Pine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1,5% inicial;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26277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65.839.682/0001-76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INVESTIMENTOS PICPAY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PicPay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23614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63.733.796/0001-01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ICRED INSS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ICred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24212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64.118.207/0001-48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JIVEMAUÁ BOSSANOVA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Não identificado ·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24371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62.393.829/0001-59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COMERCIAIS MEDICI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Fornecedores de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E 25708</a:t>
                      </a:r>
                    </a:p>
                    <a:p>
                      <a:pPr algn="l"/>
                      <a:r>
                        <a:rPr sz="41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28.169.275/0001-72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PagSeguro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E 24266</a:t>
                      </a:r>
                    </a:p>
                    <a:p>
                      <a:pPr algn="l"/>
                      <a:r>
                        <a:rPr sz="41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63.505.455/0001-89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IS GREEN SOLFACIL VII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Solfácil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E 26532</a:t>
                      </a:r>
                    </a:p>
                    <a:p>
                      <a:pPr algn="l"/>
                      <a:r>
                        <a:rPr sz="41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66.226.355/0001-01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DAYCOVAL D413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Não identificado ·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23529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61.669.748/0001-76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LAVORO FORNECEDORES 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Lavoro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23032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44.302.112/0001-72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ÚNICA AGRO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Bayer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644DB7FA-13BB-4695-9CAC-BB5F7E2EBE5B}"/>
              </a:ext>
            </a:extLst>
          </ns0:cNvPr>
          <ns0:cNvSpPr>
            <a:spLocks noGrp="1"/>
          </ns0:cNvSpPr>
          <ns0:nvPr/>
        </ns0:nvSpPr>
        <ns0:spPr>
          <a:xfrm>
            <a:off x="6286500" y="1314450"/>
            <a:ext cx="5334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2025FY · TOP 15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FCC794A0-18CC-4EBE-A373-A1848B36D977}"/>
              </a:ext>
            </a:extLst>
          </ns0:cNvPr>
          <ns0:cNvSpPr>
            <a:spLocks noGrp="1"/>
          </ns0:cNvSpPr>
          <ns0:nvPr/>
        </ns0:nvSpPr>
        <ns0:spPr>
          <a:xfrm>
            <a:off x="6286500" y="1581150"/>
            <a:ext cx="5334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7" name=""/>
          <ns0:cNvGraphicFramePr/>
          <ns0:nvPr/>
        </ns0:nvGraphicFramePr>
        <ns0:xfrm>
          <a:off x="6286500" y="1657350"/>
          <a:ext cx="5334000" cy="419100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09550"/>
                <a:gridCol w="781050"/>
                <a:gridCol w="1066800"/>
                <a:gridCol w="1000125"/>
                <a:gridCol w="952500"/>
                <a:gridCol w="800100"/>
                <a:gridCol w="523875"/>
              </a:tblGrid>
              <a:tr h="3238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Emissão / 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 / 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 / 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17862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47.228.232/0001-65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Carteira agro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E 20185</a:t>
                      </a:r>
                    </a:p>
                    <a:p>
                      <a:pPr algn="l"/>
                      <a:r>
                        <a:rPr sz="41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60.356.171/0001-80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CW PI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CloudWalk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2,5%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R$ 1,00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3,14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23734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63.662.224/0001-89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SANTANDER AUTO LOANS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Santander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E 20351</a:t>
                      </a:r>
                    </a:p>
                    <a:p>
                      <a:pPr algn="l"/>
                      <a:r>
                        <a:rPr sz="41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60.528.786/0001-46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Agibank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19640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59.356.753/0001-87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ER - ENERGIA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Não identificado ·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21258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56.924.942/0001-10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ASA LP II COTAS LIM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Não aplicável ·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18230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47.228.232/0001-65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Carteira agro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20365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47.228.232/0001-65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Carteira agro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E 20694</a:t>
                      </a:r>
                    </a:p>
                    <a:p>
                      <a:pPr algn="l"/>
                      <a:r>
                        <a:rPr sz="41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50.473.039/0001-02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Sellers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Mercado Pago /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10,0%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R$ 1.000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21550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60.598.366/0001-36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BV AUTO II FINANCEIRO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BV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E 22987</a:t>
                      </a:r>
                    </a:p>
                    <a:p>
                      <a:pPr algn="l"/>
                      <a:r>
                        <a:rPr sz="41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63.321.684/0001-43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PINE INSS 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Pine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E 19298</a:t>
                      </a:r>
                    </a:p>
                    <a:p>
                      <a:pPr algn="l"/>
                      <a:r>
                        <a:rPr sz="41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58.349.979/0001-98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VOLKSWAGEN TERA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Volkswagen /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21006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61.188.091/0001-25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BYX MOZART -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Não identificado ·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21036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61.271.872/0001-89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PINE INSS FINANCEIRO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Pine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21208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17.250.006/0001-10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REAL LP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3" name="">
            <a:extLst>
              <a:ext uri="{FF2B5EF4-FFF2-40B4-BE49-F238E27FC236}">
                <ns2:creationId id="{62EBECDE-2A5C-4B1E-B03C-942F801399F9}"/>
              </a:ext>
            </a:extLst>
          </ns0:cNvPr>
          <ns0:cNvSpPr>
            <a:spLocks noGrp="1"/>
          </ns0:cNvSpPr>
          <ns0:nvPr/>
        </ns0:nvSpPr>
        <ns0:spPr>
          <a:xfrm>
            <a:off x="571500" y="5905500"/>
            <a:ext cx="533400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69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Subtotal: R$ 23,82 bi · 36,4% do período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3E5CC864-895B-4351-B887-0EF456E24666}"/>
              </a:ext>
            </a:extLst>
          </ns0:cNvPr>
          <ns0:cNvSpPr>
            <a:spLocks noGrp="1"/>
          </ns0:cNvSpPr>
          <ns0:nvPr/>
        </ns0:nvSpPr>
        <ns0:spPr>
          <a:xfrm>
            <a:off x="6286500" y="5905500"/>
            <a:ext cx="533400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69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Subtotal: R$ 26,23 bi · 22,4% do período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72F151E5-BC02-4895-91DB-BB29558DD963}"/>
              </a:ext>
            </a:extLst>
          </ns0:cNvPr>
          <ns0:cNvSpPr>
            <a:spLocks noGrp="1"/>
          </ns0:cNvSpPr>
          <ns0:nvPr/>
        </ns0:nvSpPr>
        <ns0:spPr>
          <a:xfrm>
            <a:off x="571500" y="6105525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593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593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O = originador; C = cedente; S = subordinação mínima; P = preço de emissão por tipo de cota. CNPJ e emissão formam a chave de cada linha; N/D indica lacuna documental.</a:t>
            </a:r>
          </a:p>
        </ns0:txBody>
      </ns0:sp>
    </ns0:spTree>
    <ns0:extLst>
      <ns0:ext uri="{BB962C8B-B14F-4D97-AF65-F5344CB8AC3E}">
        <ns3:creationId val="1055949729"/>
      </ns0:ext>
    </ns0:extLst>
  </ns0:cSld>
</ns0:sld>
</file>

<file path=ppt/slides/slide21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6" name="">
            <a:extLst>
              <a:ext uri="{FF2B5EF4-FFF2-40B4-BE49-F238E27FC236}">
                <ns2:creationId id="{4E4D79DC-3089-4DE0-A460-848B9FD045A4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HISTÓRICO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EBE25AD2-A029-4197-BDE3-910AC832C93D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2024FY e 2023FY com campos documentais por CNPJ e emissão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16E73CA7-E2D0-49E6-ACA3-6AE5C0D46D23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B45F3537-E573-4AF0-981B-787435C5291F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72C39ACB-A28B-4BFA-99BD-CD350269FF51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ofertas, e FundosNet. Primárias encerradas, todos os ritos;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D7F36B84-74A2-48A8-9B40-BFD295499211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21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B324CE6A-A868-4BF4-A574-A45954ED5374}"/>
              </a:ext>
            </a:extLst>
          </ns0:cNvPr>
          <ns0:cNvSpPr>
            <a:spLocks noGrp="1"/>
          </ns0:cNvSpPr>
          <ns0:nvPr/>
        </ns0:nvSpPr>
        <ns0:spPr>
          <a:xfrm>
            <a:off x="571500" y="1314450"/>
            <a:ext cx="5334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2024FY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E748FC3F-9865-4A61-974D-AFD0CFC655E4}"/>
              </a:ext>
            </a:extLst>
          </ns0:cNvPr>
          <ns0:cNvSpPr>
            <a:spLocks noGrp="1"/>
          </ns0:cNvSpPr>
          <ns0:nvPr/>
        </ns0:nvSpPr>
        <ns0:spPr>
          <a:xfrm>
            <a:off x="571500" y="1581150"/>
            <a:ext cx="5334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4" name=""/>
          <ns0:cNvGraphicFramePr/>
          <ns0:nvPr/>
        </ns0:nvGraphicFramePr>
        <ns0:xfrm>
          <a:off x="571500" y="1657350"/>
          <a:ext cx="5334000" cy="419100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09550"/>
                <a:gridCol w="781050"/>
                <a:gridCol w="1066800"/>
                <a:gridCol w="1000125"/>
                <a:gridCol w="952500"/>
                <a:gridCol w="800100"/>
                <a:gridCol w="523875"/>
              </a:tblGrid>
              <a:tr h="3238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Emissão / 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 / 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 / 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18162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57.532.556/0001-46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A DO BV AUTO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BV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15612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54.979.779/0001-68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BEM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Stone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3627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47.228.232/0001-65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3794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32.321.307/0001-80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CITY - 02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4203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52.256.912/0001-22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17739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57.609.282/0001-46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AGI MEIOS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CloudWalk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15753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54.810.968/0001-02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Angá FGTS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15714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47.228.232/0001-65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18270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46.450.551/0001-58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D365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D365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16416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55.471.753/0001-77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II MEIOS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Mercado Pago /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33,3%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R$ 1.000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18027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28.169.275/0001-72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PagSeguro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3687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46.073.195/0001-09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CITI-SYNGENTA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18122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57.028.406/0001-08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IS GREEN SOLFACIL VI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Solfácil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14966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54.218.673/0001-41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CW Big Pic.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CloudWalk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2,5%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R$ 1.000,00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15820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55.070.804/0001-59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Estrat. Vinc.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2BDA2FF5-A12A-4DA1-810C-9CBCAAECA3E2}"/>
              </a:ext>
            </a:extLst>
          </ns0:cNvPr>
          <ns0:cNvSpPr>
            <a:spLocks noGrp="1"/>
          </ns0:cNvSpPr>
          <ns0:nvPr/>
        </ns0:nvSpPr>
        <ns0:spPr>
          <a:xfrm>
            <a:off x="571500" y="5905500"/>
            <a:ext cx="533400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69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Subtotal: R$ 28,93 bi · 30,3% do período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F8FDEEAD-D200-4A46-BAD8-B213F0637F32}"/>
              </a:ext>
            </a:extLst>
          </ns0:cNvPr>
          <ns0:cNvSpPr>
            <a:spLocks noGrp="1"/>
          </ns0:cNvSpPr>
          <ns0:nvPr/>
        </ns0:nvSpPr>
        <ns0:spPr>
          <a:xfrm>
            <a:off x="6286500" y="1314450"/>
            <a:ext cx="5334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2023FY · TOP 15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CC26CDDB-7FCA-4188-AA89-9DD0A509C5B7}"/>
              </a:ext>
            </a:extLst>
          </ns0:cNvPr>
          <ns0:cNvSpPr>
            <a:spLocks noGrp="1"/>
          </ns0:cNvSpPr>
          <ns0:nvPr/>
        </ns0:nvSpPr>
        <ns0:spPr>
          <a:xfrm>
            <a:off x="6286500" y="1581150"/>
            <a:ext cx="5334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8" name=""/>
          <ns0:cNvGraphicFramePr/>
          <ns0:nvPr/>
        </ns0:nvGraphicFramePr>
        <ns0:xfrm>
          <a:off x="6286500" y="1657350"/>
          <a:ext cx="5334000" cy="419100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09550"/>
                <a:gridCol w="781050"/>
                <a:gridCol w="1066800"/>
                <a:gridCol w="1000125"/>
                <a:gridCol w="952500"/>
                <a:gridCol w="800100"/>
                <a:gridCol w="523875"/>
              </a:tblGrid>
              <a:tr h="3238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Emissão / 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 / 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 / 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1758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50.473.039/0001-02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10,0%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R$ 1.000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3483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51.983.832/0001-06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IV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816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48.905.593/0001-61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PÁTRIA INFRA CRÉDITO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3468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52.720.932/0001-02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BRF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1744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50.114.948/0001-46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DRIVER BRASIL SIX 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2925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51.957.370/0001-52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Angá FGTS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0,61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578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49.306.883/0001-51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TERRAMAR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3491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47.936.340/0001-92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OPEA AGRO INSUMOS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3865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34.850.088/0001-52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SUMUP I MEIOS PAGAMENTO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2036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49.920.525/0001-34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GREEN SOLFÁCIL III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2004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50.098.465/0001-03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CHEMICAL XIII - -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1131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24.761.946/0001-39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CREDZ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3138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50.988.212/0001-05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SUPPLIER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1519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50.440.392/0001-88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PLATINUM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1433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35.159.296/0001-72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ATRANI NÃO-PADRONIZADOS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4" name="">
            <a:extLst>
              <a:ext uri="{FF2B5EF4-FFF2-40B4-BE49-F238E27FC236}">
                <ns2:creationId id="{2F8E84BF-E2F2-462D-92C1-99FEEE540BB7}"/>
              </a:ext>
            </a:extLst>
          </ns0:cNvPr>
          <ns0:cNvSpPr>
            <a:spLocks noGrp="1"/>
          </ns0:cNvSpPr>
          <ns0:nvPr/>
        </ns0:nvSpPr>
        <ns0:spPr>
          <a:xfrm>
            <a:off x="6286500" y="5905500"/>
            <a:ext cx="533400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69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Subtotal: R$ 9,65 bi · 36,5% do período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29E7F1BB-B270-4DF1-A59A-289661D02700}"/>
              </a:ext>
            </a:extLst>
          </ns0:cNvPr>
          <ns0:cNvSpPr>
            <a:spLocks noGrp="1"/>
          </ns0:cNvSpPr>
          <ns0:nvPr/>
        </ns0:nvSpPr>
        <ns0:spPr>
          <a:xfrm>
            <a:off x="571500" y="6105525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607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07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O = originador; C = cedente; S = subordinação mínima; P = preço de emissão por tipo de cota. Cada linha usa CNPJ e emissão como chave; lacuna documental permanece N/D.</a:t>
            </a:r>
          </a:p>
        </ns0:txBody>
      </ns0:sp>
    </ns0:spTree>
    <ns0:extLst>
      <ns0:ext uri="{BB962C8B-B14F-4D97-AF65-F5344CB8AC3E}">
        <ns3:creationId val="1423978662"/>
      </ns0:ext>
    </ns0:extLst>
  </ns0:cSld>
</ns0:sld>
</file>

<file path=ppt/slides/slide22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8" name="">
            <a:extLst>
              <a:ext uri="{FF2B5EF4-FFF2-40B4-BE49-F238E27FC236}">
                <ns2:creationId id="{299D28E7-CFAD-426A-B527-72DFD47D850F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O que muda a leitura do mercado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9CA53DE6-448D-4AEF-99A5-2142B88DE10E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Distribuição, prestadores, migração e ofertas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43004361-54BD-456D-A7B3-6A94A2F68FA9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E4A150F9-0827-4845-AF40-27520ED4185B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0FF038C3-DD59-4A7A-B4D8-0BB9E6A17E5C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6879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ANBIMA e BCB; coorte bancária curada a partir dos conglomerados prudenciais. PF: proxy com 97,3% de cobertura; contas não equivalem a investidores únicos. Verticalização no universo elegível; Top 10 ex-Petrobras/TAPSO. BTG: 30/32 raízes observadas; ofertas CVM até 30/jun/26 e ANBIMA até 31/mai/26.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EC333725-1776-4ABE-8E0E-A30B32B17952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22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95FCC37E-84DE-4B6A-8F66-3E087A937C4E}"/>
              </a:ext>
            </a:extLst>
          </ns0:cNvPr>
          <ns0:cNvSpPr>
            <a:spLocks noGrp="1"/>
          </ns0:cNvSpPr>
          <ns0:nvPr/>
        </ns0:nvSpPr>
        <ns0:spPr>
          <a:xfrm>
            <a:off x="571500" y="12573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01 · DISTRIBUIÇÃO APÓS A RCVM 175 SEGUE INSTITUCIONAL E CONCENTRADA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B6E00B9A-136F-43DA-9106-C2CF0E41DB49}"/>
              </a:ext>
            </a:extLst>
          </ns0:cNvPr>
          <ns0:cNvSpPr>
            <a:spLocks noGrp="1"/>
          </ns0:cNvSpPr>
          <ns0:nvPr/>
        </ns0:nvSpPr>
        <ns0:spPr>
          <a:xfrm>
            <a:off x="571500" y="14954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 mediana foi de R$ 22,5 mi, apenas 26% do ticket médio de R$ 84,9 mi; 22 ofertas de R$ 500 mi ou mais — 2,9% do total — concentraram 42,2% do volume.</a:t>
            </a:r>
          </a:p>
          <a:p>
            <a:pPr algn="l">
              <a:lnSpc>
                <a:spcPct val="102000"/>
              </a:lnSpc>
              <a:buNone/>
              <a:def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Pessoas físicas responderam por apenas 4,0% do volume colocado estimado; entre os fundos com PL ≥ R$ 200 mi, 58,4% têm até dez contas.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17F79C84-B592-461F-9B45-304F0488F86E}"/>
              </a:ext>
            </a:extLst>
          </ns0:cNvPr>
          <ns0:cNvSpPr>
            <a:spLocks noGrp="1"/>
          </ns0:cNvSpPr>
          <ns0:nvPr/>
        </ns0:nvSpPr>
        <ns0:spPr>
          <a:xfrm>
            <a:off x="571500" y="23717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0" name="">
            <a:extLst>
              <a:ext uri="{FF2B5EF4-FFF2-40B4-BE49-F238E27FC236}">
                <ns2:creationId id="{DF3D5E74-F155-491B-9339-547DE62A0D06}"/>
              </a:ext>
            </a:extLst>
          </ns0:cNvPr>
          <ns0:cNvSpPr>
            <a:spLocks noGrp="1"/>
          </ns0:cNvSpPr>
          <ns0:nvPr/>
        </ns0:nvSpPr>
        <ns0:spPr>
          <a:xfrm>
            <a:off x="6286500" y="12573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02 · VERTICALIZAÇÃO DEFINE O MODELO OPERACIONAL DA INDÚSTRIA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B8C156D9-7739-4822-A395-069BCF8CD063}"/>
              </a:ext>
            </a:extLst>
          </ns0:cNvPr>
          <ns0:cNvSpPr>
            <a:spLocks noGrp="1"/>
          </ns0:cNvSpPr>
          <ns0:nvPr/>
        </ns0:nvSpPr>
        <ns0:spPr>
          <a:xfrm>
            <a:off x="6286500" y="14954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Administração e custódia estão no mesmo conglomerado em 90,7% do PL: nove em cada dez reais da indústria.</a:t>
            </a:r>
          </a:p>
          <a:p>
            <a:pPr algn="l">
              <a:lnSpc>
                <a:spcPct val="102000"/>
              </a:lnSpc>
              <a:buNone/>
              <a:def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Monoestruturas, com as três funções no mesmo grupo, já concentram 40,4% do PL.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D03ED6E3-1291-46E1-9112-AD14166E36ED}"/>
              </a:ext>
            </a:extLst>
          </ns0:cNvPr>
          <ns0:cNvSpPr>
            <a:spLocks noGrp="1"/>
          </ns0:cNvSpPr>
          <ns0:nvPr/>
        </ns0:nvSpPr>
        <ns0:spPr>
          <a:xfrm>
            <a:off x="6286500" y="23717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3" name="">
            <a:extLst>
              <a:ext uri="{FF2B5EF4-FFF2-40B4-BE49-F238E27FC236}">
                <ns2:creationId id="{E8D22999-CBC4-4EDF-A247-F56E51C4E273}"/>
              </a:ext>
            </a:extLst>
          </ns0:cNvPr>
          <ns0:cNvSpPr>
            <a:spLocks noGrp="1"/>
          </ns0:cNvSpPr>
          <ns0:nvPr/>
        </ns0:nvSpPr>
        <ns0:spPr>
          <a:xfrm>
            <a:off x="571500" y="24765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03 · ESCALA INDEPENDENTE ESTÁ CONCENTRADA EM POUCAS PLATAFORMAS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2C7101E7-F384-44DA-B27D-77917662AF06}"/>
              </a:ext>
            </a:extLst>
          </ns0:cNvPr>
          <ns0:cNvSpPr>
            <a:spLocks noGrp="1"/>
          </ns0:cNvSpPr>
          <ns0:nvPr/>
        </ns0:nvSpPr>
        <ns0:spPr>
          <a:xfrm>
            <a:off x="571500" y="27146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QI Tech lidera administração e está em empate técnico com o BTG em custódia; 96% de sua base administrativa em dez/24 veio do legado Singulare.</a:t>
            </a:r>
          </a:p>
          <a:p>
            <a:pPr algn="l">
              <a:lnSpc>
                <a:spcPct val="102000"/>
              </a:lnSpc>
              <a:buNone/>
              <a:def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Oliveira Trust é a terceira maior gestora, com R$ 35,0 bi; na coorte CBSF/Reag, 35,1% do PL continuante já havia migrado de administrador até jun/26.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BCEACAB6-9743-49AB-9064-5D250FC7A7ED}"/>
              </a:ext>
            </a:extLst>
          </ns0:cNvPr>
          <ns0:cNvSpPr>
            <a:spLocks noGrp="1"/>
          </ns0:cNvSpPr>
          <ns0:nvPr/>
        </ns0:nvSpPr>
        <ns0:spPr>
          <a:xfrm>
            <a:off x="571500" y="35909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6" name="">
            <a:extLst>
              <a:ext uri="{FF2B5EF4-FFF2-40B4-BE49-F238E27FC236}">
                <ns2:creationId id="{57F4F45D-F622-4D27-8DF2-6B81F35349D9}"/>
              </a:ext>
            </a:extLst>
          </ns0:cNvPr>
          <ns0:cNvSpPr>
            <a:spLocks noGrp="1"/>
          </ns0:cNvSpPr>
          <ns0:nvPr/>
        </ns0:nvSpPr>
        <ns0:spPr>
          <a:xfrm>
            <a:off x="6286500" y="24765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04 · MOVIMENTAÇÃO DE ADMINISTRADORES FOI BAIXA E CONCENTRADA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07D3A1F8-2ACB-4F62-98EE-4424B9B88C1F}"/>
              </a:ext>
            </a:extLst>
          </ns0:cNvPr>
          <ns0:cNvSpPr>
            <a:spLocks noGrp="1"/>
          </ns0:cNvSpPr>
          <ns0:nvPr/>
        </ns0:nvSpPr>
        <ns0:spPr>
          <a:xfrm>
            <a:off x="6286500" y="27146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Apenas 7,6% do PL comparável trocou de administrador entre dez/24 e dez/25: R$ 32,4 bi em 243 fundos.</a:t>
            </a:r>
          </a:p>
          <a:p>
            <a:pPr algn="l">
              <a:lnSpc>
                <a:spcPct val="102000"/>
              </a:lnSpc>
              <a:buNone/>
              <a:def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Os dois FIDCs Cielo responderam sozinhos por 28% do volume migrado, com R$ 8,9 bi transferidos de Oliveira Trust para Bradesco.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89FC28F2-7747-4B84-8039-4993420E7D6A}"/>
              </a:ext>
            </a:extLst>
          </ns0:cNvPr>
          <ns0:cNvSpPr>
            <a:spLocks noGrp="1"/>
          </ns0:cNvSpPr>
          <ns0:nvPr/>
        </ns0:nvSpPr>
        <ns0:spPr>
          <a:xfrm>
            <a:off x="6286500" y="35909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9" name="">
            <a:extLst>
              <a:ext uri="{FF2B5EF4-FFF2-40B4-BE49-F238E27FC236}">
                <ns2:creationId id="{9889D009-58AF-42F1-B23B-A741D034CE3E}"/>
              </a:ext>
            </a:extLst>
          </ns0:cNvPr>
          <ns0:cNvSpPr>
            <a:spLocks noGrp="1"/>
          </ns0:cNvSpPr>
          <ns0:nvPr/>
        </ns0:nvSpPr>
        <ns0:spPr>
          <a:xfrm>
            <a:off x="571500" y="36957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05 · GESTÃO É A FUNÇÃO MAIS PULVERIZADA</a:t>
            </a:r>
          </a:p>
        </ns0:txBody>
      </ns0:sp>
      <ns0:sp>
        <ns0:nvSpPr>
          <ns0:cNvPr id="20" name="">
            <a:extLst>
              <a:ext uri="{FF2B5EF4-FFF2-40B4-BE49-F238E27FC236}">
                <ns2:creationId id="{B52D6658-9D63-46D4-8875-338267BC1274}"/>
              </a:ext>
            </a:extLst>
          </ns0:cNvPr>
          <ns0:cNvSpPr>
            <a:spLocks noGrp="1"/>
          </ns0:cNvSpPr>
          <ns0:nvPr/>
        </ns0:nvSpPr>
        <ns0:spPr>
          <a:xfrm>
            <a:off x="571500" y="39338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As dez maiores gestoras reúnem apenas 38,9% do PL ex-FIC; a líder, BTG, tem 11,0%.</a:t>
            </a:r>
          </a:p>
          <a:p>
            <a:pPr algn="l">
              <a:lnSpc>
                <a:spcPct val="102000"/>
              </a:lnSpc>
              <a:buNone/>
              <a:def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Administração e custódia têm, respectivamente, 71,5% e 73,5% do PL nos dez maiores grupos, praticamente o dobro da concentração em gestão.</a:t>
            </a:r>
          </a:p>
        </ns0:txBody>
      </ns0:sp>
      <ns0:sp>
        <ns0:nvSpPr>
          <ns0:cNvPr id="21" name="">
            <a:extLst>
              <a:ext uri="{FF2B5EF4-FFF2-40B4-BE49-F238E27FC236}">
                <ns2:creationId id="{9C17D000-B5A2-42DA-8A65-57E2DA566083}"/>
              </a:ext>
            </a:extLst>
          </ns0:cNvPr>
          <ns0:cNvSpPr>
            <a:spLocks noGrp="1"/>
          </ns0:cNvSpPr>
          <ns0:nvPr/>
        </ns0:nvSpPr>
        <ns0:spPr>
          <a:xfrm>
            <a:off x="571500" y="48101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2" name="">
            <a:extLst>
              <a:ext uri="{FF2B5EF4-FFF2-40B4-BE49-F238E27FC236}">
                <ns2:creationId id="{C31975ED-CCC1-4B65-8966-E6A783906679}"/>
              </a:ext>
            </a:extLst>
          </ns0:cNvPr>
          <ns0:cNvSpPr>
            <a:spLocks noGrp="1"/>
          </ns0:cNvSpPr>
          <ns0:nvPr/>
        </ns0:nvSpPr>
        <ns0:spPr>
          <a:xfrm>
            <a:off x="6286500" y="36957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06 · COORTE BANCÁRIA EXPLICA DOIS TERÇOS DO COMBO COMPLETO DO BTG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E6866FD6-D1F2-42B5-9AAA-7A8E6B549A3B}"/>
              </a:ext>
            </a:extLst>
          </ns0:cNvPr>
          <ns0:cNvSpPr>
            <a:spLocks noGrp="1"/>
          </ns0:cNvSpPr>
          <ns0:nvPr/>
        </ns0:nvSpPr>
        <ns0:spPr>
          <a:xfrm>
            <a:off x="6286500" y="39338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Dos 30 FIDCs observados na coorte BTG, 22 concentram as três funções no grupo e representam 98% do PL da coorte — R$ 51,3 bi.</a:t>
            </a:r>
          </a:p>
          <a:p>
            <a:pPr algn="l">
              <a:lnSpc>
                <a:spcPct val="102000"/>
              </a:lnSpc>
              <a:buNone/>
              <a:def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Os R$ 51,3 bi da coorte equivalem a 66,0% dos R$ 77,7 bi de PL ex-FIC atendidos pelo BTG nas três funções.</a:t>
            </a:r>
          </a:p>
        </ns0:txBody>
      </ns0:sp>
      <ns0:sp>
        <ns0:nvSpPr>
          <ns0:cNvPr id="24" name="">
            <a:extLst>
              <a:ext uri="{FF2B5EF4-FFF2-40B4-BE49-F238E27FC236}">
                <ns2:creationId id="{63067936-CA6B-4529-83F1-CD386400006E}"/>
              </a:ext>
            </a:extLst>
          </ns0:cNvPr>
          <ns0:cNvSpPr>
            <a:spLocks noGrp="1"/>
          </ns0:cNvSpPr>
          <ns0:nvPr/>
        </ns0:nvSpPr>
        <ns0:spPr>
          <a:xfrm>
            <a:off x="6286500" y="48101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5" name="">
            <a:extLst>
              <a:ext uri="{FF2B5EF4-FFF2-40B4-BE49-F238E27FC236}">
                <ns2:creationId id="{766F7681-867A-40CF-A05F-6F62A21D9786}"/>
              </a:ext>
            </a:extLst>
          </ns0:cNvPr>
          <ns0:cNvSpPr>
            <a:spLocks noGrp="1"/>
          </ns0:cNvSpPr>
          <ns0:nvPr/>
        </ns0:nvSpPr>
        <ns0:spPr>
          <a:xfrm>
            <a:off x="571500" y="49149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07 · EMISSÕES ACELERARAM; A MAIOR OFERTA EXPLICA DOIS TERÇOS DO AVANÇO</a:t>
            </a:r>
          </a:p>
        </ns0:txBody>
      </ns0:sp>
      <ns0:sp>
        <ns0:nvSpPr>
          <ns0:cNvPr id="26" name="">
            <a:extLst>
              <a:ext uri="{FF2B5EF4-FFF2-40B4-BE49-F238E27FC236}">
                <ns2:creationId id="{4C7BC819-1B45-446F-86CF-60D1711AB1B2}"/>
              </a:ext>
            </a:extLst>
          </ns0:cNvPr>
          <ns0:cNvSpPr>
            <a:spLocks noGrp="1"/>
          </ns0:cNvSpPr>
          <ns0:nvPr/>
        </ns0:nvSpPr>
        <ns0:spPr>
          <a:xfrm>
            <a:off x="571500" y="51530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As 771 ofertas encerradas em jan–jun/26 somaram R$ 65,5 bi, avanço de 15% sobre jan–jun/25 e 60% sobre jan–jun/24.</a:t>
            </a:r>
          </a:p>
          <a:p>
            <a:pPr algn="l">
              <a:lnSpc>
                <a:spcPct val="102000"/>
              </a:lnSpc>
              <a:buNone/>
              <a:def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 oferta CloudWalk Bela, de R$ 5,5 bi, representou 8,4% do volume e 66,0% do crescimento sobre jan–jun/25; na sensibilidade sem essa oferta, o mercado teria avançado 5,0%.</a:t>
            </a:r>
          </a:p>
        </ns0:txBody>
      </ns0:sp>
      <ns0:sp>
        <ns0:nvSpPr>
          <ns0:cNvPr id="27" name="">
            <a:extLst>
              <a:ext uri="{FF2B5EF4-FFF2-40B4-BE49-F238E27FC236}">
                <ns2:creationId id="{BCB95087-FFA7-4C67-BA89-5CDAF77238C4}"/>
              </a:ext>
            </a:extLst>
          </ns0:cNvPr>
          <ns0:cNvSpPr>
            <a:spLocks noGrp="1"/>
          </ns0:cNvSpPr>
          <ns0:nvPr/>
        </ns0:nvSpPr>
        <ns0:spPr>
          <a:xfrm>
            <a:off x="571500" y="60293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</ns0:spTree>
    <ns0:extLst>
      <ns0:ext uri="{BB962C8B-B14F-4D97-AF65-F5344CB8AC3E}">
        <ns3:creationId val="935895227"/>
      </ns0:ext>
    </ns0:extLst>
  </ns0:cSld>
</ns0:sld>
</file>

<file path=ppt/slides/slide23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2" name="">
            <a:extLst>
              <a:ext uri="{FF2B5EF4-FFF2-40B4-BE49-F238E27FC236}">
                <ns2:creationId id="{26653E4C-10DF-4B8C-8D49-CC2DE8E9E303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QI lidera administração; BTG lidera gestão e custódia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C9F221E1-FBA4-4927-AEE6-A1F88ADC20CE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Ranking geral de jun/26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9B828BAB-C2D0-4319-9605-4741017C8A1E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610D76A9-079E-449A-8CBC-3A805287DEA1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7AD690D2-5574-4DAF-A6C1-9507B5BA1EDC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e cadastro de prestadores, jun/26. Exclui Sistema Petrobras e TAPSO. *Independentes: grupos sem controlador bancário na curadoria; Singulare consolidada em QI Tech e Kanastra no Itaú.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C605C65F-4DDE-4087-B3CC-CB90046F136F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23</a:t>
            </a:r>
          </a:p>
        </ns0:txBody>
      </ns0:sp>
      <ns0:graphicFrame>
        <ns0:nvGraphicFramePr>
          <ns0:cNvPr id="28" name="Chart"/>
          <ns0:cNvGraphicFramePr/>
          <ns0:nvPr/>
        </ns0:nvGraphicFramePr>
        <ns0:xfrm>
          <a:off x="1524000" y="1133475"/>
          <a:ext cx="9144000" cy="209550"/>
        </ns0:xfrm>
        <a:graphic>
          <a:graphicData uri="http://schemas.openxmlformats.org/drawingml/2006/chart">
            <c:chart ns4:id="Rdfb2734d35404c84"/>
          </a:graphicData>
        </a:graphic>
      </ns0:graphicFrame>
      <ns0:sp>
        <ns0:nvSpPr>
          <ns0:cNvPr id="8" name="">
            <a:extLst>
              <a:ext uri="{FF2B5EF4-FFF2-40B4-BE49-F238E27FC236}">
                <ns2:creationId id="{AF8A321E-0C93-474E-A2F7-AC31CCC9A32D}"/>
              </a:ext>
            </a:extLst>
          </ns0:cNvPr>
          <ns0:cNvSpPr>
            <a:spLocks noGrp="1"/>
          </ns0:cNvSpPr>
          <ns0:nvPr/>
        </ns0:nvSpPr>
        <ns0:spPr>
          <a:xfrm>
            <a:off x="571500" y="1362075"/>
            <a:ext cx="528637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93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TODOS OS PRESTADORES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B10ECA50-1F30-4009-9948-14B0719A249F}"/>
              </a:ext>
            </a:extLst>
          </ns0:cNvPr>
          <ns0:cNvSpPr>
            <a:spLocks noGrp="1"/>
          </ns0:cNvSpPr>
          <ns0:nvPr/>
        </ns0:nvSpPr>
        <ns0:spPr>
          <a:xfrm>
            <a:off x="6334125" y="1362075"/>
            <a:ext cx="528637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93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INDEPENDENTES*</a:t>
            </a:r>
          </a:p>
        </ns0:txBody>
      </ns0:sp>
      <ns0:sp>
        <ns0:nvSpPr>
          <ns0:cNvPr id="10" name="">
            <a:extLst>
              <a:ext uri="{FF2B5EF4-FFF2-40B4-BE49-F238E27FC236}">
                <ns2:creationId id="{58DA5697-B49B-445F-AC1E-4CDB26BFDBF8}"/>
              </a:ext>
            </a:extLst>
          </ns0:cNvPr>
          <ns0:cNvSpPr>
            <a:spLocks noGrp="1"/>
          </ns0:cNvSpPr>
          <ns0:nvPr/>
        </ns0:nvSpPr>
        <ns0:spPr>
          <a:xfrm>
            <a:off x="571500" y="158115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ADMINISTRAÇÃO · RANKING GERAL</a:t>
            </a:r>
          </a:p>
        </ns0:txBody>
      </ns0:sp>
      <ns0:graphicFrame>
        <ns0:nvGraphicFramePr>
          <ns0:cNvPr id="32" name="Chart"/>
          <ns0:cNvGraphicFramePr/>
          <ns0:nvPr/>
        </ns0:nvGraphicFramePr>
        <ns0:xfrm>
          <a:off x="571500" y="1752600"/>
          <a:ext cx="5286375" cy="1333500"/>
        </ns0:xfrm>
        <a:graphic>
          <a:graphicData uri="http://schemas.openxmlformats.org/drawingml/2006/chart">
            <c:chart ns4:id="R71890446f83b448a"/>
          </a:graphicData>
        </a:graphic>
      </ns0:graphicFrame>
      <ns0:sp>
        <ns0:nvSpPr>
          <ns0:cNvPr id="12" name="">
            <a:extLst>
              <a:ext uri="{FF2B5EF4-FFF2-40B4-BE49-F238E27FC236}">
                <ns2:creationId id="{E9E1C814-FFE8-454A-869F-6485B6EA71E1}"/>
              </a:ext>
            </a:extLst>
          </ns0:cNvPr>
          <ns0:cNvSpPr>
            <a:spLocks noGrp="1"/>
          </ns0:cNvSpPr>
          <ns0:nvPr/>
        </ns0:nvSpPr>
        <ns0:spPr>
          <a:xfrm>
            <a:off x="6334125" y="158115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ADMINISTRAÇÃO · RANKING INDEPENDENTE</a:t>
            </a:r>
          </a:p>
        </ns0:txBody>
      </ns0:sp>
      <ns0:graphicFrame>
        <ns0:nvGraphicFramePr>
          <ns0:cNvPr id="34" name="Chart"/>
          <ns0:cNvGraphicFramePr/>
          <ns0:nvPr/>
        </ns0:nvGraphicFramePr>
        <ns0:xfrm>
          <a:off x="6334125" y="1752600"/>
          <a:ext cx="5286375" cy="1333500"/>
        </ns0:xfrm>
        <a:graphic>
          <a:graphicData uri="http://schemas.openxmlformats.org/drawingml/2006/chart">
            <c:chart ns4:id="Rfefa53c177f14c1f"/>
          </a:graphicData>
        </a:graphic>
      </ns0:graphicFrame>
      <ns0:sp>
        <ns0:nvSpPr>
          <ns0:cNvPr id="14" name="">
            <a:extLst>
              <a:ext uri="{FF2B5EF4-FFF2-40B4-BE49-F238E27FC236}">
                <ns2:creationId id="{948502A9-A201-4289-A2F0-07EB44C85CA5}"/>
              </a:ext>
            </a:extLst>
          </ns0:cNvPr>
          <ns0:cNvSpPr>
            <a:spLocks noGrp="1"/>
          </ns0:cNvSpPr>
          <ns0:nvPr/>
        </ns0:nvSpPr>
        <ns0:spPr>
          <a:xfrm>
            <a:off x="571500" y="3114675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GESTÃO · RANKING GERAL</a:t>
            </a:r>
          </a:p>
        </ns0:txBody>
      </ns0:sp>
      <ns0:graphicFrame>
        <ns0:nvGraphicFramePr>
          <ns0:cNvPr id="36" name="Chart"/>
          <ns0:cNvGraphicFramePr/>
          <ns0:nvPr/>
        </ns0:nvGraphicFramePr>
        <ns0:xfrm>
          <a:off x="571500" y="3286125"/>
          <a:ext cx="5286375" cy="1333500"/>
        </ns0:xfrm>
        <a:graphic>
          <a:graphicData uri="http://schemas.openxmlformats.org/drawingml/2006/chart">
            <c:chart ns4:id="Rb9bb315bfcbb452e"/>
          </a:graphicData>
        </a:graphic>
      </ns0:graphicFrame>
      <ns0:sp>
        <ns0:nvSpPr>
          <ns0:cNvPr id="16" name="">
            <a:extLst>
              <a:ext uri="{FF2B5EF4-FFF2-40B4-BE49-F238E27FC236}">
                <ns2:creationId id="{AE678253-74BF-4F89-B788-4B2E55B61CC8}"/>
              </a:ext>
            </a:extLst>
          </ns0:cNvPr>
          <ns0:cNvSpPr>
            <a:spLocks noGrp="1"/>
          </ns0:cNvSpPr>
          <ns0:nvPr/>
        </ns0:nvSpPr>
        <ns0:spPr>
          <a:xfrm>
            <a:off x="6334125" y="3114675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GESTÃO · RANKING INDEPENDENTE</a:t>
            </a:r>
          </a:p>
        </ns0:txBody>
      </ns0:sp>
      <ns0:graphicFrame>
        <ns0:nvGraphicFramePr>
          <ns0:cNvPr id="38" name="Chart"/>
          <ns0:cNvGraphicFramePr/>
          <ns0:nvPr/>
        </ns0:nvGraphicFramePr>
        <ns0:xfrm>
          <a:off x="6334125" y="3286125"/>
          <a:ext cx="5286375" cy="1333500"/>
        </ns0:xfrm>
        <a:graphic>
          <a:graphicData uri="http://schemas.openxmlformats.org/drawingml/2006/chart">
            <c:chart ns4:id="Rc0679597e9aa4e63"/>
          </a:graphicData>
        </a:graphic>
      </ns0:graphicFrame>
      <ns0:sp>
        <ns0:nvSpPr>
          <ns0:cNvPr id="18" name="">
            <a:extLst>
              <a:ext uri="{FF2B5EF4-FFF2-40B4-BE49-F238E27FC236}">
                <ns2:creationId id="{484BB098-9A4A-4D11-B00C-912984018AD5}"/>
              </a:ext>
            </a:extLst>
          </ns0:cNvPr>
          <ns0:cNvSpPr>
            <a:spLocks noGrp="1"/>
          </ns0:cNvSpPr>
          <ns0:nvPr/>
        </ns0:nvSpPr>
        <ns0:spPr>
          <a:xfrm>
            <a:off x="571500" y="46482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CUSTÓDIA · RANKING GERAL</a:t>
            </a:r>
          </a:p>
        </ns0:txBody>
      </ns0:sp>
      <ns0:graphicFrame>
        <ns0:nvGraphicFramePr>
          <ns0:cNvPr id="40" name="Chart"/>
          <ns0:cNvGraphicFramePr/>
          <ns0:nvPr/>
        </ns0:nvGraphicFramePr>
        <ns0:xfrm>
          <a:off x="571500" y="4819650"/>
          <a:ext cx="5286375" cy="1333500"/>
        </ns0:xfrm>
        <a:graphic>
          <a:graphicData uri="http://schemas.openxmlformats.org/drawingml/2006/chart">
            <c:chart ns4:id="R8a62197cf6d04a60"/>
          </a:graphicData>
        </a:graphic>
      </ns0:graphicFrame>
      <ns0:sp>
        <ns0:nvSpPr>
          <ns0:cNvPr id="20" name="">
            <a:extLst>
              <a:ext uri="{FF2B5EF4-FFF2-40B4-BE49-F238E27FC236}">
                <ns2:creationId id="{86BA0FCB-7F25-41F4-AD8A-77CEA99A8A58}"/>
              </a:ext>
            </a:extLst>
          </ns0:cNvPr>
          <ns0:cNvSpPr>
            <a:spLocks noGrp="1"/>
          </ns0:cNvSpPr>
          <ns0:nvPr/>
        </ns0:nvSpPr>
        <ns0:spPr>
          <a:xfrm>
            <a:off x="6334125" y="46482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CUSTÓDIA · RANKING INDEPENDENTE</a:t>
            </a:r>
          </a:p>
        </ns0:txBody>
      </ns0:sp>
      <ns0:graphicFrame>
        <ns0:nvGraphicFramePr>
          <ns0:cNvPr id="42" name="Chart"/>
          <ns0:cNvGraphicFramePr/>
          <ns0:nvPr/>
        </ns0:nvGraphicFramePr>
        <ns0:xfrm>
          <a:off x="6334125" y="4819650"/>
          <a:ext cx="5286375" cy="1333500"/>
        </ns0:xfrm>
        <a:graphic>
          <a:graphicData uri="http://schemas.openxmlformats.org/drawingml/2006/chart">
            <c:chart ns4:id="Rac3572171eb740d7"/>
          </a:graphicData>
        </a:graphic>
      </ns0:graphicFrame>
    </ns0:spTree>
    <ns0:extLst>
      <ns0:ext uri="{BB962C8B-B14F-4D97-AF65-F5344CB8AC3E}">
        <ns5:creationId val="2096690750"/>
      </ns0:ext>
    </ns0:extLst>
  </ns0:cSld>
</ns0:sld>
</file>

<file path=ppt/slides/slide24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8" name="">
            <a:extLst>
              <a:ext uri="{FF2B5EF4-FFF2-40B4-BE49-F238E27FC236}">
                <ns2:creationId id="{0CBFF51A-48BC-485C-985A-AAD2CF7A02DC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 liderança some quando se olha o que a sustenta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EA6BBD85-82E1-43ED-9548-486AACE690F8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Singulare explica a escala da QI; sem a coorte bancária, BTG cai para #3 em gestão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7EA57726-DA00-462F-B898-FCA08D069DEC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7294739A-591D-43A8-BE43-6AE21FEEF74B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C1F0335A-121A-43FC-9D01-FA8D038CCFCB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CVM; BCB, alterações societárias nov/24–nov/25; coorte bancária curada a partir dos conglomerados prudenciais. PL ex-FIC, sem Sistema Petrobras/TAPSO.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9FF30643-8541-4487-A04F-FA2321A56C01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24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EF778DC6-D78A-4C27-92E6-84D31AD1D86B}"/>
              </a:ext>
            </a:extLst>
          </ns0:cNvPr>
          <ns0:cNvSpPr>
            <a:spLocks noGrp="1"/>
          </ns0:cNvSpPr>
          <ns0:nvPr/>
        </ns0:nvSpPr>
        <ns0:spPr>
          <a:xfrm>
            <a:off x="571500" y="1381125"/>
            <a:ext cx="50958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QI TECH · ADMINISTRAÇÃO EM DEZ/24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8DECD043-ED93-4C0A-B205-59E990E520B5}"/>
              </a:ext>
            </a:extLst>
          </ns0:cNvPr>
          <ns0:cNvSpPr>
            <a:spLocks noGrp="1"/>
          </ns0:cNvSpPr>
          <ns0:nvPr/>
        </ns0:nvSpPr>
        <ns0:spPr>
          <a:xfrm>
            <a:off x="571500" y="1647825"/>
            <a:ext cx="50958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6" name="Chart"/>
          <ns0:cNvGraphicFramePr/>
          <ns0:nvPr/>
        </ns0:nvGraphicFramePr>
        <ns0:xfrm>
          <a:off x="571500" y="1809750"/>
          <a:ext cx="5095875" cy="2190750"/>
        </ns0:xfrm>
        <a:graphic>
          <a:graphicData uri="http://schemas.openxmlformats.org/drawingml/2006/chart">
            <c:chart ns4:id="R8a4abd9530fc4347"/>
          </a:graphicData>
        </a:graphic>
      </ns0:graphicFrame>
      <ns0:sp>
        <ns0:nvSpPr>
          <ns0:cNvPr id="10" name="">
            <a:extLst>
              <a:ext uri="{FF2B5EF4-FFF2-40B4-BE49-F238E27FC236}">
                <ns2:creationId id="{BB98A189-D0DA-4E50-8EB1-BACBCAA19607}"/>
              </a:ext>
            </a:extLst>
          </ns0:cNvPr>
          <ns0:cNvSpPr>
            <a:spLocks noGrp="1"/>
          </ns0:cNvSpPr>
          <ns0:nvPr/>
        </ns0:nvSpPr>
        <ns0:spPr>
          <a:xfrm>
            <a:off x="762000" y="4286250"/>
            <a:ext cx="4714875" cy="3810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25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25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95,7%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28A28DA5-D8C0-40CB-B786-614D9C7F9E95}"/>
              </a:ext>
            </a:extLst>
          </ns0:cNvPr>
          <ns0:cNvSpPr>
            <a:spLocks noGrp="1"/>
          </ns0:cNvSpPr>
          <ns0:nvPr/>
        </ns0:nvSpPr>
        <ns0:spPr>
          <a:xfrm>
            <a:off x="762000" y="4705350"/>
            <a:ext cx="4714875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do PL administrado do grupo em dez/24 estava no CNPJ legado da Singulare. O controle mudou em nov/24; em nov/25, esse CNPJ incorporou a QI DTVM e passou a QI Corretora.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ED47EB2E-4E92-4215-9BD0-504C52B82A2B}"/>
              </a:ext>
            </a:extLst>
          </ns0:cNvPr>
          <ns0:cNvSpPr>
            <a:spLocks noGrp="1"/>
          </ns0:cNvSpPr>
          <ns0:nvPr/>
        </ns0:nvSpPr>
        <ns0:spPr>
          <a:xfrm>
            <a:off x="6334125" y="1381125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PACTUAL · GESTÃO EM JUN/26</a:t>
            </a:r>
          </a:p>
        </ns0:txBody>
      </ns0:sp>
      <ns0:sp>
        <ns0:nvSpPr>
          <ns0:cNvPr id="13" name="">
            <a:extLst>
              <a:ext uri="{FF2B5EF4-FFF2-40B4-BE49-F238E27FC236}">
                <ns2:creationId id="{CBD02466-B5A3-4576-A81D-FF2137D1720A}"/>
              </a:ext>
            </a:extLst>
          </ns0:cNvPr>
          <ns0:cNvSpPr>
            <a:spLocks noGrp="1"/>
          </ns0:cNvSpPr>
          <ns0:nvPr/>
        </ns0:nvSpPr>
        <ns0:spPr>
          <a:xfrm>
            <a:off x="6334125" y="1647825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1" name="Chart"/>
          <ns0:cNvGraphicFramePr/>
          <ns0:nvPr/>
        </ns0:nvGraphicFramePr>
        <ns0:xfrm>
          <a:off x="6334125" y="1809750"/>
          <a:ext cx="5286375" cy="2190750"/>
        </ns0:xfrm>
        <a:graphic>
          <a:graphicData uri="http://schemas.openxmlformats.org/drawingml/2006/chart">
            <c:chart ns4:id="R45ce0b24a2c94934"/>
          </a:graphicData>
        </a:graphic>
      </ns0:graphicFrame>
      <ns0:sp>
        <ns0:nvSpPr>
          <ns0:cNvPr id="15" name="">
            <a:extLst>
              <a:ext uri="{FF2B5EF4-FFF2-40B4-BE49-F238E27FC236}">
                <ns2:creationId id="{88E2D928-57B5-4DA4-AF8F-B418CD06E391}"/>
              </a:ext>
            </a:extLst>
          </ns0:cNvPr>
          <ns0:cNvSpPr>
            <a:spLocks noGrp="1"/>
          </ns0:cNvSpPr>
          <ns0:nvPr/>
        </ns0:nvSpPr>
        <ns0:spPr>
          <a:xfrm>
            <a:off x="6524625" y="4286250"/>
            <a:ext cx="4905375" cy="3810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25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25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R$ 51,3 bi</a:t>
            </a:r>
          </a:p>
        </ns0:txBody>
      </ns0:sp>
      <ns0:sp>
        <ns0:nvSpPr>
          <ns0:cNvPr id="16" name="">
            <a:extLst>
              <a:ext uri="{FF2B5EF4-FFF2-40B4-BE49-F238E27FC236}">
                <ns2:creationId id="{ADCAB111-987C-411A-8C8F-30A660EB62E6}"/>
              </a:ext>
            </a:extLst>
          </ns0:cNvPr>
          <ns0:cNvSpPr>
            <a:spLocks noGrp="1"/>
          </ns0:cNvSpPr>
          <ns0:nvPr/>
        </ns0:nvSpPr>
        <ns0:spPr>
          <a:xfrm>
            <a:off x="6524625" y="4705350"/>
            <a:ext cx="4905375" cy="704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65,1% do PL gerido pelo BTG está nos 22 FIDCs da coorte com o BTG como gestor. A exclusão leva o banco de #1 a #3.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009044B4-C2FB-411E-BDDE-E1361B38B7A8}"/>
              </a:ext>
            </a:extLst>
          </ns0:cNvPr>
          <ns0:cNvSpPr>
            <a:spLocks noGrp="1"/>
          </ns0:cNvSpPr>
          <ns0:nvPr/>
        </ns0:nvSpPr>
        <ns0:spPr>
          <a:xfrm>
            <a:off x="6524625" y="5476875"/>
            <a:ext cx="4905375" cy="609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795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95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A coorte bancária curada lista 32 raízes do BTG; 30 tinham PL observado em jun/26, somando R$ 52,2 bi. O recorte não atribui controle societário sem evidência documental.</a:t>
            </a:r>
          </a:p>
        </ns0:txBody>
      </ns0:sp>
    </ns0:spTree>
    <ns0:extLst>
      <ns0:ext uri="{BB962C8B-B14F-4D97-AF65-F5344CB8AC3E}">
        <ns5:creationId val="1193122839"/>
      </ns0:ext>
    </ns0:extLst>
  </ns0:cSld>
</ns0:sld>
</file>

<file path=ppt/slides/slide25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7" name="">
            <a:extLst>
              <a:ext uri="{FF2B5EF4-FFF2-40B4-BE49-F238E27FC236}">
                <ns2:creationId id="{D9506D27-975C-42A9-9C68-727588747CAB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Quase todo o volume vai para o investidor profissional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7455DBB9-B6AA-4B5C-8DF2-7DA1855FC673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Entre 93% e 97% ao ano; a classificação mede elegibilidade, não alocação efetiva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5A0B2855-409F-421C-8DDA-2C7E89F7ED9A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379A1A82-A2A6-4B5E-955C-68B282329830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3F8F267A-BAF7-4572-B4F2-7C4039CC512B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ofertas; 24/jul/26. Primárias encerradas, todos os ritos. Definições: RCVM 30.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D4C62E43-A0BB-4669-AB83-00DFD5FC9625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25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18690EA2-4CCF-497A-9C3D-C8469DC149D9}"/>
              </a:ext>
            </a:extLst>
          </ns0:cNvPr>
          <ns0:cNvSpPr>
            <a:spLocks noGrp="1"/>
          </ns0:cNvSpPr>
          <ns0:nvPr/>
        </ns0:nvSpPr>
        <ns0:spPr>
          <a:xfrm>
            <a:off x="571500" y="1333500"/>
            <a:ext cx="65722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CONTAS DE COTISTAS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F3DDA870-2A08-40AB-BDEC-4A6C499B1F22}"/>
              </a:ext>
            </a:extLst>
          </ns0:cNvPr>
          <ns0:cNvSpPr>
            <a:spLocks noGrp="1"/>
          </ns0:cNvSpPr>
          <ns0:nvPr/>
        </ns0:nvSpPr>
        <ns0:spPr>
          <a:xfrm>
            <a:off x="571500" y="1600200"/>
            <a:ext cx="65722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5" name="Chart"/>
          <ns0:cNvGraphicFramePr/>
          <ns0:nvPr/>
        </ns0:nvGraphicFramePr>
        <ns0:xfrm>
          <a:off x="571500" y="1666875"/>
          <a:ext cx="6572250" cy="1809750"/>
        </ns0:xfrm>
        <a:graphic>
          <a:graphicData uri="http://schemas.openxmlformats.org/drawingml/2006/chart">
            <c:chart ns4:id="Rc1755a2cb4c34ff0"/>
          </a:graphicData>
        </a:graphic>
      </ns0:graphicFrame>
      <ns0:sp>
        <ns0:nvSpPr>
          <ns0:cNvPr id="10" name="">
            <a:extLst>
              <a:ext uri="{FF2B5EF4-FFF2-40B4-BE49-F238E27FC236}">
                <ns2:creationId id="{3453BA1B-7BED-4935-BF43-2155138190C5}"/>
              </a:ext>
            </a:extLst>
          </ns0:cNvPr>
          <ns0:cNvSpPr>
            <a:spLocks noGrp="1"/>
          </ns0:cNvSpPr>
          <ns0:nvPr/>
        </ns0:nvSpPr>
        <ns0:spPr>
          <a:xfrm>
            <a:off x="571500" y="3638550"/>
            <a:ext cx="65722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VOLUME EMITIDO POR PÚBLICO-ALVO CVM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DB9ADBE5-FC4B-4E36-9FDF-CB8E181574CC}"/>
              </a:ext>
            </a:extLst>
          </ns0:cNvPr>
          <ns0:cNvSpPr>
            <a:spLocks noGrp="1"/>
          </ns0:cNvSpPr>
          <ns0:nvPr/>
        </ns0:nvSpPr>
        <ns0:spPr>
          <a:xfrm>
            <a:off x="571500" y="3905250"/>
            <a:ext cx="65722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8" name="Chart"/>
          <ns0:cNvGraphicFramePr/>
          <ns0:nvPr/>
        </ns0:nvGraphicFramePr>
        <ns0:xfrm>
          <a:off x="571500" y="3971925"/>
          <a:ext cx="6572250" cy="1809750"/>
        </ns0:xfrm>
        <a:graphic>
          <a:graphicData uri="http://schemas.openxmlformats.org/drawingml/2006/chart">
            <c:chart ns4:id="R0f331396e387438c"/>
          </a:graphicData>
        </a:graphic>
      </ns0:graphicFrame>
      <ns0:sp>
        <ns0:nvSpPr>
          <ns0:cNvPr id="13" name="">
            <a:extLst>
              <a:ext uri="{FF2B5EF4-FFF2-40B4-BE49-F238E27FC236}">
                <ns2:creationId id="{51B1BEB8-13EC-4BBD-BEED-49BC506EE257}"/>
              </a:ext>
            </a:extLst>
          </ns0:cNvPr>
          <ns0:cNvSpPr>
            <a:spLocks noGrp="1"/>
          </ns0:cNvSpPr>
          <ns0:nvPr/>
        </ns0:nvSpPr>
        <ns0:spPr>
          <a:xfrm>
            <a:off x="7572375" y="1333500"/>
            <a:ext cx="404812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COMPOSIÇÃO DAS CONTAS · JUN/26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DEF7B9EA-7C6A-441E-901C-75FD450D50A3}"/>
              </a:ext>
            </a:extLst>
          </ns0:cNvPr>
          <ns0:cNvSpPr>
            <a:spLocks noGrp="1"/>
          </ns0:cNvSpPr>
          <ns0:nvPr/>
        </ns0:nvSpPr>
        <ns0:spPr>
          <a:xfrm>
            <a:off x="7572375" y="1600200"/>
            <a:ext cx="40481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1" name="Chart"/>
          <ns0:cNvGraphicFramePr/>
          <ns0:nvPr/>
        </ns0:nvGraphicFramePr>
        <ns0:xfrm>
          <a:off x="7524750" y="1714500"/>
          <a:ext cx="4095750" cy="3190875"/>
        </ns0:xfrm>
        <a:graphic>
          <a:graphicData uri="http://schemas.openxmlformats.org/drawingml/2006/chart">
            <c:chart ns4:id="R231ab0bd859e4da4"/>
          </a:graphicData>
        </a:graphic>
      </ns0:graphicFrame>
      <ns0:sp>
        <ns0:nvSpPr>
          <ns0:cNvPr id="16" name="">
            <a:extLst>
              <a:ext uri="{FF2B5EF4-FFF2-40B4-BE49-F238E27FC236}">
                <ns2:creationId id="{87B3BFF2-55A6-4896-AFE8-895E038686C2}"/>
              </a:ext>
            </a:extLst>
          </ns0:cNvPr>
          <ns0:cNvSpPr>
            <a:spLocks noGrp="1"/>
          </ns0:cNvSpPr>
          <ns0:nvPr/>
        </ns0:nvSpPr>
        <ns0:spPr>
          <a:xfrm>
            <a:off x="7572375" y="5095875"/>
            <a:ext cx="4048125" cy="666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65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65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A emissão é majoritariamente elegível a investidores profissionais, padrão compatível com demanda institucional/gestoras. A base de público-alvo não separa pessoa física de pessoa jurídica; Público Geral foi 0,0% em 2024 e 0,5% em jan–jun/26. N/D: 1,1% em 2023 e 0,5% em 2025.</a:t>
            </a:r>
          </a:p>
        </ns0:txBody>
      </ns0:sp>
    </ns0:spTree>
    <ns0:extLst>
      <ns0:ext uri="{BB962C8B-B14F-4D97-AF65-F5344CB8AC3E}">
        <ns5:creationId val="1479495110"/>
      </ns0:ext>
    </ns0:extLst>
  </ns0:cSld>
</ns0:sld>
</file>

<file path=ppt/slides/slide26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3" name="">
            <a:extLst>
              <a:ext uri="{FF2B5EF4-FFF2-40B4-BE49-F238E27FC236}">
                <ns2:creationId id="{E3851C8F-56BD-4089-A039-944D45196545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DISTRIBUIÇÃO POR NÚMERO DE COTISTAS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3CAE2A16-2C3D-47EB-8BDF-2871B6BCB8CF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99702"/>
          </a:bodyPr>
          <a:lstStyle/>
          <a:p>
            <a:pPr algn="l">
              <a:lnSpc>
                <a:spcPct val="100000"/>
              </a:lnSpc>
              <a:buNone/>
              <a:def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Fundos com mais de 10 contas ganharam 11,0 p.p. do universo e 10,6 p.p. do PL desde dez/23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730B942B-27C9-4CD6-8ECA-DDC86EC740BB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F605A271-BBB0-4392-991A-B9DC56BBEB97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D6F6DAA4-DCB6-4C2F-8AFA-1A8786A4FC2A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dez/23 e jun/26. Ex-FIC com PL ≥ R$ 200 mi: 409 → 784 fundos; contas por classe/série, não investidores únicos.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70500874-0AC8-4214-9656-597512469A8E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26</a:t>
            </a:r>
          </a:p>
        </ns0:txBody>
      </ns0:sp>
      <ns0:graphicFrame>
        <ns0:nvGraphicFramePr>
          <ns0:cNvPr id="29" name="Chart"/>
          <ns0:cNvGraphicFramePr/>
          <ns0:nvPr/>
        </ns0:nvGraphicFramePr>
        <ns0:xfrm>
          <a:off x="9239250" y="1219200"/>
          <a:ext cx="2381250" cy="209550"/>
        </ns0:xfrm>
        <a:graphic>
          <a:graphicData uri="http://schemas.openxmlformats.org/drawingml/2006/chart">
            <c:chart ns4:id="R6647a2e0968e43e9"/>
          </a:graphicData>
        </a:graphic>
      </ns0:graphicFrame>
      <ns0:sp>
        <ns0:nvSpPr>
          <ns0:cNvPr id="8" name="">
            <a:extLst>
              <a:ext uri="{FF2B5EF4-FFF2-40B4-BE49-F238E27FC236}">
                <ns2:creationId id="{AD395765-C2EC-4731-A361-6D55BF5D83AC}"/>
              </a:ext>
            </a:extLst>
          </ns0:cNvPr>
          <ns0:cNvSpPr>
            <a:spLocks noGrp="1"/>
          </ns0:cNvSpPr>
          <ns0:nvPr/>
        </ns0:nvSpPr>
        <ns0:spPr>
          <a:xfrm>
            <a:off x="571500" y="1323975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QUANTIDADE DE FUNDOS · ABSOLUTO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07675E2F-D713-4E62-96A9-BE4C9B9B4EA9}"/>
              </a:ext>
            </a:extLst>
          </ns0:cNvPr>
          <ns0:cNvSpPr>
            <a:spLocks noGrp="1"/>
          </ns0:cNvSpPr>
          <ns0:nvPr/>
        </ns0:nvSpPr>
        <ns0:spPr>
          <a:xfrm>
            <a:off x="571500" y="1590675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2" name="Chart"/>
          <ns0:cNvGraphicFramePr/>
          <ns0:nvPr/>
        </ns0:nvGraphicFramePr>
        <ns0:xfrm>
          <a:off x="571500" y="1724025"/>
          <a:ext cx="5286375" cy="1809750"/>
        </ns0:xfrm>
        <a:graphic>
          <a:graphicData uri="http://schemas.openxmlformats.org/drawingml/2006/chart">
            <c:chart ns4:id="Rb4668310e44a4b0c"/>
          </a:graphicData>
        </a:graphic>
      </ns0:graphicFrame>
      <ns0:sp>
        <ns0:nvSpPr>
          <ns0:cNvPr id="11" name="">
            <a:extLst>
              <a:ext uri="{FF2B5EF4-FFF2-40B4-BE49-F238E27FC236}">
                <ns2:creationId id="{DB963108-FA57-421B-A259-2ACDFBE62DC1}"/>
              </a:ext>
            </a:extLst>
          </ns0:cNvPr>
          <ns0:cNvSpPr>
            <a:spLocks noGrp="1"/>
          </ns0:cNvSpPr>
          <ns0:nvPr/>
        </ns0:nvSpPr>
        <ns0:spPr>
          <a:xfrm>
            <a:off x="6334125" y="1323975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POR FAIXA · R$ BI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99242867-A35A-4949-A1FD-1941368CBA3F}"/>
              </a:ext>
            </a:extLst>
          </ns0:cNvPr>
          <ns0:cNvSpPr>
            <a:spLocks noGrp="1"/>
          </ns0:cNvSpPr>
          <ns0:nvPr/>
        </ns0:nvSpPr>
        <ns0:spPr>
          <a:xfrm>
            <a:off x="6334125" y="1590675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5" name="Chart"/>
          <ns0:cNvGraphicFramePr/>
          <ns0:nvPr/>
        </ns0:nvGraphicFramePr>
        <ns0:xfrm>
          <a:off x="6334125" y="1724025"/>
          <a:ext cx="5286375" cy="1809750"/>
        </ns0:xfrm>
        <a:graphic>
          <a:graphicData uri="http://schemas.openxmlformats.org/drawingml/2006/chart">
            <c:chart ns4:id="Rd9329ae9628d429a"/>
          </a:graphicData>
        </a:graphic>
      </ns0:graphicFrame>
      <ns0:sp>
        <ns0:nvSpPr>
          <ns0:cNvPr id="14" name="">
            <a:extLst>
              <a:ext uri="{FF2B5EF4-FFF2-40B4-BE49-F238E27FC236}">
                <ns2:creationId id="{764FFB5B-5640-4D7F-A023-116BBB8CDA61}"/>
              </a:ext>
            </a:extLst>
          </ns0:cNvPr>
          <ns0:cNvSpPr>
            <a:spLocks noGrp="1"/>
          </ns0:cNvSpPr>
          <ns0:nvPr/>
        </ns0:nvSpPr>
        <ns0:spPr>
          <a:xfrm>
            <a:off x="571500" y="373380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QUANTIDADE DE FUNDOS · % DO TOTAL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259D0DB6-74CF-4AA3-BE70-E76E60BEC110}"/>
              </a:ext>
            </a:extLst>
          </ns0:cNvPr>
          <ns0:cNvSpPr>
            <a:spLocks noGrp="1"/>
          </ns0:cNvSpPr>
          <ns0:nvPr/>
        </ns0:nvSpPr>
        <ns0:spPr>
          <a:xfrm>
            <a:off x="571500" y="400050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8" name="Chart"/>
          <ns0:cNvGraphicFramePr/>
          <ns0:nvPr/>
        </ns0:nvGraphicFramePr>
        <ns0:xfrm>
          <a:off x="571500" y="4076700"/>
          <a:ext cx="5286375" cy="1809750"/>
        </ns0:xfrm>
        <a:graphic>
          <a:graphicData uri="http://schemas.openxmlformats.org/drawingml/2006/chart">
            <c:chart ns4:id="Ra9004a76cb0c4732"/>
          </a:graphicData>
        </a:graphic>
      </ns0:graphicFrame>
      <ns0:sp>
        <ns0:nvSpPr>
          <ns0:cNvPr id="17" name="">
            <a:extLst>
              <a:ext uri="{FF2B5EF4-FFF2-40B4-BE49-F238E27FC236}">
                <ns2:creationId id="{A7888E0B-0834-4493-97B6-76A4EA2BCC61}"/>
              </a:ext>
            </a:extLst>
          </ns0:cNvPr>
          <ns0:cNvSpPr>
            <a:spLocks noGrp="1"/>
          </ns0:cNvSpPr>
          <ns0:nvPr/>
        </ns0:nvSpPr>
        <ns0:spPr>
          <a:xfrm>
            <a:off x="3905250" y="3752850"/>
            <a:ext cx="195262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Soma das barras = 100%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CF628657-5A30-4189-B808-BB9549BB01F3}"/>
              </a:ext>
            </a:extLst>
          </ns0:cNvPr>
          <ns0:cNvSpPr>
            <a:spLocks noGrp="1"/>
          </ns0:cNvSpPr>
          <ns0:nvPr/>
        </ns0:nvSpPr>
        <ns0:spPr>
          <a:xfrm>
            <a:off x="6334125" y="373380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POR FAIXA · % DO TOTAL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A359DCC2-6287-46DB-A612-16FC439F930F}"/>
              </a:ext>
            </a:extLst>
          </ns0:cNvPr>
          <ns0:cNvSpPr>
            <a:spLocks noGrp="1"/>
          </ns0:cNvSpPr>
          <ns0:nvPr/>
        </ns0:nvSpPr>
        <ns0:spPr>
          <a:xfrm>
            <a:off x="6334125" y="400050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42" name="Chart"/>
          <ns0:cNvGraphicFramePr/>
          <ns0:nvPr/>
        </ns0:nvGraphicFramePr>
        <ns0:xfrm>
          <a:off x="6334125" y="4076700"/>
          <a:ext cx="5286375" cy="1809750"/>
        </ns0:xfrm>
        <a:graphic>
          <a:graphicData uri="http://schemas.openxmlformats.org/drawingml/2006/chart">
            <c:chart ns4:id="R0b8e5f0be367475c"/>
          </a:graphicData>
        </a:graphic>
      </ns0:graphicFrame>
      <ns0:sp>
        <ns0:nvSpPr>
          <ns0:cNvPr id="21" name="">
            <a:extLst>
              <a:ext uri="{FF2B5EF4-FFF2-40B4-BE49-F238E27FC236}">
                <ns2:creationId id="{B9E3FE85-24BB-4CF5-86D2-A562F4BD3CCF}"/>
              </a:ext>
            </a:extLst>
          </ns0:cNvPr>
          <ns0:cNvSpPr>
            <a:spLocks noGrp="1"/>
          </ns0:cNvSpPr>
          <ns0:nvPr/>
        </ns0:nvSpPr>
        <ns0:spPr>
          <a:xfrm>
            <a:off x="9667875" y="3752850"/>
            <a:ext cx="195262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Soma das barras = 100%</a:t>
            </a:r>
          </a:p>
        </ns0:txBody>
      </ns0:sp>
      <ns0:sp>
        <ns0:nvSpPr>
          <ns0:cNvPr id="22" name="">
            <a:extLst>
              <a:ext uri="{FF2B5EF4-FFF2-40B4-BE49-F238E27FC236}">
                <ns2:creationId id="{8AFDAC55-D8B7-42ED-9BF5-4A93A91019A1}"/>
              </a:ext>
            </a:extLst>
          </ns0:cNvPr>
          <ns0:cNvSpPr>
            <a:spLocks noGrp="1"/>
          </ns0:cNvSpPr>
          <ns0:nvPr/>
        </ns0:nvSpPr>
        <ns0:spPr>
          <a:xfrm>
            <a:off x="571500" y="6096000"/>
            <a:ext cx="1104900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Comparação de duas fotografias da indústria, não de coorte constante. Corte de R$ 200 mi em valores nominais; cada histograma percentual fecha em 100%.</a:t>
            </a:r>
          </a:p>
        </ns0:txBody>
      </ns0:sp>
    </ns0:spTree>
    <ns0:extLst>
      <ns0:ext uri="{BB962C8B-B14F-4D97-AF65-F5344CB8AC3E}">
        <ns5:creationId val="1918605017"/>
      </ns0:ext>
    </ns0:extLst>
  </ns0:cSld>
</ns0:sld>
</file>

<file path=ppt/theme/theme1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2026-08-01T03:24:45.3570000Z</dcterms:created>
  <dcterms:modified xsi:type="dcterms:W3CDTF">2026-08-01T03:24:45.3570000Z</dcterms:modified>
</coreProperties>
</file>