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6.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7.xml" ContentType="application/vnd.openxmlformats-officedocument.drawingml.chart+xml"/>
  <Override PartName="/ppt/slides/charts/chart8.xml" ContentType="application/vnd.openxmlformats-officedocument.drawingml.chart+xml"/>
  <Override PartName="/ppt/slides/charts/chart9.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0.xml" ContentType="application/vnd.openxmlformats-officedocument.drawingml.chart+xml"/>
  <Override PartName="/ppt/slides/charts/chart11.xml" ContentType="application/vnd.openxmlformats-officedocument.drawingml.chart+xml"/>
  <Override PartName="/ppt/slides/charts/chart12.xml" ContentType="application/vnd.openxmlformats-officedocument.drawingml.chart+xml"/>
  <Override PartName="/ppt/slides/charts/chart13.xml" ContentType="application/vnd.openxmlformats-officedocument.drawingml.chart+xml"/>
  <Override PartName="/ppt/slides/charts/chart1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5.xml" ContentType="application/vnd.openxmlformats-officedocument.drawingml.chart+xml"/>
  <Override PartName="/ppt/slides/charts/chart16.xml" ContentType="application/vnd.openxmlformats-officedocument.drawingml.chart+xml"/>
  <Override PartName="/ppt/slides/charts/chart17.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8.xml" ContentType="application/vnd.openxmlformats-officedocument.drawingml.chart+xml"/>
  <Override PartName="/ppt/slides/charts/chart19.xml" ContentType="application/vnd.openxmlformats-officedocument.drawingml.chart+xml"/>
  <Override PartName="/ppt/slides/charts/chart20.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21.xml" ContentType="application/vnd.openxmlformats-officedocument.drawingml.chart+xml"/>
  <Override PartName="/ppt/slides/charts/chart22.xml" ContentType="application/vnd.openxmlformats-officedocument.drawingml.chart+xml"/>
  <Override PartName="/ppt/slides/charts/chart2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24.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25.xml" ContentType="application/vnd.openxmlformats-officedocument.drawingml.chart+xml"/>
  <Override PartName="/ppt/slides/charts/chart26.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27.xml" ContentType="application/vnd.openxmlformats-officedocument.drawingml.chart+xml"/>
  <Override PartName="/ppt/slides/charts/chart28.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29.xml" ContentType="application/vnd.openxmlformats-officedocument.drawingml.chart+xml"/>
  <Override PartName="/ppt/slides/charts/chart30.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31.xml" ContentType="application/vnd.openxmlformats-officedocument.drawingml.chart+xml"/>
  <Override PartName="/ppt/slides/charts/chart32.xml" ContentType="application/vnd.openxmlformats-officedocument.drawingml.chart+xml"/>
  <Override PartName="/ppt/slides/charts/chart33.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34.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35.xml" ContentType="application/vnd.openxmlformats-officedocument.drawingml.chart+xml"/>
  <Override PartName="/ppt/slides/charts/chart36.xml" ContentType="application/vnd.openxmlformats-officedocument.drawingml.chart+xml"/>
  <Override PartName="/ppt/slides/charts/chart37.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slides/charts/chart38.xml" ContentType="application/vnd.openxmlformats-officedocument.drawingml.chart+xml"/>
  <Override PartName="/ppt/slides/charts/chart39.xml" ContentType="application/vnd.openxmlformats-officedocument.drawingml.chart+xml"/>
  <Override PartName="/ppt/slides/charts/chart40.xml" ContentType="application/vnd.openxmlformats-officedocument.drawingml.chart+xml"/>
  <Override PartName="/ppt/slides/charts/chart41.xml" ContentType="application/vnd.openxmlformats-officedocument.drawingml.chart+xml"/>
  <Override PartName="/ppt/notesSlides/notesSlide27.xml" ContentType="application/vnd.openxmlformats-officedocument.presentationml.notesSlide+xml"/>
  <Override PartName="/ppt/slides/slide28.xml" ContentType="application/vnd.openxmlformats-officedocument.presentationml.slide+xml"/>
  <Override PartName="/ppt/slides/charts/chart42.xml" ContentType="application/vnd.openxmlformats-officedocument.drawingml.chart+xml"/>
  <Override PartName="/ppt/slides/charts/chart43.xml" ContentType="application/vnd.openxmlformats-officedocument.drawingml.chart+xml"/>
  <Override PartName="/ppt/slides/charts/chart44.xml" ContentType="application/vnd.openxmlformats-officedocument.drawingml.chart+xml"/>
  <Override PartName="/ppt/slides/charts/chart45.xml" ContentType="application/vnd.openxmlformats-officedocument.drawingml.chart+xml"/>
  <Override PartName="/ppt/slides/charts/chart46.xml" ContentType="application/vnd.openxmlformats-officedocument.drawingml.chart+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slides/charts/chart47.xml" ContentType="application/vnd.openxmlformats-officedocument.drawingml.chart+xml"/>
  <Override PartName="/ppt/slides/charts/chart48.xml" ContentType="application/vnd.openxmlformats-officedocument.drawingml.chart+xml"/>
  <Override PartName="/ppt/slides/charts/chart49.xml" ContentType="application/vnd.openxmlformats-officedocument.drawingml.chart+xml"/>
  <Override PartName="/ppt/slides/charts/chart50.xml" ContentType="application/vnd.openxmlformats-officedocument.drawingml.chart+xml"/>
  <Override PartName="/ppt/slides/charts/chart51.xml" ContentType="application/vnd.openxmlformats-officedocument.drawingml.chart+xml"/>
  <Override PartName="/ppt/slides/charts/chart52.xml" ContentType="application/vnd.openxmlformats-officedocument.drawingml.chart+xml"/>
  <Override PartName="/ppt/slides/charts/chart53.xml" ContentType="application/vnd.openxmlformats-officedocument.drawingml.chart+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54.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slides/charts/chart55.xml" ContentType="application/vnd.openxmlformats-officedocument.drawingml.chart+xml"/>
  <Override PartName="/ppt/slides/charts/chart56.xml" ContentType="application/vnd.openxmlformats-officedocument.drawingml.chart+xml"/>
  <Override PartName="/ppt/notesSlides/notesSlide56.xml" ContentType="application/vnd.openxmlformats-officedocument.presentationml.notesSlide+xml"/>
  <Override PartName="/ppt/slides/slide57.xml" ContentType="application/vnd.openxmlformats-officedocument.presentationml.slide+xml"/>
  <Override PartName="/ppt/slides/charts/chart57.xml" ContentType="application/vnd.openxmlformats-officedocument.drawingml.chart+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58.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slides/charts/chart59.xml" ContentType="application/vnd.openxmlformats-officedocument.drawingml.chart+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slides/charts/chart60.xml" ContentType="application/vnd.openxmlformats-officedocument.drawingml.chart+xml"/>
  <Override PartName="/ppt/notesSlides/notesSlide61.xml" ContentType="application/vnd.openxmlformats-officedocument.presentationml.notesSlide+xml"/>
  <Override PartName="/ppt/slides/slide62.xml" ContentType="application/vnd.openxmlformats-officedocument.presentationml.slide+xml"/>
  <Override PartName="/ppt/slides/charts/chart61.xml" ContentType="application/vnd.openxmlformats-officedocument.drawingml.chart+xml"/>
  <Override PartName="/ppt/notesSlides/notesSlide62.xml" ContentType="application/vnd.openxmlformats-officedocument.presentationml.notesSlide+xml"/>
  <Override PartName="/ppt/slides/slide63.xml" ContentType="application/vnd.openxmlformats-officedocument.presentationml.slide+xml"/>
  <Override PartName="/ppt/slides/charts/chart62.xml" ContentType="application/vnd.openxmlformats-officedocument.drawingml.chart+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2db5841621c4307" /><Relationship Type="http://schemas.openxmlformats.org/officeDocument/2006/relationships/extended-properties" Target="/docProps/app.xml" Id="R772038e68a8c4da2" /><Relationship Type="http://schemas.openxmlformats.org/officeDocument/2006/relationships/officeDocument" Target="/ppt/presentation.xml" Id="Ra2ef859507a54fbd" /></Relationships>
</file>

<file path=ppt/presentation.xml><?xml version="1.0" encoding="utf-8"?>
<p:presentation xmlns:p="http://schemas.openxmlformats.org/presentationml/2006/main">
  <p:sldMasterIdLst>
    <p:sldMasterId xmlns:r="http://schemas.openxmlformats.org/officeDocument/2006/relationships" id="2147483648" r:id="R9edebba3de62452f"/>
  </p:sldMasterIdLst>
  <p:notesMasterIdLst>
    <p:notesMasterId xmlns:r="http://schemas.openxmlformats.org/officeDocument/2006/relationships" r:id="Rc7a71b36a3db4b13"/>
  </p:notesMasterIdLst>
  <p:sldIdLst>
    <p:sldId xmlns:r="http://schemas.openxmlformats.org/officeDocument/2006/relationships" id="256" r:id="R8ca2539160c24c0f"/>
    <p:sldId xmlns:r="http://schemas.openxmlformats.org/officeDocument/2006/relationships" id="257" r:id="Rcef776da9b7d4722"/>
    <p:sldId xmlns:r="http://schemas.openxmlformats.org/officeDocument/2006/relationships" id="258" r:id="Ra23c86fdf0f04564"/>
    <p:sldId xmlns:r="http://schemas.openxmlformats.org/officeDocument/2006/relationships" id="259" r:id="Ra8eb70edc7fa4990"/>
    <p:sldId xmlns:r="http://schemas.openxmlformats.org/officeDocument/2006/relationships" id="260" r:id="R50ef239404404bba"/>
    <p:sldId xmlns:r="http://schemas.openxmlformats.org/officeDocument/2006/relationships" id="261" r:id="R4c3cf928eddc4820"/>
    <p:sldId xmlns:r="http://schemas.openxmlformats.org/officeDocument/2006/relationships" id="262" r:id="Re75eb47e42404c5b"/>
    <p:sldId xmlns:r="http://schemas.openxmlformats.org/officeDocument/2006/relationships" id="263" r:id="Reea524a61850463a"/>
    <p:sldId xmlns:r="http://schemas.openxmlformats.org/officeDocument/2006/relationships" id="264" r:id="Rab6aa9a144024124"/>
    <p:sldId xmlns:r="http://schemas.openxmlformats.org/officeDocument/2006/relationships" id="265" r:id="Rec51356e21ac410b"/>
    <p:sldId xmlns:r="http://schemas.openxmlformats.org/officeDocument/2006/relationships" id="266" r:id="R19860b8c28764fd9"/>
    <p:sldId xmlns:r="http://schemas.openxmlformats.org/officeDocument/2006/relationships" id="267" r:id="R807df8340e044eb8"/>
    <p:sldId xmlns:r="http://schemas.openxmlformats.org/officeDocument/2006/relationships" id="268" r:id="R257b9e51433b4551"/>
    <p:sldId xmlns:r="http://schemas.openxmlformats.org/officeDocument/2006/relationships" id="269" r:id="R094d62cc68ea4544"/>
    <p:sldId xmlns:r="http://schemas.openxmlformats.org/officeDocument/2006/relationships" id="270" r:id="R908e7e85641c4ab8"/>
    <p:sldId xmlns:r="http://schemas.openxmlformats.org/officeDocument/2006/relationships" id="271" r:id="R33277b3c6d454815"/>
    <p:sldId xmlns:r="http://schemas.openxmlformats.org/officeDocument/2006/relationships" id="272" r:id="R1cf1d9827627422b"/>
    <p:sldId xmlns:r="http://schemas.openxmlformats.org/officeDocument/2006/relationships" id="273" r:id="Radcafd7c7c034457"/>
    <p:sldId xmlns:r="http://schemas.openxmlformats.org/officeDocument/2006/relationships" id="274" r:id="R866bf7537e4d42a6"/>
    <p:sldId xmlns:r="http://schemas.openxmlformats.org/officeDocument/2006/relationships" id="275" r:id="R11f72205455c4299"/>
    <p:sldId xmlns:r="http://schemas.openxmlformats.org/officeDocument/2006/relationships" id="276" r:id="R531750ed14d349d6"/>
    <p:sldId xmlns:r="http://schemas.openxmlformats.org/officeDocument/2006/relationships" id="277" r:id="R28125aa128c04119"/>
    <p:sldId xmlns:r="http://schemas.openxmlformats.org/officeDocument/2006/relationships" id="278" r:id="Rd1926c8d8ba24d74"/>
    <p:sldId xmlns:r="http://schemas.openxmlformats.org/officeDocument/2006/relationships" id="279" r:id="R08d3c98e78cb473c"/>
    <p:sldId xmlns:r="http://schemas.openxmlformats.org/officeDocument/2006/relationships" id="280" r:id="R79057ee5bced4e44"/>
    <p:sldId xmlns:r="http://schemas.openxmlformats.org/officeDocument/2006/relationships" id="281" r:id="Rc88b15f89e1b4dee"/>
    <p:sldId xmlns:r="http://schemas.openxmlformats.org/officeDocument/2006/relationships" id="282" r:id="R435aabe5381f400a"/>
    <p:sldId xmlns:r="http://schemas.openxmlformats.org/officeDocument/2006/relationships" id="283" r:id="R4f146009af524394"/>
    <p:sldId xmlns:r="http://schemas.openxmlformats.org/officeDocument/2006/relationships" id="284" r:id="R8fc0e413c06d4779"/>
    <p:sldId xmlns:r="http://schemas.openxmlformats.org/officeDocument/2006/relationships" id="285" r:id="Rcd7f637510074e31"/>
    <p:sldId xmlns:r="http://schemas.openxmlformats.org/officeDocument/2006/relationships" id="286" r:id="Rf2a5fe900c9d4626"/>
    <p:sldId xmlns:r="http://schemas.openxmlformats.org/officeDocument/2006/relationships" id="287" r:id="Rb7d41c67c4ab4da6"/>
    <p:sldId xmlns:r="http://schemas.openxmlformats.org/officeDocument/2006/relationships" id="288" r:id="R30883caffab847c1"/>
    <p:sldId xmlns:r="http://schemas.openxmlformats.org/officeDocument/2006/relationships" id="289" r:id="Reee3db542a684d0c"/>
    <p:sldId xmlns:r="http://schemas.openxmlformats.org/officeDocument/2006/relationships" id="290" r:id="R09ba828900e049c5"/>
    <p:sldId xmlns:r="http://schemas.openxmlformats.org/officeDocument/2006/relationships" id="291" r:id="R57efe96c885e4080"/>
    <p:sldId xmlns:r="http://schemas.openxmlformats.org/officeDocument/2006/relationships" id="292" r:id="Re914812e4e6a4541"/>
    <p:sldId xmlns:r="http://schemas.openxmlformats.org/officeDocument/2006/relationships" id="293" r:id="Rf2bc46f55da94507"/>
    <p:sldId xmlns:r="http://schemas.openxmlformats.org/officeDocument/2006/relationships" id="294" r:id="Rf3cbbf202f504a12"/>
    <p:sldId xmlns:r="http://schemas.openxmlformats.org/officeDocument/2006/relationships" id="295" r:id="R785c882d20ad49e3"/>
    <p:sldId xmlns:r="http://schemas.openxmlformats.org/officeDocument/2006/relationships" id="296" r:id="R4857f215ebd44079"/>
    <p:sldId xmlns:r="http://schemas.openxmlformats.org/officeDocument/2006/relationships" id="297" r:id="Rcd3cc91baa424b83"/>
    <p:sldId xmlns:r="http://schemas.openxmlformats.org/officeDocument/2006/relationships" id="298" r:id="R88dca30459cf4094"/>
    <p:sldId xmlns:r="http://schemas.openxmlformats.org/officeDocument/2006/relationships" id="299" r:id="Rd7860bd52d4f43d9"/>
    <p:sldId xmlns:r="http://schemas.openxmlformats.org/officeDocument/2006/relationships" id="300" r:id="Rd525dd3b23da4f68"/>
    <p:sldId xmlns:r="http://schemas.openxmlformats.org/officeDocument/2006/relationships" id="301" r:id="R54429acbd722462f"/>
    <p:sldId xmlns:r="http://schemas.openxmlformats.org/officeDocument/2006/relationships" id="302" r:id="R51dc65cd479c46c5"/>
    <p:sldId xmlns:r="http://schemas.openxmlformats.org/officeDocument/2006/relationships" id="303" r:id="R0909903ab4904724"/>
    <p:sldId xmlns:r="http://schemas.openxmlformats.org/officeDocument/2006/relationships" id="304" r:id="R928bac7bf5a142ea"/>
    <p:sldId xmlns:r="http://schemas.openxmlformats.org/officeDocument/2006/relationships" id="305" r:id="Rfd28e3f331ab40ff"/>
    <p:sldId xmlns:r="http://schemas.openxmlformats.org/officeDocument/2006/relationships" id="306" r:id="R1bb48627e7b14e7d"/>
    <p:sldId xmlns:r="http://schemas.openxmlformats.org/officeDocument/2006/relationships" id="307" r:id="Ra804e48e72c84095"/>
    <p:sldId xmlns:r="http://schemas.openxmlformats.org/officeDocument/2006/relationships" id="308" r:id="R30d8c0cede0f4da4"/>
    <p:sldId xmlns:r="http://schemas.openxmlformats.org/officeDocument/2006/relationships" id="309" r:id="R4eb01224fd26432a"/>
    <p:sldId xmlns:r="http://schemas.openxmlformats.org/officeDocument/2006/relationships" id="310" r:id="Rb0a067f2fe70478c"/>
    <p:sldId xmlns:r="http://schemas.openxmlformats.org/officeDocument/2006/relationships" id="311" r:id="Ra91a01c669b64cde"/>
    <p:sldId xmlns:r="http://schemas.openxmlformats.org/officeDocument/2006/relationships" id="312" r:id="Rd8c59b04b8324a78"/>
    <p:sldId xmlns:r="http://schemas.openxmlformats.org/officeDocument/2006/relationships" id="313" r:id="Rfd686c495a3043f6"/>
    <p:sldId xmlns:r="http://schemas.openxmlformats.org/officeDocument/2006/relationships" id="314" r:id="Rf6fe2cf21fd343e2"/>
    <p:sldId xmlns:r="http://schemas.openxmlformats.org/officeDocument/2006/relationships" id="315" r:id="R6073ba00539e4525"/>
    <p:sldId xmlns:r="http://schemas.openxmlformats.org/officeDocument/2006/relationships" id="316" r:id="R05f4a480d67445a1"/>
    <p:sldId xmlns:r="http://schemas.openxmlformats.org/officeDocument/2006/relationships" id="317" r:id="R2bc5e1b27cbe426a"/>
    <p:sldId xmlns:r="http://schemas.openxmlformats.org/officeDocument/2006/relationships" id="318" r:id="Rbd48568f8eb74dfd"/>
    <p:sldId xmlns:r="http://schemas.openxmlformats.org/officeDocument/2006/relationships" id="319" r:id="R8987cdd9faaf41c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dba340f96b64f98" /><Relationship Type="http://schemas.openxmlformats.org/officeDocument/2006/relationships/slideMaster" Target="/ppt/slideMasters/slideMaster1.xml" Id="R9edebba3de62452f" /><Relationship Type="http://schemas.openxmlformats.org/officeDocument/2006/relationships/notesMaster" Target="/ppt/notesMasters/notesMaster1.xml" Id="Rc7a71b36a3db4b13" /><Relationship Type="http://schemas.openxmlformats.org/officeDocument/2006/relationships/presProps" Target="/ppt/presProps.xml" Id="Rc1f44afe120e4cc5" /><Relationship Type="http://schemas.openxmlformats.org/officeDocument/2006/relationships/tableStyles" Target="/ppt/tableStyles.xml" Id="Rf374fe2476c646f5" /><Relationship Type="http://schemas.openxmlformats.org/officeDocument/2006/relationships/slide" Target="/ppt/slides/slide1.xml" Id="R8ca2539160c24c0f" /><Relationship Type="http://schemas.openxmlformats.org/officeDocument/2006/relationships/slide" Target="/ppt/slides/slide2.xml" Id="Rcef776da9b7d4722" /><Relationship Type="http://schemas.openxmlformats.org/officeDocument/2006/relationships/slide" Target="/ppt/slides/slide3.xml" Id="Ra23c86fdf0f04564" /><Relationship Type="http://schemas.openxmlformats.org/officeDocument/2006/relationships/slide" Target="/ppt/slides/slide4.xml" Id="Ra8eb70edc7fa4990" /><Relationship Type="http://schemas.openxmlformats.org/officeDocument/2006/relationships/slide" Target="/ppt/slides/slide5.xml" Id="R50ef239404404bba" /><Relationship Type="http://schemas.openxmlformats.org/officeDocument/2006/relationships/slide" Target="/ppt/slides/slide6.xml" Id="R4c3cf928eddc4820" /><Relationship Type="http://schemas.openxmlformats.org/officeDocument/2006/relationships/slide" Target="/ppt/slides/slide7.xml" Id="Re75eb47e42404c5b" /><Relationship Type="http://schemas.openxmlformats.org/officeDocument/2006/relationships/slide" Target="/ppt/slides/slide8.xml" Id="Reea524a61850463a" /><Relationship Type="http://schemas.openxmlformats.org/officeDocument/2006/relationships/slide" Target="/ppt/slides/slide9.xml" Id="Rab6aa9a144024124" /><Relationship Type="http://schemas.openxmlformats.org/officeDocument/2006/relationships/slide" Target="/ppt/slides/slide10.xml" Id="Rec51356e21ac410b" /><Relationship Type="http://schemas.openxmlformats.org/officeDocument/2006/relationships/slide" Target="/ppt/slides/slide11.xml" Id="R19860b8c28764fd9" /><Relationship Type="http://schemas.openxmlformats.org/officeDocument/2006/relationships/slide" Target="/ppt/slides/slide12.xml" Id="R807df8340e044eb8" /><Relationship Type="http://schemas.openxmlformats.org/officeDocument/2006/relationships/slide" Target="/ppt/slides/slide13.xml" Id="R257b9e51433b4551" /><Relationship Type="http://schemas.openxmlformats.org/officeDocument/2006/relationships/slide" Target="/ppt/slides/slide14.xml" Id="R094d62cc68ea4544" /><Relationship Type="http://schemas.openxmlformats.org/officeDocument/2006/relationships/slide" Target="/ppt/slides/slide15.xml" Id="R908e7e85641c4ab8" /><Relationship Type="http://schemas.openxmlformats.org/officeDocument/2006/relationships/slide" Target="/ppt/slides/slide16.xml" Id="R33277b3c6d454815" /><Relationship Type="http://schemas.openxmlformats.org/officeDocument/2006/relationships/slide" Target="/ppt/slides/slide17.xml" Id="R1cf1d9827627422b" /><Relationship Type="http://schemas.openxmlformats.org/officeDocument/2006/relationships/slide" Target="/ppt/slides/slide18.xml" Id="Radcafd7c7c034457" /><Relationship Type="http://schemas.openxmlformats.org/officeDocument/2006/relationships/slide" Target="/ppt/slides/slide19.xml" Id="R866bf7537e4d42a6" /><Relationship Type="http://schemas.openxmlformats.org/officeDocument/2006/relationships/slide" Target="/ppt/slides/slide20.xml" Id="R11f72205455c4299" /><Relationship Type="http://schemas.openxmlformats.org/officeDocument/2006/relationships/slide" Target="/ppt/slides/slide21.xml" Id="R531750ed14d349d6" /><Relationship Type="http://schemas.openxmlformats.org/officeDocument/2006/relationships/slide" Target="/ppt/slides/slide22.xml" Id="R28125aa128c04119" /><Relationship Type="http://schemas.openxmlformats.org/officeDocument/2006/relationships/slide" Target="/ppt/slides/slide23.xml" Id="Rd1926c8d8ba24d74" /><Relationship Type="http://schemas.openxmlformats.org/officeDocument/2006/relationships/slide" Target="/ppt/slides/slide24.xml" Id="R08d3c98e78cb473c" /><Relationship Type="http://schemas.openxmlformats.org/officeDocument/2006/relationships/slide" Target="/ppt/slides/slide25.xml" Id="R79057ee5bced4e44" /><Relationship Type="http://schemas.openxmlformats.org/officeDocument/2006/relationships/slide" Target="/ppt/slides/slide26.xml" Id="Rc88b15f89e1b4dee" /><Relationship Type="http://schemas.openxmlformats.org/officeDocument/2006/relationships/slide" Target="/ppt/slides/slide27.xml" Id="R435aabe5381f400a" /><Relationship Type="http://schemas.openxmlformats.org/officeDocument/2006/relationships/slide" Target="/ppt/slides/slide28.xml" Id="R4f146009af524394" /><Relationship Type="http://schemas.openxmlformats.org/officeDocument/2006/relationships/slide" Target="/ppt/slides/slide29.xml" Id="R8fc0e413c06d4779" /><Relationship Type="http://schemas.openxmlformats.org/officeDocument/2006/relationships/slide" Target="/ppt/slides/slide30.xml" Id="Rcd7f637510074e31" /><Relationship Type="http://schemas.openxmlformats.org/officeDocument/2006/relationships/slide" Target="/ppt/slides/slide31.xml" Id="Rf2a5fe900c9d4626" /><Relationship Type="http://schemas.openxmlformats.org/officeDocument/2006/relationships/slide" Target="/ppt/slides/slide32.xml" Id="Rb7d41c67c4ab4da6" /><Relationship Type="http://schemas.openxmlformats.org/officeDocument/2006/relationships/slide" Target="/ppt/slides/slide33.xml" Id="R30883caffab847c1" /><Relationship Type="http://schemas.openxmlformats.org/officeDocument/2006/relationships/slide" Target="/ppt/slides/slide34.xml" Id="Reee3db542a684d0c" /><Relationship Type="http://schemas.openxmlformats.org/officeDocument/2006/relationships/slide" Target="/ppt/slides/slide35.xml" Id="R09ba828900e049c5" /><Relationship Type="http://schemas.openxmlformats.org/officeDocument/2006/relationships/slide" Target="/ppt/slides/slide36.xml" Id="R57efe96c885e4080" /><Relationship Type="http://schemas.openxmlformats.org/officeDocument/2006/relationships/slide" Target="/ppt/slides/slide37.xml" Id="Re914812e4e6a4541" /><Relationship Type="http://schemas.openxmlformats.org/officeDocument/2006/relationships/slide" Target="/ppt/slides/slide38.xml" Id="Rf2bc46f55da94507" /><Relationship Type="http://schemas.openxmlformats.org/officeDocument/2006/relationships/slide" Target="/ppt/slides/slide39.xml" Id="Rf3cbbf202f504a12" /><Relationship Type="http://schemas.openxmlformats.org/officeDocument/2006/relationships/slide" Target="/ppt/slides/slide40.xml" Id="R785c882d20ad49e3" /><Relationship Type="http://schemas.openxmlformats.org/officeDocument/2006/relationships/slide" Target="/ppt/slides/slide41.xml" Id="R4857f215ebd44079" /><Relationship Type="http://schemas.openxmlformats.org/officeDocument/2006/relationships/slide" Target="/ppt/slides/slide42.xml" Id="Rcd3cc91baa424b83" /><Relationship Type="http://schemas.openxmlformats.org/officeDocument/2006/relationships/slide" Target="/ppt/slides/slide43.xml" Id="R88dca30459cf4094" /><Relationship Type="http://schemas.openxmlformats.org/officeDocument/2006/relationships/slide" Target="/ppt/slides/slide44.xml" Id="Rd7860bd52d4f43d9" /><Relationship Type="http://schemas.openxmlformats.org/officeDocument/2006/relationships/slide" Target="/ppt/slides/slide45.xml" Id="Rd525dd3b23da4f68" /><Relationship Type="http://schemas.openxmlformats.org/officeDocument/2006/relationships/slide" Target="/ppt/slides/slide46.xml" Id="R54429acbd722462f" /><Relationship Type="http://schemas.openxmlformats.org/officeDocument/2006/relationships/slide" Target="/ppt/slides/slide47.xml" Id="R51dc65cd479c46c5" /><Relationship Type="http://schemas.openxmlformats.org/officeDocument/2006/relationships/slide" Target="/ppt/slides/slide48.xml" Id="R0909903ab4904724" /><Relationship Type="http://schemas.openxmlformats.org/officeDocument/2006/relationships/slide" Target="/ppt/slides/slide49.xml" Id="R928bac7bf5a142ea" /><Relationship Type="http://schemas.openxmlformats.org/officeDocument/2006/relationships/slide" Target="/ppt/slides/slide50.xml" Id="Rfd28e3f331ab40ff" /><Relationship Type="http://schemas.openxmlformats.org/officeDocument/2006/relationships/slide" Target="/ppt/slides/slide51.xml" Id="R1bb48627e7b14e7d" /><Relationship Type="http://schemas.openxmlformats.org/officeDocument/2006/relationships/slide" Target="/ppt/slides/slide52.xml" Id="Ra804e48e72c84095" /><Relationship Type="http://schemas.openxmlformats.org/officeDocument/2006/relationships/slide" Target="/ppt/slides/slide53.xml" Id="R30d8c0cede0f4da4" /><Relationship Type="http://schemas.openxmlformats.org/officeDocument/2006/relationships/slide" Target="/ppt/slides/slide54.xml" Id="R4eb01224fd26432a" /><Relationship Type="http://schemas.openxmlformats.org/officeDocument/2006/relationships/slide" Target="/ppt/slides/slide55.xml" Id="Rb0a067f2fe70478c" /><Relationship Type="http://schemas.openxmlformats.org/officeDocument/2006/relationships/slide" Target="/ppt/slides/slide56.xml" Id="Ra91a01c669b64cde" /><Relationship Type="http://schemas.openxmlformats.org/officeDocument/2006/relationships/slide" Target="/ppt/slides/slide57.xml" Id="Rd8c59b04b8324a78" /><Relationship Type="http://schemas.openxmlformats.org/officeDocument/2006/relationships/slide" Target="/ppt/slides/slide58.xml" Id="Rfd686c495a3043f6" /><Relationship Type="http://schemas.openxmlformats.org/officeDocument/2006/relationships/slide" Target="/ppt/slides/slide59.xml" Id="Rf6fe2cf21fd343e2" /><Relationship Type="http://schemas.openxmlformats.org/officeDocument/2006/relationships/slide" Target="/ppt/slides/slide60.xml" Id="R6073ba00539e4525" /><Relationship Type="http://schemas.openxmlformats.org/officeDocument/2006/relationships/slide" Target="/ppt/slides/slide61.xml" Id="R05f4a480d67445a1" /><Relationship Type="http://schemas.openxmlformats.org/officeDocument/2006/relationships/slide" Target="/ppt/slides/slide62.xml" Id="R2bc5e1b27cbe426a" /><Relationship Type="http://schemas.openxmlformats.org/officeDocument/2006/relationships/slide" Target="/ppt/slides/slide63.xml" Id="Rbd48568f8eb74dfd" /><Relationship Type="http://schemas.openxmlformats.org/officeDocument/2006/relationships/slide" Target="/ppt/slides/slide64.xml" Id="R8987cdd9faaf41c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0d65c504aa24e9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Itau BBA FIDC Editorial">
      <a:dk1>
        <a:srgbClr val="151515"/>
      </a:dk1>
      <a:lt1>
        <a:srgbClr val="FFFFFF"/>
      </a:lt1>
      <a:dk2>
        <a:srgbClr val="30353A"/>
      </a:dk2>
      <a:lt2>
        <a:srgbClr val="E7E9EB"/>
      </a:lt2>
      <a:accent1>
        <a:srgbClr val="EC7000"/>
      </a:accent1>
      <a:accent2>
        <a:srgbClr val="151515"/>
      </a:accent2>
      <a:accent3>
        <a:srgbClr val="30353A"/>
      </a:accent3>
      <a:accent4>
        <a:srgbClr val="73787D"/>
      </a:accent4>
      <a:accent5>
        <a:srgbClr val="8D9399"/>
      </a:accent5>
      <a:accent6>
        <a:srgbClr val="D7DADD"/>
      </a:accent6>
      <a:hlink>
        <a:srgbClr val="EC7000"/>
      </a:hlink>
      <a:folHlink>
        <a:srgbClr val="73787D"/>
      </a:folHlink>
    </a:clrScheme>
    <a:fontScheme name="Office">
      <a:majorFont>
        <a:latin typeface="Calibri Light"/>
        <a:ea typeface="Calibri Light"/>
        <a:cs typeface="Calibri Light"/>
      </a:majorFont>
      <a:minorFont>
        <a:latin typeface="Calibri"/>
        <a:ea typeface="Calibri"/>
        <a:cs typeface="Calibri"/>
      </a:minorFont>
    </a:fontScheme>
    <a:fmtScheme name="Itau BBA FIDC Edi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3527030a32f4686" /><Relationship Type="http://schemas.openxmlformats.org/officeDocument/2006/relationships/notesMaster" Target="/ppt/notesMasters/notesMaster1.xml" Id="R4fb7d750037d421e" /></Relationships>
</file>

<file path=ppt/notesSlides/_rels/notesSlide2.xml.rels>&#65279;<?xml version="1.0" encoding="utf-8"?><Relationships xmlns="http://schemas.openxmlformats.org/package/2006/relationships"><Relationship Type="http://schemas.openxmlformats.org/officeDocument/2006/relationships/slide" Target="/ppt/slides/slide2.xml" Id="R86260e1e9ddc4d2e" /><Relationship Type="http://schemas.openxmlformats.org/officeDocument/2006/relationships/notesMaster" Target="/ppt/notesMasters/notesMaster1.xml" Id="R8c89e488b9e74f97" /></Relationships>
</file>

<file path=ppt/notesSlides/_rels/notesSlide3.xml.rels>&#65279;<?xml version="1.0" encoding="utf-8"?><Relationships xmlns="http://schemas.openxmlformats.org/package/2006/relationships"><Relationship Type="http://schemas.openxmlformats.org/officeDocument/2006/relationships/slide" Target="/ppt/slides/slide3.xml" Id="R94958cdca0f24e42" /><Relationship Type="http://schemas.openxmlformats.org/officeDocument/2006/relationships/notesMaster" Target="/ppt/notesMasters/notesMaster1.xml" Id="Re7f843d22caa4a0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88f71b71cea43a7" /><Relationship Type="http://schemas.openxmlformats.org/officeDocument/2006/relationships/notesMaster" Target="/ppt/notesMasters/notesMaster1.xml" Id="Rd7ffdee23ab94e5d" /></Relationships>
</file>

<file path=ppt/notesSlides/_rels/notesSlide5.xml.rels>&#65279;<?xml version="1.0" encoding="utf-8"?><Relationships xmlns="http://schemas.openxmlformats.org/package/2006/relationships"><Relationship Type="http://schemas.openxmlformats.org/officeDocument/2006/relationships/slide" Target="/ppt/slides/slide5.xml" Id="R47b9ab59e2e34011" /><Relationship Type="http://schemas.openxmlformats.org/officeDocument/2006/relationships/notesMaster" Target="/ppt/notesMasters/notesMaster1.xml" Id="R64230fc75ff34c4b" /></Relationships>
</file>

<file path=ppt/notesSlides/_rels/notesSlide6.xml.rels>&#65279;<?xml version="1.0" encoding="utf-8"?><Relationships xmlns="http://schemas.openxmlformats.org/package/2006/relationships"><Relationship Type="http://schemas.openxmlformats.org/officeDocument/2006/relationships/slide" Target="/ppt/slides/slide6.xml" Id="Rc57f9e0b0fa34a68" /><Relationship Type="http://schemas.openxmlformats.org/officeDocument/2006/relationships/notesMaster" Target="/ppt/notesMasters/notesMaster1.xml" Id="R9fa0b4aaf8e34329" /></Relationships>
</file>

<file path=ppt/notesSlides/_rels/notesSlide7.xml.rels>&#65279;<?xml version="1.0" encoding="utf-8"?><Relationships xmlns="http://schemas.openxmlformats.org/package/2006/relationships"><Relationship Type="http://schemas.openxmlformats.org/officeDocument/2006/relationships/slide" Target="/ppt/slides/slide7.xml" Id="Ra59353b320294a53" /><Relationship Type="http://schemas.openxmlformats.org/officeDocument/2006/relationships/notesMaster" Target="/ppt/notesMasters/notesMaster1.xml" Id="R912c556054a24ed2" /></Relationships>
</file>

<file path=ppt/notesSlides/_rels/notesSlide8.xml.rels>&#65279;<?xml version="1.0" encoding="utf-8"?><Relationships xmlns="http://schemas.openxmlformats.org/package/2006/relationships"><Relationship Type="http://schemas.openxmlformats.org/officeDocument/2006/relationships/slide" Target="/ppt/slides/slide8.xml" Id="R59d107b7a32949f6" /><Relationship Type="http://schemas.openxmlformats.org/officeDocument/2006/relationships/notesMaster" Target="/ppt/notesMasters/notesMaster1.xml" Id="R9fd4c6e5daf945c3"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e097d08ea74a7c" /><Relationship Type="http://schemas.openxmlformats.org/officeDocument/2006/relationships/notesMaster" Target="/ppt/notesMasters/notesMaster1.xml" Id="Rb30b51972b534d2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0bda11c9b844cd0" /><Relationship Type="http://schemas.openxmlformats.org/officeDocument/2006/relationships/notesMaster" Target="/ppt/notesMasters/notesMaster1.xml" Id="R61fbfc9a4368493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8c36b94733143aa" /><Relationship Type="http://schemas.openxmlformats.org/officeDocument/2006/relationships/notesMaster" Target="/ppt/notesMasters/notesMaster1.xml" Id="R4ba2e7fc7b9947e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e7f52c5c09e41ef" /><Relationship Type="http://schemas.openxmlformats.org/officeDocument/2006/relationships/notesMaster" Target="/ppt/notesMasters/notesMaster1.xml" Id="R2afac7fb86694b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89066b4bf924975" /><Relationship Type="http://schemas.openxmlformats.org/officeDocument/2006/relationships/notesMaster" Target="/ppt/notesMasters/notesMaster1.xml" Id="Rd9f884cbe1db475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69236031a9b40b7" /><Relationship Type="http://schemas.openxmlformats.org/officeDocument/2006/relationships/notesMaster" Target="/ppt/notesMasters/notesMaster1.xml" Id="R8fd6658ff5e448c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52336842514439b" /><Relationship Type="http://schemas.openxmlformats.org/officeDocument/2006/relationships/notesMaster" Target="/ppt/notesMasters/notesMaster1.xml" Id="R3e3b1a70208e4f1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d5ae87a3c7c4fab" /><Relationship Type="http://schemas.openxmlformats.org/officeDocument/2006/relationships/notesMaster" Target="/ppt/notesMasters/notesMaster1.xml" Id="Rea2ce57af033495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c77be488c314183" /><Relationship Type="http://schemas.openxmlformats.org/officeDocument/2006/relationships/notesMaster" Target="/ppt/notesMasters/notesMaster1.xml" Id="R014fcac735454e2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c8a823775c147fc" /><Relationship Type="http://schemas.openxmlformats.org/officeDocument/2006/relationships/notesMaster" Target="/ppt/notesMasters/notesMaster1.xml" Id="R51006be9520847e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1b6a945b0c04907" /><Relationship Type="http://schemas.openxmlformats.org/officeDocument/2006/relationships/notesMaster" Target="/ppt/notesMasters/notesMaster1.xml" Id="R26421ee34b97471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4e3bc4ed1354267" /><Relationship Type="http://schemas.openxmlformats.org/officeDocument/2006/relationships/notesMaster" Target="/ppt/notesMasters/notesMaster1.xml" Id="R998f7d978b1644f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77cfc57b20e4dc6" /><Relationship Type="http://schemas.openxmlformats.org/officeDocument/2006/relationships/notesMaster" Target="/ppt/notesMasters/notesMaster1.xml" Id="R1ad5ff415e2244e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0b1d9ac07d947fe" /><Relationship Type="http://schemas.openxmlformats.org/officeDocument/2006/relationships/notesMaster" Target="/ppt/notesMasters/notesMaster1.xml" Id="Rc80c24934e34416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d64dafd54dd4992" /><Relationship Type="http://schemas.openxmlformats.org/officeDocument/2006/relationships/notesMaster" Target="/ppt/notesMasters/notesMaster1.xml" Id="Rf2323903062e4ad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9f2ccc83f1345d9" /><Relationship Type="http://schemas.openxmlformats.org/officeDocument/2006/relationships/notesMaster" Target="/ppt/notesMasters/notesMaster1.xml" Id="R5c23cd3b93f34d0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67f7f3e42d44ba7" /><Relationship Type="http://schemas.openxmlformats.org/officeDocument/2006/relationships/notesMaster" Target="/ppt/notesMasters/notesMaster1.xml" Id="R4284ea067e25454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f75bb6f5bae416e" /><Relationship Type="http://schemas.openxmlformats.org/officeDocument/2006/relationships/notesMaster" Target="/ppt/notesMasters/notesMaster1.xml" Id="R8efe912d3ad24d4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3dfac1124414034" /><Relationship Type="http://schemas.openxmlformats.org/officeDocument/2006/relationships/notesMaster" Target="/ppt/notesMasters/notesMaster1.xml" Id="R13d9b443852745b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316db88f8dd4457" /><Relationship Type="http://schemas.openxmlformats.org/officeDocument/2006/relationships/notesMaster" Target="/ppt/notesMasters/notesMaster1.xml" Id="R82f7ee7cf6af440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b23d98f28cd4f7a" /><Relationship Type="http://schemas.openxmlformats.org/officeDocument/2006/relationships/notesMaster" Target="/ppt/notesMasters/notesMaster1.xml" Id="R63c35d60f84b460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55621b441874f87" /><Relationship Type="http://schemas.openxmlformats.org/officeDocument/2006/relationships/notesMaster" Target="/ppt/notesMasters/notesMaster1.xml" Id="R02fdd1edad58402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b5be40a2c0d4a49" /><Relationship Type="http://schemas.openxmlformats.org/officeDocument/2006/relationships/notesMaster" Target="/ppt/notesMasters/notesMaster1.xml" Id="Rcc90e42626d141e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526484c729342a6" /><Relationship Type="http://schemas.openxmlformats.org/officeDocument/2006/relationships/notesMaster" Target="/ppt/notesMasters/notesMaster1.xml" Id="Re8a94b7eeaf44c3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fe9f5932a014c26" /><Relationship Type="http://schemas.openxmlformats.org/officeDocument/2006/relationships/notesMaster" Target="/ppt/notesMasters/notesMaster1.xml" Id="Rf563af5daaff4f9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00f005d0d5b47a7" /><Relationship Type="http://schemas.openxmlformats.org/officeDocument/2006/relationships/notesMaster" Target="/ppt/notesMasters/notesMaster1.xml" Id="R52744fb98cff4ec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d742afbfde84994" /><Relationship Type="http://schemas.openxmlformats.org/officeDocument/2006/relationships/notesMaster" Target="/ppt/notesMasters/notesMaster1.xml" Id="R762316ef8aa24dd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7a8ad3656ea4a69" /><Relationship Type="http://schemas.openxmlformats.org/officeDocument/2006/relationships/notesMaster" Target="/ppt/notesMasters/notesMaster1.xml" Id="Rb8db1e75170f4b0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3621fd054264c95" /><Relationship Type="http://schemas.openxmlformats.org/officeDocument/2006/relationships/notesMaster" Target="/ppt/notesMasters/notesMaster1.xml" Id="R07374b34ad94485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3327046d07542c5" /><Relationship Type="http://schemas.openxmlformats.org/officeDocument/2006/relationships/notesMaster" Target="/ppt/notesMasters/notesMaster1.xml" Id="R1cfbea6623d64a9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2263776a78e43e9" /><Relationship Type="http://schemas.openxmlformats.org/officeDocument/2006/relationships/notesMaster" Target="/ppt/notesMasters/notesMaster1.xml" Id="Rc51b2c62cca14f7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ed87a31d6ea4ebf" /><Relationship Type="http://schemas.openxmlformats.org/officeDocument/2006/relationships/notesMaster" Target="/ppt/notesMasters/notesMaster1.xml" Id="R348a8a5ac6034e9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a1c05dac4f04680" /><Relationship Type="http://schemas.openxmlformats.org/officeDocument/2006/relationships/notesMaster" Target="/ppt/notesMasters/notesMaster1.xml" Id="Rcb2b9f135f33475c"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66826ab29584d94" /><Relationship Type="http://schemas.openxmlformats.org/officeDocument/2006/relationships/notesMaster" Target="/ppt/notesMasters/notesMaster1.xml" Id="R9446d2b2a6aa411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9629d8b8f9f478d" /><Relationship Type="http://schemas.openxmlformats.org/officeDocument/2006/relationships/notesMaster" Target="/ppt/notesMasters/notesMaster1.xml" Id="Rac0f6cae2e73449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6a6e22d6c974ba9" /><Relationship Type="http://schemas.openxmlformats.org/officeDocument/2006/relationships/notesMaster" Target="/ppt/notesMasters/notesMaster1.xml" Id="Rb2d706808f0c4f5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5746398d0394304" /><Relationship Type="http://schemas.openxmlformats.org/officeDocument/2006/relationships/notesMaster" Target="/ppt/notesMasters/notesMaster1.xml" Id="R1fd81b7b11074479"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353ba9b1e1e41b6" /><Relationship Type="http://schemas.openxmlformats.org/officeDocument/2006/relationships/notesMaster" Target="/ppt/notesMasters/notesMaster1.xml" Id="R8b94fd15bb6a4a6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f59fcf286f84a2a" /><Relationship Type="http://schemas.openxmlformats.org/officeDocument/2006/relationships/notesMaster" Target="/ppt/notesMasters/notesMaster1.xml" Id="Rce4e329f9540461a"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47b5b14503c4366" /><Relationship Type="http://schemas.openxmlformats.org/officeDocument/2006/relationships/notesMaster" Target="/ppt/notesMasters/notesMaster1.xml" Id="R8da1e9e89b7a42c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9d241160dd04b30" /><Relationship Type="http://schemas.openxmlformats.org/officeDocument/2006/relationships/notesMaster" Target="/ppt/notesMasters/notesMaster1.xml" Id="R40cc468718cb47d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fdb308a217146c3" /><Relationship Type="http://schemas.openxmlformats.org/officeDocument/2006/relationships/notesMaster" Target="/ppt/notesMasters/notesMaster1.xml" Id="R215b5ace415b40b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9091fcd6c674ca0" /><Relationship Type="http://schemas.openxmlformats.org/officeDocument/2006/relationships/notesMaster" Target="/ppt/notesMasters/notesMaster1.xml" Id="Rc56f91ba7a56491e"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bd0a0d2a026482b" /><Relationship Type="http://schemas.openxmlformats.org/officeDocument/2006/relationships/notesMaster" Target="/ppt/notesMasters/notesMaster1.xml" Id="R73b8e432c5cc43df"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44be9b113bfc4f62" /><Relationship Type="http://schemas.openxmlformats.org/officeDocument/2006/relationships/notesMaster" Target="/ppt/notesMasters/notesMaster1.xml" Id="R0e730449714243c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81c8d2008984c21" /><Relationship Type="http://schemas.openxmlformats.org/officeDocument/2006/relationships/notesMaster" Target="/ppt/notesMasters/notesMaster1.xml" Id="R0c2835fdb9614654"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81d904019a444ad0" /><Relationship Type="http://schemas.openxmlformats.org/officeDocument/2006/relationships/notesMaster" Target="/ppt/notesMasters/notesMaster1.xml" Id="R91e870f8615948e2"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59f90f018cf440b7" /><Relationship Type="http://schemas.openxmlformats.org/officeDocument/2006/relationships/notesMaster" Target="/ppt/notesMasters/notesMaster1.xml" Id="R6583d1b18ac14460"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edca8b132b694a61" /><Relationship Type="http://schemas.openxmlformats.org/officeDocument/2006/relationships/notesMaster" Target="/ppt/notesMasters/notesMaster1.xml" Id="R774f6d90181a493c"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de9a8746de1416f" /><Relationship Type="http://schemas.openxmlformats.org/officeDocument/2006/relationships/notesMaster" Target="/ppt/notesMasters/notesMaster1.xml" Id="Rfc9b66e2b3104865"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e2a351f7239c427d" /><Relationship Type="http://schemas.openxmlformats.org/officeDocument/2006/relationships/notesMaster" Target="/ppt/notesMasters/notesMaster1.xml" Id="Ra6fe32a7b8c041aa"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078baaaa2bdb45c6" /><Relationship Type="http://schemas.openxmlformats.org/officeDocument/2006/relationships/notesMaster" Target="/ppt/notesMasters/notesMaster1.xml" Id="R4c3d3df88c81454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4c9953f9d0b4e09" /><Relationship Type="http://schemas.openxmlformats.org/officeDocument/2006/relationships/notesMaster" Target="/ppt/notesMasters/notesMaster1.xml" Id="R82730dc69e024afa"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a1d4bcaff3d4c51" /><Relationship Type="http://schemas.openxmlformats.org/officeDocument/2006/relationships/notesMaster" Target="/ppt/notesMasters/notesMaster1.xml" Id="Rc2b964a6226049b3"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dbc638cdf7654882" /><Relationship Type="http://schemas.openxmlformats.org/officeDocument/2006/relationships/notesMaster" Target="/ppt/notesMasters/notesMaster1.xml" Id="R2e8690a3648f4a8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7801139603c41ee" /><Relationship Type="http://schemas.openxmlformats.org/officeDocument/2006/relationships/notesMaster" Target="/ppt/notesMasters/notesMaster1.xml" Id="R5730b07e67b64cd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CVM/SRE — Ofertas Públicas de Distribuição: https://dados.cvm.gov.br/dataset/oferta-distrib</a:t>
            </a:r>
          </a:p>
          <a:p xmlns:a="http://schemas.openxmlformats.org/drawingml/2006/main">
            <a:r>
              <a:t>- ANBIMA Data — Boletim de Mercado de Capitais, snapshot mai/26: https://data.anbima.com.br/publicacoes/boletim-de-mercado-de-capitais/mercado-de-capitais-segue-resiliente-com-283-bi-em-ofertas-acumuladas-no-ano</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CVM — Informe Mensal de FIDC e cadastro de fundos para PL, cotistas e prestadores.</a:t>
            </a:r>
          </a:p>
          <a:p xmlns:a="http://schemas.openxmlformats.org/drawingml/2006/main">
            <a:r>
              <a:t>- CVM/SRE — ofertas granulares até jun/26: https://dados.cvm.gov.br/dataset/oferta-distrib</a:t>
            </a:r>
          </a:p>
          <a:p xmlns:a="http://schemas.openxmlformats.org/drawingml/2006/main">
            <a:r>
              <a:t>- ANBIMA Data — comparativo de mercado por valor encerrado até mai/26: https://data.anbima.com.br/publicacoes/boletim-de-mercado-de-capitais/mercado-de-capitais-segue-resiliente-com-283-bi-em-ofertas-acumuladas-no-ano</a:t>
            </a:r>
          </a:p>
          <a:p xmlns:a="http://schemas.openxmlformats.org/drawingml/2006/main">
            <a:r>
              <a:t>- FundosNet/B3 — documentos públicos usados nas análises documentais.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CVM/SRE — oferta_resolucao_160.csv e oferta_distribuicao.csv: https://dados.cvm.gov.br/dataset/oferta-distrib</a:t>
            </a:r>
          </a:p>
          <a:p xmlns:a="http://schemas.openxmlformats.org/drawingml/2006/main">
            <a:r>
              <a:t>- Metodologia: ofertas públicas primárias, status Oferta Encerrada, data de encerramento no período e Valor_Total_Registrado positivo; snapshot 24/jul/26.</a:t>
            </a:r>
          </a:p>
          <a:p xmlns:a="http://schemas.openxmlformats.org/drawingml/2006/main">
            <a:r>
              <a:t>- Limitação: volume registrado pode diferir do valor efetivamente encerrado; taxonomia CVM declarada preservada.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ANBIMA Data — Boletim de Mercado de Capitais, snapshot mai/26: https://data.anbima.com.br/publicacoes/boletim-de-mercado-de-capitais/mercado-de-capitais-segue-resiliente-com-283-bi-em-ofertas-acumuladas-no-ano</a:t>
            </a:r>
          </a:p>
          <a:p xmlns:a="http://schemas.openxmlformats.org/drawingml/2006/main">
            <a:r>
              <a:t>- Anexo oficial XLSX, aba 02-02-Vlr e Anexo - Doméstico: https://data-strapi.prd.anbima.com.br/uploads/Boletim_MK_Anexo_8_33b8963678.xlsx</a:t>
            </a:r>
          </a:p>
          <a:p xmlns:a="http://schemas.openxmlformats.org/drawingml/2006/main">
            <a:r>
              <a:t>- Métrica: Valor Encerrado por data de encerramento das ofertas públicas; 2026 considera jan–mai. Debêntures incluem debêntures de securitização.</a:t>
            </a:r>
          </a:p>
          <a:p xmlns:a="http://schemas.openxmlformats.org/drawingml/2006/main">
            <a:r>
              <a:t>- Limitação: o anexo não segrega sistematicamente ofertas primárias e secundárias para renda fixa e fundos e está sujeito a retificações.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CVM/SRE — oferta_resolucao_160.csv e oferta_distribuicao.csv: https://dados.cvm.gov.br/dataset/oferta-distrib</a:t>
            </a:r>
          </a:p>
          <a:p xmlns:a="http://schemas.openxmlformats.org/drawingml/2006/main">
            <a:r>
              <a:t>- Resolução CVM 30 — categorias de investidor profissional e qualificado: https://conteudo.cvm.gov.br/legislacao/resolucoes/resolucao030.html</a:t>
            </a:r>
          </a:p>
          <a:p xmlns:a="http://schemas.openxmlformats.org/drawingml/2006/main">
            <a:r>
              <a:t>- Universo: Cotas de FIDC, ofertas públicas primárias encerradas, todos os ritos disponíveis, valor registrado positivo e data de encerramento no período; 2026 = jan–jun.</a:t>
            </a:r>
          </a:p>
          <a:p xmlns:a="http://schemas.openxmlformats.org/drawingml/2006/main">
            <a:r>
              <a:t>- Limitação: público-alvo mede elegibilidade e não alocação final; não separa pessoa física de pessoa jurídica. Campo ausente em registros legados = N/D.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CVM, Informe Mensal FIDC, Tabelas I, II e IV, 2026-06</a:t>
            </a:r>
          </a:p>
          <a:p xmlns:a="http://schemas.openxmlformats.org/drawingml/2006/main">
            <a:r>
              <a:t>- coorte atual ex-FIC, PL positivo e um único tipo Tabela II; concentração calculada somente entre fundos com inadimplência ajustada positiva</a:t>
            </a:r>
          </a:p>
          <a:p xmlns:a="http://schemas.openxmlformats.org/drawingml/2006/main">
            <a:r>
              <a:t>- fundos com zero, ausência de reporte, atraso de reporte ou inconsistência carteira/inadimplência ficam fora da dispersão; HHI e Gini medem concentração do valor reportado e não causalidade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CVM, Informe Mensal FIDC, Tabelas I, II e IV, 2026-06</a:t>
            </a:r>
          </a:p>
          <a:p xmlns:a="http://schemas.openxmlformats.org/drawingml/2006/main">
            <a:r>
              <a:t>- coorte atual ex-FIC, PL positivo e um único tipo Tabela II; concentração calculada somente entre fundos com inadimplência ajustada positiva</a:t>
            </a:r>
          </a:p>
          <a:p xmlns:a="http://schemas.openxmlformats.org/drawingml/2006/main">
            <a:r>
              <a:t>- fundos com zero, ausência de reporte, atraso de reporte ou inconsistência carteira/inadimplência ficam fora da dispersão; HHI e Gini medem concentração do valor reportado e não causalidade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PL jun/26 possui cobertura integral de 20/20 neste grupo; mai/26 também cobre os mesmos fundos. Unidade: CNPJ do fundo, com classes agregadas.</a:t>
            </a:r>
          </a:p>
          <a:p xmlns:a="http://schemas.openxmlformats.org/drawingml/2006/main">
            <a:r>
              <a:t>- Prestadores: administrador do Informe Mensal jun/26; gestor e custodiante da fotografia cadastral carregada em 21/jul/26.</a:t>
            </a:r>
          </a:p>
          <a:p xmlns:a="http://schemas.openxmlformats.org/drawingml/2006/main">
            <a:r>
              <a:t>- Cedente/originador: 4 de 20 com leitura curada concluída; lacunas permanecem N/D. Fonte, data, evidência e limitações constam no workbook.</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PL jun/26 possui cobertura integral de 20/20 neste grupo; mai/26 também cobre os mesmos fundos. Unidade: CNPJ do fundo, com classes agregadas.</a:t>
            </a:r>
          </a:p>
          <a:p xmlns:a="http://schemas.openxmlformats.org/drawingml/2006/main">
            <a:r>
              <a:t>- Prestadores: administrador do Informe Mensal jun/26; gestor e custodiante da fotografia cadastral carregada em 21/jul/26.</a:t>
            </a:r>
          </a:p>
          <a:p xmlns:a="http://schemas.openxmlformats.org/drawingml/2006/main">
            <a:r>
              <a:t>- Cedente/originador: 10 de 20 com leitura curada concluída; lacunas permanecem N/D. Fonte, data, evidência e limitações constam no workbook.</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PL jun/26 possui cobertura integral de 20/20 neste grupo; mai/26 também cobre os mesmos fundos. Unidade: CNPJ do fundo, com classes agregadas.</a:t>
            </a:r>
          </a:p>
          <a:p xmlns:a="http://schemas.openxmlformats.org/drawingml/2006/main">
            <a:r>
              <a:t>- Prestadores: administrador do Informe Mensal jun/26; gestor e custodiante da fotografia cadastral carregada em 21/jul/26.</a:t>
            </a:r>
          </a:p>
          <a:p xmlns:a="http://schemas.openxmlformats.org/drawingml/2006/main">
            <a:r>
              <a:t>- Cedente/originador: 17 de 20 com leitura curada concluída; lacunas permanecem N/D. Fonte, data, evidência e limitações constam no workbook.</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PL jun/26 possui cobertura integral de 20/20 neste grupo; mai/26 também cobre os mesmos fundos. Unidade: CNPJ do fundo, com classes agregadas.</a:t>
            </a:r>
          </a:p>
          <a:p xmlns:a="http://schemas.openxmlformats.org/drawingml/2006/main">
            <a:r>
              <a:t>- Prestadores: administrador do Informe Mensal jun/26; gestor e custodiante da fotografia cadastral carregada em 21/jul/26.</a:t>
            </a:r>
          </a:p>
          <a:p xmlns:a="http://schemas.openxmlformats.org/drawingml/2006/main">
            <a:r>
              <a:t>- Cedente/originador: 20 de 20 com leitura curada concluída; lacunas permanecem N/D. Fonte, data, evidência e limitações constam no workbook.</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CVM/SRE — oferta_resolucao_160.csv e oferta_distribuicao.csv: https://dados.cvm.gov.br/dataset/oferta-distrib</a:t>
            </a:r>
          </a:p>
          <a:p xmlns:a="http://schemas.openxmlformats.org/drawingml/2006/main">
            <a:r>
              <a:t>- Universo: Cotas de FIDC, ofertas públicas primárias encerradas, todos os ritos disponíveis, valor registrado positivo e data de encerramento no período; 2026 = jan–jun.</a:t>
            </a:r>
          </a:p>
          <a:p xmlns:a="http://schemas.openxmlformats.org/drawingml/2006/main">
            <a:r>
              <a:t>- Métrica: volume = Valor_Total_Registrado; ticket = volume registrado por oferta deduplicada. PF usa quantidade colocada e depende da cobertura do campo.</a:t>
            </a:r>
          </a:p>
          <a:p xmlns:a="http://schemas.openxmlformats.org/drawingml/2006/main">
            <a:r>
              <a:t>- Limitação: valor registrado pode diferir do valor encerrado informado à ANBIMA.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CVM/SRE — oferta_resolucao_160.csv e oferta_distribuicao.csv: https://dados.cvm.gov.br/dataset/oferta-distrib</a:t>
            </a:r>
          </a:p>
          <a:p xmlns:a="http://schemas.openxmlformats.org/drawingml/2006/main">
            <a:r>
              <a:t>- Universo: Cotas de FIDC, ofertas públicas primárias encerradas, todos os ritos disponíveis, Valor_Total_Registrado positivo e data de encerramento no período; 2024/2025 = FY e 2026 = jan–jun.</a:t>
            </a:r>
          </a:p>
          <a:p xmlns:a="http://schemas.openxmlformats.org/drawingml/2006/main">
            <a:r>
              <a:t>- Limitação: faixas e participações usam o valor registrado, que pode diferir do valor encerrado informado à ANBIMA.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CVM/SRE — oferta_resolucao_160.csv e oferta_distribuicao.csv: https://dados.cvm.gov.br/dataset/oferta-distrib</a:t>
            </a:r>
          </a:p>
          <a:p xmlns:a="http://schemas.openxmlformats.org/drawingml/2006/main">
            <a:r>
              <a:t>- Universo: Cotas de FIDC, ofertas públicas primárias encerradas, todos os ritos disponíveis, Valor_Total_Registrado positivo e data de encerramento no período; 2026 = jan–jun.</a:t>
            </a:r>
          </a:p>
          <a:p xmlns:a="http://schemas.openxmlformats.org/drawingml/2006/main">
            <a:r>
              <a:t>- Métrica: regime de colocação conforme declarado na oferta; campo ausente nos arquivos consultados = Não informado.</a:t>
            </a:r>
          </a:p>
          <a:p xmlns:a="http://schemas.openxmlformats.org/drawingml/2006/main">
            <a:r>
              <a:t>- Limitação: volume registrado pode diferir do valor encerrado informado à ANBIMA.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CVM/SRE — oferta_resolucao_160.csv e oferta_distribuicao.csv: https://dados.cvm.gov.br/dataset/oferta-distrib</a:t>
            </a:r>
          </a:p>
          <a:p xmlns:a="http://schemas.openxmlformats.org/drawingml/2006/main">
            <a:r>
              <a:t>- FundosNet/B3 — documento público de rating mais recente conciliado com a oferta, emissão, série ou subclasse.</a:t>
            </a:r>
          </a:p>
          <a:p xmlns:a="http://schemas.openxmlformats.org/drawingml/2006/main">
            <a:r>
              <a:t>- Universo: Cotas de FIDC, ofertas públicas primárias encerradas, todos os ritos disponíveis, Valor_Total_Registrado positivo e data de encerramento no período; snapshot CVM 24/jul/26.</a:t>
            </a:r>
          </a:p>
          <a:p xmlns:a="http://schemas.openxmlformats.org/drawingml/2006/main">
            <a:r>
              <a:t>- Limitação: rating sem documento público verificável ou sem vínculo exato = N/D; o volume registrado pode diferir do valor encerrado informado à ANBIMA.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CVM/SRE — oferta_resolucao_160.csv e oferta_distribuicao.csv: https://dados.cvm.gov.br/dataset/oferta-distrib</a:t>
            </a:r>
          </a:p>
          <a:p xmlns:a="http://schemas.openxmlformats.org/drawingml/2006/main">
            <a:r>
              <a:t>- FundosNet/B3 — documento público de rating mais recente conciliado com a oferta, emissão, série ou subclasse.</a:t>
            </a:r>
          </a:p>
          <a:p xmlns:a="http://schemas.openxmlformats.org/drawingml/2006/main">
            <a:r>
              <a:t>- Universo: Cotas de FIDC, ofertas públicas primárias encerradas, todos os ritos disponíveis, Valor_Total_Registrado positivo e data de encerramento no período; snapshot CVM 24/jul/26.</a:t>
            </a:r>
          </a:p>
          <a:p xmlns:a="http://schemas.openxmlformats.org/drawingml/2006/main">
            <a:r>
              <a:t>- Limitação: rating sem documento público verificável ou sem vínculo exato = N/D.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CVM/SRE — oferta_distribuicao.csv: https://dados.cvm.gov.br/dataset/oferta-distrib</a:t>
            </a:r>
          </a:p>
          <a:p xmlns:a="http://schemas.openxmlformats.org/drawingml/2006/main">
            <a:r>
              <a:t>- FundosNet/B3 — documento público de rating mais recente conciliado com a oferta, emissão, série ou subclasse.</a:t>
            </a:r>
          </a:p>
          <a:p xmlns:a="http://schemas.openxmlformats.org/drawingml/2006/main">
            <a:r>
              <a:t>- Limitação: a base pública recuperada contém sete ofertas legadas encerradas em 2022; o período é parcial e não sustenta Top 15 anual completo.</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CVM/SRE — análises granulares de ofertas públicas primárias encerradas, todos os ritos disponíveis, volume registrado; 2026 = jan–jun: https://dados.cvm.gov.br/dataset/oferta-distrib</a:t>
            </a:r>
          </a:p>
          <a:p xmlns:a="http://schemas.openxmlformats.org/drawingml/2006/main">
            <a:r>
              <a:t>- ANBIMA Data — comparativo de mercado por valor encerrado, snapshot mai/26; 2026 = jan–mai: https://data.anbima.com.br/publicacoes/boletim-de-mercado-de-capitais/mercado-de-capitais-segue-resiliente-com-283-bi-em-ofertas-acumuladas-no-ano</a:t>
            </a:r>
          </a:p>
          <a:p xmlns:a="http://schemas.openxmlformats.org/drawingml/2006/main">
            <a:r>
              <a:t>- FundosNet/B3 — evidência documental de ratings; rating sem documento público verificável ou sem vínculo exato = N/D.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CVM/SRE — oferta_resolucao_160.csv e oferta_distribuicao.csv: https://dados.cvm.gov.br/dataset/oferta-distrib</a:t>
            </a:r>
          </a:p>
          <a:p xmlns:a="http://schemas.openxmlformats.org/drawingml/2006/main">
            <a:r>
              <a:t>- ANBIMA Data — Boletim de Mercado de Capitais, snapshot mai/26: https://data.anbima.com.br/publicacoes/boletim-de-mercado-de-capitais/mercado-de-capitais-segue-resiliente-com-283-bi-em-ofertas-acumuladas-no-ano</a:t>
            </a:r>
          </a:p>
          <a:p xmlns:a="http://schemas.openxmlformats.org/drawingml/2006/main">
            <a:r>
              <a:t>- ANBIMA — anexo oficial XLSX: https://data-strapi.prd.anbima.com.br/uploads/Boletim_MK_Anexo_8_33b8963678.xlsx</a:t>
            </a:r>
          </a:p>
          <a:p xmlns:a="http://schemas.openxmlformats.org/drawingml/2006/main">
            <a:r>
              <a:t>- FundosNet/B3 — documentos públicos usados na conciliação de ratings.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CVM — Informe Mensal de FIDC e cadastro de prestadores por competência.</a:t>
            </a:r>
          </a:p>
          <a:p xmlns:a="http://schemas.openxmlformats.org/drawingml/2006/main">
            <a:r>
              <a:t>- PL comparável da indústria = menor PL entre dez/24 e dez/25 para cada CNPJ elegível.</a:t>
            </a:r>
          </a:p>
          <a:p xmlns:a="http://schemas.openxmlformats.org/drawingml/2006/main">
            <a:r>
              <a:t>- Coorte CBSF/Reag: administrador de origem CNPJ 34.829.992/0001-86 em dez/25; destino em jun/26.</a:t>
            </a:r>
          </a:p>
          <a:p xmlns:a="http://schemas.openxmlformats.org/drawingml/2006/main">
            <a:r>
              <a:t>- Limitação: ausência de reporte no destino não comprova liquidação do fundo; gestor e custodiante históricos não são observáveis na mesma base.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ad197e118e443f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df1cfb11b424acb" /><Relationship Type="http://schemas.openxmlformats.org/officeDocument/2006/relationships/slideLayout" Target="/ppt/slideLayouts/slideLayout1.xml" Id="R2b50263bac72447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b50263bac72447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Itau BBA FIDC Editorial">
      <a:dk1>
        <a:srgbClr val="151515"/>
      </a:dk1>
      <a:lt1>
        <a:srgbClr val="FFFFFF"/>
      </a:lt1>
      <a:dk2>
        <a:srgbClr val="30353A"/>
      </a:dk2>
      <a:lt2>
        <a:srgbClr val="E7E9EB"/>
      </a:lt2>
      <a:accent1>
        <a:srgbClr val="EC7000"/>
      </a:accent1>
      <a:accent2>
        <a:srgbClr val="151515"/>
      </a:accent2>
      <a:accent3>
        <a:srgbClr val="30353A"/>
      </a:accent3>
      <a:accent4>
        <a:srgbClr val="73787D"/>
      </a:accent4>
      <a:accent5>
        <a:srgbClr val="8D9399"/>
      </a:accent5>
      <a:accent6>
        <a:srgbClr val="D7DADD"/>
      </a:accent6>
      <a:hlink>
        <a:srgbClr val="EC7000"/>
      </a:hlink>
      <a:folHlink>
        <a:srgbClr val="73787D"/>
      </a:folHlink>
    </a:clrScheme>
    <a:fontScheme name="Office">
      <a:majorFont>
        <a:latin typeface="Calibri Light"/>
        <a:ea typeface="Calibri Light"/>
        <a:cs typeface="Calibri Light"/>
      </a:majorFont>
      <a:minorFont>
        <a:latin typeface="Calibri"/>
        <a:ea typeface="Calibri"/>
        <a:cs typeface="Calibri"/>
      </a:minorFont>
    </a:fontScheme>
    <a:fmtScheme name="Itau BBA FIDC Edi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507414b16454765" /><Relationship Type="http://schemas.openxmlformats.org/officeDocument/2006/relationships/notesSlide" Target="/ppt/notesSlides/notesSlide1.xml" Id="R148360142808446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0f4767c024641d6" /><Relationship Type="http://schemas.openxmlformats.org/officeDocument/2006/relationships/notesSlide" Target="/ppt/notesSlides/notesSlide2.xml" Id="R97852d004216465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589f6896c0a4686" /><Relationship Type="http://schemas.openxmlformats.org/officeDocument/2006/relationships/chart" Target="/ppt/slides/charts/chart1.xml" Id="Re6b609230d4f436f" /><Relationship Type="http://schemas.openxmlformats.org/officeDocument/2006/relationships/chart" Target="/ppt/slides/charts/chart2.xml" Id="Rb89ad7e886e44d60" /><Relationship Type="http://schemas.openxmlformats.org/officeDocument/2006/relationships/chart" Target="/ppt/slides/charts/chart3.xml" Id="R605084ab1e964283" /><Relationship Type="http://schemas.openxmlformats.org/officeDocument/2006/relationships/notesSlide" Target="/ppt/notesSlides/notesSlide3.xml" Id="Rbda1bbebda2341e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a21706f08724f2b" /><Relationship Type="http://schemas.openxmlformats.org/officeDocument/2006/relationships/chart" Target="/ppt/slides/charts/chart4.xml" Id="R5c21a26629e44521" /><Relationship Type="http://schemas.openxmlformats.org/officeDocument/2006/relationships/chart" Target="/ppt/slides/charts/chart5.xml" Id="Ra55af9da67184253" /><Relationship Type="http://schemas.openxmlformats.org/officeDocument/2006/relationships/notesSlide" Target="/ppt/notesSlides/notesSlide4.xml" Id="R19b38904fac94d7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7f9cb06e40a4463" /><Relationship Type="http://schemas.openxmlformats.org/officeDocument/2006/relationships/chart" Target="/ppt/slides/charts/chart6.xml" Id="R2d7aa38c611d4f16" /><Relationship Type="http://schemas.openxmlformats.org/officeDocument/2006/relationships/notesSlide" Target="/ppt/notesSlides/notesSlide5.xml" Id="Rac235f9a5df44f0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0606e418949424e" /><Relationship Type="http://schemas.openxmlformats.org/officeDocument/2006/relationships/chart" Target="/ppt/slides/charts/chart7.xml" Id="Rd4a0758b35784ad8" /><Relationship Type="http://schemas.openxmlformats.org/officeDocument/2006/relationships/chart" Target="/ppt/slides/charts/chart8.xml" Id="R1a346a4505a14221" /><Relationship Type="http://schemas.openxmlformats.org/officeDocument/2006/relationships/chart" Target="/ppt/slides/charts/chart9.xml" Id="R50c000edf3cf4522" /><Relationship Type="http://schemas.openxmlformats.org/officeDocument/2006/relationships/notesSlide" Target="/ppt/notesSlides/notesSlide6.xml" Id="R9ecc4a542440425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147e1422a8949da" /><Relationship Type="http://schemas.openxmlformats.org/officeDocument/2006/relationships/chart" Target="/ppt/slides/charts/chart10.xml" Id="R132df83455fd4a75" /><Relationship Type="http://schemas.openxmlformats.org/officeDocument/2006/relationships/chart" Target="/ppt/slides/charts/chart11.xml" Id="R9218b94a38ba4f58" /><Relationship Type="http://schemas.openxmlformats.org/officeDocument/2006/relationships/chart" Target="/ppt/slides/charts/chart12.xml" Id="R5118487fbef9416a" /><Relationship Type="http://schemas.openxmlformats.org/officeDocument/2006/relationships/chart" Target="/ppt/slides/charts/chart13.xml" Id="R1f2c779a7cd64ee3" /><Relationship Type="http://schemas.openxmlformats.org/officeDocument/2006/relationships/chart" Target="/ppt/slides/charts/chart14.xml" Id="R100bc61c745b4b0d" /><Relationship Type="http://schemas.openxmlformats.org/officeDocument/2006/relationships/notesSlide" Target="/ppt/notesSlides/notesSlide7.xml" Id="Rbbb07a5fb35f4a0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7a3cedaedfc454d" /><Relationship Type="http://schemas.openxmlformats.org/officeDocument/2006/relationships/chart" Target="/ppt/slides/charts/chart15.xml" Id="R32fd2611821a4ccf" /><Relationship Type="http://schemas.openxmlformats.org/officeDocument/2006/relationships/chart" Target="/ppt/slides/charts/chart16.xml" Id="Rde3463c482404a68" /><Relationship Type="http://schemas.openxmlformats.org/officeDocument/2006/relationships/chart" Target="/ppt/slides/charts/chart17.xml" Id="Ra8e6212268a949cc" /><Relationship Type="http://schemas.openxmlformats.org/officeDocument/2006/relationships/notesSlide" Target="/ppt/notesSlides/notesSlide8.xml" Id="R496fe45298a246e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cbc822ed058483d" /><Relationship Type="http://schemas.openxmlformats.org/officeDocument/2006/relationships/chart" Target="/ppt/slides/charts/chart18.xml" Id="R14a52bc669a84731" /><Relationship Type="http://schemas.openxmlformats.org/officeDocument/2006/relationships/chart" Target="/ppt/slides/charts/chart19.xml" Id="R3874d670a86f4c3b" /><Relationship Type="http://schemas.openxmlformats.org/officeDocument/2006/relationships/chart" Target="/ppt/slides/charts/chart20.xml" Id="R175bf5ac341b4ba5" /><Relationship Type="http://schemas.openxmlformats.org/officeDocument/2006/relationships/notesSlide" Target="/ppt/notesSlides/notesSlide9.xml" Id="R90da00f54b1d48b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0209c1b0e904579" /><Relationship Type="http://schemas.openxmlformats.org/officeDocument/2006/relationships/chart" Target="/ppt/slides/charts/chart21.xml" Id="R4e191474eb4e479e" /><Relationship Type="http://schemas.openxmlformats.org/officeDocument/2006/relationships/chart" Target="/ppt/slides/charts/chart22.xml" Id="R3de42de8c9274c54" /><Relationship Type="http://schemas.openxmlformats.org/officeDocument/2006/relationships/chart" Target="/ppt/slides/charts/chart23.xml" Id="Rb060dac5a4e643c2" /><Relationship Type="http://schemas.openxmlformats.org/officeDocument/2006/relationships/notesSlide" Target="/ppt/notesSlides/notesSlide10.xml" Id="R268b56ab46934a4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773a08970ab4955" /><Relationship Type="http://schemas.openxmlformats.org/officeDocument/2006/relationships/chart" Target="/ppt/slides/charts/chart24.xml" Id="Re096d860ea9d4f3f" /><Relationship Type="http://schemas.openxmlformats.org/officeDocument/2006/relationships/notesSlide" Target="/ppt/notesSlides/notesSlide11.xml" Id="Rbd67716b02ce4e0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0888256887d450f" /><Relationship Type="http://schemas.openxmlformats.org/officeDocument/2006/relationships/chart" Target="/ppt/slides/charts/chart25.xml" Id="R4b7f400ab4b1454e" /><Relationship Type="http://schemas.openxmlformats.org/officeDocument/2006/relationships/chart" Target="/ppt/slides/charts/chart26.xml" Id="R895ca6d6af1c43a7" /><Relationship Type="http://schemas.openxmlformats.org/officeDocument/2006/relationships/notesSlide" Target="/ppt/notesSlides/notesSlide12.xml" Id="R87edc8ddd3814bf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5a74eb88c5b46c4" /><Relationship Type="http://schemas.openxmlformats.org/officeDocument/2006/relationships/chart" Target="/ppt/slides/charts/chart27.xml" Id="R004732ea04504068" /><Relationship Type="http://schemas.openxmlformats.org/officeDocument/2006/relationships/chart" Target="/ppt/slides/charts/chart28.xml" Id="Re0160d6d45d64180" /><Relationship Type="http://schemas.openxmlformats.org/officeDocument/2006/relationships/notesSlide" Target="/ppt/notesSlides/notesSlide13.xml" Id="R7bbcb72216cc477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62b0c8ced0e4ced" /><Relationship Type="http://schemas.openxmlformats.org/officeDocument/2006/relationships/chart" Target="/ppt/slides/charts/chart29.xml" Id="R2870404302b74780" /><Relationship Type="http://schemas.openxmlformats.org/officeDocument/2006/relationships/chart" Target="/ppt/slides/charts/chart30.xml" Id="Rf3f91767f2034640" /><Relationship Type="http://schemas.openxmlformats.org/officeDocument/2006/relationships/notesSlide" Target="/ppt/notesSlides/notesSlide14.xml" Id="R55cbab67d57146d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f1656967cb640e2" /><Relationship Type="http://schemas.openxmlformats.org/officeDocument/2006/relationships/notesSlide" Target="/ppt/notesSlides/notesSlide15.xml" Id="R37cafcdccb4b4ee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fe05151e7494fab" /><Relationship Type="http://schemas.openxmlformats.org/officeDocument/2006/relationships/notesSlide" Target="/ppt/notesSlides/notesSlide16.xml" Id="Re0d9f604d802447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2971fdaa08a490c" /><Relationship Type="http://schemas.openxmlformats.org/officeDocument/2006/relationships/chart" Target="/ppt/slides/charts/chart31.xml" Id="R03b07e89fbd34a26" /><Relationship Type="http://schemas.openxmlformats.org/officeDocument/2006/relationships/chart" Target="/ppt/slides/charts/chart32.xml" Id="R3f5f6c9218a74545" /><Relationship Type="http://schemas.openxmlformats.org/officeDocument/2006/relationships/chart" Target="/ppt/slides/charts/chart33.xml" Id="R2484b98e2f7f4c8a" /><Relationship Type="http://schemas.openxmlformats.org/officeDocument/2006/relationships/notesSlide" Target="/ppt/notesSlides/notesSlide17.xml" Id="R78d9dad2826346f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e0b22eff3754d68" /><Relationship Type="http://schemas.openxmlformats.org/officeDocument/2006/relationships/notesSlide" Target="/ppt/notesSlides/notesSlide18.xml" Id="Rbcb537ed72be45c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24c5cf31d354c25" /><Relationship Type="http://schemas.openxmlformats.org/officeDocument/2006/relationships/notesSlide" Target="/ppt/notesSlides/notesSlide19.xml" Id="R605cba1ee04a433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a6aed5f9fb44936" /><Relationship Type="http://schemas.openxmlformats.org/officeDocument/2006/relationships/notesSlide" Target="/ppt/notesSlides/notesSlide20.xml" Id="R74fbd0bc4bb944c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77065de5d4340d5" /><Relationship Type="http://schemas.openxmlformats.org/officeDocument/2006/relationships/notesSlide" Target="/ppt/notesSlides/notesSlide21.xml" Id="Rde4e5a6c3b124e4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9bf708c4d1546d0" /><Relationship Type="http://schemas.openxmlformats.org/officeDocument/2006/relationships/notesSlide" Target="/ppt/notesSlides/notesSlide22.xml" Id="R12f8cb775130425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354e09286f64c16" /><Relationship Type="http://schemas.openxmlformats.org/officeDocument/2006/relationships/notesSlide" Target="/ppt/notesSlides/notesSlide23.xml" Id="R66954b05228748f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3dbbc8647484a8e" /><Relationship Type="http://schemas.openxmlformats.org/officeDocument/2006/relationships/chart" Target="/ppt/slides/charts/chart34.xml" Id="Ra688e7b4962b46e1" /><Relationship Type="http://schemas.openxmlformats.org/officeDocument/2006/relationships/notesSlide" Target="/ppt/notesSlides/notesSlide24.xml" Id="Rd560395238bb48f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0b9a00f62684d84" /><Relationship Type="http://schemas.openxmlformats.org/officeDocument/2006/relationships/notesSlide" Target="/ppt/notesSlides/notesSlide25.xml" Id="R3f8a422a19fa403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3139428a542446e" /><Relationship Type="http://schemas.openxmlformats.org/officeDocument/2006/relationships/chart" Target="/ppt/slides/charts/chart35.xml" Id="R08eea03900ed4047" /><Relationship Type="http://schemas.openxmlformats.org/officeDocument/2006/relationships/chart" Target="/ppt/slides/charts/chart36.xml" Id="Rfca4ea4fa86d411f" /><Relationship Type="http://schemas.openxmlformats.org/officeDocument/2006/relationships/chart" Target="/ppt/slides/charts/chart37.xml" Id="Rbd946d5caedb44b8" /><Relationship Type="http://schemas.openxmlformats.org/officeDocument/2006/relationships/notesSlide" Target="/ppt/notesSlides/notesSlide26.xml" Id="R699132cf065f44a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2d627875d50402e" /><Relationship Type="http://schemas.openxmlformats.org/officeDocument/2006/relationships/chart" Target="/ppt/slides/charts/chart38.xml" Id="Rda477786a41e46cf" /><Relationship Type="http://schemas.openxmlformats.org/officeDocument/2006/relationships/chart" Target="/ppt/slides/charts/chart39.xml" Id="Rbddb9e829d464091" /><Relationship Type="http://schemas.openxmlformats.org/officeDocument/2006/relationships/chart" Target="/ppt/slides/charts/chart40.xml" Id="R285068aa13e04bfe" /><Relationship Type="http://schemas.openxmlformats.org/officeDocument/2006/relationships/chart" Target="/ppt/slides/charts/chart41.xml" Id="Rf1ed0d3449444dcd" /><Relationship Type="http://schemas.openxmlformats.org/officeDocument/2006/relationships/notesSlide" Target="/ppt/notesSlides/notesSlide27.xml" Id="R33de15902a53488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78a585a216f4d5a" /><Relationship Type="http://schemas.openxmlformats.org/officeDocument/2006/relationships/chart" Target="/ppt/slides/charts/chart42.xml" Id="R8f6eb9e93ab249cf" /><Relationship Type="http://schemas.openxmlformats.org/officeDocument/2006/relationships/chart" Target="/ppt/slides/charts/chart43.xml" Id="R28dcc7f29d904e24" /><Relationship Type="http://schemas.openxmlformats.org/officeDocument/2006/relationships/chart" Target="/ppt/slides/charts/chart44.xml" Id="R8b40449663994b38" /><Relationship Type="http://schemas.openxmlformats.org/officeDocument/2006/relationships/chart" Target="/ppt/slides/charts/chart45.xml" Id="R4ba370a0bc6b438c" /><Relationship Type="http://schemas.openxmlformats.org/officeDocument/2006/relationships/chart" Target="/ppt/slides/charts/chart46.xml" Id="Rdccb4b265b2d4cb1" /><Relationship Type="http://schemas.openxmlformats.org/officeDocument/2006/relationships/notesSlide" Target="/ppt/notesSlides/notesSlide28.xml" Id="Rc35b9bac0edc497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75dddf1d727c4e16" /><Relationship Type="http://schemas.openxmlformats.org/officeDocument/2006/relationships/notesSlide" Target="/ppt/notesSlides/notesSlide29.xml" Id="R4f2c740398e7444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f7e0a3ed24f6459c" /><Relationship Type="http://schemas.openxmlformats.org/officeDocument/2006/relationships/notesSlide" Target="/ppt/notesSlides/notesSlide30.xml" Id="R2364c371b466496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e23c582ac64b48f4" /><Relationship Type="http://schemas.openxmlformats.org/officeDocument/2006/relationships/notesSlide" Target="/ppt/notesSlides/notesSlide31.xml" Id="R0db009b2f5a14e4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15ec4c621dde4987" /><Relationship Type="http://schemas.openxmlformats.org/officeDocument/2006/relationships/notesSlide" Target="/ppt/notesSlides/notesSlide32.xml" Id="R774a173a9e7444f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bd132c8999df4df3" /><Relationship Type="http://schemas.openxmlformats.org/officeDocument/2006/relationships/notesSlide" Target="/ppt/notesSlides/notesSlide33.xml" Id="Ra4f35a7b46a2483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735b5a019d134c87" /><Relationship Type="http://schemas.openxmlformats.org/officeDocument/2006/relationships/notesSlide" Target="/ppt/notesSlides/notesSlide34.xml" Id="Rffbb710e929e415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a468f5e60ab5489c" /><Relationship Type="http://schemas.openxmlformats.org/officeDocument/2006/relationships/notesSlide" Target="/ppt/notesSlides/notesSlide35.xml" Id="Ra19fa290247748c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17359a2d39b74220" /><Relationship Type="http://schemas.openxmlformats.org/officeDocument/2006/relationships/notesSlide" Target="/ppt/notesSlides/notesSlide36.xml" Id="Rcb84669721c3471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ca488a33da004a0d" /><Relationship Type="http://schemas.openxmlformats.org/officeDocument/2006/relationships/notesSlide" Target="/ppt/notesSlides/notesSlide37.xml" Id="R0785af0ad35c401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431cdcb40d95419b" /><Relationship Type="http://schemas.openxmlformats.org/officeDocument/2006/relationships/notesSlide" Target="/ppt/notesSlides/notesSlide38.xml" Id="Rc1ce81b223c34ad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e8297d40fec3497f" /><Relationship Type="http://schemas.openxmlformats.org/officeDocument/2006/relationships/notesSlide" Target="/ppt/notesSlides/notesSlide39.xml" Id="R01f3c58312d345b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57b5b8a9b36443a2" /><Relationship Type="http://schemas.openxmlformats.org/officeDocument/2006/relationships/notesSlide" Target="/ppt/notesSlides/notesSlide40.xml" Id="R7017750f5f4d409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ab4dec13fdb448f6" /><Relationship Type="http://schemas.openxmlformats.org/officeDocument/2006/relationships/notesSlide" Target="/ppt/notesSlides/notesSlide41.xml" Id="R75b819ac413d4f5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3a7b4348cd3f4590" /><Relationship Type="http://schemas.openxmlformats.org/officeDocument/2006/relationships/notesSlide" Target="/ppt/notesSlides/notesSlide42.xml" Id="R8aac13b84394486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8dfa703924224df5" /><Relationship Type="http://schemas.openxmlformats.org/officeDocument/2006/relationships/notesSlide" Target="/ppt/notesSlides/notesSlide43.xml" Id="R7ff26fe6d1fa480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2ad0e6f06017482a" /><Relationship Type="http://schemas.openxmlformats.org/officeDocument/2006/relationships/notesSlide" Target="/ppt/notesSlides/notesSlide44.xml" Id="R9e376e5552ce4ca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7e6571098ddd43fe" /><Relationship Type="http://schemas.openxmlformats.org/officeDocument/2006/relationships/notesSlide" Target="/ppt/notesSlides/notesSlide45.xml" Id="R09f63ac08f6f4b3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1d06056c72ca4ac8" /><Relationship Type="http://schemas.openxmlformats.org/officeDocument/2006/relationships/notesSlide" Target="/ppt/notesSlides/notesSlide46.xml" Id="R801f96374802414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6b70da96348649fe" /><Relationship Type="http://schemas.openxmlformats.org/officeDocument/2006/relationships/notesSlide" Target="/ppt/notesSlides/notesSlide47.xml" Id="Rb22400e14ab1482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99d479e195b24d75" /><Relationship Type="http://schemas.openxmlformats.org/officeDocument/2006/relationships/notesSlide" Target="/ppt/notesSlides/notesSlide48.xml" Id="R3ac01178d3b543ab"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c16788f3e67445c7" /><Relationship Type="http://schemas.openxmlformats.org/officeDocument/2006/relationships/notesSlide" Target="/ppt/notesSlides/notesSlide49.xml" Id="R97003c2daf114a1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25e402a2caf24f41" /><Relationship Type="http://schemas.openxmlformats.org/officeDocument/2006/relationships/notesSlide" Target="/ppt/notesSlides/notesSlide50.xml" Id="R9e27e87ee3274f3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038e40a3ea414e63" /><Relationship Type="http://schemas.openxmlformats.org/officeDocument/2006/relationships/notesSlide" Target="/ppt/notesSlides/notesSlide51.xml" Id="R60cff80d53d64a4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11fe113e362c495d" /><Relationship Type="http://schemas.openxmlformats.org/officeDocument/2006/relationships/notesSlide" Target="/ppt/notesSlides/notesSlide52.xml" Id="R12add09e2108409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aa364a8d70e34344" /><Relationship Type="http://schemas.openxmlformats.org/officeDocument/2006/relationships/notesSlide" Target="/ppt/notesSlides/notesSlide53.xml" Id="R348568015a5f4606"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327d4f3f3f0b4632" /><Relationship Type="http://schemas.openxmlformats.org/officeDocument/2006/relationships/chart" Target="/ppt/slides/charts/chart47.xml" Id="Rd7606383a91b4db0" /><Relationship Type="http://schemas.openxmlformats.org/officeDocument/2006/relationships/chart" Target="/ppt/slides/charts/chart48.xml" Id="Rc4ae9021733f47d9" /><Relationship Type="http://schemas.openxmlformats.org/officeDocument/2006/relationships/chart" Target="/ppt/slides/charts/chart49.xml" Id="R0fb029ada5df4d8a" /><Relationship Type="http://schemas.openxmlformats.org/officeDocument/2006/relationships/chart" Target="/ppt/slides/charts/chart50.xml" Id="Rf3307e24eea64030" /><Relationship Type="http://schemas.openxmlformats.org/officeDocument/2006/relationships/chart" Target="/ppt/slides/charts/chart51.xml" Id="Rf138ee75210a4048" /><Relationship Type="http://schemas.openxmlformats.org/officeDocument/2006/relationships/chart" Target="/ppt/slides/charts/chart52.xml" Id="Rf0295060ff2f40a5" /><Relationship Type="http://schemas.openxmlformats.org/officeDocument/2006/relationships/chart" Target="/ppt/slides/charts/chart53.xml" Id="Re1a3b1d2e3264964" /><Relationship Type="http://schemas.openxmlformats.org/officeDocument/2006/relationships/notesSlide" Target="/ppt/notesSlides/notesSlide54.xml" Id="Rf40ffc944c6d4b3c"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b5c4406a0df748af" /><Relationship Type="http://schemas.openxmlformats.org/officeDocument/2006/relationships/chart" Target="/ppt/slides/charts/chart54.xml" Id="R1f8ed4482b4b45f9" /><Relationship Type="http://schemas.openxmlformats.org/officeDocument/2006/relationships/notesSlide" Target="/ppt/notesSlides/notesSlide55.xml" Id="Ra508a1cfd3c84060"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8b4a91cefff940fa" /><Relationship Type="http://schemas.openxmlformats.org/officeDocument/2006/relationships/chart" Target="/ppt/slides/charts/chart55.xml" Id="Racc4823a6f6e4a8a" /><Relationship Type="http://schemas.openxmlformats.org/officeDocument/2006/relationships/chart" Target="/ppt/slides/charts/chart56.xml" Id="R9841acc5685e426e" /><Relationship Type="http://schemas.openxmlformats.org/officeDocument/2006/relationships/notesSlide" Target="/ppt/notesSlides/notesSlide56.xml" Id="Rc4b42b33e35d400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8ee1aa10b7e14e03" /><Relationship Type="http://schemas.openxmlformats.org/officeDocument/2006/relationships/chart" Target="/ppt/slides/charts/chart57.xml" Id="R4dafbd520ac54158" /><Relationship Type="http://schemas.openxmlformats.org/officeDocument/2006/relationships/notesSlide" Target="/ppt/notesSlides/notesSlide57.xml" Id="R4300420f90bb4b3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ef9c5d0768c84b9f" /><Relationship Type="http://schemas.openxmlformats.org/officeDocument/2006/relationships/chart" Target="/ppt/slides/charts/chart58.xml" Id="Rf27696f27cd44add" /><Relationship Type="http://schemas.openxmlformats.org/officeDocument/2006/relationships/notesSlide" Target="/ppt/notesSlides/notesSlide58.xml" Id="Racb6ee4a3803478c"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1a04fc3941264876" /><Relationship Type="http://schemas.openxmlformats.org/officeDocument/2006/relationships/chart" Target="/ppt/slides/charts/chart59.xml" Id="Reda9448f8be9410b" /><Relationship Type="http://schemas.openxmlformats.org/officeDocument/2006/relationships/notesSlide" Target="/ppt/notesSlides/notesSlide59.xml" Id="Rdf674b4a2bb44e66"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297bc24d9d704f8b" /><Relationship Type="http://schemas.openxmlformats.org/officeDocument/2006/relationships/notesSlide" Target="/ppt/notesSlides/notesSlide60.xml" Id="R631da786299f44f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e80711c06f2d4483" /><Relationship Type="http://schemas.openxmlformats.org/officeDocument/2006/relationships/chart" Target="/ppt/slides/charts/chart60.xml" Id="Raefa540e0f7543c4" /><Relationship Type="http://schemas.openxmlformats.org/officeDocument/2006/relationships/notesSlide" Target="/ppt/notesSlides/notesSlide61.xml" Id="Rbf709d3b796447e4"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b30fc3745c904051" /><Relationship Type="http://schemas.openxmlformats.org/officeDocument/2006/relationships/chart" Target="/ppt/slides/charts/chart61.xml" Id="R53b9dcf4b28248fc" /><Relationship Type="http://schemas.openxmlformats.org/officeDocument/2006/relationships/notesSlide" Target="/ppt/notesSlides/notesSlide62.xml" Id="Ra8c70abf73a646b6"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991d412af7a54a60" /><Relationship Type="http://schemas.openxmlformats.org/officeDocument/2006/relationships/chart" Target="/ppt/slides/charts/chart62.xml" Id="R8ae251b48e6d4be9" /><Relationship Type="http://schemas.openxmlformats.org/officeDocument/2006/relationships/notesSlide" Target="/ppt/notesSlides/notesSlide63.xml" Id="R5f3de65b0d3b493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751718dc38384e3e" /><Relationship Type="http://schemas.openxmlformats.org/officeDocument/2006/relationships/notesSlide" Target="/ppt/notesSlides/notesSlide64.xml" Id="R39b77f049f364f44" /></Relationships>
</file>

<file path=ppt/slides/charts/chart1.xml><?xml version="1.0" encoding="utf-8"?>
<c:chartSpace xmlns:a="http://schemas.openxmlformats.org/drawingml/2006/main" xmlns:c="http://schemas.openxmlformats.org/drawingml/2006/chart">
  <c:lang val="pt-BR"/>
  <c:chart>
    <c:plotArea>
      <c:barChart>
        <c:barDir val="col"/>
        <c:grouping val="clustered"/>
        <c:varyColors val="0"/>
        <c:ser>
          <c:idx val="0"/>
          <c:order val="0"/>
          <c:tx>
            <c:v>PL ex-FIC</c:v>
          </c:tx>
          <c:spPr>
            <a:solidFill>
              <a:srgbClr val="EC7000"/>
            </a:solidFill>
          </c:spPr>
          <c:cat>
            <c:strLit>
              <c:ptCount val="12"/>
              <c:pt idx="0">
                <c:v>2015</c:v>
              </c:pt>
              <c:pt idx="1">
                <c:v>2016</c:v>
              </c:pt>
              <c:pt idx="2">
                <c:v>2017</c:v>
              </c:pt>
              <c:pt idx="3">
                <c:v>2018</c:v>
              </c:pt>
              <c:pt idx="4">
                <c:v>2019</c:v>
              </c:pt>
              <c:pt idx="5">
                <c:v>2020</c:v>
              </c:pt>
              <c:pt idx="6">
                <c:v>2021</c:v>
              </c:pt>
              <c:pt idx="7">
                <c:v>2022</c:v>
              </c:pt>
              <c:pt idx="8">
                <c:v>2023</c:v>
              </c:pt>
              <c:pt idx="9">
                <c:v>2024</c:v>
              </c:pt>
              <c:pt idx="10">
                <c:v>2025</c:v>
              </c:pt>
              <c:pt idx="11">
                <c:v>Jun/26</c:v>
              </c:pt>
            </c:strLit>
          </c:cat>
          <c:val>
            <c:numLit>
              <c:formatCode>[&gt;=1000]#\.##0;0</c:formatCode>
              <c:ptCount val="12"/>
              <c:pt idx="0">
                <c:v>82.47394622656002</c:v>
              </c:pt>
              <c:pt idx="1">
                <c:v>91.06663976073001</c:v>
              </c:pt>
              <c:pt idx="2">
                <c:v>110.23395407848999</c:v>
              </c:pt>
              <c:pt idx="3">
                <c:v>131.21875156630003</c:v>
              </c:pt>
              <c:pt idx="4">
                <c:v>229.98374932763</c:v>
              </c:pt>
              <c:pt idx="5">
                <c:v>209.08922654930998</c:v>
              </c:pt>
              <c:pt idx="6">
                <c:v>298.49643822765995</c:v>
              </c:pt>
              <c:pt idx="7">
                <c:v>365.94088087975</c:v>
              </c:pt>
              <c:pt idx="8">
                <c:v>461.75630329412</c:v>
              </c:pt>
              <c:pt idx="9">
                <c:v>682.8970336474498</c:v>
              </c:pt>
              <c:pt idx="10">
                <c:v>833.21732156482</c:v>
              </c:pt>
              <c:pt idx="11">
                <c:v>880.3753465023101</c:v>
              </c:pt>
            </c:numLit>
          </c:val>
        </c:ser>
        <c:gapWidth val="52"/>
        <c:axId val="48650112"/>
        <c:axId val="48672768"/>
      </c:barChart>
      <c:lineChart>
        <c:grouping val="standard"/>
        <c:varyColors val="0"/>
        <c:ser>
          <c:idx val="1"/>
          <c:order val="1"/>
          <c:tx>
            <c:v>Total</c:v>
          </c:tx>
          <c:spPr>
            <a:ln>
              <a:noFill/>
            </a:ln>
          </c:spPr>
          <c:marker>
            <c:symbol val="none"/>
            <c:size val="2"/>
          </c:marker>
          <c:dLbls>
            <c:dLblPos val="t"/>
            <c:numFmt formatCode="[&gt;=1000]#\.##0;0" sourceLinked="0"/>
            <c:showLegendKey val="0"/>
            <c:showVal val="1"/>
            <c:showCatName val="0"/>
            <c:showSerName val="0"/>
            <c:showPercent val="0"/>
            <c:showBubbleSize val="0"/>
            <c:showLeaderLines val="0"/>
            <c:txPr>
              <a:bodyPr/>
              <a:lstStyle/>
              <a:p>
                <a:pPr>
                  <a:defRPr sz="850" b="1">
                    <a:latin typeface="Arial"/>
                    <a:ea typeface="Arial"/>
                    <a:cs typeface="Arial"/>
                  </a:defRPr>
                </a:pPr>
                <a:endParaRPr lang="pt-BR"/>
              </a:p>
            </c:txPr>
          </c:dLbls>
          <c:cat>
            <c:strLit>
              <c:ptCount val="12"/>
              <c:pt idx="0">
                <c:v>2015</c:v>
              </c:pt>
              <c:pt idx="1">
                <c:v>2016</c:v>
              </c:pt>
              <c:pt idx="2">
                <c:v>2017</c:v>
              </c:pt>
              <c:pt idx="3">
                <c:v>2018</c:v>
              </c:pt>
              <c:pt idx="4">
                <c:v>2019</c:v>
              </c:pt>
              <c:pt idx="5">
                <c:v>2020</c:v>
              </c:pt>
              <c:pt idx="6">
                <c:v>2021</c:v>
              </c:pt>
              <c:pt idx="7">
                <c:v>2022</c:v>
              </c:pt>
              <c:pt idx="8">
                <c:v>2023</c:v>
              </c:pt>
              <c:pt idx="9">
                <c:v>2024</c:v>
              </c:pt>
              <c:pt idx="10">
                <c:v>2025</c:v>
              </c:pt>
              <c:pt idx="11">
                <c:v>Jun/26</c:v>
              </c:pt>
            </c:strLit>
          </c:cat>
          <c:val>
            <c:numLit>
              <c:formatCode>0</c:formatCode>
              <c:ptCount val="12"/>
              <c:pt idx="0">
                <c:v>82.4739462266</c:v>
              </c:pt>
              <c:pt idx="1">
                <c:v>91.0666397607</c:v>
              </c:pt>
              <c:pt idx="2">
                <c:v>110.233954078</c:v>
              </c:pt>
              <c:pt idx="3">
                <c:v>131.218751566</c:v>
              </c:pt>
              <c:pt idx="4">
                <c:v>229.983749328</c:v>
              </c:pt>
              <c:pt idx="5">
                <c:v>209.089226549</c:v>
              </c:pt>
              <c:pt idx="6">
                <c:v>298.496438228</c:v>
              </c:pt>
              <c:pt idx="7">
                <c:v>365.94088088</c:v>
              </c:pt>
              <c:pt idx="8">
                <c:v>461.756303294</c:v>
              </c:pt>
              <c:pt idx="9">
                <c:v>682.897033647</c:v>
              </c:pt>
              <c:pt idx="10">
                <c:v>833.217321565</c:v>
              </c:pt>
              <c:pt idx="11">
                <c:v>880.375346502</c:v>
              </c:pt>
            </c:numLit>
          </c:val>
          <c:smooth val="0"/>
        </c:ser>
        <c:axId val="48650112"/>
        <c:axId val="48672768"/>
      </c:line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638">
                <a:solidFill>
                  <a:srgbClr val="73787D"/>
                </a:solidFill>
              </a:defRPr>
            </a:pPr>
          </a:p>
        </c:txPr>
        <c:crossAx val="48672768"/>
        <c:lblAlgn val="ctr"/>
        <c:lblOffset val="100"/>
        <c:noMultiLvlLbl val="0"/>
      </c:catAx>
      <c:valAx>
        <c:axId val="48672768"/>
        <c:scaling>
          <c:orientation val="minMax"/>
          <c:max val="1000"/>
          <c:min val="0"/>
        </c:scaling>
        <c:delete val="0"/>
        <c:axPos val="l"/>
        <c:majorGridlines>
          <c:spPr>
            <a:ln w="9525">
              <a:solidFill>
                <a:srgbClr val="E7E9EB"/>
              </a:solidFill>
              <a:prstDash val="solid"/>
            </a:ln>
          </c:spPr>
        </c:majorGridlines>
        <c:numFmt formatCode="[&gt;=1000]#\.##0;0"/>
        <c:majorTickMark val="none"/>
        <c:minorTickMark val="none"/>
        <c:spPr>
          <a:ln w="9525">
            <a:solidFill>
              <a:srgbClr val="D7DADD"/>
            </a:solidFill>
            <a:prstDash val="solid"/>
          </a:ln>
        </c:spPr>
        <c:txPr>
          <a:bodyPr anchorCtr="1"/>
          <a:lstStyle/>
          <a:p>
            <a:pPr>
              <a:defRPr sz="675">
                <a:solidFill>
                  <a:srgbClr val="8D9399"/>
                </a:solidFill>
              </a:defRPr>
            </a:pPr>
          </a:p>
        </c:txPr>
        <c:crossAx val="48650112"/>
        <c:crossBetween val="between"/>
        <c:majorUnit val="200"/>
      </c:valAx>
      <c:spPr>
        <a:noFill/>
        <a:ln w="0">
          <a:noFill/>
          <a:prstDash val="solid"/>
        </a:ln>
      </c:spPr>
    </c:plotArea>
    <c:plotVisOnly val="1"/>
  </c:chart>
  <c:spPr>
    <a:noFill/>
    <a:ln w="0">
      <a:noFill/>
      <a:prstDash val="solid"/>
    </a:ln>
  </c:spPr>
</c:chartSpace>
</file>

<file path=ppt/slides/charts/chart2.xml><?xml version="1.0" encoding="utf-8"?>
<c:chartSpace xmlns:a="http://schemas.openxmlformats.org/drawingml/2006/main" xmlns:c="http://schemas.openxmlformats.org/drawingml/2006/chart">
  <c:lang val="pt-BR"/>
  <c:chart>
    <c:plotArea>
      <c:barChart>
        <c:barDir val="col"/>
        <c:grouping val="stacked"/>
        <c:varyColors val="0"/>
        <c:ser>
          <c:idx val="0"/>
          <c:order val="0"/>
          <c:tx>
            <c:v>Empréstimos</c:v>
          </c:tx>
          <c:spPr>
            <a:solidFill>
              <a:srgbClr val="30353A"/>
            </a:solidFill>
          </c:spPr>
          <c:dLbls>
            <c:dLbl>
              <c:idx val="0"/>
              <c:txPr>
                <a:bodyPr anchorCtr="1"/>
                <a:lstStyle/>
                <a:p>
                  <a:pPr>
                    <a:defRPr sz="458" b="0">
                      <a:solidFill>
                        <a:srgbClr val="FFFFFF"/>
                      </a:solidFill>
                    </a:defRPr>
                  </a:pPr>
                </a:p>
              </c:txPr>
              <c:dLblPos val="ctr"/>
              <c:showLegendKey val="0"/>
              <c:showVal val="1"/>
              <c:showCatName val="0"/>
              <c:showSerName val="0"/>
              <c:showPercent val="0"/>
              <c:showBubbleSize val="0"/>
            </c:dLbl>
            <c:dLbl>
              <c:idx val="1"/>
              <c:txPr>
                <a:bodyPr anchorCtr="1"/>
                <a:lstStyle/>
                <a:p>
                  <a:pPr>
                    <a:defRPr sz="458" b="0">
                      <a:solidFill>
                        <a:srgbClr val="FFFFFF"/>
                      </a:solidFill>
                    </a:defRPr>
                  </a:pPr>
                </a:p>
              </c:txPr>
              <c:dLblPos val="ctr"/>
              <c:showLegendKey val="0"/>
              <c:showVal val="1"/>
              <c:showCatName val="0"/>
              <c:showSerName val="0"/>
              <c:showPercent val="0"/>
              <c:showBubbleSize val="0"/>
            </c:dLbl>
            <c:dLbl>
              <c:idx val="2"/>
              <c:txPr>
                <a:bodyPr anchorCtr="1"/>
                <a:lstStyle/>
                <a:p>
                  <a:pPr>
                    <a:defRPr sz="458" b="0">
                      <a:solidFill>
                        <a:srgbClr val="FFFFFF"/>
                      </a:solidFill>
                    </a:defRPr>
                  </a:pPr>
                </a:p>
              </c:txPr>
              <c:dLblPos val="ctr"/>
              <c:showLegendKey val="0"/>
              <c:showVal val="1"/>
              <c:showCatName val="0"/>
              <c:showSerName val="0"/>
              <c:showPercent val="0"/>
              <c:showBubbleSize val="0"/>
            </c:dLbl>
            <c:dLbl>
              <c:idx val="3"/>
              <c:txPr>
                <a:bodyPr anchorCtr="1"/>
                <a:lstStyle/>
                <a:p>
                  <a:pPr>
                    <a:defRPr sz="458" b="0">
                      <a:solidFill>
                        <a:srgbClr val="FFFFFF"/>
                      </a:solidFill>
                    </a:defRPr>
                  </a:pPr>
                </a:p>
              </c:txPr>
              <c:dLblPos val="ctr"/>
              <c:showLegendKey val="0"/>
              <c:showVal val="1"/>
              <c:showCatName val="0"/>
              <c:showSerName val="0"/>
              <c:showPercent val="0"/>
              <c:showBubbleSize val="0"/>
            </c:dLbl>
            <c:dLbl>
              <c:idx val="4"/>
              <c:txPr>
                <a:bodyPr anchorCtr="1"/>
                <a:lstStyle/>
                <a:p>
                  <a:pPr>
                    <a:defRPr sz="458" b="0">
                      <a:solidFill>
                        <a:srgbClr val="FFFFFF"/>
                      </a:solidFill>
                    </a:defRPr>
                  </a:pPr>
                </a:p>
              </c:txPr>
              <c:dLblPos val="ctr"/>
              <c:showLegendKey val="0"/>
              <c:showVal val="1"/>
              <c:showCatName val="0"/>
              <c:showSerName val="0"/>
              <c:showPercent val="0"/>
              <c:showBubbleSize val="0"/>
            </c:dLbl>
            <c:dLbl>
              <c:idx val="5"/>
              <c:txPr>
                <a:bodyPr anchorCtr="1"/>
                <a:lstStyle/>
                <a:p>
                  <a:pPr>
                    <a:defRPr sz="458" b="0">
                      <a:solidFill>
                        <a:srgbClr val="FFFFFF"/>
                      </a:solidFill>
                    </a:defRPr>
                  </a:pPr>
                </a:p>
              </c:txPr>
              <c:dLblPos val="ctr"/>
              <c:showLegendKey val="0"/>
              <c:showVal val="1"/>
              <c:showCatName val="0"/>
              <c:showSerName val="0"/>
              <c:showPercent val="0"/>
              <c:showBubbleSize val="0"/>
            </c:dLbl>
            <c:dLbl>
              <c:idx val="6"/>
              <c:txPr>
                <a:bodyPr anchorCtr="1"/>
                <a:lstStyle/>
                <a:p>
                  <a:pPr>
                    <a:defRPr sz="458" b="0">
                      <a:solidFill>
                        <a:srgbClr val="FFFFFF"/>
                      </a:solidFill>
                    </a:defRPr>
                  </a:pPr>
                </a:p>
              </c:txPr>
              <c:dLblPos val="ctr"/>
              <c:showLegendKey val="0"/>
              <c:showVal val="1"/>
              <c:showCatName val="0"/>
              <c:showSerName val="0"/>
              <c:showPercent val="0"/>
              <c:showBubbleSize val="0"/>
            </c:dLbl>
            <c:dLbl>
              <c:idx val="7"/>
              <c:txPr>
                <a:bodyPr anchorCtr="1"/>
                <a:lstStyle/>
                <a:p>
                  <a:pPr>
                    <a:defRPr sz="458" b="0">
                      <a:solidFill>
                        <a:srgbClr val="FFFFFF"/>
                      </a:solidFill>
                    </a:defRPr>
                  </a:pPr>
                </a:p>
              </c:txPr>
              <c:dLblPos val="ctr"/>
              <c:showLegendKey val="0"/>
              <c:showVal val="1"/>
              <c:showCatName val="0"/>
              <c:showSerName val="0"/>
              <c:showPercent val="0"/>
              <c:showBubbleSize val="0"/>
            </c:dLbl>
            <c:dLbl>
              <c:idx val="8"/>
              <c:txPr>
                <a:bodyPr anchorCtr="1"/>
                <a:lstStyle/>
                <a:p>
                  <a:pPr>
                    <a:defRPr sz="458" b="0">
                      <a:solidFill>
                        <a:srgbClr val="FFFFFF"/>
                      </a:solidFill>
                    </a:defRPr>
                  </a:pPr>
                </a:p>
              </c:txPr>
              <c:dLblPos val="ctr"/>
              <c:showLegendKey val="0"/>
              <c:showVal val="1"/>
              <c:showCatName val="0"/>
              <c:showSerName val="0"/>
              <c:showPercent val="0"/>
              <c:showBubbleSize val="0"/>
            </c:dLbl>
            <c:dLbl>
              <c:idx val="9"/>
              <c:txPr>
                <a:bodyPr anchorCtr="1"/>
                <a:lstStyle/>
                <a:p>
                  <a:pPr>
                    <a:defRPr sz="458" b="0">
                      <a:solidFill>
                        <a:srgbClr val="FFFFFF"/>
                      </a:solidFill>
                    </a:defRPr>
                  </a:pPr>
                </a:p>
              </c:txPr>
              <c:dLblPos val="ctr"/>
              <c:showLegendKey val="0"/>
              <c:showVal val="1"/>
              <c:showCatName val="0"/>
              <c:showSerName val="0"/>
              <c:showPercent val="0"/>
              <c:showBubbleSize val="0"/>
            </c:dLbl>
            <c:dLbl>
              <c:idx val="10"/>
              <c:txPr>
                <a:bodyPr anchorCtr="1"/>
                <a:lstStyle/>
                <a:p>
                  <a:pPr>
                    <a:defRPr sz="458" b="0">
                      <a:solidFill>
                        <a:srgbClr val="FFFFFF"/>
                      </a:solidFill>
                    </a:defRPr>
                  </a:pPr>
                </a:p>
              </c:txPr>
              <c:dLblPos val="ctr"/>
              <c:showLegendKey val="0"/>
              <c:showVal val="1"/>
              <c:showCatName val="0"/>
              <c:showSerName val="0"/>
              <c:showPercent val="0"/>
              <c:showBubbleSize val="0"/>
            </c:dLbl>
            <c:dLbl>
              <c:idx val="11"/>
              <c:txPr>
                <a:bodyPr anchorCtr="1"/>
                <a:lstStyle/>
                <a:p>
                  <a:pPr>
                    <a:defRPr sz="458" b="0">
                      <a:solidFill>
                        <a:srgbClr val="FFFFFF"/>
                      </a:solidFill>
                    </a:defRPr>
                  </a:pPr>
                </a:p>
              </c:txPr>
              <c:dLblPos val="ctr"/>
              <c:showLegendKey val="0"/>
              <c:showVal val="1"/>
              <c:showCatName val="0"/>
              <c:showSerName val="0"/>
              <c:showPercent val="0"/>
              <c:showBubbleSize val="0"/>
            </c:dLbl>
          </c:dLbls>
          <c:cat>
            <c:strLit>
              <c:ptCount val="12"/>
              <c:pt idx="0">
                <c:v>2015</c:v>
              </c:pt>
              <c:pt idx="1">
                <c:v>2016</c:v>
              </c:pt>
              <c:pt idx="2">
                <c:v>2017</c:v>
              </c:pt>
              <c:pt idx="3">
                <c:v>2018</c:v>
              </c:pt>
              <c:pt idx="4">
                <c:v>2019</c:v>
              </c:pt>
              <c:pt idx="5">
                <c:v>2020</c:v>
              </c:pt>
              <c:pt idx="6">
                <c:v>2021</c:v>
              </c:pt>
              <c:pt idx="7">
                <c:v>2022</c:v>
              </c:pt>
              <c:pt idx="8">
                <c:v>2023</c:v>
              </c:pt>
              <c:pt idx="9">
                <c:v>2024</c:v>
              </c:pt>
              <c:pt idx="10">
                <c:v>2025</c:v>
              </c:pt>
              <c:pt idx="11">
                <c:v>05/26</c:v>
              </c:pt>
            </c:strLit>
          </c:cat>
          <c:val>
            <c:numLit>
              <c:formatCode>[&gt;=1000]#\.##0;0</c:formatCode>
              <c:ptCount val="12"/>
              <c:pt idx="0">
                <c:v>3362.376</c:v>
              </c:pt>
              <c:pt idx="1">
                <c:v>3266.892</c:v>
              </c:pt>
              <c:pt idx="2">
                <c:v>3270.332</c:v>
              </c:pt>
              <c:pt idx="3">
                <c:v>3455.08</c:v>
              </c:pt>
              <c:pt idx="4">
                <c:v>3677.557</c:v>
              </c:pt>
              <c:pt idx="5">
                <c:v>4239.899</c:v>
              </c:pt>
              <c:pt idx="6">
                <c:v>4906.92</c:v>
              </c:pt>
              <c:pt idx="7">
                <c:v>5628.48</c:v>
              </c:pt>
              <c:pt idx="8">
                <c:v>6088.547</c:v>
              </c:pt>
              <c:pt idx="9">
                <c:v>6758.822</c:v>
              </c:pt>
              <c:pt idx="10">
                <c:v>7454.674</c:v>
              </c:pt>
              <c:pt idx="11">
                <c:v>7617.175</c:v>
              </c:pt>
            </c:numLit>
          </c:val>
        </c:ser>
        <c:ser>
          <c:idx val="1"/>
          <c:order val="1"/>
          <c:tx>
            <c:v>Títulos privados</c:v>
          </c:tx>
          <c:spPr>
            <a:solidFill>
              <a:srgbClr val="8D9399"/>
            </a:solidFill>
          </c:spPr>
          <c:dLbls>
            <c:dLbl>
              <c:idx val="0"/>
              <c:txPr>
                <a:bodyPr anchorCtr="1"/>
                <a:lstStyle/>
                <a:p>
                  <a:pPr>
                    <a:defRPr sz="458" b="0">
                      <a:solidFill>
                        <a:srgbClr val="151515"/>
                      </a:solidFill>
                    </a:defRPr>
                  </a:pPr>
                </a:p>
              </c:txPr>
              <c:dLblPos val="ctr"/>
              <c:showLegendKey val="0"/>
              <c:showVal val="1"/>
              <c:showCatName val="0"/>
              <c:showSerName val="0"/>
              <c:showPercent val="0"/>
              <c:showBubbleSize val="0"/>
            </c:dLbl>
            <c:dLbl>
              <c:idx val="1"/>
              <c:txPr>
                <a:bodyPr anchorCtr="1"/>
                <a:lstStyle/>
                <a:p>
                  <a:pPr>
                    <a:defRPr sz="458" b="0">
                      <a:solidFill>
                        <a:srgbClr val="151515"/>
                      </a:solidFill>
                    </a:defRPr>
                  </a:pPr>
                </a:p>
              </c:txPr>
              <c:dLblPos val="ctr"/>
              <c:showLegendKey val="0"/>
              <c:showVal val="1"/>
              <c:showCatName val="0"/>
              <c:showSerName val="0"/>
              <c:showPercent val="0"/>
              <c:showBubbleSize val="0"/>
            </c:dLbl>
            <c:dLbl>
              <c:idx val="2"/>
              <c:txPr>
                <a:bodyPr anchorCtr="1"/>
                <a:lstStyle/>
                <a:p>
                  <a:pPr>
                    <a:defRPr sz="458" b="0">
                      <a:solidFill>
                        <a:srgbClr val="151515"/>
                      </a:solidFill>
                    </a:defRPr>
                  </a:pPr>
                </a:p>
              </c:txPr>
              <c:dLblPos val="ctr"/>
              <c:showLegendKey val="0"/>
              <c:showVal val="1"/>
              <c:showCatName val="0"/>
              <c:showSerName val="0"/>
              <c:showPercent val="0"/>
              <c:showBubbleSize val="0"/>
            </c:dLbl>
            <c:dLbl>
              <c:idx val="3"/>
              <c:txPr>
                <a:bodyPr anchorCtr="1"/>
                <a:lstStyle/>
                <a:p>
                  <a:pPr>
                    <a:defRPr sz="458" b="0">
                      <a:solidFill>
                        <a:srgbClr val="151515"/>
                      </a:solidFill>
                    </a:defRPr>
                  </a:pPr>
                </a:p>
              </c:txPr>
              <c:dLblPos val="ctr"/>
              <c:showLegendKey val="0"/>
              <c:showVal val="1"/>
              <c:showCatName val="0"/>
              <c:showSerName val="0"/>
              <c:showPercent val="0"/>
              <c:showBubbleSize val="0"/>
            </c:dLbl>
            <c:dLbl>
              <c:idx val="4"/>
              <c:txPr>
                <a:bodyPr anchorCtr="1"/>
                <a:lstStyle/>
                <a:p>
                  <a:pPr>
                    <a:defRPr sz="458" b="0">
                      <a:solidFill>
                        <a:srgbClr val="151515"/>
                      </a:solidFill>
                    </a:defRPr>
                  </a:pPr>
                </a:p>
              </c:txPr>
              <c:dLblPos val="ctr"/>
              <c:showLegendKey val="0"/>
              <c:showVal val="1"/>
              <c:showCatName val="0"/>
              <c:showSerName val="0"/>
              <c:showPercent val="0"/>
              <c:showBubbleSize val="0"/>
            </c:dLbl>
            <c:dLbl>
              <c:idx val="5"/>
              <c:txPr>
                <a:bodyPr anchorCtr="1"/>
                <a:lstStyle/>
                <a:p>
                  <a:pPr>
                    <a:defRPr sz="458" b="0">
                      <a:solidFill>
                        <a:srgbClr val="151515"/>
                      </a:solidFill>
                    </a:defRPr>
                  </a:pPr>
                </a:p>
              </c:txPr>
              <c:dLblPos val="ctr"/>
              <c:showLegendKey val="0"/>
              <c:showVal val="1"/>
              <c:showCatName val="0"/>
              <c:showSerName val="0"/>
              <c:showPercent val="0"/>
              <c:showBubbleSize val="0"/>
            </c:dLbl>
            <c:dLbl>
              <c:idx val="6"/>
              <c:txPr>
                <a:bodyPr anchorCtr="1"/>
                <a:lstStyle/>
                <a:p>
                  <a:pPr>
                    <a:defRPr sz="458" b="0">
                      <a:solidFill>
                        <a:srgbClr val="151515"/>
                      </a:solidFill>
                    </a:defRPr>
                  </a:pPr>
                </a:p>
              </c:txPr>
              <c:dLblPos val="ctr"/>
              <c:showLegendKey val="0"/>
              <c:showVal val="1"/>
              <c:showCatName val="0"/>
              <c:showSerName val="0"/>
              <c:showPercent val="0"/>
              <c:showBubbleSize val="0"/>
            </c:dLbl>
            <c:dLbl>
              <c:idx val="7"/>
              <c:txPr>
                <a:bodyPr anchorCtr="1"/>
                <a:lstStyle/>
                <a:p>
                  <a:pPr>
                    <a:defRPr sz="458" b="0">
                      <a:solidFill>
                        <a:srgbClr val="151515"/>
                      </a:solidFill>
                    </a:defRPr>
                  </a:pPr>
                </a:p>
              </c:txPr>
              <c:dLblPos val="ctr"/>
              <c:showLegendKey val="0"/>
              <c:showVal val="1"/>
              <c:showCatName val="0"/>
              <c:showSerName val="0"/>
              <c:showPercent val="0"/>
              <c:showBubbleSize val="0"/>
            </c:dLbl>
            <c:dLbl>
              <c:idx val="8"/>
              <c:txPr>
                <a:bodyPr anchorCtr="1"/>
                <a:lstStyle/>
                <a:p>
                  <a:pPr>
                    <a:defRPr sz="458" b="0">
                      <a:solidFill>
                        <a:srgbClr val="151515"/>
                      </a:solidFill>
                    </a:defRPr>
                  </a:pPr>
                </a:p>
              </c:txPr>
              <c:dLblPos val="ctr"/>
              <c:showLegendKey val="0"/>
              <c:showVal val="1"/>
              <c:showCatName val="0"/>
              <c:showSerName val="0"/>
              <c:showPercent val="0"/>
              <c:showBubbleSize val="0"/>
            </c:dLbl>
            <c:dLbl>
              <c:idx val="9"/>
              <c:txPr>
                <a:bodyPr anchorCtr="1"/>
                <a:lstStyle/>
                <a:p>
                  <a:pPr>
                    <a:defRPr sz="458" b="0">
                      <a:solidFill>
                        <a:srgbClr val="151515"/>
                      </a:solidFill>
                    </a:defRPr>
                  </a:pPr>
                </a:p>
              </c:txPr>
              <c:dLblPos val="ctr"/>
              <c:showLegendKey val="0"/>
              <c:showVal val="1"/>
              <c:showCatName val="0"/>
              <c:showSerName val="0"/>
              <c:showPercent val="0"/>
              <c:showBubbleSize val="0"/>
            </c:dLbl>
            <c:dLbl>
              <c:idx val="10"/>
              <c:txPr>
                <a:bodyPr anchorCtr="1"/>
                <a:lstStyle/>
                <a:p>
                  <a:pPr>
                    <a:defRPr sz="458" b="0">
                      <a:solidFill>
                        <a:srgbClr val="151515"/>
                      </a:solidFill>
                    </a:defRPr>
                  </a:pPr>
                </a:p>
              </c:txPr>
              <c:dLblPos val="ctr"/>
              <c:showLegendKey val="0"/>
              <c:showVal val="1"/>
              <c:showCatName val="0"/>
              <c:showSerName val="0"/>
              <c:showPercent val="0"/>
              <c:showBubbleSize val="0"/>
            </c:dLbl>
            <c:dLbl>
              <c:idx val="11"/>
              <c:txPr>
                <a:bodyPr anchorCtr="1"/>
                <a:lstStyle/>
                <a:p>
                  <a:pPr>
                    <a:defRPr sz="458" b="0">
                      <a:solidFill>
                        <a:srgbClr val="151515"/>
                      </a:solidFill>
                    </a:defRPr>
                  </a:pPr>
                </a:p>
              </c:txPr>
              <c:dLblPos val="ctr"/>
              <c:showLegendKey val="0"/>
              <c:showVal val="1"/>
              <c:showCatName val="0"/>
              <c:showSerName val="0"/>
              <c:showPercent val="0"/>
              <c:showBubbleSize val="0"/>
            </c:dLbl>
          </c:dLbls>
          <c:cat>
            <c:strLit>
              <c:ptCount val="12"/>
              <c:pt idx="0">
                <c:v>2015</c:v>
              </c:pt>
              <c:pt idx="1">
                <c:v>2016</c:v>
              </c:pt>
              <c:pt idx="2">
                <c:v>2017</c:v>
              </c:pt>
              <c:pt idx="3">
                <c:v>2018</c:v>
              </c:pt>
              <c:pt idx="4">
                <c:v>2019</c:v>
              </c:pt>
              <c:pt idx="5">
                <c:v>2020</c:v>
              </c:pt>
              <c:pt idx="6">
                <c:v>2021</c:v>
              </c:pt>
              <c:pt idx="7">
                <c:v>2022</c:v>
              </c:pt>
              <c:pt idx="8">
                <c:v>2023</c:v>
              </c:pt>
              <c:pt idx="9">
                <c:v>2024</c:v>
              </c:pt>
              <c:pt idx="10">
                <c:v>2025</c:v>
              </c:pt>
              <c:pt idx="11">
                <c:v>05/26</c:v>
              </c:pt>
            </c:strLit>
          </c:cat>
          <c:val>
            <c:numLit>
              <c:formatCode>[&gt;=1000]#\.##0;0</c:formatCode>
              <c:ptCount val="12"/>
              <c:pt idx="0">
                <c:v>245.674</c:v>
              </c:pt>
              <c:pt idx="1">
                <c:v>242.427</c:v>
              </c:pt>
              <c:pt idx="2">
                <c:v>304.747</c:v>
              </c:pt>
              <c:pt idx="3">
                <c:v>354.539</c:v>
              </c:pt>
              <c:pt idx="4">
                <c:v>480.213</c:v>
              </c:pt>
              <c:pt idx="5">
                <c:v>499.564</c:v>
              </c:pt>
              <c:pt idx="6">
                <c:v>635.901</c:v>
              </c:pt>
              <c:pt idx="7">
                <c:v>849.483</c:v>
              </c:pt>
              <c:pt idx="8">
                <c:v>976.105</c:v>
              </c:pt>
              <c:pt idx="9">
                <c:v>1214.121</c:v>
              </c:pt>
              <c:pt idx="10">
                <c:v>1413.637</c:v>
              </c:pt>
              <c:pt idx="11">
                <c:v>1533.136</c:v>
              </c:pt>
            </c:numLit>
          </c:val>
        </c:ser>
        <c:ser>
          <c:idx val="2"/>
          <c:order val="2"/>
          <c:tx>
            <c:v>FIDCs · carteira</c:v>
          </c:tx>
          <c:spPr>
            <a:solidFill>
              <a:srgbClr val="EC7000"/>
            </a:solidFill>
          </c:spPr>
          <c:dLbls>
            <c:dLbl>
              <c:idx val="0"/>
              <c:txPr>
                <a:bodyPr anchorCtr="1"/>
                <a:lstStyle/>
                <a:p>
                  <a:pPr>
                    <a:defRPr sz="458" b="0">
                      <a:solidFill>
                        <a:srgbClr val="FFFFFF"/>
                      </a:solidFill>
                    </a:defRPr>
                  </a:pPr>
                </a:p>
              </c:txPr>
              <c:dLblPos val="ctr"/>
              <c:showLegendKey val="0"/>
              <c:showVal val="1"/>
              <c:showCatName val="0"/>
              <c:showSerName val="0"/>
              <c:showPercent val="0"/>
              <c:showBubbleSize val="0"/>
            </c:dLbl>
            <c:dLbl>
              <c:idx val="1"/>
              <c:txPr>
                <a:bodyPr anchorCtr="1"/>
                <a:lstStyle/>
                <a:p>
                  <a:pPr>
                    <a:defRPr sz="458" b="0">
                      <a:solidFill>
                        <a:srgbClr val="FFFFFF"/>
                      </a:solidFill>
                    </a:defRPr>
                  </a:pPr>
                </a:p>
              </c:txPr>
              <c:dLblPos val="ctr"/>
              <c:showLegendKey val="0"/>
              <c:showVal val="1"/>
              <c:showCatName val="0"/>
              <c:showSerName val="0"/>
              <c:showPercent val="0"/>
              <c:showBubbleSize val="0"/>
            </c:dLbl>
            <c:dLbl>
              <c:idx val="2"/>
              <c:txPr>
                <a:bodyPr anchorCtr="1"/>
                <a:lstStyle/>
                <a:p>
                  <a:pPr>
                    <a:defRPr sz="458" b="0">
                      <a:solidFill>
                        <a:srgbClr val="FFFFFF"/>
                      </a:solidFill>
                    </a:defRPr>
                  </a:pPr>
                </a:p>
              </c:txPr>
              <c:dLblPos val="ctr"/>
              <c:showLegendKey val="0"/>
              <c:showVal val="1"/>
              <c:showCatName val="0"/>
              <c:showSerName val="0"/>
              <c:showPercent val="0"/>
              <c:showBubbleSize val="0"/>
            </c:dLbl>
            <c:dLbl>
              <c:idx val="3"/>
              <c:txPr>
                <a:bodyPr anchorCtr="1"/>
                <a:lstStyle/>
                <a:p>
                  <a:pPr>
                    <a:defRPr sz="458" b="0">
                      <a:solidFill>
                        <a:srgbClr val="FFFFFF"/>
                      </a:solidFill>
                    </a:defRPr>
                  </a:pPr>
                </a:p>
              </c:txPr>
              <c:dLblPos val="ctr"/>
              <c:showLegendKey val="0"/>
              <c:showVal val="1"/>
              <c:showCatName val="0"/>
              <c:showSerName val="0"/>
              <c:showPercent val="0"/>
              <c:showBubbleSize val="0"/>
            </c:dLbl>
            <c:dLbl>
              <c:idx val="4"/>
              <c:txPr>
                <a:bodyPr anchorCtr="1"/>
                <a:lstStyle/>
                <a:p>
                  <a:pPr>
                    <a:defRPr sz="458" b="0">
                      <a:solidFill>
                        <a:srgbClr val="FFFFFF"/>
                      </a:solidFill>
                    </a:defRPr>
                  </a:pPr>
                </a:p>
              </c:txPr>
              <c:dLblPos val="ctr"/>
              <c:showLegendKey val="0"/>
              <c:showVal val="1"/>
              <c:showCatName val="0"/>
              <c:showSerName val="0"/>
              <c:showPercent val="0"/>
              <c:showBubbleSize val="0"/>
            </c:dLbl>
            <c:dLbl>
              <c:idx val="5"/>
              <c:txPr>
                <a:bodyPr anchorCtr="1"/>
                <a:lstStyle/>
                <a:p>
                  <a:pPr>
                    <a:defRPr sz="458" b="0">
                      <a:solidFill>
                        <a:srgbClr val="FFFFFF"/>
                      </a:solidFill>
                    </a:defRPr>
                  </a:pPr>
                </a:p>
              </c:txPr>
              <c:dLblPos val="ctr"/>
              <c:showLegendKey val="0"/>
              <c:showVal val="1"/>
              <c:showCatName val="0"/>
              <c:showSerName val="0"/>
              <c:showPercent val="0"/>
              <c:showBubbleSize val="0"/>
            </c:dLbl>
            <c:dLbl>
              <c:idx val="6"/>
              <c:txPr>
                <a:bodyPr anchorCtr="1"/>
                <a:lstStyle/>
                <a:p>
                  <a:pPr>
                    <a:defRPr sz="458" b="0">
                      <a:solidFill>
                        <a:srgbClr val="FFFFFF"/>
                      </a:solidFill>
                    </a:defRPr>
                  </a:pPr>
                </a:p>
              </c:txPr>
              <c:dLblPos val="ctr"/>
              <c:showLegendKey val="0"/>
              <c:showVal val="1"/>
              <c:showCatName val="0"/>
              <c:showSerName val="0"/>
              <c:showPercent val="0"/>
              <c:showBubbleSize val="0"/>
            </c:dLbl>
            <c:dLbl>
              <c:idx val="7"/>
              <c:txPr>
                <a:bodyPr anchorCtr="1"/>
                <a:lstStyle/>
                <a:p>
                  <a:pPr>
                    <a:defRPr sz="458" b="0">
                      <a:solidFill>
                        <a:srgbClr val="FFFFFF"/>
                      </a:solidFill>
                    </a:defRPr>
                  </a:pPr>
                </a:p>
              </c:txPr>
              <c:dLblPos val="ctr"/>
              <c:showLegendKey val="0"/>
              <c:showVal val="1"/>
              <c:showCatName val="0"/>
              <c:showSerName val="0"/>
              <c:showPercent val="0"/>
              <c:showBubbleSize val="0"/>
            </c:dLbl>
            <c:dLbl>
              <c:idx val="8"/>
              <c:txPr>
                <a:bodyPr anchorCtr="1"/>
                <a:lstStyle/>
                <a:p>
                  <a:pPr>
                    <a:defRPr sz="458" b="0">
                      <a:solidFill>
                        <a:srgbClr val="FFFFFF"/>
                      </a:solidFill>
                    </a:defRPr>
                  </a:pPr>
                </a:p>
              </c:txPr>
              <c:dLblPos val="ctr"/>
              <c:showLegendKey val="0"/>
              <c:showVal val="1"/>
              <c:showCatName val="0"/>
              <c:showSerName val="0"/>
              <c:showPercent val="0"/>
              <c:showBubbleSize val="0"/>
            </c:dLbl>
            <c:dLbl>
              <c:idx val="9"/>
              <c:txPr>
                <a:bodyPr anchorCtr="1"/>
                <a:lstStyle/>
                <a:p>
                  <a:pPr>
                    <a:defRPr sz="458" b="0">
                      <a:solidFill>
                        <a:srgbClr val="FFFFFF"/>
                      </a:solidFill>
                    </a:defRPr>
                  </a:pPr>
                </a:p>
              </c:txPr>
              <c:dLblPos val="ctr"/>
              <c:showLegendKey val="0"/>
              <c:showVal val="1"/>
              <c:showCatName val="0"/>
              <c:showSerName val="0"/>
              <c:showPercent val="0"/>
              <c:showBubbleSize val="0"/>
            </c:dLbl>
            <c:dLbl>
              <c:idx val="10"/>
              <c:txPr>
                <a:bodyPr anchorCtr="1"/>
                <a:lstStyle/>
                <a:p>
                  <a:pPr>
                    <a:defRPr sz="458" b="0">
                      <a:solidFill>
                        <a:srgbClr val="FFFFFF"/>
                      </a:solidFill>
                    </a:defRPr>
                  </a:pPr>
                </a:p>
              </c:txPr>
              <c:dLblPos val="ctr"/>
              <c:showLegendKey val="0"/>
              <c:showVal val="1"/>
              <c:showCatName val="0"/>
              <c:showSerName val="0"/>
              <c:showPercent val="0"/>
              <c:showBubbleSize val="0"/>
            </c:dLbl>
            <c:dLbl>
              <c:idx val="11"/>
              <c:txPr>
                <a:bodyPr anchorCtr="1"/>
                <a:lstStyle/>
                <a:p>
                  <a:pPr>
                    <a:defRPr sz="458" b="0">
                      <a:solidFill>
                        <a:srgbClr val="FFFFFF"/>
                      </a:solidFill>
                    </a:defRPr>
                  </a:pPr>
                </a:p>
              </c:txPr>
              <c:dLblPos val="ctr"/>
              <c:showLegendKey val="0"/>
              <c:showVal val="1"/>
              <c:showCatName val="0"/>
              <c:showSerName val="0"/>
              <c:showPercent val="0"/>
              <c:showBubbleSize val="0"/>
            </c:dLbl>
          </c:dLbls>
          <c:cat>
            <c:strLit>
              <c:ptCount val="12"/>
              <c:pt idx="0">
                <c:v>2015</c:v>
              </c:pt>
              <c:pt idx="1">
                <c:v>2016</c:v>
              </c:pt>
              <c:pt idx="2">
                <c:v>2017</c:v>
              </c:pt>
              <c:pt idx="3">
                <c:v>2018</c:v>
              </c:pt>
              <c:pt idx="4">
                <c:v>2019</c:v>
              </c:pt>
              <c:pt idx="5">
                <c:v>2020</c:v>
              </c:pt>
              <c:pt idx="6">
                <c:v>2021</c:v>
              </c:pt>
              <c:pt idx="7">
                <c:v>2022</c:v>
              </c:pt>
              <c:pt idx="8">
                <c:v>2023</c:v>
              </c:pt>
              <c:pt idx="9">
                <c:v>2024</c:v>
              </c:pt>
              <c:pt idx="10">
                <c:v>2025</c:v>
              </c:pt>
              <c:pt idx="11">
                <c:v>05/26</c:v>
              </c:pt>
            </c:strLit>
          </c:cat>
          <c:val>
            <c:numLit>
              <c:formatCode>[&gt;=1000]#\.##0;0</c:formatCode>
              <c:ptCount val="12"/>
              <c:pt idx="0">
                <c:v>70.86095119410001</c:v>
              </c:pt>
              <c:pt idx="1">
                <c:v>82.19072984</c:v>
              </c:pt>
              <c:pt idx="2">
                <c:v>95.75352406850999</c:v>
              </c:pt>
              <c:pt idx="3">
                <c:v>106.12068752539999</c:v>
              </c:pt>
              <c:pt idx="4">
                <c:v>182.22866537173002</c:v>
              </c:pt>
              <c:pt idx="5">
                <c:v>160.17258675028998</c:v>
              </c:pt>
              <c:pt idx="6">
                <c:v>250.02515732651</c:v>
              </c:pt>
              <c:pt idx="7">
                <c:v>304.88729907795</c:v>
              </c:pt>
              <c:pt idx="8">
                <c:v>387.7969193108501</c:v>
              </c:pt>
              <c:pt idx="9">
                <c:v>549.9166688619099</c:v>
              </c:pt>
              <c:pt idx="10">
                <c:v>641.37597886001</c:v>
              </c:pt>
              <c:pt idx="11">
                <c:v>670.4811522614399</c:v>
              </c:pt>
            </c:numLit>
          </c:val>
        </c:ser>
        <c:ser>
          <c:idx val="3"/>
          <c:order val="3"/>
          <c:tx>
            <c:v>Outras securitizações</c:v>
          </c:tx>
          <c:spPr>
            <a:solidFill>
              <a:srgbClr val="D7DADD"/>
            </a:solidFill>
          </c:spPr>
          <c:dLbls>
            <c:dLbl>
              <c:idx val="0"/>
              <c:txPr>
                <a:bodyPr anchorCtr="1"/>
                <a:lstStyle/>
                <a:p>
                  <a:pPr>
                    <a:defRPr sz="458" b="0">
                      <a:solidFill>
                        <a:srgbClr val="151515"/>
                      </a:solidFill>
                    </a:defRPr>
                  </a:pPr>
                </a:p>
              </c:txPr>
              <c:dLblPos val="ctr"/>
              <c:showLegendKey val="0"/>
              <c:showVal val="1"/>
              <c:showCatName val="0"/>
              <c:showSerName val="0"/>
              <c:showPercent val="0"/>
              <c:showBubbleSize val="0"/>
            </c:dLbl>
            <c:dLbl>
              <c:idx val="1"/>
              <c:txPr>
                <a:bodyPr anchorCtr="1"/>
                <a:lstStyle/>
                <a:p>
                  <a:pPr>
                    <a:defRPr sz="458" b="0">
                      <a:solidFill>
                        <a:srgbClr val="151515"/>
                      </a:solidFill>
                    </a:defRPr>
                  </a:pPr>
                </a:p>
              </c:txPr>
              <c:dLblPos val="ctr"/>
              <c:showLegendKey val="0"/>
              <c:showVal val="1"/>
              <c:showCatName val="0"/>
              <c:showSerName val="0"/>
              <c:showPercent val="0"/>
              <c:showBubbleSize val="0"/>
            </c:dLbl>
            <c:dLbl>
              <c:idx val="2"/>
              <c:txPr>
                <a:bodyPr anchorCtr="1"/>
                <a:lstStyle/>
                <a:p>
                  <a:pPr>
                    <a:defRPr sz="458" b="0">
                      <a:solidFill>
                        <a:srgbClr val="151515"/>
                      </a:solidFill>
                    </a:defRPr>
                  </a:pPr>
                </a:p>
              </c:txPr>
              <c:dLblPos val="ctr"/>
              <c:showLegendKey val="0"/>
              <c:showVal val="1"/>
              <c:showCatName val="0"/>
              <c:showSerName val="0"/>
              <c:showPercent val="0"/>
              <c:showBubbleSize val="0"/>
            </c:dLbl>
            <c:dLbl>
              <c:idx val="3"/>
              <c:txPr>
                <a:bodyPr anchorCtr="1"/>
                <a:lstStyle/>
                <a:p>
                  <a:pPr>
                    <a:defRPr sz="458" b="0">
                      <a:solidFill>
                        <a:srgbClr val="151515"/>
                      </a:solidFill>
                    </a:defRPr>
                  </a:pPr>
                </a:p>
              </c:txPr>
              <c:dLblPos val="ctr"/>
              <c:showLegendKey val="0"/>
              <c:showVal val="1"/>
              <c:showCatName val="0"/>
              <c:showSerName val="0"/>
              <c:showPercent val="0"/>
              <c:showBubbleSize val="0"/>
            </c:dLbl>
            <c:dLbl>
              <c:idx val="4"/>
              <c:txPr>
                <a:bodyPr anchorCtr="1"/>
                <a:lstStyle/>
                <a:p>
                  <a:pPr>
                    <a:defRPr sz="458" b="0">
                      <a:solidFill>
                        <a:srgbClr val="151515"/>
                      </a:solidFill>
                    </a:defRPr>
                  </a:pPr>
                </a:p>
              </c:txPr>
              <c:dLblPos val="ctr"/>
              <c:showLegendKey val="0"/>
              <c:showVal val="1"/>
              <c:showCatName val="0"/>
              <c:showSerName val="0"/>
              <c:showPercent val="0"/>
              <c:showBubbleSize val="0"/>
            </c:dLbl>
            <c:dLbl>
              <c:idx val="5"/>
              <c:txPr>
                <a:bodyPr anchorCtr="1"/>
                <a:lstStyle/>
                <a:p>
                  <a:pPr>
                    <a:defRPr sz="458" b="0">
                      <a:solidFill>
                        <a:srgbClr val="151515"/>
                      </a:solidFill>
                    </a:defRPr>
                  </a:pPr>
                </a:p>
              </c:txPr>
              <c:dLblPos val="ctr"/>
              <c:showLegendKey val="0"/>
              <c:showVal val="1"/>
              <c:showCatName val="0"/>
              <c:showSerName val="0"/>
              <c:showPercent val="0"/>
              <c:showBubbleSize val="0"/>
            </c:dLbl>
            <c:dLbl>
              <c:idx val="6"/>
              <c:txPr>
                <a:bodyPr anchorCtr="1"/>
                <a:lstStyle/>
                <a:p>
                  <a:pPr>
                    <a:defRPr sz="458" b="0">
                      <a:solidFill>
                        <a:srgbClr val="151515"/>
                      </a:solidFill>
                    </a:defRPr>
                  </a:pPr>
                </a:p>
              </c:txPr>
              <c:dLblPos val="ctr"/>
              <c:showLegendKey val="0"/>
              <c:showVal val="1"/>
              <c:showCatName val="0"/>
              <c:showSerName val="0"/>
              <c:showPercent val="0"/>
              <c:showBubbleSize val="0"/>
            </c:dLbl>
            <c:dLbl>
              <c:idx val="7"/>
              <c:txPr>
                <a:bodyPr anchorCtr="1"/>
                <a:lstStyle/>
                <a:p>
                  <a:pPr>
                    <a:defRPr sz="458" b="0">
                      <a:solidFill>
                        <a:srgbClr val="151515"/>
                      </a:solidFill>
                    </a:defRPr>
                  </a:pPr>
                </a:p>
              </c:txPr>
              <c:dLblPos val="ctr"/>
              <c:showLegendKey val="0"/>
              <c:showVal val="1"/>
              <c:showCatName val="0"/>
              <c:showSerName val="0"/>
              <c:showPercent val="0"/>
              <c:showBubbleSize val="0"/>
            </c:dLbl>
            <c:dLbl>
              <c:idx val="8"/>
              <c:txPr>
                <a:bodyPr anchorCtr="1"/>
                <a:lstStyle/>
                <a:p>
                  <a:pPr>
                    <a:defRPr sz="458" b="0">
                      <a:solidFill>
                        <a:srgbClr val="151515"/>
                      </a:solidFill>
                    </a:defRPr>
                  </a:pPr>
                </a:p>
              </c:txPr>
              <c:dLblPos val="ctr"/>
              <c:showLegendKey val="0"/>
              <c:showVal val="1"/>
              <c:showCatName val="0"/>
              <c:showSerName val="0"/>
              <c:showPercent val="0"/>
              <c:showBubbleSize val="0"/>
            </c:dLbl>
            <c:dLbl>
              <c:idx val="9"/>
              <c:txPr>
                <a:bodyPr anchorCtr="1"/>
                <a:lstStyle/>
                <a:p>
                  <a:pPr>
                    <a:defRPr sz="458" b="0">
                      <a:solidFill>
                        <a:srgbClr val="151515"/>
                      </a:solidFill>
                    </a:defRPr>
                  </a:pPr>
                </a:p>
              </c:txPr>
              <c:dLblPos val="ctr"/>
              <c:showLegendKey val="0"/>
              <c:showVal val="1"/>
              <c:showCatName val="0"/>
              <c:showSerName val="0"/>
              <c:showPercent val="0"/>
              <c:showBubbleSize val="0"/>
            </c:dLbl>
            <c:dLbl>
              <c:idx val="10"/>
              <c:txPr>
                <a:bodyPr anchorCtr="1"/>
                <a:lstStyle/>
                <a:p>
                  <a:pPr>
                    <a:defRPr sz="458" b="0">
                      <a:solidFill>
                        <a:srgbClr val="151515"/>
                      </a:solidFill>
                    </a:defRPr>
                  </a:pPr>
                </a:p>
              </c:txPr>
              <c:dLblPos val="ctr"/>
              <c:showLegendKey val="0"/>
              <c:showVal val="1"/>
              <c:showCatName val="0"/>
              <c:showSerName val="0"/>
              <c:showPercent val="0"/>
              <c:showBubbleSize val="0"/>
            </c:dLbl>
            <c:dLbl>
              <c:idx val="11"/>
              <c:txPr>
                <a:bodyPr anchorCtr="1"/>
                <a:lstStyle/>
                <a:p>
                  <a:pPr>
                    <a:defRPr sz="458" b="0">
                      <a:solidFill>
                        <a:srgbClr val="151515"/>
                      </a:solidFill>
                    </a:defRPr>
                  </a:pPr>
                </a:p>
              </c:txPr>
              <c:dLblPos val="ctr"/>
              <c:showLegendKey val="0"/>
              <c:showVal val="1"/>
              <c:showCatName val="0"/>
              <c:showSerName val="0"/>
              <c:showPercent val="0"/>
              <c:showBubbleSize val="0"/>
            </c:dLbl>
          </c:dLbls>
          <c:cat>
            <c:strLit>
              <c:ptCount val="12"/>
              <c:pt idx="0">
                <c:v>2015</c:v>
              </c:pt>
              <c:pt idx="1">
                <c:v>2016</c:v>
              </c:pt>
              <c:pt idx="2">
                <c:v>2017</c:v>
              </c:pt>
              <c:pt idx="3">
                <c:v>2018</c:v>
              </c:pt>
              <c:pt idx="4">
                <c:v>2019</c:v>
              </c:pt>
              <c:pt idx="5">
                <c:v>2020</c:v>
              </c:pt>
              <c:pt idx="6">
                <c:v>2021</c:v>
              </c:pt>
              <c:pt idx="7">
                <c:v>2022</c:v>
              </c:pt>
              <c:pt idx="8">
                <c:v>2023</c:v>
              </c:pt>
              <c:pt idx="9">
                <c:v>2024</c:v>
              </c:pt>
              <c:pt idx="10">
                <c:v>2025</c:v>
              </c:pt>
              <c:pt idx="11">
                <c:v>05/26</c:v>
              </c:pt>
            </c:strLit>
          </c:cat>
          <c:val>
            <c:numLit>
              <c:formatCode>[&gt;=1000]#\.##0;0</c:formatCode>
              <c:ptCount val="12"/>
              <c:pt idx="0">
                <c:v>72.64204880589999</c:v>
              </c:pt>
              <c:pt idx="1">
                <c:v>91.52627016</c:v>
              </c:pt>
              <c:pt idx="2">
                <c:v>112.90947593149001</c:v>
              </c:pt>
              <c:pt idx="3">
                <c:v>121.5283124746</c:v>
              </c:pt>
              <c:pt idx="4">
                <c:v>128.34033462827</c:v>
              </c:pt>
              <c:pt idx="5">
                <c:v>127.67341324971002</c:v>
              </c:pt>
              <c:pt idx="6">
                <c:v>183.94284267349</c:v>
              </c:pt>
              <c:pt idx="7">
                <c:v>261.46670092205</c:v>
              </c:pt>
              <c:pt idx="8">
                <c:v>334.0110806891499</c:v>
              </c:pt>
              <c:pt idx="9">
                <c:v>444.7183311380901</c:v>
              </c:pt>
              <c:pt idx="10">
                <c:v>452.00202113999</c:v>
              </c:pt>
              <c:pt idx="11">
                <c:v>486.4528477385601</c:v>
              </c:pt>
            </c:numLit>
          </c:val>
        </c:ser>
        <c:ser>
          <c:idx val="4"/>
          <c:order val="4"/>
          <c:tx>
            <c:v>Dívida externa</c:v>
          </c:tx>
          <c:spPr>
            <a:solidFill>
              <a:srgbClr val="E7E9EB"/>
            </a:solidFill>
          </c:spPr>
          <c:dLbls>
            <c:dLbl>
              <c:idx val="0"/>
              <c:txPr>
                <a:bodyPr anchorCtr="1"/>
                <a:lstStyle/>
                <a:p>
                  <a:pPr>
                    <a:defRPr sz="458" b="0">
                      <a:solidFill>
                        <a:srgbClr val="151515"/>
                      </a:solidFill>
                    </a:defRPr>
                  </a:pPr>
                </a:p>
              </c:txPr>
              <c:dLblPos val="ctr"/>
              <c:showLegendKey val="0"/>
              <c:showVal val="1"/>
              <c:showCatName val="0"/>
              <c:showSerName val="0"/>
              <c:showPercent val="0"/>
              <c:showBubbleSize val="0"/>
            </c:dLbl>
            <c:dLbl>
              <c:idx val="1"/>
              <c:txPr>
                <a:bodyPr anchorCtr="1"/>
                <a:lstStyle/>
                <a:p>
                  <a:pPr>
                    <a:defRPr sz="458" b="0">
                      <a:solidFill>
                        <a:srgbClr val="151515"/>
                      </a:solidFill>
                    </a:defRPr>
                  </a:pPr>
                </a:p>
              </c:txPr>
              <c:dLblPos val="ctr"/>
              <c:showLegendKey val="0"/>
              <c:showVal val="1"/>
              <c:showCatName val="0"/>
              <c:showSerName val="0"/>
              <c:showPercent val="0"/>
              <c:showBubbleSize val="0"/>
            </c:dLbl>
            <c:dLbl>
              <c:idx val="2"/>
              <c:txPr>
                <a:bodyPr anchorCtr="1"/>
                <a:lstStyle/>
                <a:p>
                  <a:pPr>
                    <a:defRPr sz="458" b="0">
                      <a:solidFill>
                        <a:srgbClr val="151515"/>
                      </a:solidFill>
                    </a:defRPr>
                  </a:pPr>
                </a:p>
              </c:txPr>
              <c:dLblPos val="ctr"/>
              <c:showLegendKey val="0"/>
              <c:showVal val="1"/>
              <c:showCatName val="0"/>
              <c:showSerName val="0"/>
              <c:showPercent val="0"/>
              <c:showBubbleSize val="0"/>
            </c:dLbl>
            <c:dLbl>
              <c:idx val="3"/>
              <c:txPr>
                <a:bodyPr anchorCtr="1"/>
                <a:lstStyle/>
                <a:p>
                  <a:pPr>
                    <a:defRPr sz="458" b="0">
                      <a:solidFill>
                        <a:srgbClr val="151515"/>
                      </a:solidFill>
                    </a:defRPr>
                  </a:pPr>
                </a:p>
              </c:txPr>
              <c:dLblPos val="ctr"/>
              <c:showLegendKey val="0"/>
              <c:showVal val="1"/>
              <c:showCatName val="0"/>
              <c:showSerName val="0"/>
              <c:showPercent val="0"/>
              <c:showBubbleSize val="0"/>
            </c:dLbl>
            <c:dLbl>
              <c:idx val="4"/>
              <c:txPr>
                <a:bodyPr anchorCtr="1"/>
                <a:lstStyle/>
                <a:p>
                  <a:pPr>
                    <a:defRPr sz="458" b="0">
                      <a:solidFill>
                        <a:srgbClr val="151515"/>
                      </a:solidFill>
                    </a:defRPr>
                  </a:pPr>
                </a:p>
              </c:txPr>
              <c:dLblPos val="ctr"/>
              <c:showLegendKey val="0"/>
              <c:showVal val="1"/>
              <c:showCatName val="0"/>
              <c:showSerName val="0"/>
              <c:showPercent val="0"/>
              <c:showBubbleSize val="0"/>
            </c:dLbl>
            <c:dLbl>
              <c:idx val="5"/>
              <c:txPr>
                <a:bodyPr anchorCtr="1"/>
                <a:lstStyle/>
                <a:p>
                  <a:pPr>
                    <a:defRPr sz="458" b="0">
                      <a:solidFill>
                        <a:srgbClr val="151515"/>
                      </a:solidFill>
                    </a:defRPr>
                  </a:pPr>
                </a:p>
              </c:txPr>
              <c:dLblPos val="ctr"/>
              <c:showLegendKey val="0"/>
              <c:showVal val="1"/>
              <c:showCatName val="0"/>
              <c:showSerName val="0"/>
              <c:showPercent val="0"/>
              <c:showBubbleSize val="0"/>
            </c:dLbl>
            <c:dLbl>
              <c:idx val="6"/>
              <c:txPr>
                <a:bodyPr anchorCtr="1"/>
                <a:lstStyle/>
                <a:p>
                  <a:pPr>
                    <a:defRPr sz="458" b="0">
                      <a:solidFill>
                        <a:srgbClr val="151515"/>
                      </a:solidFill>
                    </a:defRPr>
                  </a:pPr>
                </a:p>
              </c:txPr>
              <c:dLblPos val="ctr"/>
              <c:showLegendKey val="0"/>
              <c:showVal val="1"/>
              <c:showCatName val="0"/>
              <c:showSerName val="0"/>
              <c:showPercent val="0"/>
              <c:showBubbleSize val="0"/>
            </c:dLbl>
            <c:dLbl>
              <c:idx val="7"/>
              <c:txPr>
                <a:bodyPr anchorCtr="1"/>
                <a:lstStyle/>
                <a:p>
                  <a:pPr>
                    <a:defRPr sz="458" b="0">
                      <a:solidFill>
                        <a:srgbClr val="151515"/>
                      </a:solidFill>
                    </a:defRPr>
                  </a:pPr>
                </a:p>
              </c:txPr>
              <c:dLblPos val="ctr"/>
              <c:showLegendKey val="0"/>
              <c:showVal val="1"/>
              <c:showCatName val="0"/>
              <c:showSerName val="0"/>
              <c:showPercent val="0"/>
              <c:showBubbleSize val="0"/>
            </c:dLbl>
            <c:dLbl>
              <c:idx val="8"/>
              <c:txPr>
                <a:bodyPr anchorCtr="1"/>
                <a:lstStyle/>
                <a:p>
                  <a:pPr>
                    <a:defRPr sz="458" b="0">
                      <a:solidFill>
                        <a:srgbClr val="151515"/>
                      </a:solidFill>
                    </a:defRPr>
                  </a:pPr>
                </a:p>
              </c:txPr>
              <c:dLblPos val="ctr"/>
              <c:showLegendKey val="0"/>
              <c:showVal val="1"/>
              <c:showCatName val="0"/>
              <c:showSerName val="0"/>
              <c:showPercent val="0"/>
              <c:showBubbleSize val="0"/>
            </c:dLbl>
            <c:dLbl>
              <c:idx val="9"/>
              <c:txPr>
                <a:bodyPr anchorCtr="1"/>
                <a:lstStyle/>
                <a:p>
                  <a:pPr>
                    <a:defRPr sz="458" b="0">
                      <a:solidFill>
                        <a:srgbClr val="151515"/>
                      </a:solidFill>
                    </a:defRPr>
                  </a:pPr>
                </a:p>
              </c:txPr>
              <c:dLblPos val="ctr"/>
              <c:showLegendKey val="0"/>
              <c:showVal val="1"/>
              <c:showCatName val="0"/>
              <c:showSerName val="0"/>
              <c:showPercent val="0"/>
              <c:showBubbleSize val="0"/>
            </c:dLbl>
            <c:dLbl>
              <c:idx val="10"/>
              <c:txPr>
                <a:bodyPr anchorCtr="1"/>
                <a:lstStyle/>
                <a:p>
                  <a:pPr>
                    <a:defRPr sz="458" b="0">
                      <a:solidFill>
                        <a:srgbClr val="151515"/>
                      </a:solidFill>
                    </a:defRPr>
                  </a:pPr>
                </a:p>
              </c:txPr>
              <c:dLblPos val="ctr"/>
              <c:showLegendKey val="0"/>
              <c:showVal val="1"/>
              <c:showCatName val="0"/>
              <c:showSerName val="0"/>
              <c:showPercent val="0"/>
              <c:showBubbleSize val="0"/>
            </c:dLbl>
            <c:dLbl>
              <c:idx val="11"/>
              <c:txPr>
                <a:bodyPr anchorCtr="1"/>
                <a:lstStyle/>
                <a:p>
                  <a:pPr>
                    <a:defRPr sz="458" b="0">
                      <a:solidFill>
                        <a:srgbClr val="151515"/>
                      </a:solidFill>
                    </a:defRPr>
                  </a:pPr>
                </a:p>
              </c:txPr>
              <c:dLblPos val="ctr"/>
              <c:showLegendKey val="0"/>
              <c:showVal val="1"/>
              <c:showCatName val="0"/>
              <c:showSerName val="0"/>
              <c:showPercent val="0"/>
              <c:showBubbleSize val="0"/>
            </c:dLbl>
          </c:dLbls>
          <c:cat>
            <c:strLit>
              <c:ptCount val="12"/>
              <c:pt idx="0">
                <c:v>2015</c:v>
              </c:pt>
              <c:pt idx="1">
                <c:v>2016</c:v>
              </c:pt>
              <c:pt idx="2">
                <c:v>2017</c:v>
              </c:pt>
              <c:pt idx="3">
                <c:v>2018</c:v>
              </c:pt>
              <c:pt idx="4">
                <c:v>2019</c:v>
              </c:pt>
              <c:pt idx="5">
                <c:v>2020</c:v>
              </c:pt>
              <c:pt idx="6">
                <c:v>2021</c:v>
              </c:pt>
              <c:pt idx="7">
                <c:v>2022</c:v>
              </c:pt>
              <c:pt idx="8">
                <c:v>2023</c:v>
              </c:pt>
              <c:pt idx="9">
                <c:v>2024</c:v>
              </c:pt>
              <c:pt idx="10">
                <c:v>2025</c:v>
              </c:pt>
              <c:pt idx="11">
                <c:v>05/26</c:v>
              </c:pt>
            </c:strLit>
          </c:cat>
          <c:val>
            <c:numLit>
              <c:formatCode>[&gt;=1000]#\.##0;0</c:formatCode>
              <c:ptCount val="12"/>
              <c:pt idx="0">
                <c:v>1996.897</c:v>
              </c:pt>
              <c:pt idx="1">
                <c:v>1735.5</c:v>
              </c:pt>
              <c:pt idx="2">
                <c:v>1743.734</c:v>
              </c:pt>
              <c:pt idx="3">
                <c:v>1982.893</c:v>
              </c:pt>
              <c:pt idx="4">
                <c:v>2075.703</c:v>
              </c:pt>
              <c:pt idx="5">
                <c:v>2566.911</c:v>
              </c:pt>
              <c:pt idx="6">
                <c:v>2820.561</c:v>
              </c:pt>
              <c:pt idx="7">
                <c:v>2714.754</c:v>
              </c:pt>
              <c:pt idx="8">
                <c:v>2713.732</c:v>
              </c:pt>
              <c:pt idx="9">
                <c:v>3408.391</c:v>
              </c:pt>
              <c:pt idx="10">
                <c:v>3405.938</c:v>
              </c:pt>
              <c:pt idx="11">
                <c:v>3364.88</c:v>
              </c:pt>
            </c:numLit>
          </c:val>
        </c:ser>
        <c:dLbls>
          <c:txPr>
            <a:bodyPr anchorCtr="1"/>
            <a:lstStyle/>
            <a:p>
              <a:pPr>
                <a:defRPr sz="435" b="0">
                  <a:solidFill>
                    <a:srgbClr val="151515"/>
                  </a:solidFill>
                </a:defRPr>
              </a:pPr>
            </a:p>
          </c:txPr>
          <c:dLblPos val="ctr"/>
          <c:showLegendKey val="0"/>
          <c:showVal val="1"/>
          <c:showCatName val="0"/>
          <c:showSerName val="0"/>
          <c:showPercent val="0"/>
          <c:showBubbleSize val="0"/>
          <c:showLeaderLines val="0"/>
        </c:dLbls>
        <c:gapWidth val="48"/>
        <c:overlap val="100"/>
        <c:axId val="48650112"/>
        <c:axId val="48672768"/>
      </c:barChart>
      <c:lineChart>
        <c:grouping val="standard"/>
        <c:varyColors val="0"/>
        <c:ser>
          <c:idx val="5"/>
          <c:order val="5"/>
          <c:tx>
            <c:v>Total</c:v>
          </c:tx>
          <c:spPr>
            <a:ln>
              <a:noFill/>
            </a:ln>
          </c:spPr>
          <c:marker>
            <c:symbol val="none"/>
            <c:size val="2"/>
          </c:marker>
          <c:dLbls>
            <c:dLblPos val="t"/>
            <c:numFmt formatCode="[&gt;=1000]#\.##0;0" sourceLinked="0"/>
            <c:showLegendKey val="0"/>
            <c:showVal val="1"/>
            <c:showCatName val="0"/>
            <c:showSerName val="0"/>
            <c:showPercent val="0"/>
            <c:showBubbleSize val="0"/>
            <c:showLeaderLines val="0"/>
            <c:txPr>
              <a:bodyPr/>
              <a:lstStyle/>
              <a:p>
                <a:pPr>
                  <a:defRPr sz="850" b="1">
                    <a:latin typeface="Arial"/>
                    <a:ea typeface="Arial"/>
                    <a:cs typeface="Arial"/>
                  </a:defRPr>
                </a:pPr>
                <a:endParaRPr lang="pt-BR"/>
              </a:p>
            </c:txPr>
          </c:dLbls>
          <c:cat>
            <c:strLit>
              <c:ptCount val="12"/>
              <c:pt idx="0">
                <c:v>2015</c:v>
              </c:pt>
              <c:pt idx="1">
                <c:v>2016</c:v>
              </c:pt>
              <c:pt idx="2">
                <c:v>2017</c:v>
              </c:pt>
              <c:pt idx="3">
                <c:v>2018</c:v>
              </c:pt>
              <c:pt idx="4">
                <c:v>2019</c:v>
              </c:pt>
              <c:pt idx="5">
                <c:v>2020</c:v>
              </c:pt>
              <c:pt idx="6">
                <c:v>2021</c:v>
              </c:pt>
              <c:pt idx="7">
                <c:v>2022</c:v>
              </c:pt>
              <c:pt idx="8">
                <c:v>2023</c:v>
              </c:pt>
              <c:pt idx="9">
                <c:v>2024</c:v>
              </c:pt>
              <c:pt idx="10">
                <c:v>2025</c:v>
              </c:pt>
              <c:pt idx="11">
                <c:v>05/26</c:v>
              </c:pt>
            </c:strLit>
          </c:cat>
          <c:val>
            <c:numLit>
              <c:formatCode>0</c:formatCode>
              <c:ptCount val="12"/>
              <c:pt idx="0">
                <c:v>5748.45</c:v>
              </c:pt>
              <c:pt idx="1">
                <c:v>5418.536</c:v>
              </c:pt>
              <c:pt idx="2">
                <c:v>5527.476</c:v>
              </c:pt>
              <c:pt idx="3">
                <c:v>6020.161</c:v>
              </c:pt>
              <c:pt idx="4">
                <c:v>6544.042</c:v>
              </c:pt>
              <c:pt idx="5">
                <c:v>7594.22</c:v>
              </c:pt>
              <c:pt idx="6">
                <c:v>8797.35</c:v>
              </c:pt>
              <c:pt idx="7">
                <c:v>9759.071</c:v>
              </c:pt>
              <c:pt idx="8">
                <c:v>10500.192</c:v>
              </c:pt>
              <c:pt idx="9">
                <c:v>12375.969</c:v>
              </c:pt>
              <c:pt idx="10">
                <c:v>13367.627</c:v>
              </c:pt>
              <c:pt idx="11">
                <c:v>13672.125</c:v>
              </c:pt>
            </c:numLit>
          </c:val>
          <c:smooth val="0"/>
        </c:ser>
        <c:axId val="48650112"/>
        <c:axId val="48672768"/>
      </c:line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638">
                <a:solidFill>
                  <a:srgbClr val="73787D"/>
                </a:solidFill>
              </a:defRPr>
            </a:pPr>
          </a:p>
        </c:txPr>
        <c:crossAx val="48672768"/>
        <c:lblAlgn val="ctr"/>
        <c:lblOffset val="100"/>
        <c:noMultiLvlLbl val="0"/>
      </c:catAx>
      <c:valAx>
        <c:axId val="48672768"/>
        <c:scaling>
          <c:orientation val="minMax"/>
          <c:max val="14000"/>
          <c:min val="0"/>
        </c:scaling>
        <c:delete val="0"/>
        <c:axPos val="l"/>
        <c:majorGridlines>
          <c:spPr>
            <a:ln w="9525">
              <a:solidFill>
                <a:srgbClr val="E7E9EB"/>
              </a:solidFill>
              <a:prstDash val="solid"/>
            </a:ln>
          </c:spPr>
        </c:majorGridlines>
        <c:numFmt formatCode="[&gt;=1000]#\.##0;0"/>
        <c:majorTickMark val="none"/>
        <c:minorTickMark val="none"/>
        <c:spPr>
          <a:ln w="9525">
            <a:solidFill>
              <a:srgbClr val="D7DADD"/>
            </a:solidFill>
            <a:prstDash val="solid"/>
          </a:ln>
        </c:spPr>
        <c:txPr>
          <a:bodyPr anchorCtr="1"/>
          <a:lstStyle/>
          <a:p>
            <a:pPr>
              <a:defRPr sz="675">
                <a:solidFill>
                  <a:srgbClr val="8D9399"/>
                </a:solidFill>
              </a:defRPr>
            </a:pPr>
          </a:p>
        </c:txPr>
        <c:crossAx val="48650112"/>
        <c:crossBetween val="between"/>
        <c:majorUnit val="5000"/>
      </c:valAx>
      <c:spPr>
        <a:noFill/>
        <a:ln w="0">
          <a:noFill/>
          <a:prstDash val="solid"/>
        </a:ln>
      </c:spPr>
    </c:plotArea>
    <c:plotVisOnly val="1"/>
  </c:chart>
  <c:spPr>
    <a:noFill/>
    <a:ln w="0">
      <a:noFill/>
      <a:prstDash val="solid"/>
    </a:ln>
  </c:spPr>
</c:chartSpace>
</file>

<file path=ppt/slides/charts/chart3.xml><?xml version="1.0" encoding="utf-8"?>
<c:chartSpace xmlns:a="http://schemas.openxmlformats.org/drawingml/2006/main" xmlns:c="http://schemas.openxmlformats.org/drawingml/2006/chart">
  <c:lang val="pt-BR"/>
  <c:chart>
    <c:plotArea>
      <c:lineChart>
        <c:grouping val="standard"/>
        <c:ser>
          <c:idx val="0"/>
          <c:order val="0"/>
          <c:tx>
            <c:v>Empréstimos</c:v>
          </c:tx>
          <c:spPr>
            <a:ln w="28575">
              <a:solidFill>
                <a:srgbClr val="30353A"/>
              </a:solidFill>
              <a:prstDash val="solid"/>
            </a:ln>
          </c:spPr>
          <c:marker>
            <c:symbol val="none"/>
          </c:marker>
          <c:cat>
            <c:strLit>
              <c:ptCount val="1"/>
              <c:pt idx="0">
                <c:v/>
              </c:pt>
            </c:strLit>
          </c:cat>
          <c:val>
            <c:numLit>
              <c:formatCode>General</c:formatCode>
              <c:ptCount val="1"/>
              <c:pt idx="0">
                <c:v>0</c:v>
              </c:pt>
            </c:numLit>
          </c:val>
        </c:ser>
        <c:ser>
          <c:idx val="1"/>
          <c:order val="1"/>
          <c:tx>
            <c:v>Tít. privados</c:v>
          </c:tx>
          <c:spPr>
            <a:ln w="28575">
              <a:solidFill>
                <a:srgbClr val="8D9399"/>
              </a:solidFill>
              <a:prstDash val="solid"/>
            </a:ln>
          </c:spPr>
          <c:marker>
            <c:symbol val="none"/>
          </c:marker>
          <c:cat>
            <c:strLit>
              <c:ptCount val="1"/>
              <c:pt idx="0">
                <c:v/>
              </c:pt>
            </c:strLit>
          </c:cat>
          <c:val>
            <c:numLit>
              <c:formatCode>General</c:formatCode>
              <c:ptCount val="1"/>
              <c:pt idx="0">
                <c:v>0</c:v>
              </c:pt>
            </c:numLit>
          </c:val>
        </c:ser>
        <c:ser>
          <c:idx val="2"/>
          <c:order val="2"/>
          <c:tx>
            <c:v>FIDCs</c:v>
          </c:tx>
          <c:spPr>
            <a:ln w="28575">
              <a:solidFill>
                <a:srgbClr val="EC7000"/>
              </a:solidFill>
              <a:prstDash val="solid"/>
            </a:ln>
          </c:spPr>
          <c:marker>
            <c:symbol val="none"/>
          </c:marker>
          <c:cat>
            <c:strLit>
              <c:ptCount val="1"/>
              <c:pt idx="0">
                <c:v/>
              </c:pt>
            </c:strLit>
          </c:cat>
          <c:val>
            <c:numLit>
              <c:formatCode>General</c:formatCode>
              <c:ptCount val="1"/>
              <c:pt idx="0">
                <c:v>0</c:v>
              </c:pt>
            </c:numLit>
          </c:val>
        </c:ser>
        <c:ser>
          <c:idx val="3"/>
          <c:order val="3"/>
          <c:tx>
            <c:v>Outras securitizações</c:v>
          </c:tx>
          <c:spPr>
            <a:ln w="28575">
              <a:solidFill>
                <a:srgbClr val="D7DADD"/>
              </a:solidFill>
              <a:prstDash val="solid"/>
            </a:ln>
          </c:spPr>
          <c:marker>
            <c:symbol val="none"/>
          </c:marker>
          <c:cat>
            <c:strLit>
              <c:ptCount val="1"/>
              <c:pt idx="0">
                <c:v/>
              </c:pt>
            </c:strLit>
          </c:cat>
          <c:val>
            <c:numLit>
              <c:formatCode>General</c:formatCode>
              <c:ptCount val="1"/>
              <c:pt idx="0">
                <c:v>0</c:v>
              </c:pt>
            </c:numLit>
          </c:val>
        </c:ser>
        <c:ser>
          <c:idx val="4"/>
          <c:order val="4"/>
          <c:tx>
            <c:v>Dívida externa</c:v>
          </c:tx>
          <c:spPr>
            <a:ln w="28575">
              <a:solidFill>
                <a:srgbClr val="E7E9EB"/>
              </a:solidFill>
              <a:prstDash val="solid"/>
            </a:ln>
          </c:spPr>
          <c:marker>
            <c:symbol val="none"/>
          </c:marker>
          <c:cat>
            <c:strLit>
              <c:ptCount val="1"/>
              <c:pt idx="0">
                <c:v/>
              </c:pt>
            </c:strLit>
          </c:cat>
          <c:val>
            <c:numLit>
              <c:formatCode>General</c:formatCode>
              <c:ptCount val="1"/>
              <c:pt idx="0">
                <c:v>0</c:v>
              </c:pt>
            </c:numLit>
          </c:val>
        </c:ser>
        <c:axId val="48650112"/>
        <c:axId val="48672768"/>
      </c:lineChart>
      <c:catAx>
        <c:axId val="48650112"/>
        <c:scaling>
          <c:orientation val="minMax"/>
        </c:scaling>
        <c:delete val="0"/>
        <c:axPos val="b"/>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1"/>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50112"/>
        <c:crossBetween val="between"/>
      </c:valAx>
      <c:spPr>
        <a:noFill/>
        <a:ln w="0">
          <a:noFill/>
          <a:prstDash val="solid"/>
        </a:ln>
      </c:spPr>
    </c:plotArea>
    <c:legend>
      <c:legendPos val="b"/>
      <c:overlay val="0"/>
      <c:txPr>
        <a:bodyPr anchorCtr="1"/>
        <a:lstStyle/>
        <a:p>
          <a:pPr>
            <a:defRPr sz="788">
              <a:solidFill>
                <a:srgbClr val="73787D"/>
              </a:solidFill>
            </a:defRPr>
          </a:pPr>
        </a:p>
      </c:txPr>
    </c:legend>
    <c:plotVisOnly val="1"/>
  </c:chart>
  <c:spPr>
    <a:noFill/>
    <a:ln w="0">
      <a:noFill/>
      <a:prstDash val="solid"/>
    </a:ln>
  </c:spPr>
</c:chartSpace>
</file>

<file path=ppt/slides/charts/chart4.xml><?xml version="1.0" encoding="utf-8"?>
<c:chartSpace xmlns:a="http://schemas.openxmlformats.org/drawingml/2006/main" xmlns:c="http://schemas.openxmlformats.org/drawingml/2006/chart">
  <c:lang val="pt-BR"/>
  <c:chart>
    <c:plotArea>
      <c:barChart>
        <c:barDir val="col"/>
        <c:grouping val="clustered"/>
        <c:varyColors val="0"/>
        <c:ser>
          <c:idx val="0"/>
          <c:order val="0"/>
          <c:tx>
            <c:v>FIDCs</c:v>
          </c:tx>
          <c:spPr>
            <a:solidFill>
              <a:srgbClr val="EC7000"/>
            </a:solidFill>
          </c:spPr>
          <c:cat>
            <c:strLit>
              <c:ptCount val="4"/>
              <c:pt idx="0">
                <c:v>2023FY</c:v>
              </c:pt>
              <c:pt idx="1">
                <c:v>2024FY</c:v>
              </c:pt>
              <c:pt idx="2">
                <c:v>2025FY</c:v>
              </c:pt>
              <c:pt idx="3">
                <c:v>2026 jan–jun</c:v>
              </c:pt>
            </c:strLit>
          </c:cat>
          <c:val>
            <c:numLit>
              <c:formatCode>0</c:formatCode>
              <c:ptCount val="4"/>
              <c:pt idx="0">
                <c:v>26.47628619356</c:v>
              </c:pt>
              <c:pt idx="1">
                <c:v>95.41672613375</c:v>
              </c:pt>
              <c:pt idx="2">
                <c:v>116.92131905477001</c:v>
              </c:pt>
              <c:pt idx="3">
                <c:v>65.48811898356</c:v>
              </c:pt>
            </c:numLit>
          </c:val>
        </c:ser>
        <c:ser>
          <c:idx val="1"/>
          <c:order val="1"/>
          <c:tx>
            <c:v>Demais elegíveis</c:v>
          </c:tx>
          <c:spPr>
            <a:solidFill>
              <a:srgbClr val="30353A"/>
            </a:solidFill>
          </c:spPr>
          <c:cat>
            <c:strLit>
              <c:ptCount val="4"/>
              <c:pt idx="0">
                <c:v>2023FY</c:v>
              </c:pt>
              <c:pt idx="1">
                <c:v>2024FY</c:v>
              </c:pt>
              <c:pt idx="2">
                <c:v>2025FY</c:v>
              </c:pt>
              <c:pt idx="3">
                <c:v>2026 jan–jun</c:v>
              </c:pt>
            </c:strLit>
          </c:cat>
          <c:val>
            <c:numLit>
              <c:formatCode>0</c:formatCode>
              <c:ptCount val="4"/>
              <c:pt idx="0">
                <c:v>353.4478795703001</c:v>
              </c:pt>
              <c:pt idx="1">
                <c:v>628.73334224723</c:v>
              </c:pt>
              <c:pt idx="2">
                <c:v>656.0946706342701</c:v>
              </c:pt>
              <c:pt idx="3">
                <c:v>246.82887238694</c:v>
              </c:pt>
            </c:numLit>
          </c:val>
        </c:ser>
        <c:dLbls>
          <c:txPr>
            <a:bodyPr anchorCtr="1"/>
            <a:lstStyle/>
            <a:p>
              <a:pPr>
                <a:defRPr sz="675" b="1">
                  <a:solidFill>
                    <a:srgbClr val="151515"/>
                  </a:solidFill>
                </a:defRPr>
              </a:pPr>
            </a:p>
          </c:txPr>
          <c:dLblPos val="outEnd"/>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750">
                <a:solidFill>
                  <a:srgbClr val="73787D"/>
                </a:solidFill>
              </a:defRPr>
            </a:pPr>
          </a:p>
        </c:txPr>
        <c:crossAx val="48672768"/>
        <c:lblAlgn val="ctr"/>
        <c:lblOffset val="100"/>
        <c:noMultiLvlLbl val="0"/>
      </c:catAx>
      <c:valAx>
        <c:axId val="48672768"/>
        <c:scaling>
          <c:orientation val="minMax"/>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713">
                <a:solidFill>
                  <a:srgbClr val="8D9399"/>
                </a:solidFill>
              </a:defRPr>
            </a:pPr>
          </a:p>
        </c:txPr>
        <c:crossAx val="48650112"/>
        <c:crossBetween val="between"/>
      </c:valAx>
      <c:spPr>
        <a:noFill/>
        <a:ln w="0">
          <a:noFill/>
          <a:prstDash val="solid"/>
        </a:ln>
      </c:spPr>
    </c:plotArea>
    <c:legend>
      <c:legendPos val="b"/>
      <c:overlay val="0"/>
      <c:txPr>
        <a:bodyPr anchorCtr="1"/>
        <a:lstStyle/>
        <a:p>
          <a:pPr>
            <a:defRPr sz="750">
              <a:solidFill>
                <a:srgbClr val="73787D"/>
              </a:solidFill>
            </a:defRPr>
          </a:pPr>
        </a:p>
      </c:txPr>
    </c:legend>
    <c:plotVisOnly val="1"/>
  </c:chart>
  <c:spPr>
    <a:noFill/>
    <a:ln w="0">
      <a:noFill/>
      <a:prstDash val="solid"/>
    </a:ln>
  </c:spPr>
</c:chartSpace>
</file>

<file path=ppt/slides/charts/chart5.xml><?xml version="1.0" encoding="utf-8"?>
<c:chartSpace xmlns:a="http://schemas.openxmlformats.org/drawingml/2006/main" xmlns:c="http://schemas.openxmlformats.org/drawingml/2006/chart">
  <c:lang val="pt-BR"/>
  <c:chart>
    <c:plotArea>
      <c:barChart>
        <c:barDir val="col"/>
        <c:grouping val="clustered"/>
        <c:varyColors val="0"/>
        <c:ser>
          <c:idx val="0"/>
          <c:order val="0"/>
          <c:tx>
            <c:v>FIDCs</c:v>
          </c:tx>
          <c:spPr>
            <a:solidFill>
              <a:srgbClr val="EC7000"/>
            </a:solidFill>
          </c:spPr>
          <c:cat>
            <c:strLit>
              <c:ptCount val="4"/>
              <c:pt idx="0">
                <c:v>2023FY</c:v>
              </c:pt>
              <c:pt idx="1">
                <c:v>2024FY</c:v>
              </c:pt>
              <c:pt idx="2">
                <c:v>2025FY</c:v>
              </c:pt>
              <c:pt idx="3">
                <c:v>2026 jan–jun</c:v>
              </c:pt>
            </c:strLit>
          </c:cat>
          <c:val>
            <c:numLit>
              <c:formatCode>0</c:formatCode>
              <c:ptCount val="4"/>
              <c:pt idx="0">
                <c:v>26.47628619356</c:v>
              </c:pt>
              <c:pt idx="1">
                <c:v>95.41672613375</c:v>
              </c:pt>
              <c:pt idx="2">
                <c:v>116.92131905477001</c:v>
              </c:pt>
              <c:pt idx="3">
                <c:v>65.48811898356</c:v>
              </c:pt>
            </c:numLit>
          </c:val>
        </c:ser>
        <c:ser>
          <c:idx val="1"/>
          <c:order val="1"/>
          <c:tx>
            <c:v>Debêntures</c:v>
          </c:tx>
          <c:spPr>
            <a:solidFill>
              <a:srgbClr val="151515"/>
            </a:solidFill>
          </c:spPr>
          <c:cat>
            <c:strLit>
              <c:ptCount val="4"/>
              <c:pt idx="0">
                <c:v>2023FY</c:v>
              </c:pt>
              <c:pt idx="1">
                <c:v>2024FY</c:v>
              </c:pt>
              <c:pt idx="2">
                <c:v>2025FY</c:v>
              </c:pt>
              <c:pt idx="3">
                <c:v>2026 jan–jun</c:v>
              </c:pt>
            </c:strLit>
          </c:cat>
          <c:val>
            <c:numLit>
              <c:formatCode>0</c:formatCode>
              <c:ptCount val="4"/>
              <c:pt idx="0">
                <c:v>229.291431673</c:v>
              </c:pt>
              <c:pt idx="1">
                <c:v>472.8632475001801</c:v>
              </c:pt>
              <c:pt idx="2">
                <c:v>453.66557470805</c:v>
              </c:pt>
              <c:pt idx="3">
                <c:v>148.028583447</c:v>
              </c:pt>
            </c:numLit>
          </c:val>
        </c:ser>
        <c:ser>
          <c:idx val="2"/>
          <c:order val="2"/>
          <c:tx>
            <c:v>CRI</c:v>
          </c:tx>
          <c:spPr>
            <a:solidFill>
              <a:srgbClr val="73787D"/>
            </a:solidFill>
          </c:spPr>
          <c:cat>
            <c:strLit>
              <c:ptCount val="4"/>
              <c:pt idx="0">
                <c:v>2023FY</c:v>
              </c:pt>
              <c:pt idx="1">
                <c:v>2024FY</c:v>
              </c:pt>
              <c:pt idx="2">
                <c:v>2025FY</c:v>
              </c:pt>
              <c:pt idx="3">
                <c:v>2026 jan–jun</c:v>
              </c:pt>
            </c:strLit>
          </c:cat>
          <c:val>
            <c:numLit>
              <c:formatCode>0</c:formatCode>
              <c:ptCount val="4"/>
              <c:pt idx="0">
                <c:v>47.3460402706</c:v>
              </c:pt>
              <c:pt idx="1">
                <c:v>57.687766747050006</c:v>
              </c:pt>
              <c:pt idx="2">
                <c:v>54.329561267269995</c:v>
              </c:pt>
              <c:pt idx="3">
                <c:v>22.11693260334</c:v>
              </c:pt>
            </c:numLit>
          </c:val>
        </c:ser>
        <c:ser>
          <c:idx val="3"/>
          <c:order val="3"/>
          <c:tx>
            <c:v>Notas comerciais</c:v>
          </c:tx>
          <c:spPr>
            <a:solidFill>
              <a:srgbClr val="8D9399"/>
            </a:solidFill>
          </c:spPr>
          <c:cat>
            <c:strLit>
              <c:ptCount val="4"/>
              <c:pt idx="0">
                <c:v>2023FY</c:v>
              </c:pt>
              <c:pt idx="1">
                <c:v>2024FY</c:v>
              </c:pt>
              <c:pt idx="2">
                <c:v>2025FY</c:v>
              </c:pt>
              <c:pt idx="3">
                <c:v>2026 jan–jun</c:v>
              </c:pt>
            </c:strLit>
          </c:cat>
          <c:val>
            <c:numLit>
              <c:formatCode>0</c:formatCode>
              <c:ptCount val="4"/>
              <c:pt idx="0">
                <c:v>25.407368005</c:v>
              </c:pt>
              <c:pt idx="1">
                <c:v>45.7676395</c:v>
              </c:pt>
              <c:pt idx="2">
                <c:v>53.583946853</c:v>
              </c:pt>
              <c:pt idx="3">
                <c:v>28.60619646</c:v>
              </c:pt>
            </c:numLit>
          </c:val>
        </c:ser>
        <c:ser>
          <c:idx val="4"/>
          <c:order val="4"/>
          <c:tx>
            <c:v>CRA</c:v>
          </c:tx>
          <c:spPr>
            <a:solidFill>
              <a:srgbClr val="D7DADD"/>
            </a:solidFill>
          </c:spPr>
          <c:cat>
            <c:strLit>
              <c:ptCount val="4"/>
              <c:pt idx="0">
                <c:v>2023FY</c:v>
              </c:pt>
              <c:pt idx="1">
                <c:v>2024FY</c:v>
              </c:pt>
              <c:pt idx="2">
                <c:v>2025FY</c:v>
              </c:pt>
              <c:pt idx="3">
                <c:v>2026 jan–jun</c:v>
              </c:pt>
            </c:strLit>
          </c:cat>
          <c:val>
            <c:numLit>
              <c:formatCode>0</c:formatCode>
              <c:ptCount val="4"/>
              <c:pt idx="0">
                <c:v>51.149282621699996</c:v>
              </c:pt>
              <c:pt idx="1">
                <c:v>41.832471</c:v>
              </c:pt>
              <c:pt idx="2">
                <c:v>47.202138266949994</c:v>
              </c:pt>
              <c:pt idx="3">
                <c:v>7.291704</c:v>
              </c:pt>
            </c:numLit>
          </c:val>
        </c:ser>
        <c:dLbls>
          <c:txPr>
            <a:bodyPr anchorCtr="1"/>
            <a:lstStyle/>
            <a:p>
              <a:pPr>
                <a:defRPr sz="638" b="1">
                  <a:solidFill>
                    <a:srgbClr val="151515"/>
                  </a:solidFill>
                </a:defRPr>
              </a:pPr>
            </a:p>
          </c:txPr>
          <c:dLblPos val="outEnd"/>
          <c:showLegendKey val="0"/>
          <c:showVal val="1"/>
          <c:showCatName val="0"/>
          <c:showSerName val="0"/>
          <c:showPercent val="0"/>
          <c:showBubbleSize val="0"/>
          <c:showLeaderLines val="0"/>
        </c:dLbls>
        <c:gapWidth val="34"/>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750">
                <a:solidFill>
                  <a:srgbClr val="73787D"/>
                </a:solidFill>
              </a:defRPr>
            </a:pPr>
          </a:p>
        </c:txPr>
        <c:crossAx val="48672768"/>
        <c:lblAlgn val="ctr"/>
        <c:lblOffset val="100"/>
        <c:noMultiLvlLbl val="0"/>
      </c:catAx>
      <c:valAx>
        <c:axId val="48672768"/>
        <c:scaling>
          <c:orientation val="minMax"/>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713">
                <a:solidFill>
                  <a:srgbClr val="8D9399"/>
                </a:solidFill>
              </a:defRPr>
            </a:pPr>
          </a:p>
        </c:txPr>
        <c:crossAx val="48650112"/>
        <c:crossBetween val="between"/>
      </c:valAx>
      <c:spPr>
        <a:noFill/>
        <a:ln w="0">
          <a:noFill/>
          <a:prstDash val="solid"/>
        </a:ln>
      </c:spPr>
    </c:plotArea>
    <c:legend>
      <c:legendPos val="b"/>
      <c:overlay val="0"/>
      <c:txPr>
        <a:bodyPr anchorCtr="1"/>
        <a:lstStyle/>
        <a:p>
          <a:pPr>
            <a:defRPr sz="713">
              <a:solidFill>
                <a:srgbClr val="73787D"/>
              </a:solidFill>
            </a:defRPr>
          </a:pPr>
        </a:p>
      </c:txPr>
    </c:legend>
    <c:plotVisOnly val="1"/>
  </c:chart>
  <c:spPr>
    <a:noFill/>
    <a:ln w="0">
      <a:noFill/>
      <a:prstDash val="solid"/>
    </a:ln>
  </c:spPr>
</c:chartSpace>
</file>

<file path=ppt/slides/charts/chart6.xml><?xml version="1.0" encoding="utf-8"?>
<c:chartSpace xmlns:a="http://schemas.openxmlformats.org/drawingml/2006/main" xmlns:c="http://schemas.openxmlformats.org/drawingml/2006/chart">
  <c:lang val="pt-BR"/>
  <c:chart>
    <c:plotArea>
      <c:barChart>
        <c:barDir val="col"/>
        <c:grouping val="clustered"/>
        <c:varyColors val="0"/>
        <c:ser>
          <c:idx val="0"/>
          <c:order val="0"/>
          <c:tx>
            <c:v>Debêntures</c:v>
          </c:tx>
          <c:spPr>
            <a:solidFill>
              <a:srgbClr val="151515"/>
            </a:solidFill>
          </c:spPr>
          <c:cat>
            <c:strLit>
              <c:ptCount val="4"/>
              <c:pt idx="0">
                <c:v>2023FY</c:v>
              </c:pt>
              <c:pt idx="1">
                <c:v>2024FY</c:v>
              </c:pt>
              <c:pt idx="2">
                <c:v>2025FY</c:v>
              </c:pt>
              <c:pt idx="3">
                <c:v>2026 jan–mai</c:v>
              </c:pt>
            </c:strLit>
          </c:cat>
          <c:val>
            <c:numLit>
              <c:formatCode>0.0</c:formatCode>
              <c:ptCount val="4"/>
              <c:pt idx="0">
                <c:v>236.61663924185</c:v>
              </c:pt>
              <c:pt idx="1">
                <c:v>474.3602899026376</c:v>
              </c:pt>
              <c:pt idx="2">
                <c:v>493.39007310800173</c:v>
              </c:pt>
              <c:pt idx="3">
                <c:v>146.3144924010112</c:v>
              </c:pt>
            </c:numLit>
          </c:val>
        </c:ser>
        <c:ser>
          <c:idx val="1"/>
          <c:order val="1"/>
          <c:tx>
            <c:v>FIDCs</c:v>
          </c:tx>
          <c:spPr>
            <a:solidFill>
              <a:srgbClr val="EC7000"/>
            </a:solidFill>
          </c:spPr>
          <c:cat>
            <c:strLit>
              <c:ptCount val="4"/>
              <c:pt idx="0">
                <c:v>2023FY</c:v>
              </c:pt>
              <c:pt idx="1">
                <c:v>2024FY</c:v>
              </c:pt>
              <c:pt idx="2">
                <c:v>2025FY</c:v>
              </c:pt>
              <c:pt idx="3">
                <c:v>2026 jan–mai</c:v>
              </c:pt>
            </c:strLit>
          </c:cat>
          <c:val>
            <c:numLit>
              <c:formatCode>0.0</c:formatCode>
              <c:ptCount val="4"/>
              <c:pt idx="0">
                <c:v>43.74614019622497</c:v>
              </c:pt>
              <c:pt idx="1">
                <c:v>82.86326248207118</c:v>
              </c:pt>
              <c:pt idx="2">
                <c:v>90.98510609270312</c:v>
              </c:pt>
              <c:pt idx="3">
                <c:v>41.64812990194184</c:v>
              </c:pt>
            </c:numLit>
          </c:val>
        </c:ser>
        <c:ser>
          <c:idx val="2"/>
          <c:order val="2"/>
          <c:tx>
            <c:v>CRI</c:v>
          </c:tx>
          <c:spPr>
            <a:solidFill>
              <a:srgbClr val="73787D"/>
            </a:solidFill>
          </c:spPr>
          <c:cat>
            <c:strLit>
              <c:ptCount val="4"/>
              <c:pt idx="0">
                <c:v>2023FY</c:v>
              </c:pt>
              <c:pt idx="1">
                <c:v>2024FY</c:v>
              </c:pt>
              <c:pt idx="2">
                <c:v>2025FY</c:v>
              </c:pt>
              <c:pt idx="3">
                <c:v>2026 jan–mai</c:v>
              </c:pt>
            </c:strLit>
          </c:cat>
          <c:val>
            <c:numLit>
              <c:formatCode>0.0</c:formatCode>
              <c:ptCount val="4"/>
              <c:pt idx="0">
                <c:v>47.70970732449912</c:v>
              </c:pt>
              <c:pt idx="1">
                <c:v>61.35438150259683</c:v>
              </c:pt>
              <c:pt idx="2">
                <c:v>49.37089080745136</c:v>
              </c:pt>
              <c:pt idx="3">
                <c:v>15.66562156942634</c:v>
              </c:pt>
            </c:numLit>
          </c:val>
        </c:ser>
        <c:ser>
          <c:idx val="3"/>
          <c:order val="3"/>
          <c:tx>
            <c:v>Notas comerciais</c:v>
          </c:tx>
          <c:spPr>
            <a:solidFill>
              <a:srgbClr val="8D9399"/>
            </a:solidFill>
          </c:spPr>
          <c:cat>
            <c:strLit>
              <c:ptCount val="4"/>
              <c:pt idx="0">
                <c:v>2023FY</c:v>
              </c:pt>
              <c:pt idx="1">
                <c:v>2024FY</c:v>
              </c:pt>
              <c:pt idx="2">
                <c:v>2025FY</c:v>
              </c:pt>
              <c:pt idx="3">
                <c:v>2026 jan–mai</c:v>
              </c:pt>
            </c:strLit>
          </c:cat>
          <c:val>
            <c:numLit>
              <c:formatCode>0.0</c:formatCode>
              <c:ptCount val="4"/>
              <c:pt idx="0">
                <c:v>27.907646005</c:v>
              </c:pt>
              <c:pt idx="1">
                <c:v>43.5623695</c:v>
              </c:pt>
              <c:pt idx="2">
                <c:v>51.792395853</c:v>
              </c:pt>
              <c:pt idx="3">
                <c:v>17.089791033</c:v>
              </c:pt>
            </c:numLit>
          </c:val>
        </c:ser>
        <c:ser>
          <c:idx val="4"/>
          <c:order val="4"/>
          <c:tx>
            <c:v>CRA</c:v>
          </c:tx>
          <c:spPr>
            <a:solidFill>
              <a:srgbClr val="D7DADD"/>
            </a:solidFill>
          </c:spPr>
          <c:cat>
            <c:strLit>
              <c:ptCount val="4"/>
              <c:pt idx="0">
                <c:v>2023FY</c:v>
              </c:pt>
              <c:pt idx="1">
                <c:v>2024FY</c:v>
              </c:pt>
              <c:pt idx="2">
                <c:v>2025FY</c:v>
              </c:pt>
              <c:pt idx="3">
                <c:v>2026 jan–mai</c:v>
              </c:pt>
            </c:strLit>
          </c:cat>
          <c:val>
            <c:numLit>
              <c:formatCode>0.0</c:formatCode>
              <c:ptCount val="4"/>
              <c:pt idx="0">
                <c:v>43.29453785729</c:v>
              </c:pt>
              <c:pt idx="1">
                <c:v>41.564214397</c:v>
              </c:pt>
              <c:pt idx="2">
                <c:v>46.16839518391086</c:v>
              </c:pt>
              <c:pt idx="3">
                <c:v>5.36268</c:v>
              </c:pt>
            </c:numLit>
          </c:val>
        </c:ser>
        <c:dLbls>
          <c:txPr>
            <a:bodyPr anchorCtr="1"/>
            <a:lstStyle/>
            <a:p>
              <a:pPr>
                <a:defRPr sz="540" b="1">
                  <a:solidFill>
                    <a:srgbClr val="151515"/>
                  </a:solidFill>
                </a:defRPr>
              </a:pPr>
            </a:p>
          </c:txPr>
          <c:dLblPos val="outEnd"/>
          <c:showLegendKey val="0"/>
          <c:showVal val="1"/>
          <c:showCatName val="0"/>
          <c:showSerName val="0"/>
          <c:showPercent val="0"/>
          <c:showBubbleSize val="0"/>
          <c:showLeaderLines val="0"/>
        </c:dLbls>
        <c:gapWidth val="34"/>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713">
                <a:solidFill>
                  <a:srgbClr val="73787D"/>
                </a:solidFill>
              </a:defRPr>
            </a:pPr>
          </a:p>
        </c:txPr>
        <c:crossAx val="48672768"/>
        <c:lblAlgn val="ctr"/>
        <c:lblOffset val="100"/>
        <c:noMultiLvlLbl val="0"/>
      </c:catAx>
      <c:valAx>
        <c:axId val="48672768"/>
        <c:scaling>
          <c:orientation val="minMax"/>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638">
                <a:solidFill>
                  <a:srgbClr val="8D9399"/>
                </a:solidFill>
              </a:defRPr>
            </a:pPr>
          </a:p>
        </c:txPr>
        <c:crossAx val="48650112"/>
        <c:crossBetween val="between"/>
      </c:valAx>
      <c:spPr>
        <a:noFill/>
        <a:ln w="0">
          <a:noFill/>
          <a:prstDash val="solid"/>
        </a:ln>
      </c:spPr>
    </c:plotArea>
    <c:legend>
      <c:legendPos val="b"/>
      <c:overlay val="0"/>
      <c:txPr>
        <a:bodyPr anchorCtr="1"/>
        <a:lstStyle/>
        <a:p>
          <a:pPr>
            <a:defRPr sz="690">
              <a:solidFill>
                <a:srgbClr val="73787D"/>
              </a:solidFill>
            </a:defRPr>
          </a:pPr>
        </a:p>
      </c:txPr>
    </c:legend>
    <c:plotVisOnly val="1"/>
  </c:chart>
  <c:spPr>
    <a:noFill/>
    <a:ln w="0">
      <a:noFill/>
      <a:prstDash val="solid"/>
    </a:ln>
  </c:spPr>
</c:chartSpace>
</file>

<file path=ppt/slides/charts/chart7.xml><?xml version="1.0" encoding="utf-8"?>
<c:chartSpace xmlns:a="http://schemas.openxmlformats.org/drawingml/2006/main" xmlns:c="http://schemas.openxmlformats.org/drawingml/2006/chart">
  <c:lang val="pt-BR"/>
  <c:chart>
    <c:plotArea>
      <c:lineChart>
        <c:grouping val="standard"/>
        <c:varyColors val="0"/>
        <c:ser>
          <c:idx val="0"/>
          <c:order val="0"/>
          <c:tx>
            <c:v>Contas</c:v>
          </c:tx>
          <c:spPr>
            <a:ln w="28575">
              <a:solidFill>
                <a:srgbClr val="EC7000"/>
              </a:solidFill>
              <a:prstDash val="solid"/>
            </a:ln>
          </c:spPr>
          <c:marker>
            <c:symbol val="none"/>
          </c:marker>
          <c:cat>
            <c:strLit>
              <c:ptCount val="12"/>
              <c:pt idx="0">
                <c:v>2015</c:v>
              </c:pt>
              <c:pt idx="1">
                <c:v/>
              </c:pt>
              <c:pt idx="2">
                <c:v/>
              </c:pt>
              <c:pt idx="3">
                <c:v>2018</c:v>
              </c:pt>
              <c:pt idx="4">
                <c:v/>
              </c:pt>
              <c:pt idx="5">
                <c:v/>
              </c:pt>
              <c:pt idx="6">
                <c:v>2021</c:v>
              </c:pt>
              <c:pt idx="7">
                <c:v/>
              </c:pt>
              <c:pt idx="8">
                <c:v/>
              </c:pt>
              <c:pt idx="9">
                <c:v>2024</c:v>
              </c:pt>
              <c:pt idx="10">
                <c:v/>
              </c:pt>
              <c:pt idx="11">
                <c:v>Jun/26</c:v>
              </c:pt>
            </c:strLit>
          </c:cat>
          <c:val>
            <c:numLit>
              <c:formatCode>0 "mil"</c:formatCode>
              <c:ptCount val="12"/>
              <c:pt idx="0">
                <c:v>12.508</c:v>
              </c:pt>
              <c:pt idx="1">
                <c:v>13.872</c:v>
              </c:pt>
              <c:pt idx="2">
                <c:v>16.049</c:v>
              </c:pt>
              <c:pt idx="3">
                <c:v>17.678</c:v>
              </c:pt>
              <c:pt idx="4">
                <c:v>25.781</c:v>
              </c:pt>
              <c:pt idx="5">
                <c:v>32.936</c:v>
              </c:pt>
              <c:pt idx="6">
                <c:v>31.626</c:v>
              </c:pt>
              <c:pt idx="7">
                <c:v>48.608</c:v>
              </c:pt>
              <c:pt idx="8">
                <c:v>61.735</c:v>
              </c:pt>
              <c:pt idx="9">
                <c:v>148.582</c:v>
              </c:pt>
              <c:pt idx="10">
                <c:v>387.159</c:v>
              </c:pt>
              <c:pt idx="11">
                <c:v>461.222</c:v>
              </c:pt>
            </c:numLit>
          </c:val>
        </c:ser>
        <c:axId val="48650112"/>
        <c:axId val="48672768"/>
      </c:lineChart>
      <c:catAx>
        <c:axId val="48650112"/>
        <c:scaling>
          <c:orientation val="minMax"/>
        </c:scaling>
        <c:delete val="0"/>
        <c:axPos val="b"/>
        <c:numFmt formatCode="General"/>
        <c:majorTickMark val="none"/>
        <c:minorTickMark val="none"/>
        <c:tickLblPos val="low"/>
        <c:spPr>
          <a:ln w="9525">
            <a:solidFill>
              <a:srgbClr val="D7DADD"/>
            </a:solidFill>
            <a:prstDash val="solid"/>
          </a:ln>
        </c:spPr>
        <c:txPr>
          <a:bodyPr anchorCtr="1"/>
          <a:lstStyle/>
          <a:p>
            <a:pPr>
              <a:defRPr sz="750">
                <a:solidFill>
                  <a:srgbClr val="73787D"/>
                </a:solidFill>
              </a:defRPr>
            </a:pPr>
          </a:p>
        </c:txPr>
        <c:crossAx val="48672768"/>
        <c:lblAlgn val="ctr"/>
        <c:lblOffset val="100"/>
        <c:noMultiLvlLbl val="0"/>
      </c:catAx>
      <c:valAx>
        <c:axId val="48672768"/>
        <c:scaling>
          <c:orientation val="minMax"/>
          <c:min val="0"/>
        </c:scaling>
        <c:delete val="0"/>
        <c:axPos val="l"/>
        <c:majorGridlines>
          <c:spPr>
            <a:ln w="9525">
              <a:solidFill>
                <a:srgbClr val="E7E9EB"/>
              </a:solidFill>
              <a:prstDash val="solid"/>
            </a:ln>
          </c:spPr>
        </c:majorGridlines>
        <c:numFmt formatCode="0 &quot;mil&quot;"/>
        <c:majorTickMark val="none"/>
        <c:minorTickMark val="none"/>
        <c:spPr>
          <a:ln w="9525">
            <a:solidFill>
              <a:srgbClr val="D7DADD"/>
            </a:solidFill>
            <a:prstDash val="solid"/>
          </a:ln>
        </c:spPr>
        <c:txPr>
          <a:bodyPr anchorCtr="1"/>
          <a:lstStyle/>
          <a:p>
            <a:pPr>
              <a:defRPr sz="750">
                <a:solidFill>
                  <a:srgbClr val="8D9399"/>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8.xml><?xml version="1.0" encoding="utf-8"?>
<c:chartSpace xmlns:a="http://schemas.openxmlformats.org/drawingml/2006/main" xmlns:c="http://schemas.openxmlformats.org/drawingml/2006/chart">
  <c:lang val="pt-BR"/>
  <c:chart>
    <c:plotArea>
      <c:barChart>
        <c:barDir val="col"/>
        <c:grouping val="stacked"/>
        <c:varyColors val="0"/>
        <c:ser>
          <c:idx val="0"/>
          <c:order val="0"/>
          <c:tx>
            <c:v>Profissional</c:v>
          </c:tx>
          <c:spPr>
            <a:solidFill>
              <a:srgbClr val="EC7000"/>
            </a:solidFill>
          </c:spPr>
          <c:cat>
            <c:strLit>
              <c:ptCount val="4"/>
              <c:pt idx="0">
                <c:v>2023FY</c:v>
              </c:pt>
              <c:pt idx="1">
                <c:v>2024FY</c:v>
              </c:pt>
              <c:pt idx="2">
                <c:v>2025FY</c:v>
              </c:pt>
              <c:pt idx="3">
                <c:v>Jan–jun/26</c:v>
              </c:pt>
            </c:strLit>
          </c:cat>
          <c:val>
            <c:numLit>
              <c:formatCode>0.0%</c:formatCode>
              <c:ptCount val="4"/>
              <c:pt idx="0">
                <c:v>0.9684547923581838</c:v>
              </c:pt>
              <c:pt idx="1">
                <c:v>0.9441348233073096</c:v>
              </c:pt>
              <c:pt idx="2">
                <c:v>0.9282664027264255</c:v>
              </c:pt>
              <c:pt idx="3">
                <c:v>0.9378646364463225</c:v>
              </c:pt>
            </c:numLit>
          </c:val>
        </c:ser>
        <c:ser>
          <c:idx val="1"/>
          <c:order val="1"/>
          <c:tx>
            <c:v>Qualificado</c:v>
          </c:tx>
          <c:spPr>
            <a:solidFill>
              <a:srgbClr val="30353A"/>
            </a:solidFill>
          </c:spPr>
          <c:cat>
            <c:strLit>
              <c:ptCount val="4"/>
              <c:pt idx="0">
                <c:v>2023FY</c:v>
              </c:pt>
              <c:pt idx="1">
                <c:v>2024FY</c:v>
              </c:pt>
              <c:pt idx="2">
                <c:v>2025FY</c:v>
              </c:pt>
              <c:pt idx="3">
                <c:v>Jan–jun/26</c:v>
              </c:pt>
            </c:strLit>
          </c:cat>
          <c:val>
            <c:numLit>
              <c:formatCode>0.0%</c:formatCode>
              <c:ptCount val="4"/>
              <c:pt idx="0">
                <c:v>0.020214315409922565</c:v>
              </c:pt>
              <c:pt idx="1">
                <c:v>0.0558127749786242</c:v>
              </c:pt>
              <c:pt idx="2">
                <c:v>0.06683286569927906</c:v>
              </c:pt>
              <c:pt idx="3">
                <c:v>0.057045463199635146</c:v>
              </c:pt>
            </c:numLit>
          </c:val>
        </c:ser>
        <c:ser>
          <c:idx val="2"/>
          <c:order val="2"/>
          <c:tx>
            <c:v>Geral</c:v>
          </c:tx>
          <c:spPr>
            <a:solidFill>
              <a:srgbClr val="73787D"/>
            </a:solidFill>
          </c:spPr>
          <c:cat>
            <c:strLit>
              <c:ptCount val="4"/>
              <c:pt idx="0">
                <c:v>2023FY</c:v>
              </c:pt>
              <c:pt idx="1">
                <c:v>2024FY</c:v>
              </c:pt>
              <c:pt idx="2">
                <c:v>2025FY</c:v>
              </c:pt>
              <c:pt idx="3">
                <c:v>Jan–jun/26</c:v>
              </c:pt>
            </c:strLit>
          </c:cat>
          <c:val>
            <c:numLit>
              <c:formatCode>0.0%</c:formatCode>
              <c:ptCount val="4"/>
              <c:pt idx="0">
                <c:v>0</c:v>
              </c:pt>
              <c:pt idx="1">
                <c:v>5.240171406626623E-05</c:v>
              </c:pt>
              <c:pt idx="2">
                <c:v>0</c:v>
              </c:pt>
              <c:pt idx="3">
                <c:v>0.005089900354042509</c:v>
              </c:pt>
            </c:numLit>
          </c:val>
        </c:ser>
        <c:ser>
          <c:idx val="3"/>
          <c:order val="3"/>
          <c:tx>
            <c:v>N/D</c:v>
          </c:tx>
          <c:spPr>
            <a:solidFill>
              <a:srgbClr val="E7E9EB"/>
            </a:solidFill>
          </c:spPr>
          <c:cat>
            <c:strLit>
              <c:ptCount val="4"/>
              <c:pt idx="0">
                <c:v>2023FY</c:v>
              </c:pt>
              <c:pt idx="1">
                <c:v>2024FY</c:v>
              </c:pt>
              <c:pt idx="2">
                <c:v>2025FY</c:v>
              </c:pt>
              <c:pt idx="3">
                <c:v>Jan–jun/26</c:v>
              </c:pt>
            </c:strLit>
          </c:cat>
          <c:val>
            <c:numLit>
              <c:formatCode>0.0%</c:formatCode>
              <c:ptCount val="4"/>
              <c:pt idx="0">
                <c:v>0.01133089223189357</c:v>
              </c:pt>
              <c:pt idx="1">
                <c:v>0</c:v>
              </c:pt>
              <c:pt idx="2">
                <c:v>0.004900731574295591</c:v>
              </c:pt>
              <c:pt idx="3">
                <c:v>0</c:v>
              </c:pt>
            </c:numLit>
          </c:val>
        </c:ser>
        <c:dLbls>
          <c:txPr>
            <a:bodyPr anchorCtr="1"/>
            <a:lstStyle/>
            <a:p>
              <a:pPr>
                <a:defRPr sz="563" b="1">
                  <a:solidFill>
                    <a:srgbClr val="FFFFFF"/>
                  </a:solidFill>
                </a:defRPr>
              </a:pPr>
            </a:p>
          </c:txPr>
          <c:dLblPos val="ctr"/>
          <c:showLegendKey val="0"/>
          <c:showVal val="1"/>
          <c:showCatName val="0"/>
          <c:showSerName val="0"/>
          <c:showPercent val="0"/>
          <c:showBubbleSize val="0"/>
          <c:showLeaderLines val="0"/>
        </c:dLbls>
        <c:gapWidth val="45"/>
        <c:overlap val="100"/>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675">
                <a:solidFill>
                  <a:srgbClr val="73787D"/>
                </a:solidFill>
              </a:defRPr>
            </a:pPr>
          </a:p>
        </c:txPr>
        <c:crossAx val="48672768"/>
        <c:lblAlgn val="ctr"/>
        <c:lblOffset val="100"/>
        <c:noMultiLvlLbl val="0"/>
      </c:catAx>
      <c:valAx>
        <c:axId val="48672768"/>
        <c:scaling>
          <c:orientation val="minMax"/>
          <c:max val="1"/>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638">
                <a:solidFill>
                  <a:srgbClr val="8D9399"/>
                </a:solidFill>
              </a:defRPr>
            </a:pPr>
          </a:p>
        </c:txPr>
        <c:crossAx val="48650112"/>
        <c:crossBetween val="between"/>
        <c:majorUnit val="0.25"/>
      </c:valAx>
      <c:spPr>
        <a:noFill/>
        <a:ln w="0">
          <a:noFill/>
          <a:prstDash val="solid"/>
        </a:ln>
      </c:spPr>
    </c:plotArea>
    <c:legend>
      <c:legendPos val="b"/>
      <c:overlay val="0"/>
      <c:txPr>
        <a:bodyPr anchorCtr="1"/>
        <a:lstStyle/>
        <a:p>
          <a:pPr>
            <a:defRPr sz="638">
              <a:solidFill>
                <a:srgbClr val="73787D"/>
              </a:solidFill>
            </a:defRPr>
          </a:pPr>
        </a:p>
      </c:txPr>
    </c:legend>
    <c:plotVisOnly val="1"/>
  </c:chart>
  <c:spPr>
    <a:noFill/>
    <a:ln w="0">
      <a:noFill/>
      <a:prstDash val="solid"/>
    </a:ln>
  </c:spPr>
</c:chartSpace>
</file>

<file path=ppt/slides/charts/chart9.xml><?xml version="1.0" encoding="utf-8"?>
<c:chartSpace xmlns:a="http://schemas.openxmlformats.org/drawingml/2006/main" xmlns:c="http://schemas.openxmlformats.org/drawingml/2006/chart">
  <c:lang val="pt-BR"/>
  <c:chart>
    <c:plotArea>
      <c:barChart>
        <c:barDir val="bar"/>
        <c:grouping val="clustered"/>
        <c:varyColors val="0"/>
        <c:ser>
          <c:idx val="0"/>
          <c:order val="0"/>
          <c:tx>
            <c:v>Contas</c:v>
          </c:tx>
          <c:spPr>
            <a:solidFill>
              <a:srgbClr val="30353A"/>
            </a:solidFill>
          </c:spPr>
          <c:dPt>
            <c:idx val="0"/>
            <c:invertIfNegative val="0"/>
            <c:spPr>
              <a:solidFill>
                <a:srgbClr val="EC7000"/>
              </a:solidFill>
            </c:spPr>
          </c:dPt>
          <c:dPt>
            <c:idx val="1"/>
            <c:invertIfNegative val="0"/>
            <c:spPr>
              <a:solidFill>
                <a:srgbClr val="30353A"/>
              </a:solidFill>
            </c:spPr>
          </c:dPt>
          <c:dPt>
            <c:idx val="2"/>
            <c:invertIfNegative val="0"/>
            <c:spPr>
              <a:solidFill>
                <a:srgbClr val="30353A"/>
              </a:solidFill>
            </c:spPr>
          </c:dPt>
          <c:dPt>
            <c:idx val="3"/>
            <c:invertIfNegative val="0"/>
            <c:spPr>
              <a:solidFill>
                <a:srgbClr val="30353A"/>
              </a:solidFill>
            </c:spPr>
          </c:dPt>
          <c:dPt>
            <c:idx val="4"/>
            <c:invertIfNegative val="0"/>
            <c:spPr>
              <a:solidFill>
                <a:srgbClr val="30353A"/>
              </a:solidFill>
            </c:spPr>
          </c:dPt>
          <c:cat>
            <c:strLit>
              <c:ptCount val="5"/>
              <c:pt idx="0">
                <c:v>Fundos</c:v>
              </c:pt>
              <c:pt idx="1">
                <c:v>Empresas e outros</c:v>
              </c:pt>
              <c:pt idx="2">
                <c:v>Pessoa física</c:v>
              </c:pt>
              <c:pt idx="3">
                <c:v>Instituições financeiras</c:v>
              </c:pt>
              <c:pt idx="4">
                <c:v>Previdência e seguros</c:v>
              </c:pt>
            </c:strLit>
          </c:cat>
          <c:val>
            <c:numLit>
              <c:formatCode>0.0%</c:formatCode>
              <c:ptCount val="5"/>
              <c:pt idx="0">
                <c:v>0.442722471315705</c:v>
              </c:pt>
              <c:pt idx="1">
                <c:v>0.25706375155020944</c:v>
              </c:pt>
              <c:pt idx="2">
                <c:v>0.20520653559627777</c:v>
              </c:pt>
              <c:pt idx="3">
                <c:v>0.09422238025445116</c:v>
              </c:pt>
              <c:pt idx="4">
                <c:v>0.0007848612833566045</c:v>
              </c:pt>
            </c:numLit>
          </c:val>
        </c:ser>
        <c:dLbls>
          <c:txPr>
            <a:bodyPr anchorCtr="1"/>
            <a:lstStyle/>
            <a:p>
              <a:pPr>
                <a:defRPr sz="825" b="1">
                  <a:solidFill>
                    <a:srgbClr val="151515"/>
                  </a:solidFill>
                </a:defRPr>
              </a:pPr>
            </a:p>
          </c:txPr>
          <c:dLblPos val="outEnd"/>
          <c:showLegendKey val="0"/>
          <c:showVal val="1"/>
          <c:showCatName val="0"/>
          <c:showSerName val="0"/>
          <c:showPercent val="0"/>
          <c:showBubbleSize val="0"/>
          <c:showLeaderLines val="0"/>
        </c:dLbls>
        <c:gapWidth val="42"/>
        <c:axId val="48650112"/>
        <c:axId val="48672768"/>
      </c:barChart>
      <c:catAx>
        <c:axId val="48650112"/>
        <c:scaling>
          <c:orientation val="minMax"/>
        </c:scaling>
        <c:delete val="0"/>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825">
                <a:solidFill>
                  <a:srgbClr val="73787D"/>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10.xml><?xml version="1.0" encoding="utf-8"?>
<c:chartSpace xmlns:a="http://schemas.openxmlformats.org/drawingml/2006/main" xmlns:c="http://schemas.openxmlformats.org/drawingml/2006/chart">
  <c:lang val="pt-BR"/>
  <c:chart>
    <c:plotArea>
      <c:lineChart>
        <c:grouping val="standard"/>
        <c:ser>
          <c:idx val="0"/>
          <c:order val="0"/>
          <c:tx>
            <c:v>Dez/23</c:v>
          </c:tx>
          <c:spPr>
            <a:ln w="28575">
              <a:solidFill>
                <a:srgbClr val="73787D"/>
              </a:solidFill>
              <a:prstDash val="solid"/>
            </a:ln>
          </c:spPr>
          <c:marker>
            <c:symbol val="none"/>
          </c:marker>
          <c:cat>
            <c:strLit>
              <c:ptCount val="1"/>
              <c:pt idx="0">
                <c:v/>
              </c:pt>
            </c:strLit>
          </c:cat>
          <c:val>
            <c:numLit>
              <c:formatCode>General</c:formatCode>
              <c:ptCount val="1"/>
              <c:pt idx="0">
                <c:v>0</c:v>
              </c:pt>
            </c:numLit>
          </c:val>
        </c:ser>
        <c:ser>
          <c:idx val="1"/>
          <c:order val="1"/>
          <c:tx>
            <c:v>Jun/26</c:v>
          </c:tx>
          <c:spPr>
            <a:ln w="28575">
              <a:solidFill>
                <a:srgbClr val="EC7000"/>
              </a:solidFill>
              <a:prstDash val="solid"/>
            </a:ln>
          </c:spPr>
          <c:marker>
            <c:symbol val="none"/>
          </c:marker>
          <c:cat>
            <c:strLit>
              <c:ptCount val="1"/>
              <c:pt idx="0">
                <c:v/>
              </c:pt>
            </c:strLit>
          </c:cat>
          <c:val>
            <c:numLit>
              <c:formatCode>General</c:formatCode>
              <c:ptCount val="1"/>
              <c:pt idx="0">
                <c:v>0</c:v>
              </c:pt>
            </c:numLit>
          </c:val>
        </c:ser>
        <c:axId val="48650112"/>
        <c:axId val="48672768"/>
      </c:lineChart>
      <c:catAx>
        <c:axId val="48650112"/>
        <c:scaling>
          <c:orientation val="minMax"/>
        </c:scaling>
        <c:delete val="0"/>
        <c:axPos val="b"/>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1"/>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50112"/>
        <c:crossBetween val="between"/>
      </c:valAx>
      <c:spPr>
        <a:noFill/>
        <a:ln w="0">
          <a:noFill/>
          <a:prstDash val="solid"/>
        </a:ln>
      </c:spPr>
    </c:plotArea>
    <c:legend>
      <c:legendPos val="b"/>
      <c:overlay val="0"/>
      <c:txPr>
        <a:bodyPr anchorCtr="1"/>
        <a:lstStyle/>
        <a:p>
          <a:pPr>
            <a:defRPr sz="788">
              <a:solidFill>
                <a:srgbClr val="73787D"/>
              </a:solidFill>
            </a:defRPr>
          </a:pPr>
        </a:p>
      </c:txPr>
    </c:legend>
    <c:plotVisOnly val="1"/>
  </c:chart>
  <c:spPr>
    <a:noFill/>
    <a:ln w="0">
      <a:noFill/>
      <a:prstDash val="solid"/>
    </a:ln>
  </c:spPr>
</c:chartSpace>
</file>

<file path=ppt/slides/charts/chart11.xml><?xml version="1.0" encoding="utf-8"?>
<c:chartSpace xmlns:a="http://schemas.openxmlformats.org/drawingml/2006/main" xmlns:c="http://schemas.openxmlformats.org/drawingml/2006/chart">
  <c:lang val="pt-BR"/>
  <c:chart>
    <c:plotArea>
      <c:barChart>
        <c:barDir val="col"/>
        <c:grouping val="clustered"/>
        <c:varyColors val="0"/>
        <c:ser>
          <c:idx val="0"/>
          <c:order val="0"/>
          <c:tx>
            <c:v>Dez/23</c:v>
          </c:tx>
          <c:spPr>
            <a:solidFill>
              <a:srgbClr val="73787D"/>
            </a:solidFill>
          </c:spPr>
          <c:cat>
            <c:strLit>
              <c:ptCount val="6"/>
              <c:pt idx="0">
                <c:v>0</c:v>
              </c:pt>
              <c:pt idx="1">
                <c:v>1</c:v>
              </c:pt>
              <c:pt idx="2">
                <c:v>2–3</c:v>
              </c:pt>
              <c:pt idx="3">
                <c:v>4–10</c:v>
              </c:pt>
              <c:pt idx="4">
                <c:v>11–50</c:v>
              </c:pt>
              <c:pt idx="5">
                <c:v>51+</c:v>
              </c:pt>
            </c:strLit>
          </c:cat>
          <c:val>
            <c:numLit>
              <c:formatCode>0</c:formatCode>
              <c:ptCount val="6"/>
              <c:pt idx="0">
                <c:v>3</c:v>
              </c:pt>
              <c:pt idx="1">
                <c:v>106</c:v>
              </c:pt>
              <c:pt idx="2">
                <c:v>104</c:v>
              </c:pt>
              <c:pt idx="3">
                <c:v>71</c:v>
              </c:pt>
              <c:pt idx="4">
                <c:v>50</c:v>
              </c:pt>
              <c:pt idx="5">
                <c:v>75</c:v>
              </c:pt>
            </c:numLit>
          </c:val>
        </c:ser>
        <c:ser>
          <c:idx val="1"/>
          <c:order val="1"/>
          <c:tx>
            <c:v>Jun/26</c:v>
          </c:tx>
          <c:spPr>
            <a:solidFill>
              <a:srgbClr val="EC7000"/>
            </a:solidFill>
          </c:spPr>
          <c:cat>
            <c:strLit>
              <c:ptCount val="6"/>
              <c:pt idx="0">
                <c:v>0</c:v>
              </c:pt>
              <c:pt idx="1">
                <c:v>1</c:v>
              </c:pt>
              <c:pt idx="2">
                <c:v>2–3</c:v>
              </c:pt>
              <c:pt idx="3">
                <c:v>4–10</c:v>
              </c:pt>
              <c:pt idx="4">
                <c:v>11–50</c:v>
              </c:pt>
              <c:pt idx="5">
                <c:v>51+</c:v>
              </c:pt>
            </c:strLit>
          </c:cat>
          <c:val>
            <c:numLit>
              <c:formatCode>0</c:formatCode>
              <c:ptCount val="6"/>
              <c:pt idx="0">
                <c:v>2</c:v>
              </c:pt>
              <c:pt idx="1">
                <c:v>180</c:v>
              </c:pt>
              <c:pt idx="2">
                <c:v>123</c:v>
              </c:pt>
              <c:pt idx="3">
                <c:v>153</c:v>
              </c:pt>
              <c:pt idx="4">
                <c:v>128</c:v>
              </c:pt>
              <c:pt idx="5">
                <c:v>198</c:v>
              </c:pt>
            </c:numLit>
          </c:val>
        </c:ser>
        <c:dLbls>
          <c:txPr>
            <a:bodyPr anchorCtr="1"/>
            <a:lstStyle/>
            <a:p>
              <a:pPr>
                <a:defRPr sz="638" b="1">
                  <a:solidFill>
                    <a:srgbClr val="151515"/>
                  </a:solidFill>
                </a:defRPr>
              </a:pPr>
            </a:p>
          </c:txPr>
          <c:dLblPos val="outEnd"/>
          <c:showLegendKey val="0"/>
          <c:showVal val="1"/>
          <c:showCatName val="0"/>
          <c:showSerName val="0"/>
          <c:showPercent val="0"/>
          <c:showBubbleSize val="0"/>
          <c:showLeaderLines val="0"/>
        </c:dLbls>
        <c:gapWidth val="35"/>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788">
                <a:solidFill>
                  <a:srgbClr val="73787D"/>
                </a:solidFill>
              </a:defRPr>
            </a:pPr>
          </a:p>
        </c:txPr>
        <c:crossAx val="48672768"/>
        <c:lblAlgn val="ctr"/>
        <c:lblOffset val="100"/>
        <c:noMultiLvlLbl val="0"/>
      </c:catAx>
      <c:valAx>
        <c:axId val="48672768"/>
        <c:scaling>
          <c:orientation val="minMax"/>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713">
                <a:solidFill>
                  <a:srgbClr val="8D9399"/>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12.xml><?xml version="1.0" encoding="utf-8"?>
<c:chartSpace xmlns:a="http://schemas.openxmlformats.org/drawingml/2006/main" xmlns:c="http://schemas.openxmlformats.org/drawingml/2006/chart">
  <c:lang val="pt-BR"/>
  <c:chart>
    <c:plotArea>
      <c:barChart>
        <c:barDir val="col"/>
        <c:grouping val="clustered"/>
        <c:varyColors val="0"/>
        <c:ser>
          <c:idx val="0"/>
          <c:order val="0"/>
          <c:tx>
            <c:v>Dez/23</c:v>
          </c:tx>
          <c:spPr>
            <a:solidFill>
              <a:srgbClr val="73787D"/>
            </a:solidFill>
          </c:spPr>
          <c:cat>
            <c:strLit>
              <c:ptCount val="6"/>
              <c:pt idx="0">
                <c:v>0</c:v>
              </c:pt>
              <c:pt idx="1">
                <c:v>1</c:v>
              </c:pt>
              <c:pt idx="2">
                <c:v>2–3</c:v>
              </c:pt>
              <c:pt idx="3">
                <c:v>4–10</c:v>
              </c:pt>
              <c:pt idx="4">
                <c:v>11–50</c:v>
              </c:pt>
              <c:pt idx="5">
                <c:v>51+</c:v>
              </c:pt>
            </c:strLit>
          </c:cat>
          <c:val>
            <c:numLit>
              <c:formatCode>0</c:formatCode>
              <c:ptCount val="6"/>
              <c:pt idx="0">
                <c:v>4.08011139709</c:v>
              </c:pt>
              <c:pt idx="1">
                <c:v>107.00408055976</c:v>
              </c:pt>
              <c:pt idx="2">
                <c:v>65.98513346480999</c:v>
              </c:pt>
              <c:pt idx="3">
                <c:v>87.13513028292</c:v>
              </c:pt>
              <c:pt idx="4">
                <c:v>27.89580794356</c:v>
              </c:pt>
              <c:pt idx="5">
                <c:v>84.79440519127</c:v>
              </c:pt>
            </c:numLit>
          </c:val>
        </c:ser>
        <c:ser>
          <c:idx val="1"/>
          <c:order val="1"/>
          <c:tx>
            <c:v>Jun/26</c:v>
          </c:tx>
          <c:spPr>
            <a:solidFill>
              <a:srgbClr val="EC7000"/>
            </a:solidFill>
          </c:spPr>
          <c:cat>
            <c:strLit>
              <c:ptCount val="6"/>
              <c:pt idx="0">
                <c:v>0</c:v>
              </c:pt>
              <c:pt idx="1">
                <c:v>1</c:v>
              </c:pt>
              <c:pt idx="2">
                <c:v>2–3</c:v>
              </c:pt>
              <c:pt idx="3">
                <c:v>4–10</c:v>
              </c:pt>
              <c:pt idx="4">
                <c:v>11–50</c:v>
              </c:pt>
              <c:pt idx="5">
                <c:v>51+</c:v>
              </c:pt>
            </c:strLit>
          </c:cat>
          <c:val>
            <c:numLit>
              <c:formatCode>0</c:formatCode>
              <c:ptCount val="6"/>
              <c:pt idx="0">
                <c:v>2.04153385837</c:v>
              </c:pt>
              <c:pt idx="1">
                <c:v>174.97916627078</c:v>
              </c:pt>
              <c:pt idx="2">
                <c:v>85.07690883193</c:v>
              </c:pt>
              <c:pt idx="3">
                <c:v>174.00964091183</c:v>
              </c:pt>
              <c:pt idx="4">
                <c:v>80.62114320047</c:v>
              </c:pt>
              <c:pt idx="5">
                <c:v>216.35550333</c:v>
              </c:pt>
            </c:numLit>
          </c:val>
        </c:ser>
        <c:dLbls>
          <c:txPr>
            <a:bodyPr anchorCtr="1"/>
            <a:lstStyle/>
            <a:p>
              <a:pPr>
                <a:defRPr sz="638" b="1">
                  <a:solidFill>
                    <a:srgbClr val="151515"/>
                  </a:solidFill>
                </a:defRPr>
              </a:pPr>
            </a:p>
          </c:txPr>
          <c:dLblPos val="outEnd"/>
          <c:showLegendKey val="0"/>
          <c:showVal val="1"/>
          <c:showCatName val="0"/>
          <c:showSerName val="0"/>
          <c:showPercent val="0"/>
          <c:showBubbleSize val="0"/>
          <c:showLeaderLines val="0"/>
        </c:dLbls>
        <c:gapWidth val="35"/>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788">
                <a:solidFill>
                  <a:srgbClr val="73787D"/>
                </a:solidFill>
              </a:defRPr>
            </a:pPr>
          </a:p>
        </c:txPr>
        <c:crossAx val="48672768"/>
        <c:lblAlgn val="ctr"/>
        <c:lblOffset val="100"/>
        <c:noMultiLvlLbl val="0"/>
      </c:catAx>
      <c:valAx>
        <c:axId val="48672768"/>
        <c:scaling>
          <c:orientation val="minMax"/>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713">
                <a:solidFill>
                  <a:srgbClr val="8D9399"/>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13.xml><?xml version="1.0" encoding="utf-8"?>
<c:chartSpace xmlns:a="http://schemas.openxmlformats.org/drawingml/2006/main" xmlns:c="http://schemas.openxmlformats.org/drawingml/2006/chart">
  <c:lang val="pt-BR"/>
  <c:chart>
    <c:plotArea>
      <c:barChart>
        <c:barDir val="col"/>
        <c:grouping val="clustered"/>
        <c:varyColors val="0"/>
        <c:ser>
          <c:idx val="0"/>
          <c:order val="0"/>
          <c:tx>
            <c:v>Dez/23</c:v>
          </c:tx>
          <c:spPr>
            <a:solidFill>
              <a:srgbClr val="73787D"/>
            </a:solidFill>
          </c:spPr>
          <c:cat>
            <c:strLit>
              <c:ptCount val="6"/>
              <c:pt idx="0">
                <c:v>0</c:v>
              </c:pt>
              <c:pt idx="1">
                <c:v>1</c:v>
              </c:pt>
              <c:pt idx="2">
                <c:v>2–3</c:v>
              </c:pt>
              <c:pt idx="3">
                <c:v>4–10</c:v>
              </c:pt>
              <c:pt idx="4">
                <c:v>11–50</c:v>
              </c:pt>
              <c:pt idx="5">
                <c:v>51+</c:v>
              </c:pt>
            </c:strLit>
          </c:cat>
          <c:val>
            <c:numLit>
              <c:formatCode>0%</c:formatCode>
              <c:ptCount val="6"/>
              <c:pt idx="0">
                <c:v>0.007334963325183374</c:v>
              </c:pt>
              <c:pt idx="1">
                <c:v>0.2591687041564792</c:v>
              </c:pt>
              <c:pt idx="2">
                <c:v>0.254278728606357</c:v>
              </c:pt>
              <c:pt idx="3">
                <c:v>0.17359413202933985</c:v>
              </c:pt>
              <c:pt idx="4">
                <c:v>0.12224938875305623</c:v>
              </c:pt>
              <c:pt idx="5">
                <c:v>0.18337408312958436</c:v>
              </c:pt>
            </c:numLit>
          </c:val>
        </c:ser>
        <c:ser>
          <c:idx val="1"/>
          <c:order val="1"/>
          <c:tx>
            <c:v>Jun/26</c:v>
          </c:tx>
          <c:spPr>
            <a:solidFill>
              <a:srgbClr val="EC7000"/>
            </a:solidFill>
          </c:spPr>
          <c:cat>
            <c:strLit>
              <c:ptCount val="6"/>
              <c:pt idx="0">
                <c:v>0</c:v>
              </c:pt>
              <c:pt idx="1">
                <c:v>1</c:v>
              </c:pt>
              <c:pt idx="2">
                <c:v>2–3</c:v>
              </c:pt>
              <c:pt idx="3">
                <c:v>4–10</c:v>
              </c:pt>
              <c:pt idx="4">
                <c:v>11–50</c:v>
              </c:pt>
              <c:pt idx="5">
                <c:v>51+</c:v>
              </c:pt>
            </c:strLit>
          </c:cat>
          <c:val>
            <c:numLit>
              <c:formatCode>0%</c:formatCode>
              <c:ptCount val="6"/>
              <c:pt idx="0">
                <c:v>0.002551020408163265</c:v>
              </c:pt>
              <c:pt idx="1">
                <c:v>0.22959183673469388</c:v>
              </c:pt>
              <c:pt idx="2">
                <c:v>0.1568877551020408</c:v>
              </c:pt>
              <c:pt idx="3">
                <c:v>0.1951530612244898</c:v>
              </c:pt>
              <c:pt idx="4">
                <c:v>0.16326530612244897</c:v>
              </c:pt>
              <c:pt idx="5">
                <c:v>0.25255102040816324</c:v>
              </c:pt>
            </c:numLit>
          </c:val>
        </c:ser>
        <c:dLbls>
          <c:txPr>
            <a:bodyPr anchorCtr="1"/>
            <a:lstStyle/>
            <a:p>
              <a:pPr>
                <a:defRPr sz="638" b="1">
                  <a:solidFill>
                    <a:srgbClr val="151515"/>
                  </a:solidFill>
                </a:defRPr>
              </a:pPr>
            </a:p>
          </c:txPr>
          <c:dLblPos val="outEnd"/>
          <c:showLegendKey val="0"/>
          <c:showVal val="1"/>
          <c:showCatName val="0"/>
          <c:showSerName val="0"/>
          <c:showPercent val="0"/>
          <c:showBubbleSize val="0"/>
          <c:showLeaderLines val="0"/>
        </c:dLbls>
        <c:gapWidth val="35"/>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788">
                <a:solidFill>
                  <a:srgbClr val="73787D"/>
                </a:solidFill>
              </a:defRPr>
            </a:pPr>
          </a:p>
        </c:txPr>
        <c:crossAx val="48672768"/>
        <c:lblAlgn val="ctr"/>
        <c:lblOffset val="100"/>
        <c:noMultiLvlLbl val="0"/>
      </c:catAx>
      <c:valAx>
        <c:axId val="48672768"/>
        <c:scaling>
          <c:orientation val="minMax"/>
          <c:max val="0.35"/>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713">
                <a:solidFill>
                  <a:srgbClr val="8D9399"/>
                </a:solidFill>
              </a:defRPr>
            </a:pPr>
          </a:p>
        </c:txPr>
        <c:crossAx val="48650112"/>
        <c:crossBetween val="between"/>
        <c:majorUnit val="0.1"/>
      </c:valAx>
      <c:spPr>
        <a:noFill/>
        <a:ln w="0">
          <a:noFill/>
          <a:prstDash val="solid"/>
        </a:ln>
      </c:spPr>
    </c:plotArea>
    <c:plotVisOnly val="1"/>
  </c:chart>
  <c:spPr>
    <a:noFill/>
    <a:ln w="0">
      <a:noFill/>
      <a:prstDash val="solid"/>
    </a:ln>
  </c:spPr>
</c:chartSpace>
</file>

<file path=ppt/slides/charts/chart14.xml><?xml version="1.0" encoding="utf-8"?>
<c:chartSpace xmlns:a="http://schemas.openxmlformats.org/drawingml/2006/main" xmlns:c="http://schemas.openxmlformats.org/drawingml/2006/chart">
  <c:lang val="pt-BR"/>
  <c:chart>
    <c:plotArea>
      <c:barChart>
        <c:barDir val="col"/>
        <c:grouping val="clustered"/>
        <c:varyColors val="0"/>
        <c:ser>
          <c:idx val="0"/>
          <c:order val="0"/>
          <c:tx>
            <c:v>Dez/23</c:v>
          </c:tx>
          <c:spPr>
            <a:solidFill>
              <a:srgbClr val="73787D"/>
            </a:solidFill>
          </c:spPr>
          <c:cat>
            <c:strLit>
              <c:ptCount val="6"/>
              <c:pt idx="0">
                <c:v>0</c:v>
              </c:pt>
              <c:pt idx="1">
                <c:v>1</c:v>
              </c:pt>
              <c:pt idx="2">
                <c:v>2–3</c:v>
              </c:pt>
              <c:pt idx="3">
                <c:v>4–10</c:v>
              </c:pt>
              <c:pt idx="4">
                <c:v>11–50</c:v>
              </c:pt>
              <c:pt idx="5">
                <c:v>51+</c:v>
              </c:pt>
            </c:strLit>
          </c:cat>
          <c:val>
            <c:numLit>
              <c:formatCode>0%</c:formatCode>
              <c:ptCount val="6"/>
              <c:pt idx="0">
                <c:v>0.010825601247303616</c:v>
              </c:pt>
              <c:pt idx="1">
                <c:v>0.28390977481656304</c:v>
              </c:pt>
              <c:pt idx="2">
                <c:v>0.1750757941681723</c:v>
              </c:pt>
              <c:pt idx="3">
                <c:v>0.23119226003179993</c:v>
              </c:pt>
              <c:pt idx="4">
                <c:v>0.07401486476171423</c:v>
              </c:pt>
              <c:pt idx="5">
                <c:v>0.22498170497444692</c:v>
              </c:pt>
            </c:numLit>
          </c:val>
        </c:ser>
        <c:ser>
          <c:idx val="1"/>
          <c:order val="1"/>
          <c:tx>
            <c:v>Jun/26</c:v>
          </c:tx>
          <c:spPr>
            <a:solidFill>
              <a:srgbClr val="EC7000"/>
            </a:solidFill>
          </c:spPr>
          <c:cat>
            <c:strLit>
              <c:ptCount val="6"/>
              <c:pt idx="0">
                <c:v>0</c:v>
              </c:pt>
              <c:pt idx="1">
                <c:v>1</c:v>
              </c:pt>
              <c:pt idx="2">
                <c:v>2–3</c:v>
              </c:pt>
              <c:pt idx="3">
                <c:v>4–10</c:v>
              </c:pt>
              <c:pt idx="4">
                <c:v>11–50</c:v>
              </c:pt>
              <c:pt idx="5">
                <c:v>51+</c:v>
              </c:pt>
            </c:strLit>
          </c:cat>
          <c:val>
            <c:numLit>
              <c:formatCode>0%</c:formatCode>
              <c:ptCount val="6"/>
              <c:pt idx="0">
                <c:v>0.002784857051677267</c:v>
              </c:pt>
              <c:pt idx="1">
                <c:v>0.23868914203306626</c:v>
              </c:pt>
              <c:pt idx="2">
                <c:v>0.11605344115363893</c:v>
              </c:pt>
              <c:pt idx="3">
                <c:v>0.23736661215114327</c:v>
              </c:pt>
              <c:pt idx="4">
                <c:v>0.10997532969419936</c:v>
              </c:pt>
              <c:pt idx="5">
                <c:v>0.29513061791627493</c:v>
              </c:pt>
            </c:numLit>
          </c:val>
        </c:ser>
        <c:dLbls>
          <c:txPr>
            <a:bodyPr anchorCtr="1"/>
            <a:lstStyle/>
            <a:p>
              <a:pPr>
                <a:defRPr sz="638" b="1">
                  <a:solidFill>
                    <a:srgbClr val="151515"/>
                  </a:solidFill>
                </a:defRPr>
              </a:pPr>
            </a:p>
          </c:txPr>
          <c:dLblPos val="outEnd"/>
          <c:showLegendKey val="0"/>
          <c:showVal val="1"/>
          <c:showCatName val="0"/>
          <c:showSerName val="0"/>
          <c:showPercent val="0"/>
          <c:showBubbleSize val="0"/>
          <c:showLeaderLines val="0"/>
        </c:dLbls>
        <c:gapWidth val="35"/>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788">
                <a:solidFill>
                  <a:srgbClr val="73787D"/>
                </a:solidFill>
              </a:defRPr>
            </a:pPr>
          </a:p>
        </c:txPr>
        <c:crossAx val="48672768"/>
        <c:lblAlgn val="ctr"/>
        <c:lblOffset val="100"/>
        <c:noMultiLvlLbl val="0"/>
      </c:catAx>
      <c:valAx>
        <c:axId val="48672768"/>
        <c:scaling>
          <c:orientation val="minMax"/>
          <c:max val="0.35"/>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713">
                <a:solidFill>
                  <a:srgbClr val="8D9399"/>
                </a:solidFill>
              </a:defRPr>
            </a:pPr>
          </a:p>
        </c:txPr>
        <c:crossAx val="48650112"/>
        <c:crossBetween val="between"/>
        <c:majorUnit val="0.1"/>
      </c:valAx>
      <c:spPr>
        <a:noFill/>
        <a:ln w="0">
          <a:noFill/>
          <a:prstDash val="solid"/>
        </a:ln>
      </c:spPr>
    </c:plotArea>
    <c:plotVisOnly val="1"/>
  </c:chart>
  <c:spPr>
    <a:noFill/>
    <a:ln w="0">
      <a:noFill/>
      <a:prstDash val="solid"/>
    </a:ln>
  </c:spPr>
</c:chartSpace>
</file>

<file path=ppt/slides/charts/chart15.xml><?xml version="1.0" encoding="utf-8"?>
<c:chartSpace xmlns:a="http://schemas.openxmlformats.org/drawingml/2006/main" xmlns:c="http://schemas.openxmlformats.org/drawingml/2006/chart">
  <c:lang val="pt-BR"/>
  <c:chart>
    <c:plotArea>
      <c:barChart>
        <c:barDir val="col"/>
        <c:grouping val="stacked"/>
        <c:varyColors val="0"/>
        <c:ser>
          <c:idx val="0"/>
          <c:order val="0"/>
          <c:tx>
            <c:v>Fomento Mercantil</c:v>
          </c:tx>
          <c:spPr>
            <a:solidFill>
              <a:srgbClr val="73787D"/>
            </a:solidFill>
          </c:spPr>
          <c:cat>
            <c:strLit>
              <c:ptCount val="4"/>
              <c:pt idx="0">
                <c:v>dez/23</c:v>
              </c:pt>
              <c:pt idx="1">
                <c:v>dez/24</c:v>
              </c:pt>
              <c:pt idx="2">
                <c:v>dez/25</c:v>
              </c:pt>
              <c:pt idx="3">
                <c:v>jun/26</c:v>
              </c:pt>
            </c:strLit>
          </c:cat>
          <c:val>
            <c:numLit>
              <c:formatCode>0.0</c:formatCode>
              <c:ptCount val="4"/>
              <c:pt idx="0">
                <c:v>50.88905009467</c:v>
              </c:pt>
              <c:pt idx="1">
                <c:v>65.33776656658</c:v>
              </c:pt>
              <c:pt idx="2">
                <c:v>81.70753862344999</c:v>
              </c:pt>
              <c:pt idx="3">
                <c:v>86.65656370392</c:v>
              </c:pt>
            </c:numLit>
          </c:val>
        </c:ser>
        <c:ser>
          <c:idx val="1"/>
          <c:order val="1"/>
          <c:tx>
            <c:v>Agro, Indústria e Comércio</c:v>
          </c:tx>
          <c:spPr>
            <a:solidFill>
              <a:srgbClr val="8D9399"/>
            </a:solidFill>
          </c:spPr>
          <c:cat>
            <c:strLit>
              <c:ptCount val="4"/>
              <c:pt idx="0">
                <c:v>dez/23</c:v>
              </c:pt>
              <c:pt idx="1">
                <c:v>dez/24</c:v>
              </c:pt>
              <c:pt idx="2">
                <c:v>dez/25</c:v>
              </c:pt>
              <c:pt idx="3">
                <c:v>jun/26</c:v>
              </c:pt>
            </c:strLit>
          </c:cat>
          <c:val>
            <c:numLit>
              <c:formatCode>0.0</c:formatCode>
              <c:ptCount val="4"/>
              <c:pt idx="0">
                <c:v>119.06650336766</c:v>
              </c:pt>
              <c:pt idx="1">
                <c:v>187.83835901057998</c:v>
              </c:pt>
              <c:pt idx="2">
                <c:v>166.6673864538</c:v>
              </c:pt>
              <c:pt idx="3">
                <c:v>189.2379048169</c:v>
              </c:pt>
            </c:numLit>
          </c:val>
        </c:ser>
        <c:ser>
          <c:idx val="2"/>
          <c:order val="2"/>
          <c:tx>
            <c:v>Financeiro</c:v>
          </c:tx>
          <c:spPr>
            <a:solidFill>
              <a:srgbClr val="EC7000"/>
            </a:solidFill>
          </c:spPr>
          <c:cat>
            <c:strLit>
              <c:ptCount val="4"/>
              <c:pt idx="0">
                <c:v>dez/23</c:v>
              </c:pt>
              <c:pt idx="1">
                <c:v>dez/24</c:v>
              </c:pt>
              <c:pt idx="2">
                <c:v>dez/25</c:v>
              </c:pt>
              <c:pt idx="3">
                <c:v>jun/26</c:v>
              </c:pt>
            </c:strLit>
          </c:cat>
          <c:val>
            <c:numLit>
              <c:formatCode>0.0</c:formatCode>
              <c:ptCount val="4"/>
              <c:pt idx="0">
                <c:v>119.92760539484</c:v>
              </c:pt>
              <c:pt idx="1">
                <c:v>168.15979170238</c:v>
              </c:pt>
              <c:pt idx="2">
                <c:v>213.62236975357</c:v>
              </c:pt>
              <c:pt idx="3">
                <c:v>248.7758374328</c:v>
              </c:pt>
            </c:numLit>
          </c:val>
        </c:ser>
        <c:ser>
          <c:idx val="3"/>
          <c:order val="3"/>
          <c:tx>
            <c:v>Outros</c:v>
          </c:tx>
          <c:spPr>
            <a:solidFill>
              <a:srgbClr val="D7DADD"/>
            </a:solidFill>
          </c:spPr>
          <c:cat>
            <c:strLit>
              <c:ptCount val="4"/>
              <c:pt idx="0">
                <c:v>dez/23</c:v>
              </c:pt>
              <c:pt idx="1">
                <c:v>dez/24</c:v>
              </c:pt>
              <c:pt idx="2">
                <c:v>dez/25</c:v>
              </c:pt>
              <c:pt idx="3">
                <c:v>jun/26</c:v>
              </c:pt>
            </c:strLit>
          </c:cat>
          <c:val>
            <c:numLit>
              <c:formatCode>0.0</c:formatCode>
              <c:ptCount val="4"/>
              <c:pt idx="0">
                <c:v>171.87314443695</c:v>
              </c:pt>
              <c:pt idx="1">
                <c:v>261.56111636791</c:v>
              </c:pt>
              <c:pt idx="2">
                <c:v>371.220026734</c:v>
              </c:pt>
              <c:pt idx="3">
                <c:v>355.70504054869</c:v>
              </c:pt>
            </c:numLit>
          </c:val>
        </c:ser>
        <c:dLbls>
          <c:txPr>
            <a:bodyPr anchorCtr="1"/>
            <a:lstStyle/>
            <a:p>
              <a:pPr>
                <a:defRPr sz="713" b="1">
                  <a:solidFill>
                    <a:srgbClr val="151515"/>
                  </a:solidFill>
                </a:defRPr>
              </a:pPr>
            </a:p>
          </c:txPr>
          <c:dLblPos val="ctr"/>
          <c:showLegendKey val="0"/>
          <c:showVal val="1"/>
          <c:showCatName val="0"/>
          <c:showSerName val="0"/>
          <c:showPercent val="0"/>
          <c:showBubbleSize val="0"/>
          <c:showLeaderLines val="0"/>
        </c:dLbls>
        <c:gapWidth val="52"/>
        <c:overlap val="100"/>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863">
                <a:solidFill>
                  <a:srgbClr val="73787D"/>
                </a:solidFill>
              </a:defRPr>
            </a:pPr>
          </a:p>
        </c:txPr>
        <c:crossAx val="48672768"/>
        <c:lblAlgn val="ctr"/>
        <c:lblOffset val="100"/>
        <c:noMultiLvlLbl val="0"/>
      </c:catAx>
      <c:valAx>
        <c:axId val="48672768"/>
        <c:scaling>
          <c:orientation val="minMax"/>
          <c:max val="900"/>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788">
                <a:solidFill>
                  <a:srgbClr val="8D9399"/>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16.xml><?xml version="1.0" encoding="utf-8"?>
<c:chartSpace xmlns:a="http://schemas.openxmlformats.org/drawingml/2006/main" xmlns:c="http://schemas.openxmlformats.org/drawingml/2006/chart">
  <c:lang val="pt-BR"/>
  <c:chart>
    <c:plotArea>
      <c:barChart>
        <c:barDir val="col"/>
        <c:grouping val="percentStacked"/>
        <c:varyColors val="0"/>
        <c:ser>
          <c:idx val="0"/>
          <c:order val="0"/>
          <c:tx>
            <c:v>Fomento Mercantil</c:v>
          </c:tx>
          <c:spPr>
            <a:solidFill>
              <a:srgbClr val="73787D"/>
            </a:solidFill>
          </c:spPr>
          <c:cat>
            <c:strLit>
              <c:ptCount val="4"/>
              <c:pt idx="0">
                <c:v>dez/23</c:v>
              </c:pt>
              <c:pt idx="1">
                <c:v>dez/24</c:v>
              </c:pt>
              <c:pt idx="2">
                <c:v>dez/25</c:v>
              </c:pt>
              <c:pt idx="3">
                <c:v>jun/26</c:v>
              </c:pt>
            </c:strLit>
          </c:cat>
          <c:val>
            <c:numLit>
              <c:formatCode>0.0%</c:formatCode>
              <c:ptCount val="4"/>
              <c:pt idx="0">
                <c:v>0.11020759160542684</c:v>
              </c:pt>
              <c:pt idx="1">
                <c:v>0.09567733252200807</c:v>
              </c:pt>
              <c:pt idx="2">
                <c:v>0.09806269806057262</c:v>
              </c:pt>
              <c:pt idx="3">
                <c:v>0.09843138389574681</c:v>
              </c:pt>
            </c:numLit>
          </c:val>
        </c:ser>
        <c:ser>
          <c:idx val="1"/>
          <c:order val="1"/>
          <c:tx>
            <c:v>Agro, Indústria e Comércio</c:v>
          </c:tx>
          <c:spPr>
            <a:solidFill>
              <a:srgbClr val="8D9399"/>
            </a:solidFill>
          </c:spPr>
          <c:cat>
            <c:strLit>
              <c:ptCount val="4"/>
              <c:pt idx="0">
                <c:v>dez/23</c:v>
              </c:pt>
              <c:pt idx="1">
                <c:v>dez/24</c:v>
              </c:pt>
              <c:pt idx="2">
                <c:v>dez/25</c:v>
              </c:pt>
              <c:pt idx="3">
                <c:v>jun/26</c:v>
              </c:pt>
            </c:strLit>
          </c:cat>
          <c:val>
            <c:numLit>
              <c:formatCode>0.0%</c:formatCode>
              <c:ptCount val="4"/>
              <c:pt idx="0">
                <c:v>0.25785571852133327</c:v>
              </c:pt>
              <c:pt idx="1">
                <c:v>0.2750610264146392</c:v>
              </c:pt>
              <c:pt idx="2">
                <c:v>0.2000287105659194</c:v>
              </c:pt>
              <c:pt idx="3">
                <c:v>0.21495139041402433</c:v>
              </c:pt>
            </c:numLit>
          </c:val>
        </c:ser>
        <c:ser>
          <c:idx val="2"/>
          <c:order val="2"/>
          <c:tx>
            <c:v>Financeiro</c:v>
          </c:tx>
          <c:spPr>
            <a:solidFill>
              <a:srgbClr val="EC7000"/>
            </a:solidFill>
          </c:spPr>
          <c:cat>
            <c:strLit>
              <c:ptCount val="4"/>
              <c:pt idx="0">
                <c:v>dez/23</c:v>
              </c:pt>
              <c:pt idx="1">
                <c:v>dez/24</c:v>
              </c:pt>
              <c:pt idx="2">
                <c:v>dez/25</c:v>
              </c:pt>
              <c:pt idx="3">
                <c:v>jun/26</c:v>
              </c:pt>
            </c:strLit>
          </c:cat>
          <c:val>
            <c:numLit>
              <c:formatCode>0.0%</c:formatCode>
              <c:ptCount val="4"/>
              <c:pt idx="0">
                <c:v>0.25972055939310257</c:v>
              </c:pt>
              <c:pt idx="1">
                <c:v>0.2462447241924814</c:v>
              </c:pt>
              <c:pt idx="2">
                <c:v>0.25638253577395326</c:v>
              </c:pt>
              <c:pt idx="3">
                <c:v>0.2825792866885411</c:v>
              </c:pt>
            </c:numLit>
          </c:val>
        </c:ser>
        <c:ser>
          <c:idx val="3"/>
          <c:order val="3"/>
          <c:tx>
            <c:v>Outros</c:v>
          </c:tx>
          <c:spPr>
            <a:solidFill>
              <a:srgbClr val="D7DADD"/>
            </a:solidFill>
          </c:spPr>
          <c:cat>
            <c:strLit>
              <c:ptCount val="4"/>
              <c:pt idx="0">
                <c:v>dez/23</c:v>
              </c:pt>
              <c:pt idx="1">
                <c:v>dez/24</c:v>
              </c:pt>
              <c:pt idx="2">
                <c:v>dez/25</c:v>
              </c:pt>
              <c:pt idx="3">
                <c:v>jun/26</c:v>
              </c:pt>
            </c:strLit>
          </c:cat>
          <c:val>
            <c:numLit>
              <c:formatCode>0.0%</c:formatCode>
              <c:ptCount val="4"/>
              <c:pt idx="0">
                <c:v>0.37221613048013724</c:v>
              </c:pt>
              <c:pt idx="1">
                <c:v>0.3830169168708714</c:v>
              </c:pt>
              <c:pt idx="2">
                <c:v>0.4455260555995546</c:v>
              </c:pt>
              <c:pt idx="3">
                <c:v>0.40403793900168766</c:v>
              </c:pt>
            </c:numLit>
          </c:val>
        </c:ser>
        <c:dLbls>
          <c:txPr>
            <a:bodyPr anchorCtr="1"/>
            <a:lstStyle/>
            <a:p>
              <a:pPr>
                <a:defRPr sz="713" b="1">
                  <a:solidFill>
                    <a:srgbClr val="151515"/>
                  </a:solidFill>
                </a:defRPr>
              </a:pPr>
            </a:p>
          </c:txPr>
          <c:dLblPos val="ctr"/>
          <c:showLegendKey val="0"/>
          <c:showVal val="1"/>
          <c:showCatName val="0"/>
          <c:showSerName val="0"/>
          <c:showPercent val="0"/>
          <c:showBubbleSize val="0"/>
          <c:showLeaderLines val="0"/>
        </c:dLbls>
        <c:gapWidth val="52"/>
        <c:overlap val="100"/>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863">
                <a:solidFill>
                  <a:srgbClr val="73787D"/>
                </a:solidFill>
              </a:defRPr>
            </a:pPr>
          </a:p>
        </c:txPr>
        <c:crossAx val="48672768"/>
        <c:lblAlgn val="ctr"/>
        <c:lblOffset val="100"/>
        <c:noMultiLvlLbl val="0"/>
      </c:catAx>
      <c:valAx>
        <c:axId val="48672768"/>
        <c:scaling>
          <c:orientation val="minMax"/>
          <c:max val="1"/>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788">
                <a:solidFill>
                  <a:srgbClr val="8D9399"/>
                </a:solidFill>
              </a:defRPr>
            </a:pPr>
          </a:p>
        </c:txPr>
        <c:crossAx val="48650112"/>
        <c:crossBetween val="between"/>
        <c:majorUnit val="0.2"/>
      </c:valAx>
      <c:spPr>
        <a:noFill/>
        <a:ln w="0">
          <a:noFill/>
          <a:prstDash val="solid"/>
        </a:ln>
      </c:spPr>
    </c:plotArea>
    <c:plotVisOnly val="1"/>
  </c:chart>
  <c:spPr>
    <a:noFill/>
    <a:ln w="0">
      <a:noFill/>
      <a:prstDash val="solid"/>
    </a:ln>
  </c:spPr>
</c:chartSpace>
</file>

<file path=ppt/slides/charts/chart17.xml><?xml version="1.0" encoding="utf-8"?>
<c:chartSpace xmlns:a="http://schemas.openxmlformats.org/drawingml/2006/main" xmlns:c="http://schemas.openxmlformats.org/drawingml/2006/chart">
  <c:lang val="pt-BR"/>
  <c:chart>
    <c:plotArea>
      <c:lineChart>
        <c:grouping val="standard"/>
        <c:ser>
          <c:idx val="0"/>
          <c:order val="0"/>
          <c:tx>
            <c:v>Fomento Mercantil</c:v>
          </c:tx>
          <c:spPr>
            <a:ln w="28575">
              <a:solidFill>
                <a:srgbClr val="73787D"/>
              </a:solidFill>
              <a:prstDash val="solid"/>
            </a:ln>
          </c:spPr>
          <c:marker>
            <c:symbol val="none"/>
          </c:marker>
          <c:cat>
            <c:strLit>
              <c:ptCount val="1"/>
              <c:pt idx="0">
                <c:v/>
              </c:pt>
            </c:strLit>
          </c:cat>
          <c:val>
            <c:numLit>
              <c:formatCode>General</c:formatCode>
              <c:ptCount val="1"/>
              <c:pt idx="0">
                <c:v>0</c:v>
              </c:pt>
            </c:numLit>
          </c:val>
        </c:ser>
        <c:ser>
          <c:idx val="1"/>
          <c:order val="1"/>
          <c:tx>
            <c:v>Agro, Indústria e Comércio</c:v>
          </c:tx>
          <c:spPr>
            <a:ln w="28575">
              <a:solidFill>
                <a:srgbClr val="8D9399"/>
              </a:solidFill>
              <a:prstDash val="solid"/>
            </a:ln>
          </c:spPr>
          <c:marker>
            <c:symbol val="none"/>
          </c:marker>
          <c:cat>
            <c:strLit>
              <c:ptCount val="1"/>
              <c:pt idx="0">
                <c:v/>
              </c:pt>
            </c:strLit>
          </c:cat>
          <c:val>
            <c:numLit>
              <c:formatCode>General</c:formatCode>
              <c:ptCount val="1"/>
              <c:pt idx="0">
                <c:v>0</c:v>
              </c:pt>
            </c:numLit>
          </c:val>
        </c:ser>
        <c:ser>
          <c:idx val="2"/>
          <c:order val="2"/>
          <c:tx>
            <c:v>Financeiro</c:v>
          </c:tx>
          <c:spPr>
            <a:ln w="28575">
              <a:solidFill>
                <a:srgbClr val="EC7000"/>
              </a:solidFill>
              <a:prstDash val="solid"/>
            </a:ln>
          </c:spPr>
          <c:marker>
            <c:symbol val="none"/>
          </c:marker>
          <c:cat>
            <c:strLit>
              <c:ptCount val="1"/>
              <c:pt idx="0">
                <c:v/>
              </c:pt>
            </c:strLit>
          </c:cat>
          <c:val>
            <c:numLit>
              <c:formatCode>General</c:formatCode>
              <c:ptCount val="1"/>
              <c:pt idx="0">
                <c:v>0</c:v>
              </c:pt>
            </c:numLit>
          </c:val>
        </c:ser>
        <c:ser>
          <c:idx val="3"/>
          <c:order val="3"/>
          <c:tx>
            <c:v>Outros</c:v>
          </c:tx>
          <c:spPr>
            <a:ln w="28575">
              <a:solidFill>
                <a:srgbClr val="D7DADD"/>
              </a:solidFill>
              <a:prstDash val="solid"/>
            </a:ln>
          </c:spPr>
          <c:marker>
            <c:symbol val="none"/>
          </c:marker>
          <c:cat>
            <c:strLit>
              <c:ptCount val="1"/>
              <c:pt idx="0">
                <c:v/>
              </c:pt>
            </c:strLit>
          </c:cat>
          <c:val>
            <c:numLit>
              <c:formatCode>General</c:formatCode>
              <c:ptCount val="1"/>
              <c:pt idx="0">
                <c:v>0</c:v>
              </c:pt>
            </c:numLit>
          </c:val>
        </c:ser>
        <c:axId val="48650112"/>
        <c:axId val="48672768"/>
      </c:lineChart>
      <c:catAx>
        <c:axId val="48650112"/>
        <c:scaling>
          <c:orientation val="minMax"/>
        </c:scaling>
        <c:delete val="0"/>
        <c:axPos val="b"/>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1"/>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50112"/>
        <c:crossBetween val="between"/>
      </c:valAx>
      <c:spPr>
        <a:noFill/>
        <a:ln w="0">
          <a:noFill/>
          <a:prstDash val="solid"/>
        </a:ln>
      </c:spPr>
    </c:plotArea>
    <c:legend>
      <c:legendPos val="b"/>
      <c:overlay val="0"/>
      <c:txPr>
        <a:bodyPr anchorCtr="1"/>
        <a:lstStyle/>
        <a:p>
          <a:pPr>
            <a:defRPr sz="788">
              <a:solidFill>
                <a:srgbClr val="73787D"/>
              </a:solidFill>
            </a:defRPr>
          </a:pPr>
        </a:p>
      </c:txPr>
    </c:legend>
    <c:plotVisOnly val="1"/>
  </c:chart>
  <c:spPr>
    <a:noFill/>
    <a:ln w="0">
      <a:noFill/>
      <a:prstDash val="solid"/>
    </a:ln>
  </c:spPr>
</c:chartSpace>
</file>

<file path=ppt/slides/charts/chart18.xml><?xml version="1.0" encoding="utf-8"?>
<c:chartSpace xmlns:a="http://schemas.openxmlformats.org/drawingml/2006/main" xmlns:c="http://schemas.openxmlformats.org/drawingml/2006/chart">
  <c:lang val="pt-BR"/>
  <c:chart>
    <c:plotArea>
      <c:barChart>
        <c:barDir val="bar"/>
        <c:grouping val="clustered"/>
        <c:varyColors val="0"/>
        <c:ser>
          <c:idx val="0"/>
          <c:order val="0"/>
          <c:tx>
            <c:v>Dez/23</c:v>
          </c:tx>
          <c:spPr>
            <a:solidFill>
              <a:srgbClr val="73787D"/>
            </a:solidFill>
          </c:spPr>
          <c:cat>
            <c:strLit>
              <c:ptCount val="12"/>
              <c:pt idx="0">
                <c:v>Financeiro</c:v>
              </c:pt>
              <c:pt idx="1">
                <c:v>Comercial</c:v>
              </c:pt>
              <c:pt idx="2">
                <c:v>Adquirência</c:v>
              </c:pt>
              <c:pt idx="3">
                <c:v>Industrial</c:v>
              </c:pt>
              <c:pt idx="4">
                <c:v>N/D</c:v>
              </c:pt>
              <c:pt idx="5">
                <c:v>Serviços</c:v>
              </c:pt>
              <c:pt idx="6">
                <c:v>Setor público</c:v>
              </c:pt>
              <c:pt idx="7">
                <c:v>Ações judiciais</c:v>
              </c:pt>
              <c:pt idx="8">
                <c:v>Agronegócio</c:v>
              </c:pt>
              <c:pt idx="9">
                <c:v>Cartão</c:v>
              </c:pt>
              <c:pt idx="10">
                <c:v>Imobiliário</c:v>
              </c:pt>
              <c:pt idx="11">
                <c:v>Factoring</c:v>
              </c:pt>
            </c:strLit>
          </c:cat>
          <c:val>
            <c:numLit>
              <c:formatCode>0.0</c:formatCode>
              <c:ptCount val="12"/>
              <c:pt idx="0">
                <c:v>112.83368367224</c:v>
              </c:pt>
              <c:pt idx="1">
                <c:v>103.39874467744</c:v>
              </c:pt>
              <c:pt idx="2">
                <c:v>51.72285589365</c:v>
              </c:pt>
              <c:pt idx="3">
                <c:v>48.499678</c:v>
              </c:pt>
              <c:pt idx="4">
                <c:v>19.32368071792</c:v>
              </c:pt>
              <c:pt idx="5">
                <c:v>24.163748261490003</c:v>
              </c:pt>
              <c:pt idx="6">
                <c:v>25.154517560259997</c:v>
              </c:pt>
              <c:pt idx="7">
                <c:v>27.32144595605</c:v>
              </c:pt>
              <c:pt idx="8">
                <c:v>17.30426139734</c:v>
              </c:pt>
              <c:pt idx="9">
                <c:v>30.455624762630002</c:v>
              </c:pt>
              <c:pt idx="10">
                <c:v>1.36475726781</c:v>
              </c:pt>
              <c:pt idx="11">
                <c:v>0.21330512728999998</c:v>
              </c:pt>
            </c:numLit>
          </c:val>
        </c:ser>
        <c:ser>
          <c:idx val="1"/>
          <c:order val="1"/>
          <c:tx>
            <c:v>Jun/26</c:v>
          </c:tx>
          <c:spPr>
            <a:solidFill>
              <a:srgbClr val="EC7000"/>
            </a:solidFill>
          </c:spPr>
          <c:cat>
            <c:strLit>
              <c:ptCount val="12"/>
              <c:pt idx="0">
                <c:v>Financeiro</c:v>
              </c:pt>
              <c:pt idx="1">
                <c:v>Comercial</c:v>
              </c:pt>
              <c:pt idx="2">
                <c:v>Adquirência</c:v>
              </c:pt>
              <c:pt idx="3">
                <c:v>Industrial</c:v>
              </c:pt>
              <c:pt idx="4">
                <c:v>N/D</c:v>
              </c:pt>
              <c:pt idx="5">
                <c:v>Serviços</c:v>
              </c:pt>
              <c:pt idx="6">
                <c:v>Setor público</c:v>
              </c:pt>
              <c:pt idx="7">
                <c:v>Ações judiciais</c:v>
              </c:pt>
              <c:pt idx="8">
                <c:v>Agronegócio</c:v>
              </c:pt>
              <c:pt idx="9">
                <c:v>Cartão</c:v>
              </c:pt>
              <c:pt idx="10">
                <c:v>Imobiliário</c:v>
              </c:pt>
              <c:pt idx="11">
                <c:v>Factoring</c:v>
              </c:pt>
            </c:strLit>
          </c:cat>
          <c:val>
            <c:numLit>
              <c:formatCode>0.0</c:formatCode>
              <c:ptCount val="12"/>
              <c:pt idx="0">
                <c:v>336.84039317390994</c:v>
              </c:pt>
              <c:pt idx="1">
                <c:v>118.22202651527</c:v>
              </c:pt>
              <c:pt idx="2">
                <c:v>99.24654124799001</c:v>
              </c:pt>
              <c:pt idx="3">
                <c:v>85.66685206006</c:v>
              </c:pt>
              <c:pt idx="4">
                <c:v>84.83552289799</c:v>
              </c:pt>
              <c:pt idx="5">
                <c:v>57.4323241591</c:v>
              </c:pt>
              <c:pt idx="6">
                <c:v>43.107876023699994</c:v>
              </c:pt>
              <c:pt idx="7">
                <c:v>27.72682732234</c:v>
              </c:pt>
              <c:pt idx="8">
                <c:v>12.07779703784</c:v>
              </c:pt>
              <c:pt idx="9">
                <c:v>11.00644353036</c:v>
              </c:pt>
              <c:pt idx="10">
                <c:v>4.10910183534</c:v>
              </c:pt>
              <c:pt idx="11">
                <c:v>0.10364069841</c:v>
              </c:pt>
            </c:numLit>
          </c:val>
        </c:ser>
        <c:dLbls>
          <c:txPr>
            <a:bodyPr anchorCtr="1"/>
            <a:lstStyle/>
            <a:p>
              <a:pPr>
                <a:defRPr sz="653" b="1">
                  <a:solidFill>
                    <a:srgbClr val="151515"/>
                  </a:solidFill>
                </a:defRPr>
              </a:pPr>
            </a:p>
          </c:txPr>
          <c:dLblPos val="outEnd"/>
          <c:showLegendKey val="0"/>
          <c:showVal val="1"/>
          <c:showCatName val="0"/>
          <c:showSerName val="0"/>
          <c:showPercent val="0"/>
          <c:showBubbleSize val="0"/>
          <c:showLeaderLines val="0"/>
        </c:dLbls>
        <c:gapWidth val="35"/>
        <c:axId val="48650112"/>
        <c:axId val="48672768"/>
      </c:barChart>
      <c:catAx>
        <c:axId val="48650112"/>
        <c:scaling>
          <c:orientation val="minMax"/>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713">
                <a:solidFill>
                  <a:srgbClr val="8D9399"/>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720">
                <a:solidFill>
                  <a:srgbClr val="73787D"/>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19.xml><?xml version="1.0" encoding="utf-8"?>
<c:chartSpace xmlns:a="http://schemas.openxmlformats.org/drawingml/2006/main" xmlns:c="http://schemas.openxmlformats.org/drawingml/2006/chart">
  <c:lang val="pt-BR"/>
  <c:chart>
    <c:plotArea>
      <c:barChart>
        <c:barDir val="bar"/>
        <c:grouping val="clustered"/>
        <c:varyColors val="0"/>
        <c:ser>
          <c:idx val="0"/>
          <c:order val="0"/>
          <c:tx>
            <c:v>Dez/23</c:v>
          </c:tx>
          <c:spPr>
            <a:solidFill>
              <a:srgbClr val="73787D"/>
            </a:solidFill>
          </c:spPr>
          <c:cat>
            <c:strLit>
              <c:ptCount val="12"/>
              <c:pt idx="0">
                <c:v>Financeiro</c:v>
              </c:pt>
              <c:pt idx="1">
                <c:v>Comercial</c:v>
              </c:pt>
              <c:pt idx="2">
                <c:v>Adquirência</c:v>
              </c:pt>
              <c:pt idx="3">
                <c:v>Industrial</c:v>
              </c:pt>
              <c:pt idx="4">
                <c:v>N/D</c:v>
              </c:pt>
              <c:pt idx="5">
                <c:v>Serviços</c:v>
              </c:pt>
              <c:pt idx="6">
                <c:v>Setor público</c:v>
              </c:pt>
              <c:pt idx="7">
                <c:v>Ações judiciais</c:v>
              </c:pt>
              <c:pt idx="8">
                <c:v>Agronegócio</c:v>
              </c:pt>
              <c:pt idx="9">
                <c:v>Cartão</c:v>
              </c:pt>
              <c:pt idx="10">
                <c:v>Imobiliário</c:v>
              </c:pt>
              <c:pt idx="11">
                <c:v>Factoring</c:v>
              </c:pt>
            </c:strLit>
          </c:cat>
          <c:val>
            <c:numLit>
              <c:formatCode>0.0%</c:formatCode>
              <c:ptCount val="12"/>
              <c:pt idx="0">
                <c:v>0.2443576468091428</c:v>
              </c:pt>
              <c:pt idx="1">
                <c:v>0.2239249230379844</c:v>
              </c:pt>
              <c:pt idx="2">
                <c:v>0.1120133185506395</c:v>
              </c:pt>
              <c:pt idx="3">
                <c:v>0.1050330610627478</c:v>
              </c:pt>
              <c:pt idx="4">
                <c:v>0.0418482229263941</c:v>
              </c:pt>
              <c:pt idx="5">
                <c:v>0.052330088596752</c:v>
              </c:pt>
              <c:pt idx="6">
                <c:v>0.054475742682472</c:v>
              </c:pt>
              <c:pt idx="7">
                <c:v>0.0591685392514227</c:v>
              </c:pt>
              <c:pt idx="8">
                <c:v>0.0374748785753291</c:v>
              </c:pt>
              <c:pt idx="9">
                <c:v>0.0659560563556205</c:v>
              </c:pt>
              <c:pt idx="10">
                <c:v>0.0029555790750964</c:v>
              </c:pt>
              <c:pt idx="11">
                <c:v>0.0004619430763983</c:v>
              </c:pt>
            </c:numLit>
          </c:val>
        </c:ser>
        <c:ser>
          <c:idx val="1"/>
          <c:order val="1"/>
          <c:tx>
            <c:v>Jun/26</c:v>
          </c:tx>
          <c:spPr>
            <a:solidFill>
              <a:srgbClr val="EC7000"/>
            </a:solidFill>
          </c:spPr>
          <c:cat>
            <c:strLit>
              <c:ptCount val="12"/>
              <c:pt idx="0">
                <c:v>Financeiro</c:v>
              </c:pt>
              <c:pt idx="1">
                <c:v>Comercial</c:v>
              </c:pt>
              <c:pt idx="2">
                <c:v>Adquirência</c:v>
              </c:pt>
              <c:pt idx="3">
                <c:v>Industrial</c:v>
              </c:pt>
              <c:pt idx="4">
                <c:v>N/D</c:v>
              </c:pt>
              <c:pt idx="5">
                <c:v>Serviços</c:v>
              </c:pt>
              <c:pt idx="6">
                <c:v>Setor público</c:v>
              </c:pt>
              <c:pt idx="7">
                <c:v>Ações judiciais</c:v>
              </c:pt>
              <c:pt idx="8">
                <c:v>Agronegócio</c:v>
              </c:pt>
              <c:pt idx="9">
                <c:v>Cartão</c:v>
              </c:pt>
              <c:pt idx="10">
                <c:v>Imobiliário</c:v>
              </c:pt>
              <c:pt idx="11">
                <c:v>Factoring</c:v>
              </c:pt>
            </c:strLit>
          </c:cat>
          <c:val>
            <c:numLit>
              <c:formatCode>0.0%</c:formatCode>
              <c:ptCount val="12"/>
              <c:pt idx="0">
                <c:v>0.3826099793822727</c:v>
              </c:pt>
              <c:pt idx="1">
                <c:v>0.1342859349537224</c:v>
              </c:pt>
              <c:pt idx="2">
                <c:v>0.1127320768832201</c:v>
              </c:pt>
              <c:pt idx="3">
                <c:v>0.097307191075273</c:v>
              </c:pt>
              <c:pt idx="4">
                <c:v>0.0963629016135419</c:v>
              </c:pt>
              <c:pt idx="5">
                <c:v>0.0652361795310102</c:v>
              </c:pt>
              <c:pt idx="6">
                <c:v>0.0489653375630809</c:v>
              </c:pt>
              <c:pt idx="7">
                <c:v>0.0314943250427188</c:v>
              </c:pt>
              <c:pt idx="8">
                <c:v>0.0137189178295649</c:v>
              </c:pt>
              <c:pt idx="9">
                <c:v>0.0125019897184627</c:v>
              </c:pt>
              <c:pt idx="10">
                <c:v>0.0046674430987479</c:v>
              </c:pt>
              <c:pt idx="11">
                <c:v>0.000117723308384</c:v>
              </c:pt>
            </c:numLit>
          </c:val>
        </c:ser>
        <c:dLbls>
          <c:txPr>
            <a:bodyPr anchorCtr="1"/>
            <a:lstStyle/>
            <a:p>
              <a:pPr>
                <a:defRPr sz="653" b="1">
                  <a:solidFill>
                    <a:srgbClr val="151515"/>
                  </a:solidFill>
                </a:defRPr>
              </a:pPr>
            </a:p>
          </c:txPr>
          <c:dLblPos val="outEnd"/>
          <c:showLegendKey val="0"/>
          <c:showVal val="1"/>
          <c:showCatName val="0"/>
          <c:showSerName val="0"/>
          <c:showPercent val="0"/>
          <c:showBubbleSize val="0"/>
          <c:showLeaderLines val="0"/>
        </c:dLbls>
        <c:gapWidth val="35"/>
        <c:axId val="48650112"/>
        <c:axId val="48672768"/>
      </c:barChart>
      <c:catAx>
        <c:axId val="48650112"/>
        <c:scaling>
          <c:orientation val="minMax"/>
        </c:scaling>
        <c:delete val="0"/>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720">
                <a:solidFill>
                  <a:srgbClr val="73787D"/>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20.xml><?xml version="1.0" encoding="utf-8"?>
<c:chartSpace xmlns:a="http://schemas.openxmlformats.org/drawingml/2006/main" xmlns:c="http://schemas.openxmlformats.org/drawingml/2006/chart">
  <c:lang val="pt-BR"/>
  <c:chart>
    <c:plotArea>
      <c:lineChart>
        <c:grouping val="standard"/>
        <c:ser>
          <c:idx val="0"/>
          <c:order val="0"/>
          <c:tx>
            <c:v>Dez/23</c:v>
          </c:tx>
          <c:spPr>
            <a:ln w="28575">
              <a:solidFill>
                <a:srgbClr val="73787D"/>
              </a:solidFill>
              <a:prstDash val="solid"/>
            </a:ln>
          </c:spPr>
          <c:marker>
            <c:symbol val="none"/>
          </c:marker>
          <c:cat>
            <c:strLit>
              <c:ptCount val="1"/>
              <c:pt idx="0">
                <c:v/>
              </c:pt>
            </c:strLit>
          </c:cat>
          <c:val>
            <c:numLit>
              <c:formatCode>General</c:formatCode>
              <c:ptCount val="1"/>
              <c:pt idx="0">
                <c:v>0</c:v>
              </c:pt>
            </c:numLit>
          </c:val>
        </c:ser>
        <c:ser>
          <c:idx val="1"/>
          <c:order val="1"/>
          <c:tx>
            <c:v>Jun/26</c:v>
          </c:tx>
          <c:spPr>
            <a:ln w="28575">
              <a:solidFill>
                <a:srgbClr val="EC7000"/>
              </a:solidFill>
              <a:prstDash val="solid"/>
            </a:ln>
          </c:spPr>
          <c:marker>
            <c:symbol val="none"/>
          </c:marker>
          <c:cat>
            <c:strLit>
              <c:ptCount val="1"/>
              <c:pt idx="0">
                <c:v/>
              </c:pt>
            </c:strLit>
          </c:cat>
          <c:val>
            <c:numLit>
              <c:formatCode>General</c:formatCode>
              <c:ptCount val="1"/>
              <c:pt idx="0">
                <c:v>0</c:v>
              </c:pt>
            </c:numLit>
          </c:val>
        </c:ser>
        <c:axId val="48650112"/>
        <c:axId val="48672768"/>
      </c:lineChart>
      <c:catAx>
        <c:axId val="48650112"/>
        <c:scaling>
          <c:orientation val="minMax"/>
        </c:scaling>
        <c:delete val="0"/>
        <c:axPos val="b"/>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1"/>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50112"/>
        <c:crossBetween val="between"/>
      </c:valAx>
      <c:spPr>
        <a:noFill/>
        <a:ln w="0">
          <a:noFill/>
          <a:prstDash val="solid"/>
        </a:ln>
      </c:spPr>
    </c:plotArea>
    <c:legend>
      <c:legendPos val="b"/>
      <c:overlay val="0"/>
      <c:txPr>
        <a:bodyPr anchorCtr="1"/>
        <a:lstStyle/>
        <a:p>
          <a:pPr>
            <a:defRPr sz="788">
              <a:solidFill>
                <a:srgbClr val="73787D"/>
              </a:solidFill>
            </a:defRPr>
          </a:pPr>
        </a:p>
      </c:txPr>
    </c:legend>
    <c:plotVisOnly val="1"/>
  </c:chart>
  <c:spPr>
    <a:noFill/>
    <a:ln w="0">
      <a:noFill/>
      <a:prstDash val="solid"/>
    </a:ln>
  </c:spPr>
</c:chartSpace>
</file>

<file path=ppt/slides/charts/chart21.xml><?xml version="1.0" encoding="utf-8"?>
<c:chartSpace xmlns:a="http://schemas.openxmlformats.org/drawingml/2006/main" xmlns:c="http://schemas.openxmlformats.org/drawingml/2006/chart">
  <c:lang val="pt-BR"/>
  <c:chart>
    <c:plotArea>
      <c:barChart>
        <c:barDir val="bar"/>
        <c:grouping val="clustered"/>
        <c:varyColors val="0"/>
        <c:ser>
          <c:idx val="0"/>
          <c:order val="0"/>
          <c:tx>
            <c:v>Dez/23</c:v>
          </c:tx>
          <c:spPr>
            <a:solidFill>
              <a:srgbClr val="73787D"/>
            </a:solidFill>
          </c:spPr>
          <c:cat>
            <c:strLit>
              <c:ptCount val="10"/>
              <c:pt idx="0">
                <c:v>Financeiro</c:v>
              </c:pt>
              <c:pt idx="1">
                <c:v>Comercial</c:v>
              </c:pt>
              <c:pt idx="2">
                <c:v>Cartão</c:v>
              </c:pt>
              <c:pt idx="3">
                <c:v>Industrial</c:v>
              </c:pt>
              <c:pt idx="4">
                <c:v>Serviços</c:v>
              </c:pt>
              <c:pt idx="5">
                <c:v>Setor público</c:v>
              </c:pt>
              <c:pt idx="6">
                <c:v>Ações judiciais</c:v>
              </c:pt>
              <c:pt idx="7">
                <c:v>Agronegócio</c:v>
              </c:pt>
              <c:pt idx="8">
                <c:v>Imobiliário</c:v>
              </c:pt>
              <c:pt idx="9">
                <c:v>Factoring</c:v>
              </c:pt>
            </c:strLit>
          </c:cat>
          <c:val>
            <c:numLit>
              <c:formatCode>0.0</c:formatCode>
              <c:ptCount val="10"/>
              <c:pt idx="0">
                <c:v>118.04530398702</c:v>
              </c:pt>
              <c:pt idx="1">
                <c:v>115.89580945848</c:v>
              </c:pt>
              <c:pt idx="2">
                <c:v>77.90442532195</c:v>
              </c:pt>
              <c:pt idx="3">
                <c:v>39.74983932099</c:v>
              </c:pt>
              <c:pt idx="4">
                <c:v>26.373186905759997</c:v>
              </c:pt>
              <c:pt idx="5">
                <c:v>19.27032074904</c:v>
              </c:pt>
              <c:pt idx="6">
                <c:v>26.30715069555</c:v>
              </c:pt>
              <c:pt idx="7">
                <c:v>14.24326332352</c:v>
              </c:pt>
              <c:pt idx="8">
                <c:v>1.5402300008699998</c:v>
              </c:pt>
              <c:pt idx="9">
                <c:v>0.16600309574000002</c:v>
              </c:pt>
            </c:numLit>
          </c:val>
        </c:ser>
        <c:ser>
          <c:idx val="1"/>
          <c:order val="1"/>
          <c:tx>
            <c:v>Jun/26</c:v>
          </c:tx>
          <c:spPr>
            <a:solidFill>
              <a:srgbClr val="EC7000"/>
            </a:solidFill>
          </c:spPr>
          <c:cat>
            <c:strLit>
              <c:ptCount val="10"/>
              <c:pt idx="0">
                <c:v>Financeiro</c:v>
              </c:pt>
              <c:pt idx="1">
                <c:v>Comercial</c:v>
              </c:pt>
              <c:pt idx="2">
                <c:v>Cartão</c:v>
              </c:pt>
              <c:pt idx="3">
                <c:v>Industrial</c:v>
              </c:pt>
              <c:pt idx="4">
                <c:v>Serviços</c:v>
              </c:pt>
              <c:pt idx="5">
                <c:v>Setor público</c:v>
              </c:pt>
              <c:pt idx="6">
                <c:v>Ações judiciais</c:v>
              </c:pt>
              <c:pt idx="7">
                <c:v>Agronegócio</c:v>
              </c:pt>
              <c:pt idx="8">
                <c:v>Imobiliário</c:v>
              </c:pt>
              <c:pt idx="9">
                <c:v>Factoring</c:v>
              </c:pt>
            </c:strLit>
          </c:cat>
          <c:val>
            <c:numLit>
              <c:formatCode>0.0</c:formatCode>
              <c:ptCount val="10"/>
              <c:pt idx="0">
                <c:v>326.76177442545</c:v>
              </c:pt>
              <c:pt idx="1">
                <c:v>123.12261035610001</c:v>
              </c:pt>
              <c:pt idx="2">
                <c:v>78.58984371139</c:v>
              </c:pt>
              <c:pt idx="3">
                <c:v>77.39724903534</c:v>
              </c:pt>
              <c:pt idx="4">
                <c:v>57.591468014120004</c:v>
              </c:pt>
              <c:pt idx="5">
                <c:v>34.27503303086</c:v>
              </c:pt>
              <c:pt idx="6">
                <c:v>27.36423282215</c:v>
              </c:pt>
              <c:pt idx="7">
                <c:v>9.12643607218</c:v>
              </c:pt>
              <c:pt idx="8">
                <c:v>3.0872617298200002</c:v>
              </c:pt>
              <c:pt idx="9">
                <c:v>0.09505420486</c:v>
              </c:pt>
            </c:numLit>
          </c:val>
        </c:ser>
        <c:dLbls>
          <c:txPr>
            <a:bodyPr anchorCtr="1"/>
            <a:lstStyle/>
            <a:p>
              <a:pPr>
                <a:defRPr sz="615" b="1">
                  <a:solidFill>
                    <a:srgbClr val="151515"/>
                  </a:solidFill>
                </a:defRPr>
              </a:pPr>
            </a:p>
          </c:txPr>
          <c:dLblPos val="outEnd"/>
          <c:showLegendKey val="0"/>
          <c:showVal val="1"/>
          <c:showCatName val="0"/>
          <c:showSerName val="0"/>
          <c:showPercent val="0"/>
          <c:showBubbleSize val="0"/>
          <c:showLeaderLines val="0"/>
        </c:dLbls>
        <c:gapWidth val="28"/>
        <c:axId val="48650112"/>
        <c:axId val="48672768"/>
      </c:barChart>
      <c:catAx>
        <c:axId val="48650112"/>
        <c:scaling>
          <c:orientation val="minMax"/>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675">
                <a:solidFill>
                  <a:srgbClr val="8D9399"/>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713">
                <a:solidFill>
                  <a:srgbClr val="73787D"/>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22.xml><?xml version="1.0" encoding="utf-8"?>
<c:chartSpace xmlns:a="http://schemas.openxmlformats.org/drawingml/2006/main" xmlns:c="http://schemas.openxmlformats.org/drawingml/2006/chart">
  <c:lang val="pt-BR"/>
  <c:chart>
    <c:plotArea>
      <c:barChart>
        <c:barDir val="bar"/>
        <c:grouping val="clustered"/>
        <c:varyColors val="0"/>
        <c:ser>
          <c:idx val="0"/>
          <c:order val="0"/>
          <c:tx>
            <c:v>Dez/23</c:v>
          </c:tx>
          <c:spPr>
            <a:solidFill>
              <a:srgbClr val="73787D"/>
            </a:solidFill>
          </c:spPr>
          <c:cat>
            <c:strLit>
              <c:ptCount val="10"/>
              <c:pt idx="0">
                <c:v>Financeiro</c:v>
              </c:pt>
              <c:pt idx="1">
                <c:v>Comercial</c:v>
              </c:pt>
              <c:pt idx="2">
                <c:v>Cartão</c:v>
              </c:pt>
              <c:pt idx="3">
                <c:v>Industrial</c:v>
              </c:pt>
              <c:pt idx="4">
                <c:v>Serviços</c:v>
              </c:pt>
              <c:pt idx="5">
                <c:v>Setor público</c:v>
              </c:pt>
              <c:pt idx="6">
                <c:v>Ações judiciais</c:v>
              </c:pt>
              <c:pt idx="7">
                <c:v>Agronegócio</c:v>
              </c:pt>
              <c:pt idx="8">
                <c:v>Imobiliário</c:v>
              </c:pt>
              <c:pt idx="9">
                <c:v>Factoring</c:v>
              </c:pt>
            </c:strLit>
          </c:cat>
          <c:val>
            <c:numLit>
              <c:formatCode>0.0%</c:formatCode>
              <c:ptCount val="10"/>
              <c:pt idx="0">
                <c:v>0.2685927277101883</c:v>
              </c:pt>
              <c:pt idx="1">
                <c:v>0.26370190546551714</c:v>
              </c:pt>
              <c:pt idx="2">
                <c:v>0.17725874212004258</c:v>
              </c:pt>
              <c:pt idx="3">
                <c:v>0.09044423970004235</c:v>
              </c:pt>
              <c:pt idx="4">
                <c:v>0.06000786113615837</c:v>
              </c:pt>
              <c:pt idx="5">
                <c:v>0.04384645419189245</c:v>
              </c:pt>
              <c:pt idx="6">
                <c:v>0.05985760657092893</c:v>
              </c:pt>
              <c:pt idx="7">
                <c:v>0.032408209546221145</c:v>
              </c:pt>
              <c:pt idx="8">
                <c:v>0.0035045407420885447</c:v>
              </c:pt>
              <c:pt idx="9">
                <c:v>0.00037771281692022964</c:v>
              </c:pt>
            </c:numLit>
          </c:val>
        </c:ser>
        <c:ser>
          <c:idx val="1"/>
          <c:order val="1"/>
          <c:tx>
            <c:v>Jun/26</c:v>
          </c:tx>
          <c:spPr>
            <a:solidFill>
              <a:srgbClr val="EC7000"/>
            </a:solidFill>
          </c:spPr>
          <c:cat>
            <c:strLit>
              <c:ptCount val="10"/>
              <c:pt idx="0">
                <c:v>Financeiro</c:v>
              </c:pt>
              <c:pt idx="1">
                <c:v>Comercial</c:v>
              </c:pt>
              <c:pt idx="2">
                <c:v>Cartão</c:v>
              </c:pt>
              <c:pt idx="3">
                <c:v>Industrial</c:v>
              </c:pt>
              <c:pt idx="4">
                <c:v>Serviços</c:v>
              </c:pt>
              <c:pt idx="5">
                <c:v>Setor público</c:v>
              </c:pt>
              <c:pt idx="6">
                <c:v>Ações judiciais</c:v>
              </c:pt>
              <c:pt idx="7">
                <c:v>Agronegócio</c:v>
              </c:pt>
              <c:pt idx="8">
                <c:v>Imobiliário</c:v>
              </c:pt>
              <c:pt idx="9">
                <c:v>Factoring</c:v>
              </c:pt>
            </c:strLit>
          </c:cat>
          <c:val>
            <c:numLit>
              <c:formatCode>0.0%</c:formatCode>
              <c:ptCount val="10"/>
              <c:pt idx="0">
                <c:v>0.4431203096273956</c:v>
              </c:pt>
              <c:pt idx="1">
                <c:v>0.16696606975849174</c:v>
              </c:pt>
              <c:pt idx="2">
                <c:v>0.10657536653481774</c:v>
              </c:pt>
              <c:pt idx="3">
                <c:v>0.1049580937585254</c:v>
              </c:pt>
              <c:pt idx="4">
                <c:v>0.07809955489189396</c:v>
              </c:pt>
              <c:pt idx="5">
                <c:v>0.046480232505252836</c:v>
              </c:pt>
              <c:pt idx="6">
                <c:v>0.0371085245273501</c:v>
              </c:pt>
              <c:pt idx="7">
                <c:v>0.012376322736066207</c:v>
              </c:pt>
              <c:pt idx="8">
                <c:v>0.004186623040666466</c:v>
              </c:pt>
              <c:pt idx="9">
                <c:v>0.00012890261953990822</c:v>
              </c:pt>
            </c:numLit>
          </c:val>
        </c:ser>
        <c:dLbls>
          <c:txPr>
            <a:bodyPr anchorCtr="1"/>
            <a:lstStyle/>
            <a:p>
              <a:pPr>
                <a:defRPr sz="615" b="1">
                  <a:solidFill>
                    <a:srgbClr val="151515"/>
                  </a:solidFill>
                </a:defRPr>
              </a:pPr>
            </a:p>
          </c:txPr>
          <c:dLblPos val="outEnd"/>
          <c:showLegendKey val="0"/>
          <c:showVal val="1"/>
          <c:showCatName val="0"/>
          <c:showSerName val="0"/>
          <c:showPercent val="0"/>
          <c:showBubbleSize val="0"/>
          <c:showLeaderLines val="0"/>
        </c:dLbls>
        <c:gapWidth val="28"/>
        <c:axId val="48650112"/>
        <c:axId val="48672768"/>
      </c:barChart>
      <c:catAx>
        <c:axId val="48650112"/>
        <c:scaling>
          <c:orientation val="minMax"/>
        </c:scaling>
        <c:delete val="0"/>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713">
                <a:solidFill>
                  <a:srgbClr val="73787D"/>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23.xml><?xml version="1.0" encoding="utf-8"?>
<c:chartSpace xmlns:a="http://schemas.openxmlformats.org/drawingml/2006/main" xmlns:c="http://schemas.openxmlformats.org/drawingml/2006/chart">
  <c:lang val="pt-BR"/>
  <c:chart>
    <c:plotArea>
      <c:lineChart>
        <c:grouping val="standard"/>
        <c:ser>
          <c:idx val="0"/>
          <c:order val="0"/>
          <c:tx>
            <c:v>Dez/23</c:v>
          </c:tx>
          <c:spPr>
            <a:ln w="28575">
              <a:solidFill>
                <a:srgbClr val="73787D"/>
              </a:solidFill>
              <a:prstDash val="solid"/>
            </a:ln>
          </c:spPr>
          <c:marker>
            <c:symbol val="none"/>
          </c:marker>
          <c:cat>
            <c:strLit>
              <c:ptCount val="1"/>
              <c:pt idx="0">
                <c:v/>
              </c:pt>
            </c:strLit>
          </c:cat>
          <c:val>
            <c:numLit>
              <c:formatCode>General</c:formatCode>
              <c:ptCount val="1"/>
              <c:pt idx="0">
                <c:v>0</c:v>
              </c:pt>
            </c:numLit>
          </c:val>
        </c:ser>
        <c:ser>
          <c:idx val="1"/>
          <c:order val="1"/>
          <c:tx>
            <c:v>Jun/26</c:v>
          </c:tx>
          <c:spPr>
            <a:ln w="28575">
              <a:solidFill>
                <a:srgbClr val="EC7000"/>
              </a:solidFill>
              <a:prstDash val="solid"/>
            </a:ln>
          </c:spPr>
          <c:marker>
            <c:symbol val="none"/>
          </c:marker>
          <c:cat>
            <c:strLit>
              <c:ptCount val="1"/>
              <c:pt idx="0">
                <c:v/>
              </c:pt>
            </c:strLit>
          </c:cat>
          <c:val>
            <c:numLit>
              <c:formatCode>General</c:formatCode>
              <c:ptCount val="1"/>
              <c:pt idx="0">
                <c:v>0</c:v>
              </c:pt>
            </c:numLit>
          </c:val>
        </c:ser>
        <c:axId val="48650112"/>
        <c:axId val="48672768"/>
      </c:lineChart>
      <c:catAx>
        <c:axId val="48650112"/>
        <c:scaling>
          <c:orientation val="minMax"/>
        </c:scaling>
        <c:delete val="0"/>
        <c:axPos val="b"/>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1"/>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50112"/>
        <c:crossBetween val="between"/>
      </c:valAx>
      <c:spPr>
        <a:noFill/>
        <a:ln w="0">
          <a:noFill/>
          <a:prstDash val="solid"/>
        </a:ln>
      </c:spPr>
    </c:plotArea>
    <c:legend>
      <c:legendPos val="b"/>
      <c:overlay val="0"/>
      <c:txPr>
        <a:bodyPr anchorCtr="1"/>
        <a:lstStyle/>
        <a:p>
          <a:pPr>
            <a:defRPr sz="788">
              <a:solidFill>
                <a:srgbClr val="73787D"/>
              </a:solidFill>
            </a:defRPr>
          </a:pPr>
        </a:p>
      </c:txPr>
    </c:legend>
    <c:plotVisOnly val="1"/>
  </c:chart>
  <c:spPr>
    <a:noFill/>
    <a:ln w="0">
      <a:noFill/>
      <a:prstDash val="solid"/>
    </a:ln>
  </c:spPr>
</c:chartSpace>
</file>

<file path=ppt/slides/charts/chart24.xml><?xml version="1.0" encoding="utf-8"?>
<c:chartSpace xmlns:a="http://schemas.openxmlformats.org/drawingml/2006/main" xmlns:c="http://schemas.openxmlformats.org/drawingml/2006/chart">
  <c:lang val="pt-BR"/>
  <c:chart>
    <c:plotArea>
      <c:barChart>
        <c:barDir val="bar"/>
        <c:grouping val="clustered"/>
        <c:varyColors val="0"/>
        <c:ser>
          <c:idx val="0"/>
          <c:order val="0"/>
          <c:tx>
            <c:v>Percentual</c:v>
          </c:tx>
          <c:spPr>
            <a:solidFill>
              <a:srgbClr val="30353A"/>
            </a:solidFill>
          </c:spPr>
          <c:dPt>
            <c:idx val="0"/>
            <c:invertIfNegative val="0"/>
            <c:spPr>
              <a:solidFill>
                <a:srgbClr val="30353A"/>
              </a:solidFill>
            </c:spPr>
          </c:dPt>
          <c:dPt>
            <c:idx val="1"/>
            <c:invertIfNegative val="0"/>
            <c:spPr>
              <a:solidFill>
                <a:srgbClr val="EC7000"/>
              </a:solidFill>
            </c:spPr>
          </c:dPt>
          <c:dPt>
            <c:idx val="2"/>
            <c:invertIfNegative val="0"/>
            <c:spPr>
              <a:solidFill>
                <a:srgbClr val="30353A"/>
              </a:solidFill>
            </c:spPr>
          </c:dPt>
          <c:dPt>
            <c:idx val="3"/>
            <c:invertIfNegative val="0"/>
            <c:spPr>
              <a:solidFill>
                <a:srgbClr val="30353A"/>
              </a:solidFill>
            </c:spPr>
          </c:dPt>
          <c:cat>
            <c:strLit>
              <c:ptCount val="4"/>
              <c:pt idx="0">
                <c:v>Inadimplência bruta</c:v>
              </c:pt>
              <c:pt idx="1">
                <c:v>Ajustada pelo cap</c:v>
              </c:pt>
              <c:pt idx="2">
                <c:v>Ajustada ex-NP</c:v>
              </c:pt>
              <c:pt idx="3">
                <c:v>Excluindo casos acima da carteira</c:v>
              </c:pt>
            </c:strLit>
          </c:cat>
          <c:val>
            <c:numLit>
              <c:formatCode>0.0%</c:formatCode>
              <c:ptCount val="4"/>
              <c:pt idx="0">
                <c:v>0.0809058933465922</c:v>
              </c:pt>
              <c:pt idx="1">
                <c:v>0.0593323376099488</c:v>
              </c:pt>
              <c:pt idx="2">
                <c:v>0.0564665522840033</c:v>
              </c:pt>
              <c:pt idx="3">
                <c:v>0.0531719041163333</c:v>
              </c:pt>
            </c:numLit>
          </c:val>
        </c:ser>
        <c:dLbls>
          <c:txPr>
            <a:bodyPr anchorCtr="1"/>
            <a:lstStyle/>
            <a:p>
              <a:pPr>
                <a:defRPr sz="900" b="1">
                  <a:solidFill>
                    <a:srgbClr val="151515"/>
                  </a:solidFill>
                </a:defRPr>
              </a:pPr>
            </a:p>
          </c:txPr>
          <c:dLblPos val="outEnd"/>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l"/>
        <c:numFmt formatCode="0%"/>
        <c:majorTickMark val="none"/>
        <c:minorTickMark val="none"/>
        <c:spPr>
          <a:ln w="9525">
            <a:solidFill>
              <a:srgbClr val="D7DADD"/>
            </a:solidFill>
            <a:prstDash val="solid"/>
          </a:ln>
        </c:spPr>
        <c:txPr>
          <a:bodyPr anchorCtr="1"/>
          <a:lstStyle/>
          <a:p>
            <a:pPr>
              <a:defRPr sz="788">
                <a:solidFill>
                  <a:srgbClr val="8D9399"/>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900">
                <a:solidFill>
                  <a:srgbClr val="73787D"/>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25.xml><?xml version="1.0" encoding="utf-8"?>
<c:chartSpace xmlns:a="http://schemas.openxmlformats.org/drawingml/2006/main" xmlns:c="http://schemas.openxmlformats.org/drawingml/2006/chart">
  <c:lang val="pt-BR"/>
  <c:chart>
    <c:plotArea>
      <c:lineChart>
        <c:grouping val="standard"/>
        <c:varyColors val="0"/>
        <c:ser>
          <c:idx val="0"/>
          <c:order val="0"/>
          <c:tx>
            <c:v>Original</c:v>
          </c:tx>
          <c:spPr>
            <a:ln w="28575">
              <a:solidFill>
                <a:srgbClr val="EC7000"/>
              </a:solidFill>
              <a:prstDash val="solid"/>
            </a:ln>
          </c:spPr>
          <c:marker>
            <c:symbol val="none"/>
          </c:marker>
          <c:cat>
            <c:strLit>
              <c:ptCount val="15"/>
              <c:pt idx="0">
                <c:v>03/23</c:v>
              </c:pt>
              <c:pt idx="1">
                <c:v/>
              </c:pt>
              <c:pt idx="2">
                <c:v/>
              </c:pt>
              <c:pt idx="3">
                <c:v>12/23</c:v>
              </c:pt>
              <c:pt idx="4">
                <c:v/>
              </c:pt>
              <c:pt idx="5">
                <c:v>06/24</c:v>
              </c:pt>
              <c:pt idx="6">
                <c:v>07/24</c:v>
              </c:pt>
              <c:pt idx="7">
                <c:v/>
              </c:pt>
              <c:pt idx="8">
                <c:v>12/24</c:v>
              </c:pt>
              <c:pt idx="9">
                <c:v/>
              </c:pt>
              <c:pt idx="10">
                <c:v/>
              </c:pt>
              <c:pt idx="11">
                <c:v>09/25</c:v>
              </c:pt>
              <c:pt idx="12">
                <c:v/>
              </c:pt>
              <c:pt idx="13">
                <c:v/>
              </c:pt>
              <c:pt idx="14">
                <c:v>06/26</c:v>
              </c:pt>
            </c:strLit>
          </c:cat>
          <c:val>
            <c:numLit>
              <c:formatCode>0.0%</c:formatCode>
              <c:ptCount val="15"/>
              <c:pt idx="0">
                <c:v>0.0699308402198136</c:v>
              </c:pt>
              <c:pt idx="1">
                <c:v>0.0413858663474672</c:v>
              </c:pt>
              <c:pt idx="2">
                <c:v>0.054182184519671</c:v>
              </c:pt>
              <c:pt idx="3">
                <c:v>0.0505714352102012</c:v>
              </c:pt>
              <c:pt idx="4">
                <c:v>0.042351603441698</c:v>
              </c:pt>
              <c:pt idx="5">
                <c:v>0.0526925150205596</c:v>
              </c:pt>
              <c:pt idx="6">
                <c:v>0.044853704491093</c:v>
              </c:pt>
              <c:pt idx="7">
                <c:v>0.0450892919500813</c:v>
              </c:pt>
              <c:pt idx="8">
                <c:v>0.0426046633548847</c:v>
              </c:pt>
              <c:pt idx="9">
                <c:v>0.0429438146622243</c:v>
              </c:pt>
              <c:pt idx="10">
                <c:v>0.0434223533702834</c:v>
              </c:pt>
              <c:pt idx="11">
                <c:v>0.045821513745815</c:v>
              </c:pt>
              <c:pt idx="12">
                <c:v>0.0344698393971271</c:v>
              </c:pt>
              <c:pt idx="13">
                <c:v>0.0371508338701136</c:v>
              </c:pt>
              <c:pt idx="14">
                <c:v>0.0443052791285222</c:v>
              </c:pt>
            </c:numLit>
          </c:val>
        </c:ser>
        <c:axId val="48650112"/>
        <c:axId val="48672768"/>
      </c:lineChart>
      <c:catAx>
        <c:axId val="48650112"/>
        <c:scaling>
          <c:orientation val="minMax"/>
        </c:scaling>
        <c:delete val="0"/>
        <c:axPos val="b"/>
        <c:numFmt formatCode="General"/>
        <c:majorTickMark val="none"/>
        <c:minorTickMark val="none"/>
        <c:tickLblPos val="low"/>
        <c:spPr>
          <a:ln w="9525">
            <a:solidFill>
              <a:srgbClr val="D7DADD"/>
            </a:solidFill>
            <a:prstDash val="solid"/>
          </a:ln>
        </c:spPr>
        <c:txPr>
          <a:bodyPr anchorCtr="1"/>
          <a:lstStyle/>
          <a:p>
            <a:pPr>
              <a:defRPr sz="638">
                <a:solidFill>
                  <a:srgbClr val="73787D"/>
                </a:solidFill>
              </a:defRPr>
            </a:pPr>
          </a:p>
        </c:txPr>
        <c:crossAx val="48672768"/>
        <c:lblAlgn val="ctr"/>
        <c:lblOffset val="100"/>
        <c:noMultiLvlLbl val="0"/>
      </c:catAx>
      <c:valAx>
        <c:axId val="48672768"/>
        <c:scaling>
          <c:orientation val="minMax"/>
          <c:max val="0.21"/>
          <c:min val="0"/>
        </c:scaling>
        <c:delete val="0"/>
        <c:axPos val="l"/>
        <c:majorGridlines>
          <c:spPr>
            <a:ln w="9525">
              <a:solidFill>
                <a:srgbClr val="E7E9EB"/>
              </a:solidFill>
              <a:prstDash val="solid"/>
            </a:ln>
          </c:spPr>
        </c:majorGridlines>
        <c:numFmt formatCode="0.0%"/>
        <c:majorTickMark val="none"/>
        <c:minorTickMark val="none"/>
        <c:spPr>
          <a:ln w="9525">
            <a:solidFill>
              <a:srgbClr val="D7DADD"/>
            </a:solidFill>
            <a:prstDash val="solid"/>
          </a:ln>
        </c:spPr>
        <c:txPr>
          <a:bodyPr anchorCtr="1"/>
          <a:lstStyle/>
          <a:p>
            <a:pPr>
              <a:defRPr sz="713">
                <a:solidFill>
                  <a:srgbClr val="8D9399"/>
                </a:solidFill>
              </a:defRPr>
            </a:pPr>
          </a:p>
        </c:txPr>
        <c:crossAx val="48650112"/>
        <c:crossBetween val="between"/>
        <c:majorUnit val="0.03"/>
      </c:valAx>
      <c:spPr>
        <a:noFill/>
        <a:ln w="0">
          <a:noFill/>
          <a:prstDash val="solid"/>
        </a:ln>
      </c:spPr>
    </c:plotArea>
    <c:plotVisOnly val="1"/>
  </c:chart>
  <c:spPr>
    <a:noFill/>
    <a:ln w="0">
      <a:noFill/>
      <a:prstDash val="solid"/>
    </a:ln>
  </c:spPr>
</c:chartSpace>
</file>

<file path=ppt/slides/charts/chart26.xml><?xml version="1.0" encoding="utf-8"?>
<c:chartSpace xmlns:a="http://schemas.openxmlformats.org/drawingml/2006/main" xmlns:c="http://schemas.openxmlformats.org/drawingml/2006/chart">
  <c:lang val="pt-BR"/>
  <c:chart>
    <c:plotArea>
      <c:lineChart>
        <c:grouping val="standard"/>
        <c:ser>
          <c:idx val="0"/>
          <c:order val="0"/>
          <c:tx>
            <c:v>Original · inclui zeros no denominador</c:v>
          </c:tx>
          <c:spPr>
            <a:ln w="28575">
              <a:solidFill>
                <a:srgbClr val="EC7000"/>
              </a:solidFill>
              <a:prstDash val="solid"/>
            </a:ln>
          </c:spPr>
          <c:marker>
            <c:symbol val="none"/>
          </c:marker>
          <c:cat>
            <c:strLit>
              <c:ptCount val="1"/>
              <c:pt idx="0">
                <c:v/>
              </c:pt>
            </c:strLit>
          </c:cat>
          <c:val>
            <c:numLit>
              <c:formatCode>General</c:formatCode>
              <c:ptCount val="1"/>
              <c:pt idx="0">
                <c:v>0</c:v>
              </c:pt>
            </c:numLit>
          </c:val>
        </c:ser>
        <c:axId val="48650112"/>
        <c:axId val="48672768"/>
      </c:lineChart>
      <c:catAx>
        <c:axId val="48650112"/>
        <c:scaling>
          <c:orientation val="minMax"/>
        </c:scaling>
        <c:delete val="0"/>
        <c:axPos val="b"/>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1"/>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50112"/>
        <c:crossBetween val="between"/>
      </c:valAx>
      <c:spPr>
        <a:noFill/>
        <a:ln w="0">
          <a:noFill/>
          <a:prstDash val="solid"/>
        </a:ln>
      </c:spPr>
    </c:plotArea>
    <c:legend>
      <c:legendPos val="b"/>
      <c:overlay val="0"/>
      <c:txPr>
        <a:bodyPr anchorCtr="1"/>
        <a:lstStyle/>
        <a:p>
          <a:pPr>
            <a:defRPr sz="788">
              <a:solidFill>
                <a:srgbClr val="73787D"/>
              </a:solidFill>
            </a:defRPr>
          </a:pPr>
        </a:p>
      </c:txPr>
    </c:legend>
    <c:plotVisOnly val="1"/>
  </c:chart>
  <c:spPr>
    <a:noFill/>
    <a:ln w="0">
      <a:noFill/>
      <a:prstDash val="solid"/>
    </a:ln>
  </c:spPr>
</c:chartSpace>
</file>

<file path=ppt/slides/charts/chart27.xml><?xml version="1.0" encoding="utf-8"?>
<c:chartSpace xmlns:a="http://schemas.openxmlformats.org/drawingml/2006/main" xmlns:c="http://schemas.openxmlformats.org/drawingml/2006/chart">
  <c:lang val="pt-BR"/>
  <c:chart>
    <c:plotArea>
      <c:lineChart>
        <c:grouping val="standard"/>
        <c:varyColors val="0"/>
        <c:ser>
          <c:idx val="0"/>
          <c:order val="0"/>
          <c:tx>
            <c:v>Ex-zeros</c:v>
          </c:tx>
          <c:spPr>
            <a:ln w="28575">
              <a:solidFill>
                <a:srgbClr val="EC7000"/>
              </a:solidFill>
              <a:prstDash val="solid"/>
            </a:ln>
          </c:spPr>
          <c:marker>
            <c:symbol val="none"/>
          </c:marker>
          <c:cat>
            <c:strLit>
              <c:ptCount val="14"/>
              <c:pt idx="0">
                <c:v>03/23</c:v>
              </c:pt>
              <c:pt idx="1">
                <c:v/>
              </c:pt>
              <c:pt idx="2">
                <c:v/>
              </c:pt>
              <c:pt idx="3">
                <c:v>12/23</c:v>
              </c:pt>
              <c:pt idx="4">
                <c:v/>
              </c:pt>
              <c:pt idx="5">
                <c:v/>
              </c:pt>
              <c:pt idx="6">
                <c:v/>
              </c:pt>
              <c:pt idx="7">
                <c:v>12/24</c:v>
              </c:pt>
              <c:pt idx="8">
                <c:v/>
              </c:pt>
              <c:pt idx="9">
                <c:v/>
              </c:pt>
              <c:pt idx="10">
                <c:v/>
              </c:pt>
              <c:pt idx="11">
                <c:v>12/25</c:v>
              </c:pt>
              <c:pt idx="12">
                <c:v/>
              </c:pt>
              <c:pt idx="13">
                <c:v>06/26</c:v>
              </c:pt>
            </c:strLit>
          </c:cat>
          <c:val>
            <c:numLit>
              <c:formatCode>0.0%</c:formatCode>
              <c:ptCount val="14"/>
              <c:pt idx="0">
                <c:v>0.2783291289680555</c:v>
              </c:pt>
              <c:pt idx="1">
                <c:v>0.2077700326589613</c:v>
              </c:pt>
              <c:pt idx="2">
                <c:v>0.2428538731040054</c:v>
              </c:pt>
              <c:pt idx="3">
                <c:v>0.2255418250857552</c:v>
              </c:pt>
              <c:pt idx="4">
                <c:v>0.1869990785556627</c:v>
              </c:pt>
              <c:pt idx="5">
                <c:v>0.2064251881930608</c:v>
              </c:pt>
              <c:pt idx="6">
                <c:v>0.2003357975731442</c:v>
              </c:pt>
              <c:pt idx="7">
                <c:v>0.192391885697197</c:v>
              </c:pt>
              <c:pt idx="8">
                <c:v>0.1699260324814649</c:v>
              </c:pt>
              <c:pt idx="9">
                <c:v>0.1635302800243923</c:v>
              </c:pt>
              <c:pt idx="10">
                <c:v>0.1564418768603019</c:v>
              </c:pt>
              <c:pt idx="11">
                <c:v>0.1177679199516296</c:v>
              </c:pt>
              <c:pt idx="12">
                <c:v>0.1158555107970783</c:v>
              </c:pt>
              <c:pt idx="13">
                <c:v>0.1352132567320641</c:v>
              </c:pt>
            </c:numLit>
          </c:val>
        </c:ser>
        <c:axId val="48650112"/>
        <c:axId val="48672768"/>
      </c:lineChart>
      <c:catAx>
        <c:axId val="48650112"/>
        <c:scaling>
          <c:orientation val="minMax"/>
        </c:scaling>
        <c:delete val="0"/>
        <c:axPos val="b"/>
        <c:numFmt formatCode="General"/>
        <c:majorTickMark val="none"/>
        <c:minorTickMark val="none"/>
        <c:tickLblPos val="low"/>
        <c:spPr>
          <a:ln w="9525">
            <a:solidFill>
              <a:srgbClr val="D7DADD"/>
            </a:solidFill>
            <a:prstDash val="solid"/>
          </a:ln>
        </c:spPr>
        <c:txPr>
          <a:bodyPr anchorCtr="1"/>
          <a:lstStyle/>
          <a:p>
            <a:pPr>
              <a:defRPr sz="638">
                <a:solidFill>
                  <a:srgbClr val="73787D"/>
                </a:solidFill>
              </a:defRPr>
            </a:pPr>
          </a:p>
        </c:txPr>
        <c:crossAx val="48672768"/>
        <c:lblAlgn val="ctr"/>
        <c:lblOffset val="100"/>
        <c:noMultiLvlLbl val="0"/>
      </c:catAx>
      <c:valAx>
        <c:axId val="48672768"/>
        <c:scaling>
          <c:orientation val="minMax"/>
          <c:min val="0"/>
        </c:scaling>
        <c:delete val="0"/>
        <c:axPos val="l"/>
        <c:majorGridlines>
          <c:spPr>
            <a:ln w="9525">
              <a:solidFill>
                <a:srgbClr val="E7E9EB"/>
              </a:solidFill>
              <a:prstDash val="solid"/>
            </a:ln>
          </c:spPr>
        </c:majorGridlines>
        <c:numFmt formatCode="0.0%"/>
        <c:majorTickMark val="none"/>
        <c:minorTickMark val="none"/>
        <c:spPr>
          <a:ln w="9525">
            <a:solidFill>
              <a:srgbClr val="D7DADD"/>
            </a:solidFill>
            <a:prstDash val="solid"/>
          </a:ln>
        </c:spPr>
        <c:txPr>
          <a:bodyPr anchorCtr="1"/>
          <a:lstStyle/>
          <a:p>
            <a:pPr>
              <a:defRPr sz="713">
                <a:solidFill>
                  <a:srgbClr val="8D9399"/>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28.xml><?xml version="1.0" encoding="utf-8"?>
<c:chartSpace xmlns:a="http://schemas.openxmlformats.org/drawingml/2006/main" xmlns:c="http://schemas.openxmlformats.org/drawingml/2006/chart">
  <c:lang val="pt-BR"/>
  <c:chart>
    <c:plotArea>
      <c:lineChart>
        <c:grouping val="standard"/>
        <c:ser>
          <c:idx val="0"/>
          <c:order val="0"/>
          <c:tx>
            <c:v>Ex-zeros · denominador restrito</c:v>
          </c:tx>
          <c:spPr>
            <a:ln w="28575">
              <a:solidFill>
                <a:srgbClr val="EC7000"/>
              </a:solidFill>
              <a:prstDash val="solid"/>
            </a:ln>
          </c:spPr>
          <c:marker>
            <c:symbol val="none"/>
          </c:marker>
          <c:cat>
            <c:strLit>
              <c:ptCount val="1"/>
              <c:pt idx="0">
                <c:v/>
              </c:pt>
            </c:strLit>
          </c:cat>
          <c:val>
            <c:numLit>
              <c:formatCode>General</c:formatCode>
              <c:ptCount val="1"/>
              <c:pt idx="0">
                <c:v>0</c:v>
              </c:pt>
            </c:numLit>
          </c:val>
        </c:ser>
        <c:axId val="48650112"/>
        <c:axId val="48672768"/>
      </c:lineChart>
      <c:catAx>
        <c:axId val="48650112"/>
        <c:scaling>
          <c:orientation val="minMax"/>
        </c:scaling>
        <c:delete val="0"/>
        <c:axPos val="b"/>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1"/>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50112"/>
        <c:crossBetween val="between"/>
      </c:valAx>
      <c:spPr>
        <a:noFill/>
        <a:ln w="0">
          <a:noFill/>
          <a:prstDash val="solid"/>
        </a:ln>
      </c:spPr>
    </c:plotArea>
    <c:legend>
      <c:legendPos val="b"/>
      <c:overlay val="0"/>
      <c:txPr>
        <a:bodyPr anchorCtr="1"/>
        <a:lstStyle/>
        <a:p>
          <a:pPr>
            <a:defRPr sz="788">
              <a:solidFill>
                <a:srgbClr val="73787D"/>
              </a:solidFill>
            </a:defRPr>
          </a:pPr>
        </a:p>
      </c:txPr>
    </c:legend>
    <c:plotVisOnly val="1"/>
  </c:chart>
  <c:spPr>
    <a:noFill/>
    <a:ln w="0">
      <a:noFill/>
      <a:prstDash val="solid"/>
    </a:ln>
  </c:spPr>
</c:chartSpace>
</file>

<file path=ppt/slides/charts/chart29.xml><?xml version="1.0" encoding="utf-8"?>
<c:chartSpace xmlns:a="http://schemas.openxmlformats.org/drawingml/2006/main" xmlns:c="http://schemas.openxmlformats.org/drawingml/2006/chart">
  <c:lang val="pt-BR"/>
  <c:chart>
    <c:plotArea>
      <c:lineChart>
        <c:grouping val="standard"/>
        <c:varyColors val="0"/>
        <c:ser>
          <c:idx val="0"/>
          <c:order val="0"/>
          <c:tx>
            <c:v>Financeiro</c:v>
          </c:tx>
          <c:spPr>
            <a:ln w="19050">
              <a:solidFill>
                <a:srgbClr val="151515"/>
              </a:solidFill>
              <a:prstDash val="solid"/>
            </a:ln>
          </c:spPr>
          <c:marker>
            <c:symbol val="none"/>
          </c:marker>
          <c:cat>
            <c:strLit>
              <c:ptCount val="31"/>
              <c:pt idx="0">
                <c:v>12/23</c:v>
              </c:pt>
              <c:pt idx="1">
                <c:v/>
              </c:pt>
              <c:pt idx="2">
                <c:v/>
              </c:pt>
              <c:pt idx="3">
                <c:v/>
              </c:pt>
              <c:pt idx="4">
                <c:v>04/24</c:v>
              </c:pt>
              <c:pt idx="5">
                <c:v/>
              </c:pt>
              <c:pt idx="6">
                <c:v/>
              </c:pt>
              <c:pt idx="7">
                <c:v/>
              </c:pt>
              <c:pt idx="8">
                <c:v>08/24</c:v>
              </c:pt>
              <c:pt idx="9">
                <c:v/>
              </c:pt>
              <c:pt idx="10">
                <c:v/>
              </c:pt>
              <c:pt idx="11">
                <c:v/>
              </c:pt>
              <c:pt idx="12">
                <c:v>12/24</c:v>
              </c:pt>
              <c:pt idx="13">
                <c:v/>
              </c:pt>
              <c:pt idx="14">
                <c:v/>
              </c:pt>
              <c:pt idx="15">
                <c:v/>
              </c:pt>
              <c:pt idx="16">
                <c:v>04/25</c:v>
              </c:pt>
              <c:pt idx="17">
                <c:v/>
              </c:pt>
              <c:pt idx="18">
                <c:v/>
              </c:pt>
              <c:pt idx="19">
                <c:v/>
              </c:pt>
              <c:pt idx="20">
                <c:v>08/25</c:v>
              </c:pt>
              <c:pt idx="21">
                <c:v/>
              </c:pt>
              <c:pt idx="22">
                <c:v/>
              </c:pt>
              <c:pt idx="23">
                <c:v/>
              </c:pt>
              <c:pt idx="24">
                <c:v>12/25</c:v>
              </c:pt>
              <c:pt idx="25">
                <c:v/>
              </c:pt>
              <c:pt idx="26">
                <c:v/>
              </c:pt>
              <c:pt idx="27">
                <c:v/>
              </c:pt>
              <c:pt idx="28">
                <c:v>04/26</c:v>
              </c:pt>
              <c:pt idx="29">
                <c:v/>
              </c:pt>
              <c:pt idx="30">
                <c:v>06/26</c:v>
              </c:pt>
            </c:strLit>
          </c:cat>
          <c:val>
            <c:numLit>
              <c:formatCode>0.0%</c:formatCode>
              <c:ptCount val="31"/>
              <c:pt idx="0">
                <c:v>0.0721933056522929</c:v>
              </c:pt>
              <c:pt idx="1">
                <c:v>0.0724527089960241</c:v>
              </c:pt>
              <c:pt idx="2">
                <c:v>0.0730804465099311</c:v>
              </c:pt>
              <c:pt idx="3">
                <c:v>0.0632503901979427</c:v>
              </c:pt>
              <c:pt idx="4">
                <c:v>0.0641912171142307</c:v>
              </c:pt>
              <c:pt idx="5">
                <c:v>0.0657546480281713</c:v>
              </c:pt>
              <c:pt idx="6">
                <c:v>0.0634494475619897</c:v>
              </c:pt>
              <c:pt idx="7">
                <c:v>0.0646543625808829</c:v>
              </c:pt>
              <c:pt idx="8">
                <c:v>0.0673111027113792</c:v>
              </c:pt>
              <c:pt idx="9">
                <c:v>0.0656328096378168</c:v>
              </c:pt>
              <c:pt idx="10">
                <c:v>0.0620757208077272</c:v>
              </c:pt>
              <c:pt idx="11">
                <c:v>0.0736017938293535</c:v>
              </c:pt>
              <c:pt idx="12">
                <c:v>0.0635557109295464</c:v>
              </c:pt>
              <c:pt idx="13">
                <c:v>0.0542417392216208</c:v>
              </c:pt>
              <c:pt idx="14">
                <c:v>0.0538538517691906</c:v>
              </c:pt>
              <c:pt idx="15">
                <c:v>0.0521482823676041</c:v>
              </c:pt>
              <c:pt idx="16">
                <c:v>0.0536968054360994</c:v>
              </c:pt>
              <c:pt idx="17">
                <c:v>0.0518963049039671</c:v>
              </c:pt>
              <c:pt idx="18">
                <c:v>0.0510546702744202</c:v>
              </c:pt>
              <c:pt idx="19">
                <c:v>0.0529196484159213</c:v>
              </c:pt>
              <c:pt idx="20">
                <c:v>0.046013836733936</c:v>
              </c:pt>
              <c:pt idx="21">
                <c:v>0.0550382677231159</c:v>
              </c:pt>
              <c:pt idx="22">
                <c:v>0.0485909630112604</c:v>
              </c:pt>
              <c:pt idx="23">
                <c:v>0.0574955025459674</c:v>
              </c:pt>
              <c:pt idx="24">
                <c:v>0.0468319400175989</c:v>
              </c:pt>
              <c:pt idx="25">
                <c:v>0.0539850839306449</c:v>
              </c:pt>
              <c:pt idx="26">
                <c:v>0.0548524033756501</c:v>
              </c:pt>
              <c:pt idx="27">
                <c:v>0.057384795173174</c:v>
              </c:pt>
              <c:pt idx="28">
                <c:v>0.0561998841914902</c:v>
              </c:pt>
              <c:pt idx="29">
                <c:v>0.0601770065333058</c:v>
              </c:pt>
              <c:pt idx="30">
                <c:v>0.0716771622807513</c:v>
              </c:pt>
            </c:numLit>
          </c:val>
        </c:ser>
        <c:ser>
          <c:idx val="1"/>
          <c:order val="1"/>
          <c:tx>
            <c:v>Cartão de crédito</c:v>
          </c:tx>
          <c:spPr>
            <a:ln w="19050">
              <a:solidFill>
                <a:srgbClr val="30353A"/>
              </a:solidFill>
              <a:prstDash val="solid"/>
            </a:ln>
          </c:spPr>
          <c:marker>
            <c:symbol val="none"/>
          </c:marker>
          <c:cat>
            <c:strLit>
              <c:ptCount val="31"/>
              <c:pt idx="0">
                <c:v>12/23</c:v>
              </c:pt>
              <c:pt idx="1">
                <c:v/>
              </c:pt>
              <c:pt idx="2">
                <c:v/>
              </c:pt>
              <c:pt idx="3">
                <c:v/>
              </c:pt>
              <c:pt idx="4">
                <c:v>04/24</c:v>
              </c:pt>
              <c:pt idx="5">
                <c:v/>
              </c:pt>
              <c:pt idx="6">
                <c:v/>
              </c:pt>
              <c:pt idx="7">
                <c:v/>
              </c:pt>
              <c:pt idx="8">
                <c:v>08/24</c:v>
              </c:pt>
              <c:pt idx="9">
                <c:v/>
              </c:pt>
              <c:pt idx="10">
                <c:v/>
              </c:pt>
              <c:pt idx="11">
                <c:v/>
              </c:pt>
              <c:pt idx="12">
                <c:v>12/24</c:v>
              </c:pt>
              <c:pt idx="13">
                <c:v/>
              </c:pt>
              <c:pt idx="14">
                <c:v/>
              </c:pt>
              <c:pt idx="15">
                <c:v/>
              </c:pt>
              <c:pt idx="16">
                <c:v>04/25</c:v>
              </c:pt>
              <c:pt idx="17">
                <c:v/>
              </c:pt>
              <c:pt idx="18">
                <c:v/>
              </c:pt>
              <c:pt idx="19">
                <c:v/>
              </c:pt>
              <c:pt idx="20">
                <c:v>08/25</c:v>
              </c:pt>
              <c:pt idx="21">
                <c:v/>
              </c:pt>
              <c:pt idx="22">
                <c:v/>
              </c:pt>
              <c:pt idx="23">
                <c:v/>
              </c:pt>
              <c:pt idx="24">
                <c:v>12/25</c:v>
              </c:pt>
              <c:pt idx="25">
                <c:v/>
              </c:pt>
              <c:pt idx="26">
                <c:v/>
              </c:pt>
              <c:pt idx="27">
                <c:v/>
              </c:pt>
              <c:pt idx="28">
                <c:v>04/26</c:v>
              </c:pt>
              <c:pt idx="29">
                <c:v/>
              </c:pt>
              <c:pt idx="30">
                <c:v>06/26</c:v>
              </c:pt>
            </c:strLit>
          </c:cat>
          <c:val>
            <c:numLit>
              <c:formatCode>0.0%</c:formatCode>
              <c:ptCount val="31"/>
              <c:pt idx="0">
                <c:v>0.0080429968986406</c:v>
              </c:pt>
              <c:pt idx="1">
                <c:v>0.0103555534057833</c:v>
              </c:pt>
              <c:pt idx="2">
                <c:v>0.0101297396700234</c:v>
              </c:pt>
              <c:pt idx="3">
                <c:v>0.0104827854323463</c:v>
              </c:pt>
              <c:pt idx="4">
                <c:v>0.0111237663607328</c:v>
              </c:pt>
              <c:pt idx="5">
                <c:v>0.0106422727689357</c:v>
              </c:pt>
              <c:pt idx="6">
                <c:v>0.0079913813375405</c:v>
              </c:pt>
              <c:pt idx="7">
                <c:v>0.007890065967714</c:v>
              </c:pt>
              <c:pt idx="8">
                <c:v>0.0079420973656034</c:v>
              </c:pt>
              <c:pt idx="9">
                <c:v>0.0079557633987717</c:v>
              </c:pt>
              <c:pt idx="10">
                <c:v>0.0069164043062772</c:v>
              </c:pt>
              <c:pt idx="11">
                <c:v>0.0064863829417569</c:v>
              </c:pt>
              <c:pt idx="12">
                <c:v>0.0058804822095036</c:v>
              </c:pt>
              <c:pt idx="13">
                <c:v>0.0062984134661783</c:v>
              </c:pt>
              <c:pt idx="14">
                <c:v>0.0068137312399075</c:v>
              </c:pt>
              <c:pt idx="15">
                <c:v>0.0067604454995235</c:v>
              </c:pt>
              <c:pt idx="16">
                <c:v>0.0089037082329132</c:v>
              </c:pt>
              <c:pt idx="17">
                <c:v>0.0085557990476181</c:v>
              </c:pt>
              <c:pt idx="18">
                <c:v>0.0089308937706528</c:v>
              </c:pt>
              <c:pt idx="19">
                <c:v>0.0096799935000471</c:v>
              </c:pt>
              <c:pt idx="20">
                <c:v>0.0097012956016713</c:v>
              </c:pt>
              <c:pt idx="21">
                <c:v>0.0094978815130768</c:v>
              </c:pt>
              <c:pt idx="22">
                <c:v>0.009838827534266</c:v>
              </c:pt>
              <c:pt idx="23">
                <c:v>0.009638514605356</c:v>
              </c:pt>
              <c:pt idx="24">
                <c:v>0.010345169549131</c:v>
              </c:pt>
              <c:pt idx="25">
                <c:v>0.0101429214599004</c:v>
              </c:pt>
              <c:pt idx="26">
                <c:v>0.0106021535752052</c:v>
              </c:pt>
              <c:pt idx="27">
                <c:v>0.0103961681274984</c:v>
              </c:pt>
              <c:pt idx="28">
                <c:v>0.0111458074735555</c:v>
              </c:pt>
              <c:pt idx="29">
                <c:v>0.0112389411589637</c:v>
              </c:pt>
              <c:pt idx="30">
                <c:v>0.0117604400025326</c:v>
              </c:pt>
            </c:numLit>
          </c:val>
        </c:ser>
        <c:ser>
          <c:idx val="2"/>
          <c:order val="2"/>
          <c:tx>
            <c:v>Comercial</c:v>
          </c:tx>
          <c:spPr>
            <a:ln w="19050">
              <a:solidFill>
                <a:srgbClr val="454A4F"/>
              </a:solidFill>
              <a:prstDash val="solid"/>
            </a:ln>
          </c:spPr>
          <c:marker>
            <c:symbol val="none"/>
          </c:marker>
          <c:cat>
            <c:strLit>
              <c:ptCount val="31"/>
              <c:pt idx="0">
                <c:v>12/23</c:v>
              </c:pt>
              <c:pt idx="1">
                <c:v/>
              </c:pt>
              <c:pt idx="2">
                <c:v/>
              </c:pt>
              <c:pt idx="3">
                <c:v/>
              </c:pt>
              <c:pt idx="4">
                <c:v>04/24</c:v>
              </c:pt>
              <c:pt idx="5">
                <c:v/>
              </c:pt>
              <c:pt idx="6">
                <c:v/>
              </c:pt>
              <c:pt idx="7">
                <c:v/>
              </c:pt>
              <c:pt idx="8">
                <c:v>08/24</c:v>
              </c:pt>
              <c:pt idx="9">
                <c:v/>
              </c:pt>
              <c:pt idx="10">
                <c:v/>
              </c:pt>
              <c:pt idx="11">
                <c:v/>
              </c:pt>
              <c:pt idx="12">
                <c:v>12/24</c:v>
              </c:pt>
              <c:pt idx="13">
                <c:v/>
              </c:pt>
              <c:pt idx="14">
                <c:v/>
              </c:pt>
              <c:pt idx="15">
                <c:v/>
              </c:pt>
              <c:pt idx="16">
                <c:v>04/25</c:v>
              </c:pt>
              <c:pt idx="17">
                <c:v/>
              </c:pt>
              <c:pt idx="18">
                <c:v/>
              </c:pt>
              <c:pt idx="19">
                <c:v/>
              </c:pt>
              <c:pt idx="20">
                <c:v>08/25</c:v>
              </c:pt>
              <c:pt idx="21">
                <c:v/>
              </c:pt>
              <c:pt idx="22">
                <c:v/>
              </c:pt>
              <c:pt idx="23">
                <c:v/>
              </c:pt>
              <c:pt idx="24">
                <c:v>12/25</c:v>
              </c:pt>
              <c:pt idx="25">
                <c:v/>
              </c:pt>
              <c:pt idx="26">
                <c:v/>
              </c:pt>
              <c:pt idx="27">
                <c:v/>
              </c:pt>
              <c:pt idx="28">
                <c:v>04/26</c:v>
              </c:pt>
              <c:pt idx="29">
                <c:v/>
              </c:pt>
              <c:pt idx="30">
                <c:v>06/26</c:v>
              </c:pt>
            </c:strLit>
          </c:cat>
          <c:val>
            <c:numLit>
              <c:formatCode>0.0%</c:formatCode>
              <c:ptCount val="31"/>
              <c:pt idx="0">
                <c:v>0.1082012781222687</c:v>
              </c:pt>
              <c:pt idx="1">
                <c:v>0.1161592735371424</c:v>
              </c:pt>
              <c:pt idx="2">
                <c:v>0.1194716541232022</c:v>
              </c:pt>
              <c:pt idx="3">
                <c:v>0.110340097661799</c:v>
              </c:pt>
              <c:pt idx="4">
                <c:v>0.1101662641871065</c:v>
              </c:pt>
              <c:pt idx="5">
                <c:v>0.1149075978008279</c:v>
              </c:pt>
              <c:pt idx="6">
                <c:v>0.1124919560057237</c:v>
              </c:pt>
              <c:pt idx="7">
                <c:v>0.098567530605085</c:v>
              </c:pt>
              <c:pt idx="8">
                <c:v>0.1000404253970929</c:v>
              </c:pt>
              <c:pt idx="9">
                <c:v>0.0874582451638325</c:v>
              </c:pt>
              <c:pt idx="10">
                <c:v>0.0856747977502285</c:v>
              </c:pt>
              <c:pt idx="11">
                <c:v>0.0877889765268387</c:v>
              </c:pt>
              <c:pt idx="12">
                <c:v>0.0885286227670983</c:v>
              </c:pt>
              <c:pt idx="13">
                <c:v>0.1431704813182423</c:v>
              </c:pt>
              <c:pt idx="14">
                <c:v>0.1427519812637698</c:v>
              </c:pt>
              <c:pt idx="15">
                <c:v>0.1104294687674457</c:v>
              </c:pt>
              <c:pt idx="16">
                <c:v>0.1092444441783367</c:v>
              </c:pt>
              <c:pt idx="17">
                <c:v>0.1020185080892119</c:v>
              </c:pt>
              <c:pt idx="18">
                <c:v>0.0819808141756463</c:v>
              </c:pt>
              <c:pt idx="19">
                <c:v>0.0739784925005875</c:v>
              </c:pt>
              <c:pt idx="20">
                <c:v>0.0776869622102317</c:v>
              </c:pt>
              <c:pt idx="21">
                <c:v>0.0812227396177681</c:v>
              </c:pt>
              <c:pt idx="22">
                <c:v>0.0778389474752357</c:v>
              </c:pt>
              <c:pt idx="23">
                <c:v>0.0619370973852018</c:v>
              </c:pt>
              <c:pt idx="24">
                <c:v>0.0638211406580486</c:v>
              </c:pt>
              <c:pt idx="25">
                <c:v>0.0615357509303453</c:v>
              </c:pt>
              <c:pt idx="26">
                <c:v>0.0511457130166931</c:v>
              </c:pt>
              <c:pt idx="27">
                <c:v>0.0505787700495826</c:v>
              </c:pt>
              <c:pt idx="28">
                <c:v>0.0485661426696369</c:v>
              </c:pt>
              <c:pt idx="29">
                <c:v>0.0473808964121762</c:v>
              </c:pt>
              <c:pt idx="30">
                <c:v>0.0383198312904363</c:v>
              </c:pt>
            </c:numLit>
          </c:val>
        </c:ser>
        <c:ser>
          <c:idx val="3"/>
          <c:order val="3"/>
          <c:tx>
            <c:v>Industrial</c:v>
          </c:tx>
          <c:spPr>
            <a:ln w="12859">
              <a:solidFill>
                <a:srgbClr val="5B6065"/>
              </a:solidFill>
              <a:prstDash val="solid"/>
            </a:ln>
          </c:spPr>
          <c:marker>
            <c:symbol val="none"/>
          </c:marker>
          <c:cat>
            <c:strLit>
              <c:ptCount val="31"/>
              <c:pt idx="0">
                <c:v>12/23</c:v>
              </c:pt>
              <c:pt idx="1">
                <c:v/>
              </c:pt>
              <c:pt idx="2">
                <c:v/>
              </c:pt>
              <c:pt idx="3">
                <c:v/>
              </c:pt>
              <c:pt idx="4">
                <c:v>04/24</c:v>
              </c:pt>
              <c:pt idx="5">
                <c:v/>
              </c:pt>
              <c:pt idx="6">
                <c:v/>
              </c:pt>
              <c:pt idx="7">
                <c:v/>
              </c:pt>
              <c:pt idx="8">
                <c:v>08/24</c:v>
              </c:pt>
              <c:pt idx="9">
                <c:v/>
              </c:pt>
              <c:pt idx="10">
                <c:v/>
              </c:pt>
              <c:pt idx="11">
                <c:v/>
              </c:pt>
              <c:pt idx="12">
                <c:v>12/24</c:v>
              </c:pt>
              <c:pt idx="13">
                <c:v/>
              </c:pt>
              <c:pt idx="14">
                <c:v/>
              </c:pt>
              <c:pt idx="15">
                <c:v/>
              </c:pt>
              <c:pt idx="16">
                <c:v>04/25</c:v>
              </c:pt>
              <c:pt idx="17">
                <c:v/>
              </c:pt>
              <c:pt idx="18">
                <c:v/>
              </c:pt>
              <c:pt idx="19">
                <c:v/>
              </c:pt>
              <c:pt idx="20">
                <c:v>08/25</c:v>
              </c:pt>
              <c:pt idx="21">
                <c:v/>
              </c:pt>
              <c:pt idx="22">
                <c:v/>
              </c:pt>
              <c:pt idx="23">
                <c:v/>
              </c:pt>
              <c:pt idx="24">
                <c:v>12/25</c:v>
              </c:pt>
              <c:pt idx="25">
                <c:v/>
              </c:pt>
              <c:pt idx="26">
                <c:v/>
              </c:pt>
              <c:pt idx="27">
                <c:v/>
              </c:pt>
              <c:pt idx="28">
                <c:v>04/26</c:v>
              </c:pt>
              <c:pt idx="29">
                <c:v/>
              </c:pt>
              <c:pt idx="30">
                <c:v>06/26</c:v>
              </c:pt>
            </c:strLit>
          </c:cat>
          <c:val>
            <c:numLit>
              <c:formatCode>0.0%</c:formatCode>
              <c:ptCount val="31"/>
              <c:pt idx="0">
                <c:v>0.0025995750477537</c:v>
              </c:pt>
              <c:pt idx="1">
                <c:v>0.0027073175458643</c:v>
              </c:pt>
              <c:pt idx="2">
                <c:v>0.0032142957243589</c:v>
              </c:pt>
              <c:pt idx="3">
                <c:v>0.0034097015354183</c:v>
              </c:pt>
              <c:pt idx="4">
                <c:v>0.0021054729286722</c:v>
              </c:pt>
              <c:pt idx="5">
                <c:v>0.0047362923216476</c:v>
              </c:pt>
              <c:pt idx="6">
                <c:v>0.0055366129638028</c:v>
              </c:pt>
              <c:pt idx="7">
                <c:v>0.0024131461675404</c:v>
              </c:pt>
              <c:pt idx="8">
                <c:v>0.0019877205669721</c:v>
              </c:pt>
              <c:pt idx="9">
                <c:v>0.0046091003151197</c:v>
              </c:pt>
              <c:pt idx="10">
                <c:v>0.003757986185218</c:v>
              </c:pt>
              <c:pt idx="11">
                <c:v>0.003791079854629</c:v>
              </c:pt>
              <c:pt idx="12">
                <c:v>0.004061108957977</c:v>
              </c:pt>
              <c:pt idx="13">
                <c:v>0.0036679242090174</c:v>
              </c:pt>
              <c:pt idx="14">
                <c:v>0.0037228807818014</c:v>
              </c:pt>
              <c:pt idx="15">
                <c:v>0.0041390501391543</c:v>
              </c:pt>
              <c:pt idx="16">
                <c:v>0.0043238466007108</c:v>
              </c:pt>
              <c:pt idx="17">
                <c:v>0.0040579403197648</c:v>
              </c:pt>
              <c:pt idx="18">
                <c:v>0.0070527663617381</c:v>
              </c:pt>
              <c:pt idx="19">
                <c:v>0.0067700063530923</c:v>
              </c:pt>
              <c:pt idx="20">
                <c:v>0.0070438224934519</c:v>
              </c:pt>
              <c:pt idx="21">
                <c:v>0.0085456396251194</c:v>
              </c:pt>
              <c:pt idx="22">
                <c:v>0.0091884370424081</c:v>
              </c:pt>
              <c:pt idx="23">
                <c:v>0.0062620305712928</c:v>
              </c:pt>
              <c:pt idx="24">
                <c:v>0.0070617642492158</c:v>
              </c:pt>
              <c:pt idx="25">
                <c:v>0.0063200695172949</c:v>
              </c:pt>
              <c:pt idx="26">
                <c:v>0.0059848905077144</c:v>
              </c:pt>
              <c:pt idx="27">
                <c:v>0.0063789170386723</c:v>
              </c:pt>
              <c:pt idx="28">
                <c:v>0.006420463309229</c:v>
              </c:pt>
              <c:pt idx="29">
                <c:v>0.0096784901416031</c:v>
              </c:pt>
              <c:pt idx="30">
                <c:v>0.0106470085607881</c:v>
              </c:pt>
            </c:numLit>
          </c:val>
        </c:ser>
        <c:ser>
          <c:idx val="4"/>
          <c:order val="4"/>
          <c:tx>
            <c:v>Serviços</c:v>
          </c:tx>
          <c:spPr>
            <a:ln w="12859">
              <a:solidFill>
                <a:srgbClr val="73787D"/>
              </a:solidFill>
              <a:prstDash val="solid"/>
            </a:ln>
          </c:spPr>
          <c:marker>
            <c:symbol val="none"/>
          </c:marker>
          <c:cat>
            <c:strLit>
              <c:ptCount val="31"/>
              <c:pt idx="0">
                <c:v>12/23</c:v>
              </c:pt>
              <c:pt idx="1">
                <c:v/>
              </c:pt>
              <c:pt idx="2">
                <c:v/>
              </c:pt>
              <c:pt idx="3">
                <c:v/>
              </c:pt>
              <c:pt idx="4">
                <c:v>04/24</c:v>
              </c:pt>
              <c:pt idx="5">
                <c:v/>
              </c:pt>
              <c:pt idx="6">
                <c:v/>
              </c:pt>
              <c:pt idx="7">
                <c:v/>
              </c:pt>
              <c:pt idx="8">
                <c:v>08/24</c:v>
              </c:pt>
              <c:pt idx="9">
                <c:v/>
              </c:pt>
              <c:pt idx="10">
                <c:v/>
              </c:pt>
              <c:pt idx="11">
                <c:v/>
              </c:pt>
              <c:pt idx="12">
                <c:v>12/24</c:v>
              </c:pt>
              <c:pt idx="13">
                <c:v/>
              </c:pt>
              <c:pt idx="14">
                <c:v/>
              </c:pt>
              <c:pt idx="15">
                <c:v/>
              </c:pt>
              <c:pt idx="16">
                <c:v>04/25</c:v>
              </c:pt>
              <c:pt idx="17">
                <c:v/>
              </c:pt>
              <c:pt idx="18">
                <c:v/>
              </c:pt>
              <c:pt idx="19">
                <c:v/>
              </c:pt>
              <c:pt idx="20">
                <c:v>08/25</c:v>
              </c:pt>
              <c:pt idx="21">
                <c:v/>
              </c:pt>
              <c:pt idx="22">
                <c:v/>
              </c:pt>
              <c:pt idx="23">
                <c:v/>
              </c:pt>
              <c:pt idx="24">
                <c:v>12/25</c:v>
              </c:pt>
              <c:pt idx="25">
                <c:v/>
              </c:pt>
              <c:pt idx="26">
                <c:v/>
              </c:pt>
              <c:pt idx="27">
                <c:v/>
              </c:pt>
              <c:pt idx="28">
                <c:v>04/26</c:v>
              </c:pt>
              <c:pt idx="29">
                <c:v/>
              </c:pt>
              <c:pt idx="30">
                <c:v>06/26</c:v>
              </c:pt>
            </c:strLit>
          </c:cat>
          <c:val>
            <c:numLit>
              <c:formatCode>0.0%</c:formatCode>
              <c:ptCount val="31"/>
              <c:pt idx="0">
                <c:v>0.002761753511805</c:v>
              </c:pt>
              <c:pt idx="1">
                <c:v>0.0027082086002623</c:v>
              </c:pt>
              <c:pt idx="2">
                <c:v>0.0030878238406748</c:v>
              </c:pt>
              <c:pt idx="3">
                <c:v>0.0038134279430219</c:v>
              </c:pt>
              <c:pt idx="4">
                <c:v>0.0047264073090607</c:v>
              </c:pt>
              <c:pt idx="5">
                <c:v>0.0053374101483992</c:v>
              </c:pt>
              <c:pt idx="6">
                <c:v>0.0048777594375193</c:v>
              </c:pt>
              <c:pt idx="7">
                <c:v>0.0060579729890402</c:v>
              </c:pt>
              <c:pt idx="8">
                <c:v>0.0057354615135486</c:v>
              </c:pt>
              <c:pt idx="9">
                <c:v>0.0065809960074512</c:v>
              </c:pt>
              <c:pt idx="10">
                <c:v>0.011011195532876</c:v>
              </c:pt>
              <c:pt idx="11">
                <c:v>0.011019621516894</c:v>
              </c:pt>
              <c:pt idx="12">
                <c:v>0.011761078041623</c:v>
              </c:pt>
              <c:pt idx="13">
                <c:v>0.0052755069921239</c:v>
              </c:pt>
              <c:pt idx="14">
                <c:v>0.0050888290074184</c:v>
              </c:pt>
              <c:pt idx="15">
                <c:v>0.0058759615026774</c:v>
              </c:pt>
              <c:pt idx="16">
                <c:v>0.0061558874072902</c:v>
              </c:pt>
              <c:pt idx="17">
                <c:v>0.0064786730545633</c:v>
              </c:pt>
              <c:pt idx="18">
                <c:v>0.0067141159294199</c:v>
              </c:pt>
              <c:pt idx="19">
                <c:v>0.006201689312099</c:v>
              </c:pt>
              <c:pt idx="20">
                <c:v>0.0058260498006329</c:v>
              </c:pt>
              <c:pt idx="21">
                <c:v>0.006571374774792</c:v>
              </c:pt>
              <c:pt idx="22">
                <c:v>0.0066587917472255</c:v>
              </c:pt>
              <c:pt idx="23">
                <c:v>0.0072842278339582</c:v>
              </c:pt>
              <c:pt idx="24">
                <c:v>0.0081006571546639</c:v>
              </c:pt>
              <c:pt idx="25">
                <c:v>0.0117685005784751</c:v>
              </c:pt>
              <c:pt idx="26">
                <c:v>0.0123753954145278</c:v>
              </c:pt>
              <c:pt idx="27">
                <c:v>0.0140555053054944</c:v>
              </c:pt>
              <c:pt idx="28">
                <c:v>0.0144069916246104</c:v>
              </c:pt>
              <c:pt idx="29">
                <c:v>0.0157044040571552</c:v>
              </c:pt>
              <c:pt idx="30">
                <c:v>0.0155258929379865</c:v>
              </c:pt>
            </c:numLit>
          </c:val>
        </c:ser>
        <c:ser>
          <c:idx val="5"/>
          <c:order val="5"/>
          <c:tx>
            <c:v>Setor público</c:v>
          </c:tx>
          <c:spPr>
            <a:ln w="12859">
              <a:solidFill>
                <a:srgbClr val="8D9399"/>
              </a:solidFill>
              <a:prstDash val="solid"/>
            </a:ln>
          </c:spPr>
          <c:marker>
            <c:symbol val="none"/>
          </c:marker>
          <c:cat>
            <c:strLit>
              <c:ptCount val="31"/>
              <c:pt idx="0">
                <c:v>12/23</c:v>
              </c:pt>
              <c:pt idx="1">
                <c:v/>
              </c:pt>
              <c:pt idx="2">
                <c:v/>
              </c:pt>
              <c:pt idx="3">
                <c:v/>
              </c:pt>
              <c:pt idx="4">
                <c:v>04/24</c:v>
              </c:pt>
              <c:pt idx="5">
                <c:v/>
              </c:pt>
              <c:pt idx="6">
                <c:v/>
              </c:pt>
              <c:pt idx="7">
                <c:v/>
              </c:pt>
              <c:pt idx="8">
                <c:v>08/24</c:v>
              </c:pt>
              <c:pt idx="9">
                <c:v/>
              </c:pt>
              <c:pt idx="10">
                <c:v/>
              </c:pt>
              <c:pt idx="11">
                <c:v/>
              </c:pt>
              <c:pt idx="12">
                <c:v>12/24</c:v>
              </c:pt>
              <c:pt idx="13">
                <c:v/>
              </c:pt>
              <c:pt idx="14">
                <c:v/>
              </c:pt>
              <c:pt idx="15">
                <c:v/>
              </c:pt>
              <c:pt idx="16">
                <c:v>04/25</c:v>
              </c:pt>
              <c:pt idx="17">
                <c:v/>
              </c:pt>
              <c:pt idx="18">
                <c:v/>
              </c:pt>
              <c:pt idx="19">
                <c:v/>
              </c:pt>
              <c:pt idx="20">
                <c:v>08/25</c:v>
              </c:pt>
              <c:pt idx="21">
                <c:v/>
              </c:pt>
              <c:pt idx="22">
                <c:v/>
              </c:pt>
              <c:pt idx="23">
                <c:v/>
              </c:pt>
              <c:pt idx="24">
                <c:v>12/25</c:v>
              </c:pt>
              <c:pt idx="25">
                <c:v/>
              </c:pt>
              <c:pt idx="26">
                <c:v/>
              </c:pt>
              <c:pt idx="27">
                <c:v/>
              </c:pt>
              <c:pt idx="28">
                <c:v>04/26</c:v>
              </c:pt>
              <c:pt idx="29">
                <c:v/>
              </c:pt>
              <c:pt idx="30">
                <c:v>06/26</c:v>
              </c:pt>
            </c:strLit>
          </c:cat>
          <c:val>
            <c:numLit>
              <c:formatCode>0.0%</c:formatCode>
              <c:ptCount val="31"/>
              <c:pt idx="0">
                <c:v>0.1854216092153828</c:v>
              </c:pt>
              <c:pt idx="1">
                <c:v>0.1884788306642439</c:v>
              </c:pt>
              <c:pt idx="2">
                <c:v>0.1881706191809939</c:v>
              </c:pt>
              <c:pt idx="3">
                <c:v>0.0598179826329479</c:v>
              </c:pt>
              <c:pt idx="4">
                <c:v>0.2317110731792012</c:v>
              </c:pt>
              <c:pt idx="5">
                <c:v>0.2307453092491834</c:v>
              </c:pt>
              <c:pt idx="6">
                <c:v>0.231820743559852</c:v>
              </c:pt>
              <c:pt idx="7">
                <c:v>0.2276967726779469</c:v>
              </c:pt>
              <c:pt idx="8">
                <c:v>0.2228561784834045</c:v>
              </c:pt>
              <c:pt idx="9">
                <c:v>0.2601261710594481</c:v>
              </c:pt>
              <c:pt idx="10">
                <c:v>0.2226853028361558</c:v>
              </c:pt>
              <c:pt idx="11">
                <c:v>0.2187278941356636</c:v>
              </c:pt>
              <c:pt idx="12">
                <c:v>0.2021675560835505</c:v>
              </c:pt>
              <c:pt idx="13">
                <c:v>0.2127286140116034</c:v>
              </c:pt>
              <c:pt idx="14">
                <c:v>0.2136774816817553</c:v>
              </c:pt>
              <c:pt idx="15">
                <c:v>0.2116474567427985</c:v>
              </c:pt>
              <c:pt idx="16">
                <c:v>0.2182492714737423</c:v>
              </c:pt>
              <c:pt idx="17">
                <c:v>0.2305949573703942</c:v>
              </c:pt>
              <c:pt idx="18">
                <c:v>0.2170184839875787</c:v>
              </c:pt>
              <c:pt idx="19">
                <c:v>0.2066235198492703</c:v>
              </c:pt>
              <c:pt idx="20">
                <c:v>0.204642946005455</c:v>
              </c:pt>
              <c:pt idx="21">
                <c:v>0.2046761144659297</c:v>
              </c:pt>
              <c:pt idx="22">
                <c:v>0.1950570873721957</c:v>
              </c:pt>
              <c:pt idx="23">
                <c:v>0.1838076625569173</c:v>
              </c:pt>
              <c:pt idx="24">
                <c:v>0.0320722949695946</c:v>
              </c:pt>
              <c:pt idx="25">
                <c:v>0.0267519834548788</c:v>
              </c:pt>
              <c:pt idx="26">
                <c:v>0.0254709221093874</c:v>
              </c:pt>
              <c:pt idx="27">
                <c:v>0.0286391392387492</c:v>
              </c:pt>
              <c:pt idx="28">
                <c:v>0.0278719164478153</c:v>
              </c:pt>
              <c:pt idx="29">
                <c:v>0.0310941253039807</c:v>
              </c:pt>
              <c:pt idx="30">
                <c:v>0.0269677990830523</c:v>
              </c:pt>
            </c:numLit>
          </c:val>
        </c:ser>
        <c:ser>
          <c:idx val="6"/>
          <c:order val="6"/>
          <c:tx>
            <c:v>Ações judiciais</c:v>
          </c:tx>
          <c:spPr>
            <a:ln w="12859">
              <a:solidFill>
                <a:srgbClr val="A7ACB0"/>
              </a:solidFill>
              <a:prstDash val="solid"/>
            </a:ln>
          </c:spPr>
          <c:marker>
            <c:symbol val="none"/>
          </c:marker>
          <c:cat>
            <c:strLit>
              <c:ptCount val="31"/>
              <c:pt idx="0">
                <c:v>12/23</c:v>
              </c:pt>
              <c:pt idx="1">
                <c:v/>
              </c:pt>
              <c:pt idx="2">
                <c:v/>
              </c:pt>
              <c:pt idx="3">
                <c:v/>
              </c:pt>
              <c:pt idx="4">
                <c:v>04/24</c:v>
              </c:pt>
              <c:pt idx="5">
                <c:v/>
              </c:pt>
              <c:pt idx="6">
                <c:v/>
              </c:pt>
              <c:pt idx="7">
                <c:v/>
              </c:pt>
              <c:pt idx="8">
                <c:v>08/24</c:v>
              </c:pt>
              <c:pt idx="9">
                <c:v/>
              </c:pt>
              <c:pt idx="10">
                <c:v/>
              </c:pt>
              <c:pt idx="11">
                <c:v/>
              </c:pt>
              <c:pt idx="12">
                <c:v>12/24</c:v>
              </c:pt>
              <c:pt idx="13">
                <c:v/>
              </c:pt>
              <c:pt idx="14">
                <c:v/>
              </c:pt>
              <c:pt idx="15">
                <c:v/>
              </c:pt>
              <c:pt idx="16">
                <c:v>04/25</c:v>
              </c:pt>
              <c:pt idx="17">
                <c:v/>
              </c:pt>
              <c:pt idx="18">
                <c:v/>
              </c:pt>
              <c:pt idx="19">
                <c:v/>
              </c:pt>
              <c:pt idx="20">
                <c:v>08/25</c:v>
              </c:pt>
              <c:pt idx="21">
                <c:v/>
              </c:pt>
              <c:pt idx="22">
                <c:v/>
              </c:pt>
              <c:pt idx="23">
                <c:v/>
              </c:pt>
              <c:pt idx="24">
                <c:v>12/25</c:v>
              </c:pt>
              <c:pt idx="25">
                <c:v/>
              </c:pt>
              <c:pt idx="26">
                <c:v/>
              </c:pt>
              <c:pt idx="27">
                <c:v/>
              </c:pt>
              <c:pt idx="28">
                <c:v>04/26</c:v>
              </c:pt>
              <c:pt idx="29">
                <c:v/>
              </c:pt>
              <c:pt idx="30">
                <c:v>06/26</c:v>
              </c:pt>
            </c:strLit>
          </c:cat>
          <c:val>
            <c:numLit>
              <c:formatCode>0.0%</c:formatCode>
              <c:ptCount val="31"/>
              <c:pt idx="0">
                <c:v>0.0417142491781317</c:v>
              </c:pt>
              <c:pt idx="1">
                <c:v>0.0423201793463372</c:v>
              </c:pt>
              <c:pt idx="2">
                <c:v>0.0422821490121826</c:v>
              </c:pt>
              <c:pt idx="3">
                <c:v>0.0418197489706348</c:v>
              </c:pt>
              <c:pt idx="4">
                <c:v>0.013868015487937</c:v>
              </c:pt>
              <c:pt idx="5">
                <c:v>0.0161057915619758</c:v>
              </c:pt>
              <c:pt idx="6">
                <c:v>0.0460301180426334</c:v>
              </c:pt>
              <c:pt idx="7">
                <c:v>0.0156646355220548</c:v>
              </c:pt>
              <c:pt idx="8">
                <c:v>0.0127402436285298</c:v>
              </c:pt>
              <c:pt idx="9">
                <c:v>0.0146633705519831</c:v>
              </c:pt>
              <c:pt idx="10">
                <c:v>0.0148839095437175</c:v>
              </c:pt>
              <c:pt idx="11">
                <c:v>0.0145553054107453</c:v>
              </c:pt>
              <c:pt idx="12">
                <c:v>0.0129260058421569</c:v>
              </c:pt>
              <c:pt idx="13">
                <c:v>0.0133275954599381</c:v>
              </c:pt>
              <c:pt idx="14">
                <c:v>0.0135276953704358</c:v>
              </c:pt>
              <c:pt idx="15">
                <c:v>0.0133137511967988</c:v>
              </c:pt>
              <c:pt idx="16">
                <c:v>0.0132286727585075</c:v>
              </c:pt>
              <c:pt idx="17">
                <c:v>0.0129521393419009</c:v>
              </c:pt>
              <c:pt idx="18">
                <c:v>0.0125611054439207</c:v>
              </c:pt>
              <c:pt idx="19">
                <c:v>0.0125414517133714</c:v>
              </c:pt>
              <c:pt idx="20">
                <c:v>0.012167116656769</c:v>
              </c:pt>
              <c:pt idx="21">
                <c:v>0.0116434513520777</c:v>
              </c:pt>
              <c:pt idx="22">
                <c:v>0.0114818559290975</c:v>
              </c:pt>
              <c:pt idx="23">
                <c:v>0.0117198804644548</c:v>
              </c:pt>
              <c:pt idx="24">
                <c:v>0.0521667521091537</c:v>
              </c:pt>
              <c:pt idx="25">
                <c:v>0.0134295528242896</c:v>
              </c:pt>
              <c:pt idx="26">
                <c:v>0.0195114019773375</c:v>
              </c:pt>
              <c:pt idx="27">
                <c:v>0.0176558617875715</c:v>
              </c:pt>
              <c:pt idx="28">
                <c:v>0.0181866201777597</c:v>
              </c:pt>
              <c:pt idx="29">
                <c:v>0.0301063967497122</c:v>
              </c:pt>
              <c:pt idx="30">
                <c:v>0.0276212038505898</c:v>
              </c:pt>
            </c:numLit>
          </c:val>
        </c:ser>
        <c:ser>
          <c:idx val="7"/>
          <c:order val="7"/>
          <c:tx>
            <c:v>Agronegócio</c:v>
          </c:tx>
          <c:spPr>
            <a:ln w="12859">
              <a:solidFill>
                <a:srgbClr val="BEC2C5"/>
              </a:solidFill>
              <a:prstDash val="solid"/>
            </a:ln>
          </c:spPr>
          <c:marker>
            <c:symbol val="none"/>
          </c:marker>
          <c:cat>
            <c:strLit>
              <c:ptCount val="31"/>
              <c:pt idx="0">
                <c:v>12/23</c:v>
              </c:pt>
              <c:pt idx="1">
                <c:v/>
              </c:pt>
              <c:pt idx="2">
                <c:v/>
              </c:pt>
              <c:pt idx="3">
                <c:v/>
              </c:pt>
              <c:pt idx="4">
                <c:v>04/24</c:v>
              </c:pt>
              <c:pt idx="5">
                <c:v/>
              </c:pt>
              <c:pt idx="6">
                <c:v/>
              </c:pt>
              <c:pt idx="7">
                <c:v/>
              </c:pt>
              <c:pt idx="8">
                <c:v>08/24</c:v>
              </c:pt>
              <c:pt idx="9">
                <c:v/>
              </c:pt>
              <c:pt idx="10">
                <c:v/>
              </c:pt>
              <c:pt idx="11">
                <c:v/>
              </c:pt>
              <c:pt idx="12">
                <c:v>12/24</c:v>
              </c:pt>
              <c:pt idx="13">
                <c:v/>
              </c:pt>
              <c:pt idx="14">
                <c:v/>
              </c:pt>
              <c:pt idx="15">
                <c:v/>
              </c:pt>
              <c:pt idx="16">
                <c:v>04/25</c:v>
              </c:pt>
              <c:pt idx="17">
                <c:v/>
              </c:pt>
              <c:pt idx="18">
                <c:v/>
              </c:pt>
              <c:pt idx="19">
                <c:v/>
              </c:pt>
              <c:pt idx="20">
                <c:v>08/25</c:v>
              </c:pt>
              <c:pt idx="21">
                <c:v/>
              </c:pt>
              <c:pt idx="22">
                <c:v/>
              </c:pt>
              <c:pt idx="23">
                <c:v/>
              </c:pt>
              <c:pt idx="24">
                <c:v>12/25</c:v>
              </c:pt>
              <c:pt idx="25">
                <c:v/>
              </c:pt>
              <c:pt idx="26">
                <c:v/>
              </c:pt>
              <c:pt idx="27">
                <c:v/>
              </c:pt>
              <c:pt idx="28">
                <c:v>04/26</c:v>
              </c:pt>
              <c:pt idx="29">
                <c:v/>
              </c:pt>
              <c:pt idx="30">
                <c:v>06/26</c:v>
              </c:pt>
            </c:strLit>
          </c:cat>
          <c:val>
            <c:numLit>
              <c:formatCode>0.0%</c:formatCode>
              <c:ptCount val="31"/>
              <c:pt idx="0">
                <c:v>0.0193848320803037</c:v>
              </c:pt>
              <c:pt idx="1">
                <c:v>0.0074534188133573</c:v>
              </c:pt>
              <c:pt idx="2">
                <c:v>0.0073692353757936</c:v>
              </c:pt>
              <c:pt idx="3">
                <c:v>0.0275878340521066</c:v>
              </c:pt>
              <c:pt idx="4">
                <c:v>0.0699173713403787</c:v>
              </c:pt>
              <c:pt idx="5">
                <c:v>0.1071495886627592</c:v>
              </c:pt>
              <c:pt idx="6">
                <c:v>0.081170617074055</c:v>
              </c:pt>
              <c:pt idx="7">
                <c:v>0.0592144502484672</c:v>
              </c:pt>
              <c:pt idx="8">
                <c:v>0.068794386861829</c:v>
              </c:pt>
              <c:pt idx="9">
                <c:v>0.0804965019363218</c:v>
              </c:pt>
              <c:pt idx="10">
                <c:v>0.0568105669235579</c:v>
              </c:pt>
              <c:pt idx="11">
                <c:v>0.0539414905307017</c:v>
              </c:pt>
              <c:pt idx="12">
                <c:v>0.0456547393457803</c:v>
              </c:pt>
              <c:pt idx="13">
                <c:v>0.0938023365883941</c:v>
              </c:pt>
              <c:pt idx="14">
                <c:v>0.0318554027571156</c:v>
              </c:pt>
              <c:pt idx="15">
                <c:v>0.0513104257372555</c:v>
              </c:pt>
              <c:pt idx="16">
                <c:v>0.0844147829421874</c:v>
              </c:pt>
              <c:pt idx="17">
                <c:v>0.1096583784966358</c:v>
              </c:pt>
              <c:pt idx="18">
                <c:v>0.0834970570681469</c:v>
              </c:pt>
              <c:pt idx="19">
                <c:v>0.0543135517074533</c:v>
              </c:pt>
              <c:pt idx="20">
                <c:v>0.0397669344769683</c:v>
              </c:pt>
              <c:pt idx="21">
                <c:v>0.0839122035225489</c:v>
              </c:pt>
              <c:pt idx="22">
                <c:v>0.062508468287794</c:v>
              </c:pt>
              <c:pt idx="23">
                <c:v>0.0403071668157024</c:v>
              </c:pt>
              <c:pt idx="24">
                <c:v>0.0356597059135657</c:v>
              </c:pt>
              <c:pt idx="25">
                <c:v>0.0295211680001266</c:v>
              </c:pt>
              <c:pt idx="26">
                <c:v>0.0252043134620647</c:v>
              </c:pt>
              <c:pt idx="27">
                <c:v>0.1089245109690359</c:v>
              </c:pt>
              <c:pt idx="28">
                <c:v>0.0634141693348424</c:v>
              </c:pt>
              <c:pt idx="29">
                <c:v>0.0985406452471582</c:v>
              </c:pt>
              <c:pt idx="30">
                <c:v>0.0982584113424741</c:v>
              </c:pt>
            </c:numLit>
          </c:val>
        </c:ser>
        <c:ser>
          <c:idx val="8"/>
          <c:order val="8"/>
          <c:tx>
            <c:v>Imobiliário</c:v>
          </c:tx>
          <c:spPr>
            <a:ln w="12859">
              <a:solidFill>
                <a:srgbClr val="676C71"/>
              </a:solidFill>
              <a:prstDash val="solid"/>
            </a:ln>
          </c:spPr>
          <c:marker>
            <c:symbol val="none"/>
          </c:marker>
          <c:cat>
            <c:strLit>
              <c:ptCount val="31"/>
              <c:pt idx="0">
                <c:v>12/23</c:v>
              </c:pt>
              <c:pt idx="1">
                <c:v/>
              </c:pt>
              <c:pt idx="2">
                <c:v/>
              </c:pt>
              <c:pt idx="3">
                <c:v/>
              </c:pt>
              <c:pt idx="4">
                <c:v>04/24</c:v>
              </c:pt>
              <c:pt idx="5">
                <c:v/>
              </c:pt>
              <c:pt idx="6">
                <c:v/>
              </c:pt>
              <c:pt idx="7">
                <c:v/>
              </c:pt>
              <c:pt idx="8">
                <c:v>08/24</c:v>
              </c:pt>
              <c:pt idx="9">
                <c:v/>
              </c:pt>
              <c:pt idx="10">
                <c:v/>
              </c:pt>
              <c:pt idx="11">
                <c:v/>
              </c:pt>
              <c:pt idx="12">
                <c:v>12/24</c:v>
              </c:pt>
              <c:pt idx="13">
                <c:v/>
              </c:pt>
              <c:pt idx="14">
                <c:v/>
              </c:pt>
              <c:pt idx="15">
                <c:v/>
              </c:pt>
              <c:pt idx="16">
                <c:v>04/25</c:v>
              </c:pt>
              <c:pt idx="17">
                <c:v/>
              </c:pt>
              <c:pt idx="18">
                <c:v/>
              </c:pt>
              <c:pt idx="19">
                <c:v/>
              </c:pt>
              <c:pt idx="20">
                <c:v>08/25</c:v>
              </c:pt>
              <c:pt idx="21">
                <c:v/>
              </c:pt>
              <c:pt idx="22">
                <c:v/>
              </c:pt>
              <c:pt idx="23">
                <c:v/>
              </c:pt>
              <c:pt idx="24">
                <c:v>12/25</c:v>
              </c:pt>
              <c:pt idx="25">
                <c:v/>
              </c:pt>
              <c:pt idx="26">
                <c:v/>
              </c:pt>
              <c:pt idx="27">
                <c:v/>
              </c:pt>
              <c:pt idx="28">
                <c:v>04/26</c:v>
              </c:pt>
              <c:pt idx="29">
                <c:v/>
              </c:pt>
              <c:pt idx="30">
                <c:v>06/26</c:v>
              </c:pt>
            </c:strLit>
          </c:cat>
          <c:val>
            <c:numLit>
              <c:formatCode>0.0%</c:formatCode>
              <c:ptCount val="31"/>
              <c:pt idx="0">
                <c:v>0.0301544002992957</c:v>
              </c:pt>
              <c:pt idx="1">
                <c:v>0.0327276152039929</c:v>
              </c:pt>
              <c:pt idx="2">
                <c:v>0.0335433779934722</c:v>
              </c:pt>
              <c:pt idx="3">
                <c:v>0.0348421491235876</c:v>
              </c:pt>
              <c:pt idx="4">
                <c:v>0.0428001212242425</c:v>
              </c:pt>
              <c:pt idx="5">
                <c:v>0.0418805697277656</c:v>
              </c:pt>
              <c:pt idx="6">
                <c:v>0.0445162804581016</c:v>
              </c:pt>
              <c:pt idx="7">
                <c:v>0.0450750205215238</c:v>
              </c:pt>
              <c:pt idx="8">
                <c:v>0.0433137428852005</c:v>
              </c:pt>
              <c:pt idx="9">
                <c:v>0.0368120139814974</c:v>
              </c:pt>
              <c:pt idx="10">
                <c:v>0.0370727339192215</c:v>
              </c:pt>
              <c:pt idx="11">
                <c:v>0.0383168676299335</c:v>
              </c:pt>
              <c:pt idx="12">
                <c:v>0.0411647909984821</c:v>
              </c:pt>
              <c:pt idx="13">
                <c:v>0.0420544170094409</c:v>
              </c:pt>
              <c:pt idx="14">
                <c:v>0.0452665646472693</c:v>
              </c:pt>
              <c:pt idx="15">
                <c:v>0.0471589020247165</c:v>
              </c:pt>
              <c:pt idx="16">
                <c:v>0.0479186023653569</c:v>
              </c:pt>
              <c:pt idx="17">
                <c:v>0.0497283898045638</c:v>
              </c:pt>
              <c:pt idx="18">
                <c:v>0.0513562669687059</c:v>
              </c:pt>
              <c:pt idx="19">
                <c:v>0.0524041751673811</c:v>
              </c:pt>
              <c:pt idx="20">
                <c:v>0.0549718365574653</c:v>
              </c:pt>
              <c:pt idx="21">
                <c:v>0.0467619519887603</c:v>
              </c:pt>
              <c:pt idx="22">
                <c:v>0.0529296618834481</c:v>
              </c:pt>
              <c:pt idx="23">
                <c:v>0.0555227271204206</c:v>
              </c:pt>
              <c:pt idx="24">
                <c:v>0.0469577659285627</c:v>
              </c:pt>
              <c:pt idx="25">
                <c:v>0.0508181998171366</c:v>
              </c:pt>
              <c:pt idx="26">
                <c:v>0.0563587832928188</c:v>
              </c:pt>
              <c:pt idx="27">
                <c:v>0.0610793382898068</c:v>
              </c:pt>
              <c:pt idx="28">
                <c:v>0.0669949830191097</c:v>
              </c:pt>
              <c:pt idx="29">
                <c:v>0.0721630638324931</c:v>
              </c:pt>
              <c:pt idx="30">
                <c:v>0.0727874220270115</c:v>
              </c:pt>
            </c:numLit>
          </c:val>
        </c:ser>
        <c:ser>
          <c:idx val="9"/>
          <c:order val="9"/>
          <c:tx>
            <c:v>Factoring</c:v>
          </c:tx>
          <c:spPr>
            <a:ln w="12859">
              <a:solidFill>
                <a:srgbClr val="92979C"/>
              </a:solidFill>
              <a:prstDash val="solid"/>
            </a:ln>
          </c:spPr>
          <c:marker>
            <c:symbol val="none"/>
          </c:marker>
          <c:cat>
            <c:strLit>
              <c:ptCount val="31"/>
              <c:pt idx="0">
                <c:v>12/23</c:v>
              </c:pt>
              <c:pt idx="1">
                <c:v/>
              </c:pt>
              <c:pt idx="2">
                <c:v/>
              </c:pt>
              <c:pt idx="3">
                <c:v/>
              </c:pt>
              <c:pt idx="4">
                <c:v>04/24</c:v>
              </c:pt>
              <c:pt idx="5">
                <c:v/>
              </c:pt>
              <c:pt idx="6">
                <c:v/>
              </c:pt>
              <c:pt idx="7">
                <c:v/>
              </c:pt>
              <c:pt idx="8">
                <c:v>08/24</c:v>
              </c:pt>
              <c:pt idx="9">
                <c:v/>
              </c:pt>
              <c:pt idx="10">
                <c:v/>
              </c:pt>
              <c:pt idx="11">
                <c:v/>
              </c:pt>
              <c:pt idx="12">
                <c:v>12/24</c:v>
              </c:pt>
              <c:pt idx="13">
                <c:v/>
              </c:pt>
              <c:pt idx="14">
                <c:v/>
              </c:pt>
              <c:pt idx="15">
                <c:v/>
              </c:pt>
              <c:pt idx="16">
                <c:v>04/25</c:v>
              </c:pt>
              <c:pt idx="17">
                <c:v/>
              </c:pt>
              <c:pt idx="18">
                <c:v/>
              </c:pt>
              <c:pt idx="19">
                <c:v/>
              </c:pt>
              <c:pt idx="20">
                <c:v>08/25</c:v>
              </c:pt>
              <c:pt idx="21">
                <c:v/>
              </c:pt>
              <c:pt idx="22">
                <c:v/>
              </c:pt>
              <c:pt idx="23">
                <c:v/>
              </c:pt>
              <c:pt idx="24">
                <c:v>12/25</c:v>
              </c:pt>
              <c:pt idx="25">
                <c:v/>
              </c:pt>
              <c:pt idx="26">
                <c:v/>
              </c:pt>
              <c:pt idx="27">
                <c:v/>
              </c:pt>
              <c:pt idx="28">
                <c:v>04/26</c:v>
              </c:pt>
              <c:pt idx="29">
                <c:v/>
              </c:pt>
              <c:pt idx="30">
                <c:v>06/26</c:v>
              </c:pt>
            </c:strLit>
          </c:cat>
          <c:val>
            <c:numLit>
              <c:formatCode>0.0%</c:formatCode>
              <c:ptCount val="31"/>
              <c:pt idx="0">
                <c:v>0.0514225192354148</c:v>
              </c:pt>
              <c:pt idx="1">
                <c:v>0.0393907988792837</c:v>
              </c:pt>
              <c:pt idx="2">
                <c:v>0.0204599118110216</c:v>
              </c:pt>
              <c:pt idx="3">
                <c:v>0.0279020955222049</c:v>
              </c:pt>
              <c:pt idx="4">
                <c:v>0.045435158542933</c:v>
              </c:pt>
              <c:pt idx="5">
                <c:v>0.0634913799648424</c:v>
              </c:pt>
              <c:pt idx="6">
                <c:v>0.1018834022199954</c:v>
              </c:pt>
              <c:pt idx="7">
                <c:v>0.053226641038248</c:v>
              </c:pt>
              <c:pt idx="8">
                <c:v>0.0409999642734494</c:v>
              </c:pt>
              <c:pt idx="9">
                <c:v>0.0221743137151051</c:v>
              </c:pt>
              <c:pt idx="10">
                <c:v>0.1189436323844374</c:v>
              </c:pt>
              <c:pt idx="11">
                <c:v>0.0430677893077643</c:v>
              </c:pt>
              <c:pt idx="12">
                <c:v>0.0533502127430201</c:v>
              </c:pt>
              <c:pt idx="13">
                <c:v>0.0375148600614609</c:v>
              </c:pt>
              <c:pt idx="14">
                <c:v>0.0437092853950481</c:v>
              </c:pt>
              <c:pt idx="15">
                <c:v>0.064103135977939</c:v>
              </c:pt>
              <c:pt idx="16">
                <c:v>0.1479488771622266</c:v>
              </c:pt>
              <c:pt idx="17">
                <c:v>0.1174497699924641</c:v>
              </c:pt>
              <c:pt idx="18">
                <c:v>0.1305527242748713</c:v>
              </c:pt>
              <c:pt idx="19">
                <c:v>0.1254080720493426</c:v>
              </c:pt>
              <c:pt idx="20">
                <c:v>0.1486477723764485</c:v>
              </c:pt>
              <c:pt idx="21">
                <c:v>0.1354996954025546</c:v>
              </c:pt>
              <c:pt idx="22">
                <c:v>0.1660000913704232</c:v>
              </c:pt>
              <c:pt idx="23">
                <c:v>0.1605724609434834</c:v>
              </c:pt>
              <c:pt idx="24">
                <c:v>0.2853726896283449</c:v>
              </c:pt>
              <c:pt idx="25">
                <c:v>0.1950978271794026</c:v>
              </c:pt>
              <c:pt idx="26">
                <c:v>0.1466190664090744</c:v>
              </c:pt>
              <c:pt idx="27">
                <c:v>0.1741072914672736</c:v>
              </c:pt>
              <c:pt idx="28">
                <c:v>0.1697199730374612</c:v>
              </c:pt>
              <c:pt idx="29">
                <c:v>0.1549286072994427</c:v>
              </c:pt>
              <c:pt idx="30">
                <c:v>0.1391390506699004</c:v>
              </c:pt>
            </c:numLit>
          </c:val>
        </c:ser>
        <c:ser>
          <c:idx val="10"/>
          <c:order val="10"/>
          <c:tx>
            <c:v>Consolidado ajustado</c:v>
          </c:tx>
          <c:spPr>
            <a:ln w="30480">
              <a:solidFill>
                <a:srgbClr val="EC7000"/>
              </a:solidFill>
              <a:prstDash val="solid"/>
            </a:ln>
          </c:spPr>
          <c:marker>
            <c:symbol val="none"/>
          </c:marker>
          <c:cat>
            <c:strLit>
              <c:ptCount val="31"/>
              <c:pt idx="0">
                <c:v>12/23</c:v>
              </c:pt>
              <c:pt idx="1">
                <c:v/>
              </c:pt>
              <c:pt idx="2">
                <c:v/>
              </c:pt>
              <c:pt idx="3">
                <c:v/>
              </c:pt>
              <c:pt idx="4">
                <c:v>04/24</c:v>
              </c:pt>
              <c:pt idx="5">
                <c:v/>
              </c:pt>
              <c:pt idx="6">
                <c:v/>
              </c:pt>
              <c:pt idx="7">
                <c:v/>
              </c:pt>
              <c:pt idx="8">
                <c:v>08/24</c:v>
              </c:pt>
              <c:pt idx="9">
                <c:v/>
              </c:pt>
              <c:pt idx="10">
                <c:v/>
              </c:pt>
              <c:pt idx="11">
                <c:v/>
              </c:pt>
              <c:pt idx="12">
                <c:v>12/24</c:v>
              </c:pt>
              <c:pt idx="13">
                <c:v/>
              </c:pt>
              <c:pt idx="14">
                <c:v/>
              </c:pt>
              <c:pt idx="15">
                <c:v/>
              </c:pt>
              <c:pt idx="16">
                <c:v>04/25</c:v>
              </c:pt>
              <c:pt idx="17">
                <c:v/>
              </c:pt>
              <c:pt idx="18">
                <c:v/>
              </c:pt>
              <c:pt idx="19">
                <c:v/>
              </c:pt>
              <c:pt idx="20">
                <c:v>08/25</c:v>
              </c:pt>
              <c:pt idx="21">
                <c:v/>
              </c:pt>
              <c:pt idx="22">
                <c:v/>
              </c:pt>
              <c:pt idx="23">
                <c:v/>
              </c:pt>
              <c:pt idx="24">
                <c:v>12/25</c:v>
              </c:pt>
              <c:pt idx="25">
                <c:v/>
              </c:pt>
              <c:pt idx="26">
                <c:v/>
              </c:pt>
              <c:pt idx="27">
                <c:v/>
              </c:pt>
              <c:pt idx="28">
                <c:v>04/26</c:v>
              </c:pt>
              <c:pt idx="29">
                <c:v/>
              </c:pt>
              <c:pt idx="30">
                <c:v>06/26</c:v>
              </c:pt>
            </c:strLit>
          </c:cat>
          <c:val>
            <c:numLit>
              <c:formatCode>0.0%</c:formatCode>
              <c:ptCount val="31"/>
              <c:pt idx="0">
                <c:v>0.0752028516325915</c:v>
              </c:pt>
              <c:pt idx="1">
                <c:v>0.0778801838724332</c:v>
              </c:pt>
              <c:pt idx="2">
                <c:v>0.0776383095992151</c:v>
              </c:pt>
              <c:pt idx="3">
                <c:v>0.0704152514172544</c:v>
              </c:pt>
              <c:pt idx="4">
                <c:v>0.0797565578705756</c:v>
              </c:pt>
              <c:pt idx="5">
                <c:v>0.0817150208465515</c:v>
              </c:pt>
              <c:pt idx="6">
                <c:v>0.0770053144630339</c:v>
              </c:pt>
              <c:pt idx="7">
                <c:v>0.0671417034451458</c:v>
              </c:pt>
              <c:pt idx="8">
                <c:v>0.0676408843500004</c:v>
              </c:pt>
              <c:pt idx="9">
                <c:v>0.0698999145821442</c:v>
              </c:pt>
              <c:pt idx="10">
                <c:v>0.0684744868137109</c:v>
              </c:pt>
              <c:pt idx="11">
                <c:v>0.0699014101098718</c:v>
              </c:pt>
              <c:pt idx="12">
                <c:v>0.0630090651293403</c:v>
              </c:pt>
              <c:pt idx="13">
                <c:v>0.0614757676630931</c:v>
              </c:pt>
              <c:pt idx="14">
                <c:v>0.0598205980738471</c:v>
              </c:pt>
              <c:pt idx="15">
                <c:v>0.0592500474459332</c:v>
              </c:pt>
              <c:pt idx="16">
                <c:v>0.0624601047334936</c:v>
              </c:pt>
              <c:pt idx="17">
                <c:v>0.0629482537447055</c:v>
              </c:pt>
              <c:pt idx="18">
                <c:v>0.0623234995475539</c:v>
              </c:pt>
              <c:pt idx="19">
                <c:v>0.0601553151901788</c:v>
              </c:pt>
              <c:pt idx="20">
                <c:v>0.0569486394732615</c:v>
              </c:pt>
              <c:pt idx="21">
                <c:v>0.0628881535366592</c:v>
              </c:pt>
              <c:pt idx="22">
                <c:v>0.0584216214864171</c:v>
              </c:pt>
              <c:pt idx="23">
                <c:v>0.0606320127168131</c:v>
              </c:pt>
              <c:pt idx="24">
                <c:v>0.0502587784704449</c:v>
              </c:pt>
              <c:pt idx="25">
                <c:v>0.0507331353304028</c:v>
              </c:pt>
              <c:pt idx="26">
                <c:v>0.0503146572806492</c:v>
              </c:pt>
              <c:pt idx="27">
                <c:v>0.0536913823719812</c:v>
              </c:pt>
              <c:pt idx="28">
                <c:v>0.0520334873726198</c:v>
              </c:pt>
              <c:pt idx="29">
                <c:v>0.0585303345939064</c:v>
              </c:pt>
              <c:pt idx="30">
                <c:v>0.0593323376099488</c:v>
              </c:pt>
            </c:numLit>
          </c:val>
        </c:ser>
        <c:axId val="48650112"/>
        <c:axId val="48672768"/>
      </c:lineChart>
      <c:catAx>
        <c:axId val="48650112"/>
        <c:scaling>
          <c:orientation val="minMax"/>
        </c:scaling>
        <c:delete val="0"/>
        <c:axPos val="b"/>
        <c:numFmt formatCode="General"/>
        <c:majorTickMark val="none"/>
        <c:minorTickMark val="none"/>
        <c:tickLblPos val="low"/>
        <c:spPr>
          <a:ln w="9525">
            <a:solidFill>
              <a:srgbClr val="D7DADD"/>
            </a:solidFill>
            <a:prstDash val="solid"/>
          </a:ln>
        </c:spPr>
        <c:txPr>
          <a:bodyPr anchorCtr="1"/>
          <a:lstStyle/>
          <a:p>
            <a:pPr>
              <a:defRPr sz="615">
                <a:solidFill>
                  <a:srgbClr val="73787D"/>
                </a:solidFill>
              </a:defRPr>
            </a:pPr>
          </a:p>
        </c:txPr>
        <c:crossAx val="48672768"/>
        <c:lblAlgn val="ctr"/>
        <c:lblOffset val="100"/>
        <c:noMultiLvlLbl val="0"/>
      </c:catAx>
      <c:valAx>
        <c:axId val="48672768"/>
        <c:scaling>
          <c:orientation val="minMax"/>
          <c:max val="0.3"/>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675">
                <a:solidFill>
                  <a:srgbClr val="8D9399"/>
                </a:solidFill>
              </a:defRPr>
            </a:pPr>
          </a:p>
        </c:txPr>
        <c:crossAx val="48650112"/>
        <c:crossBetween val="between"/>
        <c:majorUnit val="0.05"/>
      </c:valAx>
      <c:spPr>
        <a:noFill/>
        <a:ln w="0">
          <a:noFill/>
          <a:prstDash val="solid"/>
        </a:ln>
      </c:spPr>
    </c:plotArea>
    <c:plotVisOnly val="1"/>
  </c:chart>
  <c:spPr>
    <a:noFill/>
    <a:ln w="0">
      <a:noFill/>
      <a:prstDash val="solid"/>
    </a:ln>
  </c:spPr>
</c:chartSpace>
</file>

<file path=ppt/slides/charts/chart30.xml><?xml version="1.0" encoding="utf-8"?>
<c:chartSpace xmlns:a="http://schemas.openxmlformats.org/drawingml/2006/main" xmlns:c="http://schemas.openxmlformats.org/drawingml/2006/chart">
  <c:lang val="pt-BR"/>
  <c:chart>
    <c:plotArea>
      <c:lineChart>
        <c:grouping val="standard"/>
        <c:ser>
          <c:idx val="0"/>
          <c:order val="0"/>
          <c:tx>
            <c:v>Financeiro</c:v>
          </c:tx>
          <c:spPr>
            <a:ln w="28575">
              <a:solidFill>
                <a:srgbClr val="151515"/>
              </a:solidFill>
              <a:prstDash val="solid"/>
            </a:ln>
          </c:spPr>
          <c:marker>
            <c:symbol val="none"/>
          </c:marker>
          <c:cat>
            <c:strLit>
              <c:ptCount val="1"/>
              <c:pt idx="0">
                <c:v/>
              </c:pt>
            </c:strLit>
          </c:cat>
          <c:val>
            <c:numLit>
              <c:formatCode>General</c:formatCode>
              <c:ptCount val="1"/>
              <c:pt idx="0">
                <c:v>0</c:v>
              </c:pt>
            </c:numLit>
          </c:val>
        </c:ser>
        <c:ser>
          <c:idx val="1"/>
          <c:order val="1"/>
          <c:tx>
            <c:v>Cartão de crédito</c:v>
          </c:tx>
          <c:spPr>
            <a:ln w="28575">
              <a:solidFill>
                <a:srgbClr val="30353A"/>
              </a:solidFill>
              <a:prstDash val="solid"/>
            </a:ln>
          </c:spPr>
          <c:marker>
            <c:symbol val="none"/>
          </c:marker>
          <c:cat>
            <c:strLit>
              <c:ptCount val="1"/>
              <c:pt idx="0">
                <c:v/>
              </c:pt>
            </c:strLit>
          </c:cat>
          <c:val>
            <c:numLit>
              <c:formatCode>General</c:formatCode>
              <c:ptCount val="1"/>
              <c:pt idx="0">
                <c:v>0</c:v>
              </c:pt>
            </c:numLit>
          </c:val>
        </c:ser>
        <c:ser>
          <c:idx val="2"/>
          <c:order val="2"/>
          <c:tx>
            <c:v>Comercial</c:v>
          </c:tx>
          <c:spPr>
            <a:ln w="28575">
              <a:solidFill>
                <a:srgbClr val="454A4F"/>
              </a:solidFill>
              <a:prstDash val="solid"/>
            </a:ln>
          </c:spPr>
          <c:marker>
            <c:symbol val="none"/>
          </c:marker>
          <c:cat>
            <c:strLit>
              <c:ptCount val="1"/>
              <c:pt idx="0">
                <c:v/>
              </c:pt>
            </c:strLit>
          </c:cat>
          <c:val>
            <c:numLit>
              <c:formatCode>General</c:formatCode>
              <c:ptCount val="1"/>
              <c:pt idx="0">
                <c:v>0</c:v>
              </c:pt>
            </c:numLit>
          </c:val>
        </c:ser>
        <c:ser>
          <c:idx val="3"/>
          <c:order val="3"/>
          <c:tx>
            <c:v>Industrial</c:v>
          </c:tx>
          <c:spPr>
            <a:ln w="28575">
              <a:solidFill>
                <a:srgbClr val="5B6065"/>
              </a:solidFill>
              <a:prstDash val="solid"/>
            </a:ln>
          </c:spPr>
          <c:marker>
            <c:symbol val="none"/>
          </c:marker>
          <c:cat>
            <c:strLit>
              <c:ptCount val="1"/>
              <c:pt idx="0">
                <c:v/>
              </c:pt>
            </c:strLit>
          </c:cat>
          <c:val>
            <c:numLit>
              <c:formatCode>General</c:formatCode>
              <c:ptCount val="1"/>
              <c:pt idx="0">
                <c:v>0</c:v>
              </c:pt>
            </c:numLit>
          </c:val>
        </c:ser>
        <c:ser>
          <c:idx val="4"/>
          <c:order val="4"/>
          <c:tx>
            <c:v>Serviços</c:v>
          </c:tx>
          <c:spPr>
            <a:ln w="28575">
              <a:solidFill>
                <a:srgbClr val="73787D"/>
              </a:solidFill>
              <a:prstDash val="solid"/>
            </a:ln>
          </c:spPr>
          <c:marker>
            <c:symbol val="none"/>
          </c:marker>
          <c:cat>
            <c:strLit>
              <c:ptCount val="1"/>
              <c:pt idx="0">
                <c:v/>
              </c:pt>
            </c:strLit>
          </c:cat>
          <c:val>
            <c:numLit>
              <c:formatCode>General</c:formatCode>
              <c:ptCount val="1"/>
              <c:pt idx="0">
                <c:v>0</c:v>
              </c:pt>
            </c:numLit>
          </c:val>
        </c:ser>
        <c:ser>
          <c:idx val="5"/>
          <c:order val="5"/>
          <c:tx>
            <c:v>Setor público</c:v>
          </c:tx>
          <c:spPr>
            <a:ln w="28575">
              <a:solidFill>
                <a:srgbClr val="8D9399"/>
              </a:solidFill>
              <a:prstDash val="solid"/>
            </a:ln>
          </c:spPr>
          <c:marker>
            <c:symbol val="none"/>
          </c:marker>
          <c:cat>
            <c:strLit>
              <c:ptCount val="1"/>
              <c:pt idx="0">
                <c:v/>
              </c:pt>
            </c:strLit>
          </c:cat>
          <c:val>
            <c:numLit>
              <c:formatCode>General</c:formatCode>
              <c:ptCount val="1"/>
              <c:pt idx="0">
                <c:v>0</c:v>
              </c:pt>
            </c:numLit>
          </c:val>
        </c:ser>
        <c:ser>
          <c:idx val="6"/>
          <c:order val="6"/>
          <c:tx>
            <c:v>Ações judiciais</c:v>
          </c:tx>
          <c:spPr>
            <a:ln w="28575">
              <a:solidFill>
                <a:srgbClr val="A7ACB0"/>
              </a:solidFill>
              <a:prstDash val="solid"/>
            </a:ln>
          </c:spPr>
          <c:marker>
            <c:symbol val="none"/>
          </c:marker>
          <c:cat>
            <c:strLit>
              <c:ptCount val="1"/>
              <c:pt idx="0">
                <c:v/>
              </c:pt>
            </c:strLit>
          </c:cat>
          <c:val>
            <c:numLit>
              <c:formatCode>General</c:formatCode>
              <c:ptCount val="1"/>
              <c:pt idx="0">
                <c:v>0</c:v>
              </c:pt>
            </c:numLit>
          </c:val>
        </c:ser>
        <c:ser>
          <c:idx val="7"/>
          <c:order val="7"/>
          <c:tx>
            <c:v>Agronegócio</c:v>
          </c:tx>
          <c:spPr>
            <a:ln w="28575">
              <a:solidFill>
                <a:srgbClr val="BEC2C5"/>
              </a:solidFill>
              <a:prstDash val="solid"/>
            </a:ln>
          </c:spPr>
          <c:marker>
            <c:symbol val="none"/>
          </c:marker>
          <c:cat>
            <c:strLit>
              <c:ptCount val="1"/>
              <c:pt idx="0">
                <c:v/>
              </c:pt>
            </c:strLit>
          </c:cat>
          <c:val>
            <c:numLit>
              <c:formatCode>General</c:formatCode>
              <c:ptCount val="1"/>
              <c:pt idx="0">
                <c:v>0</c:v>
              </c:pt>
            </c:numLit>
          </c:val>
        </c:ser>
        <c:ser>
          <c:idx val="8"/>
          <c:order val="8"/>
          <c:tx>
            <c:v>Imobiliário</c:v>
          </c:tx>
          <c:spPr>
            <a:ln w="28575">
              <a:solidFill>
                <a:srgbClr val="676C71"/>
              </a:solidFill>
              <a:prstDash val="solid"/>
            </a:ln>
          </c:spPr>
          <c:marker>
            <c:symbol val="none"/>
          </c:marker>
          <c:cat>
            <c:strLit>
              <c:ptCount val="1"/>
              <c:pt idx="0">
                <c:v/>
              </c:pt>
            </c:strLit>
          </c:cat>
          <c:val>
            <c:numLit>
              <c:formatCode>General</c:formatCode>
              <c:ptCount val="1"/>
              <c:pt idx="0">
                <c:v>0</c:v>
              </c:pt>
            </c:numLit>
          </c:val>
        </c:ser>
        <c:ser>
          <c:idx val="9"/>
          <c:order val="9"/>
          <c:tx>
            <c:v>Factoring</c:v>
          </c:tx>
          <c:spPr>
            <a:ln w="28575">
              <a:solidFill>
                <a:srgbClr val="92979C"/>
              </a:solidFill>
              <a:prstDash val="solid"/>
            </a:ln>
          </c:spPr>
          <c:marker>
            <c:symbol val="none"/>
          </c:marker>
          <c:cat>
            <c:strLit>
              <c:ptCount val="1"/>
              <c:pt idx="0">
                <c:v/>
              </c:pt>
            </c:strLit>
          </c:cat>
          <c:val>
            <c:numLit>
              <c:formatCode>General</c:formatCode>
              <c:ptCount val="1"/>
              <c:pt idx="0">
                <c:v>0</c:v>
              </c:pt>
            </c:numLit>
          </c:val>
        </c:ser>
        <c:ser>
          <c:idx val="10"/>
          <c:order val="10"/>
          <c:tx>
            <c:v>Consolidado ajustado</c:v>
          </c:tx>
          <c:spPr>
            <a:ln w="28575">
              <a:solidFill>
                <a:srgbClr val="EC7000"/>
              </a:solidFill>
              <a:prstDash val="solid"/>
            </a:ln>
          </c:spPr>
          <c:marker>
            <c:symbol val="none"/>
          </c:marker>
          <c:cat>
            <c:strLit>
              <c:ptCount val="1"/>
              <c:pt idx="0">
                <c:v/>
              </c:pt>
            </c:strLit>
          </c:cat>
          <c:val>
            <c:numLit>
              <c:formatCode>General</c:formatCode>
              <c:ptCount val="1"/>
              <c:pt idx="0">
                <c:v>0</c:v>
              </c:pt>
            </c:numLit>
          </c:val>
        </c:ser>
        <c:axId val="48650112"/>
        <c:axId val="48672768"/>
      </c:lineChart>
      <c:catAx>
        <c:axId val="48650112"/>
        <c:scaling>
          <c:orientation val="minMax"/>
        </c:scaling>
        <c:delete val="0"/>
        <c:axPos val="b"/>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1"/>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50112"/>
        <c:crossBetween val="between"/>
      </c:valAx>
      <c:spPr>
        <a:noFill/>
        <a:ln w="0">
          <a:noFill/>
          <a:prstDash val="solid"/>
        </a:ln>
      </c:spPr>
    </c:plotArea>
    <c:legend>
      <c:legendPos val="b"/>
      <c:overlay val="0"/>
      <c:txPr>
        <a:bodyPr anchorCtr="1"/>
        <a:lstStyle/>
        <a:p>
          <a:pPr>
            <a:defRPr sz="788">
              <a:solidFill>
                <a:srgbClr val="73787D"/>
              </a:solidFill>
            </a:defRPr>
          </a:pPr>
        </a:p>
      </c:txPr>
    </c:legend>
    <c:plotVisOnly val="1"/>
  </c:chart>
  <c:spPr>
    <a:noFill/>
    <a:ln w="0">
      <a:noFill/>
      <a:prstDash val="solid"/>
    </a:ln>
  </c:spPr>
</c:chartSpace>
</file>

<file path=ppt/slides/charts/chart31.xml><?xml version="1.0" encoding="utf-8"?>
<c:chartSpace xmlns:a="http://schemas.openxmlformats.org/drawingml/2006/main" xmlns:c="http://schemas.openxmlformats.org/drawingml/2006/chart">
  <c:lang val="pt-BR"/>
  <c:chart>
    <c:plotArea>
      <c:barChart>
        <c:barDir val="bar"/>
        <c:grouping val="clustered"/>
        <c:varyColors val="0"/>
        <c:ser>
          <c:idx val="0"/>
          <c:order val="0"/>
          <c:tx>
            <c:v>Dez/25</c:v>
          </c:tx>
          <c:spPr>
            <a:solidFill>
              <a:srgbClr val="73787D"/>
            </a:solidFill>
          </c:spPr>
          <c:cat>
            <c:strLit>
              <c:ptCount val="3"/>
              <c:pt idx="0">
                <c:v>Admin.</c:v>
              </c:pt>
              <c:pt idx="1">
                <c:v>Gestão</c:v>
              </c:pt>
              <c:pt idx="2">
                <c:v>Custódia</c:v>
              </c:pt>
            </c:strLit>
          </c:cat>
          <c:val>
            <c:numLit>
              <c:formatCode>0.0%</c:formatCode>
              <c:ptCount val="3"/>
              <c:pt idx="0">
                <c:v>0.7240103045302964</c:v>
              </c:pt>
              <c:pt idx="1">
                <c:v>0.33762443171818396</c:v>
              </c:pt>
              <c:pt idx="2">
                <c:v>0.7144041928735754</c:v>
              </c:pt>
            </c:numLit>
          </c:val>
        </c:ser>
        <c:ser>
          <c:idx val="1"/>
          <c:order val="1"/>
          <c:tx>
            <c:v>Jun/26</c:v>
          </c:tx>
          <c:spPr>
            <a:solidFill>
              <a:srgbClr val="EC7000"/>
            </a:solidFill>
          </c:spPr>
          <c:cat>
            <c:strLit>
              <c:ptCount val="3"/>
              <c:pt idx="0">
                <c:v>Admin.</c:v>
              </c:pt>
              <c:pt idx="1">
                <c:v>Gestão</c:v>
              </c:pt>
              <c:pt idx="2">
                <c:v>Custódia</c:v>
              </c:pt>
            </c:strLit>
          </c:cat>
          <c:val>
            <c:numLit>
              <c:formatCode>0.0%</c:formatCode>
              <c:ptCount val="3"/>
              <c:pt idx="0">
                <c:v>0.7177319262894483</c:v>
              </c:pt>
              <c:pt idx="1">
                <c:v>0.3640830858142464</c:v>
              </c:pt>
              <c:pt idx="2">
                <c:v>0.7281455649767723</c:v>
              </c:pt>
            </c:numLit>
          </c:val>
        </c:ser>
        <c:dLbls>
          <c:spPr>
            <a:noFill/>
            <a:ln w="0">
              <a:noFill/>
              <a:prstDash val="solid"/>
            </a:ln>
          </c:spPr>
          <c:txPr>
            <a:bodyPr anchorCtr="1"/>
            <a:lstStyle/>
            <a:p>
              <a:pPr>
                <a:defRPr sz="750" b="0">
                  <a:solidFill>
                    <a:srgbClr val="FFFFFF"/>
                  </a:solidFill>
                </a:defRPr>
              </a:pPr>
            </a:p>
          </c:txPr>
          <c:dLblPos val="inEnd"/>
          <c:showLegendKey val="0"/>
          <c:showVal val="1"/>
          <c:showCatName val="0"/>
          <c:showSerName val="0"/>
          <c:showPercent val="0"/>
          <c:showBubbleSize val="0"/>
          <c:showLeaderLines val="0"/>
        </c:dLbls>
        <c:gapWidth val="44"/>
        <c:axId val="48650112"/>
        <c:axId val="48672768"/>
      </c:barChart>
      <c:catAx>
        <c:axId val="48650112"/>
        <c:scaling>
          <c:orientation val="minMax"/>
        </c:scaling>
        <c:delete val="0"/>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938">
                <a:solidFill>
                  <a:srgbClr val="73787D"/>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32.xml><?xml version="1.0" encoding="utf-8"?>
<c:chartSpace xmlns:a="http://schemas.openxmlformats.org/drawingml/2006/main" xmlns:c="http://schemas.openxmlformats.org/drawingml/2006/chart">
  <c:lang val="pt-BR"/>
  <c:chart>
    <c:plotArea>
      <c:barChart>
        <c:barDir val="bar"/>
        <c:grouping val="clustered"/>
        <c:varyColors val="0"/>
        <c:ser>
          <c:idx val="0"/>
          <c:order val="0"/>
          <c:tx>
            <c:v>Dez/25</c:v>
          </c:tx>
          <c:spPr>
            <a:solidFill>
              <a:srgbClr val="73787D"/>
            </a:solidFill>
          </c:spPr>
          <c:cat>
            <c:strLit>
              <c:ptCount val="3"/>
              <c:pt idx="0">
                <c:v>Admin.</c:v>
              </c:pt>
              <c:pt idx="1">
                <c:v>Gestão</c:v>
              </c:pt>
              <c:pt idx="2">
                <c:v>Custódia</c:v>
              </c:pt>
            </c:strLit>
          </c:cat>
          <c:val>
            <c:numLit>
              <c:formatCode>0.0%</c:formatCode>
              <c:ptCount val="3"/>
              <c:pt idx="0">
                <c:v>0.5047535938429641</c:v>
              </c:pt>
              <c:pt idx="1">
                <c:v>0.22309371585883164</c:v>
              </c:pt>
              <c:pt idx="2">
                <c:v>0.5254792759228104</c:v>
              </c:pt>
            </c:numLit>
          </c:val>
        </c:ser>
        <c:ser>
          <c:idx val="1"/>
          <c:order val="1"/>
          <c:tx>
            <c:v>Jun/26</c:v>
          </c:tx>
          <c:spPr>
            <a:solidFill>
              <a:srgbClr val="EC7000"/>
            </a:solidFill>
          </c:spPr>
          <c:cat>
            <c:strLit>
              <c:ptCount val="3"/>
              <c:pt idx="0">
                <c:v>Admin.</c:v>
              </c:pt>
              <c:pt idx="1">
                <c:v>Gestão</c:v>
              </c:pt>
              <c:pt idx="2">
                <c:v>Custódia</c:v>
              </c:pt>
            </c:strLit>
          </c:cat>
          <c:val>
            <c:numLit>
              <c:formatCode>0.0%</c:formatCode>
              <c:ptCount val="3"/>
              <c:pt idx="0">
                <c:v>0.5320851575861103</c:v>
              </c:pt>
              <c:pt idx="1">
                <c:v>0.2617042615232217</c:v>
              </c:pt>
              <c:pt idx="2">
                <c:v>0.5578650737236776</c:v>
              </c:pt>
            </c:numLit>
          </c:val>
        </c:ser>
        <c:dLbls>
          <c:spPr>
            <a:noFill/>
            <a:ln w="0">
              <a:noFill/>
              <a:prstDash val="solid"/>
            </a:ln>
          </c:spPr>
          <c:txPr>
            <a:bodyPr anchorCtr="1"/>
            <a:lstStyle/>
            <a:p>
              <a:pPr>
                <a:defRPr sz="750" b="0">
                  <a:solidFill>
                    <a:srgbClr val="FFFFFF"/>
                  </a:solidFill>
                </a:defRPr>
              </a:pPr>
            </a:p>
          </c:txPr>
          <c:dLblPos val="inEnd"/>
          <c:showLegendKey val="0"/>
          <c:showVal val="1"/>
          <c:showCatName val="0"/>
          <c:showSerName val="0"/>
          <c:showPercent val="0"/>
          <c:showBubbleSize val="0"/>
          <c:showLeaderLines val="0"/>
        </c:dLbls>
        <c:gapWidth val="44"/>
        <c:axId val="48650112"/>
        <c:axId val="48672768"/>
      </c:barChart>
      <c:catAx>
        <c:axId val="48650112"/>
        <c:scaling>
          <c:orientation val="minMax"/>
        </c:scaling>
        <c:delete val="0"/>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938">
                <a:solidFill>
                  <a:srgbClr val="73787D"/>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33.xml><?xml version="1.0" encoding="utf-8"?>
<c:chartSpace xmlns:a="http://schemas.openxmlformats.org/drawingml/2006/main" xmlns:c="http://schemas.openxmlformats.org/drawingml/2006/chart">
  <c:lang val="pt-BR"/>
  <c:chart>
    <c:plotArea>
      <c:lineChart>
        <c:grouping val="standard"/>
        <c:ser>
          <c:idx val="0"/>
          <c:order val="0"/>
          <c:tx>
            <c:v>Dez/25</c:v>
          </c:tx>
          <c:spPr>
            <a:ln w="28575">
              <a:solidFill>
                <a:srgbClr val="73787D"/>
              </a:solidFill>
              <a:prstDash val="solid"/>
            </a:ln>
          </c:spPr>
          <c:marker>
            <c:symbol val="none"/>
          </c:marker>
          <c:cat>
            <c:strLit>
              <c:ptCount val="1"/>
              <c:pt idx="0">
                <c:v/>
              </c:pt>
            </c:strLit>
          </c:cat>
          <c:val>
            <c:numLit>
              <c:formatCode>General</c:formatCode>
              <c:ptCount val="1"/>
              <c:pt idx="0">
                <c:v>0</c:v>
              </c:pt>
            </c:numLit>
          </c:val>
        </c:ser>
        <c:ser>
          <c:idx val="1"/>
          <c:order val="1"/>
          <c:tx>
            <c:v>Jun/26</c:v>
          </c:tx>
          <c:spPr>
            <a:ln w="28575">
              <a:solidFill>
                <a:srgbClr val="EC7000"/>
              </a:solidFill>
              <a:prstDash val="solid"/>
            </a:ln>
          </c:spPr>
          <c:marker>
            <c:symbol val="none"/>
          </c:marker>
          <c:cat>
            <c:strLit>
              <c:ptCount val="1"/>
              <c:pt idx="0">
                <c:v/>
              </c:pt>
            </c:strLit>
          </c:cat>
          <c:val>
            <c:numLit>
              <c:formatCode>General</c:formatCode>
              <c:ptCount val="1"/>
              <c:pt idx="0">
                <c:v>0</c:v>
              </c:pt>
            </c:numLit>
          </c:val>
        </c:ser>
        <c:axId val="48650112"/>
        <c:axId val="48672768"/>
      </c:lineChart>
      <c:catAx>
        <c:axId val="48650112"/>
        <c:scaling>
          <c:orientation val="minMax"/>
        </c:scaling>
        <c:delete val="0"/>
        <c:axPos val="b"/>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1"/>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50112"/>
        <c:crossBetween val="between"/>
      </c:valAx>
      <c:spPr>
        <a:noFill/>
        <a:ln w="0">
          <a:noFill/>
          <a:prstDash val="solid"/>
        </a:ln>
      </c:spPr>
    </c:plotArea>
    <c:legend>
      <c:legendPos val="b"/>
      <c:overlay val="0"/>
      <c:txPr>
        <a:bodyPr anchorCtr="1"/>
        <a:lstStyle/>
        <a:p>
          <a:pPr>
            <a:defRPr sz="788">
              <a:solidFill>
                <a:srgbClr val="73787D"/>
              </a:solidFill>
            </a:defRPr>
          </a:pPr>
        </a:p>
      </c:txPr>
    </c:legend>
    <c:plotVisOnly val="1"/>
  </c:chart>
  <c:spPr>
    <a:noFill/>
    <a:ln w="0">
      <a:noFill/>
      <a:prstDash val="solid"/>
    </a:ln>
  </c:spPr>
</c:chartSpace>
</file>

<file path=ppt/slides/charts/chart34.xml><?xml version="1.0" encoding="utf-8"?>
<c:chartSpace xmlns:a="http://schemas.openxmlformats.org/drawingml/2006/main" xmlns:c="http://schemas.openxmlformats.org/drawingml/2006/chart">
  <c:lang val="pt-BR"/>
  <c:chart>
    <c:plotArea>
      <c:barChart>
        <c:barDir val="bar"/>
        <c:grouping val="clustered"/>
        <c:varyColors val="0"/>
        <c:ser>
          <c:idx val="0"/>
          <c:order val="0"/>
          <c:tx>
            <c:v>% fundos</c:v>
          </c:tx>
          <c:spPr>
            <a:solidFill>
              <a:srgbClr val="D7DADD"/>
            </a:solidFill>
          </c:spPr>
          <c:cat>
            <c:strLit>
              <c:ptCount val="6"/>
              <c:pt idx="0">
                <c:v>Monoestrutura</c:v>
              </c:pt>
              <c:pt idx="1">
                <c:v>Adm. + Gestão</c:v>
              </c:pt>
              <c:pt idx="2">
                <c:v>Adm. + Custódia</c:v>
              </c:pt>
              <c:pt idx="3">
                <c:v>Gestão + Custódia</c:v>
              </c:pt>
              <c:pt idx="4">
                <c:v>Três distintos</c:v>
              </c:pt>
              <c:pt idx="5">
                <c:v>Dados incompletos</c:v>
              </c:pt>
            </c:strLit>
          </c:cat>
          <c:val>
            <c:numLit>
              <c:formatCode>0.0%</c:formatCode>
              <c:ptCount val="6"/>
              <c:pt idx="0">
                <c:v>0.08029197080291971</c:v>
              </c:pt>
              <c:pt idx="1">
                <c:v>0.007770190722863198</c:v>
              </c:pt>
              <c:pt idx="2">
                <c:v>0.8102189781021898</c:v>
              </c:pt>
              <c:pt idx="3">
                <c:v>0.009182952672474688</c:v>
              </c:pt>
              <c:pt idx="4">
                <c:v>0.07558276430421473</c:v>
              </c:pt>
              <c:pt idx="5">
                <c:v>0.016953143395337884</c:v>
              </c:pt>
            </c:numLit>
          </c:val>
        </c:ser>
        <c:ser>
          <c:idx val="1"/>
          <c:order val="1"/>
          <c:tx>
            <c:v>% PL</c:v>
          </c:tx>
          <c:spPr>
            <a:solidFill>
              <a:srgbClr val="EC7000"/>
            </a:solidFill>
          </c:spPr>
          <c:cat>
            <c:strLit>
              <c:ptCount val="6"/>
              <c:pt idx="0">
                <c:v>Monoestrutura</c:v>
              </c:pt>
              <c:pt idx="1">
                <c:v>Adm. + Gestão</c:v>
              </c:pt>
              <c:pt idx="2">
                <c:v>Adm. + Custódia</c:v>
              </c:pt>
              <c:pt idx="3">
                <c:v>Gestão + Custódia</c:v>
              </c:pt>
              <c:pt idx="4">
                <c:v>Três distintos</c:v>
              </c:pt>
              <c:pt idx="5">
                <c:v>Dados incompletos</c:v>
              </c:pt>
            </c:strLit>
          </c:cat>
          <c:val>
            <c:numLit>
              <c:formatCode>0.0%</c:formatCode>
              <c:ptCount val="6"/>
              <c:pt idx="0">
                <c:v>0.3566815952743106</c:v>
              </c:pt>
              <c:pt idx="1">
                <c:v>0.025023574308591645</c:v>
              </c:pt>
              <c:pt idx="2">
                <c:v>0.5461799583736618</c:v>
              </c:pt>
              <c:pt idx="3">
                <c:v>0.008546199474819226</c:v>
              </c:pt>
              <c:pt idx="4">
                <c:v>0.051578174945170883</c:v>
              </c:pt>
              <c:pt idx="5">
                <c:v>0.011990497623445616</c:v>
              </c:pt>
            </c:numLit>
          </c:val>
        </c:ser>
        <c:dLbls>
          <c:txPr>
            <a:bodyPr anchorCtr="1"/>
            <a:lstStyle/>
            <a:p>
              <a:pPr>
                <a:defRPr sz="788" b="1">
                  <a:solidFill>
                    <a:srgbClr val="151515"/>
                  </a:solidFill>
                </a:defRPr>
              </a:pPr>
            </a:p>
          </c:txPr>
          <c:dLblPos val="outEnd"/>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l"/>
        <c:numFmt formatCode="0%"/>
        <c:majorTickMark val="none"/>
        <c:minorTickMark val="none"/>
        <c:spPr>
          <a:ln w="9525">
            <a:solidFill>
              <a:srgbClr val="D7DADD"/>
            </a:solidFill>
            <a:prstDash val="solid"/>
          </a:ln>
        </c:spPr>
        <c:txPr>
          <a:bodyPr anchorCtr="1"/>
          <a:lstStyle/>
          <a:p>
            <a:pPr>
              <a:defRPr sz="788">
                <a:solidFill>
                  <a:srgbClr val="8D9399"/>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863">
                <a:solidFill>
                  <a:srgbClr val="73787D"/>
                </a:solidFill>
              </a:defRPr>
            </a:pPr>
          </a:p>
        </c:txPr>
        <c:crossAx val="48650112"/>
        <c:crossBetween val="between"/>
      </c:valAx>
      <c:spPr>
        <a:noFill/>
        <a:ln w="0">
          <a:noFill/>
          <a:prstDash val="solid"/>
        </a:ln>
      </c:spPr>
    </c:plotArea>
    <c:legend>
      <c:legendPos val="b"/>
      <c:overlay val="0"/>
      <c:txPr>
        <a:bodyPr anchorCtr="1"/>
        <a:lstStyle/>
        <a:p>
          <a:pPr>
            <a:defRPr sz="900">
              <a:solidFill>
                <a:srgbClr val="73787D"/>
              </a:solidFill>
            </a:defRPr>
          </a:pPr>
        </a:p>
      </c:txPr>
    </c:legend>
    <c:plotVisOnly val="1"/>
  </c:chart>
  <c:spPr>
    <a:noFill/>
    <a:ln w="0">
      <a:noFill/>
      <a:prstDash val="solid"/>
    </a:ln>
  </c:spPr>
</c:chartSpace>
</file>

<file path=ppt/slides/charts/chart35.xml><?xml version="1.0" encoding="utf-8"?>
<c:chartSpace xmlns:a="http://schemas.openxmlformats.org/drawingml/2006/main" xmlns:c="http://schemas.openxmlformats.org/drawingml/2006/chart">
  <c:lang val="pt-BR"/>
  <c:chart>
    <c:plotArea>
      <c:barChart>
        <c:barDir val="col"/>
        <c:grouping val="clustered"/>
        <c:varyColors val="0"/>
        <c:ser>
          <c:idx val="0"/>
          <c:order val="0"/>
          <c:tx>
            <c:v>Volume registrado</c:v>
          </c:tx>
          <c:spPr>
            <a:solidFill>
              <a:srgbClr val="30353A"/>
            </a:solidFill>
          </c:spPr>
          <c:dPt>
            <c:idx val="0"/>
            <c:invertIfNegative val="0"/>
            <c:spPr>
              <a:solidFill>
                <a:srgbClr val="30353A"/>
              </a:solidFill>
            </c:spPr>
          </c:dPt>
          <c:dPt>
            <c:idx val="1"/>
            <c:invertIfNegative val="0"/>
            <c:spPr>
              <a:solidFill>
                <a:srgbClr val="30353A"/>
              </a:solidFill>
            </c:spPr>
          </c:dPt>
          <c:dPt>
            <c:idx val="2"/>
            <c:invertIfNegative val="0"/>
            <c:spPr>
              <a:solidFill>
                <a:srgbClr val="EC7000"/>
              </a:solidFill>
            </c:spPr>
          </c:dPt>
          <c:dLbls>
            <c:dLbl>
              <c:idx val="0"/>
              <c:txPr>
                <a:bodyPr anchorCtr="1"/>
                <a:lstStyle/>
                <a:p>
                  <a:pPr>
                    <a:defRPr sz="713" b="1">
                      <a:solidFill>
                        <a:srgbClr val="151515"/>
                      </a:solidFill>
                    </a:defRPr>
                  </a:pPr>
                </a:p>
              </c:txPr>
              <c:dLblPos val="outEnd"/>
              <c:showLegendKey val="0"/>
              <c:showVal val="1"/>
              <c:showCatName val="0"/>
              <c:showSerName val="0"/>
              <c:showPercent val="0"/>
              <c:showBubbleSize val="0"/>
            </c:dLbl>
            <c:dLbl>
              <c:idx val="1"/>
              <c:txPr>
                <a:bodyPr anchorCtr="1"/>
                <a:lstStyle/>
                <a:p>
                  <a:pPr>
                    <a:defRPr sz="713" b="1">
                      <a:solidFill>
                        <a:srgbClr val="151515"/>
                      </a:solidFill>
                    </a:defRPr>
                  </a:pPr>
                </a:p>
              </c:txPr>
              <c:dLblPos val="outEnd"/>
              <c:showLegendKey val="0"/>
              <c:showVal val="1"/>
              <c:showCatName val="0"/>
              <c:showSerName val="0"/>
              <c:showPercent val="0"/>
              <c:showBubbleSize val="0"/>
            </c:dLbl>
            <c:dLbl>
              <c:idx val="2"/>
              <c:txPr>
                <a:bodyPr anchorCtr="1"/>
                <a:lstStyle/>
                <a:p>
                  <a:pPr>
                    <a:defRPr sz="713" b="1">
                      <a:solidFill>
                        <a:srgbClr val="151515"/>
                      </a:solidFill>
                    </a:defRPr>
                  </a:pPr>
                </a:p>
              </c:txPr>
              <c:dLblPos val="outEnd"/>
              <c:showLegendKey val="0"/>
              <c:showVal val="1"/>
              <c:showCatName val="0"/>
              <c:showSerName val="0"/>
              <c:showPercent val="0"/>
              <c:showBubbleSize val="0"/>
            </c:dLbl>
          </c:dLbls>
          <c:cat>
            <c:strLit>
              <c:ptCount val="3"/>
              <c:pt idx="0">
                <c:v>2024FY</c:v>
              </c:pt>
              <c:pt idx="1">
                <c:v>2025FY</c:v>
              </c:pt>
              <c:pt idx="2">
                <c:v>2026YTD</c:v>
              </c:pt>
            </c:strLit>
          </c:cat>
          <c:val>
            <c:numLit>
              <c:formatCode>0.0</c:formatCode>
              <c:ptCount val="3"/>
              <c:pt idx="0">
                <c:v>95.41672613375</c:v>
              </c:pt>
              <c:pt idx="1">
                <c:v>116.92131905477001</c:v>
              </c:pt>
              <c:pt idx="2">
                <c:v>65.48811898356</c:v>
              </c:pt>
            </c:numLit>
          </c:val>
        </c:ser>
        <c:dLbls>
          <c:txPr>
            <a:bodyPr anchorCtr="1"/>
            <a:lstStyle/>
            <a:p>
              <a:pPr>
                <a:defRPr sz="713" b="1">
                  <a:solidFill>
                    <a:srgbClr val="151515"/>
                  </a:solidFill>
                </a:defRPr>
              </a:pPr>
            </a:p>
          </c:txPr>
          <c:dLblPos val="outEnd"/>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825">
                <a:solidFill>
                  <a:srgbClr val="73787D"/>
                </a:solidFill>
              </a:defRPr>
            </a:pPr>
          </a:p>
        </c:txPr>
        <c:crossAx val="48672768"/>
        <c:lblAlgn val="ctr"/>
        <c:lblOffset val="100"/>
        <c:noMultiLvlLbl val="0"/>
      </c:catAx>
      <c:valAx>
        <c:axId val="48672768"/>
        <c:scaling>
          <c:orientation val="minMax"/>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675">
                <a:solidFill>
                  <a:srgbClr val="8D9399"/>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36.xml><?xml version="1.0" encoding="utf-8"?>
<c:chartSpace xmlns:a="http://schemas.openxmlformats.org/drawingml/2006/main" xmlns:c="http://schemas.openxmlformats.org/drawingml/2006/chart">
  <c:lang val="pt-BR"/>
  <c:chart>
    <c:plotArea>
      <c:lineChart>
        <c:grouping val="standard"/>
        <c:varyColors val="0"/>
        <c:ser>
          <c:idx val="0"/>
          <c:order val="0"/>
          <c:tx>
            <c:v>2024</c:v>
          </c:tx>
          <c:spPr>
            <a:ln w="19050">
              <a:solidFill>
                <a:srgbClr val="8D9399"/>
              </a:solidFill>
              <a:prstDash val="solid"/>
            </a:ln>
          </c:spPr>
          <c:marker>
            <c:symbol val="none"/>
          </c:marker>
          <c:cat>
            <c:strLit>
              <c:ptCount val="12"/>
              <c:pt idx="0">
                <c:v>Jan</c:v>
              </c:pt>
              <c:pt idx="1">
                <c:v/>
              </c:pt>
              <c:pt idx="2">
                <c:v>Mar</c:v>
              </c:pt>
              <c:pt idx="3">
                <c:v/>
              </c:pt>
              <c:pt idx="4">
                <c:v>Mai</c:v>
              </c:pt>
              <c:pt idx="5">
                <c:v>Jun</c:v>
              </c:pt>
              <c:pt idx="6">
                <c:v/>
              </c:pt>
              <c:pt idx="7">
                <c:v>Ago</c:v>
              </c:pt>
              <c:pt idx="8">
                <c:v/>
              </c:pt>
              <c:pt idx="9">
                <c:v>Out</c:v>
              </c:pt>
              <c:pt idx="10">
                <c:v/>
              </c:pt>
              <c:pt idx="11">
                <c:v>Dez</c:v>
              </c:pt>
            </c:strLit>
          </c:cat>
          <c:val>
            <c:numLit>
              <c:formatCode>0.0</c:formatCode>
              <c:ptCount val="12"/>
              <c:pt idx="0">
                <c:v>3.5776889819499997</c:v>
              </c:pt>
              <c:pt idx="1">
                <c:v>6.31697433342</c:v>
              </c:pt>
              <c:pt idx="2">
                <c:v>12.75231637649</c:v>
              </c:pt>
              <c:pt idx="3">
                <c:v>18.982994111559996</c:v>
              </c:pt>
              <c:pt idx="4">
                <c:v>35.57797349489</c:v>
              </c:pt>
              <c:pt idx="5">
                <c:v>40.869510061910006</c:v>
              </c:pt>
              <c:pt idx="6">
                <c:v>49.369269147820006</c:v>
              </c:pt>
              <c:pt idx="7">
                <c:v>54.50517684065001</c:v>
              </c:pt>
              <c:pt idx="8">
                <c:v>59.275357674750005</c:v>
              </c:pt>
              <c:pt idx="9">
                <c:v>68.67479071153001</c:v>
              </c:pt>
              <c:pt idx="10">
                <c:v>80.61445578144</c:v>
              </c:pt>
              <c:pt idx="11">
                <c:v>95.41672613375</c:v>
              </c:pt>
            </c:numLit>
          </c:val>
        </c:ser>
        <c:ser>
          <c:idx val="1"/>
          <c:order val="1"/>
          <c:tx>
            <c:v>2025</c:v>
          </c:tx>
          <c:spPr>
            <a:ln w="20955">
              <a:solidFill>
                <a:srgbClr val="30353A"/>
              </a:solidFill>
              <a:prstDash val="solid"/>
            </a:ln>
          </c:spPr>
          <c:marker>
            <c:symbol val="none"/>
          </c:marker>
          <c:cat>
            <c:strLit>
              <c:ptCount val="12"/>
              <c:pt idx="0">
                <c:v>Jan</c:v>
              </c:pt>
              <c:pt idx="1">
                <c:v/>
              </c:pt>
              <c:pt idx="2">
                <c:v>Mar</c:v>
              </c:pt>
              <c:pt idx="3">
                <c:v/>
              </c:pt>
              <c:pt idx="4">
                <c:v>Mai</c:v>
              </c:pt>
              <c:pt idx="5">
                <c:v>Jun</c:v>
              </c:pt>
              <c:pt idx="6">
                <c:v/>
              </c:pt>
              <c:pt idx="7">
                <c:v>Ago</c:v>
              </c:pt>
              <c:pt idx="8">
                <c:v/>
              </c:pt>
              <c:pt idx="9">
                <c:v>Out</c:v>
              </c:pt>
              <c:pt idx="10">
                <c:v/>
              </c:pt>
              <c:pt idx="11">
                <c:v>Dez</c:v>
              </c:pt>
            </c:strLit>
          </c:cat>
          <c:val>
            <c:numLit>
              <c:formatCode>0.0</c:formatCode>
              <c:ptCount val="12"/>
              <c:pt idx="0">
                <c:v>4.69157717423</c:v>
              </c:pt>
              <c:pt idx="1">
                <c:v>13.28230156707</c:v>
              </c:pt>
              <c:pt idx="2">
                <c:v>21.89222074001</c:v>
              </c:pt>
              <c:pt idx="3">
                <c:v>36.243054840190005</c:v>
              </c:pt>
              <c:pt idx="4">
                <c:v>44.91558778326</c:v>
              </c:pt>
              <c:pt idx="5">
                <c:v>57.15870696836</c:v>
              </c:pt>
              <c:pt idx="6">
                <c:v>64.14446989868</c:v>
              </c:pt>
              <c:pt idx="7">
                <c:v>70.52665275716001</c:v>
              </c:pt>
              <c:pt idx="8">
                <c:v>78.53187842665001</c:v>
              </c:pt>
              <c:pt idx="9">
                <c:v>90.04350947167</c:v>
              </c:pt>
              <c:pt idx="10">
                <c:v>100.76052553320001</c:v>
              </c:pt>
              <c:pt idx="11">
                <c:v>116.92131905477002</c:v>
              </c:pt>
            </c:numLit>
          </c:val>
        </c:ser>
        <c:ser>
          <c:idx val="2"/>
          <c:order val="2"/>
          <c:tx>
            <c:v>2026</c:v>
          </c:tx>
          <c:spPr>
            <a:ln w="28575">
              <a:solidFill>
                <a:srgbClr val="EC7000"/>
              </a:solidFill>
              <a:prstDash val="solid"/>
            </a:ln>
          </c:spPr>
          <c:marker>
            <c:symbol val="none"/>
          </c:marker>
          <c:cat>
            <c:strLit>
              <c:ptCount val="12"/>
              <c:pt idx="0">
                <c:v>Jan</c:v>
              </c:pt>
              <c:pt idx="1">
                <c:v/>
              </c:pt>
              <c:pt idx="2">
                <c:v>Mar</c:v>
              </c:pt>
              <c:pt idx="3">
                <c:v/>
              </c:pt>
              <c:pt idx="4">
                <c:v>Mai</c:v>
              </c:pt>
              <c:pt idx="5">
                <c:v>Jun</c:v>
              </c:pt>
              <c:pt idx="6">
                <c:v/>
              </c:pt>
              <c:pt idx="7">
                <c:v>Ago</c:v>
              </c:pt>
              <c:pt idx="8">
                <c:v/>
              </c:pt>
              <c:pt idx="9">
                <c:v>Out</c:v>
              </c:pt>
              <c:pt idx="10">
                <c:v/>
              </c:pt>
              <c:pt idx="11">
                <c:v>Dez</c:v>
              </c:pt>
            </c:strLit>
          </c:cat>
          <c:val>
            <c:numLit>
              <c:formatCode>0.0</c:formatCode>
              <c:ptCount val="6"/>
              <c:pt idx="0">
                <c:v>8.415778112109999</c:v>
              </c:pt>
              <c:pt idx="1">
                <c:v>15.828976040429998</c:v>
              </c:pt>
              <c:pt idx="2">
                <c:v>27.564315847659994</c:v>
              </c:pt>
              <c:pt idx="3">
                <c:v>44.609140465989995</c:v>
              </c:pt>
              <c:pt idx="4">
                <c:v>51.475115157089995</c:v>
              </c:pt>
              <c:pt idx="5">
                <c:v>65.48811898356</c:v>
              </c:pt>
            </c:numLit>
          </c:val>
        </c:ser>
        <c:axId val="48650112"/>
        <c:axId val="48672768"/>
      </c:lineChart>
      <c:catAx>
        <c:axId val="48650112"/>
        <c:scaling>
          <c:orientation val="minMax"/>
        </c:scaling>
        <c:delete val="0"/>
        <c:axPos val="b"/>
        <c:numFmt formatCode="General"/>
        <c:majorTickMark val="none"/>
        <c:minorTickMark val="none"/>
        <c:tickLblPos val="low"/>
        <c:spPr>
          <a:ln w="9525">
            <a:solidFill>
              <a:srgbClr val="D7DADD"/>
            </a:solidFill>
            <a:prstDash val="solid"/>
          </a:ln>
        </c:spPr>
        <c:txPr>
          <a:bodyPr anchorCtr="1"/>
          <a:lstStyle/>
          <a:p>
            <a:pPr>
              <a:defRPr sz="660">
                <a:solidFill>
                  <a:srgbClr val="73787D"/>
                </a:solidFill>
              </a:defRPr>
            </a:pPr>
          </a:p>
        </c:txPr>
        <c:crossAx val="48672768"/>
        <c:lblAlgn val="ctr"/>
        <c:lblOffset val="100"/>
        <c:noMultiLvlLbl val="0"/>
      </c:catAx>
      <c:valAx>
        <c:axId val="48672768"/>
        <c:scaling>
          <c:orientation val="minMax"/>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675">
                <a:solidFill>
                  <a:srgbClr val="8D9399"/>
                </a:solidFill>
              </a:defRPr>
            </a:pPr>
          </a:p>
        </c:txPr>
        <c:crossAx val="48650112"/>
        <c:crossBetween val="between"/>
      </c:valAx>
      <c:spPr>
        <a:noFill/>
        <a:ln w="0">
          <a:noFill/>
          <a:prstDash val="solid"/>
        </a:ln>
      </c:spPr>
    </c:plotArea>
    <c:plotVisOnly val="1"/>
    <c:dispBlanksAs val="gap"/>
  </c:chart>
  <c:spPr>
    <a:noFill/>
    <a:ln w="0">
      <a:noFill/>
      <a:prstDash val="solid"/>
    </a:ln>
  </c:spPr>
</c:chartSpace>
</file>

<file path=ppt/slides/charts/chart37.xml><?xml version="1.0" encoding="utf-8"?>
<c:chartSpace xmlns:a="http://schemas.openxmlformats.org/drawingml/2006/main" xmlns:c="http://schemas.openxmlformats.org/drawingml/2006/chart">
  <c:lang val="pt-BR"/>
  <c:chart>
    <c:plotArea>
      <c:lineChart>
        <c:grouping val="standard"/>
        <c:ser>
          <c:idx val="0"/>
          <c:order val="0"/>
          <c:tx>
            <c:v>2024</c:v>
          </c:tx>
          <c:spPr>
            <a:ln w="28575">
              <a:solidFill>
                <a:srgbClr val="8D9399"/>
              </a:solidFill>
              <a:prstDash val="solid"/>
            </a:ln>
          </c:spPr>
          <c:marker>
            <c:symbol val="none"/>
          </c:marker>
          <c:cat>
            <c:strLit>
              <c:ptCount val="1"/>
              <c:pt idx="0">
                <c:v/>
              </c:pt>
            </c:strLit>
          </c:cat>
          <c:val>
            <c:numLit>
              <c:formatCode>General</c:formatCode>
              <c:ptCount val="1"/>
              <c:pt idx="0">
                <c:v>0</c:v>
              </c:pt>
            </c:numLit>
          </c:val>
        </c:ser>
        <c:ser>
          <c:idx val="1"/>
          <c:order val="1"/>
          <c:tx>
            <c:v>2025</c:v>
          </c:tx>
          <c:spPr>
            <a:ln w="28575">
              <a:solidFill>
                <a:srgbClr val="30353A"/>
              </a:solidFill>
              <a:prstDash val="solid"/>
            </a:ln>
          </c:spPr>
          <c:marker>
            <c:symbol val="none"/>
          </c:marker>
          <c:cat>
            <c:strLit>
              <c:ptCount val="1"/>
              <c:pt idx="0">
                <c:v/>
              </c:pt>
            </c:strLit>
          </c:cat>
          <c:val>
            <c:numLit>
              <c:formatCode>General</c:formatCode>
              <c:ptCount val="1"/>
              <c:pt idx="0">
                <c:v>0</c:v>
              </c:pt>
            </c:numLit>
          </c:val>
        </c:ser>
        <c:ser>
          <c:idx val="2"/>
          <c:order val="2"/>
          <c:tx>
            <c:v>2026</c:v>
          </c:tx>
          <c:spPr>
            <a:ln w="28575">
              <a:solidFill>
                <a:srgbClr val="EC7000"/>
              </a:solidFill>
              <a:prstDash val="solid"/>
            </a:ln>
          </c:spPr>
          <c:marker>
            <c:symbol val="none"/>
          </c:marker>
          <c:cat>
            <c:strLit>
              <c:ptCount val="1"/>
              <c:pt idx="0">
                <c:v/>
              </c:pt>
            </c:strLit>
          </c:cat>
          <c:val>
            <c:numLit>
              <c:formatCode>General</c:formatCode>
              <c:ptCount val="1"/>
              <c:pt idx="0">
                <c:v>0</c:v>
              </c:pt>
            </c:numLit>
          </c:val>
        </c:ser>
        <c:axId val="48650112"/>
        <c:axId val="48672768"/>
      </c:lineChart>
      <c:catAx>
        <c:axId val="48650112"/>
        <c:scaling>
          <c:orientation val="minMax"/>
        </c:scaling>
        <c:delete val="0"/>
        <c:axPos val="b"/>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1"/>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50112"/>
        <c:crossBetween val="between"/>
      </c:valAx>
      <c:spPr>
        <a:noFill/>
        <a:ln w="0">
          <a:noFill/>
          <a:prstDash val="solid"/>
        </a:ln>
      </c:spPr>
    </c:plotArea>
    <c:legend>
      <c:legendPos val="b"/>
      <c:overlay val="0"/>
      <c:txPr>
        <a:bodyPr anchorCtr="1"/>
        <a:lstStyle/>
        <a:p>
          <a:pPr>
            <a:defRPr sz="788">
              <a:solidFill>
                <a:srgbClr val="73787D"/>
              </a:solidFill>
            </a:defRPr>
          </a:pPr>
        </a:p>
      </c:txPr>
    </c:legend>
    <c:plotVisOnly val="1"/>
  </c:chart>
  <c:spPr>
    <a:noFill/>
    <a:ln w="0">
      <a:noFill/>
      <a:prstDash val="solid"/>
    </a:ln>
  </c:spPr>
</c:chartSpace>
</file>

<file path=ppt/slides/charts/chart38.xml><?xml version="1.0" encoding="utf-8"?>
<c:chartSpace xmlns:a="http://schemas.openxmlformats.org/drawingml/2006/main" xmlns:c="http://schemas.openxmlformats.org/drawingml/2006/chart">
  <c:lang val="pt-BR"/>
  <c:chart>
    <c:plotArea>
      <c:barChart>
        <c:barDir val="col"/>
        <c:grouping val="clustered"/>
        <c:varyColors val="0"/>
        <c:ser>
          <c:idx val="0"/>
          <c:order val="0"/>
          <c:tx>
            <c:v>2024</c:v>
          </c:tx>
          <c:spPr>
            <a:solidFill>
              <a:srgbClr val="8D9399"/>
            </a:solidFill>
          </c:spPr>
          <c:cat>
            <c:strLit>
              <c:ptCount val="7"/>
              <c:pt idx="0">
                <c:v>&lt; R$ 10</c:v>
              </c:pt>
              <c:pt idx="1">
                <c:v>R$ 10–25</c:v>
              </c:pt>
              <c:pt idx="2">
                <c:v>R$ 25–50</c:v>
              </c:pt>
              <c:pt idx="3">
                <c:v>R$ 50–100</c:v>
              </c:pt>
              <c:pt idx="4">
                <c:v>R$ 100–200</c:v>
              </c:pt>
              <c:pt idx="5">
                <c:v>R$ 200–500</c:v>
              </c:pt>
              <c:pt idx="6">
                <c:v>≥ R$ 500</c:v>
              </c:pt>
            </c:strLit>
          </c:cat>
          <c:val>
            <c:numLit>
              <c:formatCode>0%</c:formatCode>
              <c:ptCount val="7"/>
              <c:pt idx="0">
                <c:v>0.2289395441030723</c:v>
              </c:pt>
              <c:pt idx="1">
                <c:v>0.2348860257680872</c:v>
              </c:pt>
              <c:pt idx="2">
                <c:v>0.1734390485629336</c:v>
              </c:pt>
              <c:pt idx="3">
                <c:v>0.1565906838453915</c:v>
              </c:pt>
              <c:pt idx="4">
                <c:v>0.0931615460852329</c:v>
              </c:pt>
              <c:pt idx="5">
                <c:v>0.0822596630327056</c:v>
              </c:pt>
              <c:pt idx="6">
                <c:v>0.0307234886025768</c:v>
              </c:pt>
            </c:numLit>
          </c:val>
        </c:ser>
        <c:ser>
          <c:idx val="1"/>
          <c:order val="1"/>
          <c:tx>
            <c:v>2025</c:v>
          </c:tx>
          <c:spPr>
            <a:solidFill>
              <a:srgbClr val="30353A"/>
            </a:solidFill>
          </c:spPr>
          <c:cat>
            <c:strLit>
              <c:ptCount val="7"/>
              <c:pt idx="0">
                <c:v>&lt; R$ 10</c:v>
              </c:pt>
              <c:pt idx="1">
                <c:v>R$ 10–25</c:v>
              </c:pt>
              <c:pt idx="2">
                <c:v>R$ 25–50</c:v>
              </c:pt>
              <c:pt idx="3">
                <c:v>R$ 50–100</c:v>
              </c:pt>
              <c:pt idx="4">
                <c:v>R$ 100–200</c:v>
              </c:pt>
              <c:pt idx="5">
                <c:v>R$ 200–500</c:v>
              </c:pt>
              <c:pt idx="6">
                <c:v>≥ R$ 500</c:v>
              </c:pt>
            </c:strLit>
          </c:cat>
          <c:val>
            <c:numLit>
              <c:formatCode>0%</c:formatCode>
              <c:ptCount val="7"/>
              <c:pt idx="0">
                <c:v>0.2376103190767141</c:v>
              </c:pt>
              <c:pt idx="1">
                <c:v>0.2545824847250509</c:v>
              </c:pt>
              <c:pt idx="2">
                <c:v>0.1629327902240326</c:v>
              </c:pt>
              <c:pt idx="3">
                <c:v>0.1575016972165648</c:v>
              </c:pt>
              <c:pt idx="4">
                <c:v>0.0950441276306856</c:v>
              </c:pt>
              <c:pt idx="5">
                <c:v>0.0678886625933469</c:v>
              </c:pt>
              <c:pt idx="6">
                <c:v>0.0244399185336048</c:v>
              </c:pt>
            </c:numLit>
          </c:val>
        </c:ser>
        <c:ser>
          <c:idx val="2"/>
          <c:order val="2"/>
          <c:tx>
            <c:v>Jan–jun/26</c:v>
          </c:tx>
          <c:spPr>
            <a:solidFill>
              <a:srgbClr val="EC7000"/>
            </a:solidFill>
          </c:spPr>
          <c:cat>
            <c:strLit>
              <c:ptCount val="7"/>
              <c:pt idx="0">
                <c:v>&lt; R$ 10</c:v>
              </c:pt>
              <c:pt idx="1">
                <c:v>R$ 10–25</c:v>
              </c:pt>
              <c:pt idx="2">
                <c:v>R$ 25–50</c:v>
              </c:pt>
              <c:pt idx="3">
                <c:v>R$ 50–100</c:v>
              </c:pt>
              <c:pt idx="4">
                <c:v>R$ 100–200</c:v>
              </c:pt>
              <c:pt idx="5">
                <c:v>R$ 200–500</c:v>
              </c:pt>
              <c:pt idx="6">
                <c:v>≥ R$ 500</c:v>
              </c:pt>
            </c:strLit>
          </c:cat>
          <c:val>
            <c:numLit>
              <c:formatCode>0%</c:formatCode>
              <c:ptCount val="7"/>
              <c:pt idx="0">
                <c:v>0.2399481193255512</c:v>
              </c:pt>
              <c:pt idx="1">
                <c:v>0.2684824902723735</c:v>
              </c:pt>
              <c:pt idx="2">
                <c:v>0.1530479896238651</c:v>
              </c:pt>
              <c:pt idx="3">
                <c:v>0.1569390402075227</c:v>
              </c:pt>
              <c:pt idx="4">
                <c:v>0.0933852140077821</c:v>
              </c:pt>
              <c:pt idx="5">
                <c:v>0.059662775616083</c:v>
              </c:pt>
              <c:pt idx="6">
                <c:v>0.0285343709468223</c:v>
              </c:pt>
            </c:numLit>
          </c:val>
        </c:ser>
        <c:dLbls>
          <c:txPr>
            <a:bodyPr anchorCtr="1"/>
            <a:lstStyle/>
            <a:p>
              <a:pPr>
                <a:defRPr sz="503" b="0">
                  <a:solidFill>
                    <a:srgbClr val="151515"/>
                  </a:solidFill>
                </a:defRPr>
              </a:pPr>
            </a:p>
          </c:txPr>
          <c:dLblPos val="outEnd"/>
          <c:showLegendKey val="0"/>
          <c:showVal val="1"/>
          <c:showCatName val="0"/>
          <c:showSerName val="0"/>
          <c:showPercent val="0"/>
          <c:showBubbleSize val="0"/>
          <c:showLeaderLines val="0"/>
        </c:dLbls>
        <c:gapWidth val="48"/>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555">
                <a:solidFill>
                  <a:srgbClr val="73787D"/>
                </a:solidFill>
              </a:defRPr>
            </a:pPr>
          </a:p>
        </c:txPr>
        <c:crossAx val="48672768"/>
        <c:lblAlgn val="ctr"/>
        <c:lblOffset val="100"/>
        <c:noMultiLvlLbl val="0"/>
      </c:catAx>
      <c:valAx>
        <c:axId val="48672768"/>
        <c:scaling>
          <c:orientation val="minMax"/>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570">
                <a:solidFill>
                  <a:srgbClr val="8D9399"/>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39.xml><?xml version="1.0" encoding="utf-8"?>
<c:chartSpace xmlns:a="http://schemas.openxmlformats.org/drawingml/2006/main" xmlns:c="http://schemas.openxmlformats.org/drawingml/2006/chart">
  <c:lang val="pt-BR"/>
  <c:chart>
    <c:plotArea>
      <c:barChart>
        <c:barDir val="col"/>
        <c:grouping val="clustered"/>
        <c:varyColors val="0"/>
        <c:ser>
          <c:idx val="0"/>
          <c:order val="0"/>
          <c:tx>
            <c:v>2024</c:v>
          </c:tx>
          <c:spPr>
            <a:solidFill>
              <a:srgbClr val="8D9399"/>
            </a:solidFill>
          </c:spPr>
          <c:cat>
            <c:strLit>
              <c:ptCount val="7"/>
              <c:pt idx="0">
                <c:v>&lt; R$ 10</c:v>
              </c:pt>
              <c:pt idx="1">
                <c:v>R$ 10–25</c:v>
              </c:pt>
              <c:pt idx="2">
                <c:v>R$ 25–50</c:v>
              </c:pt>
              <c:pt idx="3">
                <c:v>R$ 50–100</c:v>
              </c:pt>
              <c:pt idx="4">
                <c:v>R$ 100–200</c:v>
              </c:pt>
              <c:pt idx="5">
                <c:v>R$ 200–500</c:v>
              </c:pt>
              <c:pt idx="6">
                <c:v>≥ R$ 500</c:v>
              </c:pt>
            </c:strLit>
          </c:cat>
          <c:val>
            <c:numLit>
              <c:formatCode>0%</c:formatCode>
              <c:ptCount val="7"/>
              <c:pt idx="0">
                <c:v>0.0103321633887131</c:v>
              </c:pt>
              <c:pt idx="1">
                <c:v>0.0361313295137315</c:v>
              </c:pt>
              <c:pt idx="2">
                <c:v>0.0618859371549046</c:v>
              </c:pt>
              <c:pt idx="3">
                <c:v>0.1088463666507672</c:v>
              </c:pt>
              <c:pt idx="4">
                <c:v>0.1257652142029994</c:v>
              </c:pt>
              <c:pt idx="5">
                <c:v>0.2452642827460449</c:v>
              </c:pt>
              <c:pt idx="6">
                <c:v>0.411774706342839</c:v>
              </c:pt>
            </c:numLit>
          </c:val>
        </c:ser>
        <c:ser>
          <c:idx val="1"/>
          <c:order val="1"/>
          <c:tx>
            <c:v>2025</c:v>
          </c:tx>
          <c:spPr>
            <a:solidFill>
              <a:srgbClr val="30353A"/>
            </a:solidFill>
          </c:spPr>
          <c:cat>
            <c:strLit>
              <c:ptCount val="7"/>
              <c:pt idx="0">
                <c:v>&lt; R$ 10</c:v>
              </c:pt>
              <c:pt idx="1">
                <c:v>R$ 10–25</c:v>
              </c:pt>
              <c:pt idx="2">
                <c:v>R$ 25–50</c:v>
              </c:pt>
              <c:pt idx="3">
                <c:v>R$ 50–100</c:v>
              </c:pt>
              <c:pt idx="4">
                <c:v>R$ 100–200</c:v>
              </c:pt>
              <c:pt idx="5">
                <c:v>R$ 200–500</c:v>
              </c:pt>
              <c:pt idx="6">
                <c:v>≥ R$ 500</c:v>
              </c:pt>
            </c:strLit>
          </c:cat>
          <c:val>
            <c:numLit>
              <c:formatCode>0%</c:formatCode>
              <c:ptCount val="7"/>
              <c:pt idx="0">
                <c:v>0.011730951363519</c:v>
              </c:pt>
              <c:pt idx="1">
                <c:v>0.0474259703898181</c:v>
              </c:pt>
              <c:pt idx="2">
                <c:v>0.0704715892035931</c:v>
              </c:pt>
              <c:pt idx="3">
                <c:v>0.1291117427322091</c:v>
              </c:pt>
              <c:pt idx="4">
                <c:v>0.1527533319156595</c:v>
              </c:pt>
              <c:pt idx="5">
                <c:v>0.2413792875044426</c:v>
              </c:pt>
              <c:pt idx="6">
                <c:v>0.3471271268907585</c:v>
              </c:pt>
            </c:numLit>
          </c:val>
        </c:ser>
        <c:ser>
          <c:idx val="2"/>
          <c:order val="2"/>
          <c:tx>
            <c:v>Jan–jun/26</c:v>
          </c:tx>
          <c:spPr>
            <a:solidFill>
              <a:srgbClr val="EC7000"/>
            </a:solidFill>
          </c:spPr>
          <c:cat>
            <c:strLit>
              <c:ptCount val="7"/>
              <c:pt idx="0">
                <c:v>&lt; R$ 10</c:v>
              </c:pt>
              <c:pt idx="1">
                <c:v>R$ 10–25</c:v>
              </c:pt>
              <c:pt idx="2">
                <c:v>R$ 25–50</c:v>
              </c:pt>
              <c:pt idx="3">
                <c:v>R$ 50–100</c:v>
              </c:pt>
              <c:pt idx="4">
                <c:v>R$ 100–200</c:v>
              </c:pt>
              <c:pt idx="5">
                <c:v>R$ 200–500</c:v>
              </c:pt>
              <c:pt idx="6">
                <c:v>≥ R$ 500</c:v>
              </c:pt>
            </c:strLit>
          </c:cat>
          <c:val>
            <c:numLit>
              <c:formatCode>0%</c:formatCode>
              <c:ptCount val="7"/>
              <c:pt idx="0">
                <c:v>0.0122362463084512</c:v>
              </c:pt>
              <c:pt idx="1">
                <c:v>0.0464655965907937</c:v>
              </c:pt>
              <c:pt idx="2">
                <c:v>0.0609833624673594</c:v>
              </c:pt>
              <c:pt idx="3">
                <c:v>0.1209441922159701</c:v>
              </c:pt>
              <c:pt idx="4">
                <c:v>0.1441593207615259</c:v>
              </c:pt>
              <c:pt idx="5">
                <c:v>0.1929168497919684</c:v>
              </c:pt>
              <c:pt idx="6">
                <c:v>0.4222944318639312</c:v>
              </c:pt>
            </c:numLit>
          </c:val>
        </c:ser>
        <c:dLbls>
          <c:txPr>
            <a:bodyPr anchorCtr="1"/>
            <a:lstStyle/>
            <a:p>
              <a:pPr>
                <a:defRPr sz="503" b="0">
                  <a:solidFill>
                    <a:srgbClr val="151515"/>
                  </a:solidFill>
                </a:defRPr>
              </a:pPr>
            </a:p>
          </c:txPr>
          <c:dLblPos val="outEnd"/>
          <c:showLegendKey val="0"/>
          <c:showVal val="1"/>
          <c:showCatName val="0"/>
          <c:showSerName val="0"/>
          <c:showPercent val="0"/>
          <c:showBubbleSize val="0"/>
          <c:showLeaderLines val="0"/>
        </c:dLbls>
        <c:gapWidth val="48"/>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555">
                <a:solidFill>
                  <a:srgbClr val="73787D"/>
                </a:solidFill>
              </a:defRPr>
            </a:pPr>
          </a:p>
        </c:txPr>
        <c:crossAx val="48672768"/>
        <c:lblAlgn val="ctr"/>
        <c:lblOffset val="100"/>
        <c:noMultiLvlLbl val="0"/>
      </c:catAx>
      <c:valAx>
        <c:axId val="48672768"/>
        <c:scaling>
          <c:orientation val="minMax"/>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570">
                <a:solidFill>
                  <a:srgbClr val="8D9399"/>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40.xml><?xml version="1.0" encoding="utf-8"?>
<c:chartSpace xmlns:a="http://schemas.openxmlformats.org/drawingml/2006/main" xmlns:c="http://schemas.openxmlformats.org/drawingml/2006/chart">
  <c:lang val="pt-BR"/>
  <c:chart>
    <c:plotArea>
      <c:barChart>
        <c:barDir val="col"/>
        <c:grouping val="clustered"/>
        <c:varyColors val="0"/>
        <c:ser>
          <c:idx val="0"/>
          <c:order val="0"/>
          <c:tx>
            <c:v>2024</c:v>
          </c:tx>
          <c:spPr>
            <a:solidFill>
              <a:srgbClr val="8D9399"/>
            </a:solidFill>
          </c:spPr>
          <c:cat>
            <c:strLit>
              <c:ptCount val="7"/>
              <c:pt idx="0">
                <c:v>&lt; R$ 10</c:v>
              </c:pt>
              <c:pt idx="1">
                <c:v>R$ 10–25</c:v>
              </c:pt>
              <c:pt idx="2">
                <c:v>R$ 25–50</c:v>
              </c:pt>
              <c:pt idx="3">
                <c:v>R$ 50–100</c:v>
              </c:pt>
              <c:pt idx="4">
                <c:v>R$ 100–200</c:v>
              </c:pt>
              <c:pt idx="5">
                <c:v>R$ 200–500</c:v>
              </c:pt>
              <c:pt idx="6">
                <c:v>≥ R$ 500</c:v>
              </c:pt>
            </c:strLit>
          </c:cat>
          <c:val>
            <c:numLit>
              <c:formatCode>0.0,,,</c:formatCode>
              <c:ptCount val="7"/>
              <c:pt idx="0">
                <c:v>985861204.43</c:v>
              </c:pt>
              <c:pt idx="1">
                <c:v>3447533173.06</c:v>
              </c:pt>
              <c:pt idx="2">
                <c:v>5904953517.04</c:v>
              </c:pt>
              <c:pt idx="3">
                <c:v>10385763957.37</c:v>
              </c:pt>
              <c:pt idx="4">
                <c:v>12000105000.76</c:v>
              </c:pt>
              <c:pt idx="5">
                <c:v>23402314897.17</c:v>
              </c:pt>
              <c:pt idx="6">
                <c:v>39290194383.92</c:v>
              </c:pt>
            </c:numLit>
          </c:val>
        </c:ser>
        <c:ser>
          <c:idx val="1"/>
          <c:order val="1"/>
          <c:tx>
            <c:v>2025</c:v>
          </c:tx>
          <c:spPr>
            <a:solidFill>
              <a:srgbClr val="30353A"/>
            </a:solidFill>
          </c:spPr>
          <c:cat>
            <c:strLit>
              <c:ptCount val="7"/>
              <c:pt idx="0">
                <c:v>&lt; R$ 10</c:v>
              </c:pt>
              <c:pt idx="1">
                <c:v>R$ 10–25</c:v>
              </c:pt>
              <c:pt idx="2">
                <c:v>R$ 25–50</c:v>
              </c:pt>
              <c:pt idx="3">
                <c:v>R$ 50–100</c:v>
              </c:pt>
              <c:pt idx="4">
                <c:v>R$ 100–200</c:v>
              </c:pt>
              <c:pt idx="5">
                <c:v>R$ 200–500</c:v>
              </c:pt>
              <c:pt idx="6">
                <c:v>≥ R$ 500</c:v>
              </c:pt>
            </c:strLit>
          </c:cat>
          <c:val>
            <c:numLit>
              <c:formatCode>0.0,,,</c:formatCode>
              <c:ptCount val="7"/>
              <c:pt idx="0">
                <c:v>1371598307.19</c:v>
              </c:pt>
              <c:pt idx="1">
                <c:v>5545107015.43</c:v>
              </c:pt>
              <c:pt idx="2">
                <c:v>8239631165.57</c:v>
              </c:pt>
              <c:pt idx="3">
                <c:v>15095915265.71</c:v>
              </c:pt>
              <c:pt idx="4">
                <c:v>17860121057.590004</c:v>
              </c:pt>
              <c:pt idx="5">
                <c:v>28222384687.519997</c:v>
              </c:pt>
              <c:pt idx="6">
                <c:v>40586561555.76</c:v>
              </c:pt>
            </c:numLit>
          </c:val>
        </c:ser>
        <c:ser>
          <c:idx val="2"/>
          <c:order val="2"/>
          <c:tx>
            <c:v>Jan–jun/26</c:v>
          </c:tx>
          <c:spPr>
            <a:solidFill>
              <a:srgbClr val="EC7000"/>
            </a:solidFill>
          </c:spPr>
          <c:cat>
            <c:strLit>
              <c:ptCount val="7"/>
              <c:pt idx="0">
                <c:v>&lt; R$ 10</c:v>
              </c:pt>
              <c:pt idx="1">
                <c:v>R$ 10–25</c:v>
              </c:pt>
              <c:pt idx="2">
                <c:v>R$ 25–50</c:v>
              </c:pt>
              <c:pt idx="3">
                <c:v>R$ 50–100</c:v>
              </c:pt>
              <c:pt idx="4">
                <c:v>R$ 100–200</c:v>
              </c:pt>
              <c:pt idx="5">
                <c:v>R$ 200–500</c:v>
              </c:pt>
              <c:pt idx="6">
                <c:v>≥ R$ 500</c:v>
              </c:pt>
            </c:strLit>
          </c:cat>
          <c:val>
            <c:numLit>
              <c:formatCode>0.0,,,</c:formatCode>
              <c:ptCount val="7"/>
              <c:pt idx="0">
                <c:v>801328754.1599998</c:v>
              </c:pt>
              <c:pt idx="1">
                <c:v>3042944518.1800003</c:v>
              </c:pt>
              <c:pt idx="2">
                <c:v>3993685697.28</c:v>
              </c:pt>
              <c:pt idx="3">
                <c:v>7920407650.21</c:v>
              </c:pt>
              <c:pt idx="4">
                <c:v>9440722750.62</c:v>
              </c:pt>
              <c:pt idx="5">
                <c:v>12633761613.11</c:v>
              </c:pt>
              <c:pt idx="6">
                <c:v>27655268000</c:v>
              </c:pt>
            </c:numLit>
          </c:val>
        </c:ser>
        <c:dLbls>
          <c:txPr>
            <a:bodyPr anchorCtr="1"/>
            <a:lstStyle/>
            <a:p>
              <a:pPr>
                <a:defRPr sz="503" b="0">
                  <a:solidFill>
                    <a:srgbClr val="151515"/>
                  </a:solidFill>
                </a:defRPr>
              </a:pPr>
            </a:p>
          </c:txPr>
          <c:dLblPos val="outEnd"/>
          <c:showLegendKey val="0"/>
          <c:showVal val="1"/>
          <c:showCatName val="0"/>
          <c:showSerName val="0"/>
          <c:showPercent val="0"/>
          <c:showBubbleSize val="0"/>
          <c:showLeaderLines val="0"/>
        </c:dLbls>
        <c:gapWidth val="48"/>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555">
                <a:solidFill>
                  <a:srgbClr val="73787D"/>
                </a:solidFill>
              </a:defRPr>
            </a:pPr>
          </a:p>
        </c:txPr>
        <c:crossAx val="48672768"/>
        <c:lblAlgn val="ctr"/>
        <c:lblOffset val="100"/>
        <c:noMultiLvlLbl val="0"/>
      </c:catAx>
      <c:valAx>
        <c:axId val="48672768"/>
        <c:scaling>
          <c:orientation val="minMax"/>
          <c:min val="0"/>
        </c:scaling>
        <c:delete val="0"/>
        <c:axPos val="l"/>
        <c:majorGridlines>
          <c:spPr>
            <a:ln w="9525">
              <a:solidFill>
                <a:srgbClr val="E7E9EB"/>
              </a:solidFill>
              <a:prstDash val="solid"/>
            </a:ln>
          </c:spPr>
        </c:majorGridlines>
        <c:numFmt formatCode="0.0,,,"/>
        <c:majorTickMark val="none"/>
        <c:minorTickMark val="none"/>
        <c:spPr>
          <a:ln w="9525">
            <a:solidFill>
              <a:srgbClr val="D7DADD"/>
            </a:solidFill>
            <a:prstDash val="solid"/>
          </a:ln>
        </c:spPr>
        <c:txPr>
          <a:bodyPr anchorCtr="1"/>
          <a:lstStyle/>
          <a:p>
            <a:pPr>
              <a:defRPr sz="570">
                <a:solidFill>
                  <a:srgbClr val="8D9399"/>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41.xml><?xml version="1.0" encoding="utf-8"?>
<c:chartSpace xmlns:a="http://schemas.openxmlformats.org/drawingml/2006/main" xmlns:c="http://schemas.openxmlformats.org/drawingml/2006/chart">
  <c:lang val="pt-BR"/>
  <c:chart>
    <c:plotArea>
      <c:lineChart>
        <c:grouping val="standard"/>
        <c:ser>
          <c:idx val="0"/>
          <c:order val="0"/>
          <c:tx>
            <c:v>2024FY</c:v>
          </c:tx>
          <c:spPr>
            <a:ln w="28575">
              <a:solidFill>
                <a:srgbClr val="8D9399"/>
              </a:solidFill>
              <a:prstDash val="solid"/>
            </a:ln>
          </c:spPr>
          <c:marker>
            <c:symbol val="none"/>
          </c:marker>
          <c:cat>
            <c:strLit>
              <c:ptCount val="1"/>
              <c:pt idx="0">
                <c:v/>
              </c:pt>
            </c:strLit>
          </c:cat>
          <c:val>
            <c:numLit>
              <c:formatCode>General</c:formatCode>
              <c:ptCount val="1"/>
              <c:pt idx="0">
                <c:v>0</c:v>
              </c:pt>
            </c:numLit>
          </c:val>
        </c:ser>
        <c:ser>
          <c:idx val="1"/>
          <c:order val="1"/>
          <c:tx>
            <c:v>2025FY</c:v>
          </c:tx>
          <c:spPr>
            <a:ln w="28575">
              <a:solidFill>
                <a:srgbClr val="30353A"/>
              </a:solidFill>
              <a:prstDash val="solid"/>
            </a:ln>
          </c:spPr>
          <c:marker>
            <c:symbol val="none"/>
          </c:marker>
          <c:cat>
            <c:strLit>
              <c:ptCount val="1"/>
              <c:pt idx="0">
                <c:v/>
              </c:pt>
            </c:strLit>
          </c:cat>
          <c:val>
            <c:numLit>
              <c:formatCode>General</c:formatCode>
              <c:ptCount val="1"/>
              <c:pt idx="0">
                <c:v>0</c:v>
              </c:pt>
            </c:numLit>
          </c:val>
        </c:ser>
        <c:ser>
          <c:idx val="2"/>
          <c:order val="2"/>
          <c:tx>
            <c:v>2026 jan–jun</c:v>
          </c:tx>
          <c:spPr>
            <a:ln w="28575">
              <a:solidFill>
                <a:srgbClr val="EC7000"/>
              </a:solidFill>
              <a:prstDash val="solid"/>
            </a:ln>
          </c:spPr>
          <c:marker>
            <c:symbol val="none"/>
          </c:marker>
          <c:cat>
            <c:strLit>
              <c:ptCount val="1"/>
              <c:pt idx="0">
                <c:v/>
              </c:pt>
            </c:strLit>
          </c:cat>
          <c:val>
            <c:numLit>
              <c:formatCode>General</c:formatCode>
              <c:ptCount val="1"/>
              <c:pt idx="0">
                <c:v>0</c:v>
              </c:pt>
            </c:numLit>
          </c:val>
        </c:ser>
        <c:axId val="48650112"/>
        <c:axId val="48672768"/>
      </c:lineChart>
      <c:catAx>
        <c:axId val="48650112"/>
        <c:scaling>
          <c:orientation val="minMax"/>
        </c:scaling>
        <c:delete val="0"/>
        <c:axPos val="b"/>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1"/>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50112"/>
        <c:crossBetween val="between"/>
      </c:valAx>
      <c:spPr>
        <a:noFill/>
        <a:ln w="0">
          <a:noFill/>
          <a:prstDash val="solid"/>
        </a:ln>
      </c:spPr>
    </c:plotArea>
    <c:legend>
      <c:legendPos val="b"/>
      <c:overlay val="0"/>
      <c:txPr>
        <a:bodyPr anchorCtr="1"/>
        <a:lstStyle/>
        <a:p>
          <a:pPr>
            <a:defRPr sz="788">
              <a:solidFill>
                <a:srgbClr val="73787D"/>
              </a:solidFill>
            </a:defRPr>
          </a:pPr>
        </a:p>
      </c:txPr>
    </c:legend>
    <c:plotVisOnly val="1"/>
  </c:chart>
  <c:spPr>
    <a:noFill/>
    <a:ln w="0">
      <a:noFill/>
      <a:prstDash val="solid"/>
    </a:ln>
  </c:spPr>
</c:chartSpace>
</file>

<file path=ppt/slides/charts/chart42.xml><?xml version="1.0" encoding="utf-8"?>
<c:chartSpace xmlns:a="http://schemas.openxmlformats.org/drawingml/2006/main" xmlns:c="http://schemas.openxmlformats.org/drawingml/2006/chart">
  <c:lang val="pt-BR"/>
  <c:chart>
    <c:plotArea>
      <c:barChart>
        <c:barDir val="col"/>
        <c:grouping val="clustered"/>
        <c:varyColors val="0"/>
        <c:ser>
          <c:idx val="0"/>
          <c:order val="0"/>
          <c:tx>
            <c:v>NÚMERO DE OFERTAS</c:v>
          </c:tx>
          <c:spPr>
            <a:solidFill>
              <a:srgbClr val="30353A"/>
            </a:solidFill>
          </c:spPr>
          <c:dPt>
            <c:idx val="0"/>
            <c:invertIfNegative val="0"/>
            <c:spPr>
              <a:solidFill>
                <a:srgbClr val="8D9399"/>
              </a:solidFill>
            </c:spPr>
          </c:dPt>
          <c:dPt>
            <c:idx val="1"/>
            <c:invertIfNegative val="0"/>
            <c:spPr>
              <a:solidFill>
                <a:srgbClr val="30353A"/>
              </a:solidFill>
            </c:spPr>
          </c:dPt>
          <c:dPt>
            <c:idx val="2"/>
            <c:invertIfNegative val="0"/>
            <c:spPr>
              <a:solidFill>
                <a:srgbClr val="EC7000"/>
              </a:solidFill>
            </c:spPr>
          </c:dPt>
          <c:cat>
            <c:strLit>
              <c:ptCount val="3"/>
              <c:pt idx="0">
                <c:v>2024FY</c:v>
              </c:pt>
              <c:pt idx="1">
                <c:v>2025FY</c:v>
              </c:pt>
              <c:pt idx="2">
                <c:v>2026 jan–jun</c:v>
              </c:pt>
            </c:strLit>
          </c:cat>
          <c:val>
            <c:numLit>
              <c:formatCode>0</c:formatCode>
              <c:ptCount val="3"/>
              <c:pt idx="0">
                <c:v>1009</c:v>
              </c:pt>
              <c:pt idx="1">
                <c:v>1473</c:v>
              </c:pt>
              <c:pt idx="2">
                <c:v>771</c:v>
              </c:pt>
            </c:numLit>
          </c:val>
        </c:ser>
        <c:dLbls>
          <c:txPr>
            <a:bodyPr anchorCtr="1"/>
            <a:lstStyle/>
            <a:p>
              <a:pPr>
                <a:defRPr sz="690" b="1">
                  <a:solidFill>
                    <a:srgbClr val="151515"/>
                  </a:solidFill>
                </a:defRPr>
              </a:pPr>
            </a:p>
          </c:txPr>
          <c:dLblPos val="outEnd"/>
          <c:showLegendKey val="0"/>
          <c:showVal val="1"/>
          <c:showCatName val="0"/>
          <c:showSerName val="0"/>
          <c:showPercent val="0"/>
          <c:showBubbleSize val="0"/>
          <c:showLeaderLines val="0"/>
        </c:dLbls>
        <c:gapWidth val="58"/>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750">
                <a:solidFill>
                  <a:srgbClr val="73787D"/>
                </a:solidFill>
              </a:defRPr>
            </a:pPr>
          </a:p>
        </c:txPr>
        <c:crossAx val="48672768"/>
        <c:lblAlgn val="ctr"/>
        <c:lblOffset val="100"/>
        <c:noMultiLvlLbl val="0"/>
      </c:catAx>
      <c:valAx>
        <c:axId val="48672768"/>
        <c:scaling>
          <c:orientation val="minMax"/>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638">
                <a:solidFill>
                  <a:srgbClr val="8D9399"/>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43.xml><?xml version="1.0" encoding="utf-8"?>
<c:chartSpace xmlns:a="http://schemas.openxmlformats.org/drawingml/2006/main" xmlns:c="http://schemas.openxmlformats.org/drawingml/2006/chart">
  <c:lang val="pt-BR"/>
  <c:chart>
    <c:plotArea>
      <c:barChart>
        <c:barDir val="col"/>
        <c:grouping val="clustered"/>
        <c:varyColors val="0"/>
        <c:ser>
          <c:idx val="0"/>
          <c:order val="0"/>
          <c:tx>
            <c:v>VOLUME REGISTRADO · R$ BI</c:v>
          </c:tx>
          <c:spPr>
            <a:solidFill>
              <a:srgbClr val="30353A"/>
            </a:solidFill>
          </c:spPr>
          <c:dPt>
            <c:idx val="0"/>
            <c:invertIfNegative val="0"/>
            <c:spPr>
              <a:solidFill>
                <a:srgbClr val="8D9399"/>
              </a:solidFill>
            </c:spPr>
          </c:dPt>
          <c:dPt>
            <c:idx val="1"/>
            <c:invertIfNegative val="0"/>
            <c:spPr>
              <a:solidFill>
                <a:srgbClr val="30353A"/>
              </a:solidFill>
            </c:spPr>
          </c:dPt>
          <c:dPt>
            <c:idx val="2"/>
            <c:invertIfNegative val="0"/>
            <c:spPr>
              <a:solidFill>
                <a:srgbClr val="EC7000"/>
              </a:solidFill>
            </c:spPr>
          </c:dPt>
          <c:cat>
            <c:strLit>
              <c:ptCount val="3"/>
              <c:pt idx="0">
                <c:v>2024FY</c:v>
              </c:pt>
              <c:pt idx="1">
                <c:v>2025FY</c:v>
              </c:pt>
              <c:pt idx="2">
                <c:v>2026 jan–jun</c:v>
              </c:pt>
            </c:strLit>
          </c:cat>
          <c:val>
            <c:numLit>
              <c:formatCode>0.0,,,</c:formatCode>
              <c:ptCount val="3"/>
              <c:pt idx="0">
                <c:v>95416726133.75</c:v>
              </c:pt>
              <c:pt idx="1">
                <c:v>116921319054.77</c:v>
              </c:pt>
              <c:pt idx="2">
                <c:v>65488118983.56</c:v>
              </c:pt>
            </c:numLit>
          </c:val>
        </c:ser>
        <c:dLbls>
          <c:txPr>
            <a:bodyPr anchorCtr="1"/>
            <a:lstStyle/>
            <a:p>
              <a:pPr>
                <a:defRPr sz="690" b="1">
                  <a:solidFill>
                    <a:srgbClr val="151515"/>
                  </a:solidFill>
                </a:defRPr>
              </a:pPr>
            </a:p>
          </c:txPr>
          <c:dLblPos val="outEnd"/>
          <c:showLegendKey val="0"/>
          <c:showVal val="1"/>
          <c:showCatName val="0"/>
          <c:showSerName val="0"/>
          <c:showPercent val="0"/>
          <c:showBubbleSize val="0"/>
          <c:showLeaderLines val="0"/>
        </c:dLbls>
        <c:gapWidth val="58"/>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750">
                <a:solidFill>
                  <a:srgbClr val="73787D"/>
                </a:solidFill>
              </a:defRPr>
            </a:pPr>
          </a:p>
        </c:txPr>
        <c:crossAx val="48672768"/>
        <c:lblAlgn val="ctr"/>
        <c:lblOffset val="100"/>
        <c:noMultiLvlLbl val="0"/>
      </c:catAx>
      <c:valAx>
        <c:axId val="48672768"/>
        <c:scaling>
          <c:orientation val="minMax"/>
          <c:min val="0"/>
        </c:scaling>
        <c:delete val="0"/>
        <c:axPos val="l"/>
        <c:majorGridlines>
          <c:spPr>
            <a:ln w="9525">
              <a:solidFill>
                <a:srgbClr val="E7E9EB"/>
              </a:solidFill>
              <a:prstDash val="solid"/>
            </a:ln>
          </c:spPr>
        </c:majorGridlines>
        <c:numFmt formatCode="0.0,,,"/>
        <c:majorTickMark val="none"/>
        <c:minorTickMark val="none"/>
        <c:spPr>
          <a:ln w="9525">
            <a:solidFill>
              <a:srgbClr val="D7DADD"/>
            </a:solidFill>
            <a:prstDash val="solid"/>
          </a:ln>
        </c:spPr>
        <c:txPr>
          <a:bodyPr anchorCtr="1"/>
          <a:lstStyle/>
          <a:p>
            <a:pPr>
              <a:defRPr sz="638">
                <a:solidFill>
                  <a:srgbClr val="8D9399"/>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44.xml><?xml version="1.0" encoding="utf-8"?>
<c:chartSpace xmlns:a="http://schemas.openxmlformats.org/drawingml/2006/main" xmlns:c="http://schemas.openxmlformats.org/drawingml/2006/chart">
  <c:lang val="pt-BR"/>
  <c:chart>
    <c:plotArea>
      <c:lineChart>
        <c:grouping val="standard"/>
        <c:ser>
          <c:idx val="0"/>
          <c:order val="0"/>
          <c:tx>
            <c:v>2024FY</c:v>
          </c:tx>
          <c:spPr>
            <a:ln w="28575">
              <a:solidFill>
                <a:srgbClr val="8D9399"/>
              </a:solidFill>
              <a:prstDash val="solid"/>
            </a:ln>
          </c:spPr>
          <c:marker>
            <c:symbol val="none"/>
          </c:marker>
          <c:cat>
            <c:strLit>
              <c:ptCount val="1"/>
              <c:pt idx="0">
                <c:v/>
              </c:pt>
            </c:strLit>
          </c:cat>
          <c:val>
            <c:numLit>
              <c:formatCode>General</c:formatCode>
              <c:ptCount val="1"/>
              <c:pt idx="0">
                <c:v>0</c:v>
              </c:pt>
            </c:numLit>
          </c:val>
        </c:ser>
        <c:ser>
          <c:idx val="1"/>
          <c:order val="1"/>
          <c:tx>
            <c:v>2025FY</c:v>
          </c:tx>
          <c:spPr>
            <a:ln w="28575">
              <a:solidFill>
                <a:srgbClr val="30353A"/>
              </a:solidFill>
              <a:prstDash val="solid"/>
            </a:ln>
          </c:spPr>
          <c:marker>
            <c:symbol val="none"/>
          </c:marker>
          <c:cat>
            <c:strLit>
              <c:ptCount val="1"/>
              <c:pt idx="0">
                <c:v/>
              </c:pt>
            </c:strLit>
          </c:cat>
          <c:val>
            <c:numLit>
              <c:formatCode>General</c:formatCode>
              <c:ptCount val="1"/>
              <c:pt idx="0">
                <c:v>0</c:v>
              </c:pt>
            </c:numLit>
          </c:val>
        </c:ser>
        <c:ser>
          <c:idx val="2"/>
          <c:order val="2"/>
          <c:tx>
            <c:v>2026 jan–jun</c:v>
          </c:tx>
          <c:spPr>
            <a:ln w="28575">
              <a:solidFill>
                <a:srgbClr val="EC7000"/>
              </a:solidFill>
              <a:prstDash val="solid"/>
            </a:ln>
          </c:spPr>
          <c:marker>
            <c:symbol val="none"/>
          </c:marker>
          <c:cat>
            <c:strLit>
              <c:ptCount val="1"/>
              <c:pt idx="0">
                <c:v/>
              </c:pt>
            </c:strLit>
          </c:cat>
          <c:val>
            <c:numLit>
              <c:formatCode>General</c:formatCode>
              <c:ptCount val="1"/>
              <c:pt idx="0">
                <c:v>0</c:v>
              </c:pt>
            </c:numLit>
          </c:val>
        </c:ser>
        <c:axId val="48650112"/>
        <c:axId val="48672768"/>
      </c:lineChart>
      <c:catAx>
        <c:axId val="48650112"/>
        <c:scaling>
          <c:orientation val="minMax"/>
        </c:scaling>
        <c:delete val="0"/>
        <c:axPos val="b"/>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1"/>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50112"/>
        <c:crossBetween val="between"/>
      </c:valAx>
      <c:spPr>
        <a:noFill/>
        <a:ln w="0">
          <a:noFill/>
          <a:prstDash val="solid"/>
        </a:ln>
      </c:spPr>
    </c:plotArea>
    <c:legend>
      <c:legendPos val="b"/>
      <c:overlay val="0"/>
      <c:txPr>
        <a:bodyPr anchorCtr="1"/>
        <a:lstStyle/>
        <a:p>
          <a:pPr>
            <a:defRPr sz="788">
              <a:solidFill>
                <a:srgbClr val="73787D"/>
              </a:solidFill>
            </a:defRPr>
          </a:pPr>
        </a:p>
      </c:txPr>
    </c:legend>
    <c:plotVisOnly val="1"/>
  </c:chart>
  <c:spPr>
    <a:noFill/>
    <a:ln w="0">
      <a:noFill/>
      <a:prstDash val="solid"/>
    </a:ln>
  </c:spPr>
</c:chartSpace>
</file>

<file path=ppt/slides/charts/chart45.xml><?xml version="1.0" encoding="utf-8"?>
<c:chartSpace xmlns:a="http://schemas.openxmlformats.org/drawingml/2006/main" xmlns:c="http://schemas.openxmlformats.org/drawingml/2006/chart">
  <c:lang val="pt-BR"/>
  <c:chart>
    <c:plotArea>
      <c:barChart>
        <c:barDir val="bar"/>
        <c:grouping val="clustered"/>
        <c:varyColors val="0"/>
        <c:ser>
          <c:idx val="0"/>
          <c:order val="0"/>
          <c:tx>
            <c:v>2026 jan–jun</c:v>
          </c:tx>
          <c:spPr>
            <a:solidFill>
              <a:srgbClr val="EC7000"/>
            </a:solidFill>
          </c:spPr>
          <c:cat>
            <c:strLit>
              <c:ptCount val="3"/>
              <c:pt idx="0">
                <c:v>Misto</c:v>
              </c:pt>
              <c:pt idx="1">
                <c:v>Garantia firme</c:v>
              </c:pt>
              <c:pt idx="2">
                <c:v>Melhores esforços</c:v>
              </c:pt>
            </c:strLit>
          </c:cat>
          <c:val>
            <c:numLit>
              <c:formatCode>0</c:formatCode>
              <c:ptCount val="3"/>
              <c:pt idx="0">
                <c:v>12</c:v>
              </c:pt>
              <c:pt idx="1">
                <c:v>22</c:v>
              </c:pt>
              <c:pt idx="2">
                <c:v>737</c:v>
              </c:pt>
            </c:numLit>
          </c:val>
        </c:ser>
        <c:ser>
          <c:idx val="1"/>
          <c:order val="1"/>
          <c:tx>
            <c:v>2025FY</c:v>
          </c:tx>
          <c:spPr>
            <a:solidFill>
              <a:srgbClr val="30353A"/>
            </a:solidFill>
          </c:spPr>
          <c:cat>
            <c:strLit>
              <c:ptCount val="3"/>
              <c:pt idx="0">
                <c:v>Misto</c:v>
              </c:pt>
              <c:pt idx="1">
                <c:v>Garantia firme</c:v>
              </c:pt>
              <c:pt idx="2">
                <c:v>Melhores esforços</c:v>
              </c:pt>
            </c:strLit>
          </c:cat>
          <c:val>
            <c:numLit>
              <c:formatCode>0</c:formatCode>
              <c:ptCount val="3"/>
              <c:pt idx="0">
                <c:v>21</c:v>
              </c:pt>
              <c:pt idx="1">
                <c:v>50</c:v>
              </c:pt>
              <c:pt idx="2">
                <c:v>1399</c:v>
              </c:pt>
            </c:numLit>
          </c:val>
        </c:ser>
        <c:ser>
          <c:idx val="2"/>
          <c:order val="2"/>
          <c:tx>
            <c:v>2024FY</c:v>
          </c:tx>
          <c:spPr>
            <a:solidFill>
              <a:srgbClr val="8D9399"/>
            </a:solidFill>
          </c:spPr>
          <c:cat>
            <c:strLit>
              <c:ptCount val="3"/>
              <c:pt idx="0">
                <c:v>Misto</c:v>
              </c:pt>
              <c:pt idx="1">
                <c:v>Garantia firme</c:v>
              </c:pt>
              <c:pt idx="2">
                <c:v>Melhores esforços</c:v>
              </c:pt>
            </c:strLit>
          </c:cat>
          <c:val>
            <c:numLit>
              <c:formatCode>0</c:formatCode>
              <c:ptCount val="3"/>
              <c:pt idx="0">
                <c:v>26</c:v>
              </c:pt>
              <c:pt idx="1">
                <c:v>38</c:v>
              </c:pt>
              <c:pt idx="2">
                <c:v>945</c:v>
              </c:pt>
            </c:numLit>
          </c:val>
        </c:ser>
        <c:dLbls>
          <c:txPr>
            <a:bodyPr anchorCtr="1"/>
            <a:lstStyle/>
            <a:p>
              <a:pPr>
                <a:defRPr sz="563" b="0">
                  <a:solidFill>
                    <a:srgbClr val="151515"/>
                  </a:solidFill>
                </a:defRPr>
              </a:pPr>
            </a:p>
          </c:txPr>
          <c:dLblPos val="outEnd"/>
          <c:showLegendKey val="0"/>
          <c:showVal val="1"/>
          <c:showCatName val="0"/>
          <c:showSerName val="0"/>
          <c:showPercent val="0"/>
          <c:showBubbleSize val="0"/>
          <c:showLeaderLines val="0"/>
        </c:dLbls>
        <c:gapWidth val="42"/>
        <c:axId val="48650112"/>
        <c:axId val="48672768"/>
      </c:barChart>
      <c:catAx>
        <c:axId val="48650112"/>
        <c:scaling>
          <c:orientation val="minMax"/>
        </c:scaling>
        <c:delete val="0"/>
        <c:axPos val="l"/>
        <c:numFmt formatCode="General"/>
        <c:majorTickMark val="none"/>
        <c:minorTickMark val="none"/>
        <c:spPr>
          <a:ln w="9525">
            <a:solidFill>
              <a:srgbClr val="D7DADD"/>
            </a:solidFill>
            <a:prstDash val="solid"/>
          </a:ln>
        </c:spPr>
        <c:txPr>
          <a:bodyPr anchorCtr="1"/>
          <a:lstStyle/>
          <a:p>
            <a:pPr>
              <a:defRPr sz="563">
                <a:solidFill>
                  <a:srgbClr val="73787D"/>
                </a:solidFill>
              </a:defRPr>
            </a:pPr>
          </a:p>
        </c:txPr>
        <c:crossAx val="48672768"/>
        <c:lblAlgn val="ctr"/>
        <c:lblOffset val="100"/>
        <c:noMultiLvlLbl val="0"/>
      </c:catAx>
      <c:valAx>
        <c:axId val="48672768"/>
        <c:scaling>
          <c:orientation val="minMax"/>
          <c:min val="0"/>
        </c:scaling>
        <c:delete val="0"/>
        <c:axPos val="b"/>
        <c:numFmt formatCode="0"/>
        <c:majorTickMark val="none"/>
        <c:minorTickMark val="none"/>
        <c:spPr>
          <a:ln w="953">
            <a:solidFill>
              <a:srgbClr val="FFFFFF"/>
            </a:solidFill>
            <a:prstDash val="solid"/>
          </a:ln>
        </c:spPr>
        <c:txPr>
          <a:bodyPr anchorCtr="1"/>
          <a:lstStyle/>
          <a:p>
            <a:pPr>
              <a:defRPr sz="100">
                <a:solidFill>
                  <a:srgbClr val="FFFFFF"/>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46.xml><?xml version="1.0" encoding="utf-8"?>
<c:chartSpace xmlns:a="http://schemas.openxmlformats.org/drawingml/2006/main" xmlns:c="http://schemas.openxmlformats.org/drawingml/2006/chart">
  <c:lang val="pt-BR"/>
  <c:chart>
    <c:plotArea>
      <c:barChart>
        <c:barDir val="bar"/>
        <c:grouping val="clustered"/>
        <c:varyColors val="0"/>
        <c:ser>
          <c:idx val="0"/>
          <c:order val="0"/>
          <c:tx>
            <c:v>2026 jan–jun</c:v>
          </c:tx>
          <c:spPr>
            <a:solidFill>
              <a:srgbClr val="EC7000"/>
            </a:solidFill>
          </c:spPr>
          <c:cat>
            <c:strLit>
              <c:ptCount val="3"/>
              <c:pt idx="0">
                <c:v>Misto</c:v>
              </c:pt>
              <c:pt idx="1">
                <c:v>Garantia firme</c:v>
              </c:pt>
              <c:pt idx="2">
                <c:v>Melhores esforços</c:v>
              </c:pt>
            </c:strLit>
          </c:cat>
          <c:val>
            <c:numLit>
              <c:formatCode>0.0,,,</c:formatCode>
              <c:ptCount val="3"/>
              <c:pt idx="0">
                <c:v>5854000000</c:v>
              </c:pt>
              <c:pt idx="1">
                <c:v>14299992000</c:v>
              </c:pt>
              <c:pt idx="2">
                <c:v>45334126983.56</c:v>
              </c:pt>
            </c:numLit>
          </c:val>
        </c:ser>
        <c:ser>
          <c:idx val="1"/>
          <c:order val="1"/>
          <c:tx>
            <c:v>2025FY</c:v>
          </c:tx>
          <c:spPr>
            <a:solidFill>
              <a:srgbClr val="30353A"/>
            </a:solidFill>
          </c:spPr>
          <c:cat>
            <c:strLit>
              <c:ptCount val="3"/>
              <c:pt idx="0">
                <c:v>Misto</c:v>
              </c:pt>
              <c:pt idx="1">
                <c:v>Garantia firme</c:v>
              </c:pt>
              <c:pt idx="2">
                <c:v>Melhores esforços</c:v>
              </c:pt>
            </c:strLit>
          </c:cat>
          <c:val>
            <c:numLit>
              <c:formatCode>0.0,,,</c:formatCode>
              <c:ptCount val="3"/>
              <c:pt idx="0">
                <c:v>10114776653</c:v>
              </c:pt>
              <c:pt idx="1">
                <c:v>18248092653.59</c:v>
              </c:pt>
              <c:pt idx="2">
                <c:v>87985449748.18</c:v>
              </c:pt>
            </c:numLit>
          </c:val>
        </c:ser>
        <c:ser>
          <c:idx val="2"/>
          <c:order val="2"/>
          <c:tx>
            <c:v>2024FY</c:v>
          </c:tx>
          <c:spPr>
            <a:solidFill>
              <a:srgbClr val="8D9399"/>
            </a:solidFill>
          </c:spPr>
          <c:cat>
            <c:strLit>
              <c:ptCount val="3"/>
              <c:pt idx="0">
                <c:v>Misto</c:v>
              </c:pt>
              <c:pt idx="1">
                <c:v>Garantia firme</c:v>
              </c:pt>
              <c:pt idx="2">
                <c:v>Melhores esforços</c:v>
              </c:pt>
            </c:strLit>
          </c:cat>
          <c:val>
            <c:numLit>
              <c:formatCode>0.0,,,</c:formatCode>
              <c:ptCount val="3"/>
              <c:pt idx="0">
                <c:v>12379296999.96</c:v>
              </c:pt>
              <c:pt idx="1">
                <c:v>13696583000</c:v>
              </c:pt>
              <c:pt idx="2">
                <c:v>69340846133.79001</c:v>
              </c:pt>
            </c:numLit>
          </c:val>
        </c:ser>
        <c:dLbls>
          <c:txPr>
            <a:bodyPr anchorCtr="1"/>
            <a:lstStyle/>
            <a:p>
              <a:pPr>
                <a:defRPr sz="563" b="0">
                  <a:solidFill>
                    <a:srgbClr val="151515"/>
                  </a:solidFill>
                </a:defRPr>
              </a:pPr>
            </a:p>
          </c:txPr>
          <c:dLblPos val="outEnd"/>
          <c:showLegendKey val="0"/>
          <c:showVal val="1"/>
          <c:showCatName val="0"/>
          <c:showSerName val="0"/>
          <c:showPercent val="0"/>
          <c:showBubbleSize val="0"/>
          <c:showLeaderLines val="0"/>
        </c:dLbls>
        <c:gapWidth val="42"/>
        <c:axId val="48650112"/>
        <c:axId val="48672768"/>
      </c:barChart>
      <c:catAx>
        <c:axId val="48650112"/>
        <c:scaling>
          <c:orientation val="minMax"/>
        </c:scaling>
        <c:delete val="0"/>
        <c:axPos val="l"/>
        <c:numFmt formatCode="General"/>
        <c:majorTickMark val="none"/>
        <c:minorTickMark val="none"/>
        <c:spPr>
          <a:ln w="9525">
            <a:solidFill>
              <a:srgbClr val="D7DADD"/>
            </a:solidFill>
            <a:prstDash val="solid"/>
          </a:ln>
        </c:spPr>
        <c:txPr>
          <a:bodyPr anchorCtr="1"/>
          <a:lstStyle/>
          <a:p>
            <a:pPr>
              <a:defRPr sz="563">
                <a:solidFill>
                  <a:srgbClr val="73787D"/>
                </a:solidFill>
              </a:defRPr>
            </a:pPr>
          </a:p>
        </c:txPr>
        <c:crossAx val="48672768"/>
        <c:lblAlgn val="ctr"/>
        <c:lblOffset val="100"/>
        <c:noMultiLvlLbl val="0"/>
      </c:catAx>
      <c:valAx>
        <c:axId val="48672768"/>
        <c:scaling>
          <c:orientation val="minMax"/>
          <c:min val="0"/>
        </c:scaling>
        <c:delete val="0"/>
        <c:axPos val="b"/>
        <c:numFmt formatCode="0.0,,,"/>
        <c:majorTickMark val="none"/>
        <c:minorTickMark val="none"/>
        <c:spPr>
          <a:ln w="953">
            <a:solidFill>
              <a:srgbClr val="FFFFFF"/>
            </a:solidFill>
            <a:prstDash val="solid"/>
          </a:ln>
        </c:spPr>
        <c:txPr>
          <a:bodyPr anchorCtr="1"/>
          <a:lstStyle/>
          <a:p>
            <a:pPr>
              <a:defRPr sz="100">
                <a:solidFill>
                  <a:srgbClr val="FFFFFF"/>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47.xml><?xml version="1.0" encoding="utf-8"?>
<c:chartSpace xmlns:a="http://schemas.openxmlformats.org/drawingml/2006/main" xmlns:c="http://schemas.openxmlformats.org/drawingml/2006/chart">
  <c:lang val="pt-BR"/>
  <c:chart>
    <c:plotArea>
      <c:lineChart>
        <c:grouping val="standard"/>
        <c:ser>
          <c:idx val="0"/>
          <c:order val="0"/>
          <c:tx>
            <c:v>QI Tech</c:v>
          </c:tx>
          <c:spPr>
            <a:ln w="28575">
              <a:solidFill>
                <a:srgbClr val="2456D6"/>
              </a:solidFill>
              <a:prstDash val="solid"/>
            </a:ln>
          </c:spPr>
          <c:marker>
            <c:symbol val="none"/>
          </c:marker>
          <c:cat>
            <c:strLit>
              <c:ptCount val="1"/>
              <c:pt idx="0">
                <c:v/>
              </c:pt>
            </c:strLit>
          </c:cat>
          <c:val>
            <c:numLit>
              <c:formatCode>General</c:formatCode>
              <c:ptCount val="1"/>
              <c:pt idx="0">
                <c:v>0</c:v>
              </c:pt>
            </c:numLit>
          </c:val>
        </c:ser>
        <c:ser>
          <c:idx val="1"/>
          <c:order val="1"/>
          <c:tx>
            <c:v>BTG Pactual</c:v>
          </c:tx>
          <c:spPr>
            <a:ln w="28575">
              <a:solidFill>
                <a:srgbClr val="1D4080"/>
              </a:solidFill>
              <a:prstDash val="solid"/>
            </a:ln>
          </c:spPr>
          <c:marker>
            <c:symbol val="none"/>
          </c:marker>
          <c:cat>
            <c:strLit>
              <c:ptCount val="1"/>
              <c:pt idx="0">
                <c:v/>
              </c:pt>
            </c:strLit>
          </c:cat>
          <c:val>
            <c:numLit>
              <c:formatCode>General</c:formatCode>
              <c:ptCount val="1"/>
              <c:pt idx="0">
                <c:v>0</c:v>
              </c:pt>
            </c:numLit>
          </c:val>
        </c:ser>
        <c:ser>
          <c:idx val="2"/>
          <c:order val="2"/>
          <c:tx>
            <c:v>Oliveira Trust</c:v>
          </c:tx>
          <c:spPr>
            <a:ln w="28575">
              <a:solidFill>
                <a:srgbClr val="7A1F3D"/>
              </a:solidFill>
              <a:prstDash val="solid"/>
            </a:ln>
          </c:spPr>
          <c:marker>
            <c:symbol val="none"/>
          </c:marker>
          <c:cat>
            <c:strLit>
              <c:ptCount val="1"/>
              <c:pt idx="0">
                <c:v/>
              </c:pt>
            </c:strLit>
          </c:cat>
          <c:val>
            <c:numLit>
              <c:formatCode>General</c:formatCode>
              <c:ptCount val="1"/>
              <c:pt idx="0">
                <c:v>0</c:v>
              </c:pt>
            </c:numLit>
          </c:val>
        </c:ser>
        <c:ser>
          <c:idx val="3"/>
          <c:order val="3"/>
          <c:tx>
            <c:v>Itaú</c:v>
          </c:tx>
          <c:spPr>
            <a:ln w="28575">
              <a:solidFill>
                <a:srgbClr val="FF5500"/>
              </a:solidFill>
              <a:prstDash val="solid"/>
            </a:ln>
          </c:spPr>
          <c:marker>
            <c:symbol val="none"/>
          </c:marker>
          <c:cat>
            <c:strLit>
              <c:ptCount val="1"/>
              <c:pt idx="0">
                <c:v/>
              </c:pt>
            </c:strLit>
          </c:cat>
          <c:val>
            <c:numLit>
              <c:formatCode>General</c:formatCode>
              <c:ptCount val="1"/>
              <c:pt idx="0">
                <c:v>0</c:v>
              </c:pt>
            </c:numLit>
          </c:val>
        </c:ser>
        <c:ser>
          <c:idx val="4"/>
          <c:order val="4"/>
          <c:tx>
            <c:v>Genial</c:v>
          </c:tx>
          <c:spPr>
            <a:ln w="28575">
              <a:solidFill>
                <a:srgbClr val="6EC5E9"/>
              </a:solidFill>
              <a:prstDash val="solid"/>
            </a:ln>
          </c:spPr>
          <c:marker>
            <c:symbol val="none"/>
          </c:marker>
          <c:cat>
            <c:strLit>
              <c:ptCount val="1"/>
              <c:pt idx="0">
                <c:v/>
              </c:pt>
            </c:strLit>
          </c:cat>
          <c:val>
            <c:numLit>
              <c:formatCode>General</c:formatCode>
              <c:ptCount val="1"/>
              <c:pt idx="0">
                <c:v>0</c:v>
              </c:pt>
            </c:numLit>
          </c:val>
        </c:ser>
        <c:ser>
          <c:idx val="5"/>
          <c:order val="5"/>
          <c:tx>
            <c:v>CBSF / REAG</c:v>
          </c:tx>
          <c:spPr>
            <a:ln w="28575">
              <a:solidFill>
                <a:srgbClr val="73C6A1"/>
              </a:solidFill>
              <a:prstDash val="solid"/>
            </a:ln>
          </c:spPr>
          <c:marker>
            <c:symbol val="none"/>
          </c:marker>
          <c:cat>
            <c:strLit>
              <c:ptCount val="1"/>
              <c:pt idx="0">
                <c:v/>
              </c:pt>
            </c:strLit>
          </c:cat>
          <c:val>
            <c:numLit>
              <c:formatCode>General</c:formatCode>
              <c:ptCount val="1"/>
              <c:pt idx="0">
                <c:v>0</c:v>
              </c:pt>
            </c:numLit>
          </c:val>
        </c:ser>
        <c:ser>
          <c:idx val="6"/>
          <c:order val="6"/>
          <c:tx>
            <c:v>Demais</c:v>
          </c:tx>
          <c:spPr>
            <a:ln w="28575">
              <a:solidFill>
                <a:srgbClr val="73787D"/>
              </a:solidFill>
              <a:prstDash val="solid"/>
            </a:ln>
          </c:spPr>
          <c:marker>
            <c:symbol val="none"/>
          </c:marker>
          <c:cat>
            <c:strLit>
              <c:ptCount val="1"/>
              <c:pt idx="0">
                <c:v/>
              </c:pt>
            </c:strLit>
          </c:cat>
          <c:val>
            <c:numLit>
              <c:formatCode>General</c:formatCode>
              <c:ptCount val="1"/>
              <c:pt idx="0">
                <c:v>0</c:v>
              </c:pt>
            </c:numLit>
          </c:val>
        </c:ser>
        <c:axId val="48650112"/>
        <c:axId val="48672768"/>
      </c:lineChart>
      <c:catAx>
        <c:axId val="48650112"/>
        <c:scaling>
          <c:orientation val="minMax"/>
        </c:scaling>
        <c:delete val="0"/>
        <c:axPos val="b"/>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1"/>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50112"/>
        <c:crossBetween val="between"/>
      </c:valAx>
      <c:spPr>
        <a:noFill/>
        <a:ln w="0">
          <a:noFill/>
          <a:prstDash val="solid"/>
        </a:ln>
      </c:spPr>
    </c:plotArea>
    <c:legend>
      <c:legendPos val="b"/>
      <c:overlay val="0"/>
      <c:txPr>
        <a:bodyPr anchorCtr="1"/>
        <a:lstStyle/>
        <a:p>
          <a:pPr>
            <a:defRPr sz="788">
              <a:solidFill>
                <a:srgbClr val="73787D"/>
              </a:solidFill>
            </a:defRPr>
          </a:pPr>
        </a:p>
      </c:txPr>
    </c:legend>
    <c:plotVisOnly val="1"/>
  </c:chart>
  <c:spPr>
    <a:noFill/>
    <a:ln w="0">
      <a:noFill/>
      <a:prstDash val="solid"/>
    </a:ln>
  </c:spPr>
</c:chartSpace>
</file>

<file path=ppt/slides/charts/chart48.xml><?xml version="1.0" encoding="utf-8"?>
<c:chartSpace xmlns:a="http://schemas.openxmlformats.org/drawingml/2006/main" xmlns:c="http://schemas.openxmlformats.org/drawingml/2006/chart">
  <c:lang val="pt-BR"/>
  <c:chart>
    <c:plotArea>
      <c:barChart>
        <c:barDir val="bar"/>
        <c:grouping val="clustered"/>
        <c:varyColors val="0"/>
        <c:ser>
          <c:idx val="0"/>
          <c:order val="0"/>
          <c:tx>
            <c:v>PL jun/26</c:v>
          </c:tx>
          <c:spPr>
            <a:solidFill>
              <a:srgbClr val="30353A"/>
            </a:solidFill>
          </c:spPr>
          <c:dPt>
            <c:idx val="0"/>
            <c:invertIfNegative val="0"/>
            <c:spPr>
              <a:solidFill>
                <a:srgbClr val="FF5500"/>
              </a:solidFill>
            </c:spPr>
          </c:dPt>
          <c:dPt>
            <c:idx val="1"/>
            <c:invertIfNegative val="0"/>
            <c:spPr>
              <a:solidFill>
                <a:srgbClr val="7A1F3D"/>
              </a:solidFill>
            </c:spPr>
          </c:dPt>
          <c:dPt>
            <c:idx val="2"/>
            <c:invertIfNegative val="0"/>
            <c:spPr>
              <a:solidFill>
                <a:srgbClr val="BEC2C5"/>
              </a:solidFill>
            </c:spPr>
          </c:dPt>
          <c:dPt>
            <c:idx val="3"/>
            <c:invertIfNegative val="0"/>
            <c:spPr>
              <a:solidFill>
                <a:srgbClr val="1D4080"/>
              </a:solidFill>
            </c:spPr>
          </c:dPt>
          <c:dPt>
            <c:idx val="4"/>
            <c:invertIfNegative val="0"/>
            <c:spPr>
              <a:solidFill>
                <a:srgbClr val="2456D6"/>
              </a:solidFill>
            </c:spPr>
          </c:dPt>
          <c:cat>
            <c:strLit>
              <c:ptCount val="5"/>
              <c:pt idx="0">
                <c:v>Itaú</c:v>
              </c:pt>
              <c:pt idx="1">
                <c:v>Oliveira Trust</c:v>
              </c:pt>
              <c:pt idx="2">
                <c:v>Daycoval</c:v>
              </c:pt>
              <c:pt idx="3">
                <c:v>BTG Pactual</c:v>
              </c:pt>
              <c:pt idx="4">
                <c:v>QI Tech</c:v>
              </c:pt>
            </c:strLit>
          </c:cat>
          <c:val>
            <c:numLit>
              <c:formatCode>0.0</c:formatCode>
              <c:ptCount val="5"/>
              <c:pt idx="0">
                <c:v>28.577477955880003</c:v>
              </c:pt>
              <c:pt idx="1">
                <c:v>57.205822956949994</c:v>
              </c:pt>
              <c:pt idx="2">
                <c:v>58.07994111931001</c:v>
              </c:pt>
              <c:pt idx="3">
                <c:v>123.34891855075</c:v>
              </c:pt>
              <c:pt idx="4">
                <c:v>124.12592647323</c:v>
              </c:pt>
            </c:numLit>
          </c:val>
        </c:ser>
        <c:dLbls>
          <c:spPr>
            <a:noFill/>
            <a:ln w="0">
              <a:noFill/>
              <a:prstDash val="solid"/>
            </a:ln>
          </c:spPr>
          <c:txPr>
            <a:bodyPr anchorCtr="1"/>
            <a:lstStyle/>
            <a:p>
              <a:pPr>
                <a:defRPr sz="765" b="0">
                  <a:solidFill>
                    <a:srgbClr val="FFFFFF"/>
                  </a:solidFill>
                </a:defRPr>
              </a:pPr>
            </a:p>
          </c:txPr>
          <c:dLblPos val="inEnd"/>
          <c:showLegendKey val="0"/>
          <c:showVal val="1"/>
          <c:showCatName val="0"/>
          <c:showSerName val="0"/>
          <c:showPercent val="0"/>
          <c:showBubbleSize val="0"/>
          <c:showLeaderLines val="0"/>
        </c:dLbls>
        <c:gapWidth val="26"/>
        <c:axId val="48650112"/>
        <c:axId val="48672768"/>
      </c:barChart>
      <c:catAx>
        <c:axId val="48650112"/>
        <c:scaling>
          <c:orientation val="minMax"/>
        </c:scaling>
        <c:delete val="0"/>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757">
                <a:solidFill>
                  <a:srgbClr val="73787D"/>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49.xml><?xml version="1.0" encoding="utf-8"?>
<c:chartSpace xmlns:a="http://schemas.openxmlformats.org/drawingml/2006/main" xmlns:c="http://schemas.openxmlformats.org/drawingml/2006/chart">
  <c:lang val="pt-BR"/>
  <c:chart>
    <c:plotArea>
      <c:barChart>
        <c:barDir val="bar"/>
        <c:grouping val="clustered"/>
        <c:varyColors val="0"/>
        <c:ser>
          <c:idx val="0"/>
          <c:order val="0"/>
          <c:tx>
            <c:v>PL jun/26</c:v>
          </c:tx>
          <c:spPr>
            <a:solidFill>
              <a:srgbClr val="30353A"/>
            </a:solidFill>
          </c:spPr>
          <c:dPt>
            <c:idx val="0"/>
            <c:invertIfNegative val="0"/>
            <c:spPr>
              <a:solidFill>
                <a:srgbClr val="30353A"/>
              </a:solidFill>
            </c:spPr>
          </c:dPt>
          <c:dPt>
            <c:idx val="1"/>
            <c:invertIfNegative val="0"/>
            <c:spPr>
              <a:solidFill>
                <a:srgbClr val="454A4F"/>
              </a:solidFill>
            </c:spPr>
          </c:dPt>
          <c:dPt>
            <c:idx val="2"/>
            <c:invertIfNegative val="0"/>
            <c:spPr>
              <a:solidFill>
                <a:srgbClr val="5B6065"/>
              </a:solidFill>
            </c:spPr>
          </c:dPt>
          <c:dPt>
            <c:idx val="3"/>
            <c:invertIfNegative val="0"/>
            <c:spPr>
              <a:solidFill>
                <a:srgbClr val="7A1F3D"/>
              </a:solidFill>
            </c:spPr>
          </c:dPt>
          <c:dPt>
            <c:idx val="4"/>
            <c:invertIfNegative val="0"/>
            <c:spPr>
              <a:solidFill>
                <a:srgbClr val="2456D6"/>
              </a:solidFill>
            </c:spPr>
          </c:dPt>
          <c:cat>
            <c:strLit>
              <c:ptCount val="5"/>
              <c:pt idx="0">
                <c:v>Hemera</c:v>
              </c:pt>
              <c:pt idx="1">
                <c:v>BRL Trust</c:v>
              </c:pt>
              <c:pt idx="2">
                <c:v>Finaxis</c:v>
              </c:pt>
              <c:pt idx="3">
                <c:v>Oliveira Trust</c:v>
              </c:pt>
              <c:pt idx="4">
                <c:v>QI Tech</c:v>
              </c:pt>
            </c:strLit>
          </c:cat>
          <c:val>
            <c:numLit>
              <c:formatCode>0.0</c:formatCode>
              <c:ptCount val="5"/>
              <c:pt idx="0">
                <c:v>21.117364064860002</c:v>
              </c:pt>
              <c:pt idx="1">
                <c:v>21.71761716544</c:v>
              </c:pt>
              <c:pt idx="2">
                <c:v>22.40761845837</c:v>
              </c:pt>
              <c:pt idx="3">
                <c:v>57.205822956949994</c:v>
              </c:pt>
              <c:pt idx="4">
                <c:v>124.12592647323</c:v>
              </c:pt>
            </c:numLit>
          </c:val>
        </c:ser>
        <c:dLbls>
          <c:spPr>
            <a:noFill/>
            <a:ln w="0">
              <a:noFill/>
              <a:prstDash val="solid"/>
            </a:ln>
          </c:spPr>
          <c:txPr>
            <a:bodyPr anchorCtr="1"/>
            <a:lstStyle/>
            <a:p>
              <a:pPr>
                <a:defRPr sz="765" b="0">
                  <a:solidFill>
                    <a:srgbClr val="FFFFFF"/>
                  </a:solidFill>
                </a:defRPr>
              </a:pPr>
            </a:p>
          </c:txPr>
          <c:dLblPos val="inEnd"/>
          <c:showLegendKey val="0"/>
          <c:showVal val="1"/>
          <c:showCatName val="0"/>
          <c:showSerName val="0"/>
          <c:showPercent val="0"/>
          <c:showBubbleSize val="0"/>
          <c:showLeaderLines val="0"/>
        </c:dLbls>
        <c:gapWidth val="26"/>
        <c:axId val="48650112"/>
        <c:axId val="48672768"/>
      </c:barChart>
      <c:catAx>
        <c:axId val="48650112"/>
        <c:scaling>
          <c:orientation val="minMax"/>
        </c:scaling>
        <c:delete val="0"/>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757">
                <a:solidFill>
                  <a:srgbClr val="73787D"/>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50.xml><?xml version="1.0" encoding="utf-8"?>
<c:chartSpace xmlns:a="http://schemas.openxmlformats.org/drawingml/2006/main" xmlns:c="http://schemas.openxmlformats.org/drawingml/2006/chart">
  <c:lang val="pt-BR"/>
  <c:chart>
    <c:plotArea>
      <c:barChart>
        <c:barDir val="bar"/>
        <c:grouping val="clustered"/>
        <c:varyColors val="0"/>
        <c:ser>
          <c:idx val="0"/>
          <c:order val="0"/>
          <c:tx>
            <c:v>PL jun/26</c:v>
          </c:tx>
          <c:spPr>
            <a:solidFill>
              <a:srgbClr val="30353A"/>
            </a:solidFill>
          </c:spPr>
          <c:dPt>
            <c:idx val="0"/>
            <c:invertIfNegative val="0"/>
            <c:spPr>
              <a:solidFill>
                <a:srgbClr val="FF5500"/>
              </a:solidFill>
            </c:spPr>
          </c:dPt>
          <c:dPt>
            <c:idx val="1"/>
            <c:invertIfNegative val="0"/>
            <c:spPr>
              <a:solidFill>
                <a:srgbClr val="6EC5E9"/>
              </a:solidFill>
            </c:spPr>
          </c:dPt>
          <c:dPt>
            <c:idx val="2"/>
            <c:invertIfNegative val="0"/>
            <c:spPr>
              <a:solidFill>
                <a:srgbClr val="7A1F3D"/>
              </a:solidFill>
            </c:spPr>
          </c:dPt>
          <c:dPt>
            <c:idx val="3"/>
            <c:invertIfNegative val="0"/>
            <c:spPr>
              <a:solidFill>
                <a:srgbClr val="73787D"/>
              </a:solidFill>
            </c:spPr>
          </c:dPt>
          <c:dPt>
            <c:idx val="4"/>
            <c:invertIfNegative val="0"/>
            <c:spPr>
              <a:solidFill>
                <a:srgbClr val="1D4080"/>
              </a:solidFill>
            </c:spPr>
          </c:dPt>
          <c:cat>
            <c:strLit>
              <c:ptCount val="5"/>
              <c:pt idx="0">
                <c:v>Itaú</c:v>
              </c:pt>
              <c:pt idx="1">
                <c:v>Genial</c:v>
              </c:pt>
              <c:pt idx="2">
                <c:v>Oliveira Trust</c:v>
              </c:pt>
              <c:pt idx="3">
                <c:v>Bradesco</c:v>
              </c:pt>
              <c:pt idx="4">
                <c:v>BTG Pactual</c:v>
              </c:pt>
            </c:strLit>
          </c:cat>
          <c:val>
            <c:numLit>
              <c:formatCode>0.0</c:formatCode>
              <c:ptCount val="5"/>
              <c:pt idx="0">
                <c:v>18.875169440439997</c:v>
              </c:pt>
              <c:pt idx="1">
                <c:v>26.891086880550002</c:v>
              </c:pt>
              <c:pt idx="2">
                <c:v>35.02222544035998</c:v>
              </c:pt>
              <c:pt idx="3">
                <c:v>40.32919650402</c:v>
              </c:pt>
              <c:pt idx="4">
                <c:v>79.11922838494</c:v>
              </c:pt>
            </c:numLit>
          </c:val>
        </c:ser>
        <c:dLbls>
          <c:spPr>
            <a:noFill/>
            <a:ln w="0">
              <a:noFill/>
              <a:prstDash val="solid"/>
            </a:ln>
          </c:spPr>
          <c:txPr>
            <a:bodyPr anchorCtr="1"/>
            <a:lstStyle/>
            <a:p>
              <a:pPr>
                <a:defRPr sz="765" b="0">
                  <a:solidFill>
                    <a:srgbClr val="FFFFFF"/>
                  </a:solidFill>
                </a:defRPr>
              </a:pPr>
            </a:p>
          </c:txPr>
          <c:dLblPos val="inEnd"/>
          <c:showLegendKey val="0"/>
          <c:showVal val="1"/>
          <c:showCatName val="0"/>
          <c:showSerName val="0"/>
          <c:showPercent val="0"/>
          <c:showBubbleSize val="0"/>
          <c:showLeaderLines val="0"/>
        </c:dLbls>
        <c:gapWidth val="26"/>
        <c:axId val="48650112"/>
        <c:axId val="48672768"/>
      </c:barChart>
      <c:catAx>
        <c:axId val="48650112"/>
        <c:scaling>
          <c:orientation val="minMax"/>
        </c:scaling>
        <c:delete val="0"/>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757">
                <a:solidFill>
                  <a:srgbClr val="73787D"/>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51.xml><?xml version="1.0" encoding="utf-8"?>
<c:chartSpace xmlns:a="http://schemas.openxmlformats.org/drawingml/2006/main" xmlns:c="http://schemas.openxmlformats.org/drawingml/2006/chart">
  <c:lang val="pt-BR"/>
  <c:chart>
    <c:plotArea>
      <c:barChart>
        <c:barDir val="bar"/>
        <c:grouping val="clustered"/>
        <c:varyColors val="0"/>
        <c:ser>
          <c:idx val="0"/>
          <c:order val="0"/>
          <c:tx>
            <c:v>PL jun/26</c:v>
          </c:tx>
          <c:spPr>
            <a:solidFill>
              <a:srgbClr val="30353A"/>
            </a:solidFill>
          </c:spPr>
          <c:dPt>
            <c:idx val="0"/>
            <c:invertIfNegative val="0"/>
            <c:spPr>
              <a:solidFill>
                <a:srgbClr val="73C6A1"/>
              </a:solidFill>
            </c:spPr>
          </c:dPt>
          <c:dPt>
            <c:idx val="1"/>
            <c:invertIfNegative val="0"/>
            <c:spPr>
              <a:solidFill>
                <a:srgbClr val="A7ACB0"/>
              </a:solidFill>
            </c:spPr>
          </c:dPt>
          <c:dPt>
            <c:idx val="2"/>
            <c:invertIfNegative val="0"/>
            <c:spPr>
              <a:solidFill>
                <a:srgbClr val="BEC2C5"/>
              </a:solidFill>
            </c:spPr>
          </c:dPt>
          <c:dPt>
            <c:idx val="3"/>
            <c:invertIfNegative val="0"/>
            <c:spPr>
              <a:solidFill>
                <a:srgbClr val="8D9399"/>
              </a:solidFill>
            </c:spPr>
          </c:dPt>
          <c:dPt>
            <c:idx val="4"/>
            <c:invertIfNegative val="0"/>
            <c:spPr>
              <a:solidFill>
                <a:srgbClr val="7A1F3D"/>
              </a:solidFill>
            </c:spPr>
          </c:dPt>
          <c:cat>
            <c:strLit>
              <c:ptCount val="5"/>
              <c:pt idx="0">
                <c:v>CBSF</c:v>
              </c:pt>
              <c:pt idx="1">
                <c:v>Integral Investimentos</c:v>
              </c:pt>
              <c:pt idx="2">
                <c:v>Solis Investimentos</c:v>
              </c:pt>
              <c:pt idx="3">
                <c:v>Tercon Investimentos</c:v>
              </c:pt>
              <c:pt idx="4">
                <c:v>Oliveira Trust</c:v>
              </c:pt>
            </c:strLit>
          </c:cat>
          <c:val>
            <c:numLit>
              <c:formatCode>0.0</c:formatCode>
              <c:ptCount val="5"/>
              <c:pt idx="0">
                <c:v>10.17441132442</c:v>
              </c:pt>
              <c:pt idx="1">
                <c:v>14.95203415536</c:v>
              </c:pt>
              <c:pt idx="2">
                <c:v>16.12591261212</c:v>
              </c:pt>
              <c:pt idx="3">
                <c:v>22.14586346137</c:v>
              </c:pt>
              <c:pt idx="4">
                <c:v>35.02222544035998</c:v>
              </c:pt>
            </c:numLit>
          </c:val>
        </c:ser>
        <c:dLbls>
          <c:spPr>
            <a:noFill/>
            <a:ln w="0">
              <a:noFill/>
              <a:prstDash val="solid"/>
            </a:ln>
          </c:spPr>
          <c:txPr>
            <a:bodyPr anchorCtr="1"/>
            <a:lstStyle/>
            <a:p>
              <a:pPr>
                <a:defRPr sz="765" b="0">
                  <a:solidFill>
                    <a:srgbClr val="FFFFFF"/>
                  </a:solidFill>
                </a:defRPr>
              </a:pPr>
            </a:p>
          </c:txPr>
          <c:dLblPos val="inEnd"/>
          <c:showLegendKey val="0"/>
          <c:showVal val="1"/>
          <c:showCatName val="0"/>
          <c:showSerName val="0"/>
          <c:showPercent val="0"/>
          <c:showBubbleSize val="0"/>
          <c:showLeaderLines val="0"/>
        </c:dLbls>
        <c:gapWidth val="26"/>
        <c:axId val="48650112"/>
        <c:axId val="48672768"/>
      </c:barChart>
      <c:catAx>
        <c:axId val="48650112"/>
        <c:scaling>
          <c:orientation val="minMax"/>
        </c:scaling>
        <c:delete val="0"/>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757">
                <a:solidFill>
                  <a:srgbClr val="73787D"/>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52.xml><?xml version="1.0" encoding="utf-8"?>
<c:chartSpace xmlns:a="http://schemas.openxmlformats.org/drawingml/2006/main" xmlns:c="http://schemas.openxmlformats.org/drawingml/2006/chart">
  <c:lang val="pt-BR"/>
  <c:chart>
    <c:plotArea>
      <c:barChart>
        <c:barDir val="bar"/>
        <c:grouping val="clustered"/>
        <c:varyColors val="0"/>
        <c:ser>
          <c:idx val="0"/>
          <c:order val="0"/>
          <c:tx>
            <c:v>PL jun/26</c:v>
          </c:tx>
          <c:spPr>
            <a:solidFill>
              <a:srgbClr val="30353A"/>
            </a:solidFill>
          </c:spPr>
          <c:dPt>
            <c:idx val="0"/>
            <c:invertIfNegative val="0"/>
            <c:spPr>
              <a:solidFill>
                <a:srgbClr val="FF5500"/>
              </a:solidFill>
            </c:spPr>
          </c:dPt>
          <c:dPt>
            <c:idx val="1"/>
            <c:invertIfNegative val="0"/>
            <c:spPr>
              <a:solidFill>
                <a:srgbClr val="BEC2C5"/>
              </a:solidFill>
            </c:spPr>
          </c:dPt>
          <c:dPt>
            <c:idx val="2"/>
            <c:invertIfNegative val="0"/>
            <c:spPr>
              <a:solidFill>
                <a:srgbClr val="7A1F3D"/>
              </a:solidFill>
            </c:spPr>
          </c:dPt>
          <c:dPt>
            <c:idx val="3"/>
            <c:invertIfNegative val="0"/>
            <c:spPr>
              <a:solidFill>
                <a:srgbClr val="2456D6"/>
              </a:solidFill>
            </c:spPr>
          </c:dPt>
          <c:dPt>
            <c:idx val="4"/>
            <c:invertIfNegative val="0"/>
            <c:spPr>
              <a:solidFill>
                <a:srgbClr val="1D4080"/>
              </a:solidFill>
            </c:spPr>
          </c:dPt>
          <c:cat>
            <c:strLit>
              <c:ptCount val="5"/>
              <c:pt idx="0">
                <c:v>Itaú</c:v>
              </c:pt>
              <c:pt idx="1">
                <c:v>Daycoval</c:v>
              </c:pt>
              <c:pt idx="2">
                <c:v>Oliveira Trust</c:v>
              </c:pt>
              <c:pt idx="3">
                <c:v>QI Tech</c:v>
              </c:pt>
              <c:pt idx="4">
                <c:v>BTG Pactual</c:v>
              </c:pt>
            </c:strLit>
          </c:cat>
          <c:val>
            <c:numLit>
              <c:formatCode>0.0</c:formatCode>
              <c:ptCount val="5"/>
              <c:pt idx="0">
                <c:v>21.926715321429995</c:v>
              </c:pt>
              <c:pt idx="1">
                <c:v>64.38995086032001</c:v>
              </c:pt>
              <c:pt idx="2">
                <c:v>74.73806249444</c:v>
              </c:pt>
              <c:pt idx="3">
                <c:v>122.32123834260001</c:v>
              </c:pt>
              <c:pt idx="4">
                <c:v>122.70207078867999</c:v>
              </c:pt>
            </c:numLit>
          </c:val>
        </c:ser>
        <c:dLbls>
          <c:spPr>
            <a:noFill/>
            <a:ln w="0">
              <a:noFill/>
              <a:prstDash val="solid"/>
            </a:ln>
          </c:spPr>
          <c:txPr>
            <a:bodyPr anchorCtr="1"/>
            <a:lstStyle/>
            <a:p>
              <a:pPr>
                <a:defRPr sz="765" b="0">
                  <a:solidFill>
                    <a:srgbClr val="FFFFFF"/>
                  </a:solidFill>
                </a:defRPr>
              </a:pPr>
            </a:p>
          </c:txPr>
          <c:dLblPos val="inEnd"/>
          <c:showLegendKey val="0"/>
          <c:showVal val="1"/>
          <c:showCatName val="0"/>
          <c:showSerName val="0"/>
          <c:showPercent val="0"/>
          <c:showBubbleSize val="0"/>
          <c:showLeaderLines val="0"/>
        </c:dLbls>
        <c:gapWidth val="26"/>
        <c:axId val="48650112"/>
        <c:axId val="48672768"/>
      </c:barChart>
      <c:catAx>
        <c:axId val="48650112"/>
        <c:scaling>
          <c:orientation val="minMax"/>
        </c:scaling>
        <c:delete val="0"/>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757">
                <a:solidFill>
                  <a:srgbClr val="73787D"/>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53.xml><?xml version="1.0" encoding="utf-8"?>
<c:chartSpace xmlns:a="http://schemas.openxmlformats.org/drawingml/2006/main" xmlns:c="http://schemas.openxmlformats.org/drawingml/2006/chart">
  <c:lang val="pt-BR"/>
  <c:chart>
    <c:plotArea>
      <c:barChart>
        <c:barDir val="bar"/>
        <c:grouping val="clustered"/>
        <c:varyColors val="0"/>
        <c:ser>
          <c:idx val="0"/>
          <c:order val="0"/>
          <c:tx>
            <c:v>PL jun/26</c:v>
          </c:tx>
          <c:spPr>
            <a:solidFill>
              <a:srgbClr val="30353A"/>
            </a:solidFill>
          </c:spPr>
          <c:dPt>
            <c:idx val="0"/>
            <c:invertIfNegative val="0"/>
            <c:spPr>
              <a:solidFill>
                <a:srgbClr val="454A4F"/>
              </a:solidFill>
            </c:spPr>
          </c:dPt>
          <c:dPt>
            <c:idx val="1"/>
            <c:invertIfNegative val="0"/>
            <c:spPr>
              <a:solidFill>
                <a:srgbClr val="5B6065"/>
              </a:solidFill>
            </c:spPr>
          </c:dPt>
          <c:dPt>
            <c:idx val="2"/>
            <c:invertIfNegative val="0"/>
            <c:spPr>
              <a:solidFill>
                <a:srgbClr val="73C6A1"/>
              </a:solidFill>
            </c:spPr>
          </c:dPt>
          <c:dPt>
            <c:idx val="3"/>
            <c:invertIfNegative val="0"/>
            <c:spPr>
              <a:solidFill>
                <a:srgbClr val="7A1F3D"/>
              </a:solidFill>
            </c:spPr>
          </c:dPt>
          <c:dPt>
            <c:idx val="4"/>
            <c:invertIfNegative val="0"/>
            <c:spPr>
              <a:solidFill>
                <a:srgbClr val="2456D6"/>
              </a:solidFill>
            </c:spPr>
          </c:dPt>
          <c:cat>
            <c:strLit>
              <c:ptCount val="5"/>
              <c:pt idx="0">
                <c:v>BRL Trust</c:v>
              </c:pt>
              <c:pt idx="1">
                <c:v>Finaxis</c:v>
              </c:pt>
              <c:pt idx="2">
                <c:v>REAG</c:v>
              </c:pt>
              <c:pt idx="3">
                <c:v>Oliveira Trust</c:v>
              </c:pt>
              <c:pt idx="4">
                <c:v>QI Tech</c:v>
              </c:pt>
            </c:strLit>
          </c:cat>
          <c:val>
            <c:numLit>
              <c:formatCode>0.0</c:formatCode>
              <c:ptCount val="5"/>
              <c:pt idx="0">
                <c:v>21.72075588213</c:v>
              </c:pt>
              <c:pt idx="1">
                <c:v>22.40761845837</c:v>
              </c:pt>
              <c:pt idx="2">
                <c:v>25.148795168550002</c:v>
              </c:pt>
              <c:pt idx="3">
                <c:v>74.73806249444</c:v>
              </c:pt>
              <c:pt idx="4">
                <c:v>122.32123834260001</c:v>
              </c:pt>
            </c:numLit>
          </c:val>
        </c:ser>
        <c:dLbls>
          <c:spPr>
            <a:noFill/>
            <a:ln w="0">
              <a:noFill/>
              <a:prstDash val="solid"/>
            </a:ln>
          </c:spPr>
          <c:txPr>
            <a:bodyPr anchorCtr="1"/>
            <a:lstStyle/>
            <a:p>
              <a:pPr>
                <a:defRPr sz="765" b="0">
                  <a:solidFill>
                    <a:srgbClr val="FFFFFF"/>
                  </a:solidFill>
                </a:defRPr>
              </a:pPr>
            </a:p>
          </c:txPr>
          <c:dLblPos val="inEnd"/>
          <c:showLegendKey val="0"/>
          <c:showVal val="1"/>
          <c:showCatName val="0"/>
          <c:showSerName val="0"/>
          <c:showPercent val="0"/>
          <c:showBubbleSize val="0"/>
          <c:showLeaderLines val="0"/>
        </c:dLbls>
        <c:gapWidth val="26"/>
        <c:axId val="48650112"/>
        <c:axId val="48672768"/>
      </c:barChart>
      <c:catAx>
        <c:axId val="48650112"/>
        <c:scaling>
          <c:orientation val="minMax"/>
        </c:scaling>
        <c:delete val="0"/>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757">
                <a:solidFill>
                  <a:srgbClr val="73787D"/>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54.xml><?xml version="1.0" encoding="utf-8"?>
<c:chartSpace xmlns:a="http://schemas.openxmlformats.org/drawingml/2006/main" xmlns:c="http://schemas.openxmlformats.org/drawingml/2006/chart">
  <c:lang val="pt-BR"/>
  <c:chart>
    <c:plotArea>
      <c:barChart>
        <c:barDir val="col"/>
        <c:grouping val="stacked"/>
        <c:varyColors val="0"/>
        <c:ser>
          <c:idx val="0"/>
          <c:order val="0"/>
          <c:tx>
            <c:v>BTG Pactual</c:v>
          </c:tx>
          <c:spPr>
            <a:solidFill>
              <a:srgbClr val="1D4080"/>
            </a:solidFill>
          </c:spPr>
          <c:cat>
            <c:strLit>
              <c:ptCount val="4"/>
              <c:pt idx="0">
                <c:v>Dez/23</c:v>
              </c:pt>
              <c:pt idx="1">
                <c:v>Dez/24</c:v>
              </c:pt>
              <c:pt idx="2">
                <c:v>Dez/25*</c:v>
              </c:pt>
              <c:pt idx="3">
                <c:v>Jun/26</c:v>
              </c:pt>
            </c:strLit>
          </c:cat>
          <c:val>
            <c:numLit>
              <c:formatCode>0.0</c:formatCode>
              <c:ptCount val="4"/>
              <c:pt idx="0">
                <c:v>31.16523551990001</c:v>
              </c:pt>
              <c:pt idx="1">
                <c:v>33.64749310927</c:v>
              </c:pt>
              <c:pt idx="2">
                <c:v>34.188413197189995</c:v>
              </c:pt>
              <c:pt idx="3">
                <c:v>52.201104080029985</c:v>
              </c:pt>
            </c:numLit>
          </c:val>
        </c:ser>
        <c:ser>
          <c:idx val="1"/>
          <c:order val="1"/>
          <c:tx>
            <c:v>Itaú</c:v>
          </c:tx>
          <c:spPr>
            <a:solidFill>
              <a:srgbClr val="FF5500"/>
            </a:solidFill>
          </c:spPr>
          <c:cat>
            <c:strLit>
              <c:ptCount val="4"/>
              <c:pt idx="0">
                <c:v>Dez/23</c:v>
              </c:pt>
              <c:pt idx="1">
                <c:v>Dez/24</c:v>
              </c:pt>
              <c:pt idx="2">
                <c:v>Dez/25*</c:v>
              </c:pt>
              <c:pt idx="3">
                <c:v>Jun/26</c:v>
              </c:pt>
            </c:strLit>
          </c:cat>
          <c:val>
            <c:numLit>
              <c:formatCode>0.0</c:formatCode>
              <c:ptCount val="4"/>
              <c:pt idx="0">
                <c:v>4.3629141675</c:v>
              </c:pt>
              <c:pt idx="1">
                <c:v>4.96984899401</c:v>
              </c:pt>
              <c:pt idx="2">
                <c:v>14.07980603803</c:v>
              </c:pt>
              <c:pt idx="3">
                <c:v>11.74979193425</c:v>
              </c:pt>
            </c:numLit>
          </c:val>
        </c:ser>
        <c:ser>
          <c:idx val="2"/>
          <c:order val="2"/>
          <c:tx>
            <c:v>Santander</c:v>
          </c:tx>
          <c:spPr>
            <a:solidFill>
              <a:srgbClr val="8D9399"/>
            </a:solidFill>
          </c:spPr>
          <c:cat>
            <c:strLit>
              <c:ptCount val="4"/>
              <c:pt idx="0">
                <c:v>Dez/23</c:v>
              </c:pt>
              <c:pt idx="1">
                <c:v>Dez/24</c:v>
              </c:pt>
              <c:pt idx="2">
                <c:v>Dez/25*</c:v>
              </c:pt>
              <c:pt idx="3">
                <c:v>Jun/26</c:v>
              </c:pt>
            </c:strLit>
          </c:cat>
          <c:val>
            <c:numLit>
              <c:formatCode>0.0</c:formatCode>
              <c:ptCount val="4"/>
              <c:pt idx="0">
                <c:v>9.341118916700001</c:v>
              </c:pt>
              <c:pt idx="1">
                <c:v>13.862349673500002</c:v>
              </c:pt>
              <c:pt idx="2">
                <c:v>13.358226244070002</c:v>
              </c:pt>
              <c:pt idx="3">
                <c:v>13.835289126020001</c:v>
              </c:pt>
            </c:numLit>
          </c:val>
        </c:ser>
        <c:ser>
          <c:idx val="3"/>
          <c:order val="3"/>
          <c:tx>
            <c:v>Bradesco</c:v>
          </c:tx>
          <c:spPr>
            <a:solidFill>
              <a:srgbClr val="454A4F"/>
            </a:solidFill>
          </c:spPr>
          <c:cat>
            <c:strLit>
              <c:ptCount val="4"/>
              <c:pt idx="0">
                <c:v>Dez/23</c:v>
              </c:pt>
              <c:pt idx="1">
                <c:v>Dez/24</c:v>
              </c:pt>
              <c:pt idx="2">
                <c:v>Dez/25*</c:v>
              </c:pt>
              <c:pt idx="3">
                <c:v>Jun/26</c:v>
              </c:pt>
            </c:strLit>
          </c:cat>
          <c:val>
            <c:numLit>
              <c:formatCode>0.0</c:formatCode>
              <c:ptCount val="4"/>
              <c:pt idx="0">
                <c:v>0.6403486231000001</c:v>
              </c:pt>
              <c:pt idx="1">
                <c:v>1.11949597452</c:v>
              </c:pt>
              <c:pt idx="2">
                <c:v>1.66454381844</c:v>
              </c:pt>
              <c:pt idx="3">
                <c:v>1.88389156603</c:v>
              </c:pt>
            </c:numLit>
          </c:val>
        </c:ser>
        <c:ser>
          <c:idx val="4"/>
          <c:order val="4"/>
          <c:tx>
            <c:v>Banco do Brasil</c:v>
          </c:tx>
          <c:spPr>
            <a:solidFill>
              <a:srgbClr val="D6A800"/>
            </a:solidFill>
          </c:spPr>
          <c:cat>
            <c:strLit>
              <c:ptCount val="4"/>
              <c:pt idx="0">
                <c:v>Dez/23</c:v>
              </c:pt>
              <c:pt idx="1">
                <c:v>Dez/24</c:v>
              </c:pt>
              <c:pt idx="2">
                <c:v>Dez/25*</c:v>
              </c:pt>
              <c:pt idx="3">
                <c:v>Jun/26</c:v>
              </c:pt>
            </c:strLit>
          </c:cat>
          <c:val>
            <c:numLit>
              <c:formatCode>0.0</c:formatCode>
              <c:ptCount val="4"/>
              <c:pt idx="0">
                <c:v>0</c:v>
              </c:pt>
              <c:pt idx="1">
                <c:v>0</c:v>
              </c:pt>
              <c:pt idx="2">
                <c:v>0</c:v>
              </c:pt>
              <c:pt idx="3">
                <c:v>0.05108505535</c:v>
              </c:pt>
            </c:numLit>
          </c:val>
        </c:ser>
        <c:dLbls>
          <c:showLegendKey val="0"/>
          <c:showVal val="0"/>
          <c:showCatName val="0"/>
          <c:showSerName val="0"/>
          <c:showPercent val="0"/>
          <c:showBubbleSize val="0"/>
          <c:showLeaderLines val="0"/>
        </c:dLbls>
        <c:gapWidth val="45"/>
        <c:overlap val="100"/>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825">
                <a:solidFill>
                  <a:srgbClr val="73787D"/>
                </a:solidFill>
              </a:defRPr>
            </a:pPr>
          </a:p>
        </c:txPr>
        <c:crossAx val="48672768"/>
        <c:lblAlgn val="ctr"/>
        <c:lblOffset val="100"/>
        <c:noMultiLvlLbl val="0"/>
      </c:catAx>
      <c:valAx>
        <c:axId val="48672768"/>
        <c:scaling>
          <c:orientation val="minMax"/>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713">
                <a:solidFill>
                  <a:srgbClr val="8D9399"/>
                </a:solidFill>
              </a:defRPr>
            </a:pPr>
          </a:p>
        </c:txPr>
        <c:crossAx val="48650112"/>
        <c:crossBetween val="between"/>
      </c:valAx>
      <c:spPr>
        <a:noFill/>
        <a:ln w="0">
          <a:noFill/>
          <a:prstDash val="solid"/>
        </a:ln>
      </c:spPr>
    </c:plotArea>
    <c:legend>
      <c:legendPos val="b"/>
      <c:overlay val="0"/>
      <c:txPr>
        <a:bodyPr anchorCtr="1"/>
        <a:lstStyle/>
        <a:p>
          <a:pPr>
            <a:defRPr sz="713">
              <a:solidFill>
                <a:srgbClr val="73787D"/>
              </a:solidFill>
            </a:defRPr>
          </a:pPr>
        </a:p>
      </c:txPr>
    </c:legend>
    <c:plotVisOnly val="1"/>
  </c:chart>
  <c:spPr>
    <a:noFill/>
    <a:ln w="0">
      <a:noFill/>
      <a:prstDash val="solid"/>
    </a:ln>
  </c:spPr>
</c:chartSpace>
</file>

<file path=ppt/slides/charts/chart55.xml><?xml version="1.0" encoding="utf-8"?>
<c:chartSpace xmlns:a="http://schemas.openxmlformats.org/drawingml/2006/main" xmlns:c="http://schemas.openxmlformats.org/drawingml/2006/chart">
  <c:lang val="pt-BR"/>
  <c:chart>
    <c:plotArea>
      <c:barChart>
        <c:barDir val="bar"/>
        <c:grouping val="clustered"/>
        <c:varyColors val="0"/>
        <c:ser>
          <c:idx val="0"/>
          <c:order val="0"/>
          <c:tx>
            <c:v>PL administrado</c:v>
          </c:tx>
          <c:spPr>
            <a:solidFill>
              <a:srgbClr val="2456D6"/>
            </a:solidFill>
          </c:spPr>
          <c:dPt>
            <c:idx val="0"/>
            <c:invertIfNegative val="0"/>
            <c:spPr>
              <a:solidFill>
                <a:srgbClr val="2456D6"/>
              </a:solidFill>
            </c:spPr>
          </c:dPt>
          <c:dPt>
            <c:idx val="1"/>
            <c:invertIfNegative val="0"/>
            <c:spPr>
              <a:solidFill>
                <a:srgbClr val="2456D6"/>
              </a:solidFill>
            </c:spPr>
          </c:dPt>
          <c:cat>
            <c:strLit>
              <c:ptCount val="2"/>
              <c:pt idx="0">
                <c:v>Singulare legado</c:v>
              </c:pt>
              <c:pt idx="1">
                <c:v>QI DTVM original</c:v>
              </c:pt>
            </c:strLit>
          </c:cat>
          <c:val>
            <c:numLit>
              <c:formatCode>0.0</c:formatCode>
              <c:ptCount val="2"/>
              <c:pt idx="0">
                <c:v>83.49494764802999</c:v>
              </c:pt>
              <c:pt idx="1">
                <c:v>3.5498953478999997</c:v>
              </c:pt>
            </c:numLit>
          </c:val>
        </c:ser>
        <c:dLbls>
          <c:spPr>
            <a:noFill/>
            <a:ln w="0">
              <a:noFill/>
              <a:prstDash val="solid"/>
            </a:ln>
          </c:spPr>
          <c:txPr>
            <a:bodyPr anchorCtr="1"/>
            <a:lstStyle/>
            <a:p>
              <a:pPr>
                <a:defRPr sz="750" b="0">
                  <a:solidFill>
                    <a:srgbClr val="151515"/>
                  </a:solidFill>
                </a:defRPr>
              </a:pPr>
            </a:p>
          </c:txPr>
          <c:dLblPos val="outEnd"/>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825">
                <a:solidFill>
                  <a:srgbClr val="73787D"/>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56.xml><?xml version="1.0" encoding="utf-8"?>
<c:chartSpace xmlns:a="http://schemas.openxmlformats.org/drawingml/2006/main" xmlns:c="http://schemas.openxmlformats.org/drawingml/2006/chart">
  <c:lang val="pt-BR"/>
  <c:chart>
    <c:plotArea>
      <c:barChart>
        <c:barDir val="bar"/>
        <c:grouping val="clustered"/>
        <c:varyColors val="0"/>
        <c:ser>
          <c:idx val="0"/>
          <c:order val="0"/>
          <c:tx>
            <c:v>PL gerido</c:v>
          </c:tx>
          <c:spPr>
            <a:solidFill>
              <a:srgbClr val="1D4080"/>
            </a:solidFill>
          </c:spPr>
          <c:dPt>
            <c:idx val="0"/>
            <c:invertIfNegative val="0"/>
            <c:spPr>
              <a:solidFill>
                <a:srgbClr val="1D4080"/>
              </a:solidFill>
            </c:spPr>
          </c:dPt>
          <c:dPt>
            <c:idx val="1"/>
            <c:invertIfNegative val="0"/>
            <c:spPr>
              <a:solidFill>
                <a:srgbClr val="73787D"/>
              </a:solidFill>
            </c:spPr>
          </c:dPt>
          <c:dPt>
            <c:idx val="2"/>
            <c:invertIfNegative val="0"/>
            <c:spPr>
              <a:solidFill>
                <a:srgbClr val="1D4080"/>
              </a:solidFill>
            </c:spPr>
          </c:dPt>
          <c:cat>
            <c:strLit>
              <c:ptCount val="3"/>
              <c:pt idx="0">
                <c:v>BTG Pactual</c:v>
              </c:pt>
              <c:pt idx="1">
                <c:v>Bradesco</c:v>
              </c:pt>
              <c:pt idx="2">
                <c:v>BTG sem coorte bancária</c:v>
              </c:pt>
            </c:strLit>
          </c:cat>
          <c:val>
            <c:numLit>
              <c:formatCode>0.0</c:formatCode>
              <c:ptCount val="3"/>
              <c:pt idx="0">
                <c:v>79.11922838494</c:v>
              </c:pt>
              <c:pt idx="1">
                <c:v>40.32919650402</c:v>
              </c:pt>
              <c:pt idx="2">
                <c:v>27.842201097290015</c:v>
              </c:pt>
            </c:numLit>
          </c:val>
        </c:ser>
        <c:dLbls>
          <c:spPr>
            <a:noFill/>
            <a:ln w="0">
              <a:noFill/>
              <a:prstDash val="solid"/>
            </a:ln>
          </c:spPr>
          <c:txPr>
            <a:bodyPr anchorCtr="1"/>
            <a:lstStyle/>
            <a:p>
              <a:pPr>
                <a:defRPr sz="750" b="0">
                  <a:solidFill>
                    <a:srgbClr val="FFFFFF"/>
                  </a:solidFill>
                </a:defRPr>
              </a:pPr>
            </a:p>
          </c:txPr>
          <c:dLblPos val="inEnd"/>
          <c:showLegendKey val="0"/>
          <c:showVal val="1"/>
          <c:showCatName val="0"/>
          <c:showSerName val="0"/>
          <c:showPercent val="0"/>
          <c:showBubbleSize val="0"/>
          <c:showLeaderLines val="0"/>
        </c:dLbls>
        <c:gapWidth val="40"/>
        <c:axId val="48650112"/>
        <c:axId val="48672768"/>
      </c:barChart>
      <c:catAx>
        <c:axId val="48650112"/>
        <c:scaling>
          <c:orientation val="minMax"/>
        </c:scaling>
        <c:delete val="0"/>
        <c:axPos val="l"/>
        <c:numFmt formatCode="General"/>
        <c:majorTickMark val="none"/>
        <c:minorTickMark val="none"/>
        <c:spPr>
          <a:ln w="9525">
            <a:solidFill>
              <a:srgbClr val="D4D4D4"/>
            </a:solidFill>
            <a:prstDash val="solid"/>
          </a:ln>
        </c:spPr>
        <c:txPr>
          <a:bodyPr anchorCtr="1"/>
          <a:lstStyle/>
          <a:p>
            <a:pPr>
              <a:defRPr>
                <a:solidFill>
                  <a:srgbClr val="666666"/>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w="9525">
            <a:solidFill>
              <a:srgbClr val="D7DADD"/>
            </a:solidFill>
            <a:prstDash val="solid"/>
          </a:ln>
        </c:spPr>
        <c:txPr>
          <a:bodyPr anchorCtr="1"/>
          <a:lstStyle/>
          <a:p>
            <a:pPr>
              <a:defRPr sz="825">
                <a:solidFill>
                  <a:srgbClr val="73787D"/>
                </a:solidFill>
              </a:defRPr>
            </a:pPr>
          </a:p>
        </c:txPr>
        <c:crossAx val="48650112"/>
        <c:crossBetween val="between"/>
      </c:valAx>
      <c:spPr>
        <a:noFill/>
        <a:ln w="0">
          <a:noFill/>
          <a:prstDash val="solid"/>
        </a:ln>
      </c:spPr>
    </c:plotArea>
    <c:plotVisOnly val="1"/>
  </c:chart>
  <c:spPr>
    <a:noFill/>
    <a:ln w="0">
      <a:noFill/>
      <a:prstDash val="solid"/>
    </a:ln>
  </c:spPr>
</c:chartSpace>
</file>

<file path=ppt/slides/charts/chart57.xml><?xml version="1.0" encoding="utf-8"?>
<c:chartSpace xmlns:a="http://schemas.openxmlformats.org/drawingml/2006/main" xmlns:c="http://schemas.openxmlformats.org/drawingml/2006/chart">
  <c:lang val="pt-BR"/>
  <c:chart>
    <c:plotArea>
      <c:barChart>
        <c:barDir val="col"/>
        <c:grouping val="percentStacked"/>
        <c:varyColors val="0"/>
        <c:ser>
          <c:idx val="0"/>
          <c:order val="0"/>
          <c:tx>
            <c:v>QI Tech</c:v>
          </c:tx>
          <c:spPr>
            <a:solidFill>
              <a:srgbClr val="2456D6"/>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0.1116763306350601</c:v>
              </c:pt>
              <c:pt idx="1">
                <c:v>0.6782283246807754</c:v>
              </c:pt>
              <c:pt idx="2">
                <c:v>0.0450938092637845</c:v>
              </c:pt>
              <c:pt idx="3">
                <c:v>0.0383225339956283</c:v>
              </c:pt>
              <c:pt idx="4">
                <c:v>0.0555263851137853</c:v>
              </c:pt>
              <c:pt idx="5">
                <c:v>0.1191594010470072</c:v>
              </c:pt>
            </c:numLit>
          </c:val>
        </c:ser>
        <c:ser>
          <c:idx val="1"/>
          <c:order val="1"/>
          <c:tx>
            <c:v>BTG Pactual</c:v>
          </c:tx>
          <c:spPr>
            <a:solidFill>
              <a:srgbClr val="1D4080"/>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0.1390963456785791</c:v>
              </c:pt>
              <c:pt idx="1">
                <c:v>0.0085369657675623</c:v>
              </c:pt>
              <c:pt idx="2">
                <c:v>0.2571654070720304</c:v>
              </c:pt>
              <c:pt idx="3">
                <c:v>0.1107504103483613</c:v>
              </c:pt>
              <c:pt idx="4">
                <c:v>0.2863850373099147</c:v>
              </c:pt>
              <c:pt idx="5">
                <c:v>0.3313177990979622</c:v>
              </c:pt>
            </c:numLit>
          </c:val>
        </c:ser>
        <c:ser>
          <c:idx val="2"/>
          <c:order val="2"/>
          <c:tx>
            <c:v>Daycoval</c:v>
          </c:tx>
          <c:spPr>
            <a:solidFill>
              <a:srgbClr val="BEC2C5"/>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0.0840999608667202</c:v>
              </c:pt>
              <c:pt idx="1">
                <c:v>0.0060998187147488</c:v>
              </c:pt>
              <c:pt idx="2">
                <c:v>0.0121996377120526</c:v>
              </c:pt>
              <c:pt idx="3">
                <c:v>0.1576375144502833</c:v>
              </c:pt>
              <c:pt idx="4">
                <c:v>0.1003776283557518</c:v>
              </c:pt>
              <c:pt idx="5">
                <c:v>0.0466955779633413</c:v>
              </c:pt>
            </c:numLit>
          </c:val>
        </c:ser>
        <c:ser>
          <c:idx val="3"/>
          <c:order val="3"/>
          <c:tx>
            <c:v>Oliveira Trust</c:v>
          </c:tx>
          <c:spPr>
            <a:solidFill>
              <a:srgbClr val="7A1F3D"/>
            </a:solidFill>
          </c:spPr>
          <c:dLbls>
            <c:dLbl>
              <c:idx val="0"/>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0.0146265486635242</c:v>
              </c:pt>
              <c:pt idx="1">
                <c:v>0.009628795711521</c:v>
              </c:pt>
              <c:pt idx="2">
                <c:v>0.0718716845273516</c:v>
              </c:pt>
              <c:pt idx="3">
                <c:v>0.0746723052215733</c:v>
              </c:pt>
              <c:pt idx="4">
                <c:v>0.253591336198019</c:v>
              </c:pt>
              <c:pt idx="5">
                <c:v>0.3084942496785164</c:v>
              </c:pt>
            </c:numLit>
          </c:val>
        </c:ser>
        <c:ser>
          <c:idx val="4"/>
          <c:order val="4"/>
          <c:tx>
            <c:v>Bradesco</c:v>
          </c:tx>
          <c:spPr>
            <a:solidFill>
              <a:srgbClr val="73787D"/>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05"/>
                  <c:y val="0.003733748912"/>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0.0600546511336937</c:v>
              </c:pt>
              <c:pt idx="1">
                <c:v>0.0225383075558926</c:v>
              </c:pt>
              <c:pt idx="2">
                <c:v>0.1478667482986454</c:v>
              </c:pt>
              <c:pt idx="3">
                <c:v>0.1403255782349483</c:v>
              </c:pt>
              <c:pt idx="4">
                <c:v>0</c:v>
              </c:pt>
              <c:pt idx="5">
                <c:v>5.061082168693914E-05</c:v>
              </c:pt>
            </c:numLit>
          </c:val>
        </c:ser>
        <c:ser>
          <c:idx val="5"/>
          <c:order val="5"/>
          <c:tx>
            <c:v>Genial</c:v>
          </c:tx>
          <c:spPr>
            <a:solidFill>
              <a:srgbClr val="6EC5E9"/>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0.0452554036899924</c:v>
              </c:pt>
              <c:pt idx="1">
                <c:v>0.0014290426740686</c:v>
              </c:pt>
              <c:pt idx="2">
                <c:v>0.0938211651306432</c:v>
              </c:pt>
              <c:pt idx="3">
                <c:v>0.1266642208703755</c:v>
              </c:pt>
              <c:pt idx="4">
                <c:v>0.2292028070380465</c:v>
              </c:pt>
              <c:pt idx="5">
                <c:v>0.0097144159325523</c:v>
              </c:pt>
            </c:numLit>
          </c:val>
        </c:ser>
        <c:ser>
          <c:idx val="6"/>
          <c:order val="6"/>
          <c:tx>
            <c:v>Itaú</c:v>
          </c:tx>
          <c:spPr>
            <a:solidFill>
              <a:srgbClr val="FF5500"/>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05"/>
                  <c:y val="0.00154997720468"/>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showLegendKey val="0"/>
              <c:showVal val="0"/>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0.0679529812812936</c:v>
              </c:pt>
              <c:pt idx="1">
                <c:v>0.0093365494192045</c:v>
              </c:pt>
              <c:pt idx="2">
                <c:v>0.0435322365450096</c:v>
              </c:pt>
              <c:pt idx="3">
                <c:v>0.0006615413000011</c:v>
              </c:pt>
              <c:pt idx="4">
                <c:v>0</c:v>
              </c:pt>
              <c:pt idx="5">
                <c:v>0</c:v>
              </c:pt>
            </c:numLit>
          </c:val>
        </c:ser>
        <c:ser>
          <c:idx val="7"/>
          <c:order val="7"/>
          <c:tx>
            <c:v>Finaxis</c:v>
          </c:tx>
          <c:spPr>
            <a:solidFill>
              <a:srgbClr val="5B6065"/>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showLegendKey val="0"/>
              <c:showVal val="0"/>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0.0390778868680176</c:v>
              </c:pt>
              <c:pt idx="1">
                <c:v>0.0308583999379698</c:v>
              </c:pt>
              <c:pt idx="2">
                <c:v>0.0377896853506274</c:v>
              </c:pt>
              <c:pt idx="3">
                <c:v>0.0003689936710498</c:v>
              </c:pt>
              <c:pt idx="4">
                <c:v>0.0030735686210584</c:v>
              </c:pt>
              <c:pt idx="5">
                <c:v>0</c:v>
              </c:pt>
            </c:numLit>
          </c:val>
        </c:ser>
        <c:ser>
          <c:idx val="8"/>
          <c:order val="8"/>
          <c:tx>
            <c:v>BRL Trust</c:v>
          </c:tx>
          <c:spPr>
            <a:solidFill>
              <a:srgbClr val="454A4F"/>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0.0256229759264469</c:v>
              </c:pt>
              <c:pt idx="1">
                <c:v>0.0042743795995927</c:v>
              </c:pt>
              <c:pt idx="2">
                <c:v>0.0026200048135162</c:v>
              </c:pt>
              <c:pt idx="3">
                <c:v>0.0823562202432192</c:v>
              </c:pt>
              <c:pt idx="4">
                <c:v>0.000517442092016</c:v>
              </c:pt>
              <c:pt idx="5">
                <c:v>0.0084504260439428</c:v>
              </c:pt>
            </c:numLit>
          </c:val>
        </c:ser>
        <c:ser>
          <c:idx val="9"/>
          <c:order val="9"/>
          <c:tx>
            <c:v>Hemera</c:v>
          </c:tx>
          <c:spPr>
            <a:solidFill>
              <a:srgbClr val="30353A"/>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0.0265752299531593</c:v>
              </c:pt>
              <c:pt idx="1">
                <c:v>0.0407324745725011</c:v>
              </c:pt>
              <c:pt idx="2">
                <c:v>0.041430326101634</c:v>
              </c:pt>
              <c:pt idx="3">
                <c:v>0.0163428047472977</c:v>
              </c:pt>
              <c:pt idx="4">
                <c:v>0.006670926137507</c:v>
              </c:pt>
              <c:pt idx="5">
                <c:v>0.0543763088929269</c:v>
              </c:pt>
            </c:numLit>
          </c:val>
        </c:ser>
        <c:ser>
          <c:idx val="10"/>
          <c:order val="10"/>
          <c:tx>
            <c:v>Outros identificados</c:v>
          </c:tx>
          <c:spPr>
            <a:solidFill>
              <a:srgbClr val="D7DADD"/>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0.3859616853035125</c:v>
              </c:pt>
              <c:pt idx="1">
                <c:v>0.188336941366163</c:v>
              </c:pt>
              <c:pt idx="2">
                <c:v>0.2466092951847047</c:v>
              </c:pt>
              <c:pt idx="3">
                <c:v>0.2518978769172617</c:v>
              </c:pt>
              <c:pt idx="4">
                <c:v>0.0646548691339009</c:v>
              </c:pt>
              <c:pt idx="5">
                <c:v>0.1217412105220637</c:v>
              </c:pt>
            </c:numLit>
          </c:val>
        </c:ser>
        <c:ser>
          <c:idx val="11"/>
          <c:order val="11"/>
          <c:tx>
            <c:v>Prestador não informado</c:v>
          </c:tx>
          <c:spPr>
            <a:solidFill>
              <a:srgbClr val="F5F6F7"/>
            </a:solidFill>
          </c:spPr>
          <c:dLbls>
            <c:dLbl>
              <c:idx val="0"/>
              <c:showLegendKey val="0"/>
              <c:showVal val="0"/>
              <c:showCatName val="0"/>
              <c:showSerName val="0"/>
              <c:showPercent val="0"/>
              <c:showBubbleSize val="0"/>
            </c:dLbl>
            <c:dLbl>
              <c:idx val="1"/>
              <c:showLegendKey val="0"/>
              <c:showVal val="0"/>
              <c:showCatName val="0"/>
              <c:showSerName val="0"/>
              <c:showPercent val="0"/>
              <c:showBubbleSize val="0"/>
            </c:dLbl>
            <c:dLbl>
              <c:idx val="2"/>
              <c:showLegendKey val="0"/>
              <c:showVal val="0"/>
              <c:showCatName val="0"/>
              <c:showSerName val="0"/>
              <c:showPercent val="0"/>
              <c:showBubbleSize val="0"/>
            </c:dLbl>
            <c:dLbl>
              <c:idx val="3"/>
              <c:showLegendKey val="0"/>
              <c:showVal val="0"/>
              <c:showCatName val="0"/>
              <c:showSerName val="0"/>
              <c:showPercent val="0"/>
              <c:showBubbleSize val="0"/>
            </c:dLbl>
            <c:dLbl>
              <c:idx val="4"/>
              <c:showLegendKey val="0"/>
              <c:showVal val="0"/>
              <c:showCatName val="0"/>
              <c:showSerName val="0"/>
              <c:showPercent val="0"/>
              <c:showBubbleSize val="0"/>
            </c:dLbl>
            <c:dLbl>
              <c:idx val="5"/>
              <c:showLegendKey val="0"/>
              <c:showVal val="0"/>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c:v>
              </c:pt>
              <c:pt idx="1">
                <c:v>0</c:v>
              </c:pt>
              <c:pt idx="2">
                <c:v>0</c:v>
              </c:pt>
              <c:pt idx="3">
                <c:v>0</c:v>
              </c:pt>
              <c:pt idx="4">
                <c:v>0</c:v>
              </c:pt>
              <c:pt idx="5">
                <c:v>0</c:v>
              </c:pt>
            </c:numLit>
          </c:val>
        </c:ser>
        <c:dLbls>
          <c:spPr>
            <a:noFill/>
            <a:ln w="0">
              <a:noFill/>
              <a:prstDash val="solid"/>
            </a:ln>
          </c:spPr>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showLeaderLines val="0"/>
        </c:dLbls>
        <c:gapWidth val="48"/>
        <c:overlap val="100"/>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863">
                <a:solidFill>
                  <a:srgbClr val="73787D"/>
                </a:solidFill>
              </a:defRPr>
            </a:pPr>
          </a:p>
        </c:txPr>
        <c:crossAx val="48672768"/>
        <c:lblAlgn val="ctr"/>
        <c:lblOffset val="100"/>
        <c:noMultiLvlLbl val="0"/>
      </c:catAx>
      <c:valAx>
        <c:axId val="48672768"/>
        <c:scaling>
          <c:orientation val="minMax"/>
          <c:max val="1"/>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750">
                <a:solidFill>
                  <a:srgbClr val="8D9399"/>
                </a:solidFill>
              </a:defRPr>
            </a:pPr>
          </a:p>
        </c:txPr>
        <c:crossAx val="48650112"/>
        <c:crossBetween val="between"/>
        <c:majorUnit val="0.25"/>
      </c:valAx>
      <c:spPr>
        <a:noFill/>
        <a:ln w="0">
          <a:noFill/>
          <a:prstDash val="solid"/>
        </a:ln>
      </c:spPr>
    </c:plotArea>
    <c:legend>
      <c:legendPos val="b"/>
      <c:overlay val="0"/>
      <c:txPr>
        <a:bodyPr anchorCtr="1"/>
        <a:lstStyle/>
        <a:p>
          <a:pPr>
            <a:defRPr sz="713">
              <a:solidFill>
                <a:srgbClr val="73787D"/>
              </a:solidFill>
            </a:defRPr>
          </a:pPr>
        </a:p>
      </c:txPr>
    </c:legend>
    <c:plotVisOnly val="1"/>
  </c:chart>
  <c:spPr>
    <a:noFill/>
    <a:ln w="0">
      <a:noFill/>
      <a:prstDash val="solid"/>
    </a:ln>
  </c:spPr>
</c:chartSpace>
</file>

<file path=ppt/slides/charts/chart58.xml><?xml version="1.0" encoding="utf-8"?>
<c:chartSpace xmlns:a="http://schemas.openxmlformats.org/drawingml/2006/main" xmlns:c="http://schemas.openxmlformats.org/drawingml/2006/chart">
  <c:lang val="pt-BR"/>
  <c:chart>
    <c:plotArea>
      <c:barChart>
        <c:barDir val="col"/>
        <c:grouping val="percentStacked"/>
        <c:varyColors val="0"/>
        <c:ser>
          <c:idx val="0"/>
          <c:order val="0"/>
          <c:tx>
            <c:v>BTG Pactual</c:v>
          </c:tx>
          <c:spPr>
            <a:solidFill>
              <a:srgbClr val="1D4080"/>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05"/>
                  <c:y val="0.0193737350047"/>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0.0500957774921574</c:v>
              </c:pt>
              <c:pt idx="1">
                <c:v>0.0012525299906187</c:v>
              </c:pt>
              <c:pt idx="2">
                <c:v>0.2535264495160129</c:v>
              </c:pt>
              <c:pt idx="3">
                <c:v>0.0462427868594103</c:v>
              </c:pt>
              <c:pt idx="4">
                <c:v>0.2758716420451991</c:v>
              </c:pt>
              <c:pt idx="5">
                <c:v>0.3233036682243127</c:v>
              </c:pt>
            </c:numLit>
          </c:val>
        </c:ser>
        <c:ser>
          <c:idx val="1"/>
          <c:order val="1"/>
          <c:tx>
            <c:v>Bradesco</c:v>
          </c:tx>
          <c:spPr>
            <a:solidFill>
              <a:srgbClr val="73787D"/>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
                  <c:y val="0.00747831623144"/>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showLegendKey val="0"/>
              <c:showVal val="0"/>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0.0469523725398685</c:v>
              </c:pt>
              <c:pt idx="1">
                <c:v>0.0225383075558926</c:v>
              </c:pt>
              <c:pt idx="2">
                <c:v>0.0909821352025632</c:v>
              </c:pt>
              <c:pt idx="3">
                <c:v>0.1379781899976271</c:v>
              </c:pt>
              <c:pt idx="4">
                <c:v>0</c:v>
              </c:pt>
              <c:pt idx="5">
                <c:v>0</c:v>
              </c:pt>
            </c:numLit>
          </c:val>
        </c:ser>
        <c:ser>
          <c:idx val="2"/>
          <c:order val="2"/>
          <c:tx>
            <c:v>Oliveira Trust</c:v>
          </c:tx>
          <c:spPr>
            <a:solidFill>
              <a:srgbClr val="7A1F3D"/>
            </a:solidFill>
          </c:spPr>
          <c:dLbls>
            <c:dLbl>
              <c:idx val="0"/>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0.0019669412013587</c:v>
              </c:pt>
              <c:pt idx="1">
                <c:v>0.0007064267423984</c:v>
              </c:pt>
              <c:pt idx="2">
                <c:v>0.0510761668947442</c:v>
              </c:pt>
              <c:pt idx="3">
                <c:v>0.0481316360628852</c:v>
              </c:pt>
              <c:pt idx="4">
                <c:v>0.1937323312865176</c:v>
              </c:pt>
              <c:pt idx="5">
                <c:v>0.2251967686157905</c:v>
              </c:pt>
            </c:numLit>
          </c:val>
        </c:ser>
        <c:ser>
          <c:idx val="3"/>
          <c:order val="3"/>
          <c:tx>
            <c:v>Genial</c:v>
          </c:tx>
          <c:spPr>
            <a:solidFill>
              <a:srgbClr val="6EC5E9"/>
            </a:solidFill>
          </c:spPr>
          <c:dLbls>
            <c:dLbl>
              <c:idx val="0"/>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showLegendKey val="0"/>
              <c:showVal val="0"/>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showLegendKey val="0"/>
              <c:showVal val="0"/>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0.0220612214253641</c:v>
              </c:pt>
              <c:pt idx="1">
                <c:v>0</c:v>
              </c:pt>
              <c:pt idx="2">
                <c:v>0.0733873168779346</c:v>
              </c:pt>
              <c:pt idx="3">
                <c:v>0.1081333878129026</c:v>
              </c:pt>
              <c:pt idx="4">
                <c:v>0.0942677758415833</c:v>
              </c:pt>
              <c:pt idx="5">
                <c:v>0</c:v>
              </c:pt>
            </c:numLit>
          </c:val>
        </c:ser>
        <c:ser>
          <c:idx val="4"/>
          <c:order val="4"/>
          <c:tx>
            <c:v>Tercon Investimentos</c:v>
          </c:tx>
          <c:spPr>
            <a:solidFill>
              <a:srgbClr val="8D9399"/>
            </a:solidFill>
          </c:spPr>
          <c:dLbls>
            <c:dLbl>
              <c:idx val="0"/>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showLegendKey val="0"/>
              <c:showVal val="0"/>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0.006031214274127</c:v>
              </c:pt>
              <c:pt idx="1">
                <c:v>0.2254820036895443</c:v>
              </c:pt>
              <c:pt idx="2">
                <c:v>0.0044598510745928</c:v>
              </c:pt>
              <c:pt idx="3">
                <c:v>0.0024475116853231</c:v>
              </c:pt>
              <c:pt idx="4">
                <c:v>0</c:v>
              </c:pt>
              <c:pt idx="5">
                <c:v>0</c:v>
              </c:pt>
            </c:numLit>
          </c:val>
        </c:ser>
        <c:ser>
          <c:idx val="5"/>
          <c:order val="5"/>
          <c:tx>
            <c:v>Itaú</c:v>
          </c:tx>
          <c:spPr>
            <a:solidFill>
              <a:srgbClr val="FF5500"/>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showLegendKey val="0"/>
              <c:showVal val="0"/>
              <c:showCatName val="0"/>
              <c:showSerName val="0"/>
              <c:showPercent val="0"/>
              <c:showBubbleSize val="0"/>
            </c:dLbl>
            <c:dLbl>
              <c:idx val="2"/>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showLegendKey val="0"/>
              <c:showVal val="0"/>
              <c:showCatName val="0"/>
              <c:showSerName val="0"/>
              <c:showPercent val="0"/>
              <c:showBubbleSize val="0"/>
            </c:dLbl>
            <c:dLbl>
              <c:idx val="4"/>
              <c:showLegendKey val="0"/>
              <c:showVal val="0"/>
              <c:showCatName val="0"/>
              <c:showSerName val="0"/>
              <c:showPercent val="0"/>
              <c:showBubbleSize val="0"/>
            </c:dLbl>
            <c:dLbl>
              <c:idx val="5"/>
              <c:showLegendKey val="0"/>
              <c:showVal val="0"/>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0.0450847430474019</c:v>
              </c:pt>
              <c:pt idx="1">
                <c:v>0</c:v>
              </c:pt>
              <c:pt idx="2">
                <c:v>0.0171026340935401</c:v>
              </c:pt>
              <c:pt idx="3">
                <c:v>0</c:v>
              </c:pt>
              <c:pt idx="4">
                <c:v>0</c:v>
              </c:pt>
              <c:pt idx="5">
                <c:v>0</c:v>
              </c:pt>
            </c:numLit>
          </c:val>
        </c:ser>
        <c:ser>
          <c:idx val="6"/>
          <c:order val="6"/>
          <c:tx>
            <c:v>Solis Investimentos</c:v>
          </c:tx>
          <c:spPr>
            <a:solidFill>
              <a:srgbClr val="BEC2C5"/>
            </a:solidFill>
          </c:spPr>
          <c:dLbls>
            <c:dLbl>
              <c:idx val="0"/>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0.0205891110813994</c:v>
              </c:pt>
              <c:pt idx="1">
                <c:v>0.0353488694975699</c:v>
              </c:pt>
              <c:pt idx="2">
                <c:v>0.0103281819969092</c:v>
              </c:pt>
              <c:pt idx="3">
                <c:v>0.0170236300688781</c:v>
              </c:pt>
              <c:pt idx="4">
                <c:v>0.0213932153161958</c:v>
              </c:pt>
              <c:pt idx="5">
                <c:v>0.0588066657932295</c:v>
              </c:pt>
            </c:numLit>
          </c:val>
        </c:ser>
        <c:ser>
          <c:idx val="7"/>
          <c:order val="7"/>
          <c:tx>
            <c:v>XP</c:v>
          </c:tx>
          <c:spPr>
            <a:solidFill>
              <a:srgbClr val="73787D"/>
            </a:solidFill>
          </c:spPr>
          <c:dLbls>
            <c:dLbl>
              <c:idx val="0"/>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showLegendKey val="0"/>
              <c:showVal val="0"/>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showLegendKey val="0"/>
              <c:showVal val="0"/>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0.0124160176066826</c:v>
              </c:pt>
              <c:pt idx="1">
                <c:v>0</c:v>
              </c:pt>
              <c:pt idx="2">
                <c:v>0.0921407401194705</c:v>
              </c:pt>
              <c:pt idx="3">
                <c:v>0.0070214132164745</c:v>
              </c:pt>
              <c:pt idx="4">
                <c:v>0</c:v>
              </c:pt>
              <c:pt idx="5">
                <c:v>0</c:v>
              </c:pt>
            </c:numLit>
          </c:val>
        </c:ser>
        <c:ser>
          <c:idx val="8"/>
          <c:order val="8"/>
          <c:tx>
            <c:v>Integral Investimentos</c:v>
          </c:tx>
          <c:spPr>
            <a:solidFill>
              <a:srgbClr val="A7ACB0"/>
            </a:solidFill>
          </c:spPr>
          <c:dLbls>
            <c:dLbl>
              <c:idx val="0"/>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05"/>
                  <c:y val="0.00637921492998"/>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0.0056678347405107</c:v>
              </c:pt>
              <c:pt idx="1">
                <c:v>0.0058311829957581</c:v>
              </c:pt>
              <c:pt idx="2">
                <c:v>0.072361729110744</c:v>
              </c:pt>
              <c:pt idx="3">
                <c:v>0.0067039718840054</c:v>
              </c:pt>
              <c:pt idx="4">
                <c:v>0.0020264986777547</c:v>
              </c:pt>
              <c:pt idx="5">
                <c:v>0.0059850887644436</c:v>
              </c:pt>
            </c:numLit>
          </c:val>
        </c:ser>
        <c:ser>
          <c:idx val="9"/>
          <c:order val="9"/>
          <c:tx>
            <c:v>Anga Administracao De Recursos</c:v>
          </c:tx>
          <c:spPr>
            <a:solidFill>
              <a:srgbClr val="454A4F"/>
            </a:solidFill>
          </c:spPr>
          <c:dLbls>
            <c:dLbl>
              <c:idx val="0"/>
              <c:layout>
                <c:manualLayout>
                  <c:x val="-0.05"/>
                  <c:y val="0.00253723648458"/>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0.0081687112550485</c:v>
              </c:pt>
              <c:pt idx="1">
                <c:v>0.0031211412936085</c:v>
              </c:pt>
              <c:pt idx="2">
                <c:v>0.0018544989739266</c:v>
              </c:pt>
              <c:pt idx="3">
                <c:v>0.0644142962449783</c:v>
              </c:pt>
              <c:pt idx="4">
                <c:v>0.0996900292425515</c:v>
              </c:pt>
              <c:pt idx="5">
                <c:v>0.0090591090265077</c:v>
              </c:pt>
            </c:numLit>
          </c:val>
        </c:ser>
        <c:ser>
          <c:idx val="10"/>
          <c:order val="10"/>
          <c:tx>
            <c:v>Outros identificados</c:v>
          </c:tx>
          <c:spPr>
            <a:solidFill>
              <a:srgbClr val="D7DADD"/>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0.7803731753534665</c:v>
              </c:pt>
              <c:pt idx="1">
                <c:v>0.7049428932208924</c:v>
              </c:pt>
              <c:pt idx="2">
                <c:v>0.3287800173132373</c:v>
              </c:pt>
              <c:pt idx="3">
                <c:v>0.5619031761675151</c:v>
              </c:pt>
              <c:pt idx="4">
                <c:v>0.3130185075901977</c:v>
              </c:pt>
              <c:pt idx="5">
                <c:v>0.3775980887540289</c:v>
              </c:pt>
            </c:numLit>
          </c:val>
        </c:ser>
        <c:ser>
          <c:idx val="11"/>
          <c:order val="11"/>
          <c:tx>
            <c:v>Prestador não informado</c:v>
          </c:tx>
          <c:spPr>
            <a:solidFill>
              <a:srgbClr val="F5F6F7"/>
            </a:solidFill>
          </c:spPr>
          <c:dLbls>
            <c:dLbl>
              <c:idx val="0"/>
              <c:layout>
                <c:manualLayout>
                  <c:x val="0"/>
                  <c:y val="-0.0197035600087"/>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05"/>
                  <c:y val="-0.0196116774931"/>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layout>
                <c:manualLayout>
                  <c:x val="0"/>
                  <c:y val="-0.0179998605868"/>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showLegendKey val="0"/>
              <c:showVal val="0"/>
              <c:showCatName val="0"/>
              <c:showSerName val="0"/>
              <c:showPercent val="0"/>
              <c:showBubbleSize val="0"/>
            </c:dLbl>
            <c:dLbl>
              <c:idx val="4"/>
              <c:showLegendKey val="0"/>
              <c:showVal val="0"/>
              <c:showCatName val="0"/>
              <c:showSerName val="0"/>
              <c:showPercent val="0"/>
              <c:showBubbleSize val="0"/>
            </c:dLbl>
            <c:dLbl>
              <c:idx val="5"/>
              <c:layout>
                <c:manualLayout>
                  <c:x val="0.05"/>
                  <c:y val="-0.0199746945892"/>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0.0005928799826141</c:v>
              </c:pt>
              <c:pt idx="1">
                <c:v>0.0007766450137169</c:v>
              </c:pt>
              <c:pt idx="2">
                <c:v>0.0040002788263241</c:v>
              </c:pt>
              <c:pt idx="3">
                <c:v>0</c:v>
              </c:pt>
              <c:pt idx="4">
                <c:v>0</c:v>
              </c:pt>
              <c:pt idx="5">
                <c:v>5.061082168693914E-05</c:v>
              </c:pt>
            </c:numLit>
          </c:val>
        </c:ser>
        <c:dLbls>
          <c:spPr>
            <a:noFill/>
            <a:ln w="0">
              <a:noFill/>
              <a:prstDash val="solid"/>
            </a:ln>
          </c:spPr>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showLeaderLines val="0"/>
        </c:dLbls>
        <c:gapWidth val="48"/>
        <c:overlap val="100"/>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863">
                <a:solidFill>
                  <a:srgbClr val="73787D"/>
                </a:solidFill>
              </a:defRPr>
            </a:pPr>
          </a:p>
        </c:txPr>
        <c:crossAx val="48672768"/>
        <c:lblAlgn val="ctr"/>
        <c:lblOffset val="100"/>
        <c:noMultiLvlLbl val="0"/>
      </c:catAx>
      <c:valAx>
        <c:axId val="48672768"/>
        <c:scaling>
          <c:orientation val="minMax"/>
          <c:max val="1"/>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750">
                <a:solidFill>
                  <a:srgbClr val="8D9399"/>
                </a:solidFill>
              </a:defRPr>
            </a:pPr>
          </a:p>
        </c:txPr>
        <c:crossAx val="48650112"/>
        <c:crossBetween val="between"/>
        <c:majorUnit val="0.25"/>
      </c:valAx>
      <c:spPr>
        <a:noFill/>
        <a:ln w="0">
          <a:noFill/>
          <a:prstDash val="solid"/>
        </a:ln>
      </c:spPr>
    </c:plotArea>
    <c:legend>
      <c:legendPos val="b"/>
      <c:overlay val="0"/>
      <c:txPr>
        <a:bodyPr anchorCtr="1"/>
        <a:lstStyle/>
        <a:p>
          <a:pPr>
            <a:defRPr sz="713">
              <a:solidFill>
                <a:srgbClr val="73787D"/>
              </a:solidFill>
            </a:defRPr>
          </a:pPr>
        </a:p>
      </c:txPr>
    </c:legend>
    <c:plotVisOnly val="1"/>
  </c:chart>
  <c:spPr>
    <a:noFill/>
    <a:ln w="0">
      <a:noFill/>
      <a:prstDash val="solid"/>
    </a:ln>
  </c:spPr>
</c:chartSpace>
</file>

<file path=ppt/slides/charts/chart59.xml><?xml version="1.0" encoding="utf-8"?>
<c:chartSpace xmlns:a="http://schemas.openxmlformats.org/drawingml/2006/main" xmlns:c="http://schemas.openxmlformats.org/drawingml/2006/chart">
  <c:lang val="pt-BR"/>
  <c:chart>
    <c:plotArea>
      <c:barChart>
        <c:barDir val="col"/>
        <c:grouping val="percentStacked"/>
        <c:varyColors val="0"/>
        <c:ser>
          <c:idx val="0"/>
          <c:order val="0"/>
          <c:tx>
            <c:v>BTG Pactual</c:v>
          </c:tx>
          <c:spPr>
            <a:solidFill>
              <a:srgbClr val="1D4080"/>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05"/>
                  <c:y val="0.0186471086141"/>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0.1385988512304118</c:v>
              </c:pt>
              <c:pt idx="1">
                <c:v>0.0027057827718041</c:v>
              </c:pt>
              <c:pt idx="2">
                <c:v>0.2571654070720304</c:v>
              </c:pt>
              <c:pt idx="3">
                <c:v>0.1107504103483613</c:v>
              </c:pt>
              <c:pt idx="4">
                <c:v>0.2863850373099147</c:v>
              </c:pt>
              <c:pt idx="5">
                <c:v>0.3313177990979622</c:v>
              </c:pt>
            </c:numLit>
          </c:val>
        </c:ser>
        <c:ser>
          <c:idx val="1"/>
          <c:order val="1"/>
          <c:tx>
            <c:v>QI Tech</c:v>
          </c:tx>
          <c:spPr>
            <a:solidFill>
              <a:srgbClr val="2456D6"/>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0.1110650498414056</c:v>
              </c:pt>
              <c:pt idx="1">
                <c:v>0.6759912968773222</c:v>
              </c:pt>
              <c:pt idx="2">
                <c:v>0.0451499232981444</c:v>
              </c:pt>
              <c:pt idx="3">
                <c:v>0.0382941953359548</c:v>
              </c:pt>
              <c:pt idx="4">
                <c:v>0.0500143231646444</c:v>
              </c:pt>
              <c:pt idx="5">
                <c:v>0.1184983159999287</c:v>
              </c:pt>
            </c:numLit>
          </c:val>
        </c:ser>
        <c:ser>
          <c:idx val="2"/>
          <c:order val="2"/>
          <c:tx>
            <c:v>Oliveira Trust</c:v>
          </c:tx>
          <c:spPr>
            <a:solidFill>
              <a:srgbClr val="7A1F3D"/>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0.0367401725104139</c:v>
              </c:pt>
              <c:pt idx="1">
                <c:v>0.0271351448333965</c:v>
              </c:pt>
              <c:pt idx="2">
                <c:v>0.1734502780656785</c:v>
              </c:pt>
              <c:pt idx="3">
                <c:v>0.0746723052215733</c:v>
              </c:pt>
              <c:pt idx="4">
                <c:v>0.254399426087156</c:v>
              </c:pt>
              <c:pt idx="5">
                <c:v>0.3092763527579982</c:v>
              </c:pt>
            </c:numLit>
          </c:val>
        </c:ser>
        <c:ser>
          <c:idx val="3"/>
          <c:order val="3"/>
          <c:tx>
            <c:v>Daycoval</c:v>
          </c:tx>
          <c:spPr>
            <a:solidFill>
              <a:srgbClr val="BEC2C5"/>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0.0901371033135809</c:v>
              </c:pt>
              <c:pt idx="1">
                <c:v>0.0060998187147488</c:v>
              </c:pt>
              <c:pt idx="2">
                <c:v>0.0338901250913308</c:v>
              </c:pt>
              <c:pt idx="3">
                <c:v>0.1662834134085645</c:v>
              </c:pt>
              <c:pt idx="4">
                <c:v>0.1003776283557518</c:v>
              </c:pt>
              <c:pt idx="5">
                <c:v>0.0466955779633413</c:v>
              </c:pt>
            </c:numLit>
          </c:val>
        </c:ser>
        <c:ser>
          <c:idx val="4"/>
          <c:order val="4"/>
          <c:tx>
            <c:v>Bradesco</c:v>
          </c:tx>
          <c:spPr>
            <a:solidFill>
              <a:srgbClr val="73787D"/>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showLegendKey val="0"/>
              <c:showVal val="0"/>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0.0600546511336937</c:v>
              </c:pt>
              <c:pt idx="1">
                <c:v>0.0170780158717631</c:v>
              </c:pt>
              <c:pt idx="2">
                <c:v>0.1117385096852637</c:v>
              </c:pt>
              <c:pt idx="3">
                <c:v>0.1399668200066018</c:v>
              </c:pt>
              <c:pt idx="4">
                <c:v>0</c:v>
              </c:pt>
              <c:pt idx="5">
                <c:v>0</c:v>
              </c:pt>
            </c:numLit>
          </c:val>
        </c:ser>
        <c:ser>
          <c:idx val="5"/>
          <c:order val="5"/>
          <c:tx>
            <c:v>Genial</c:v>
          </c:tx>
          <c:spPr>
            <a:solidFill>
              <a:srgbClr val="6EC5E9"/>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0.0341699412912885</c:v>
              </c:pt>
              <c:pt idx="1">
                <c:v>0.0014290426740686</c:v>
              </c:pt>
              <c:pt idx="2">
                <c:v>0.0924387555066889</c:v>
              </c:pt>
              <c:pt idx="3">
                <c:v>0.1266642208703755</c:v>
              </c:pt>
              <c:pt idx="4">
                <c:v>0.1377649003513394</c:v>
              </c:pt>
              <c:pt idx="5">
                <c:v>0.0097144159325523</c:v>
              </c:pt>
            </c:numLit>
          </c:val>
        </c:ser>
        <c:ser>
          <c:idx val="6"/>
          <c:order val="6"/>
          <c:tx>
            <c:v>REAG</c:v>
          </c:tx>
          <c:spPr>
            <a:solidFill>
              <a:srgbClr val="73C6A1"/>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
                  <c:y val="0.013350666946"/>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showLegendKey val="0"/>
              <c:showVal val="0"/>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0.0766621333152516</c:v>
              </c:pt>
              <c:pt idx="1">
                <c:v>0.0001847303014918</c:v>
              </c:pt>
              <c:pt idx="2">
                <c:v>1.9023858238375103E-05</c:v>
              </c:pt>
              <c:pt idx="3">
                <c:v>0.0013441224672684</c:v>
              </c:pt>
              <c:pt idx="4">
                <c:v>0</c:v>
              </c:pt>
              <c:pt idx="5">
                <c:v>0</c:v>
              </c:pt>
            </c:numLit>
          </c:val>
        </c:ser>
        <c:ser>
          <c:idx val="7"/>
          <c:order val="7"/>
          <c:tx>
            <c:v>Finaxis</c:v>
          </c:tx>
          <c:spPr>
            <a:solidFill>
              <a:srgbClr val="5B6065"/>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showLegendKey val="0"/>
              <c:showVal val="0"/>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0.0390778868680176</c:v>
              </c:pt>
              <c:pt idx="1">
                <c:v>0.0308583999379698</c:v>
              </c:pt>
              <c:pt idx="2">
                <c:v>0.0377896853506274</c:v>
              </c:pt>
              <c:pt idx="3">
                <c:v>0.0003689936710498</c:v>
              </c:pt>
              <c:pt idx="4">
                <c:v>0.0030735686210584</c:v>
              </c:pt>
              <c:pt idx="5">
                <c:v>0</c:v>
              </c:pt>
            </c:numLit>
          </c:val>
        </c:ser>
        <c:ser>
          <c:idx val="8"/>
          <c:order val="8"/>
          <c:tx>
            <c:v>Itaú</c:v>
          </c:tx>
          <c:spPr>
            <a:solidFill>
              <a:srgbClr val="FF5500"/>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showLegendKey val="0"/>
              <c:showVal val="0"/>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0.0529133378830142</c:v>
              </c:pt>
              <c:pt idx="1">
                <c:v>0.0093365494192045</c:v>
              </c:pt>
              <c:pt idx="2">
                <c:v>0.0171026340935401</c:v>
              </c:pt>
              <c:pt idx="3">
                <c:v>0.0006615413000011</c:v>
              </c:pt>
              <c:pt idx="4">
                <c:v>0</c:v>
              </c:pt>
              <c:pt idx="5">
                <c:v>0</c:v>
              </c:pt>
            </c:numLit>
          </c:val>
        </c:ser>
        <c:ser>
          <c:idx val="9"/>
          <c:order val="9"/>
          <c:tx>
            <c:v>BRL Trust</c:v>
          </c:tx>
          <c:spPr>
            <a:solidFill>
              <a:srgbClr val="454A4F"/>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layout>
                <c:manualLayout>
                  <c:x val="0.05"/>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0.0256229759264469</c:v>
              </c:pt>
              <c:pt idx="1">
                <c:v>0.0042743795995927</c:v>
              </c:pt>
              <c:pt idx="2">
                <c:v>0.0026200048135162</c:v>
              </c:pt>
              <c:pt idx="3">
                <c:v>0.0823562202432192</c:v>
              </c:pt>
              <c:pt idx="4">
                <c:v>0.000517442092016</c:v>
              </c:pt>
              <c:pt idx="5">
                <c:v>0.0084504260439428</c:v>
              </c:pt>
            </c:numLit>
          </c:val>
        </c:ser>
        <c:ser>
          <c:idx val="10"/>
          <c:order val="10"/>
          <c:tx>
            <c:v>Outros identificados</c:v>
          </c:tx>
          <c:spPr>
            <a:solidFill>
              <a:srgbClr val="D7DADD"/>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0.3241701231603555</c:v>
              </c:pt>
              <c:pt idx="1">
                <c:v>0.2115480334239259</c:v>
              </c:pt>
              <c:pt idx="2">
                <c:v>0.160647830710761</c:v>
              </c:pt>
              <c:pt idx="3">
                <c:v>0.2568686718762569</c:v>
              </c:pt>
              <c:pt idx="4">
                <c:v>0.1673666661701728</c:v>
              </c:pt>
              <c:pt idx="5">
                <c:v>0.1759965013825875</c:v>
              </c:pt>
            </c:numLit>
          </c:val>
        </c:ser>
        <c:ser>
          <c:idx val="11"/>
          <c:order val="11"/>
          <c:tx>
            <c:v>Prestador não informado</c:v>
          </c:tx>
          <c:spPr>
            <a:solidFill>
              <a:srgbClr val="F5F6F7"/>
            </a:solidFill>
          </c:spPr>
          <c:dLbls>
            <c:dLbl>
              <c:idx val="0"/>
              <c:layout>
                <c:manualLayout>
                  <c:x val="-0.05"/>
                  <c:y val="-0.0146061132369"/>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
                  <c:y val="-0.0133205972126"/>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05"/>
                  <c:y val="-0.0191154573746"/>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layout>
                <c:manualLayout>
                  <c:x val="0.05"/>
                  <c:y val="-0.019949496076"/>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layout>
                <c:manualLayout>
                  <c:x val="0.05"/>
                  <c:y val="-0.0199746945892"/>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6"/>
              <c:pt idx="0">
                <c:v>Outros
Multicarteira</c:v>
              </c:pt>
              <c:pt idx="1">
                <c:v>Fomento
Fomento Mercantil</c:v>
              </c:pt>
              <c:pt idx="2">
                <c:v>Agro
Recebíveis comerciais</c:v>
              </c:pt>
              <c:pt idx="3">
                <c:v>Financeiro
Multicarteira</c:v>
              </c:pt>
              <c:pt idx="4">
                <c:v>Financeiro
Crédito pessoal</c:v>
              </c:pt>
              <c:pt idx="5">
                <c:v>Financeiro
Crédito Consignado</c:v>
              </c:pt>
            </c:strLit>
          </c:cat>
          <c:val>
            <c:numLit>
              <c:formatCode>0.0%</c:formatCode>
              <c:ptCount val="6"/>
              <c:pt idx="0">
                <c:v>0.0107877735261191</c:v>
              </c:pt>
              <c:pt idx="1">
                <c:v>0.0133588055747116</c:v>
              </c:pt>
              <c:pt idx="2">
                <c:v>0.0679878224541797</c:v>
              </c:pt>
              <c:pt idx="3">
                <c:v>0.0017690852507729</c:v>
              </c:pt>
              <c:pt idx="4">
                <c:v>0.0001010078479461</c:v>
              </c:pt>
              <c:pt idx="5">
                <c:v>5.061082168693914E-05</c:v>
              </c:pt>
            </c:numLit>
          </c:val>
        </c:ser>
        <c:dLbls>
          <c:spPr>
            <a:noFill/>
            <a:ln w="0">
              <a:noFill/>
              <a:prstDash val="solid"/>
            </a:ln>
          </c:spPr>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showLeaderLines val="0"/>
        </c:dLbls>
        <c:gapWidth val="48"/>
        <c:overlap val="100"/>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863">
                <a:solidFill>
                  <a:srgbClr val="73787D"/>
                </a:solidFill>
              </a:defRPr>
            </a:pPr>
          </a:p>
        </c:txPr>
        <c:crossAx val="48672768"/>
        <c:lblAlgn val="ctr"/>
        <c:lblOffset val="100"/>
        <c:noMultiLvlLbl val="0"/>
      </c:catAx>
      <c:valAx>
        <c:axId val="48672768"/>
        <c:scaling>
          <c:orientation val="minMax"/>
          <c:max val="1"/>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750">
                <a:solidFill>
                  <a:srgbClr val="8D9399"/>
                </a:solidFill>
              </a:defRPr>
            </a:pPr>
          </a:p>
        </c:txPr>
        <c:crossAx val="48650112"/>
        <c:crossBetween val="between"/>
        <c:majorUnit val="0.25"/>
      </c:valAx>
      <c:spPr>
        <a:noFill/>
        <a:ln w="0">
          <a:noFill/>
          <a:prstDash val="solid"/>
        </a:ln>
      </c:spPr>
    </c:plotArea>
    <c:legend>
      <c:legendPos val="b"/>
      <c:overlay val="0"/>
      <c:txPr>
        <a:bodyPr anchorCtr="1"/>
        <a:lstStyle/>
        <a:p>
          <a:pPr>
            <a:defRPr sz="713">
              <a:solidFill>
                <a:srgbClr val="73787D"/>
              </a:solidFill>
            </a:defRPr>
          </a:pPr>
        </a:p>
      </c:txPr>
    </c:legend>
    <c:plotVisOnly val="1"/>
  </c:chart>
  <c:spPr>
    <a:noFill/>
    <a:ln w="0">
      <a:noFill/>
      <a:prstDash val="solid"/>
    </a:ln>
  </c:spPr>
</c:chartSpace>
</file>

<file path=ppt/slides/charts/chart60.xml><?xml version="1.0" encoding="utf-8"?>
<c:chartSpace xmlns:a="http://schemas.openxmlformats.org/drawingml/2006/main" xmlns:c="http://schemas.openxmlformats.org/drawingml/2006/chart">
  <c:lang val="pt-BR"/>
  <c:chart>
    <c:plotArea>
      <c:barChart>
        <c:barDir val="col"/>
        <c:grouping val="percentStacked"/>
        <c:varyColors val="0"/>
        <c:ser>
          <c:idx val="0"/>
          <c:order val="0"/>
          <c:tx>
            <c:v>QI Tech</c:v>
          </c:tx>
          <c:spPr>
            <a:solidFill>
              <a:srgbClr val="2456D6"/>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showLegendKey val="0"/>
              <c:showVal val="0"/>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showLegendKey val="0"/>
              <c:showVal val="0"/>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0.6782283246807754</c:v>
              </c:pt>
              <c:pt idx="1">
                <c:v>0.2831240514453489</c:v>
              </c:pt>
              <c:pt idx="2">
                <c:v>0.1191594010470072</c:v>
              </c:pt>
              <c:pt idx="3">
                <c:v>0.0555263851137853</c:v>
              </c:pt>
              <c:pt idx="4">
                <c:v>0.0691691486679832</c:v>
              </c:pt>
              <c:pt idx="5">
                <c:v>0.0383225339956283</c:v>
              </c:pt>
              <c:pt idx="6">
                <c:v>0</c:v>
              </c:pt>
              <c:pt idx="7">
                <c:v>0.0450938092637845</c:v>
              </c:pt>
              <c:pt idx="8">
                <c:v>0</c:v>
              </c:pt>
              <c:pt idx="9">
                <c:v>0.2264353570509752</c:v>
              </c:pt>
              <c:pt idx="10">
                <c:v>0.0918908689514907</c:v>
              </c:pt>
              <c:pt idx="11">
                <c:v>0.0473805402449094</c:v>
              </c:pt>
              <c:pt idx="12">
                <c:v>0.2029820123277025</c:v>
              </c:pt>
              <c:pt idx="13">
                <c:v>0.1116763306350601</c:v>
              </c:pt>
            </c:numLit>
          </c:val>
        </c:ser>
        <c:ser>
          <c:idx val="1"/>
          <c:order val="1"/>
          <c:tx>
            <c:v>BTG Pactual</c:v>
          </c:tx>
          <c:spPr>
            <a:solidFill>
              <a:srgbClr val="1D4080"/>
            </a:solidFill>
          </c:spPr>
          <c:dLbls>
            <c:dLbl>
              <c:idx val="0"/>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showLegendKey val="0"/>
              <c:showVal val="0"/>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layout>
                <c:manualLayout>
                  <c:x val="-0.018"/>
                  <c:y val="0.0148853902617"/>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layout>
                <c:manualLayout>
                  <c:x val="-0.018"/>
                  <c:y val="0.0165091640081"/>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0.0085369657675623</c:v>
              </c:pt>
              <c:pt idx="1">
                <c:v>0</c:v>
              </c:pt>
              <c:pt idx="2">
                <c:v>0.3313177990979622</c:v>
              </c:pt>
              <c:pt idx="3">
                <c:v>0.2863850373099147</c:v>
              </c:pt>
              <c:pt idx="4">
                <c:v>0.0195092264928632</c:v>
              </c:pt>
              <c:pt idx="5">
                <c:v>0.1107504103483613</c:v>
              </c:pt>
              <c:pt idx="6">
                <c:v>0.0102292194766519</c:v>
              </c:pt>
              <c:pt idx="7">
                <c:v>0.2571654070720304</c:v>
              </c:pt>
              <c:pt idx="8">
                <c:v>0.0069816719837632</c:v>
              </c:pt>
              <c:pt idx="9">
                <c:v>0.0636220792622765</c:v>
              </c:pt>
              <c:pt idx="10">
                <c:v>0.0352039450932765</c:v>
              </c:pt>
              <c:pt idx="11">
                <c:v>0.0391221710404121</c:v>
              </c:pt>
              <c:pt idx="12">
                <c:v>0.269028508380686</c:v>
              </c:pt>
              <c:pt idx="13">
                <c:v>0.1390963456785791</c:v>
              </c:pt>
            </c:numLit>
          </c:val>
        </c:ser>
        <c:ser>
          <c:idx val="2"/>
          <c:order val="2"/>
          <c:tx>
            <c:v>Daycoval</c:v>
          </c:tx>
          <c:spPr>
            <a:solidFill>
              <a:srgbClr val="BEC2C5"/>
            </a:solidFill>
          </c:spPr>
          <c:dLbls>
            <c:dLbl>
              <c:idx val="0"/>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0.0060998187147488</c:v>
              </c:pt>
              <c:pt idx="1">
                <c:v>0.0314129103166631</c:v>
              </c:pt>
              <c:pt idx="2">
                <c:v>0.0466955779633413</c:v>
              </c:pt>
              <c:pt idx="3">
                <c:v>0.1003776283557518</c:v>
              </c:pt>
              <c:pt idx="4">
                <c:v>0.0518572977986845</c:v>
              </c:pt>
              <c:pt idx="5">
                <c:v>0.1576375144502833</c:v>
              </c:pt>
              <c:pt idx="6">
                <c:v>0.0563502288601275</c:v>
              </c:pt>
              <c:pt idx="7">
                <c:v>0.0121996377120526</c:v>
              </c:pt>
              <c:pt idx="8">
                <c:v>0.0953592279385335</c:v>
              </c:pt>
              <c:pt idx="9">
                <c:v>0.2191987728818734</c:v>
              </c:pt>
              <c:pt idx="10">
                <c:v>0.0851975999676302</c:v>
              </c:pt>
              <c:pt idx="11">
                <c:v>0.0775017988341624</c:v>
              </c:pt>
              <c:pt idx="12">
                <c:v>0.0561734532046676</c:v>
              </c:pt>
              <c:pt idx="13">
                <c:v>0.0840999608667202</c:v>
              </c:pt>
            </c:numLit>
          </c:val>
        </c:ser>
        <c:ser>
          <c:idx val="3"/>
          <c:order val="3"/>
          <c:tx>
            <c:v>Oliveira Trust</c:v>
          </c:tx>
          <c:spPr>
            <a:solidFill>
              <a:srgbClr val="7A1F3D"/>
            </a:solidFill>
          </c:spPr>
          <c:dLbls>
            <c:dLbl>
              <c:idx val="0"/>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showLegendKey val="0"/>
              <c:showVal val="0"/>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0.009628795711521</c:v>
              </c:pt>
              <c:pt idx="1">
                <c:v>0.210187707644898</c:v>
              </c:pt>
              <c:pt idx="2">
                <c:v>0.3084942496785164</c:v>
              </c:pt>
              <c:pt idx="3">
                <c:v>0.253591336198019</c:v>
              </c:pt>
              <c:pt idx="4">
                <c:v>0</c:v>
              </c:pt>
              <c:pt idx="5">
                <c:v>0.0746723052215733</c:v>
              </c:pt>
              <c:pt idx="6">
                <c:v>0.2170108713330027</c:v>
              </c:pt>
              <c:pt idx="7">
                <c:v>0.0718716845273516</c:v>
              </c:pt>
              <c:pt idx="8">
                <c:v>0.3321544424965538</c:v>
              </c:pt>
              <c:pt idx="9">
                <c:v>0.0268117805118336</c:v>
              </c:pt>
              <c:pt idx="10">
                <c:v>0.1026720112420221</c:v>
              </c:pt>
              <c:pt idx="11">
                <c:v>0</c:v>
              </c:pt>
              <c:pt idx="12">
                <c:v>0.0533268146890519</c:v>
              </c:pt>
              <c:pt idx="13">
                <c:v>0.0146265486635242</c:v>
              </c:pt>
            </c:numLit>
          </c:val>
        </c:ser>
        <c:ser>
          <c:idx val="4"/>
          <c:order val="4"/>
          <c:tx>
            <c:v>Bradesco</c:v>
          </c:tx>
          <c:spPr>
            <a:solidFill>
              <a:srgbClr val="73787D"/>
            </a:solidFill>
          </c:spPr>
          <c:dLbls>
            <c:dLbl>
              <c:idx val="0"/>
              <c:layout>
                <c:manualLayout>
                  <c:x val="-0.018"/>
                  <c:y val="0.003733748912"/>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showLegendKey val="0"/>
              <c:showVal val="0"/>
              <c:showCatName val="0"/>
              <c:showSerName val="0"/>
              <c:showPercent val="0"/>
              <c:showBubbleSize val="0"/>
            </c:dLbl>
            <c:dLbl>
              <c:idx val="2"/>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showLegendKey val="0"/>
              <c:showVal val="0"/>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showLegendKey val="0"/>
              <c:showVal val="0"/>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showLegendKey val="0"/>
              <c:showVal val="0"/>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0.0225383075558926</c:v>
              </c:pt>
              <c:pt idx="1">
                <c:v>0</c:v>
              </c:pt>
              <c:pt idx="2">
                <c:v>5.061082168693914E-05</c:v>
              </c:pt>
              <c:pt idx="3">
                <c:v>0</c:v>
              </c:pt>
              <c:pt idx="4">
                <c:v>0.4931230015075811</c:v>
              </c:pt>
              <c:pt idx="5">
                <c:v>0.1403255782349483</c:v>
              </c:pt>
              <c:pt idx="6">
                <c:v>0</c:v>
              </c:pt>
              <c:pt idx="7">
                <c:v>0.1478667482986454</c:v>
              </c:pt>
              <c:pt idx="8">
                <c:v>0.1537184307008739</c:v>
              </c:pt>
              <c:pt idx="9">
                <c:v>0</c:v>
              </c:pt>
              <c:pt idx="10">
                <c:v>0.0295771875973997</c:v>
              </c:pt>
              <c:pt idx="11">
                <c:v>0.0012377170662472</c:v>
              </c:pt>
              <c:pt idx="12">
                <c:v>0.0089665861260677</c:v>
              </c:pt>
              <c:pt idx="13">
                <c:v>0.0600546511336937</c:v>
              </c:pt>
            </c:numLit>
          </c:val>
        </c:ser>
        <c:ser>
          <c:idx val="5"/>
          <c:order val="5"/>
          <c:tx>
            <c:v>Genial</c:v>
          </c:tx>
          <c:spPr>
            <a:solidFill>
              <a:srgbClr val="6EC5E9"/>
            </a:solidFill>
          </c:spPr>
          <c:dLbls>
            <c:dLbl>
              <c:idx val="0"/>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0.0014290426740686</c:v>
              </c:pt>
              <c:pt idx="1">
                <c:v>0.0954434490174933</c:v>
              </c:pt>
              <c:pt idx="2">
                <c:v>0.0097144159325523</c:v>
              </c:pt>
              <c:pt idx="3">
                <c:v>0.2292028070380465</c:v>
              </c:pt>
              <c:pt idx="4">
                <c:v>0</c:v>
              </c:pt>
              <c:pt idx="5">
                <c:v>0.1266642208703755</c:v>
              </c:pt>
              <c:pt idx="6">
                <c:v>0.0801521194835746</c:v>
              </c:pt>
              <c:pt idx="7">
                <c:v>0.0938211651306432</c:v>
              </c:pt>
              <c:pt idx="8">
                <c:v>0.0222904487757394</c:v>
              </c:pt>
              <c:pt idx="9">
                <c:v>0.0947363671905799</c:v>
              </c:pt>
              <c:pt idx="10">
                <c:v>0.0517280519093443</c:v>
              </c:pt>
              <c:pt idx="11">
                <c:v>0.0163574722030135</c:v>
              </c:pt>
              <c:pt idx="12">
                <c:v>0.0148724022126697</c:v>
              </c:pt>
              <c:pt idx="13">
                <c:v>0.0452554036899924</c:v>
              </c:pt>
            </c:numLit>
          </c:val>
        </c:ser>
        <c:ser>
          <c:idx val="6"/>
          <c:order val="6"/>
          <c:tx>
            <c:v>Itaú</c:v>
          </c:tx>
          <c:spPr>
            <a:solidFill>
              <a:srgbClr val="FF5500"/>
            </a:solidFill>
          </c:spPr>
          <c:dLbls>
            <c:dLbl>
              <c:idx val="0"/>
              <c:layout>
                <c:manualLayout>
                  <c:x val="0.018"/>
                  <c:y val="0.00154997720468"/>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showLegendKey val="0"/>
              <c:showVal val="0"/>
              <c:showCatName val="0"/>
              <c:showSerName val="0"/>
              <c:showPercent val="0"/>
              <c:showBubbleSize val="0"/>
            </c:dLbl>
            <c:dLbl>
              <c:idx val="3"/>
              <c:showLegendKey val="0"/>
              <c:showVal val="0"/>
              <c:showCatName val="0"/>
              <c:showSerName val="0"/>
              <c:showPercent val="0"/>
              <c:showBubbleSize val="0"/>
            </c:dLbl>
            <c:dLbl>
              <c:idx val="4"/>
              <c:showLegendKey val="0"/>
              <c:showVal val="0"/>
              <c:showCatName val="0"/>
              <c:showSerName val="0"/>
              <c:showPercent val="0"/>
              <c:showBubbleSize val="0"/>
            </c:dLbl>
            <c:dLbl>
              <c:idx val="5"/>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showLegendKey val="0"/>
              <c:showVal val="0"/>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showLegendKey val="0"/>
              <c:showVal val="0"/>
              <c:showCatName val="0"/>
              <c:showSerName val="0"/>
              <c:showPercent val="0"/>
              <c:showBubbleSize val="0"/>
            </c:dLbl>
            <c:dLbl>
              <c:idx val="11"/>
              <c:showLegendKey val="0"/>
              <c:showVal val="0"/>
              <c:showCatName val="0"/>
              <c:showSerName val="0"/>
              <c:showPercent val="0"/>
              <c:showBubbleSize val="0"/>
            </c:dLbl>
            <c:dLbl>
              <c:idx val="12"/>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0.0093365494192045</c:v>
              </c:pt>
              <c:pt idx="1">
                <c:v>0.1227393200815646</c:v>
              </c:pt>
              <c:pt idx="2">
                <c:v>0</c:v>
              </c:pt>
              <c:pt idx="3">
                <c:v>0</c:v>
              </c:pt>
              <c:pt idx="4">
                <c:v>0</c:v>
              </c:pt>
              <c:pt idx="5">
                <c:v>0.0006615413000011</c:v>
              </c:pt>
              <c:pt idx="6">
                <c:v>0.0810581734428378</c:v>
              </c:pt>
              <c:pt idx="7">
                <c:v>0.0435322365450096</c:v>
              </c:pt>
              <c:pt idx="8">
                <c:v>0</c:v>
              </c:pt>
              <c:pt idx="9">
                <c:v>0.1013743858313278</c:v>
              </c:pt>
              <c:pt idx="10">
                <c:v>0</c:v>
              </c:pt>
              <c:pt idx="11">
                <c:v>0</c:v>
              </c:pt>
              <c:pt idx="12">
                <c:v>0.0195927534357799</c:v>
              </c:pt>
              <c:pt idx="13">
                <c:v>0.0679529812812936</c:v>
              </c:pt>
            </c:numLit>
          </c:val>
        </c:ser>
        <c:ser>
          <c:idx val="7"/>
          <c:order val="7"/>
          <c:tx>
            <c:v>Finaxis</c:v>
          </c:tx>
          <c:spPr>
            <a:solidFill>
              <a:srgbClr val="5B6065"/>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showLegendKey val="0"/>
              <c:showVal val="0"/>
              <c:showCatName val="0"/>
              <c:showSerName val="0"/>
              <c:showPercent val="0"/>
              <c:showBubbleSize val="0"/>
            </c:dLbl>
            <c:dLbl>
              <c:idx val="3"/>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showLegendKey val="0"/>
              <c:showVal val="0"/>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showLegendKey val="0"/>
              <c:showVal val="0"/>
              <c:showCatName val="0"/>
              <c:showSerName val="0"/>
              <c:showPercent val="0"/>
              <c:showBubbleSize val="0"/>
            </c:dLbl>
            <c:dLbl>
              <c:idx val="12"/>
              <c:showLegendKey val="0"/>
              <c:showVal val="0"/>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0.0308583999379698</c:v>
              </c:pt>
              <c:pt idx="1">
                <c:v>0.0011602353362383</c:v>
              </c:pt>
              <c:pt idx="2">
                <c:v>0</c:v>
              </c:pt>
              <c:pt idx="3">
                <c:v>0.0030735686210584</c:v>
              </c:pt>
              <c:pt idx="4">
                <c:v>0</c:v>
              </c:pt>
              <c:pt idx="5">
                <c:v>0.0003689936710498</c:v>
              </c:pt>
              <c:pt idx="6">
                <c:v>0</c:v>
              </c:pt>
              <c:pt idx="7">
                <c:v>0.0377896853506274</c:v>
              </c:pt>
              <c:pt idx="8">
                <c:v>0.0061406084215763</c:v>
              </c:pt>
              <c:pt idx="9">
                <c:v>0.1183666540018785</c:v>
              </c:pt>
              <c:pt idx="10">
                <c:v>0.1745723336276446</c:v>
              </c:pt>
              <c:pt idx="11">
                <c:v>0</c:v>
              </c:pt>
              <c:pt idx="12">
                <c:v>0</c:v>
              </c:pt>
              <c:pt idx="13">
                <c:v>0.0390778868680176</c:v>
              </c:pt>
            </c:numLit>
          </c:val>
        </c:ser>
        <c:ser>
          <c:idx val="8"/>
          <c:order val="8"/>
          <c:tx>
            <c:v>BRL Trust</c:v>
          </c:tx>
          <c:spPr>
            <a:solidFill>
              <a:srgbClr val="454A4F"/>
            </a:solidFill>
          </c:spPr>
          <c:dLbls>
            <c:dLbl>
              <c:idx val="0"/>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0.0042743795995927</c:v>
              </c:pt>
              <c:pt idx="1">
                <c:v>0.0719893561435586</c:v>
              </c:pt>
              <c:pt idx="2">
                <c:v>0.0084504260439428</c:v>
              </c:pt>
              <c:pt idx="3">
                <c:v>0.000517442092016</c:v>
              </c:pt>
              <c:pt idx="4">
                <c:v>0.0013353036335097</c:v>
              </c:pt>
              <c:pt idx="5">
                <c:v>0.0823562202432192</c:v>
              </c:pt>
              <c:pt idx="6">
                <c:v>0.0729485428985306</c:v>
              </c:pt>
              <c:pt idx="7">
                <c:v>0.0026200048135162</c:v>
              </c:pt>
              <c:pt idx="8">
                <c:v>0.053110144728145</c:v>
              </c:pt>
              <c:pt idx="9">
                <c:v>0.0083461717733962</c:v>
              </c:pt>
              <c:pt idx="10">
                <c:v>0.0560386356538572</c:v>
              </c:pt>
              <c:pt idx="11">
                <c:v>0.1334325730903025</c:v>
              </c:pt>
              <c:pt idx="12">
                <c:v>0.0878398045610501</c:v>
              </c:pt>
              <c:pt idx="13">
                <c:v>0.0256229759264469</c:v>
              </c:pt>
            </c:numLit>
          </c:val>
        </c:ser>
        <c:ser>
          <c:idx val="9"/>
          <c:order val="9"/>
          <c:tx>
            <c:v>Hemera</c:v>
          </c:tx>
          <c:spPr>
            <a:solidFill>
              <a:srgbClr val="30353A"/>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showLegendKey val="0"/>
              <c:showVal val="0"/>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0.0407324745725011</c:v>
              </c:pt>
              <c:pt idx="1">
                <c:v>0.0052736633265841</c:v>
              </c:pt>
              <c:pt idx="2">
                <c:v>0.0543763088929269</c:v>
              </c:pt>
              <c:pt idx="3">
                <c:v>0.006670926137507</c:v>
              </c:pt>
              <c:pt idx="4">
                <c:v>0</c:v>
              </c:pt>
              <c:pt idx="5">
                <c:v>0.0163428047472977</c:v>
              </c:pt>
              <c:pt idx="6">
                <c:v>0.0026085934051519</c:v>
              </c:pt>
              <c:pt idx="7">
                <c:v>0.041430326101634</c:v>
              </c:pt>
              <c:pt idx="8">
                <c:v>0.0646612509279826</c:v>
              </c:pt>
              <c:pt idx="9">
                <c:v>0</c:v>
              </c:pt>
              <c:pt idx="10">
                <c:v>0.088274982113552</c:v>
              </c:pt>
              <c:pt idx="11">
                <c:v>0.0002506895357074</c:v>
              </c:pt>
              <c:pt idx="12">
                <c:v>0.0006624396052901</c:v>
              </c:pt>
              <c:pt idx="13">
                <c:v>0.0265752299531593</c:v>
              </c:pt>
            </c:numLit>
          </c:val>
        </c:ser>
        <c:ser>
          <c:idx val="10"/>
          <c:order val="10"/>
          <c:tx>
            <c:v>Outros identificados</c:v>
          </c:tx>
          <c:spPr>
            <a:solidFill>
              <a:srgbClr val="D7DADD"/>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0.188336941366163</c:v>
              </c:pt>
              <c:pt idx="1">
                <c:v>0.1786693066876506</c:v>
              </c:pt>
              <c:pt idx="2">
                <c:v>0.1217412105220637</c:v>
              </c:pt>
              <c:pt idx="3">
                <c:v>0.0646548691339009</c:v>
              </c:pt>
              <c:pt idx="4">
                <c:v>0.3650060218993778</c:v>
              </c:pt>
              <c:pt idx="5">
                <c:v>0.2518978769172617</c:v>
              </c:pt>
              <c:pt idx="6">
                <c:v>0.4796422511001229</c:v>
              </c:pt>
              <c:pt idx="7">
                <c:v>0.2466092951847047</c:v>
              </c:pt>
              <c:pt idx="8">
                <c:v>0.2655837740268318</c:v>
              </c:pt>
              <c:pt idx="9">
                <c:v>0.1411084314958586</c:v>
              </c:pt>
              <c:pt idx="10">
                <c:v>0.2848443838437823</c:v>
              </c:pt>
              <c:pt idx="11">
                <c:v>0.6847170379852451</c:v>
              </c:pt>
              <c:pt idx="12">
                <c:v>0.286555225457034</c:v>
              </c:pt>
              <c:pt idx="13">
                <c:v>0.3859616853035125</c:v>
              </c:pt>
            </c:numLit>
          </c:val>
        </c:ser>
        <c:ser>
          <c:idx val="11"/>
          <c:order val="11"/>
          <c:tx>
            <c:v>Prestador não informado</c:v>
          </c:tx>
          <c:spPr>
            <a:solidFill>
              <a:srgbClr val="F5F6F7"/>
            </a:solidFill>
          </c:spPr>
          <c:dLbls>
            <c:dLbl>
              <c:idx val="0"/>
              <c:showLegendKey val="0"/>
              <c:showVal val="0"/>
              <c:showCatName val="0"/>
              <c:showSerName val="0"/>
              <c:showPercent val="0"/>
              <c:showBubbleSize val="0"/>
            </c:dLbl>
            <c:dLbl>
              <c:idx val="1"/>
              <c:showLegendKey val="0"/>
              <c:showVal val="0"/>
              <c:showCatName val="0"/>
              <c:showSerName val="0"/>
              <c:showPercent val="0"/>
              <c:showBubbleSize val="0"/>
            </c:dLbl>
            <c:dLbl>
              <c:idx val="2"/>
              <c:showLegendKey val="0"/>
              <c:showVal val="0"/>
              <c:showCatName val="0"/>
              <c:showSerName val="0"/>
              <c:showPercent val="0"/>
              <c:showBubbleSize val="0"/>
            </c:dLbl>
            <c:dLbl>
              <c:idx val="3"/>
              <c:showLegendKey val="0"/>
              <c:showVal val="0"/>
              <c:showCatName val="0"/>
              <c:showSerName val="0"/>
              <c:showPercent val="0"/>
              <c:showBubbleSize val="0"/>
            </c:dLbl>
            <c:dLbl>
              <c:idx val="4"/>
              <c:showLegendKey val="0"/>
              <c:showVal val="0"/>
              <c:showCatName val="0"/>
              <c:showSerName val="0"/>
              <c:showPercent val="0"/>
              <c:showBubbleSize val="0"/>
            </c:dLbl>
            <c:dLbl>
              <c:idx val="5"/>
              <c:showLegendKey val="0"/>
              <c:showVal val="0"/>
              <c:showCatName val="0"/>
              <c:showSerName val="0"/>
              <c:showPercent val="0"/>
              <c:showBubbleSize val="0"/>
            </c:dLbl>
            <c:dLbl>
              <c:idx val="6"/>
              <c:showLegendKey val="0"/>
              <c:showVal val="0"/>
              <c:showCatName val="0"/>
              <c:showSerName val="0"/>
              <c:showPercent val="0"/>
              <c:showBubbleSize val="0"/>
            </c:dLbl>
            <c:dLbl>
              <c:idx val="7"/>
              <c:showLegendKey val="0"/>
              <c:showVal val="0"/>
              <c:showCatName val="0"/>
              <c:showSerName val="0"/>
              <c:showPercent val="0"/>
              <c:showBubbleSize val="0"/>
            </c:dLbl>
            <c:dLbl>
              <c:idx val="8"/>
              <c:showLegendKey val="0"/>
              <c:showVal val="0"/>
              <c:showCatName val="0"/>
              <c:showSerName val="0"/>
              <c:showPercent val="0"/>
              <c:showBubbleSize val="0"/>
            </c:dLbl>
            <c:dLbl>
              <c:idx val="9"/>
              <c:showLegendKey val="0"/>
              <c:showVal val="0"/>
              <c:showCatName val="0"/>
              <c:showSerName val="0"/>
              <c:showPercent val="0"/>
              <c:showBubbleSize val="0"/>
            </c:dLbl>
            <c:dLbl>
              <c:idx val="10"/>
              <c:showLegendKey val="0"/>
              <c:showVal val="0"/>
              <c:showCatName val="0"/>
              <c:showSerName val="0"/>
              <c:showPercent val="0"/>
              <c:showBubbleSize val="0"/>
            </c:dLbl>
            <c:dLbl>
              <c:idx val="11"/>
              <c:showLegendKey val="0"/>
              <c:showVal val="0"/>
              <c:showCatName val="0"/>
              <c:showSerName val="0"/>
              <c:showPercent val="0"/>
              <c:showBubbleSize val="0"/>
            </c:dLbl>
            <c:dLbl>
              <c:idx val="12"/>
              <c:showLegendKey val="0"/>
              <c:showVal val="0"/>
              <c:showCatName val="0"/>
              <c:showSerName val="0"/>
              <c:showPercent val="0"/>
              <c:showBubbleSize val="0"/>
            </c:dLbl>
            <c:dLbl>
              <c:idx val="13"/>
              <c:showLegendKey val="0"/>
              <c:showVal val="0"/>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c:v>
              </c:pt>
              <c:pt idx="1">
                <c:v>0</c:v>
              </c:pt>
              <c:pt idx="2">
                <c:v>0</c:v>
              </c:pt>
              <c:pt idx="3">
                <c:v>0</c:v>
              </c:pt>
              <c:pt idx="4">
                <c:v>0</c:v>
              </c:pt>
              <c:pt idx="5">
                <c:v>0</c:v>
              </c:pt>
              <c:pt idx="6">
                <c:v>0</c:v>
              </c:pt>
              <c:pt idx="7">
                <c:v>0</c:v>
              </c:pt>
              <c:pt idx="8">
                <c:v>0</c:v>
              </c:pt>
              <c:pt idx="9">
                <c:v>0</c:v>
              </c:pt>
              <c:pt idx="10">
                <c:v>0</c:v>
              </c:pt>
              <c:pt idx="11">
                <c:v>0</c:v>
              </c:pt>
              <c:pt idx="12">
                <c:v>0</c:v>
              </c:pt>
              <c:pt idx="13">
                <c:v>0</c:v>
              </c:pt>
            </c:numLit>
          </c:val>
        </c:ser>
        <c:dLbls>
          <c:spPr>
            <a:noFill/>
            <a:ln w="0">
              <a:noFill/>
              <a:prstDash val="solid"/>
            </a:ln>
          </c:spPr>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showLeaderLines val="0"/>
        </c:dLbls>
        <c:gapWidth val="32"/>
        <c:overlap val="100"/>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713">
                <a:solidFill>
                  <a:srgbClr val="73787D"/>
                </a:solidFill>
              </a:defRPr>
            </a:pPr>
          </a:p>
        </c:txPr>
        <c:crossAx val="48672768"/>
        <c:lblAlgn val="ctr"/>
        <c:lblOffset val="100"/>
        <c:noMultiLvlLbl val="0"/>
      </c:catAx>
      <c:valAx>
        <c:axId val="48672768"/>
        <c:scaling>
          <c:orientation val="minMax"/>
          <c:max val="1"/>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750">
                <a:solidFill>
                  <a:srgbClr val="8D9399"/>
                </a:solidFill>
              </a:defRPr>
            </a:pPr>
          </a:p>
        </c:txPr>
        <c:crossAx val="48650112"/>
        <c:crossBetween val="between"/>
        <c:majorUnit val="0.25"/>
      </c:valAx>
      <c:spPr>
        <a:noFill/>
        <a:ln w="0">
          <a:noFill/>
          <a:prstDash val="solid"/>
        </a:ln>
      </c:spPr>
    </c:plotArea>
    <c:legend>
      <c:legendPos val="b"/>
      <c:overlay val="0"/>
      <c:txPr>
        <a:bodyPr anchorCtr="1"/>
        <a:lstStyle/>
        <a:p>
          <a:pPr>
            <a:defRPr sz="638">
              <a:solidFill>
                <a:srgbClr val="73787D"/>
              </a:solidFill>
            </a:defRPr>
          </a:pPr>
        </a:p>
      </c:txPr>
    </c:legend>
    <c:plotVisOnly val="1"/>
  </c:chart>
  <c:spPr>
    <a:noFill/>
    <a:ln w="0">
      <a:noFill/>
      <a:prstDash val="solid"/>
    </a:ln>
  </c:spPr>
</c:chartSpace>
</file>

<file path=ppt/slides/charts/chart61.xml><?xml version="1.0" encoding="utf-8"?>
<c:chartSpace xmlns:a="http://schemas.openxmlformats.org/drawingml/2006/main" xmlns:c="http://schemas.openxmlformats.org/drawingml/2006/chart">
  <c:lang val="pt-BR"/>
  <c:chart>
    <c:plotArea>
      <c:barChart>
        <c:barDir val="col"/>
        <c:grouping val="percentStacked"/>
        <c:varyColors val="0"/>
        <c:ser>
          <c:idx val="0"/>
          <c:order val="0"/>
          <c:tx>
            <c:v>BTG Pactual</c:v>
          </c:tx>
          <c:spPr>
            <a:solidFill>
              <a:srgbClr val="1D4080"/>
            </a:solidFill>
          </c:spPr>
          <c:dLbls>
            <c:dLbl>
              <c:idx val="0"/>
              <c:layout>
                <c:manualLayout>
                  <c:x val="-0.018"/>
                  <c:y val="0.0193737350047"/>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showLegendKey val="0"/>
              <c:showVal val="0"/>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showLegendKey val="0"/>
              <c:showVal val="0"/>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layout>
                <c:manualLayout>
                  <c:x val="-0.018"/>
                  <c:y val="0.0143608569106"/>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layout>
                <c:manualLayout>
                  <c:x val="-0.018"/>
                  <c:y val="0.0175534009999"/>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0.0012525299906187</c:v>
              </c:pt>
              <c:pt idx="1">
                <c:v>0</c:v>
              </c:pt>
              <c:pt idx="2">
                <c:v>0.3233036682243127</c:v>
              </c:pt>
              <c:pt idx="3">
                <c:v>0.2758716420451991</c:v>
              </c:pt>
              <c:pt idx="4">
                <c:v>0</c:v>
              </c:pt>
              <c:pt idx="5">
                <c:v>0.0462427868594103</c:v>
              </c:pt>
              <c:pt idx="6">
                <c:v>0</c:v>
              </c:pt>
              <c:pt idx="7">
                <c:v>0.2535264495160129</c:v>
              </c:pt>
              <c:pt idx="8">
                <c:v>0.1537184307008739</c:v>
              </c:pt>
              <c:pt idx="9">
                <c:v>0.0112782861788371</c:v>
              </c:pt>
              <c:pt idx="10">
                <c:v>0.0314890119720234</c:v>
              </c:pt>
              <c:pt idx="11">
                <c:v>0.0048931980001534</c:v>
              </c:pt>
              <c:pt idx="12">
                <c:v>0.0726718301479003</c:v>
              </c:pt>
              <c:pt idx="13">
                <c:v>0.0500957774921574</c:v>
              </c:pt>
            </c:numLit>
          </c:val>
        </c:ser>
        <c:ser>
          <c:idx val="1"/>
          <c:order val="1"/>
          <c:tx>
            <c:v>Bradesco</c:v>
          </c:tx>
          <c:spPr>
            <a:solidFill>
              <a:srgbClr val="73787D"/>
            </a:solidFill>
          </c:spPr>
          <c:dLbls>
            <c:dLbl>
              <c:idx val="0"/>
              <c:layout>
                <c:manualLayout>
                  <c:x val="0"/>
                  <c:y val="0.00747831623144"/>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showLegendKey val="0"/>
              <c:showVal val="0"/>
              <c:showCatName val="0"/>
              <c:showSerName val="0"/>
              <c:showPercent val="0"/>
              <c:showBubbleSize val="0"/>
            </c:dLbl>
            <c:dLbl>
              <c:idx val="2"/>
              <c:showLegendKey val="0"/>
              <c:showVal val="0"/>
              <c:showCatName val="0"/>
              <c:showSerName val="0"/>
              <c:showPercent val="0"/>
              <c:showBubbleSize val="0"/>
            </c:dLbl>
            <c:dLbl>
              <c:idx val="3"/>
              <c:showLegendKey val="0"/>
              <c:showVal val="0"/>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showLegendKey val="0"/>
              <c:showVal val="0"/>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showLegendKey val="0"/>
              <c:showVal val="0"/>
              <c:showCatName val="0"/>
              <c:showSerName val="0"/>
              <c:showPercent val="0"/>
              <c:showBubbleSize val="0"/>
            </c:dLbl>
            <c:dLbl>
              <c:idx val="9"/>
              <c:showLegendKey val="0"/>
              <c:showVal val="0"/>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showLegendKey val="0"/>
              <c:showVal val="0"/>
              <c:showCatName val="0"/>
              <c:showSerName val="0"/>
              <c:showPercent val="0"/>
              <c:showBubbleSize val="0"/>
            </c:dLbl>
            <c:dLbl>
              <c:idx val="12"/>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0.0225383075558926</c:v>
              </c:pt>
              <c:pt idx="1">
                <c:v>0</c:v>
              </c:pt>
              <c:pt idx="2">
                <c:v>0</c:v>
              </c:pt>
              <c:pt idx="3">
                <c:v>0</c:v>
              </c:pt>
              <c:pt idx="4">
                <c:v>0.4116196761376808</c:v>
              </c:pt>
              <c:pt idx="5">
                <c:v>0.1379781899976271</c:v>
              </c:pt>
              <c:pt idx="6">
                <c:v>0</c:v>
              </c:pt>
              <c:pt idx="7">
                <c:v>0.0909821352025632</c:v>
              </c:pt>
              <c:pt idx="8">
                <c:v>0</c:v>
              </c:pt>
              <c:pt idx="9">
                <c:v>0</c:v>
              </c:pt>
              <c:pt idx="10">
                <c:v>0.0295771875973997</c:v>
              </c:pt>
              <c:pt idx="11">
                <c:v>0</c:v>
              </c:pt>
              <c:pt idx="12">
                <c:v>0.0089665861260677</c:v>
              </c:pt>
              <c:pt idx="13">
                <c:v>0.0469523725398685</c:v>
              </c:pt>
            </c:numLit>
          </c:val>
        </c:ser>
        <c:ser>
          <c:idx val="2"/>
          <c:order val="2"/>
          <c:tx>
            <c:v>Oliveira Trust</c:v>
          </c:tx>
          <c:spPr>
            <a:solidFill>
              <a:srgbClr val="7A1F3D"/>
            </a:solidFill>
          </c:spPr>
          <c:dLbls>
            <c:dLbl>
              <c:idx val="0"/>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layout>
                <c:manualLayout>
                  <c:x val="0"/>
                  <c:y val="0.00724335691682"/>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showLegendKey val="0"/>
              <c:showVal val="0"/>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0.0007064267423984</c:v>
              </c:pt>
              <c:pt idx="1">
                <c:v>0.0399878754183617</c:v>
              </c:pt>
              <c:pt idx="2">
                <c:v>0.2251967686157905</c:v>
              </c:pt>
              <c:pt idx="3">
                <c:v>0.1937323312865176</c:v>
              </c:pt>
              <c:pt idx="4">
                <c:v>0</c:v>
              </c:pt>
              <c:pt idx="5">
                <c:v>0.0481316360628852</c:v>
              </c:pt>
              <c:pt idx="6">
                <c:v>0.126791509057339</c:v>
              </c:pt>
              <c:pt idx="7">
                <c:v>0.0510761668947442</c:v>
              </c:pt>
              <c:pt idx="8">
                <c:v>0.046663448988578</c:v>
              </c:pt>
              <c:pt idx="9">
                <c:v>0.0029567138086895</c:v>
              </c:pt>
              <c:pt idx="10">
                <c:v>0.0090278528000783</c:v>
              </c:pt>
              <c:pt idx="11">
                <c:v>0</c:v>
              </c:pt>
              <c:pt idx="12">
                <c:v>0.0319409306110538</c:v>
              </c:pt>
              <c:pt idx="13">
                <c:v>0.0019669412013587</c:v>
              </c:pt>
            </c:numLit>
          </c:val>
        </c:ser>
        <c:ser>
          <c:idx val="3"/>
          <c:order val="3"/>
          <c:tx>
            <c:v>Genial</c:v>
          </c:tx>
          <c:spPr>
            <a:solidFill>
              <a:srgbClr val="6EC5E9"/>
            </a:solidFill>
          </c:spPr>
          <c:dLbls>
            <c:dLbl>
              <c:idx val="0"/>
              <c:showLegendKey val="0"/>
              <c:showVal val="0"/>
              <c:showCatName val="0"/>
              <c:showSerName val="0"/>
              <c:showPercent val="0"/>
              <c:showBubbleSize val="0"/>
            </c:dLbl>
            <c:dLbl>
              <c:idx val="1"/>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showLegendKey val="0"/>
              <c:showVal val="0"/>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showLegendKey val="0"/>
              <c:showVal val="0"/>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layout>
                <c:manualLayout>
                  <c:x val="0.018"/>
                  <c:y val="0.00303985273864"/>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showLegendKey val="0"/>
              <c:showVal val="0"/>
              <c:showCatName val="0"/>
              <c:showSerName val="0"/>
              <c:showPercent val="0"/>
              <c:showBubbleSize val="0"/>
            </c:dLbl>
            <c:dLbl>
              <c:idx val="11"/>
              <c:showLegendKey val="0"/>
              <c:showVal val="0"/>
              <c:showCatName val="0"/>
              <c:showSerName val="0"/>
              <c:showPercent val="0"/>
              <c:showBubbleSize val="0"/>
            </c:dLbl>
            <c:dLbl>
              <c:idx val="12"/>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c:v>
              </c:pt>
              <c:pt idx="1">
                <c:v>0.0106586751100265</c:v>
              </c:pt>
              <c:pt idx="2">
                <c:v>0</c:v>
              </c:pt>
              <c:pt idx="3">
                <c:v>0.0942677758415833</c:v>
              </c:pt>
              <c:pt idx="4">
                <c:v>0</c:v>
              </c:pt>
              <c:pt idx="5">
                <c:v>0.1081333878129026</c:v>
              </c:pt>
              <c:pt idx="6">
                <c:v>0</c:v>
              </c:pt>
              <c:pt idx="7">
                <c:v>0.0733873168779346</c:v>
              </c:pt>
              <c:pt idx="8">
                <c:v>0.0001522837473257</c:v>
              </c:pt>
              <c:pt idx="9">
                <c:v>0.005450294547657</c:v>
              </c:pt>
              <c:pt idx="10">
                <c:v>0</c:v>
              </c:pt>
              <c:pt idx="11">
                <c:v>0</c:v>
              </c:pt>
              <c:pt idx="12">
                <c:v>0.0014030424128084</c:v>
              </c:pt>
              <c:pt idx="13">
                <c:v>0.0220612214253641</c:v>
              </c:pt>
            </c:numLit>
          </c:val>
        </c:ser>
        <c:ser>
          <c:idx val="4"/>
          <c:order val="4"/>
          <c:tx>
            <c:v>Tercon Investimentos</c:v>
          </c:tx>
          <c:spPr>
            <a:solidFill>
              <a:srgbClr val="8D9399"/>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showLegendKey val="0"/>
              <c:showVal val="0"/>
              <c:showCatName val="0"/>
              <c:showSerName val="0"/>
              <c:showPercent val="0"/>
              <c:showBubbleSize val="0"/>
            </c:dLbl>
            <c:dLbl>
              <c:idx val="2"/>
              <c:showLegendKey val="0"/>
              <c:showVal val="0"/>
              <c:showCatName val="0"/>
              <c:showSerName val="0"/>
              <c:showPercent val="0"/>
              <c:showBubbleSize val="0"/>
            </c:dLbl>
            <c:dLbl>
              <c:idx val="3"/>
              <c:showLegendKey val="0"/>
              <c:showVal val="0"/>
              <c:showCatName val="0"/>
              <c:showSerName val="0"/>
              <c:showPercent val="0"/>
              <c:showBubbleSize val="0"/>
            </c:dLbl>
            <c:dLbl>
              <c:idx val="4"/>
              <c:showLegendKey val="0"/>
              <c:showVal val="0"/>
              <c:showCatName val="0"/>
              <c:showSerName val="0"/>
              <c:showPercent val="0"/>
              <c:showBubbleSize val="0"/>
            </c:dLbl>
            <c:dLbl>
              <c:idx val="5"/>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showLegendKey val="0"/>
              <c:showVal val="0"/>
              <c:showCatName val="0"/>
              <c:showSerName val="0"/>
              <c:showPercent val="0"/>
              <c:showBubbleSize val="0"/>
            </c:dLbl>
            <c:dLbl>
              <c:idx val="7"/>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showLegendKey val="0"/>
              <c:showVal val="0"/>
              <c:showCatName val="0"/>
              <c:showSerName val="0"/>
              <c:showPercent val="0"/>
              <c:showBubbleSize val="0"/>
            </c:dLbl>
            <c:dLbl>
              <c:idx val="10"/>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showLegendKey val="0"/>
              <c:showVal val="0"/>
              <c:showCatName val="0"/>
              <c:showSerName val="0"/>
              <c:showPercent val="0"/>
              <c:showBubbleSize val="0"/>
            </c:dLbl>
            <c:dLbl>
              <c:idx val="12"/>
              <c:showLegendKey val="0"/>
              <c:showVal val="0"/>
              <c:showCatName val="0"/>
              <c:showSerName val="0"/>
              <c:showPercent val="0"/>
              <c:showBubbleSize val="0"/>
            </c:dLbl>
            <c:dLbl>
              <c:idx val="13"/>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0.2254820036895443</c:v>
              </c:pt>
              <c:pt idx="1">
                <c:v>0</c:v>
              </c:pt>
              <c:pt idx="2">
                <c:v>0</c:v>
              </c:pt>
              <c:pt idx="3">
                <c:v>0</c:v>
              </c:pt>
              <c:pt idx="4">
                <c:v>0</c:v>
              </c:pt>
              <c:pt idx="5">
                <c:v>0.0024475116853231</c:v>
              </c:pt>
              <c:pt idx="6">
                <c:v>0</c:v>
              </c:pt>
              <c:pt idx="7">
                <c:v>0.0044598510745928</c:v>
              </c:pt>
              <c:pt idx="8">
                <c:v>0.0089359813995084</c:v>
              </c:pt>
              <c:pt idx="9">
                <c:v>0</c:v>
              </c:pt>
              <c:pt idx="10">
                <c:v>0.0115869717776985</c:v>
              </c:pt>
              <c:pt idx="11">
                <c:v>0</c:v>
              </c:pt>
              <c:pt idx="12">
                <c:v>0</c:v>
              </c:pt>
              <c:pt idx="13">
                <c:v>0.006031214274127</c:v>
              </c:pt>
            </c:numLit>
          </c:val>
        </c:ser>
        <c:ser>
          <c:idx val="5"/>
          <c:order val="5"/>
          <c:tx>
            <c:v>Itaú</c:v>
          </c:tx>
          <c:spPr>
            <a:solidFill>
              <a:srgbClr val="FF5500"/>
            </a:solidFill>
          </c:spPr>
          <c:dLbls>
            <c:dLbl>
              <c:idx val="0"/>
              <c:showLegendKey val="0"/>
              <c:showVal val="0"/>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showLegendKey val="0"/>
              <c:showVal val="0"/>
              <c:showCatName val="0"/>
              <c:showSerName val="0"/>
              <c:showPercent val="0"/>
              <c:showBubbleSize val="0"/>
            </c:dLbl>
            <c:dLbl>
              <c:idx val="3"/>
              <c:showLegendKey val="0"/>
              <c:showVal val="0"/>
              <c:showCatName val="0"/>
              <c:showSerName val="0"/>
              <c:showPercent val="0"/>
              <c:showBubbleSize val="0"/>
            </c:dLbl>
            <c:dLbl>
              <c:idx val="4"/>
              <c:showLegendKey val="0"/>
              <c:showVal val="0"/>
              <c:showCatName val="0"/>
              <c:showSerName val="0"/>
              <c:showPercent val="0"/>
              <c:showBubbleSize val="0"/>
            </c:dLbl>
            <c:dLbl>
              <c:idx val="5"/>
              <c:showLegendKey val="0"/>
              <c:showVal val="0"/>
              <c:showCatName val="0"/>
              <c:showSerName val="0"/>
              <c:showPercent val="0"/>
              <c:showBubbleSize val="0"/>
            </c:dLbl>
            <c:dLbl>
              <c:idx val="6"/>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showLegendKey val="0"/>
              <c:showVal val="0"/>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showLegendKey val="0"/>
              <c:showVal val="0"/>
              <c:showCatName val="0"/>
              <c:showSerName val="0"/>
              <c:showPercent val="0"/>
              <c:showBubbleSize val="0"/>
            </c:dLbl>
            <c:dLbl>
              <c:idx val="11"/>
              <c:showLegendKey val="0"/>
              <c:showVal val="0"/>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c:v>
              </c:pt>
              <c:pt idx="1">
                <c:v>0.1028786530413462</c:v>
              </c:pt>
              <c:pt idx="2">
                <c:v>0</c:v>
              </c:pt>
              <c:pt idx="3">
                <c:v>0</c:v>
              </c:pt>
              <c:pt idx="4">
                <c:v>0</c:v>
              </c:pt>
              <c:pt idx="5">
                <c:v>0</c:v>
              </c:pt>
              <c:pt idx="6">
                <c:v>0.0810581734428378</c:v>
              </c:pt>
              <c:pt idx="7">
                <c:v>0.0171026340935401</c:v>
              </c:pt>
              <c:pt idx="8">
                <c:v>0</c:v>
              </c:pt>
              <c:pt idx="9">
                <c:v>0.1004163448849682</c:v>
              </c:pt>
              <c:pt idx="10">
                <c:v>0</c:v>
              </c:pt>
              <c:pt idx="11">
                <c:v>0</c:v>
              </c:pt>
              <c:pt idx="12">
                <c:v>0.0258977954276094</c:v>
              </c:pt>
              <c:pt idx="13">
                <c:v>0.0450847430474019</c:v>
              </c:pt>
            </c:numLit>
          </c:val>
        </c:ser>
        <c:ser>
          <c:idx val="6"/>
          <c:order val="6"/>
          <c:tx>
            <c:v>Solis Investimentos</c:v>
          </c:tx>
          <c:spPr>
            <a:solidFill>
              <a:srgbClr val="BEC2C5"/>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showLegendKey val="0"/>
              <c:showVal val="0"/>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showLegendKey val="0"/>
              <c:showVal val="0"/>
              <c:showCatName val="0"/>
              <c:showSerName val="0"/>
              <c:showPercent val="0"/>
              <c:showBubbleSize val="0"/>
            </c:dLbl>
            <c:dLbl>
              <c:idx val="7"/>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showLegendKey val="0"/>
              <c:showVal val="0"/>
              <c:showCatName val="0"/>
              <c:showSerName val="0"/>
              <c:showPercent val="0"/>
              <c:showBubbleSize val="0"/>
            </c:dLbl>
            <c:dLbl>
              <c:idx val="10"/>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layout>
                <c:manualLayout>
                  <c:x val="0"/>
                  <c:y val="0.014981457232"/>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0.0353488694975699</c:v>
              </c:pt>
              <c:pt idx="1">
                <c:v>0</c:v>
              </c:pt>
              <c:pt idx="2">
                <c:v>0.0588066657932295</c:v>
              </c:pt>
              <c:pt idx="3">
                <c:v>0.0213932153161958</c:v>
              </c:pt>
              <c:pt idx="4">
                <c:v>0</c:v>
              </c:pt>
              <c:pt idx="5">
                <c:v>0.0170236300688781</c:v>
              </c:pt>
              <c:pt idx="6">
                <c:v>0</c:v>
              </c:pt>
              <c:pt idx="7">
                <c:v>0.0103281819969092</c:v>
              </c:pt>
              <c:pt idx="8">
                <c:v>0.0471192664026394</c:v>
              </c:pt>
              <c:pt idx="9">
                <c:v>0</c:v>
              </c:pt>
              <c:pt idx="10">
                <c:v>0.0047678128094529</c:v>
              </c:pt>
              <c:pt idx="11">
                <c:v>0.0002506895357074</c:v>
              </c:pt>
              <c:pt idx="12">
                <c:v>0.0006624396052901</c:v>
              </c:pt>
              <c:pt idx="13">
                <c:v>0.0205891110813994</c:v>
              </c:pt>
            </c:numLit>
          </c:val>
        </c:ser>
        <c:ser>
          <c:idx val="7"/>
          <c:order val="7"/>
          <c:tx>
            <c:v>XP</c:v>
          </c:tx>
          <c:spPr>
            <a:solidFill>
              <a:srgbClr val="73787D"/>
            </a:solidFill>
          </c:spPr>
          <c:dLbls>
            <c:dLbl>
              <c:idx val="0"/>
              <c:showLegendKey val="0"/>
              <c:showVal val="0"/>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showLegendKey val="0"/>
              <c:showVal val="0"/>
              <c:showCatName val="0"/>
              <c:showSerName val="0"/>
              <c:showPercent val="0"/>
              <c:showBubbleSize val="0"/>
            </c:dLbl>
            <c:dLbl>
              <c:idx val="3"/>
              <c:showLegendKey val="0"/>
              <c:showVal val="0"/>
              <c:showCatName val="0"/>
              <c:showSerName val="0"/>
              <c:showPercent val="0"/>
              <c:showBubbleSize val="0"/>
            </c:dLbl>
            <c:dLbl>
              <c:idx val="4"/>
              <c:showLegendKey val="0"/>
              <c:showVal val="0"/>
              <c:showCatName val="0"/>
              <c:showSerName val="0"/>
              <c:showPercent val="0"/>
              <c:showBubbleSize val="0"/>
            </c:dLbl>
            <c:dLbl>
              <c:idx val="5"/>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showLegendKey val="0"/>
              <c:showVal val="0"/>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showLegendKey val="0"/>
              <c:showVal val="0"/>
              <c:showCatName val="0"/>
              <c:showSerName val="0"/>
              <c:showPercent val="0"/>
              <c:showBubbleSize val="0"/>
            </c:dLbl>
            <c:dLbl>
              <c:idx val="9"/>
              <c:showLegendKey val="0"/>
              <c:showVal val="0"/>
              <c:showCatName val="0"/>
              <c:showSerName val="0"/>
              <c:showPercent val="0"/>
              <c:showBubbleSize val="0"/>
            </c:dLbl>
            <c:dLbl>
              <c:idx val="10"/>
              <c:layout>
                <c:manualLayout>
                  <c:x val="-0.018"/>
                  <c:y val="0.00856577202741"/>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showLegendKey val="0"/>
              <c:showVal val="0"/>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c:v>
              </c:pt>
              <c:pt idx="1">
                <c:v>0.0888616776787807</c:v>
              </c:pt>
              <c:pt idx="2">
                <c:v>0</c:v>
              </c:pt>
              <c:pt idx="3">
                <c:v>0</c:v>
              </c:pt>
              <c:pt idx="4">
                <c:v>0</c:v>
              </c:pt>
              <c:pt idx="5">
                <c:v>0.0070214132164745</c:v>
              </c:pt>
              <c:pt idx="6">
                <c:v>0</c:v>
              </c:pt>
              <c:pt idx="7">
                <c:v>0.0921407401194705</c:v>
              </c:pt>
              <c:pt idx="8">
                <c:v>0</c:v>
              </c:pt>
              <c:pt idx="9">
                <c:v>0</c:v>
              </c:pt>
              <c:pt idx="10">
                <c:v>0.0111310339707986</c:v>
              </c:pt>
              <c:pt idx="11">
                <c:v>0</c:v>
              </c:pt>
              <c:pt idx="12">
                <c:v>0.0642625485190267</c:v>
              </c:pt>
              <c:pt idx="13">
                <c:v>0.0124160176066826</c:v>
              </c:pt>
            </c:numLit>
          </c:val>
        </c:ser>
        <c:ser>
          <c:idx val="8"/>
          <c:order val="8"/>
          <c:tx>
            <c:v>Integral Investimentos</c:v>
          </c:tx>
          <c:spPr>
            <a:solidFill>
              <a:srgbClr val="A7ACB0"/>
            </a:solidFill>
          </c:spPr>
          <c:dLbls>
            <c:dLbl>
              <c:idx val="0"/>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showLegendKey val="0"/>
              <c:showVal val="0"/>
              <c:showCatName val="0"/>
              <c:showSerName val="0"/>
              <c:showPercent val="0"/>
              <c:showBubbleSize val="0"/>
            </c:dLbl>
            <c:dLbl>
              <c:idx val="2"/>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layout>
                <c:manualLayout>
                  <c:x val="-0.018"/>
                  <c:y val="0.00637921492998"/>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showLegendKey val="0"/>
              <c:showVal val="0"/>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showLegendKey val="0"/>
              <c:showVal val="0"/>
              <c:showCatName val="0"/>
              <c:showSerName val="0"/>
              <c:showPercent val="0"/>
              <c:showBubbleSize val="0"/>
            </c:dLbl>
            <c:dLbl>
              <c:idx val="10"/>
              <c:showLegendKey val="0"/>
              <c:showVal val="0"/>
              <c:showCatName val="0"/>
              <c:showSerName val="0"/>
              <c:showPercent val="0"/>
              <c:showBubbleSize val="0"/>
            </c:dLbl>
            <c:dLbl>
              <c:idx val="11"/>
              <c:showLegendKey val="0"/>
              <c:showVal val="0"/>
              <c:showCatName val="0"/>
              <c:showSerName val="0"/>
              <c:showPercent val="0"/>
              <c:showBubbleSize val="0"/>
            </c:dLbl>
            <c:dLbl>
              <c:idx val="12"/>
              <c:showLegendKey val="0"/>
              <c:showVal val="0"/>
              <c:showCatName val="0"/>
              <c:showSerName val="0"/>
              <c:showPercent val="0"/>
              <c:showBubbleSize val="0"/>
            </c:dLbl>
            <c:dLbl>
              <c:idx val="13"/>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0.0058311829957581</c:v>
              </c:pt>
              <c:pt idx="1">
                <c:v>0</c:v>
              </c:pt>
              <c:pt idx="2">
                <c:v>0.0059850887644436</c:v>
              </c:pt>
              <c:pt idx="3">
                <c:v>0.0020264986777547</c:v>
              </c:pt>
              <c:pt idx="4">
                <c:v>0.3970784801516897</c:v>
              </c:pt>
              <c:pt idx="5">
                <c:v>0.0067039718840054</c:v>
              </c:pt>
              <c:pt idx="6">
                <c:v>0</c:v>
              </c:pt>
              <c:pt idx="7">
                <c:v>0.072361729110744</c:v>
              </c:pt>
              <c:pt idx="8">
                <c:v>0.0559076995390602</c:v>
              </c:pt>
              <c:pt idx="9">
                <c:v>0</c:v>
              </c:pt>
              <c:pt idx="10">
                <c:v>0</c:v>
              </c:pt>
              <c:pt idx="11">
                <c:v>0</c:v>
              </c:pt>
              <c:pt idx="12">
                <c:v>0</c:v>
              </c:pt>
              <c:pt idx="13">
                <c:v>0.0056678347405107</c:v>
              </c:pt>
            </c:numLit>
          </c:val>
        </c:ser>
        <c:ser>
          <c:idx val="9"/>
          <c:order val="9"/>
          <c:tx>
            <c:v>Anga Administracao De Recursos</c:v>
          </c:tx>
          <c:spPr>
            <a:solidFill>
              <a:srgbClr val="454A4F"/>
            </a:solidFill>
          </c:spPr>
          <c:dLbls>
            <c:dLbl>
              <c:idx val="0"/>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showLegendKey val="0"/>
              <c:showVal val="0"/>
              <c:showCatName val="0"/>
              <c:showSerName val="0"/>
              <c:showPercent val="0"/>
              <c:showBubbleSize val="0"/>
            </c:dLbl>
            <c:dLbl>
              <c:idx val="2"/>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showLegendKey val="0"/>
              <c:showVal val="0"/>
              <c:showCatName val="0"/>
              <c:showSerName val="0"/>
              <c:showPercent val="0"/>
              <c:showBubbleSize val="0"/>
            </c:dLbl>
            <c:dLbl>
              <c:idx val="7"/>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showLegendKey val="0"/>
              <c:showVal val="0"/>
              <c:showCatName val="0"/>
              <c:showSerName val="0"/>
              <c:showPercent val="0"/>
              <c:showBubbleSize val="0"/>
            </c:dLbl>
            <c:dLbl>
              <c:idx val="9"/>
              <c:showLegendKey val="0"/>
              <c:showVal val="0"/>
              <c:showCatName val="0"/>
              <c:showSerName val="0"/>
              <c:showPercent val="0"/>
              <c:showBubbleSize val="0"/>
            </c:dLbl>
            <c:dLbl>
              <c:idx val="10"/>
              <c:showLegendKey val="0"/>
              <c:showVal val="0"/>
              <c:showCatName val="0"/>
              <c:showSerName val="0"/>
              <c:showPercent val="0"/>
              <c:showBubbleSize val="0"/>
            </c:dLbl>
            <c:dLbl>
              <c:idx val="11"/>
              <c:showLegendKey val="0"/>
              <c:showVal val="0"/>
              <c:showCatName val="0"/>
              <c:showSerName val="0"/>
              <c:showPercent val="0"/>
              <c:showBubbleSize val="0"/>
            </c:dLbl>
            <c:dLbl>
              <c:idx val="12"/>
              <c:showLegendKey val="0"/>
              <c:showVal val="0"/>
              <c:showCatName val="0"/>
              <c:showSerName val="0"/>
              <c:showPercent val="0"/>
              <c:showBubbleSize val="0"/>
            </c:dLbl>
            <c:dLbl>
              <c:idx val="13"/>
              <c:layout>
                <c:manualLayout>
                  <c:x val="-0.018"/>
                  <c:y val="0.00253723648458"/>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0.0031211412936085</c:v>
              </c:pt>
              <c:pt idx="1">
                <c:v>0</c:v>
              </c:pt>
              <c:pt idx="2">
                <c:v>0.0090591090265077</c:v>
              </c:pt>
              <c:pt idx="3">
                <c:v>0.0996900292425515</c:v>
              </c:pt>
              <c:pt idx="4">
                <c:v>0.0012378025558711</c:v>
              </c:pt>
              <c:pt idx="5">
                <c:v>0.0644142962449783</c:v>
              </c:pt>
              <c:pt idx="6">
                <c:v>0</c:v>
              </c:pt>
              <c:pt idx="7">
                <c:v>0.0018544989739266</c:v>
              </c:pt>
              <c:pt idx="8">
                <c:v>0</c:v>
              </c:pt>
              <c:pt idx="9">
                <c:v>0</c:v>
              </c:pt>
              <c:pt idx="10">
                <c:v>0</c:v>
              </c:pt>
              <c:pt idx="11">
                <c:v>0</c:v>
              </c:pt>
              <c:pt idx="12">
                <c:v>0</c:v>
              </c:pt>
              <c:pt idx="13">
                <c:v>0.0081687112550485</c:v>
              </c:pt>
            </c:numLit>
          </c:val>
        </c:ser>
        <c:ser>
          <c:idx val="10"/>
          <c:order val="10"/>
          <c:tx>
            <c:v>Outros identificados</c:v>
          </c:tx>
          <c:spPr>
            <a:solidFill>
              <a:srgbClr val="D7DADD"/>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0.7049428932208924</c:v>
              </c:pt>
              <c:pt idx="1">
                <c:v>0.7576131187514845</c:v>
              </c:pt>
              <c:pt idx="2">
                <c:v>0.3775980887540289</c:v>
              </c:pt>
              <c:pt idx="3">
                <c:v>0.3130185075901977</c:v>
              </c:pt>
              <c:pt idx="4">
                <c:v>0.190064041154758</c:v>
              </c:pt>
              <c:pt idx="5">
                <c:v>0.5619031761675151</c:v>
              </c:pt>
              <c:pt idx="6">
                <c:v>0.7921503174998235</c:v>
              </c:pt>
              <c:pt idx="7">
                <c:v>0.3287800173132373</c:v>
              </c:pt>
              <c:pt idx="8">
                <c:v>0.6875028892220143</c:v>
              </c:pt>
              <c:pt idx="9">
                <c:v>0.803030339883502</c:v>
              </c:pt>
              <c:pt idx="10">
                <c:v>0.9024201290725482</c:v>
              </c:pt>
              <c:pt idx="11">
                <c:v>0.9948561124641392</c:v>
              </c:pt>
              <c:pt idx="12">
                <c:v>0.7941948271502433</c:v>
              </c:pt>
              <c:pt idx="13">
                <c:v>0.7803731753534665</c:v>
              </c:pt>
            </c:numLit>
          </c:val>
        </c:ser>
        <c:ser>
          <c:idx val="11"/>
          <c:order val="11"/>
          <c:tx>
            <c:v>Prestador não informado</c:v>
          </c:tx>
          <c:spPr>
            <a:solidFill>
              <a:srgbClr val="F5F6F7"/>
            </a:solidFill>
          </c:spPr>
          <c:dLbls>
            <c:dLbl>
              <c:idx val="0"/>
              <c:layout>
                <c:manualLayout>
                  <c:x val="0.018"/>
                  <c:y val="-0.0196116774931"/>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showLegendKey val="0"/>
              <c:showVal val="0"/>
              <c:showCatName val="0"/>
              <c:showSerName val="0"/>
              <c:showPercent val="0"/>
              <c:showBubbleSize val="0"/>
            </c:dLbl>
            <c:dLbl>
              <c:idx val="2"/>
              <c:layout>
                <c:manualLayout>
                  <c:x val="0.018"/>
                  <c:y val="-0.0199746945892"/>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showLegendKey val="0"/>
              <c:showVal val="0"/>
              <c:showCatName val="0"/>
              <c:showSerName val="0"/>
              <c:showPercent val="0"/>
              <c:showBubbleSize val="0"/>
            </c:dLbl>
            <c:dLbl>
              <c:idx val="4"/>
              <c:showLegendKey val="0"/>
              <c:showVal val="0"/>
              <c:showCatName val="0"/>
              <c:showSerName val="0"/>
              <c:showPercent val="0"/>
              <c:showBubbleSize val="0"/>
            </c:dLbl>
            <c:dLbl>
              <c:idx val="5"/>
              <c:showLegendKey val="0"/>
              <c:showVal val="0"/>
              <c:showCatName val="0"/>
              <c:showSerName val="0"/>
              <c:showPercent val="0"/>
              <c:showBubbleSize val="0"/>
            </c:dLbl>
            <c:dLbl>
              <c:idx val="6"/>
              <c:showLegendKey val="0"/>
              <c:showVal val="0"/>
              <c:showCatName val="0"/>
              <c:showSerName val="0"/>
              <c:showPercent val="0"/>
              <c:showBubbleSize val="0"/>
            </c:dLbl>
            <c:dLbl>
              <c:idx val="7"/>
              <c:layout>
                <c:manualLayout>
                  <c:x val="0"/>
                  <c:y val="-0.0179998605868"/>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showLegendKey val="0"/>
              <c:showVal val="0"/>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showLegendKey val="0"/>
              <c:showVal val="0"/>
              <c:showCatName val="0"/>
              <c:showSerName val="0"/>
              <c:showPercent val="0"/>
              <c:showBubbleSize val="0"/>
            </c:dLbl>
            <c:dLbl>
              <c:idx val="11"/>
              <c:showLegendKey val="0"/>
              <c:showVal val="0"/>
              <c:showCatName val="0"/>
              <c:showSerName val="0"/>
              <c:showPercent val="0"/>
              <c:showBubbleSize val="0"/>
            </c:dLbl>
            <c:dLbl>
              <c:idx val="12"/>
              <c:showLegendKey val="0"/>
              <c:showVal val="0"/>
              <c:showCatName val="0"/>
              <c:showSerName val="0"/>
              <c:showPercent val="0"/>
              <c:showBubbleSize val="0"/>
            </c:dLbl>
            <c:dLbl>
              <c:idx val="13"/>
              <c:layout>
                <c:manualLayout>
                  <c:x val="0"/>
                  <c:y val="-0.0197035600087"/>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0.0007766450137169</c:v>
              </c:pt>
              <c:pt idx="1">
                <c:v>0</c:v>
              </c:pt>
              <c:pt idx="2">
                <c:v>5.061082168693914E-05</c:v>
              </c:pt>
              <c:pt idx="3">
                <c:v>0</c:v>
              </c:pt>
              <c:pt idx="4">
                <c:v>0</c:v>
              </c:pt>
              <c:pt idx="5">
                <c:v>0</c:v>
              </c:pt>
              <c:pt idx="6">
                <c:v>0</c:v>
              </c:pt>
              <c:pt idx="7">
                <c:v>0.0040002788263241</c:v>
              </c:pt>
              <c:pt idx="8">
                <c:v>0</c:v>
              </c:pt>
              <c:pt idx="9">
                <c:v>0.076868020696346</c:v>
              </c:pt>
              <c:pt idx="10">
                <c:v>0</c:v>
              </c:pt>
              <c:pt idx="11">
                <c:v>0</c:v>
              </c:pt>
              <c:pt idx="12">
                <c:v>0</c:v>
              </c:pt>
              <c:pt idx="13">
                <c:v>0.0005928799826141</c:v>
              </c:pt>
            </c:numLit>
          </c:val>
        </c:ser>
        <c:dLbls>
          <c:spPr>
            <a:noFill/>
            <a:ln w="0">
              <a:noFill/>
              <a:prstDash val="solid"/>
            </a:ln>
          </c:spPr>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showLeaderLines val="0"/>
        </c:dLbls>
        <c:gapWidth val="32"/>
        <c:overlap val="100"/>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713">
                <a:solidFill>
                  <a:srgbClr val="73787D"/>
                </a:solidFill>
              </a:defRPr>
            </a:pPr>
          </a:p>
        </c:txPr>
        <c:crossAx val="48672768"/>
        <c:lblAlgn val="ctr"/>
        <c:lblOffset val="100"/>
        <c:noMultiLvlLbl val="0"/>
      </c:catAx>
      <c:valAx>
        <c:axId val="48672768"/>
        <c:scaling>
          <c:orientation val="minMax"/>
          <c:max val="1"/>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750">
                <a:solidFill>
                  <a:srgbClr val="8D9399"/>
                </a:solidFill>
              </a:defRPr>
            </a:pPr>
          </a:p>
        </c:txPr>
        <c:crossAx val="48650112"/>
        <c:crossBetween val="between"/>
        <c:majorUnit val="0.25"/>
      </c:valAx>
      <c:spPr>
        <a:noFill/>
        <a:ln w="0">
          <a:noFill/>
          <a:prstDash val="solid"/>
        </a:ln>
      </c:spPr>
    </c:plotArea>
    <c:legend>
      <c:legendPos val="b"/>
      <c:overlay val="0"/>
      <c:txPr>
        <a:bodyPr anchorCtr="1"/>
        <a:lstStyle/>
        <a:p>
          <a:pPr>
            <a:defRPr sz="638">
              <a:solidFill>
                <a:srgbClr val="73787D"/>
              </a:solidFill>
            </a:defRPr>
          </a:pPr>
        </a:p>
      </c:txPr>
    </c:legend>
    <c:plotVisOnly val="1"/>
  </c:chart>
  <c:spPr>
    <a:noFill/>
    <a:ln w="0">
      <a:noFill/>
      <a:prstDash val="solid"/>
    </a:ln>
  </c:spPr>
</c:chartSpace>
</file>

<file path=ppt/slides/charts/chart62.xml><?xml version="1.0" encoding="utf-8"?>
<c:chartSpace xmlns:a="http://schemas.openxmlformats.org/drawingml/2006/main" xmlns:c="http://schemas.openxmlformats.org/drawingml/2006/chart">
  <c:lang val="pt-BR"/>
  <c:chart>
    <c:plotArea>
      <c:barChart>
        <c:barDir val="col"/>
        <c:grouping val="percentStacked"/>
        <c:varyColors val="0"/>
        <c:ser>
          <c:idx val="0"/>
          <c:order val="0"/>
          <c:tx>
            <c:v>BTG Pactual</c:v>
          </c:tx>
          <c:spPr>
            <a:solidFill>
              <a:srgbClr val="1D4080"/>
            </a:solidFill>
          </c:spPr>
          <c:dLbls>
            <c:dLbl>
              <c:idx val="0"/>
              <c:layout>
                <c:manualLayout>
                  <c:x val="-0.018"/>
                  <c:y val="0.0186471086141"/>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showLegendKey val="0"/>
              <c:showVal val="0"/>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layout>
                <c:manualLayout>
                  <c:x val="-0.018"/>
                  <c:y val="0.0102453867536"/>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layout>
                <c:manualLayout>
                  <c:x val="-0.018"/>
                  <c:y val="0.0148853902617"/>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layout>
                <c:manualLayout>
                  <c:x val="-0.018"/>
                  <c:y val="0.0165091640081"/>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0.0027057827718041</c:v>
              </c:pt>
              <c:pt idx="1">
                <c:v>0</c:v>
              </c:pt>
              <c:pt idx="2">
                <c:v>0.3313177990979622</c:v>
              </c:pt>
              <c:pt idx="3">
                <c:v>0.2863850373099147</c:v>
              </c:pt>
              <c:pt idx="4">
                <c:v>0.0195092264928632</c:v>
              </c:pt>
              <c:pt idx="5">
                <c:v>0.1107504103483613</c:v>
              </c:pt>
              <c:pt idx="6">
                <c:v>0.0102292194766519</c:v>
              </c:pt>
              <c:pt idx="7">
                <c:v>0.2571654070720304</c:v>
              </c:pt>
              <c:pt idx="8">
                <c:v>0.0069816719837632</c:v>
              </c:pt>
              <c:pt idx="9">
                <c:v>0.0636220792622765</c:v>
              </c:pt>
              <c:pt idx="10">
                <c:v>0.0352039450932765</c:v>
              </c:pt>
              <c:pt idx="11">
                <c:v>0.0391221710404121</c:v>
              </c:pt>
              <c:pt idx="12">
                <c:v>0.269028508380686</c:v>
              </c:pt>
              <c:pt idx="13">
                <c:v>0.1385988512304118</c:v>
              </c:pt>
            </c:numLit>
          </c:val>
        </c:ser>
        <c:ser>
          <c:idx val="1"/>
          <c:order val="1"/>
          <c:tx>
            <c:v>QI Tech</c:v>
          </c:tx>
          <c:spPr>
            <a:solidFill>
              <a:srgbClr val="2456D6"/>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showLegendKey val="0"/>
              <c:showVal val="0"/>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showLegendKey val="0"/>
              <c:showVal val="0"/>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0.6759912968773222</c:v>
              </c:pt>
              <c:pt idx="1">
                <c:v>0.2831240514453489</c:v>
              </c:pt>
              <c:pt idx="2">
                <c:v>0.1184983159999287</c:v>
              </c:pt>
              <c:pt idx="3">
                <c:v>0.0500143231646444</c:v>
              </c:pt>
              <c:pt idx="4">
                <c:v>0.0691691486679832</c:v>
              </c:pt>
              <c:pt idx="5">
                <c:v>0.0382941953359548</c:v>
              </c:pt>
              <c:pt idx="6">
                <c:v>0</c:v>
              </c:pt>
              <c:pt idx="7">
                <c:v>0.0451499232981444</c:v>
              </c:pt>
              <c:pt idx="8">
                <c:v>0</c:v>
              </c:pt>
              <c:pt idx="9">
                <c:v>0.1510800867413979</c:v>
              </c:pt>
              <c:pt idx="10">
                <c:v>0.0918908689514907</c:v>
              </c:pt>
              <c:pt idx="11">
                <c:v>0.0473805402449094</c:v>
              </c:pt>
              <c:pt idx="12">
                <c:v>0.2029820123277025</c:v>
              </c:pt>
              <c:pt idx="13">
                <c:v>0.1110650498414056</c:v>
              </c:pt>
            </c:numLit>
          </c:val>
        </c:ser>
        <c:ser>
          <c:idx val="2"/>
          <c:order val="2"/>
          <c:tx>
            <c:v>Oliveira Trust</c:v>
          </c:tx>
          <c:spPr>
            <a:solidFill>
              <a:srgbClr val="7A1F3D"/>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showLegendKey val="0"/>
              <c:showVal val="0"/>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0.0271351448333965</c:v>
              </c:pt>
              <c:pt idx="1">
                <c:v>0.2481574168942679</c:v>
              </c:pt>
              <c:pt idx="2">
                <c:v>0.3092763527579982</c:v>
              </c:pt>
              <c:pt idx="3">
                <c:v>0.254399426087156</c:v>
              </c:pt>
              <c:pt idx="4">
                <c:v>0.014041110348548</c:v>
              </c:pt>
              <c:pt idx="5">
                <c:v>0.0746723052215733</c:v>
              </c:pt>
              <c:pt idx="6">
                <c:v>0.2448971414342989</c:v>
              </c:pt>
              <c:pt idx="7">
                <c:v>0.1734502780656785</c:v>
              </c:pt>
              <c:pt idx="8">
                <c:v>0.3321544424965538</c:v>
              </c:pt>
              <c:pt idx="9">
                <c:v>0.0268117805118336</c:v>
              </c:pt>
              <c:pt idx="10">
                <c:v>0.1026720112420221</c:v>
              </c:pt>
              <c:pt idx="11">
                <c:v>0</c:v>
              </c:pt>
              <c:pt idx="12">
                <c:v>0.0285286777700744</c:v>
              </c:pt>
              <c:pt idx="13">
                <c:v>0.0367401725104139</c:v>
              </c:pt>
            </c:numLit>
          </c:val>
        </c:ser>
        <c:ser>
          <c:idx val="3"/>
          <c:order val="3"/>
          <c:tx>
            <c:v>Daycoval</c:v>
          </c:tx>
          <c:spPr>
            <a:solidFill>
              <a:srgbClr val="BEC2C5"/>
            </a:solidFill>
          </c:spPr>
          <c:dLbls>
            <c:dLbl>
              <c:idx val="0"/>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0.0060998187147488</c:v>
              </c:pt>
              <c:pt idx="1">
                <c:v>0.0314129103166631</c:v>
              </c:pt>
              <c:pt idx="2">
                <c:v>0.0466955779633413</c:v>
              </c:pt>
              <c:pt idx="3">
                <c:v>0.1003776283557518</c:v>
              </c:pt>
              <c:pt idx="4">
                <c:v>0.0518572977986845</c:v>
              </c:pt>
              <c:pt idx="5">
                <c:v>0.1662834134085645</c:v>
              </c:pt>
              <c:pt idx="6">
                <c:v>0.0563502288601275</c:v>
              </c:pt>
              <c:pt idx="7">
                <c:v>0.0338901250913308</c:v>
              </c:pt>
              <c:pt idx="8">
                <c:v>0.0925444086270469</c:v>
              </c:pt>
              <c:pt idx="9">
                <c:v>0.2191987728818734</c:v>
              </c:pt>
              <c:pt idx="10">
                <c:v>0.1894161385363026</c:v>
              </c:pt>
              <c:pt idx="11">
                <c:v>0.0775017988341624</c:v>
              </c:pt>
              <c:pt idx="12">
                <c:v>0.0561734532046676</c:v>
              </c:pt>
              <c:pt idx="13">
                <c:v>0.0901371033135809</c:v>
              </c:pt>
            </c:numLit>
          </c:val>
        </c:ser>
        <c:ser>
          <c:idx val="4"/>
          <c:order val="4"/>
          <c:tx>
            <c:v>Bradesco</c:v>
          </c:tx>
          <c:spPr>
            <a:solidFill>
              <a:srgbClr val="73787D"/>
            </a:solidFill>
          </c:spPr>
          <c:dLbls>
            <c:dLbl>
              <c:idx val="0"/>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showLegendKey val="0"/>
              <c:showVal val="0"/>
              <c:showCatName val="0"/>
              <c:showSerName val="0"/>
              <c:showPercent val="0"/>
              <c:showBubbleSize val="0"/>
            </c:dLbl>
            <c:dLbl>
              <c:idx val="2"/>
              <c:showLegendKey val="0"/>
              <c:showVal val="0"/>
              <c:showCatName val="0"/>
              <c:showSerName val="0"/>
              <c:showPercent val="0"/>
              <c:showBubbleSize val="0"/>
            </c:dLbl>
            <c:dLbl>
              <c:idx val="3"/>
              <c:showLegendKey val="0"/>
              <c:showVal val="0"/>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showLegendKey val="0"/>
              <c:showVal val="0"/>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0.0170780158717631</c:v>
              </c:pt>
              <c:pt idx="1">
                <c:v>0</c:v>
              </c:pt>
              <c:pt idx="2">
                <c:v>0</c:v>
              </c:pt>
              <c:pt idx="3">
                <c:v>0</c:v>
              </c:pt>
              <c:pt idx="4">
                <c:v>0.4931230015075811</c:v>
              </c:pt>
              <c:pt idx="5">
                <c:v>0.1399668200066018</c:v>
              </c:pt>
              <c:pt idx="6">
                <c:v>0.1284482453683068</c:v>
              </c:pt>
              <c:pt idx="7">
                <c:v>0.1117385096852637</c:v>
              </c:pt>
              <c:pt idx="8">
                <c:v>0.1565332500123605</c:v>
              </c:pt>
              <c:pt idx="9">
                <c:v>0</c:v>
              </c:pt>
              <c:pt idx="10">
                <c:v>0.0295771875973997</c:v>
              </c:pt>
              <c:pt idx="11">
                <c:v>0.0012377170662472</c:v>
              </c:pt>
              <c:pt idx="12">
                <c:v>0.0337647230450451</c:v>
              </c:pt>
              <c:pt idx="13">
                <c:v>0.0600546511336937</c:v>
              </c:pt>
            </c:numLit>
          </c:val>
        </c:ser>
        <c:ser>
          <c:idx val="5"/>
          <c:order val="5"/>
          <c:tx>
            <c:v>Genial</c:v>
          </c:tx>
          <c:spPr>
            <a:solidFill>
              <a:srgbClr val="6EC5E9"/>
            </a:solidFill>
          </c:spPr>
          <c:dLbls>
            <c:dLbl>
              <c:idx val="0"/>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0.0014290426740686</c:v>
              </c:pt>
              <c:pt idx="1">
                <c:v>0.0954434490174933</c:v>
              </c:pt>
              <c:pt idx="2">
                <c:v>0.0097144159325523</c:v>
              </c:pt>
              <c:pt idx="3">
                <c:v>0.1377649003513394</c:v>
              </c:pt>
              <c:pt idx="4">
                <c:v>0</c:v>
              </c:pt>
              <c:pt idx="5">
                <c:v>0.1266642208703755</c:v>
              </c:pt>
              <c:pt idx="6">
                <c:v>0.0801521194835746</c:v>
              </c:pt>
              <c:pt idx="7">
                <c:v>0.0924387555066889</c:v>
              </c:pt>
              <c:pt idx="8">
                <c:v>0.0222904487757394</c:v>
              </c:pt>
              <c:pt idx="9">
                <c:v>0.0932236168038112</c:v>
              </c:pt>
              <c:pt idx="10">
                <c:v>0.0517280519093443</c:v>
              </c:pt>
              <c:pt idx="11">
                <c:v>0.0163574722030135</c:v>
              </c:pt>
              <c:pt idx="12">
                <c:v>0.0148724022126697</c:v>
              </c:pt>
              <c:pt idx="13">
                <c:v>0.0341699412912885</c:v>
              </c:pt>
            </c:numLit>
          </c:val>
        </c:ser>
        <c:ser>
          <c:idx val="6"/>
          <c:order val="6"/>
          <c:tx>
            <c:v>REAG</c:v>
          </c:tx>
          <c:spPr>
            <a:solidFill>
              <a:srgbClr val="73C6A1"/>
            </a:solidFill>
          </c:spPr>
          <c:dLbls>
            <c:dLbl>
              <c:idx val="0"/>
              <c:layout>
                <c:manualLayout>
                  <c:x val="0"/>
                  <c:y val="0.013350666946"/>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showLegendKey val="0"/>
              <c:showVal val="0"/>
              <c:showCatName val="0"/>
              <c:showSerName val="0"/>
              <c:showPercent val="0"/>
              <c:showBubbleSize val="0"/>
            </c:dLbl>
            <c:dLbl>
              <c:idx val="2"/>
              <c:showLegendKey val="0"/>
              <c:showVal val="0"/>
              <c:showCatName val="0"/>
              <c:showSerName val="0"/>
              <c:showPercent val="0"/>
              <c:showBubbleSize val="0"/>
            </c:dLbl>
            <c:dLbl>
              <c:idx val="3"/>
              <c:showLegendKey val="0"/>
              <c:showVal val="0"/>
              <c:showCatName val="0"/>
              <c:showSerName val="0"/>
              <c:showPercent val="0"/>
              <c:showBubbleSize val="0"/>
            </c:dLbl>
            <c:dLbl>
              <c:idx val="4"/>
              <c:showLegendKey val="0"/>
              <c:showVal val="0"/>
              <c:showCatName val="0"/>
              <c:showSerName val="0"/>
              <c:showPercent val="0"/>
              <c:showBubbleSize val="0"/>
            </c:dLbl>
            <c:dLbl>
              <c:idx val="5"/>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showLegendKey val="0"/>
              <c:showVal val="0"/>
              <c:showCatName val="0"/>
              <c:showSerName val="0"/>
              <c:showPercent val="0"/>
              <c:showBubbleSize val="0"/>
            </c:dLbl>
            <c:dLbl>
              <c:idx val="7"/>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showLegendKey val="0"/>
              <c:showVal val="0"/>
              <c:showCatName val="0"/>
              <c:showSerName val="0"/>
              <c:showPercent val="0"/>
              <c:showBubbleSize val="0"/>
            </c:dLbl>
            <c:dLbl>
              <c:idx val="10"/>
              <c:showLegendKey val="0"/>
              <c:showVal val="0"/>
              <c:showCatName val="0"/>
              <c:showSerName val="0"/>
              <c:showPercent val="0"/>
              <c:showBubbleSize val="0"/>
            </c:dLbl>
            <c:dLbl>
              <c:idx val="1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0.0001847303014918</c:v>
              </c:pt>
              <c:pt idx="1">
                <c:v>0</c:v>
              </c:pt>
              <c:pt idx="2">
                <c:v>0</c:v>
              </c:pt>
              <c:pt idx="3">
                <c:v>0</c:v>
              </c:pt>
              <c:pt idx="4">
                <c:v>0</c:v>
              </c:pt>
              <c:pt idx="5">
                <c:v>0.0013441224672684</c:v>
              </c:pt>
              <c:pt idx="6">
                <c:v>0</c:v>
              </c:pt>
              <c:pt idx="7">
                <c:v>1.9023858238375103E-05</c:v>
              </c:pt>
              <c:pt idx="8">
                <c:v>0.0029359315231281</c:v>
              </c:pt>
              <c:pt idx="9">
                <c:v>0</c:v>
              </c:pt>
              <c:pt idx="10">
                <c:v>0</c:v>
              </c:pt>
              <c:pt idx="11">
                <c:v>0.0446982964925705</c:v>
              </c:pt>
              <c:pt idx="12">
                <c:v>0.0475501029412941</c:v>
              </c:pt>
              <c:pt idx="13">
                <c:v>0.0766621333152516</c:v>
              </c:pt>
            </c:numLit>
          </c:val>
        </c:ser>
        <c:ser>
          <c:idx val="7"/>
          <c:order val="7"/>
          <c:tx>
            <c:v>Finaxis</c:v>
          </c:tx>
          <c:spPr>
            <a:solidFill>
              <a:srgbClr val="5B6065"/>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showLegendKey val="0"/>
              <c:showVal val="0"/>
              <c:showCatName val="0"/>
              <c:showSerName val="0"/>
              <c:showPercent val="0"/>
              <c:showBubbleSize val="0"/>
            </c:dLbl>
            <c:dLbl>
              <c:idx val="3"/>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showLegendKey val="0"/>
              <c:showVal val="0"/>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showLegendKey val="0"/>
              <c:showVal val="0"/>
              <c:showCatName val="0"/>
              <c:showSerName val="0"/>
              <c:showPercent val="0"/>
              <c:showBubbleSize val="0"/>
            </c:dLbl>
            <c:dLbl>
              <c:idx val="12"/>
              <c:showLegendKey val="0"/>
              <c:showVal val="0"/>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0.0308583999379698</c:v>
              </c:pt>
              <c:pt idx="1">
                <c:v>0.0011602353362383</c:v>
              </c:pt>
              <c:pt idx="2">
                <c:v>0</c:v>
              </c:pt>
              <c:pt idx="3">
                <c:v>0.0030735686210584</c:v>
              </c:pt>
              <c:pt idx="4">
                <c:v>0</c:v>
              </c:pt>
              <c:pt idx="5">
                <c:v>0.0003689936710498</c:v>
              </c:pt>
              <c:pt idx="6">
                <c:v>0</c:v>
              </c:pt>
              <c:pt idx="7">
                <c:v>0.0377896853506274</c:v>
              </c:pt>
              <c:pt idx="8">
                <c:v>0.0061406084215763</c:v>
              </c:pt>
              <c:pt idx="9">
                <c:v>0.1183666540018785</c:v>
              </c:pt>
              <c:pt idx="10">
                <c:v>0.1745723336276446</c:v>
              </c:pt>
              <c:pt idx="11">
                <c:v>0</c:v>
              </c:pt>
              <c:pt idx="12">
                <c:v>0</c:v>
              </c:pt>
              <c:pt idx="13">
                <c:v>0.0390778868680176</c:v>
              </c:pt>
            </c:numLit>
          </c:val>
        </c:ser>
        <c:ser>
          <c:idx val="8"/>
          <c:order val="8"/>
          <c:tx>
            <c:v>Itaú</c:v>
          </c:tx>
          <c:spPr>
            <a:solidFill>
              <a:srgbClr val="FF5500"/>
            </a:solidFill>
          </c:spPr>
          <c:dLbls>
            <c:dLbl>
              <c:idx val="0"/>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showLegendKey val="0"/>
              <c:showVal val="0"/>
              <c:showCatName val="0"/>
              <c:showSerName val="0"/>
              <c:showPercent val="0"/>
              <c:showBubbleSize val="0"/>
            </c:dLbl>
            <c:dLbl>
              <c:idx val="3"/>
              <c:showLegendKey val="0"/>
              <c:showVal val="0"/>
              <c:showCatName val="0"/>
              <c:showSerName val="0"/>
              <c:showPercent val="0"/>
              <c:showBubbleSize val="0"/>
            </c:dLbl>
            <c:dLbl>
              <c:idx val="4"/>
              <c:showLegendKey val="0"/>
              <c:showVal val="0"/>
              <c:showCatName val="0"/>
              <c:showSerName val="0"/>
              <c:showPercent val="0"/>
              <c:showBubbleSize val="0"/>
            </c:dLbl>
            <c:dLbl>
              <c:idx val="5"/>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showLegendKey val="0"/>
              <c:showVal val="0"/>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showLegendKey val="0"/>
              <c:showVal val="0"/>
              <c:showCatName val="0"/>
              <c:showSerName val="0"/>
              <c:showPercent val="0"/>
              <c:showBubbleSize val="0"/>
            </c:dLbl>
            <c:dLbl>
              <c:idx val="11"/>
              <c:showLegendKey val="0"/>
              <c:showVal val="0"/>
              <c:showCatName val="0"/>
              <c:showSerName val="0"/>
              <c:showPercent val="0"/>
              <c:showBubbleSize val="0"/>
            </c:dLbl>
            <c:dLbl>
              <c:idx val="12"/>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0.0093365494192045</c:v>
              </c:pt>
              <c:pt idx="1">
                <c:v>0.1227393200815646</c:v>
              </c:pt>
              <c:pt idx="2">
                <c:v>0</c:v>
              </c:pt>
              <c:pt idx="3">
                <c:v>0</c:v>
              </c:pt>
              <c:pt idx="4">
                <c:v>0</c:v>
              </c:pt>
              <c:pt idx="5">
                <c:v>0.0006615413000011</c:v>
              </c:pt>
              <c:pt idx="6">
                <c:v>0.0810581734428378</c:v>
              </c:pt>
              <c:pt idx="7">
                <c:v>0.0171026340935401</c:v>
              </c:pt>
              <c:pt idx="8">
                <c:v>0</c:v>
              </c:pt>
              <c:pt idx="9">
                <c:v>0.1013743858313278</c:v>
              </c:pt>
              <c:pt idx="10">
                <c:v>0</c:v>
              </c:pt>
              <c:pt idx="11">
                <c:v>0</c:v>
              </c:pt>
              <c:pt idx="12">
                <c:v>0.0195927534357799</c:v>
              </c:pt>
              <c:pt idx="13">
                <c:v>0.0529133378830142</c:v>
              </c:pt>
            </c:numLit>
          </c:val>
        </c:ser>
        <c:ser>
          <c:idx val="9"/>
          <c:order val="9"/>
          <c:tx>
            <c:v>BRL Trust</c:v>
          </c:tx>
          <c:spPr>
            <a:solidFill>
              <a:srgbClr val="454A4F"/>
            </a:solidFill>
          </c:spPr>
          <c:dLbls>
            <c:dLbl>
              <c:idx val="0"/>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layout>
                <c:manualLayout>
                  <c:x val="-0.018"/>
                  <c:y val="0"/>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0.0042743795995927</c:v>
              </c:pt>
              <c:pt idx="1">
                <c:v>0.0724628706745208</c:v>
              </c:pt>
              <c:pt idx="2">
                <c:v>0.0084504260439428</c:v>
              </c:pt>
              <c:pt idx="3">
                <c:v>0.000517442092016</c:v>
              </c:pt>
              <c:pt idx="4">
                <c:v>0.0013353036335097</c:v>
              </c:pt>
              <c:pt idx="5">
                <c:v>0.0823562202432192</c:v>
              </c:pt>
              <c:pt idx="6">
                <c:v>0.0729485428985306</c:v>
              </c:pt>
              <c:pt idx="7">
                <c:v>0.0026200048135162</c:v>
              </c:pt>
              <c:pt idx="8">
                <c:v>0.053110144728145</c:v>
              </c:pt>
              <c:pt idx="9">
                <c:v>0.0083461717733962</c:v>
              </c:pt>
              <c:pt idx="10">
                <c:v>0.0560386356538572</c:v>
              </c:pt>
              <c:pt idx="11">
                <c:v>0.1334325730903025</c:v>
              </c:pt>
              <c:pt idx="12">
                <c:v>0.0878398045610501</c:v>
              </c:pt>
              <c:pt idx="13">
                <c:v>0.0256229759264469</c:v>
              </c:pt>
            </c:numLit>
          </c:val>
        </c:ser>
        <c:ser>
          <c:idx val="10"/>
          <c:order val="10"/>
          <c:tx>
            <c:v>Outros identificados</c:v>
          </c:tx>
          <c:spPr>
            <a:solidFill>
              <a:srgbClr val="D7DADD"/>
            </a:solidFill>
          </c:spPr>
          <c:dLbls>
            <c:dLbl>
              <c:idx val="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5"/>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2"/>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0.2115480334239259</c:v>
              </c:pt>
              <c:pt idx="1">
                <c:v>0.1454997462339026</c:v>
              </c:pt>
              <c:pt idx="2">
                <c:v>0.1759965013825875</c:v>
              </c:pt>
              <c:pt idx="3">
                <c:v>0.1673666661701728</c:v>
              </c:pt>
              <c:pt idx="4">
                <c:v>0.3509649115508297</c:v>
              </c:pt>
              <c:pt idx="5">
                <c:v>0.2568686718762569</c:v>
              </c:pt>
              <c:pt idx="6">
                <c:v>0.3249582640332574</c:v>
              </c:pt>
              <c:pt idx="7">
                <c:v>0.160647830710761</c:v>
              </c:pt>
              <c:pt idx="8">
                <c:v>0.3273090934316863</c:v>
              </c:pt>
              <c:pt idx="9">
                <c:v>0.1411084314958586</c:v>
              </c:pt>
              <c:pt idx="10">
                <c:v>0.2666485455225821</c:v>
              </c:pt>
              <c:pt idx="11">
                <c:v>0.6402694310283819</c:v>
              </c:pt>
              <c:pt idx="12">
                <c:v>0.2391091484443289</c:v>
              </c:pt>
              <c:pt idx="13">
                <c:v>0.3241701231603555</c:v>
              </c:pt>
            </c:numLit>
          </c:val>
        </c:ser>
        <c:ser>
          <c:idx val="11"/>
          <c:order val="11"/>
          <c:tx>
            <c:v>Prestador não informado</c:v>
          </c:tx>
          <c:spPr>
            <a:solidFill>
              <a:srgbClr val="F5F6F7"/>
            </a:solidFill>
          </c:spPr>
          <c:dLbls>
            <c:dLbl>
              <c:idx val="0"/>
              <c:layout>
                <c:manualLayout>
                  <c:x val="0"/>
                  <c:y val="-0.0133205972126"/>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
              <c:showLegendKey val="0"/>
              <c:showVal val="0"/>
              <c:showCatName val="0"/>
              <c:showSerName val="0"/>
              <c:showPercent val="0"/>
              <c:showBubbleSize val="0"/>
            </c:dLbl>
            <c:dLbl>
              <c:idx val="2"/>
              <c:layout>
                <c:manualLayout>
                  <c:x val="0.018"/>
                  <c:y val="-0.0199746945892"/>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3"/>
              <c:layout>
                <c:manualLayout>
                  <c:x val="0.018"/>
                  <c:y val="-0.019949496076"/>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4"/>
              <c:showLegendKey val="0"/>
              <c:showVal val="0"/>
              <c:showCatName val="0"/>
              <c:showSerName val="0"/>
              <c:showPercent val="0"/>
              <c:showBubbleSize val="0"/>
            </c:dLbl>
            <c:dLbl>
              <c:idx val="5"/>
              <c:layout>
                <c:manualLayout>
                  <c:x val="-0.018"/>
                  <c:y val="-0.0191154573746"/>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6"/>
              <c:layout>
                <c:manualLayout>
                  <c:x val="0"/>
                  <c:y val="-0.0195209674988"/>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7"/>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8"/>
              <c:showLegendKey val="0"/>
              <c:showVal val="0"/>
              <c:showCatName val="0"/>
              <c:showSerName val="0"/>
              <c:showPercent val="0"/>
              <c:showBubbleSize val="0"/>
            </c:dLbl>
            <c:dLbl>
              <c:idx val="9"/>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0"/>
              <c:layout>
                <c:manualLayout>
                  <c:x val="-0.018"/>
                  <c:y val="-0.018873859067"/>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1"/>
              <c:showLegendKey val="0"/>
              <c:showVal val="0"/>
              <c:showCatName val="0"/>
              <c:showSerName val="0"/>
              <c:showPercent val="0"/>
              <c:showBubbleSize val="0"/>
            </c:dLbl>
            <c:dLbl>
              <c:idx val="12"/>
              <c:layout>
                <c:manualLayout>
                  <c:x val="0.018"/>
                  <c:y val="-0.0197207931616"/>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
              <c:idx val="13"/>
              <c:layout>
                <c:manualLayout>
                  <c:x val="-0.018"/>
                  <c:y val="-0.0146061132369"/>
                </c:manualLayout>
              </c:layout>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dLbl>
          </c:dLbls>
          <c:cat>
            <c:strLit>
              <c:ptCount val="14"/>
              <c:pt idx="0">
                <c:v>Fomento
Fomento Mercantil</c:v>
              </c:pt>
              <c:pt idx="1">
                <c:v>Financeiro
Crédito Imobiliário</c:v>
              </c:pt>
              <c:pt idx="2">
                <c:v>Financeiro
Crédito Consignado</c:v>
              </c:pt>
              <c:pt idx="3">
                <c:v>Financeiro
Crédito pessoal</c:v>
              </c:pt>
              <c:pt idx="4">
                <c:v>Financeiro
Financiamento de Veículos</c:v>
              </c:pt>
              <c:pt idx="5">
                <c:v>Financeiro
Multicarteira</c:v>
              </c:pt>
              <c:pt idx="6">
                <c:v>Agro
Infraestrutura</c:v>
              </c:pt>
              <c:pt idx="7">
                <c:v>Agro
Recebíveis comerciais</c:v>
              </c:pt>
              <c:pt idx="8">
                <c:v>Agro
Crédito corporativo</c:v>
              </c:pt>
              <c:pt idx="9">
                <c:v>Agro
Agronegócio</c:v>
              </c:pt>
              <c:pt idx="10">
                <c:v>Agro
Multicarteira Agro, Indústria e Comércio</c:v>
              </c:pt>
              <c:pt idx="11">
                <c:v>Outros
Recuperação</c:v>
              </c:pt>
              <c:pt idx="12">
                <c:v>Outros
Poder público</c:v>
              </c:pt>
              <c:pt idx="13">
                <c:v>Outros
Multicarteira</c:v>
              </c:pt>
            </c:strLit>
          </c:cat>
          <c:val>
            <c:numLit>
              <c:formatCode>0.0%</c:formatCode>
              <c:ptCount val="14"/>
              <c:pt idx="0">
                <c:v>0.0133588055747116</c:v>
              </c:pt>
              <c:pt idx="1">
                <c:v>0</c:v>
              </c:pt>
              <c:pt idx="2">
                <c:v>5.061082168693914E-05</c:v>
              </c:pt>
              <c:pt idx="3">
                <c:v>0.0001010078479461</c:v>
              </c:pt>
              <c:pt idx="4">
                <c:v>0</c:v>
              </c:pt>
              <c:pt idx="5">
                <c:v>0.0017690852507729</c:v>
              </c:pt>
              <c:pt idx="6">
                <c:v>0.0009580650024143</c:v>
              </c:pt>
              <c:pt idx="7">
                <c:v>0.0679878224541797</c:v>
              </c:pt>
              <c:pt idx="8">
                <c:v>0</c:v>
              </c:pt>
              <c:pt idx="9">
                <c:v>0.076868020696346</c:v>
              </c:pt>
              <c:pt idx="10">
                <c:v>0.0022522818660797</c:v>
              </c:pt>
              <c:pt idx="11">
                <c:v>0</c:v>
              </c:pt>
              <c:pt idx="12">
                <c:v>0.0005584136767011</c:v>
              </c:pt>
              <c:pt idx="13">
                <c:v>0.0107877735261191</c:v>
              </c:pt>
            </c:numLit>
          </c:val>
        </c:ser>
        <c:dLbls>
          <c:spPr>
            <a:noFill/>
            <a:ln w="0">
              <a:noFill/>
              <a:prstDash val="solid"/>
            </a:ln>
          </c:spPr>
          <c:txPr>
            <a:bodyPr anchorCtr="1"/>
            <a:lstStyle/>
            <a:p>
              <a:pPr>
                <a:defRPr sz="1000" b="0">
                  <a:solidFill>
                    <a:srgbClr val="FFFFFF"/>
                  </a:solidFill>
                  <a:latin typeface="Arial"/>
                  <a:ea typeface="Arial"/>
                  <a:cs typeface="Arial"/>
                </a:defRPr>
              </a:pPr>
            </a:p>
          </c:txPr>
          <c:dLblPos val="ctr"/>
          <c:showLegendKey val="0"/>
          <c:showVal val="1"/>
          <c:showCatName val="0"/>
          <c:showSerName val="0"/>
          <c:showPercent val="0"/>
          <c:showBubbleSize val="0"/>
          <c:showLeaderLines val="0"/>
        </c:dLbls>
        <c:gapWidth val="32"/>
        <c:overlap val="100"/>
        <c:axId val="48650112"/>
        <c:axId val="48672768"/>
      </c:barChart>
      <c:catAx>
        <c:axId val="48650112"/>
        <c:scaling>
          <c:orientation val="minMax"/>
        </c:scaling>
        <c:delete val="0"/>
        <c:axPos val="b"/>
        <c:numFmt formatCode="General"/>
        <c:majorTickMark val="none"/>
        <c:minorTickMark val="none"/>
        <c:spPr>
          <a:ln w="9525">
            <a:solidFill>
              <a:srgbClr val="D7DADD"/>
            </a:solidFill>
            <a:prstDash val="solid"/>
          </a:ln>
        </c:spPr>
        <c:txPr>
          <a:bodyPr anchorCtr="1"/>
          <a:lstStyle/>
          <a:p>
            <a:pPr>
              <a:defRPr sz="713">
                <a:solidFill>
                  <a:srgbClr val="73787D"/>
                </a:solidFill>
              </a:defRPr>
            </a:pPr>
          </a:p>
        </c:txPr>
        <c:crossAx val="48672768"/>
        <c:lblAlgn val="ctr"/>
        <c:lblOffset val="100"/>
        <c:noMultiLvlLbl val="0"/>
      </c:catAx>
      <c:valAx>
        <c:axId val="48672768"/>
        <c:scaling>
          <c:orientation val="minMax"/>
          <c:max val="1"/>
          <c:min val="0"/>
        </c:scaling>
        <c:delete val="0"/>
        <c:axPos val="l"/>
        <c:majorGridlines>
          <c:spPr>
            <a:ln w="9525">
              <a:solidFill>
                <a:srgbClr val="E7E9EB"/>
              </a:solidFill>
              <a:prstDash val="solid"/>
            </a:ln>
          </c:spPr>
        </c:majorGridlines>
        <c:numFmt formatCode="0%"/>
        <c:majorTickMark val="none"/>
        <c:minorTickMark val="none"/>
        <c:spPr>
          <a:ln w="9525">
            <a:solidFill>
              <a:srgbClr val="D7DADD"/>
            </a:solidFill>
            <a:prstDash val="solid"/>
          </a:ln>
        </c:spPr>
        <c:txPr>
          <a:bodyPr anchorCtr="1"/>
          <a:lstStyle/>
          <a:p>
            <a:pPr>
              <a:defRPr sz="750">
                <a:solidFill>
                  <a:srgbClr val="8D9399"/>
                </a:solidFill>
              </a:defRPr>
            </a:pPr>
          </a:p>
        </c:txPr>
        <c:crossAx val="48650112"/>
        <c:crossBetween val="between"/>
        <c:majorUnit val="0.25"/>
      </c:valAx>
      <c:spPr>
        <a:noFill/>
        <a:ln w="0">
          <a:noFill/>
          <a:prstDash val="solid"/>
        </a:ln>
      </c:spPr>
    </c:plotArea>
    <c:legend>
      <c:legendPos val="b"/>
      <c:overlay val="0"/>
      <c:txPr>
        <a:bodyPr anchorCtr="1"/>
        <a:lstStyle/>
        <a:p>
          <a:pPr>
            <a:defRPr sz="638">
              <a:solidFill>
                <a:srgbClr val="73787D"/>
              </a:solidFill>
            </a:defRPr>
          </a:pPr>
        </a:p>
      </c:txPr>
    </c:legend>
    <c:plotVisOnly val="1"/>
  </c:chart>
  <c:spPr>
    <a:noFill/>
    <a:ln w="0">
      <a:noFill/>
      <a:prstDash val="solid"/>
    </a:ln>
  </c:spPr>
</c:chartSpace>
</file>

<file path=ppt/slides/slide1.xml><?xml version="1.0" encoding="utf-8"?>
<p:sld xmlns:p="http://schemas.openxmlformats.org/presentationml/2006/main">
  <p:cSld>
    <p:bg>
      <p:bgPr>
        <a:solidFill xmlns:a="http://schemas.openxmlformats.org/drawingml/2006/main">
          <a:srgbClr val="151515"/>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AF08CA5-7FE6-4DBA-AE03-35B9687FE3E0}"/>
              </a:ext>
            </a:extLst>
          </p:cNvPr>
          <p:cNvSpPr>
            <a:spLocks xmlns:a="http://schemas.openxmlformats.org/drawingml/2006/main" noGrp="1"/>
          </p:cNvSpPr>
          <p:nvPr/>
        </p:nvSpPr>
        <p:spPr>
          <a:xfrm xmlns:a="http://schemas.openxmlformats.org/drawingml/2006/main">
            <a:off x="571500" y="1000125"/>
            <a:ext cx="838200" cy="47625"/>
          </a:xfrm>
          <a:prstGeom xmlns:a="http://schemas.openxmlformats.org/drawingml/2006/main" prst="rect">
            <a:avLst/>
          </a:prstGeom>
          <a:solidFill xmlns:a="http://schemas.openxmlformats.org/drawingml/2006/main">
            <a:srgbClr val="EC700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DACEF8E-0E16-4F19-BCA1-95D8C2DE807D}"/>
              </a:ext>
            </a:extLst>
          </p:cNvPr>
          <p:cNvSpPr>
            <a:spLocks xmlns:a="http://schemas.openxmlformats.org/drawingml/2006/main" noGrp="1"/>
          </p:cNvSpPr>
          <p:nvPr/>
        </p:nvSpPr>
        <p:spPr>
          <a:xfrm xmlns:a="http://schemas.openxmlformats.org/drawingml/2006/main">
            <a:off x="571500" y="1409700"/>
            <a:ext cx="8572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3600" b="1">
                <a:solidFill>
                  <a:srgbClr val="FFFFFF"/>
                </a:solidFill>
                <a:latin typeface="Arial"/>
                <a:ea typeface="Arial"/>
                <a:cs typeface="Arial"/>
              </a:defRPr>
            </a:pPr>
            <a:r>
              <a:rPr sz="3600" b="1">
                <a:solidFill>
                  <a:srgbClr val="FFFFFF"/>
                </a:solidFill>
                <a:latin typeface="Arial"/>
                <a:ea typeface="Arial"/>
                <a:cs typeface="Arial"/>
              </a:rPr>
              <a:t>INDÚSTRIA DE FIDCs</a:t>
            </a:r>
          </a:p>
        </p:txBody>
      </p:sp>
      <p:sp>
        <p:nvSpPr>
          <p:cNvPr id="3" name="">
            <a:extLst xmlns:a="http://schemas.openxmlformats.org/drawingml/2006/main">
              <a:ext uri="{FF2B5EF4-FFF2-40B4-BE49-F238E27FC236}">
                <a16:creationId xmlns:a16="http://schemas.microsoft.com/office/drawing/2014/main" id="{C7FA7FC4-F319-44FE-A5ED-69F4E8C33308}"/>
              </a:ext>
            </a:extLst>
          </p:cNvPr>
          <p:cNvSpPr>
            <a:spLocks xmlns:a="http://schemas.openxmlformats.org/drawingml/2006/main" noGrp="1"/>
          </p:cNvSpPr>
          <p:nvPr/>
        </p:nvSpPr>
        <p:spPr>
          <a:xfrm xmlns:a="http://schemas.openxmlformats.org/drawingml/2006/main">
            <a:off x="571500" y="2400300"/>
            <a:ext cx="962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0">
                <a:solidFill>
                  <a:srgbClr val="E7E9EB"/>
                </a:solidFill>
                <a:latin typeface="Arial"/>
                <a:ea typeface="Arial"/>
                <a:cs typeface="Arial"/>
              </a:defRPr>
            </a:pPr>
            <a:r>
              <a:rPr sz="1800" b="0">
                <a:solidFill>
                  <a:srgbClr val="E7E9EB"/>
                </a:solidFill>
                <a:latin typeface="Arial"/>
                <a:ea typeface="Arial"/>
                <a:cs typeface="Arial"/>
              </a:rPr>
              <a:t>Escala, qualidade do dado, prestadores e fundos que explicam a concentração</a:t>
            </a:r>
          </a:p>
        </p:txBody>
      </p:sp>
      <p:sp>
        <p:nvSpPr>
          <p:cNvPr id="4" name="">
            <a:extLst xmlns:a="http://schemas.openxmlformats.org/drawingml/2006/main">
              <a:ext uri="{FF2B5EF4-FFF2-40B4-BE49-F238E27FC236}">
                <a16:creationId xmlns:a16="http://schemas.microsoft.com/office/drawing/2014/main" id="{69F80CEF-A355-45E5-9FED-16FCC98A5BFC}"/>
              </a:ext>
            </a:extLst>
          </p:cNvPr>
          <p:cNvSpPr>
            <a:spLocks xmlns:a="http://schemas.openxmlformats.org/drawingml/2006/main" noGrp="1"/>
          </p:cNvSpPr>
          <p:nvPr/>
        </p:nvSpPr>
        <p:spPr>
          <a:xfrm xmlns:a="http://schemas.openxmlformats.org/drawingml/2006/main">
            <a:off x="571500" y="5048250"/>
            <a:ext cx="11049000" cy="9525"/>
          </a:xfrm>
          <a:prstGeom xmlns:a="http://schemas.openxmlformats.org/drawingml/2006/main" prst="rect">
            <a:avLst/>
          </a:prstGeom>
          <a:solidFill xmlns:a="http://schemas.openxmlformats.org/drawingml/2006/main">
            <a:srgbClr val="4B4F53"/>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1386B54-45C7-4182-8B69-C2DEFF9150C5}"/>
              </a:ext>
            </a:extLst>
          </p:cNvPr>
          <p:cNvSpPr>
            <a:spLocks xmlns:a="http://schemas.openxmlformats.org/drawingml/2006/main" noGrp="1"/>
          </p:cNvSpPr>
          <p:nvPr/>
        </p:nvSpPr>
        <p:spPr>
          <a:xfrm xmlns:a="http://schemas.openxmlformats.org/drawingml/2006/main">
            <a:off x="571500" y="5286375"/>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0">
                <a:solidFill>
                  <a:srgbClr val="FFFFFF"/>
                </a:solidFill>
                <a:latin typeface="Arial"/>
                <a:ea typeface="Arial"/>
                <a:cs typeface="Arial"/>
              </a:defRPr>
            </a:pPr>
            <a:r>
              <a:rPr sz="1200" b="0">
                <a:solidFill>
                  <a:srgbClr val="FFFFFF"/>
                </a:solidFill>
                <a:latin typeface="Arial"/>
                <a:ea typeface="Arial"/>
                <a:cs typeface="Arial"/>
              </a:rPr>
              <a:t>Dados de PL: 30 de junho de 2026</a:t>
            </a:r>
          </a:p>
        </p:txBody>
      </p:sp>
      <p:sp>
        <p:nvSpPr>
          <p:cNvPr id="6" name="">
            <a:extLst xmlns:a="http://schemas.openxmlformats.org/drawingml/2006/main">
              <a:ext uri="{FF2B5EF4-FFF2-40B4-BE49-F238E27FC236}">
                <a16:creationId xmlns:a16="http://schemas.microsoft.com/office/drawing/2014/main" id="{C35C87AE-F6C9-47AC-A7AC-AC0E68B4824E}"/>
              </a:ext>
            </a:extLst>
          </p:cNvPr>
          <p:cNvSpPr>
            <a:spLocks xmlns:a="http://schemas.openxmlformats.org/drawingml/2006/main" noGrp="1"/>
          </p:cNvSpPr>
          <p:nvPr/>
        </p:nvSpPr>
        <p:spPr>
          <a:xfrm xmlns:a="http://schemas.openxmlformats.org/drawingml/2006/main">
            <a:off x="571500" y="561022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0">
                <a:solidFill>
                  <a:srgbClr val="E7E9EB"/>
                </a:solidFill>
                <a:latin typeface="Arial"/>
                <a:ea typeface="Arial"/>
                <a:cs typeface="Arial"/>
              </a:defRPr>
            </a:pPr>
            <a:r>
              <a:rPr sz="1200" b="0">
                <a:solidFill>
                  <a:srgbClr val="E7E9EB"/>
                </a:solidFill>
                <a:latin typeface="Arial"/>
                <a:ea typeface="Arial"/>
                <a:cs typeface="Arial"/>
              </a:rPr>
              <a:t>Ofertas CVM até 30 de junho de 2026; comparativo ANBIMA até 31 de maio</a:t>
            </a:r>
          </a:p>
        </p:txBody>
      </p:sp>
      <p:sp>
        <p:nvSpPr>
          <p:cNvPr id="7" name="">
            <a:extLst xmlns:a="http://schemas.openxmlformats.org/drawingml/2006/main">
              <a:ext uri="{FF2B5EF4-FFF2-40B4-BE49-F238E27FC236}">
                <a16:creationId xmlns:a16="http://schemas.microsoft.com/office/drawing/2014/main" id="{C343A95D-DEE1-45BB-9956-B7828850E91B}"/>
              </a:ext>
            </a:extLst>
          </p:cNvPr>
          <p:cNvSpPr>
            <a:spLocks xmlns:a="http://schemas.openxmlformats.org/drawingml/2006/main" noGrp="1"/>
          </p:cNvSpPr>
          <p:nvPr/>
        </p:nvSpPr>
        <p:spPr>
          <a:xfrm xmlns:a="http://schemas.openxmlformats.org/drawingml/2006/main">
            <a:off x="571500" y="625792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Itaú BBA · Junho de 2026</a:t>
            </a:r>
          </a:p>
        </p:txBody>
      </p:sp>
    </p:spTree>
    <p:extLst>
      <p:ext uri="{BB962C8B-B14F-4D97-AF65-F5344CB8AC3E}">
        <p14:creationId xmlns:p14="http://schemas.microsoft.com/office/powerpoint/2010/main" val="148116253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58DFFAF-3B1B-4D4C-A5C9-D607AD887F5F}"/>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GRANDES NÚMEROS</a:t>
            </a:r>
          </a:p>
        </p:txBody>
      </p:sp>
      <p:sp>
        <p:nvSpPr>
          <p:cNvPr id="2" name="">
            <a:extLst xmlns:a="http://schemas.openxmlformats.org/drawingml/2006/main">
              <a:ext uri="{FF2B5EF4-FFF2-40B4-BE49-F238E27FC236}">
                <a16:creationId xmlns:a16="http://schemas.microsoft.com/office/drawing/2014/main" id="{92E5A399-9614-44EE-8FB5-DC82BC4789EC}"/>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1950" b="1">
                <a:solidFill>
                  <a:srgbClr val="151515"/>
                </a:solidFill>
                <a:latin typeface="Arial"/>
                <a:ea typeface="Arial"/>
                <a:cs typeface="Arial"/>
              </a:defRPr>
            </a:pPr>
            <a:r>
              <a:rPr sz="1950" b="1">
                <a:solidFill>
                  <a:srgbClr val="151515"/>
                </a:solidFill>
                <a:latin typeface="Arial"/>
                <a:ea typeface="Arial"/>
                <a:cs typeface="Arial"/>
              </a:rPr>
              <a:t>R$ 880 bi ex-FIC; a concentração aparece em fundos, prestadores e ajustes de qualidade</a:t>
            </a:r>
          </a:p>
        </p:txBody>
      </p:sp>
      <p:sp>
        <p:nvSpPr>
          <p:cNvPr id="3" name="">
            <a:extLst xmlns:a="http://schemas.openxmlformats.org/drawingml/2006/main">
              <a:ext uri="{FF2B5EF4-FFF2-40B4-BE49-F238E27FC236}">
                <a16:creationId xmlns:a16="http://schemas.microsoft.com/office/drawing/2014/main" id="{730C08C3-1C74-4453-877D-E2EFD5B92F6F}"/>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EDC0387-99CC-40E1-84B6-EA6158103D84}"/>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A1D1594-2BA8-4710-8577-EA7B19C5CC56}"/>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 ANBIMA e FundosNet; jun/26. Ofertas CVM até jun/26; ANBIMA até mai/26.</a:t>
            </a:r>
          </a:p>
        </p:txBody>
      </p:sp>
      <p:sp>
        <p:nvSpPr>
          <p:cNvPr id="6" name="">
            <a:extLst xmlns:a="http://schemas.openxmlformats.org/drawingml/2006/main">
              <a:ext uri="{FF2B5EF4-FFF2-40B4-BE49-F238E27FC236}">
                <a16:creationId xmlns:a16="http://schemas.microsoft.com/office/drawing/2014/main" id="{6C499F5C-096E-455D-AFCA-994EC7A1DE92}"/>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2</a:t>
            </a:r>
          </a:p>
        </p:txBody>
      </p:sp>
      <p:sp>
        <p:nvSpPr>
          <p:cNvPr id="7" name="">
            <a:extLst xmlns:a="http://schemas.openxmlformats.org/drawingml/2006/main">
              <a:ext uri="{FF2B5EF4-FFF2-40B4-BE49-F238E27FC236}">
                <a16:creationId xmlns:a16="http://schemas.microsoft.com/office/drawing/2014/main" id="{9003B711-2271-4A88-999C-734AE913C2AB}"/>
              </a:ext>
            </a:extLst>
          </p:cNvPr>
          <p:cNvSpPr>
            <a:spLocks xmlns:a="http://schemas.openxmlformats.org/drawingml/2006/main" noGrp="1"/>
          </p:cNvSpPr>
          <p:nvPr/>
        </p:nvSpPr>
        <p:spPr>
          <a:xfrm xmlns:a="http://schemas.openxmlformats.org/drawingml/2006/main">
            <a:off x="647700" y="1381125"/>
            <a:ext cx="1762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2550" b="1">
                <a:solidFill>
                  <a:srgbClr val="EC7000"/>
                </a:solidFill>
                <a:latin typeface="Arial"/>
                <a:ea typeface="Arial"/>
                <a:cs typeface="Arial"/>
              </a:defRPr>
            </a:pPr>
            <a:r>
              <a:rPr sz="2550" b="1">
                <a:solidFill>
                  <a:srgbClr val="EC7000"/>
                </a:solidFill>
                <a:latin typeface="Arial"/>
                <a:ea typeface="Arial"/>
                <a:cs typeface="Arial"/>
              </a:rPr>
              <a:t>R$ 880 bi</a:t>
            </a:r>
          </a:p>
        </p:txBody>
      </p:sp>
      <p:sp>
        <p:nvSpPr>
          <p:cNvPr id="8" name="">
            <a:extLst xmlns:a="http://schemas.openxmlformats.org/drawingml/2006/main">
              <a:ext uri="{FF2B5EF4-FFF2-40B4-BE49-F238E27FC236}">
                <a16:creationId xmlns:a16="http://schemas.microsoft.com/office/drawing/2014/main" id="{7E688EED-3C41-4EE9-9919-91AA58A270BB}"/>
              </a:ext>
            </a:extLst>
          </p:cNvPr>
          <p:cNvSpPr>
            <a:spLocks xmlns:a="http://schemas.openxmlformats.org/drawingml/2006/main" noGrp="1"/>
          </p:cNvSpPr>
          <p:nvPr/>
        </p:nvSpPr>
        <p:spPr>
          <a:xfrm xmlns:a="http://schemas.openxmlformats.org/drawingml/2006/main">
            <a:off x="2571750" y="1400175"/>
            <a:ext cx="838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425" b="1">
                <a:solidFill>
                  <a:srgbClr val="30353A"/>
                </a:solidFill>
                <a:latin typeface="Arial"/>
                <a:ea typeface="Arial"/>
                <a:cs typeface="Arial"/>
              </a:defRPr>
            </a:pPr>
            <a:r>
              <a:rPr sz="1425" b="1">
                <a:solidFill>
                  <a:srgbClr val="30353A"/>
                </a:solidFill>
                <a:latin typeface="Arial"/>
                <a:ea typeface="Arial"/>
                <a:cs typeface="Arial"/>
              </a:rPr>
              <a:t>PL ex-FIC em jun/26</a:t>
            </a:r>
          </a:p>
        </p:txBody>
      </p:sp>
      <p:sp>
        <p:nvSpPr>
          <p:cNvPr id="9" name="">
            <a:extLst xmlns:a="http://schemas.openxmlformats.org/drawingml/2006/main">
              <a:ext uri="{FF2B5EF4-FFF2-40B4-BE49-F238E27FC236}">
                <a16:creationId xmlns:a16="http://schemas.microsoft.com/office/drawing/2014/main" id="{58AC6139-758A-468C-9B96-CFB12D94687A}"/>
              </a:ext>
            </a:extLst>
          </p:cNvPr>
          <p:cNvSpPr>
            <a:spLocks xmlns:a="http://schemas.openxmlformats.org/drawingml/2006/main" noGrp="1"/>
          </p:cNvSpPr>
          <p:nvPr/>
        </p:nvSpPr>
        <p:spPr>
          <a:xfrm xmlns:a="http://schemas.openxmlformats.org/drawingml/2006/main">
            <a:off x="2571750" y="1781175"/>
            <a:ext cx="838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0">
                <a:solidFill>
                  <a:srgbClr val="73787D"/>
                </a:solidFill>
                <a:latin typeface="Arial"/>
                <a:ea typeface="Arial"/>
                <a:cs typeface="Arial"/>
              </a:defRPr>
            </a:pPr>
            <a:r>
              <a:rPr sz="1125" b="0">
                <a:solidFill>
                  <a:srgbClr val="73787D"/>
                </a:solidFill>
                <a:latin typeface="Arial"/>
                <a:ea typeface="Arial"/>
                <a:cs typeface="Arial"/>
              </a:rPr>
              <a:t>10,7× 2015; FIC-FIDC: R$ 81,1 bi.</a:t>
            </a:r>
          </a:p>
        </p:txBody>
      </p:sp>
      <p:sp>
        <p:nvSpPr>
          <p:cNvPr id="10" name="">
            <a:extLst xmlns:a="http://schemas.openxmlformats.org/drawingml/2006/main">
              <a:ext uri="{FF2B5EF4-FFF2-40B4-BE49-F238E27FC236}">
                <a16:creationId xmlns:a16="http://schemas.microsoft.com/office/drawing/2014/main" id="{E9C5ADEA-2EC9-4A97-845E-81736EA25BA4}"/>
              </a:ext>
            </a:extLst>
          </p:cNvPr>
          <p:cNvSpPr>
            <a:spLocks xmlns:a="http://schemas.openxmlformats.org/drawingml/2006/main" noGrp="1"/>
          </p:cNvSpPr>
          <p:nvPr/>
        </p:nvSpPr>
        <p:spPr>
          <a:xfrm xmlns:a="http://schemas.openxmlformats.org/drawingml/2006/main">
            <a:off x="647700" y="2371725"/>
            <a:ext cx="10325100"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DA5E6C7-4B9C-45BF-B48A-6984FFB675D6}"/>
              </a:ext>
            </a:extLst>
          </p:cNvPr>
          <p:cNvSpPr>
            <a:spLocks xmlns:a="http://schemas.openxmlformats.org/drawingml/2006/main" noGrp="1"/>
          </p:cNvSpPr>
          <p:nvPr/>
        </p:nvSpPr>
        <p:spPr>
          <a:xfrm xmlns:a="http://schemas.openxmlformats.org/drawingml/2006/main">
            <a:off x="647700" y="2543175"/>
            <a:ext cx="1762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2550" b="1">
                <a:solidFill>
                  <a:srgbClr val="151515"/>
                </a:solidFill>
                <a:latin typeface="Arial"/>
                <a:ea typeface="Arial"/>
                <a:cs typeface="Arial"/>
              </a:defRPr>
            </a:pPr>
            <a:r>
              <a:rPr sz="2550" b="1">
                <a:solidFill>
                  <a:srgbClr val="151515"/>
                </a:solidFill>
                <a:latin typeface="Arial"/>
                <a:ea typeface="Arial"/>
                <a:cs typeface="Arial"/>
              </a:rPr>
              <a:t>58,4%</a:t>
            </a:r>
          </a:p>
        </p:txBody>
      </p:sp>
      <p:sp>
        <p:nvSpPr>
          <p:cNvPr id="12" name="">
            <a:extLst xmlns:a="http://schemas.openxmlformats.org/drawingml/2006/main">
              <a:ext uri="{FF2B5EF4-FFF2-40B4-BE49-F238E27FC236}">
                <a16:creationId xmlns:a16="http://schemas.microsoft.com/office/drawing/2014/main" id="{82551BD9-5619-45AA-80B7-0F865F4271F9}"/>
              </a:ext>
            </a:extLst>
          </p:cNvPr>
          <p:cNvSpPr>
            <a:spLocks xmlns:a="http://schemas.openxmlformats.org/drawingml/2006/main" noGrp="1"/>
          </p:cNvSpPr>
          <p:nvPr/>
        </p:nvSpPr>
        <p:spPr>
          <a:xfrm xmlns:a="http://schemas.openxmlformats.org/drawingml/2006/main">
            <a:off x="2571750" y="2562225"/>
            <a:ext cx="838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425" b="1">
                <a:solidFill>
                  <a:srgbClr val="30353A"/>
                </a:solidFill>
                <a:latin typeface="Arial"/>
                <a:ea typeface="Arial"/>
                <a:cs typeface="Arial"/>
              </a:defRPr>
            </a:pPr>
            <a:r>
              <a:rPr sz="1425" b="1">
                <a:solidFill>
                  <a:srgbClr val="30353A"/>
                </a:solidFill>
                <a:latin typeface="Arial"/>
                <a:ea typeface="Arial"/>
                <a:cs typeface="Arial"/>
              </a:rPr>
              <a:t>dos fundos com PL ≥ R$ 200 mi têm até 10 contas</a:t>
            </a:r>
          </a:p>
        </p:txBody>
      </p:sp>
      <p:sp>
        <p:nvSpPr>
          <p:cNvPr id="13" name="">
            <a:extLst xmlns:a="http://schemas.openxmlformats.org/drawingml/2006/main">
              <a:ext uri="{FF2B5EF4-FFF2-40B4-BE49-F238E27FC236}">
                <a16:creationId xmlns:a16="http://schemas.microsoft.com/office/drawing/2014/main" id="{3FE6B061-7D90-4F0D-94DC-8647186A4263}"/>
              </a:ext>
            </a:extLst>
          </p:cNvPr>
          <p:cNvSpPr>
            <a:spLocks xmlns:a="http://schemas.openxmlformats.org/drawingml/2006/main" noGrp="1"/>
          </p:cNvSpPr>
          <p:nvPr/>
        </p:nvSpPr>
        <p:spPr>
          <a:xfrm xmlns:a="http://schemas.openxmlformats.org/drawingml/2006/main">
            <a:off x="2571750" y="2943225"/>
            <a:ext cx="838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0">
                <a:solidFill>
                  <a:srgbClr val="73787D"/>
                </a:solidFill>
                <a:latin typeface="Arial"/>
                <a:ea typeface="Arial"/>
                <a:cs typeface="Arial"/>
              </a:defRPr>
            </a:pPr>
            <a:r>
              <a:rPr sz="1125" b="0">
                <a:solidFill>
                  <a:srgbClr val="73787D"/>
                </a:solidFill>
                <a:latin typeface="Arial"/>
                <a:ea typeface="Arial"/>
                <a:cs typeface="Arial"/>
              </a:rPr>
              <a:t>59,5% do PL no recorte de R$ 733,1 bi.</a:t>
            </a:r>
          </a:p>
        </p:txBody>
      </p:sp>
      <p:sp>
        <p:nvSpPr>
          <p:cNvPr id="14" name="">
            <a:extLst xmlns:a="http://schemas.openxmlformats.org/drawingml/2006/main">
              <a:ext uri="{FF2B5EF4-FFF2-40B4-BE49-F238E27FC236}">
                <a16:creationId xmlns:a16="http://schemas.microsoft.com/office/drawing/2014/main" id="{13D6CF3C-5D1A-43D5-85AD-D5B981FA9784}"/>
              </a:ext>
            </a:extLst>
          </p:cNvPr>
          <p:cNvSpPr>
            <a:spLocks xmlns:a="http://schemas.openxmlformats.org/drawingml/2006/main" noGrp="1"/>
          </p:cNvSpPr>
          <p:nvPr/>
        </p:nvSpPr>
        <p:spPr>
          <a:xfrm xmlns:a="http://schemas.openxmlformats.org/drawingml/2006/main">
            <a:off x="647700" y="3533775"/>
            <a:ext cx="10325100"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BD3B41A-8899-4F69-83C1-59F8A85ACB82}"/>
              </a:ext>
            </a:extLst>
          </p:cNvPr>
          <p:cNvSpPr>
            <a:spLocks xmlns:a="http://schemas.openxmlformats.org/drawingml/2006/main" noGrp="1"/>
          </p:cNvSpPr>
          <p:nvPr/>
        </p:nvSpPr>
        <p:spPr>
          <a:xfrm xmlns:a="http://schemas.openxmlformats.org/drawingml/2006/main">
            <a:off x="647700" y="3705225"/>
            <a:ext cx="1762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2550" b="1">
                <a:solidFill>
                  <a:srgbClr val="151515"/>
                </a:solidFill>
                <a:latin typeface="Arial"/>
                <a:ea typeface="Arial"/>
                <a:cs typeface="Arial"/>
              </a:defRPr>
            </a:pPr>
            <a:r>
              <a:rPr sz="2550" b="1">
                <a:solidFill>
                  <a:srgbClr val="151515"/>
                </a:solidFill>
                <a:latin typeface="Arial"/>
                <a:ea typeface="Arial"/>
                <a:cs typeface="Arial"/>
              </a:rPr>
              <a:t>178</a:t>
            </a:r>
          </a:p>
        </p:txBody>
      </p:sp>
      <p:sp>
        <p:nvSpPr>
          <p:cNvPr id="16" name="">
            <a:extLst xmlns:a="http://schemas.openxmlformats.org/drawingml/2006/main">
              <a:ext uri="{FF2B5EF4-FFF2-40B4-BE49-F238E27FC236}">
                <a16:creationId xmlns:a16="http://schemas.microsoft.com/office/drawing/2014/main" id="{A4E012F4-F338-44A1-8F47-2AE6BBD6970D}"/>
              </a:ext>
            </a:extLst>
          </p:cNvPr>
          <p:cNvSpPr>
            <a:spLocks xmlns:a="http://schemas.openxmlformats.org/drawingml/2006/main" noGrp="1"/>
          </p:cNvSpPr>
          <p:nvPr/>
        </p:nvSpPr>
        <p:spPr>
          <a:xfrm xmlns:a="http://schemas.openxmlformats.org/drawingml/2006/main">
            <a:off x="2571750" y="3724275"/>
            <a:ext cx="838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425" b="1">
                <a:solidFill>
                  <a:srgbClr val="30353A"/>
                </a:solidFill>
                <a:latin typeface="Arial"/>
                <a:ea typeface="Arial"/>
                <a:cs typeface="Arial"/>
              </a:defRPr>
            </a:pPr>
            <a:r>
              <a:rPr sz="1425" b="1">
                <a:solidFill>
                  <a:srgbClr val="30353A"/>
                </a:solidFill>
                <a:latin typeface="Arial"/>
                <a:ea typeface="Arial"/>
                <a:cs typeface="Arial"/>
              </a:rPr>
              <a:t>veículos com inadimplência acima da carteira</a:t>
            </a:r>
          </a:p>
        </p:txBody>
      </p:sp>
      <p:sp>
        <p:nvSpPr>
          <p:cNvPr id="17" name="">
            <a:extLst xmlns:a="http://schemas.openxmlformats.org/drawingml/2006/main">
              <a:ext uri="{FF2B5EF4-FFF2-40B4-BE49-F238E27FC236}">
                <a16:creationId xmlns:a16="http://schemas.microsoft.com/office/drawing/2014/main" id="{7D5F683A-2A7A-4C51-98BF-40FF55584ECB}"/>
              </a:ext>
            </a:extLst>
          </p:cNvPr>
          <p:cNvSpPr>
            <a:spLocks xmlns:a="http://schemas.openxmlformats.org/drawingml/2006/main" noGrp="1"/>
          </p:cNvSpPr>
          <p:nvPr/>
        </p:nvSpPr>
        <p:spPr>
          <a:xfrm xmlns:a="http://schemas.openxmlformats.org/drawingml/2006/main">
            <a:off x="2571750" y="4105275"/>
            <a:ext cx="838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0">
                <a:solidFill>
                  <a:srgbClr val="73787D"/>
                </a:solidFill>
                <a:latin typeface="Arial"/>
                <a:ea typeface="Arial"/>
                <a:cs typeface="Arial"/>
              </a:defRPr>
            </a:pPr>
            <a:r>
              <a:rPr sz="1125" b="0">
                <a:solidFill>
                  <a:srgbClr val="73787D"/>
                </a:solidFill>
                <a:latin typeface="Arial"/>
                <a:ea typeface="Arial"/>
                <a:cs typeface="Arial"/>
              </a:rPr>
              <a:t>Cap: R$ 14,6 bi; Top 10: 57,4%.</a:t>
            </a:r>
          </a:p>
        </p:txBody>
      </p:sp>
      <p:sp>
        <p:nvSpPr>
          <p:cNvPr id="18" name="">
            <a:extLst xmlns:a="http://schemas.openxmlformats.org/drawingml/2006/main">
              <a:ext uri="{FF2B5EF4-FFF2-40B4-BE49-F238E27FC236}">
                <a16:creationId xmlns:a16="http://schemas.microsoft.com/office/drawing/2014/main" id="{E9CACD05-8C38-43AC-8470-D0E3FDBDACE3}"/>
              </a:ext>
            </a:extLst>
          </p:cNvPr>
          <p:cNvSpPr>
            <a:spLocks xmlns:a="http://schemas.openxmlformats.org/drawingml/2006/main" noGrp="1"/>
          </p:cNvSpPr>
          <p:nvPr/>
        </p:nvSpPr>
        <p:spPr>
          <a:xfrm xmlns:a="http://schemas.openxmlformats.org/drawingml/2006/main">
            <a:off x="647700" y="4695825"/>
            <a:ext cx="10325100"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3492192-72EB-4180-A5B5-16BD528FBF7B}"/>
              </a:ext>
            </a:extLst>
          </p:cNvPr>
          <p:cNvSpPr>
            <a:spLocks xmlns:a="http://schemas.openxmlformats.org/drawingml/2006/main" noGrp="1"/>
          </p:cNvSpPr>
          <p:nvPr/>
        </p:nvSpPr>
        <p:spPr>
          <a:xfrm xmlns:a="http://schemas.openxmlformats.org/drawingml/2006/main">
            <a:off x="647700" y="4867275"/>
            <a:ext cx="1762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2550" b="1">
                <a:solidFill>
                  <a:srgbClr val="151515"/>
                </a:solidFill>
                <a:latin typeface="Arial"/>
                <a:ea typeface="Arial"/>
                <a:cs typeface="Arial"/>
              </a:defRPr>
            </a:pPr>
            <a:r>
              <a:rPr sz="2550" b="1">
                <a:solidFill>
                  <a:srgbClr val="151515"/>
                </a:solidFill>
                <a:latin typeface="Arial"/>
                <a:ea typeface="Arial"/>
                <a:cs typeface="Arial"/>
              </a:rPr>
              <a:t>35,7%</a:t>
            </a:r>
          </a:p>
        </p:txBody>
      </p:sp>
      <p:sp>
        <p:nvSpPr>
          <p:cNvPr id="20" name="">
            <a:extLst xmlns:a="http://schemas.openxmlformats.org/drawingml/2006/main">
              <a:ext uri="{FF2B5EF4-FFF2-40B4-BE49-F238E27FC236}">
                <a16:creationId xmlns:a16="http://schemas.microsoft.com/office/drawing/2014/main" id="{14673A37-AC89-481A-8A8B-DFA39FA7984E}"/>
              </a:ext>
            </a:extLst>
          </p:cNvPr>
          <p:cNvSpPr>
            <a:spLocks xmlns:a="http://schemas.openxmlformats.org/drawingml/2006/main" noGrp="1"/>
          </p:cNvSpPr>
          <p:nvPr/>
        </p:nvSpPr>
        <p:spPr>
          <a:xfrm xmlns:a="http://schemas.openxmlformats.org/drawingml/2006/main">
            <a:off x="2571750" y="4886325"/>
            <a:ext cx="838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425" b="1">
                <a:solidFill>
                  <a:srgbClr val="30353A"/>
                </a:solidFill>
                <a:latin typeface="Arial"/>
                <a:ea typeface="Arial"/>
                <a:cs typeface="Arial"/>
              </a:defRPr>
            </a:pPr>
            <a:r>
              <a:rPr sz="1425" b="1">
                <a:solidFill>
                  <a:srgbClr val="30353A"/>
                </a:solidFill>
                <a:latin typeface="Arial"/>
                <a:ea typeface="Arial"/>
                <a:cs typeface="Arial"/>
              </a:rPr>
              <a:t>do PL em monoestruturas</a:t>
            </a:r>
          </a:p>
        </p:txBody>
      </p:sp>
      <p:sp>
        <p:nvSpPr>
          <p:cNvPr id="21" name="">
            <a:extLst xmlns:a="http://schemas.openxmlformats.org/drawingml/2006/main">
              <a:ext uri="{FF2B5EF4-FFF2-40B4-BE49-F238E27FC236}">
                <a16:creationId xmlns:a16="http://schemas.microsoft.com/office/drawing/2014/main" id="{0FFAB004-1A4D-45EC-9128-A8EC02691C0E}"/>
              </a:ext>
            </a:extLst>
          </p:cNvPr>
          <p:cNvSpPr>
            <a:spLocks xmlns:a="http://schemas.openxmlformats.org/drawingml/2006/main" noGrp="1"/>
          </p:cNvSpPr>
          <p:nvPr/>
        </p:nvSpPr>
        <p:spPr>
          <a:xfrm xmlns:a="http://schemas.openxmlformats.org/drawingml/2006/main">
            <a:off x="2571750" y="5267325"/>
            <a:ext cx="838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0">
                <a:solidFill>
                  <a:srgbClr val="73787D"/>
                </a:solidFill>
                <a:latin typeface="Arial"/>
                <a:ea typeface="Arial"/>
                <a:cs typeface="Arial"/>
              </a:defRPr>
            </a:pPr>
            <a:r>
              <a:rPr sz="1125" b="0">
                <a:solidFill>
                  <a:srgbClr val="73787D"/>
                </a:solidFill>
                <a:latin typeface="Arial"/>
                <a:ea typeface="Arial"/>
                <a:cs typeface="Arial"/>
              </a:rPr>
              <a:t>R$ 342,9 bi de R$ 961,5 bi de PL bruto; inclui FIC-FIDC.</a:t>
            </a:r>
          </a:p>
        </p:txBody>
      </p:sp>
    </p:spTree>
    <p:extLst>
      <p:ext uri="{BB962C8B-B14F-4D97-AF65-F5344CB8AC3E}">
        <p14:creationId xmlns:p14="http://schemas.microsoft.com/office/powerpoint/2010/main" val="58755325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0CD3C3F-96E3-499F-B2B0-89531F1C6198}"/>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ESCALA DA INDÚSTRIA</a:t>
            </a:r>
          </a:p>
        </p:txBody>
      </p:sp>
      <p:sp>
        <p:nvSpPr>
          <p:cNvPr id="2" name="">
            <a:extLst xmlns:a="http://schemas.openxmlformats.org/drawingml/2006/main">
              <a:ext uri="{FF2B5EF4-FFF2-40B4-BE49-F238E27FC236}">
                <a16:creationId xmlns:a16="http://schemas.microsoft.com/office/drawing/2014/main" id="{4CA0277A-EF1D-4B27-808D-F4137A285368}"/>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1950" b="1">
                <a:solidFill>
                  <a:srgbClr val="151515"/>
                </a:solidFill>
                <a:latin typeface="Arial"/>
                <a:ea typeface="Arial"/>
                <a:cs typeface="Arial"/>
              </a:defRPr>
            </a:pPr>
            <a:r>
              <a:rPr sz="1950" b="1">
                <a:solidFill>
                  <a:srgbClr val="151515"/>
                </a:solidFill>
                <a:latin typeface="Arial"/>
                <a:ea typeface="Arial"/>
                <a:cs typeface="Arial"/>
              </a:rPr>
              <a:t>FIDCs somam R$ 880 bi de PL ex-FIC; a carteira representa parte relevante da securitização</a:t>
            </a:r>
          </a:p>
        </p:txBody>
      </p:sp>
      <p:sp>
        <p:nvSpPr>
          <p:cNvPr id="3" name="">
            <a:extLst xmlns:a="http://schemas.openxmlformats.org/drawingml/2006/main">
              <a:ext uri="{FF2B5EF4-FFF2-40B4-BE49-F238E27FC236}">
                <a16:creationId xmlns:a16="http://schemas.microsoft.com/office/drawing/2014/main" id="{E51384D1-507C-4A95-A18B-46CAF45948C6}"/>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AA21293-2A14-401B-9B66-0139C2B5BF47}"/>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02E7DA7-AFAC-40AA-9EF9-67031A80DFF3}"/>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Informe Mensal de FIDC (jun/26); BCB, SGS 28183–28192 (último mês comum: mai/26).</a:t>
            </a:r>
          </a:p>
        </p:txBody>
      </p:sp>
      <p:sp>
        <p:nvSpPr>
          <p:cNvPr id="6" name="">
            <a:extLst xmlns:a="http://schemas.openxmlformats.org/drawingml/2006/main">
              <a:ext uri="{FF2B5EF4-FFF2-40B4-BE49-F238E27FC236}">
                <a16:creationId xmlns:a16="http://schemas.microsoft.com/office/drawing/2014/main" id="{0B8F4342-9507-43F7-9484-CF05B1CF08E0}"/>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3</a:t>
            </a:r>
          </a:p>
        </p:txBody>
      </p:sp>
      <p:sp>
        <p:nvSpPr>
          <p:cNvPr id="7" name="">
            <a:extLst xmlns:a="http://schemas.openxmlformats.org/drawingml/2006/main">
              <a:ext uri="{FF2B5EF4-FFF2-40B4-BE49-F238E27FC236}">
                <a16:creationId xmlns:a16="http://schemas.microsoft.com/office/drawing/2014/main" id="{358D6A87-B85D-4D88-BE3D-77FCDB7C8088}"/>
              </a:ext>
            </a:extLst>
          </p:cNvPr>
          <p:cNvSpPr>
            <a:spLocks xmlns:a="http://schemas.openxmlformats.org/drawingml/2006/main" noGrp="1"/>
          </p:cNvSpPr>
          <p:nvPr/>
        </p:nvSpPr>
        <p:spPr>
          <a:xfrm xmlns:a="http://schemas.openxmlformats.org/drawingml/2006/main">
            <a:off x="571500" y="1266825"/>
            <a:ext cx="5191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PL DOS FIDCs · EX-FIC · R$ BI</a:t>
            </a:r>
          </a:p>
        </p:txBody>
      </p:sp>
      <p:sp>
        <p:nvSpPr>
          <p:cNvPr id="8" name="">
            <a:extLst xmlns:a="http://schemas.openxmlformats.org/drawingml/2006/main">
              <a:ext uri="{FF2B5EF4-FFF2-40B4-BE49-F238E27FC236}">
                <a16:creationId xmlns:a16="http://schemas.microsoft.com/office/drawing/2014/main" id="{B4DBA9C2-2465-48BF-A6C9-44E14B012100}"/>
              </a:ext>
            </a:extLst>
          </p:cNvPr>
          <p:cNvSpPr>
            <a:spLocks xmlns:a="http://schemas.openxmlformats.org/drawingml/2006/main" noGrp="1"/>
          </p:cNvSpPr>
          <p:nvPr/>
        </p:nvSpPr>
        <p:spPr>
          <a:xfrm xmlns:a="http://schemas.openxmlformats.org/drawingml/2006/main">
            <a:off x="571500" y="1533525"/>
            <a:ext cx="519112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6" name="Chart"/>
          <p:cNvGraphicFramePr/>
          <p:nvPr/>
        </p:nvGraphicFramePr>
        <p:xfrm>
          <a:off xmlns:a="http://schemas.openxmlformats.org/drawingml/2006/main" x="523875" y="1571625"/>
          <a:ext xmlns:a="http://schemas.openxmlformats.org/drawingml/2006/main" cx="5286375" cy="3381375"/>
        </p:xfrm>
        <a:graphic xmlns:a="http://schemas.openxmlformats.org/drawingml/2006/main">
          <a:graphicData uri="http://schemas.openxmlformats.org/drawingml/2006/chart">
            <c:chart xmlns:r="http://schemas.openxmlformats.org/officeDocument/2006/relationships" xmlns:c="http://schemas.openxmlformats.org/drawingml/2006/chart" r:id="Re6b609230d4f436f"/>
          </a:graphicData>
        </a:graphic>
      </p:graphicFrame>
      <p:sp>
        <p:nvSpPr>
          <p:cNvPr id="10" name="">
            <a:extLst xmlns:a="http://schemas.openxmlformats.org/drawingml/2006/main">
              <a:ext uri="{FF2B5EF4-FFF2-40B4-BE49-F238E27FC236}">
                <a16:creationId xmlns:a16="http://schemas.microsoft.com/office/drawing/2014/main" id="{B198C60B-ABD9-4117-AD2D-9FFAA8FA59F1}"/>
              </a:ext>
            </a:extLst>
          </p:cNvPr>
          <p:cNvSpPr>
            <a:spLocks xmlns:a="http://schemas.openxmlformats.org/drawingml/2006/main" noGrp="1"/>
          </p:cNvSpPr>
          <p:nvPr/>
        </p:nvSpPr>
        <p:spPr>
          <a:xfrm xmlns:a="http://schemas.openxmlformats.org/drawingml/2006/main">
            <a:off x="571500" y="506730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615" b="1">
                <a:solidFill>
                  <a:srgbClr val="30353A"/>
                </a:solidFill>
                <a:latin typeface="Arial"/>
                <a:ea typeface="Arial"/>
                <a:cs typeface="Arial"/>
              </a:defRPr>
            </a:pPr>
            <a:r>
              <a:rPr sz="615" b="1">
                <a:solidFill>
                  <a:srgbClr val="30353A"/>
                </a:solidFill>
                <a:latin typeface="Arial"/>
                <a:ea typeface="Arial"/>
                <a:cs typeface="Arial"/>
              </a:rPr>
              <a:t>CAGR 2015–18 +16,7%   ·   2020/19 -9,1%   ·   2022/21 +22,6%   ·   2023/22 +26,2%   ·   2024/23 +47,9%   ·   2025/24 +22,0%   ·   2026 YTD +5,7%</a:t>
            </a:r>
          </a:p>
        </p:txBody>
      </p:sp>
      <p:sp>
        <p:nvSpPr>
          <p:cNvPr id="11" name="">
            <a:extLst xmlns:a="http://schemas.openxmlformats.org/drawingml/2006/main">
              <a:ext uri="{FF2B5EF4-FFF2-40B4-BE49-F238E27FC236}">
                <a16:creationId xmlns:a16="http://schemas.microsoft.com/office/drawing/2014/main" id="{DEEF9BD4-591B-4F70-99F3-8687BB37CF43}"/>
              </a:ext>
            </a:extLst>
          </p:cNvPr>
          <p:cNvSpPr>
            <a:spLocks xmlns:a="http://schemas.openxmlformats.org/drawingml/2006/main" noGrp="1"/>
          </p:cNvSpPr>
          <p:nvPr/>
        </p:nvSpPr>
        <p:spPr>
          <a:xfrm xmlns:a="http://schemas.openxmlformats.org/drawingml/2006/main">
            <a:off x="6143625" y="1266825"/>
            <a:ext cx="5476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CARTEIRA DE CRÉDITO PRIVADA AMPLIADA · R$ BI</a:t>
            </a:r>
          </a:p>
        </p:txBody>
      </p:sp>
      <p:sp>
        <p:nvSpPr>
          <p:cNvPr id="12" name="">
            <a:extLst xmlns:a="http://schemas.openxmlformats.org/drawingml/2006/main">
              <a:ext uri="{FF2B5EF4-FFF2-40B4-BE49-F238E27FC236}">
                <a16:creationId xmlns:a16="http://schemas.microsoft.com/office/drawing/2014/main" id="{0707B2E4-FD8A-4E46-9B84-50E039C1B8CC}"/>
              </a:ext>
            </a:extLst>
          </p:cNvPr>
          <p:cNvSpPr>
            <a:spLocks xmlns:a="http://schemas.openxmlformats.org/drawingml/2006/main" noGrp="1"/>
          </p:cNvSpPr>
          <p:nvPr/>
        </p:nvSpPr>
        <p:spPr>
          <a:xfrm xmlns:a="http://schemas.openxmlformats.org/drawingml/2006/main">
            <a:off x="6143625" y="1533525"/>
            <a:ext cx="54768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30" name="Chart"/>
          <p:cNvGraphicFramePr/>
          <p:nvPr/>
        </p:nvGraphicFramePr>
        <p:xfrm>
          <a:off xmlns:a="http://schemas.openxmlformats.org/drawingml/2006/main" x="6048375" y="1571625"/>
          <a:ext xmlns:a="http://schemas.openxmlformats.org/drawingml/2006/main" cx="5572125" cy="3381375"/>
        </p:xfrm>
        <a:graphic xmlns:a="http://schemas.openxmlformats.org/drawingml/2006/main">
          <a:graphicData uri="http://schemas.openxmlformats.org/drawingml/2006/chart">
            <c:chart xmlns:r="http://schemas.openxmlformats.org/officeDocument/2006/relationships" xmlns:c="http://schemas.openxmlformats.org/drawingml/2006/chart" r:id="Rb89ad7e886e44d60"/>
          </a:graphicData>
        </a:graphic>
      </p:graphicFrame>
      <p:graphicFrame>
        <p:nvGraphicFramePr>
          <p:cNvPr id="31" name="Chart"/>
          <p:cNvGraphicFramePr/>
          <p:nvPr/>
        </p:nvGraphicFramePr>
        <p:xfrm>
          <a:off xmlns:a="http://schemas.openxmlformats.org/drawingml/2006/main" x="6096000" y="4914900"/>
          <a:ext xmlns:a="http://schemas.openxmlformats.org/drawingml/2006/main" cx="5524500" cy="190500"/>
        </p:xfrm>
        <a:graphic xmlns:a="http://schemas.openxmlformats.org/drawingml/2006/main">
          <a:graphicData uri="http://schemas.openxmlformats.org/drawingml/2006/chart">
            <c:chart xmlns:r="http://schemas.openxmlformats.org/officeDocument/2006/relationships" xmlns:c="http://schemas.openxmlformats.org/drawingml/2006/chart" r:id="R605084ab1e964283"/>
          </a:graphicData>
        </a:graphic>
      </p:graphicFrame>
      <p:sp>
        <p:nvSpPr>
          <p:cNvPr id="15" name="">
            <a:extLst xmlns:a="http://schemas.openxmlformats.org/drawingml/2006/main">
              <a:ext uri="{FF2B5EF4-FFF2-40B4-BE49-F238E27FC236}">
                <a16:creationId xmlns:a16="http://schemas.microsoft.com/office/drawing/2014/main" id="{983416E0-7421-4633-82B4-081A890F854B}"/>
              </a:ext>
            </a:extLst>
          </p:cNvPr>
          <p:cNvSpPr>
            <a:spLocks xmlns:a="http://schemas.openxmlformats.org/drawingml/2006/main" noGrp="1"/>
          </p:cNvSpPr>
          <p:nvPr/>
        </p:nvSpPr>
        <p:spPr>
          <a:xfrm xmlns:a="http://schemas.openxmlformats.org/drawingml/2006/main">
            <a:off x="6096000" y="5153025"/>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615" b="1">
                <a:solidFill>
                  <a:srgbClr val="30353A"/>
                </a:solidFill>
                <a:latin typeface="Arial"/>
                <a:ea typeface="Arial"/>
                <a:cs typeface="Arial"/>
              </a:defRPr>
            </a:pPr>
            <a:r>
              <a:rPr sz="615" b="1">
                <a:solidFill>
                  <a:srgbClr val="30353A"/>
                </a:solidFill>
                <a:latin typeface="Arial"/>
                <a:ea typeface="Arial"/>
                <a:cs typeface="Arial"/>
              </a:rPr>
              <a:t>CAGR 2015–18 +1,6%   ·   2020/19 +16,0%   ·   2022/21 +10,9%   ·   2023/22 +7,6%   ·   2024/23 +17,9%   ·   2025/24 +8,0%   ·   2026 YTD +2,3%</a:t>
            </a:r>
          </a:p>
        </p:txBody>
      </p:sp>
      <p:sp>
        <p:nvSpPr>
          <p:cNvPr id="16" name="">
            <a:extLst xmlns:a="http://schemas.openxmlformats.org/drawingml/2006/main">
              <a:ext uri="{FF2B5EF4-FFF2-40B4-BE49-F238E27FC236}">
                <a16:creationId xmlns:a16="http://schemas.microsoft.com/office/drawing/2014/main" id="{68976CBC-4D82-4F3A-A09F-9A266B285CF5}"/>
              </a:ext>
            </a:extLst>
          </p:cNvPr>
          <p:cNvSpPr>
            <a:spLocks xmlns:a="http://schemas.openxmlformats.org/drawingml/2006/main" noGrp="1"/>
          </p:cNvSpPr>
          <p:nvPr/>
        </p:nvSpPr>
        <p:spPr>
          <a:xfrm xmlns:a="http://schemas.openxmlformats.org/drawingml/2006/main">
            <a:off x="6096000" y="5543550"/>
            <a:ext cx="552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615" b="0">
                <a:solidFill>
                  <a:srgbClr val="8D9399"/>
                </a:solidFill>
                <a:latin typeface="Arial"/>
                <a:ea typeface="Arial"/>
                <a:cs typeface="Arial"/>
              </a:defRPr>
            </a:pPr>
            <a:r>
              <a:rPr sz="615" b="0">
                <a:solidFill>
                  <a:srgbClr val="8D9399"/>
                </a:solidFill>
                <a:latin typeface="Arial"/>
                <a:ea typeface="Arial"/>
                <a:cs typeface="Arial"/>
              </a:rPr>
              <a:t>Mai/26: total privado R$ 13.672 bi; securitização R$ 1.157 bi; carteira FIDC R$ 670 bi. O total BCB de R$ 21.513 bi inclui R$ 7.841 bi de títulos públicos e permanece no export para reconciliação.</a:t>
            </a:r>
          </a:p>
        </p:txBody>
      </p:sp>
      <p:sp>
        <p:nvSpPr>
          <p:cNvPr id="17" name="">
            <a:extLst xmlns:a="http://schemas.openxmlformats.org/drawingml/2006/main">
              <a:ext uri="{FF2B5EF4-FFF2-40B4-BE49-F238E27FC236}">
                <a16:creationId xmlns:a16="http://schemas.microsoft.com/office/drawing/2014/main" id="{31EAFEFC-1F21-47AA-977B-71C01409A824}"/>
              </a:ext>
            </a:extLst>
          </p:cNvPr>
          <p:cNvSpPr>
            <a:spLocks xmlns:a="http://schemas.openxmlformats.org/drawingml/2006/main" noGrp="1"/>
          </p:cNvSpPr>
          <p:nvPr/>
        </p:nvSpPr>
        <p:spPr>
          <a:xfrm xmlns:a="http://schemas.openxmlformats.org/drawingml/2006/main">
            <a:off x="571500" y="6019800"/>
            <a:ext cx="1104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ctr">
              <a:lnSpc>
                <a:spcPct val="100000"/>
              </a:lnSpc>
              <a:buNone/>
              <a:defRPr sz="615" b="0">
                <a:solidFill>
                  <a:srgbClr val="8D9399"/>
                </a:solidFill>
                <a:latin typeface="Arial"/>
                <a:ea typeface="Arial"/>
                <a:cs typeface="Arial"/>
              </a:defRPr>
            </a:pPr>
            <a:r>
              <a:rPr sz="615" b="0">
                <a:solidFill>
                  <a:srgbClr val="8D9399"/>
                </a:solidFill>
                <a:latin typeface="Arial"/>
                <a:ea typeface="Arial"/>
                <a:cs typeface="Arial"/>
              </a:rPr>
              <a:t>Fonte: Banco Central do Brasil. Série de carteira de crédito ampliada, excluídos títulos públicos. Securitizações abertas entre FIDCs e demais securitizações (CRIs e CRAs). PL ex-FIC e carteira privada têm perímetros contábeis distintos.</a:t>
            </a:r>
          </a:p>
        </p:txBody>
      </p:sp>
    </p:spTree>
    <p:extLst>
      <p:ext uri="{BB962C8B-B14F-4D97-AF65-F5344CB8AC3E}">
        <p14:creationId xmlns:p14="http://schemas.microsoft.com/office/powerpoint/2010/main" val="163802501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5BCEF38F-AE8D-442B-9BF0-825550EEC2EF}"/>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OFERTAS ENCERRADAS · SÉRIE CVM</a:t>
            </a:r>
          </a:p>
        </p:txBody>
      </p:sp>
      <p:sp>
        <p:nvSpPr>
          <p:cNvPr id="2" name="">
            <a:extLst xmlns:a="http://schemas.openxmlformats.org/drawingml/2006/main">
              <a:ext uri="{FF2B5EF4-FFF2-40B4-BE49-F238E27FC236}">
                <a16:creationId xmlns:a16="http://schemas.microsoft.com/office/drawing/2014/main" id="{76B1E4CC-DA39-4384-9DDD-D71C0F550695}"/>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A série CVM preserva o volume registrado e a granularidade por oferta</a:t>
            </a:r>
          </a:p>
        </p:txBody>
      </p:sp>
      <p:sp>
        <p:nvSpPr>
          <p:cNvPr id="3" name="">
            <a:extLst xmlns:a="http://schemas.openxmlformats.org/drawingml/2006/main">
              <a:ext uri="{FF2B5EF4-FFF2-40B4-BE49-F238E27FC236}">
                <a16:creationId xmlns:a16="http://schemas.microsoft.com/office/drawing/2014/main" id="{EEA52D99-03CC-4865-9BD8-0F7932B41352}"/>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CFF894B-DF18-43B2-B36E-06FA60695EDD}"/>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0379C74-A1AD-4311-9CCF-CDC7787E6AFB}"/>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CVM/SRE, bases do rito automático e de distribuição, snapshot 24/jul/26. 2026 = jan–jun.</a:t>
            </a:r>
          </a:p>
        </p:txBody>
      </p:sp>
      <p:sp>
        <p:nvSpPr>
          <p:cNvPr id="6" name="">
            <a:extLst xmlns:a="http://schemas.openxmlformats.org/drawingml/2006/main">
              <a:ext uri="{FF2B5EF4-FFF2-40B4-BE49-F238E27FC236}">
                <a16:creationId xmlns:a16="http://schemas.microsoft.com/office/drawing/2014/main" id="{8FB8E6ED-21A4-41D8-8864-9E56DB050C05}"/>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4</a:t>
            </a:r>
          </a:p>
        </p:txBody>
      </p:sp>
      <p:sp>
        <p:nvSpPr>
          <p:cNvPr id="7" name="">
            <a:extLst xmlns:a="http://schemas.openxmlformats.org/drawingml/2006/main">
              <a:ext uri="{FF2B5EF4-FFF2-40B4-BE49-F238E27FC236}">
                <a16:creationId xmlns:a16="http://schemas.microsoft.com/office/drawing/2014/main" id="{B7A24DB4-F587-4E5D-AB46-C940B39620D0}"/>
              </a:ext>
            </a:extLst>
          </p:cNvPr>
          <p:cNvSpPr>
            <a:spLocks xmlns:a="http://schemas.openxmlformats.org/drawingml/2006/main" noGrp="1"/>
          </p:cNvSpPr>
          <p:nvPr/>
        </p:nvSpPr>
        <p:spPr>
          <a:xfrm xmlns:a="http://schemas.openxmlformats.org/drawingml/2006/main">
            <a:off x="571500" y="12573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FIDCs E DEMAIS INSTRUMENTOS ELEGÍVEIS · R$ BI</a:t>
            </a:r>
          </a:p>
        </p:txBody>
      </p:sp>
      <p:sp>
        <p:nvSpPr>
          <p:cNvPr id="8" name="">
            <a:extLst xmlns:a="http://schemas.openxmlformats.org/drawingml/2006/main">
              <a:ext uri="{FF2B5EF4-FFF2-40B4-BE49-F238E27FC236}">
                <a16:creationId xmlns:a16="http://schemas.microsoft.com/office/drawing/2014/main" id="{C2857A74-4EB8-4BA8-9A58-48DC347774FF}"/>
              </a:ext>
            </a:extLst>
          </p:cNvPr>
          <p:cNvSpPr>
            <a:spLocks xmlns:a="http://schemas.openxmlformats.org/drawingml/2006/main" noGrp="1"/>
          </p:cNvSpPr>
          <p:nvPr/>
        </p:nvSpPr>
        <p:spPr>
          <a:xfrm xmlns:a="http://schemas.openxmlformats.org/drawingml/2006/main">
            <a:off x="571500" y="15240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33" name="Chart"/>
          <p:cNvGraphicFramePr/>
          <p:nvPr/>
        </p:nvGraphicFramePr>
        <p:xfrm>
          <a:off xmlns:a="http://schemas.openxmlformats.org/drawingml/2006/main" x="571500" y="1581150"/>
          <a:ext xmlns:a="http://schemas.openxmlformats.org/drawingml/2006/main" cx="5286375" cy="2762250"/>
        </p:xfrm>
        <a:graphic xmlns:a="http://schemas.openxmlformats.org/drawingml/2006/main">
          <a:graphicData uri="http://schemas.openxmlformats.org/drawingml/2006/chart">
            <c:chart xmlns:r="http://schemas.openxmlformats.org/officeDocument/2006/relationships" xmlns:c="http://schemas.openxmlformats.org/drawingml/2006/chart" r:id="R5c21a26629e44521"/>
          </a:graphicData>
        </a:graphic>
      </p:graphicFrame>
      <p:sp>
        <p:nvSpPr>
          <p:cNvPr id="10" name="">
            <a:extLst xmlns:a="http://schemas.openxmlformats.org/drawingml/2006/main">
              <a:ext uri="{FF2B5EF4-FFF2-40B4-BE49-F238E27FC236}">
                <a16:creationId xmlns:a16="http://schemas.microsoft.com/office/drawing/2014/main" id="{F280253F-8624-4966-B4BA-3780CB116CC1}"/>
              </a:ext>
            </a:extLst>
          </p:cNvPr>
          <p:cNvSpPr>
            <a:spLocks xmlns:a="http://schemas.openxmlformats.org/drawingml/2006/main" noGrp="1"/>
          </p:cNvSpPr>
          <p:nvPr/>
        </p:nvSpPr>
        <p:spPr>
          <a:xfrm xmlns:a="http://schemas.openxmlformats.org/drawingml/2006/main">
            <a:off x="6334125" y="12573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INSTRUMENTOS MAIS EMITIDOS EM 2025 · R$ BI</a:t>
            </a:r>
          </a:p>
        </p:txBody>
      </p:sp>
      <p:sp>
        <p:nvSpPr>
          <p:cNvPr id="11" name="">
            <a:extLst xmlns:a="http://schemas.openxmlformats.org/drawingml/2006/main">
              <a:ext uri="{FF2B5EF4-FFF2-40B4-BE49-F238E27FC236}">
                <a16:creationId xmlns:a16="http://schemas.microsoft.com/office/drawing/2014/main" id="{DA6FCC1E-8F4D-4CB9-9BF0-E0F13A58B587}"/>
              </a:ext>
            </a:extLst>
          </p:cNvPr>
          <p:cNvSpPr>
            <a:spLocks xmlns:a="http://schemas.openxmlformats.org/drawingml/2006/main" noGrp="1"/>
          </p:cNvSpPr>
          <p:nvPr/>
        </p:nvSpPr>
        <p:spPr>
          <a:xfrm xmlns:a="http://schemas.openxmlformats.org/drawingml/2006/main">
            <a:off x="6334125" y="15240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36" name="Chart"/>
          <p:cNvGraphicFramePr/>
          <p:nvPr/>
        </p:nvGraphicFramePr>
        <p:xfrm>
          <a:off xmlns:a="http://schemas.openxmlformats.org/drawingml/2006/main" x="6334125" y="1581150"/>
          <a:ext xmlns:a="http://schemas.openxmlformats.org/drawingml/2006/main" cx="5286375" cy="2762250"/>
        </p:xfrm>
        <a:graphic xmlns:a="http://schemas.openxmlformats.org/drawingml/2006/main">
          <a:graphicData uri="http://schemas.openxmlformats.org/drawingml/2006/chart">
            <c:chart xmlns:r="http://schemas.openxmlformats.org/officeDocument/2006/relationships" xmlns:c="http://schemas.openxmlformats.org/drawingml/2006/chart" r:id="Ra55af9da67184253"/>
          </a:graphicData>
        </a:graphic>
      </p:graphicFrame>
      <p:sp>
        <p:nvSpPr>
          <p:cNvPr id="13" name="">
            <a:extLst xmlns:a="http://schemas.openxmlformats.org/drawingml/2006/main">
              <a:ext uri="{FF2B5EF4-FFF2-40B4-BE49-F238E27FC236}">
                <a16:creationId xmlns:a16="http://schemas.microsoft.com/office/drawing/2014/main" id="{F614861F-08FE-4C00-9796-4A5F36A58D41}"/>
              </a:ext>
            </a:extLst>
          </p:cNvPr>
          <p:cNvSpPr>
            <a:spLocks xmlns:a="http://schemas.openxmlformats.org/drawingml/2006/main" noGrp="1"/>
          </p:cNvSpPr>
          <p:nvPr/>
        </p:nvSpPr>
        <p:spPr>
          <a:xfrm xmlns:a="http://schemas.openxmlformats.org/drawingml/2006/main">
            <a:off x="571500" y="4667250"/>
            <a:ext cx="3476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MÉTRICA</a:t>
            </a:r>
          </a:p>
        </p:txBody>
      </p:sp>
      <p:sp>
        <p:nvSpPr>
          <p:cNvPr id="14" name="">
            <a:extLst xmlns:a="http://schemas.openxmlformats.org/drawingml/2006/main">
              <a:ext uri="{FF2B5EF4-FFF2-40B4-BE49-F238E27FC236}">
                <a16:creationId xmlns:a16="http://schemas.microsoft.com/office/drawing/2014/main" id="{B5EEFB26-3AD1-428C-A459-7180C201DDFA}"/>
              </a:ext>
            </a:extLst>
          </p:cNvPr>
          <p:cNvSpPr>
            <a:spLocks xmlns:a="http://schemas.openxmlformats.org/drawingml/2006/main" noGrp="1"/>
          </p:cNvSpPr>
          <p:nvPr/>
        </p:nvSpPr>
        <p:spPr>
          <a:xfrm xmlns:a="http://schemas.openxmlformats.org/drawingml/2006/main">
            <a:off x="571500" y="4895850"/>
            <a:ext cx="347662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8807EDF-F457-4BE5-8C3C-F0B1E54D7210}"/>
              </a:ext>
            </a:extLst>
          </p:cNvPr>
          <p:cNvSpPr>
            <a:spLocks xmlns:a="http://schemas.openxmlformats.org/drawingml/2006/main" noGrp="1"/>
          </p:cNvSpPr>
          <p:nvPr/>
        </p:nvSpPr>
        <p:spPr>
          <a:xfrm xmlns:a="http://schemas.openxmlformats.org/drawingml/2006/main">
            <a:off x="571500" y="4962525"/>
            <a:ext cx="3476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65" b="0">
                <a:solidFill>
                  <a:srgbClr val="30353A"/>
                </a:solidFill>
                <a:latin typeface="Arial"/>
                <a:ea typeface="Arial"/>
                <a:cs typeface="Arial"/>
              </a:defRPr>
            </a:pPr>
            <a:r>
              <a:rPr sz="765" b="0">
                <a:solidFill>
                  <a:srgbClr val="30353A"/>
                </a:solidFill>
                <a:latin typeface="Arial"/>
                <a:ea typeface="Arial"/>
                <a:cs typeface="Arial"/>
              </a:rPr>
              <a:t>Valor total registrado, informado à CVM.</a:t>
            </a:r>
          </a:p>
        </p:txBody>
      </p:sp>
      <p:sp>
        <p:nvSpPr>
          <p:cNvPr id="16" name="">
            <a:extLst xmlns:a="http://schemas.openxmlformats.org/drawingml/2006/main">
              <a:ext uri="{FF2B5EF4-FFF2-40B4-BE49-F238E27FC236}">
                <a16:creationId xmlns:a16="http://schemas.microsoft.com/office/drawing/2014/main" id="{A307D5FE-8486-4B3F-B29A-FB0C50FE8AAF}"/>
              </a:ext>
            </a:extLst>
          </p:cNvPr>
          <p:cNvSpPr>
            <a:spLocks xmlns:a="http://schemas.openxmlformats.org/drawingml/2006/main" noGrp="1"/>
          </p:cNvSpPr>
          <p:nvPr/>
        </p:nvSpPr>
        <p:spPr>
          <a:xfrm xmlns:a="http://schemas.openxmlformats.org/drawingml/2006/main">
            <a:off x="4191000" y="4648200"/>
            <a:ext cx="9525" cy="1219200"/>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15FE0E8-1B6A-4E54-9A55-A3EE3B88926F}"/>
              </a:ext>
            </a:extLst>
          </p:cNvPr>
          <p:cNvSpPr>
            <a:spLocks xmlns:a="http://schemas.openxmlformats.org/drawingml/2006/main" noGrp="1"/>
          </p:cNvSpPr>
          <p:nvPr/>
        </p:nvSpPr>
        <p:spPr>
          <a:xfrm xmlns:a="http://schemas.openxmlformats.org/drawingml/2006/main">
            <a:off x="4333875" y="4667250"/>
            <a:ext cx="3476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UNIVERSO</a:t>
            </a:r>
          </a:p>
        </p:txBody>
      </p:sp>
      <p:sp>
        <p:nvSpPr>
          <p:cNvPr id="18" name="">
            <a:extLst xmlns:a="http://schemas.openxmlformats.org/drawingml/2006/main">
              <a:ext uri="{FF2B5EF4-FFF2-40B4-BE49-F238E27FC236}">
                <a16:creationId xmlns:a16="http://schemas.microsoft.com/office/drawing/2014/main" id="{46708403-812E-43C2-8346-27435D32AB5E}"/>
              </a:ext>
            </a:extLst>
          </p:cNvPr>
          <p:cNvSpPr>
            <a:spLocks xmlns:a="http://schemas.openxmlformats.org/drawingml/2006/main" noGrp="1"/>
          </p:cNvSpPr>
          <p:nvPr/>
        </p:nvSpPr>
        <p:spPr>
          <a:xfrm xmlns:a="http://schemas.openxmlformats.org/drawingml/2006/main">
            <a:off x="4333875" y="4895850"/>
            <a:ext cx="347662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17B08C3-3D8A-402D-95F0-BADAB20E1A30}"/>
              </a:ext>
            </a:extLst>
          </p:cNvPr>
          <p:cNvSpPr>
            <a:spLocks xmlns:a="http://schemas.openxmlformats.org/drawingml/2006/main" noGrp="1"/>
          </p:cNvSpPr>
          <p:nvPr/>
        </p:nvSpPr>
        <p:spPr>
          <a:xfrm xmlns:a="http://schemas.openxmlformats.org/drawingml/2006/main">
            <a:off x="4333875" y="4962525"/>
            <a:ext cx="3476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65" b="0">
                <a:solidFill>
                  <a:srgbClr val="30353A"/>
                </a:solidFill>
                <a:latin typeface="Arial"/>
                <a:ea typeface="Arial"/>
                <a:cs typeface="Arial"/>
              </a:defRPr>
            </a:pPr>
            <a:r>
              <a:rPr sz="765" b="0">
                <a:solidFill>
                  <a:srgbClr val="30353A"/>
                </a:solidFill>
                <a:latin typeface="Arial"/>
                <a:ea typeface="Arial"/>
                <a:cs typeface="Arial"/>
              </a:rPr>
              <a:t>Ofertas públicas primárias encerradas; rito automático da RCVM 160, ordinário e regimes legados disponíveis.</a:t>
            </a:r>
          </a:p>
        </p:txBody>
      </p:sp>
      <p:sp>
        <p:nvSpPr>
          <p:cNvPr id="20" name="">
            <a:extLst xmlns:a="http://schemas.openxmlformats.org/drawingml/2006/main">
              <a:ext uri="{FF2B5EF4-FFF2-40B4-BE49-F238E27FC236}">
                <a16:creationId xmlns:a16="http://schemas.microsoft.com/office/drawing/2014/main" id="{CA800573-4EFD-4A1D-9CEE-B33C63BF3D64}"/>
              </a:ext>
            </a:extLst>
          </p:cNvPr>
          <p:cNvSpPr>
            <a:spLocks xmlns:a="http://schemas.openxmlformats.org/drawingml/2006/main" noGrp="1"/>
          </p:cNvSpPr>
          <p:nvPr/>
        </p:nvSpPr>
        <p:spPr>
          <a:xfrm xmlns:a="http://schemas.openxmlformats.org/drawingml/2006/main">
            <a:off x="7953375" y="4648200"/>
            <a:ext cx="9525" cy="1219200"/>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EA9033F-D079-4BAC-AE40-915354B1AEBD}"/>
              </a:ext>
            </a:extLst>
          </p:cNvPr>
          <p:cNvSpPr>
            <a:spLocks xmlns:a="http://schemas.openxmlformats.org/drawingml/2006/main" noGrp="1"/>
          </p:cNvSpPr>
          <p:nvPr/>
        </p:nvSpPr>
        <p:spPr>
          <a:xfrm xmlns:a="http://schemas.openxmlformats.org/drawingml/2006/main">
            <a:off x="8096250" y="4667250"/>
            <a:ext cx="3476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CORTE E LIMITAÇÃO</a:t>
            </a:r>
          </a:p>
        </p:txBody>
      </p:sp>
      <p:sp>
        <p:nvSpPr>
          <p:cNvPr id="22" name="">
            <a:extLst xmlns:a="http://schemas.openxmlformats.org/drawingml/2006/main">
              <a:ext uri="{FF2B5EF4-FFF2-40B4-BE49-F238E27FC236}">
                <a16:creationId xmlns:a16="http://schemas.microsoft.com/office/drawing/2014/main" id="{96FADBA2-544E-4309-A259-54EF54474A63}"/>
              </a:ext>
            </a:extLst>
          </p:cNvPr>
          <p:cNvSpPr>
            <a:spLocks xmlns:a="http://schemas.openxmlformats.org/drawingml/2006/main" noGrp="1"/>
          </p:cNvSpPr>
          <p:nvPr/>
        </p:nvSpPr>
        <p:spPr>
          <a:xfrm xmlns:a="http://schemas.openxmlformats.org/drawingml/2006/main">
            <a:off x="8096250" y="4895850"/>
            <a:ext cx="347662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883082C-8F57-40AC-B688-5BD7A3E81423}"/>
              </a:ext>
            </a:extLst>
          </p:cNvPr>
          <p:cNvSpPr>
            <a:spLocks xmlns:a="http://schemas.openxmlformats.org/drawingml/2006/main" noGrp="1"/>
          </p:cNvSpPr>
          <p:nvPr/>
        </p:nvSpPr>
        <p:spPr>
          <a:xfrm xmlns:a="http://schemas.openxmlformats.org/drawingml/2006/main">
            <a:off x="8096250" y="4962525"/>
            <a:ext cx="3476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65" b="0">
                <a:solidFill>
                  <a:srgbClr val="30353A"/>
                </a:solidFill>
                <a:latin typeface="Arial"/>
                <a:ea typeface="Arial"/>
                <a:cs typeface="Arial"/>
              </a:defRPr>
            </a:pPr>
            <a:r>
              <a:rPr sz="765" b="0">
                <a:solidFill>
                  <a:srgbClr val="30353A"/>
                </a:solidFill>
                <a:latin typeface="Arial"/>
                <a:ea typeface="Arial"/>
                <a:cs typeface="Arial"/>
              </a:rPr>
              <a:t>Data de encerramento no período; volume positivo. O valor registrado pode diferir do valor encerrado e a taxonomia declarada mantém Outros títulos de securitização separado.</a:t>
            </a:r>
          </a:p>
        </p:txBody>
      </p:sp>
      <p:sp>
        <p:nvSpPr>
          <p:cNvPr id="24" name="">
            <a:extLst xmlns:a="http://schemas.openxmlformats.org/drawingml/2006/main">
              <a:ext uri="{FF2B5EF4-FFF2-40B4-BE49-F238E27FC236}">
                <a16:creationId xmlns:a16="http://schemas.microsoft.com/office/drawing/2014/main" id="{8EE6944F-3E47-4ECC-86B8-DE8533D0A9D5}"/>
              </a:ext>
            </a:extLst>
          </p:cNvPr>
          <p:cNvSpPr>
            <a:spLocks xmlns:a="http://schemas.openxmlformats.org/drawingml/2006/main" noGrp="1"/>
          </p:cNvSpPr>
          <p:nvPr/>
        </p:nvSpPr>
        <p:spPr>
          <a:xfrm xmlns:a="http://schemas.openxmlformats.org/drawingml/2006/main">
            <a:off x="571500" y="6048375"/>
            <a:ext cx="1104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653" b="0">
                <a:solidFill>
                  <a:srgbClr val="8D9399"/>
                </a:solidFill>
                <a:latin typeface="Arial"/>
                <a:ea typeface="Arial"/>
                <a:cs typeface="Arial"/>
              </a:defRPr>
            </a:pPr>
            <a:r>
              <a:rPr sz="653" b="0">
                <a:solidFill>
                  <a:srgbClr val="8D9399"/>
                </a:solidFill>
                <a:latin typeface="Arial"/>
                <a:ea typeface="Arial"/>
                <a:cs typeface="Arial"/>
              </a:rPr>
              <a:t>* Perímetro aplicado aos slides granulares de emissões, inclusive público-alvo, tickets, regime de colocação e Top 15.</a:t>
            </a:r>
          </a:p>
        </p:txBody>
      </p:sp>
    </p:spTree>
    <p:extLst>
      <p:ext uri="{BB962C8B-B14F-4D97-AF65-F5344CB8AC3E}">
        <p14:creationId xmlns:p14="http://schemas.microsoft.com/office/powerpoint/2010/main" val="96813234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F7718C0-E18E-46AA-A9CF-C547620FE5E0}"/>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OFERTAS ENCERRADAS · SÉRIE ANBIMA</a:t>
            </a:r>
          </a:p>
        </p:txBody>
      </p:sp>
      <p:sp>
        <p:nvSpPr>
          <p:cNvPr id="2" name="">
            <a:extLst xmlns:a="http://schemas.openxmlformats.org/drawingml/2006/main">
              <a:ext uri="{FF2B5EF4-FFF2-40B4-BE49-F238E27FC236}">
                <a16:creationId xmlns:a16="http://schemas.microsoft.com/office/drawing/2014/main" id="{BE6C427C-353A-4B78-84F3-41E98BAB0867}"/>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O valor encerrado oferece a referência comparável do mercado por instrumento</a:t>
            </a:r>
          </a:p>
        </p:txBody>
      </p:sp>
      <p:sp>
        <p:nvSpPr>
          <p:cNvPr id="3" name="">
            <a:extLst xmlns:a="http://schemas.openxmlformats.org/drawingml/2006/main">
              <a:ext uri="{FF2B5EF4-FFF2-40B4-BE49-F238E27FC236}">
                <a16:creationId xmlns:a16="http://schemas.microsoft.com/office/drawing/2014/main" id="{68C4AA85-3E07-49ED-A25C-0F8117880654}"/>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63D8FEC-7275-4192-9A6B-CC0BFE582025}"/>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1A94C27-E2EA-45A6-A817-EDE289CF3477}"/>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ANBIMA Data, Boletim de Mercado de Capitais, snapshot mai/26. Valor encerrado; 2026 = jan–mai.</a:t>
            </a:r>
          </a:p>
        </p:txBody>
      </p:sp>
      <p:sp>
        <p:nvSpPr>
          <p:cNvPr id="6" name="">
            <a:extLst xmlns:a="http://schemas.openxmlformats.org/drawingml/2006/main">
              <a:ext uri="{FF2B5EF4-FFF2-40B4-BE49-F238E27FC236}">
                <a16:creationId xmlns:a16="http://schemas.microsoft.com/office/drawing/2014/main" id="{B056E388-2788-4DFE-9186-A47B1973C880}"/>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5</a:t>
            </a:r>
          </a:p>
        </p:txBody>
      </p:sp>
      <p:sp>
        <p:nvSpPr>
          <p:cNvPr id="7" name="">
            <a:extLst xmlns:a="http://schemas.openxmlformats.org/drawingml/2006/main">
              <a:ext uri="{FF2B5EF4-FFF2-40B4-BE49-F238E27FC236}">
                <a16:creationId xmlns:a16="http://schemas.microsoft.com/office/drawing/2014/main" id="{32B33417-AE83-4A20-B33D-8A9E547BB543}"/>
              </a:ext>
            </a:extLst>
          </p:cNvPr>
          <p:cNvSpPr>
            <a:spLocks xmlns:a="http://schemas.openxmlformats.org/drawingml/2006/main" noGrp="1"/>
          </p:cNvSpPr>
          <p:nvPr/>
        </p:nvSpPr>
        <p:spPr>
          <a:xfrm xmlns:a="http://schemas.openxmlformats.org/drawingml/2006/main">
            <a:off x="571500" y="1295400"/>
            <a:ext cx="600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VALOR ENCERRADO POR INSTRUMENTO · R$ BI</a:t>
            </a:r>
          </a:p>
        </p:txBody>
      </p:sp>
      <p:sp>
        <p:nvSpPr>
          <p:cNvPr id="8" name="">
            <a:extLst xmlns:a="http://schemas.openxmlformats.org/drawingml/2006/main">
              <a:ext uri="{FF2B5EF4-FFF2-40B4-BE49-F238E27FC236}">
                <a16:creationId xmlns:a16="http://schemas.microsoft.com/office/drawing/2014/main" id="{FCFB673E-2BC9-4F49-B59B-0778FF5C43ED}"/>
              </a:ext>
            </a:extLst>
          </p:cNvPr>
          <p:cNvSpPr>
            <a:spLocks xmlns:a="http://schemas.openxmlformats.org/drawingml/2006/main" noGrp="1"/>
          </p:cNvSpPr>
          <p:nvPr/>
        </p:nvSpPr>
        <p:spPr>
          <a:xfrm xmlns:a="http://schemas.openxmlformats.org/drawingml/2006/main">
            <a:off x="571500" y="1562100"/>
            <a:ext cx="600075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30" name="Chart"/>
          <p:cNvGraphicFramePr/>
          <p:nvPr/>
        </p:nvGraphicFramePr>
        <p:xfrm>
          <a:off xmlns:a="http://schemas.openxmlformats.org/drawingml/2006/main" x="571500" y="1657350"/>
          <a:ext xmlns:a="http://schemas.openxmlformats.org/drawingml/2006/main" cx="6000750" cy="3905250"/>
        </p:xfrm>
        <a:graphic xmlns:a="http://schemas.openxmlformats.org/drawingml/2006/main">
          <a:graphicData uri="http://schemas.openxmlformats.org/drawingml/2006/chart">
            <c:chart xmlns:r="http://schemas.openxmlformats.org/officeDocument/2006/relationships" xmlns:c="http://schemas.openxmlformats.org/drawingml/2006/chart" r:id="R2d7aa38c611d4f16"/>
          </a:graphicData>
        </a:graphic>
      </p:graphicFrame>
      <p:sp>
        <p:nvSpPr>
          <p:cNvPr id="10" name="">
            <a:extLst xmlns:a="http://schemas.openxmlformats.org/drawingml/2006/main">
              <a:ext uri="{FF2B5EF4-FFF2-40B4-BE49-F238E27FC236}">
                <a16:creationId xmlns:a16="http://schemas.microsoft.com/office/drawing/2014/main" id="{DBCE3FCA-89CA-40A0-BC9C-2D6101CB8305}"/>
              </a:ext>
            </a:extLst>
          </p:cNvPr>
          <p:cNvSpPr>
            <a:spLocks xmlns:a="http://schemas.openxmlformats.org/drawingml/2006/main" noGrp="1"/>
          </p:cNvSpPr>
          <p:nvPr/>
        </p:nvSpPr>
        <p:spPr>
          <a:xfrm xmlns:a="http://schemas.openxmlformats.org/drawingml/2006/main">
            <a:off x="6953250" y="1295400"/>
            <a:ext cx="466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13" b="1">
                <a:solidFill>
                  <a:srgbClr val="EC7000"/>
                </a:solidFill>
                <a:latin typeface="Arial"/>
                <a:ea typeface="Arial"/>
                <a:cs typeface="Arial"/>
              </a:defRPr>
            </a:pPr>
            <a:r>
              <a:rPr sz="713" b="1">
                <a:solidFill>
                  <a:srgbClr val="EC7000"/>
                </a:solidFill>
                <a:latin typeface="Arial"/>
                <a:ea typeface="Arial"/>
                <a:cs typeface="Arial"/>
              </a:rPr>
              <a:t>DEBÊNTURES · PONTE TAXONÔMICA</a:t>
            </a:r>
          </a:p>
        </p:txBody>
      </p:sp>
      <p:sp>
        <p:nvSpPr>
          <p:cNvPr id="11" name="">
            <a:extLst xmlns:a="http://schemas.openxmlformats.org/drawingml/2006/main">
              <a:ext uri="{FF2B5EF4-FFF2-40B4-BE49-F238E27FC236}">
                <a16:creationId xmlns:a16="http://schemas.microsoft.com/office/drawing/2014/main" id="{1C341731-6A5E-4308-842E-B78B8236E40F}"/>
              </a:ext>
            </a:extLst>
          </p:cNvPr>
          <p:cNvSpPr>
            <a:spLocks xmlns:a="http://schemas.openxmlformats.org/drawingml/2006/main" noGrp="1"/>
          </p:cNvSpPr>
          <p:nvPr/>
        </p:nvSpPr>
        <p:spPr>
          <a:xfrm xmlns:a="http://schemas.openxmlformats.org/drawingml/2006/main">
            <a:off x="6953250" y="1533525"/>
            <a:ext cx="4667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698" b="0">
                <a:solidFill>
                  <a:srgbClr val="30353A"/>
                </a:solidFill>
                <a:latin typeface="Arial"/>
                <a:ea typeface="Arial"/>
                <a:cs typeface="Arial"/>
              </a:defRPr>
            </a:pPr>
            <a:r>
              <a:rPr sz="698" b="0">
                <a:solidFill>
                  <a:srgbClr val="30353A"/>
                </a:solidFill>
                <a:latin typeface="Arial"/>
                <a:ea typeface="Arial"/>
                <a:cs typeface="Arial"/>
              </a:rPr>
              <a:t>2025: CVM R$ 453,7 bi + R$ 38,8 bi em Outros títulos de securitização = R$ 492,4 bi, ante R$ 493,4 bi na ANBIMA. Jan–mai/26: R$ 148,4 bi ante R$ 146,3 bi.</a:t>
            </a:r>
          </a:p>
        </p:txBody>
      </p:sp>
      <p:sp>
        <p:nvSpPr>
          <p:cNvPr id="12" name="">
            <a:extLst xmlns:a="http://schemas.openxmlformats.org/drawingml/2006/main">
              <a:ext uri="{FF2B5EF4-FFF2-40B4-BE49-F238E27FC236}">
                <a16:creationId xmlns:a16="http://schemas.microsoft.com/office/drawing/2014/main" id="{4B99D7DA-78AE-4096-A60F-EF48AFF8B639}"/>
              </a:ext>
            </a:extLst>
          </p:cNvPr>
          <p:cNvSpPr>
            <a:spLocks xmlns:a="http://schemas.openxmlformats.org/drawingml/2006/main" noGrp="1"/>
          </p:cNvSpPr>
          <p:nvPr/>
        </p:nvSpPr>
        <p:spPr>
          <a:xfrm xmlns:a="http://schemas.openxmlformats.org/drawingml/2006/main">
            <a:off x="6953250" y="2343150"/>
            <a:ext cx="4667250" cy="7620"/>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46B09B8-10A7-43B8-A830-A67572740C94}"/>
              </a:ext>
            </a:extLst>
          </p:cNvPr>
          <p:cNvSpPr>
            <a:spLocks xmlns:a="http://schemas.openxmlformats.org/drawingml/2006/main" noGrp="1"/>
          </p:cNvSpPr>
          <p:nvPr/>
        </p:nvSpPr>
        <p:spPr>
          <a:xfrm xmlns:a="http://schemas.openxmlformats.org/drawingml/2006/main">
            <a:off x="6953250" y="2466975"/>
            <a:ext cx="466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13" b="1">
                <a:solidFill>
                  <a:srgbClr val="30353A"/>
                </a:solidFill>
                <a:latin typeface="Arial"/>
                <a:ea typeface="Arial"/>
                <a:cs typeface="Arial"/>
              </a:defRPr>
            </a:pPr>
            <a:r>
              <a:rPr sz="713" b="1">
                <a:solidFill>
                  <a:srgbClr val="30353A"/>
                </a:solidFill>
                <a:latin typeface="Arial"/>
                <a:ea typeface="Arial"/>
                <a:cs typeface="Arial"/>
              </a:rPr>
              <a:t>FIDCs · MÉTRICA E COBERTURA</a:t>
            </a:r>
          </a:p>
        </p:txBody>
      </p:sp>
      <p:sp>
        <p:nvSpPr>
          <p:cNvPr id="14" name="">
            <a:extLst xmlns:a="http://schemas.openxmlformats.org/drawingml/2006/main">
              <a:ext uri="{FF2B5EF4-FFF2-40B4-BE49-F238E27FC236}">
                <a16:creationId xmlns:a16="http://schemas.microsoft.com/office/drawing/2014/main" id="{6FA0344A-D9C6-4434-8394-D52699D257A8}"/>
              </a:ext>
            </a:extLst>
          </p:cNvPr>
          <p:cNvSpPr>
            <a:spLocks xmlns:a="http://schemas.openxmlformats.org/drawingml/2006/main" noGrp="1"/>
          </p:cNvSpPr>
          <p:nvPr/>
        </p:nvSpPr>
        <p:spPr>
          <a:xfrm xmlns:a="http://schemas.openxmlformats.org/drawingml/2006/main">
            <a:off x="6953250" y="2705100"/>
            <a:ext cx="4667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698" b="0">
                <a:solidFill>
                  <a:srgbClr val="30353A"/>
                </a:solidFill>
                <a:latin typeface="Arial"/>
                <a:ea typeface="Arial"/>
                <a:cs typeface="Arial"/>
              </a:defRPr>
            </a:pPr>
            <a:r>
              <a:rPr sz="698" b="0">
                <a:solidFill>
                  <a:srgbClr val="30353A"/>
                </a:solidFill>
                <a:latin typeface="Arial"/>
                <a:ea typeface="Arial"/>
                <a:cs typeface="Arial"/>
              </a:rPr>
              <a:t>Em 2025, a CVM registra R$ 116,9 bi e a ANBIMA encerra R$ 91,0 bi. A diferença combina valor registrado versus encerrado, cobertura e presença de ofertas secundárias na ANBIMA; a causa individual exige reconciliação por oferta.</a:t>
            </a:r>
          </a:p>
        </p:txBody>
      </p:sp>
      <p:sp>
        <p:nvSpPr>
          <p:cNvPr id="15" name="">
            <a:extLst xmlns:a="http://schemas.openxmlformats.org/drawingml/2006/main">
              <a:ext uri="{FF2B5EF4-FFF2-40B4-BE49-F238E27FC236}">
                <a16:creationId xmlns:a16="http://schemas.microsoft.com/office/drawing/2014/main" id="{34CC9A41-D1DC-46CC-B27A-1AEA3F41AE58}"/>
              </a:ext>
            </a:extLst>
          </p:cNvPr>
          <p:cNvSpPr>
            <a:spLocks xmlns:a="http://schemas.openxmlformats.org/drawingml/2006/main" noGrp="1"/>
          </p:cNvSpPr>
          <p:nvPr/>
        </p:nvSpPr>
        <p:spPr>
          <a:xfrm xmlns:a="http://schemas.openxmlformats.org/drawingml/2006/main">
            <a:off x="6953250" y="3514725"/>
            <a:ext cx="4667250" cy="7620"/>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511962E-64B3-4E55-9D83-5A4A24439D50}"/>
              </a:ext>
            </a:extLst>
          </p:cNvPr>
          <p:cNvSpPr>
            <a:spLocks xmlns:a="http://schemas.openxmlformats.org/drawingml/2006/main" noGrp="1"/>
          </p:cNvSpPr>
          <p:nvPr/>
        </p:nvSpPr>
        <p:spPr>
          <a:xfrm xmlns:a="http://schemas.openxmlformats.org/drawingml/2006/main">
            <a:off x="6953250" y="3638550"/>
            <a:ext cx="466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13" b="1">
                <a:solidFill>
                  <a:srgbClr val="30353A"/>
                </a:solidFill>
                <a:latin typeface="Arial"/>
                <a:ea typeface="Arial"/>
                <a:cs typeface="Arial"/>
              </a:defRPr>
            </a:pPr>
            <a:r>
              <a:rPr sz="713" b="1">
                <a:solidFill>
                  <a:srgbClr val="30353A"/>
                </a:solidFill>
                <a:latin typeface="Arial"/>
                <a:ea typeface="Arial"/>
                <a:cs typeface="Arial"/>
              </a:rPr>
              <a:t>CRI E NOTAS COMERCIAIS</a:t>
            </a:r>
          </a:p>
        </p:txBody>
      </p:sp>
      <p:sp>
        <p:nvSpPr>
          <p:cNvPr id="17" name="">
            <a:extLst xmlns:a="http://schemas.openxmlformats.org/drawingml/2006/main">
              <a:ext uri="{FF2B5EF4-FFF2-40B4-BE49-F238E27FC236}">
                <a16:creationId xmlns:a16="http://schemas.microsoft.com/office/drawing/2014/main" id="{8E8791AB-9F37-4DA3-B386-44A3A6EBFC55}"/>
              </a:ext>
            </a:extLst>
          </p:cNvPr>
          <p:cNvSpPr>
            <a:spLocks xmlns:a="http://schemas.openxmlformats.org/drawingml/2006/main" noGrp="1"/>
          </p:cNvSpPr>
          <p:nvPr/>
        </p:nvSpPr>
        <p:spPr>
          <a:xfrm xmlns:a="http://schemas.openxmlformats.org/drawingml/2006/main">
            <a:off x="6953250" y="3876675"/>
            <a:ext cx="4667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698" b="0">
                <a:solidFill>
                  <a:srgbClr val="30353A"/>
                </a:solidFill>
                <a:latin typeface="Arial"/>
                <a:ea typeface="Arial"/>
                <a:cs typeface="Arial"/>
              </a:defRPr>
            </a:pPr>
            <a:r>
              <a:rPr sz="698" b="0">
                <a:solidFill>
                  <a:srgbClr val="30353A"/>
                </a:solidFill>
                <a:latin typeface="Arial"/>
                <a:ea typeface="Arial"/>
                <a:cs typeface="Arial"/>
              </a:rPr>
              <a:t>CRI: CVM 10,0% em 2025 e 9,8% em jan–mai/26 versus ANBIMA. Notas comerciais: 10,2% em jan–mai/26. O residual pode refletir métrica, rito, retificações e data do snapshot.</a:t>
            </a:r>
          </a:p>
        </p:txBody>
      </p:sp>
      <p:sp>
        <p:nvSpPr>
          <p:cNvPr id="18" name="">
            <a:extLst xmlns:a="http://schemas.openxmlformats.org/drawingml/2006/main">
              <a:ext uri="{FF2B5EF4-FFF2-40B4-BE49-F238E27FC236}">
                <a16:creationId xmlns:a16="http://schemas.microsoft.com/office/drawing/2014/main" id="{94D3B870-8740-459C-9EE2-CD64BEB41B15}"/>
              </a:ext>
            </a:extLst>
          </p:cNvPr>
          <p:cNvSpPr>
            <a:spLocks xmlns:a="http://schemas.openxmlformats.org/drawingml/2006/main" noGrp="1"/>
          </p:cNvSpPr>
          <p:nvPr/>
        </p:nvSpPr>
        <p:spPr>
          <a:xfrm xmlns:a="http://schemas.openxmlformats.org/drawingml/2006/main">
            <a:off x="6953250" y="4686300"/>
            <a:ext cx="4667250" cy="7620"/>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B2CCAD3-9CD5-4FDD-AE3C-2A4F833545C6}"/>
              </a:ext>
            </a:extLst>
          </p:cNvPr>
          <p:cNvSpPr>
            <a:spLocks xmlns:a="http://schemas.openxmlformats.org/drawingml/2006/main" noGrp="1"/>
          </p:cNvSpPr>
          <p:nvPr/>
        </p:nvSpPr>
        <p:spPr>
          <a:xfrm xmlns:a="http://schemas.openxmlformats.org/drawingml/2006/main">
            <a:off x="6953250" y="4810125"/>
            <a:ext cx="466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13" b="1">
                <a:solidFill>
                  <a:srgbClr val="30353A"/>
                </a:solidFill>
                <a:latin typeface="Arial"/>
                <a:ea typeface="Arial"/>
                <a:cs typeface="Arial"/>
              </a:defRPr>
            </a:pPr>
            <a:r>
              <a:rPr sz="713" b="1">
                <a:solidFill>
                  <a:srgbClr val="30353A"/>
                </a:solidFill>
                <a:latin typeface="Arial"/>
                <a:ea typeface="Arial"/>
                <a:cs typeface="Arial"/>
              </a:rPr>
              <a:t>CRA · PONTO PENDENTE</a:t>
            </a:r>
          </a:p>
        </p:txBody>
      </p:sp>
      <p:sp>
        <p:nvSpPr>
          <p:cNvPr id="20" name="">
            <a:extLst xmlns:a="http://schemas.openxmlformats.org/drawingml/2006/main">
              <a:ext uri="{FF2B5EF4-FFF2-40B4-BE49-F238E27FC236}">
                <a16:creationId xmlns:a16="http://schemas.microsoft.com/office/drawing/2014/main" id="{A9C68BBC-191D-4C5D-BB26-FEF095299295}"/>
              </a:ext>
            </a:extLst>
          </p:cNvPr>
          <p:cNvSpPr>
            <a:spLocks xmlns:a="http://schemas.openxmlformats.org/drawingml/2006/main" noGrp="1"/>
          </p:cNvSpPr>
          <p:nvPr/>
        </p:nvSpPr>
        <p:spPr>
          <a:xfrm xmlns:a="http://schemas.openxmlformats.org/drawingml/2006/main">
            <a:off x="6953250" y="5048250"/>
            <a:ext cx="4667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698" b="0">
                <a:solidFill>
                  <a:srgbClr val="30353A"/>
                </a:solidFill>
                <a:latin typeface="Arial"/>
                <a:ea typeface="Arial"/>
                <a:cs typeface="Arial"/>
              </a:defRPr>
            </a:pPr>
            <a:r>
              <a:rPr sz="698" b="0">
                <a:solidFill>
                  <a:srgbClr val="30353A"/>
                </a:solidFill>
                <a:latin typeface="Arial"/>
                <a:ea typeface="Arial"/>
                <a:cs typeface="Arial"/>
              </a:rPr>
              <a:t>A CVM ficou 18,1% acima da ANBIMA em 2023. De 2024 a jan–mai/26, o desvio ficou em até 2,7%. A causa de 2023 permanece sem comprovação oferta a oferta.</a:t>
            </a:r>
          </a:p>
        </p:txBody>
      </p:sp>
      <p:sp>
        <p:nvSpPr>
          <p:cNvPr id="21" name="">
            <a:extLst xmlns:a="http://schemas.openxmlformats.org/drawingml/2006/main">
              <a:ext uri="{FF2B5EF4-FFF2-40B4-BE49-F238E27FC236}">
                <a16:creationId xmlns:a16="http://schemas.microsoft.com/office/drawing/2014/main" id="{821D005F-1D48-4B5A-BAEA-ADAEF5D50471}"/>
              </a:ext>
            </a:extLst>
          </p:cNvPr>
          <p:cNvSpPr>
            <a:spLocks xmlns:a="http://schemas.openxmlformats.org/drawingml/2006/main" noGrp="1"/>
          </p:cNvSpPr>
          <p:nvPr/>
        </p:nvSpPr>
        <p:spPr>
          <a:xfrm xmlns:a="http://schemas.openxmlformats.org/drawingml/2006/main">
            <a:off x="571500" y="5962650"/>
            <a:ext cx="1104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645" b="0">
                <a:solidFill>
                  <a:srgbClr val="8D9399"/>
                </a:solidFill>
                <a:latin typeface="Arial"/>
                <a:ea typeface="Arial"/>
                <a:cs typeface="Arial"/>
              </a:defRPr>
            </a:pPr>
            <a:r>
              <a:rPr sz="645" b="0">
                <a:solidFill>
                  <a:srgbClr val="8D9399"/>
                </a:solidFill>
                <a:latin typeface="Arial"/>
                <a:ea typeface="Arial"/>
                <a:cs typeface="Arial"/>
              </a:rPr>
              <a:t>* Debêntures incluem debêntures de securitização. O anexo não segrega sistematicamente ofertas primárias e secundárias para renda fixa e fundos. Série sujeita a retificações.</a:t>
            </a:r>
          </a:p>
        </p:txBody>
      </p:sp>
    </p:spTree>
    <p:extLst>
      <p:ext uri="{BB962C8B-B14F-4D97-AF65-F5344CB8AC3E}">
        <p14:creationId xmlns:p14="http://schemas.microsoft.com/office/powerpoint/2010/main" val="39448822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9C8BE82-5B71-47B9-8AB6-373191AB11E4}"/>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BASE INVESTIDORA</a:t>
            </a:r>
          </a:p>
        </p:txBody>
      </p:sp>
      <p:sp>
        <p:nvSpPr>
          <p:cNvPr id="2" name="">
            <a:extLst xmlns:a="http://schemas.openxmlformats.org/drawingml/2006/main">
              <a:ext uri="{FF2B5EF4-FFF2-40B4-BE49-F238E27FC236}">
                <a16:creationId xmlns:a16="http://schemas.microsoft.com/office/drawing/2014/main" id="{46861E3A-9C44-4615-9405-52EF1697E979}"/>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78606"/>
          </a:bodyPr>
          <a:lstStyle xmlns:a="http://schemas.openxmlformats.org/drawingml/2006/main"/>
          <a:p xmlns:a="http://schemas.openxmlformats.org/drawingml/2006/main">
            <a:pPr algn="l">
              <a:lnSpc>
                <a:spcPct val="100000"/>
              </a:lnSpc>
              <a:buNone/>
              <a:defRPr sz="1800" b="1">
                <a:solidFill>
                  <a:srgbClr val="151515"/>
                </a:solidFill>
                <a:latin typeface="Arial"/>
                <a:ea typeface="Arial"/>
                <a:cs typeface="Arial"/>
              </a:defRPr>
            </a:pPr>
            <a:r>
              <a:rPr sz="1800" b="1">
                <a:solidFill>
                  <a:srgbClr val="151515"/>
                </a:solidFill>
                <a:latin typeface="Arial"/>
                <a:ea typeface="Arial"/>
                <a:cs typeface="Arial"/>
              </a:rPr>
              <a:t>Entre 92,8% e 96,8% do volume anual foi destinado ao público profissional; a classificação mede elegibilidade, não alocação final</a:t>
            </a:r>
          </a:p>
        </p:txBody>
      </p:sp>
      <p:sp>
        <p:nvSpPr>
          <p:cNvPr id="3" name="">
            <a:extLst xmlns:a="http://schemas.openxmlformats.org/drawingml/2006/main">
              <a:ext uri="{FF2B5EF4-FFF2-40B4-BE49-F238E27FC236}">
                <a16:creationId xmlns:a16="http://schemas.microsoft.com/office/drawing/2014/main" id="{A6CD74EE-5C28-4C80-9C8F-047B3D10A8C4}"/>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7BAA619-863C-4AE6-80C3-FC163B976FAE}"/>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C606753-6DFB-4D82-AEEF-8CBBBDEA2611}"/>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CVM/SRE, dois arquivos de ofertas; 24/jul/26. Primárias encerradas, todos os ritos. Definições: RCVM 30.</a:t>
            </a:r>
          </a:p>
        </p:txBody>
      </p:sp>
      <p:sp>
        <p:nvSpPr>
          <p:cNvPr id="6" name="">
            <a:extLst xmlns:a="http://schemas.openxmlformats.org/drawingml/2006/main">
              <a:ext uri="{FF2B5EF4-FFF2-40B4-BE49-F238E27FC236}">
                <a16:creationId xmlns:a16="http://schemas.microsoft.com/office/drawing/2014/main" id="{ACB10B96-1140-406E-827C-92CCF5FECFB7}"/>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6</a:t>
            </a:r>
          </a:p>
        </p:txBody>
      </p:sp>
      <p:sp>
        <p:nvSpPr>
          <p:cNvPr id="7" name="">
            <a:extLst xmlns:a="http://schemas.openxmlformats.org/drawingml/2006/main">
              <a:ext uri="{FF2B5EF4-FFF2-40B4-BE49-F238E27FC236}">
                <a16:creationId xmlns:a16="http://schemas.microsoft.com/office/drawing/2014/main" id="{07D72218-1472-499B-B858-1B11DE60A742}"/>
              </a:ext>
            </a:extLst>
          </p:cNvPr>
          <p:cNvSpPr>
            <a:spLocks xmlns:a="http://schemas.openxmlformats.org/drawingml/2006/main" noGrp="1"/>
          </p:cNvSpPr>
          <p:nvPr/>
        </p:nvSpPr>
        <p:spPr>
          <a:xfrm xmlns:a="http://schemas.openxmlformats.org/drawingml/2006/main">
            <a:off x="571500" y="1333500"/>
            <a:ext cx="657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CONTAS DE COTISTAS</a:t>
            </a:r>
          </a:p>
        </p:txBody>
      </p:sp>
      <p:sp>
        <p:nvSpPr>
          <p:cNvPr id="8" name="">
            <a:extLst xmlns:a="http://schemas.openxmlformats.org/drawingml/2006/main">
              <a:ext uri="{FF2B5EF4-FFF2-40B4-BE49-F238E27FC236}">
                <a16:creationId xmlns:a16="http://schemas.microsoft.com/office/drawing/2014/main" id="{56271017-1000-41E2-B9B8-76BD42A0AE34}"/>
              </a:ext>
            </a:extLst>
          </p:cNvPr>
          <p:cNvSpPr>
            <a:spLocks xmlns:a="http://schemas.openxmlformats.org/drawingml/2006/main" noGrp="1"/>
          </p:cNvSpPr>
          <p:nvPr/>
        </p:nvSpPr>
        <p:spPr>
          <a:xfrm xmlns:a="http://schemas.openxmlformats.org/drawingml/2006/main">
            <a:off x="571500" y="1600200"/>
            <a:ext cx="657225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5" name="Chart"/>
          <p:cNvGraphicFramePr/>
          <p:nvPr/>
        </p:nvGraphicFramePr>
        <p:xfrm>
          <a:off xmlns:a="http://schemas.openxmlformats.org/drawingml/2006/main" x="571500" y="1666875"/>
          <a:ext xmlns:a="http://schemas.openxmlformats.org/drawingml/2006/main" cx="6572250" cy="1809750"/>
        </p:xfrm>
        <a:graphic xmlns:a="http://schemas.openxmlformats.org/drawingml/2006/main">
          <a:graphicData uri="http://schemas.openxmlformats.org/drawingml/2006/chart">
            <c:chart xmlns:r="http://schemas.openxmlformats.org/officeDocument/2006/relationships" xmlns:c="http://schemas.openxmlformats.org/drawingml/2006/chart" r:id="Rd4a0758b35784ad8"/>
          </a:graphicData>
        </a:graphic>
      </p:graphicFrame>
      <p:sp>
        <p:nvSpPr>
          <p:cNvPr id="10" name="">
            <a:extLst xmlns:a="http://schemas.openxmlformats.org/drawingml/2006/main">
              <a:ext uri="{FF2B5EF4-FFF2-40B4-BE49-F238E27FC236}">
                <a16:creationId xmlns:a16="http://schemas.microsoft.com/office/drawing/2014/main" id="{1F408C2D-72BF-47D4-BF3E-FC62495A999F}"/>
              </a:ext>
            </a:extLst>
          </p:cNvPr>
          <p:cNvSpPr>
            <a:spLocks xmlns:a="http://schemas.openxmlformats.org/drawingml/2006/main" noGrp="1"/>
          </p:cNvSpPr>
          <p:nvPr/>
        </p:nvSpPr>
        <p:spPr>
          <a:xfrm xmlns:a="http://schemas.openxmlformats.org/drawingml/2006/main">
            <a:off x="571500" y="3638550"/>
            <a:ext cx="657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 DO VOLUME EMITIDO POR PÚBLICO-ALVO CVM</a:t>
            </a:r>
          </a:p>
        </p:txBody>
      </p:sp>
      <p:sp>
        <p:nvSpPr>
          <p:cNvPr id="11" name="">
            <a:extLst xmlns:a="http://schemas.openxmlformats.org/drawingml/2006/main">
              <a:ext uri="{FF2B5EF4-FFF2-40B4-BE49-F238E27FC236}">
                <a16:creationId xmlns:a16="http://schemas.microsoft.com/office/drawing/2014/main" id="{560F1E49-3EC5-4C2F-9DE0-BFF7F1CAED4F}"/>
              </a:ext>
            </a:extLst>
          </p:cNvPr>
          <p:cNvSpPr>
            <a:spLocks xmlns:a="http://schemas.openxmlformats.org/drawingml/2006/main" noGrp="1"/>
          </p:cNvSpPr>
          <p:nvPr/>
        </p:nvSpPr>
        <p:spPr>
          <a:xfrm xmlns:a="http://schemas.openxmlformats.org/drawingml/2006/main">
            <a:off x="571500" y="3905250"/>
            <a:ext cx="657225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8" name="Chart"/>
          <p:cNvGraphicFramePr/>
          <p:nvPr/>
        </p:nvGraphicFramePr>
        <p:xfrm>
          <a:off xmlns:a="http://schemas.openxmlformats.org/drawingml/2006/main" x="571500" y="3971925"/>
          <a:ext xmlns:a="http://schemas.openxmlformats.org/drawingml/2006/main" cx="6572250" cy="1809750"/>
        </p:xfrm>
        <a:graphic xmlns:a="http://schemas.openxmlformats.org/drawingml/2006/main">
          <a:graphicData uri="http://schemas.openxmlformats.org/drawingml/2006/chart">
            <c:chart xmlns:r="http://schemas.openxmlformats.org/officeDocument/2006/relationships" xmlns:c="http://schemas.openxmlformats.org/drawingml/2006/chart" r:id="R1a346a4505a14221"/>
          </a:graphicData>
        </a:graphic>
      </p:graphicFrame>
      <p:sp>
        <p:nvSpPr>
          <p:cNvPr id="13" name="">
            <a:extLst xmlns:a="http://schemas.openxmlformats.org/drawingml/2006/main">
              <a:ext uri="{FF2B5EF4-FFF2-40B4-BE49-F238E27FC236}">
                <a16:creationId xmlns:a16="http://schemas.microsoft.com/office/drawing/2014/main" id="{F3D3325A-98F5-4EB0-9B2D-D0E9ACD1CBAC}"/>
              </a:ext>
            </a:extLst>
          </p:cNvPr>
          <p:cNvSpPr>
            <a:spLocks xmlns:a="http://schemas.openxmlformats.org/drawingml/2006/main" noGrp="1"/>
          </p:cNvSpPr>
          <p:nvPr/>
        </p:nvSpPr>
        <p:spPr>
          <a:xfrm xmlns:a="http://schemas.openxmlformats.org/drawingml/2006/main">
            <a:off x="7572375" y="1333500"/>
            <a:ext cx="4048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COMPOSIÇÃO DAS CONTAS · JUN/26</a:t>
            </a:r>
          </a:p>
        </p:txBody>
      </p:sp>
      <p:sp>
        <p:nvSpPr>
          <p:cNvPr id="14" name="">
            <a:extLst xmlns:a="http://schemas.openxmlformats.org/drawingml/2006/main">
              <a:ext uri="{FF2B5EF4-FFF2-40B4-BE49-F238E27FC236}">
                <a16:creationId xmlns:a16="http://schemas.microsoft.com/office/drawing/2014/main" id="{110CDD22-ACEE-4FC3-837E-B71D8E868FE6}"/>
              </a:ext>
            </a:extLst>
          </p:cNvPr>
          <p:cNvSpPr>
            <a:spLocks xmlns:a="http://schemas.openxmlformats.org/drawingml/2006/main" noGrp="1"/>
          </p:cNvSpPr>
          <p:nvPr/>
        </p:nvSpPr>
        <p:spPr>
          <a:xfrm xmlns:a="http://schemas.openxmlformats.org/drawingml/2006/main">
            <a:off x="7572375" y="1600200"/>
            <a:ext cx="404812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31" name="Chart"/>
          <p:cNvGraphicFramePr/>
          <p:nvPr/>
        </p:nvGraphicFramePr>
        <p:xfrm>
          <a:off xmlns:a="http://schemas.openxmlformats.org/drawingml/2006/main" x="7524750" y="1714500"/>
          <a:ext xmlns:a="http://schemas.openxmlformats.org/drawingml/2006/main" cx="4095750" cy="3190875"/>
        </p:xfrm>
        <a:graphic xmlns:a="http://schemas.openxmlformats.org/drawingml/2006/main">
          <a:graphicData uri="http://schemas.openxmlformats.org/drawingml/2006/chart">
            <c:chart xmlns:r="http://schemas.openxmlformats.org/officeDocument/2006/relationships" xmlns:c="http://schemas.openxmlformats.org/drawingml/2006/chart" r:id="R50c000edf3cf4522"/>
          </a:graphicData>
        </a:graphic>
      </p:graphicFrame>
      <p:sp>
        <p:nvSpPr>
          <p:cNvPr id="16" name="">
            <a:extLst xmlns:a="http://schemas.openxmlformats.org/drawingml/2006/main">
              <a:ext uri="{FF2B5EF4-FFF2-40B4-BE49-F238E27FC236}">
                <a16:creationId xmlns:a16="http://schemas.microsoft.com/office/drawing/2014/main" id="{33937B88-717B-4E97-9A0F-3CBDF880F133}"/>
              </a:ext>
            </a:extLst>
          </p:cNvPr>
          <p:cNvSpPr>
            <a:spLocks xmlns:a="http://schemas.openxmlformats.org/drawingml/2006/main" noGrp="1"/>
          </p:cNvSpPr>
          <p:nvPr/>
        </p:nvSpPr>
        <p:spPr>
          <a:xfrm xmlns:a="http://schemas.openxmlformats.org/drawingml/2006/main">
            <a:off x="7572375" y="5095875"/>
            <a:ext cx="4048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65" b="0">
                <a:solidFill>
                  <a:srgbClr val="8D9399"/>
                </a:solidFill>
                <a:latin typeface="Arial"/>
                <a:ea typeface="Arial"/>
                <a:cs typeface="Arial"/>
              </a:defRPr>
            </a:pPr>
            <a:r>
              <a:rPr sz="765" b="0">
                <a:solidFill>
                  <a:srgbClr val="8D9399"/>
                </a:solidFill>
                <a:latin typeface="Arial"/>
                <a:ea typeface="Arial"/>
                <a:cs typeface="Arial"/>
              </a:rPr>
              <a:t>A emissão é majoritariamente elegível a investidores profissionais, padrão compatível com demanda institucional/gestoras. A base de público-alvo não separa pessoa física de pessoa jurídica; Público Geral foi 0,0% em 2024 e 0,5% em jan–jun/26. N/D: 1,1% em 2023 e 0,5% em 2025.</a:t>
            </a:r>
          </a:p>
        </p:txBody>
      </p:sp>
    </p:spTree>
    <p:extLst>
      <p:ext uri="{BB962C8B-B14F-4D97-AF65-F5344CB8AC3E}">
        <p14:creationId xmlns:p14="http://schemas.microsoft.com/office/powerpoint/2010/main" val="196817451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C436A8EC-F057-4B56-8157-B55EABC0A68C}"/>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DISTRIBUIÇÃO POR NÚMERO DE COTISTAS</a:t>
            </a:r>
          </a:p>
        </p:txBody>
      </p:sp>
      <p:sp>
        <p:nvSpPr>
          <p:cNvPr id="2" name="">
            <a:extLst xmlns:a="http://schemas.openxmlformats.org/drawingml/2006/main">
              <a:ext uri="{FF2B5EF4-FFF2-40B4-BE49-F238E27FC236}">
                <a16:creationId xmlns:a16="http://schemas.microsoft.com/office/drawing/2014/main" id="{415E5781-2A2F-4D92-9823-E526B2546F1E}"/>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99702"/>
          </a:bodyPr>
          <a:lstStyle xmlns:a="http://schemas.openxmlformats.org/drawingml/2006/main"/>
          <a:p xmlns:a="http://schemas.openxmlformats.org/drawingml/2006/main">
            <a:pPr algn="l">
              <a:lnSpc>
                <a:spcPct val="100000"/>
              </a:lnSpc>
              <a:buNone/>
              <a:defRPr sz="1950" b="1">
                <a:solidFill>
                  <a:srgbClr val="151515"/>
                </a:solidFill>
                <a:latin typeface="Arial"/>
                <a:ea typeface="Arial"/>
                <a:cs typeface="Arial"/>
              </a:defRPr>
            </a:pPr>
            <a:r>
              <a:rPr sz="1950" b="1">
                <a:solidFill>
                  <a:srgbClr val="151515"/>
                </a:solidFill>
                <a:latin typeface="Arial"/>
                <a:ea typeface="Arial"/>
                <a:cs typeface="Arial"/>
              </a:rPr>
              <a:t>Fundos com mais de 10 contas ganharam 11,0 p.p. do universo e 10,6 p.p. do PL desde dez/23</a:t>
            </a:r>
          </a:p>
        </p:txBody>
      </p:sp>
      <p:sp>
        <p:nvSpPr>
          <p:cNvPr id="3" name="">
            <a:extLst xmlns:a="http://schemas.openxmlformats.org/drawingml/2006/main">
              <a:ext uri="{FF2B5EF4-FFF2-40B4-BE49-F238E27FC236}">
                <a16:creationId xmlns:a16="http://schemas.microsoft.com/office/drawing/2014/main" id="{7AAE8189-595B-42B0-89D4-E9682F4E9EFA}"/>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037A0DE-C3EF-444C-B665-35CFC5915703}"/>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30A853D-4056-4706-AEAE-592FBCC8486D}"/>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 dez/23 e jun/26. Ex-FIC com PL ≥ R$ 200 mi: 409 → 784 fundos; contas por classe/série, não investidores únicos.</a:t>
            </a:r>
          </a:p>
        </p:txBody>
      </p:sp>
      <p:sp>
        <p:nvSpPr>
          <p:cNvPr id="6" name="">
            <a:extLst xmlns:a="http://schemas.openxmlformats.org/drawingml/2006/main">
              <a:ext uri="{FF2B5EF4-FFF2-40B4-BE49-F238E27FC236}">
                <a16:creationId xmlns:a16="http://schemas.microsoft.com/office/drawing/2014/main" id="{1BE181F7-70DF-4CAD-AA43-54BF9B14DFD4}"/>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7</a:t>
            </a:r>
          </a:p>
        </p:txBody>
      </p:sp>
      <p:graphicFrame>
        <p:nvGraphicFramePr>
          <p:cNvPr id="29" name="Chart"/>
          <p:cNvGraphicFramePr/>
          <p:nvPr/>
        </p:nvGraphicFramePr>
        <p:xfrm>
          <a:off xmlns:a="http://schemas.openxmlformats.org/drawingml/2006/main" x="9239250" y="1219200"/>
          <a:ext xmlns:a="http://schemas.openxmlformats.org/drawingml/2006/main" cx="2381250" cy="209550"/>
        </p:xfrm>
        <a:graphic xmlns:a="http://schemas.openxmlformats.org/drawingml/2006/main">
          <a:graphicData uri="http://schemas.openxmlformats.org/drawingml/2006/chart">
            <c:chart xmlns:r="http://schemas.openxmlformats.org/officeDocument/2006/relationships" xmlns:c="http://schemas.openxmlformats.org/drawingml/2006/chart" r:id="R132df83455fd4a75"/>
          </a:graphicData>
        </a:graphic>
      </p:graphicFrame>
      <p:sp>
        <p:nvSpPr>
          <p:cNvPr id="8" name="">
            <a:extLst xmlns:a="http://schemas.openxmlformats.org/drawingml/2006/main">
              <a:ext uri="{FF2B5EF4-FFF2-40B4-BE49-F238E27FC236}">
                <a16:creationId xmlns:a16="http://schemas.microsoft.com/office/drawing/2014/main" id="{B8FE3BC8-CB65-4F97-8031-DB6A9C508ACB}"/>
              </a:ext>
            </a:extLst>
          </p:cNvPr>
          <p:cNvSpPr>
            <a:spLocks xmlns:a="http://schemas.openxmlformats.org/drawingml/2006/main" noGrp="1"/>
          </p:cNvSpPr>
          <p:nvPr/>
        </p:nvSpPr>
        <p:spPr>
          <a:xfrm xmlns:a="http://schemas.openxmlformats.org/drawingml/2006/main">
            <a:off x="571500" y="1323975"/>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QUANTIDADE DE FUNDOS · ABSOLUTO</a:t>
            </a:r>
          </a:p>
        </p:txBody>
      </p:sp>
      <p:sp>
        <p:nvSpPr>
          <p:cNvPr id="9" name="">
            <a:extLst xmlns:a="http://schemas.openxmlformats.org/drawingml/2006/main">
              <a:ext uri="{FF2B5EF4-FFF2-40B4-BE49-F238E27FC236}">
                <a16:creationId xmlns:a16="http://schemas.microsoft.com/office/drawing/2014/main" id="{75141BEE-1F73-49F7-8E02-F9E39717A19E}"/>
              </a:ext>
            </a:extLst>
          </p:cNvPr>
          <p:cNvSpPr>
            <a:spLocks xmlns:a="http://schemas.openxmlformats.org/drawingml/2006/main" noGrp="1"/>
          </p:cNvSpPr>
          <p:nvPr/>
        </p:nvSpPr>
        <p:spPr>
          <a:xfrm xmlns:a="http://schemas.openxmlformats.org/drawingml/2006/main">
            <a:off x="571500" y="1590675"/>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32" name="Chart"/>
          <p:cNvGraphicFramePr/>
          <p:nvPr/>
        </p:nvGraphicFramePr>
        <p:xfrm>
          <a:off xmlns:a="http://schemas.openxmlformats.org/drawingml/2006/main" x="571500" y="1724025"/>
          <a:ext xmlns:a="http://schemas.openxmlformats.org/drawingml/2006/main" cx="5286375" cy="1809750"/>
        </p:xfrm>
        <a:graphic xmlns:a="http://schemas.openxmlformats.org/drawingml/2006/main">
          <a:graphicData uri="http://schemas.openxmlformats.org/drawingml/2006/chart">
            <c:chart xmlns:r="http://schemas.openxmlformats.org/officeDocument/2006/relationships" xmlns:c="http://schemas.openxmlformats.org/drawingml/2006/chart" r:id="R9218b94a38ba4f58"/>
          </a:graphicData>
        </a:graphic>
      </p:graphicFrame>
      <p:sp>
        <p:nvSpPr>
          <p:cNvPr id="11" name="">
            <a:extLst xmlns:a="http://schemas.openxmlformats.org/drawingml/2006/main">
              <a:ext uri="{FF2B5EF4-FFF2-40B4-BE49-F238E27FC236}">
                <a16:creationId xmlns:a16="http://schemas.microsoft.com/office/drawing/2014/main" id="{5887AA17-BB53-48F4-A501-43D35713C947}"/>
              </a:ext>
            </a:extLst>
          </p:cNvPr>
          <p:cNvSpPr>
            <a:spLocks xmlns:a="http://schemas.openxmlformats.org/drawingml/2006/main" noGrp="1"/>
          </p:cNvSpPr>
          <p:nvPr/>
        </p:nvSpPr>
        <p:spPr>
          <a:xfrm xmlns:a="http://schemas.openxmlformats.org/drawingml/2006/main">
            <a:off x="6334125" y="1323975"/>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PL POR FAIXA · R$ BI</a:t>
            </a:r>
          </a:p>
        </p:txBody>
      </p:sp>
      <p:sp>
        <p:nvSpPr>
          <p:cNvPr id="12" name="">
            <a:extLst xmlns:a="http://schemas.openxmlformats.org/drawingml/2006/main">
              <a:ext uri="{FF2B5EF4-FFF2-40B4-BE49-F238E27FC236}">
                <a16:creationId xmlns:a16="http://schemas.microsoft.com/office/drawing/2014/main" id="{7AECAFBB-90E8-4AB4-9C08-48A4B4033F82}"/>
              </a:ext>
            </a:extLst>
          </p:cNvPr>
          <p:cNvSpPr>
            <a:spLocks xmlns:a="http://schemas.openxmlformats.org/drawingml/2006/main" noGrp="1"/>
          </p:cNvSpPr>
          <p:nvPr/>
        </p:nvSpPr>
        <p:spPr>
          <a:xfrm xmlns:a="http://schemas.openxmlformats.org/drawingml/2006/main">
            <a:off x="6334125" y="1590675"/>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35" name="Chart"/>
          <p:cNvGraphicFramePr/>
          <p:nvPr/>
        </p:nvGraphicFramePr>
        <p:xfrm>
          <a:off xmlns:a="http://schemas.openxmlformats.org/drawingml/2006/main" x="6334125" y="1724025"/>
          <a:ext xmlns:a="http://schemas.openxmlformats.org/drawingml/2006/main" cx="5286375" cy="1809750"/>
        </p:xfrm>
        <a:graphic xmlns:a="http://schemas.openxmlformats.org/drawingml/2006/main">
          <a:graphicData uri="http://schemas.openxmlformats.org/drawingml/2006/chart">
            <c:chart xmlns:r="http://schemas.openxmlformats.org/officeDocument/2006/relationships" xmlns:c="http://schemas.openxmlformats.org/drawingml/2006/chart" r:id="R5118487fbef9416a"/>
          </a:graphicData>
        </a:graphic>
      </p:graphicFrame>
      <p:sp>
        <p:nvSpPr>
          <p:cNvPr id="14" name="">
            <a:extLst xmlns:a="http://schemas.openxmlformats.org/drawingml/2006/main">
              <a:ext uri="{FF2B5EF4-FFF2-40B4-BE49-F238E27FC236}">
                <a16:creationId xmlns:a16="http://schemas.microsoft.com/office/drawing/2014/main" id="{F9151D53-DD53-44BC-A157-08AA3F59F834}"/>
              </a:ext>
            </a:extLst>
          </p:cNvPr>
          <p:cNvSpPr>
            <a:spLocks xmlns:a="http://schemas.openxmlformats.org/drawingml/2006/main" noGrp="1"/>
          </p:cNvSpPr>
          <p:nvPr/>
        </p:nvSpPr>
        <p:spPr>
          <a:xfrm xmlns:a="http://schemas.openxmlformats.org/drawingml/2006/main">
            <a:off x="571500" y="37338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QUANTIDADE DE FUNDOS · % DO TOTAL</a:t>
            </a:r>
          </a:p>
        </p:txBody>
      </p:sp>
      <p:sp>
        <p:nvSpPr>
          <p:cNvPr id="15" name="">
            <a:extLst xmlns:a="http://schemas.openxmlformats.org/drawingml/2006/main">
              <a:ext uri="{FF2B5EF4-FFF2-40B4-BE49-F238E27FC236}">
                <a16:creationId xmlns:a16="http://schemas.microsoft.com/office/drawing/2014/main" id="{503C8365-67E2-41BA-84E6-4274DEFC4AF1}"/>
              </a:ext>
            </a:extLst>
          </p:cNvPr>
          <p:cNvSpPr>
            <a:spLocks xmlns:a="http://schemas.openxmlformats.org/drawingml/2006/main" noGrp="1"/>
          </p:cNvSpPr>
          <p:nvPr/>
        </p:nvSpPr>
        <p:spPr>
          <a:xfrm xmlns:a="http://schemas.openxmlformats.org/drawingml/2006/main">
            <a:off x="571500" y="40005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38" name="Chart"/>
          <p:cNvGraphicFramePr/>
          <p:nvPr/>
        </p:nvGraphicFramePr>
        <p:xfrm>
          <a:off xmlns:a="http://schemas.openxmlformats.org/drawingml/2006/main" x="571500" y="4076700"/>
          <a:ext xmlns:a="http://schemas.openxmlformats.org/drawingml/2006/main" cx="5286375" cy="1809750"/>
        </p:xfrm>
        <a:graphic xmlns:a="http://schemas.openxmlformats.org/drawingml/2006/main">
          <a:graphicData uri="http://schemas.openxmlformats.org/drawingml/2006/chart">
            <c:chart xmlns:r="http://schemas.openxmlformats.org/officeDocument/2006/relationships" xmlns:c="http://schemas.openxmlformats.org/drawingml/2006/chart" r:id="R1f2c779a7cd64ee3"/>
          </a:graphicData>
        </a:graphic>
      </p:graphicFrame>
      <p:sp>
        <p:nvSpPr>
          <p:cNvPr id="17" name="">
            <a:extLst xmlns:a="http://schemas.openxmlformats.org/drawingml/2006/main">
              <a:ext uri="{FF2B5EF4-FFF2-40B4-BE49-F238E27FC236}">
                <a16:creationId xmlns:a16="http://schemas.microsoft.com/office/drawing/2014/main" id="{381C9516-A4E0-4A56-9236-EFEABCC61F93}"/>
              </a:ext>
            </a:extLst>
          </p:cNvPr>
          <p:cNvSpPr>
            <a:spLocks xmlns:a="http://schemas.openxmlformats.org/drawingml/2006/main" noGrp="1"/>
          </p:cNvSpPr>
          <p:nvPr/>
        </p:nvSpPr>
        <p:spPr>
          <a:xfrm xmlns:a="http://schemas.openxmlformats.org/drawingml/2006/main">
            <a:off x="3905250" y="3752850"/>
            <a:ext cx="1952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Soma das barras = 100%</a:t>
            </a:r>
          </a:p>
        </p:txBody>
      </p:sp>
      <p:sp>
        <p:nvSpPr>
          <p:cNvPr id="18" name="">
            <a:extLst xmlns:a="http://schemas.openxmlformats.org/drawingml/2006/main">
              <a:ext uri="{FF2B5EF4-FFF2-40B4-BE49-F238E27FC236}">
                <a16:creationId xmlns:a16="http://schemas.microsoft.com/office/drawing/2014/main" id="{9968ECB3-EE85-40E1-BBCD-CCE7B7FDD10D}"/>
              </a:ext>
            </a:extLst>
          </p:cNvPr>
          <p:cNvSpPr>
            <a:spLocks xmlns:a="http://schemas.openxmlformats.org/drawingml/2006/main" noGrp="1"/>
          </p:cNvSpPr>
          <p:nvPr/>
        </p:nvSpPr>
        <p:spPr>
          <a:xfrm xmlns:a="http://schemas.openxmlformats.org/drawingml/2006/main">
            <a:off x="6334125" y="37338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PL POR FAIXA · % DO TOTAL</a:t>
            </a:r>
          </a:p>
        </p:txBody>
      </p:sp>
      <p:sp>
        <p:nvSpPr>
          <p:cNvPr id="19" name="">
            <a:extLst xmlns:a="http://schemas.openxmlformats.org/drawingml/2006/main">
              <a:ext uri="{FF2B5EF4-FFF2-40B4-BE49-F238E27FC236}">
                <a16:creationId xmlns:a16="http://schemas.microsoft.com/office/drawing/2014/main" id="{73D042B4-54DF-4CAD-BE12-11BA5413A8F2}"/>
              </a:ext>
            </a:extLst>
          </p:cNvPr>
          <p:cNvSpPr>
            <a:spLocks xmlns:a="http://schemas.openxmlformats.org/drawingml/2006/main" noGrp="1"/>
          </p:cNvSpPr>
          <p:nvPr/>
        </p:nvSpPr>
        <p:spPr>
          <a:xfrm xmlns:a="http://schemas.openxmlformats.org/drawingml/2006/main">
            <a:off x="6334125" y="40005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42" name="Chart"/>
          <p:cNvGraphicFramePr/>
          <p:nvPr/>
        </p:nvGraphicFramePr>
        <p:xfrm>
          <a:off xmlns:a="http://schemas.openxmlformats.org/drawingml/2006/main" x="6334125" y="4076700"/>
          <a:ext xmlns:a="http://schemas.openxmlformats.org/drawingml/2006/main" cx="5286375" cy="1809750"/>
        </p:xfrm>
        <a:graphic xmlns:a="http://schemas.openxmlformats.org/drawingml/2006/main">
          <a:graphicData uri="http://schemas.openxmlformats.org/drawingml/2006/chart">
            <c:chart xmlns:r="http://schemas.openxmlformats.org/officeDocument/2006/relationships" xmlns:c="http://schemas.openxmlformats.org/drawingml/2006/chart" r:id="R100bc61c745b4b0d"/>
          </a:graphicData>
        </a:graphic>
      </p:graphicFrame>
      <p:sp>
        <p:nvSpPr>
          <p:cNvPr id="21" name="">
            <a:extLst xmlns:a="http://schemas.openxmlformats.org/drawingml/2006/main">
              <a:ext uri="{FF2B5EF4-FFF2-40B4-BE49-F238E27FC236}">
                <a16:creationId xmlns:a16="http://schemas.microsoft.com/office/drawing/2014/main" id="{C7CF3871-762B-4EF6-91DE-9340B91B74A9}"/>
              </a:ext>
            </a:extLst>
          </p:cNvPr>
          <p:cNvSpPr>
            <a:spLocks xmlns:a="http://schemas.openxmlformats.org/drawingml/2006/main" noGrp="1"/>
          </p:cNvSpPr>
          <p:nvPr/>
        </p:nvSpPr>
        <p:spPr>
          <a:xfrm xmlns:a="http://schemas.openxmlformats.org/drawingml/2006/main">
            <a:off x="9667875" y="3752850"/>
            <a:ext cx="1952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Soma das barras = 100%</a:t>
            </a:r>
          </a:p>
        </p:txBody>
      </p:sp>
      <p:sp>
        <p:nvSpPr>
          <p:cNvPr id="22" name="">
            <a:extLst xmlns:a="http://schemas.openxmlformats.org/drawingml/2006/main">
              <a:ext uri="{FF2B5EF4-FFF2-40B4-BE49-F238E27FC236}">
                <a16:creationId xmlns:a16="http://schemas.microsoft.com/office/drawing/2014/main" id="{5820BEA7-F19E-48AA-AA7A-06A6A52237E1}"/>
              </a:ext>
            </a:extLst>
          </p:cNvPr>
          <p:cNvSpPr>
            <a:spLocks xmlns:a="http://schemas.openxmlformats.org/drawingml/2006/main" noGrp="1"/>
          </p:cNvSpPr>
          <p:nvPr/>
        </p:nvSpPr>
        <p:spPr>
          <a:xfrm xmlns:a="http://schemas.openxmlformats.org/drawingml/2006/main">
            <a:off x="571500" y="6096000"/>
            <a:ext cx="1104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Comparação de duas fotografias da indústria, não de coorte constante. Corte de R$ 200 mi em valores nominais; cada histograma percentual fecha em 100%.</a:t>
            </a:r>
          </a:p>
        </p:txBody>
      </p:sp>
    </p:spTree>
    <p:extLst>
      <p:ext uri="{BB962C8B-B14F-4D97-AF65-F5344CB8AC3E}">
        <p14:creationId xmlns:p14="http://schemas.microsoft.com/office/powerpoint/2010/main" val="11851745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E681159-51E3-44F7-B7E5-BFDA37DCBA07}"/>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TAXONOMIA VIGENTE</a:t>
            </a:r>
          </a:p>
        </p:txBody>
      </p:sp>
      <p:sp>
        <p:nvSpPr>
          <p:cNvPr id="2" name="">
            <a:extLst xmlns:a="http://schemas.openxmlformats.org/drawingml/2006/main">
              <a:ext uri="{FF2B5EF4-FFF2-40B4-BE49-F238E27FC236}">
                <a16:creationId xmlns:a16="http://schemas.microsoft.com/office/drawing/2014/main" id="{3D74CA96-4141-4CC7-A845-2EBBF4BE5C4B}"/>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Financeiro + Outros = 68,7% do PL ex-FIC · jun/26</a:t>
            </a:r>
          </a:p>
        </p:txBody>
      </p:sp>
      <p:sp>
        <p:nvSpPr>
          <p:cNvPr id="3" name="">
            <a:extLst xmlns:a="http://schemas.openxmlformats.org/drawingml/2006/main">
              <a:ext uri="{FF2B5EF4-FFF2-40B4-BE49-F238E27FC236}">
                <a16:creationId xmlns:a16="http://schemas.microsoft.com/office/drawing/2014/main" id="{9465F3F0-E75C-4BBD-863E-995936CFAF3E}"/>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ABD4DEC-E92B-4299-9B45-4DFC0A9D10E1}"/>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F7BF35D-1442-440B-BD72-7262708FD50C}"/>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ANBIMA Data (Tipo/Foco, dez/25) + Informe Mensal CVM (jun/26).</a:t>
            </a:r>
          </a:p>
        </p:txBody>
      </p:sp>
      <p:sp>
        <p:nvSpPr>
          <p:cNvPr id="6" name="">
            <a:extLst xmlns:a="http://schemas.openxmlformats.org/drawingml/2006/main">
              <a:ext uri="{FF2B5EF4-FFF2-40B4-BE49-F238E27FC236}">
                <a16:creationId xmlns:a16="http://schemas.microsoft.com/office/drawing/2014/main" id="{3D5C27D2-33E3-40BF-9E1C-42DBC6DEC1CD}"/>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8</a:t>
            </a:r>
          </a:p>
        </p:txBody>
      </p:sp>
      <p:sp>
        <p:nvSpPr>
          <p:cNvPr id="7" name="">
            <a:extLst xmlns:a="http://schemas.openxmlformats.org/drawingml/2006/main">
              <a:ext uri="{FF2B5EF4-FFF2-40B4-BE49-F238E27FC236}">
                <a16:creationId xmlns:a16="http://schemas.microsoft.com/office/drawing/2014/main" id="{895FFC01-D2C5-41FB-B709-9C9B1DFF924A}"/>
              </a:ext>
            </a:extLst>
          </p:cNvPr>
          <p:cNvSpPr>
            <a:spLocks xmlns:a="http://schemas.openxmlformats.org/drawingml/2006/main" noGrp="1"/>
          </p:cNvSpPr>
          <p:nvPr/>
        </p:nvSpPr>
        <p:spPr>
          <a:xfrm xmlns:a="http://schemas.openxmlformats.org/drawingml/2006/main">
            <a:off x="571500" y="1381125"/>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PL EX-FIC · R$ BILHÕES</a:t>
            </a:r>
          </a:p>
        </p:txBody>
      </p:sp>
      <p:sp>
        <p:nvSpPr>
          <p:cNvPr id="8" name="">
            <a:extLst xmlns:a="http://schemas.openxmlformats.org/drawingml/2006/main">
              <a:ext uri="{FF2B5EF4-FFF2-40B4-BE49-F238E27FC236}">
                <a16:creationId xmlns:a16="http://schemas.microsoft.com/office/drawing/2014/main" id="{610486A9-AE5E-4AB1-9F69-CDAAB3E38159}"/>
              </a:ext>
            </a:extLst>
          </p:cNvPr>
          <p:cNvSpPr>
            <a:spLocks xmlns:a="http://schemas.openxmlformats.org/drawingml/2006/main" noGrp="1"/>
          </p:cNvSpPr>
          <p:nvPr/>
        </p:nvSpPr>
        <p:spPr>
          <a:xfrm xmlns:a="http://schemas.openxmlformats.org/drawingml/2006/main">
            <a:off x="571500" y="1647825"/>
            <a:ext cx="523875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4" name="Chart"/>
          <p:cNvGraphicFramePr/>
          <p:nvPr/>
        </p:nvGraphicFramePr>
        <p:xfrm>
          <a:off xmlns:a="http://schemas.openxmlformats.org/drawingml/2006/main" x="571500" y="1762125"/>
          <a:ext xmlns:a="http://schemas.openxmlformats.org/drawingml/2006/main" cx="5238750" cy="3381375"/>
        </p:xfrm>
        <a:graphic xmlns:a="http://schemas.openxmlformats.org/drawingml/2006/main">
          <a:graphicData uri="http://schemas.openxmlformats.org/drawingml/2006/chart">
            <c:chart xmlns:r="http://schemas.openxmlformats.org/officeDocument/2006/relationships" xmlns:c="http://schemas.openxmlformats.org/drawingml/2006/chart" r:id="R32fd2611821a4ccf"/>
          </a:graphicData>
        </a:graphic>
      </p:graphicFrame>
      <p:sp>
        <p:nvSpPr>
          <p:cNvPr id="10" name="">
            <a:extLst xmlns:a="http://schemas.openxmlformats.org/drawingml/2006/main">
              <a:ext uri="{FF2B5EF4-FFF2-40B4-BE49-F238E27FC236}">
                <a16:creationId xmlns:a16="http://schemas.microsoft.com/office/drawing/2014/main" id="{98CA0AB8-92F6-4E63-AD79-2FB6A6A67097}"/>
              </a:ext>
            </a:extLst>
          </p:cNvPr>
          <p:cNvSpPr>
            <a:spLocks xmlns:a="http://schemas.openxmlformats.org/drawingml/2006/main" noGrp="1"/>
          </p:cNvSpPr>
          <p:nvPr/>
        </p:nvSpPr>
        <p:spPr>
          <a:xfrm xmlns:a="http://schemas.openxmlformats.org/drawingml/2006/main">
            <a:off x="6381750" y="1381125"/>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PARTICIPAÇÃO NO PL EX-FIC</a:t>
            </a:r>
          </a:p>
        </p:txBody>
      </p:sp>
      <p:sp>
        <p:nvSpPr>
          <p:cNvPr id="11" name="">
            <a:extLst xmlns:a="http://schemas.openxmlformats.org/drawingml/2006/main">
              <a:ext uri="{FF2B5EF4-FFF2-40B4-BE49-F238E27FC236}">
                <a16:creationId xmlns:a16="http://schemas.microsoft.com/office/drawing/2014/main" id="{3A40E23A-7EAC-4F5C-B381-7FF08565C0AF}"/>
              </a:ext>
            </a:extLst>
          </p:cNvPr>
          <p:cNvSpPr>
            <a:spLocks xmlns:a="http://schemas.openxmlformats.org/drawingml/2006/main" noGrp="1"/>
          </p:cNvSpPr>
          <p:nvPr/>
        </p:nvSpPr>
        <p:spPr>
          <a:xfrm xmlns:a="http://schemas.openxmlformats.org/drawingml/2006/main">
            <a:off x="6381750" y="1647825"/>
            <a:ext cx="523875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7" name="Chart"/>
          <p:cNvGraphicFramePr/>
          <p:nvPr/>
        </p:nvGraphicFramePr>
        <p:xfrm>
          <a:off xmlns:a="http://schemas.openxmlformats.org/drawingml/2006/main" x="6381750" y="1762125"/>
          <a:ext xmlns:a="http://schemas.openxmlformats.org/drawingml/2006/main" cx="5238750" cy="3381375"/>
        </p:xfrm>
        <a:graphic xmlns:a="http://schemas.openxmlformats.org/drawingml/2006/main">
          <a:graphicData uri="http://schemas.openxmlformats.org/drawingml/2006/chart">
            <c:chart xmlns:r="http://schemas.openxmlformats.org/officeDocument/2006/relationships" xmlns:c="http://schemas.openxmlformats.org/drawingml/2006/chart" r:id="Rde3463c482404a68"/>
          </a:graphicData>
        </a:graphic>
      </p:graphicFrame>
      <p:graphicFrame>
        <p:nvGraphicFramePr>
          <p:cNvPr id="28" name="Chart"/>
          <p:cNvGraphicFramePr/>
          <p:nvPr/>
        </p:nvGraphicFramePr>
        <p:xfrm>
          <a:off xmlns:a="http://schemas.openxmlformats.org/drawingml/2006/main" x="2095500" y="5295900"/>
          <a:ext xmlns:a="http://schemas.openxmlformats.org/drawingml/2006/main" cx="8001000" cy="266700"/>
        </p:xfrm>
        <a:graphic xmlns:a="http://schemas.openxmlformats.org/drawingml/2006/main">
          <a:graphicData uri="http://schemas.openxmlformats.org/drawingml/2006/chart">
            <c:chart xmlns:r="http://schemas.openxmlformats.org/officeDocument/2006/relationships" xmlns:c="http://schemas.openxmlformats.org/drawingml/2006/chart" r:id="Ra8e6212268a949cc"/>
          </a:graphicData>
        </a:graphic>
      </p:graphicFrame>
      <p:sp>
        <p:nvSpPr>
          <p:cNvPr id="14" name="">
            <a:extLst xmlns:a="http://schemas.openxmlformats.org/drawingml/2006/main">
              <a:ext uri="{FF2B5EF4-FFF2-40B4-BE49-F238E27FC236}">
                <a16:creationId xmlns:a16="http://schemas.microsoft.com/office/drawing/2014/main" id="{7B344F9C-46CA-442F-972D-9DF9BEBE56BC}"/>
              </a:ext>
            </a:extLst>
          </p:cNvPr>
          <p:cNvSpPr>
            <a:spLocks xmlns:a="http://schemas.openxmlformats.org/drawingml/2006/main" noGrp="1"/>
          </p:cNvSpPr>
          <p:nvPr/>
        </p:nvSpPr>
        <p:spPr>
          <a:xfrm xmlns:a="http://schemas.openxmlformats.org/drawingml/2006/main">
            <a:off x="1143000" y="5638800"/>
            <a:ext cx="990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88" b="1">
                <a:solidFill>
                  <a:srgbClr val="30353A"/>
                </a:solidFill>
                <a:latin typeface="Arial"/>
                <a:ea typeface="Arial"/>
                <a:cs typeface="Arial"/>
              </a:defRPr>
            </a:pPr>
            <a:r>
              <a:rPr sz="788" b="1">
                <a:solidFill>
                  <a:srgbClr val="30353A"/>
                </a:solidFill>
                <a:latin typeface="Arial"/>
                <a:ea typeface="Arial"/>
                <a:cs typeface="Arial"/>
              </a:rPr>
              <a:t>As quatro categorias somam R$ 880,4 bi, equivalentes a 100% do PL ex-FIC de jun/26.</a:t>
            </a:r>
          </a:p>
        </p:txBody>
      </p:sp>
      <p:sp>
        <p:nvSpPr>
          <p:cNvPr id="15" name="">
            <a:extLst xmlns:a="http://schemas.openxmlformats.org/drawingml/2006/main">
              <a:ext uri="{FF2B5EF4-FFF2-40B4-BE49-F238E27FC236}">
                <a16:creationId xmlns:a16="http://schemas.microsoft.com/office/drawing/2014/main" id="{AD603F2A-D1EF-4594-863C-F9B57EC4B439}"/>
              </a:ext>
            </a:extLst>
          </p:cNvPr>
          <p:cNvSpPr>
            <a:spLocks xmlns:a="http://schemas.openxmlformats.org/drawingml/2006/main" noGrp="1"/>
          </p:cNvSpPr>
          <p:nvPr/>
        </p:nvSpPr>
        <p:spPr>
          <a:xfrm xmlns:a="http://schemas.openxmlformats.org/drawingml/2006/main">
            <a:off x="762000" y="5876925"/>
            <a:ext cx="10668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682" b="0">
                <a:solidFill>
                  <a:srgbClr val="8D9399"/>
                </a:solidFill>
                <a:latin typeface="Arial"/>
                <a:ea typeface="Arial"/>
                <a:cs typeface="Arial"/>
              </a:defRPr>
            </a:pPr>
            <a:r>
              <a:rPr sz="682" b="0">
                <a:solidFill>
                  <a:srgbClr val="8D9399"/>
                </a:solidFill>
                <a:latin typeface="Arial"/>
                <a:ea typeface="Arial"/>
                <a:cs typeface="Arial"/>
              </a:rPr>
              <a:t>Fomento Mercantil: recebíveis comerciais de empresas. Agro/Indústria/Comércio: agro, cadeia produtiva, crédito corporativo e infraestrutura. Financeiro: pessoal, consignado, imobiliário e veículos. Outros: multicarteira, poder público, recuperação e N/D. Cinco propostas documentais, somando R$ 22,0 bi, permanecem em validação; o gráfico reproduz a classificação oficial.</a:t>
            </a:r>
          </a:p>
        </p:txBody>
      </p:sp>
    </p:spTree>
    <p:extLst>
      <p:ext uri="{BB962C8B-B14F-4D97-AF65-F5344CB8AC3E}">
        <p14:creationId xmlns:p14="http://schemas.microsoft.com/office/powerpoint/2010/main" val="188927718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4473B51-2F7B-4E0B-B1E3-8411322E06B7}"/>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TAXONOMIA CVM · RECLASSIFICAÇÃO DE ADQUIRÊNCIA</a:t>
            </a:r>
          </a:p>
        </p:txBody>
      </p:sp>
      <p:sp>
        <p:nvSpPr>
          <p:cNvPr id="2" name="">
            <a:extLst xmlns:a="http://schemas.openxmlformats.org/drawingml/2006/main">
              <a:ext uri="{FF2B5EF4-FFF2-40B4-BE49-F238E27FC236}">
                <a16:creationId xmlns:a16="http://schemas.microsoft.com/office/drawing/2014/main" id="{FC9A59C3-0E56-4808-9451-6C9E92799B7A}"/>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1950" b="1">
                <a:solidFill>
                  <a:srgbClr val="151515"/>
                </a:solidFill>
                <a:latin typeface="Arial"/>
                <a:ea typeface="Arial"/>
                <a:cs typeface="Arial"/>
              </a:defRPr>
            </a:pPr>
            <a:r>
              <a:rPr sz="1950" b="1">
                <a:solidFill>
                  <a:srgbClr val="151515"/>
                </a:solidFill>
                <a:latin typeface="Arial"/>
                <a:ea typeface="Arial"/>
                <a:cs typeface="Arial"/>
              </a:rPr>
              <a:t>Os 33 CNPJs selecionados formam Adquirência; R$ 99,2 bi e 11,3% do PL ex-FIC em jun/26</a:t>
            </a:r>
          </a:p>
        </p:txBody>
      </p:sp>
      <p:sp>
        <p:nvSpPr>
          <p:cNvPr id="3" name="">
            <a:extLst xmlns:a="http://schemas.openxmlformats.org/drawingml/2006/main">
              <a:ext uri="{FF2B5EF4-FFF2-40B4-BE49-F238E27FC236}">
                <a16:creationId xmlns:a16="http://schemas.microsoft.com/office/drawing/2014/main" id="{4AD071F6-ED8E-473A-83EA-5AADD5E1CB03}"/>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86EEBB2-D104-408A-B324-086A67FF5B0D}"/>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5B89466-357F-460A-90DE-A6819809AD6B}"/>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 Informe Mensal e regulamentos no FundosNet. Curadoria em 21/jul/26; a categoria CVM original permanece preservada.</a:t>
            </a:r>
          </a:p>
        </p:txBody>
      </p:sp>
      <p:sp>
        <p:nvSpPr>
          <p:cNvPr id="6" name="">
            <a:extLst xmlns:a="http://schemas.openxmlformats.org/drawingml/2006/main">
              <a:ext uri="{FF2B5EF4-FFF2-40B4-BE49-F238E27FC236}">
                <a16:creationId xmlns:a16="http://schemas.microsoft.com/office/drawing/2014/main" id="{350BF349-646B-4F50-BA59-0EC7DA193061}"/>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9</a:t>
            </a:r>
          </a:p>
        </p:txBody>
      </p:sp>
      <p:sp>
        <p:nvSpPr>
          <p:cNvPr id="7" name="">
            <a:extLst xmlns:a="http://schemas.openxmlformats.org/drawingml/2006/main">
              <a:ext uri="{FF2B5EF4-FFF2-40B4-BE49-F238E27FC236}">
                <a16:creationId xmlns:a16="http://schemas.microsoft.com/office/drawing/2014/main" id="{184FB622-9841-4AF3-9C8D-03B28539B12F}"/>
              </a:ext>
            </a:extLst>
          </p:cNvPr>
          <p:cNvSpPr>
            <a:spLocks xmlns:a="http://schemas.openxmlformats.org/drawingml/2006/main" noGrp="1"/>
          </p:cNvSpPr>
          <p:nvPr/>
        </p:nvSpPr>
        <p:spPr>
          <a:xfrm xmlns:a="http://schemas.openxmlformats.org/drawingml/2006/main">
            <a:off x="571500" y="142875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PL EX-FIC · R$ BI · DEZ/23 → JUN/26</a:t>
            </a:r>
          </a:p>
        </p:txBody>
      </p:sp>
      <p:sp>
        <p:nvSpPr>
          <p:cNvPr id="8" name="">
            <a:extLst xmlns:a="http://schemas.openxmlformats.org/drawingml/2006/main">
              <a:ext uri="{FF2B5EF4-FFF2-40B4-BE49-F238E27FC236}">
                <a16:creationId xmlns:a16="http://schemas.microsoft.com/office/drawing/2014/main" id="{899B3398-016A-4F0D-A0DB-640C973C7899}"/>
              </a:ext>
            </a:extLst>
          </p:cNvPr>
          <p:cNvSpPr>
            <a:spLocks xmlns:a="http://schemas.openxmlformats.org/drawingml/2006/main" noGrp="1"/>
          </p:cNvSpPr>
          <p:nvPr/>
        </p:nvSpPr>
        <p:spPr>
          <a:xfrm xmlns:a="http://schemas.openxmlformats.org/drawingml/2006/main">
            <a:off x="571500" y="1695450"/>
            <a:ext cx="523875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3" name="Chart"/>
          <p:cNvGraphicFramePr/>
          <p:nvPr/>
        </p:nvGraphicFramePr>
        <p:xfrm>
          <a:off xmlns:a="http://schemas.openxmlformats.org/drawingml/2006/main" x="571500" y="1762125"/>
          <a:ext xmlns:a="http://schemas.openxmlformats.org/drawingml/2006/main" cx="5238750" cy="3810000"/>
        </p:xfrm>
        <a:graphic xmlns:a="http://schemas.openxmlformats.org/drawingml/2006/main">
          <a:graphicData uri="http://schemas.openxmlformats.org/drawingml/2006/chart">
            <c:chart xmlns:r="http://schemas.openxmlformats.org/officeDocument/2006/relationships" xmlns:c="http://schemas.openxmlformats.org/drawingml/2006/chart" r:id="R14a52bc669a84731"/>
          </a:graphicData>
        </a:graphic>
      </p:graphicFrame>
      <p:sp>
        <p:nvSpPr>
          <p:cNvPr id="10" name="">
            <a:extLst xmlns:a="http://schemas.openxmlformats.org/drawingml/2006/main">
              <a:ext uri="{FF2B5EF4-FFF2-40B4-BE49-F238E27FC236}">
                <a16:creationId xmlns:a16="http://schemas.microsoft.com/office/drawing/2014/main" id="{BA1E42AD-0418-45F3-9CB3-A42861587309}"/>
              </a:ext>
            </a:extLst>
          </p:cNvPr>
          <p:cNvSpPr>
            <a:spLocks xmlns:a="http://schemas.openxmlformats.org/drawingml/2006/main" noGrp="1"/>
          </p:cNvSpPr>
          <p:nvPr/>
        </p:nvSpPr>
        <p:spPr>
          <a:xfrm xmlns:a="http://schemas.openxmlformats.org/drawingml/2006/main">
            <a:off x="6381750" y="142875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 DO PL EX-FIC · DEZ/23 → JUN/26</a:t>
            </a:r>
          </a:p>
        </p:txBody>
      </p:sp>
      <p:sp>
        <p:nvSpPr>
          <p:cNvPr id="11" name="">
            <a:extLst xmlns:a="http://schemas.openxmlformats.org/drawingml/2006/main">
              <a:ext uri="{FF2B5EF4-FFF2-40B4-BE49-F238E27FC236}">
                <a16:creationId xmlns:a16="http://schemas.microsoft.com/office/drawing/2014/main" id="{5A90984F-EA59-4ED0-ADB4-D734D9FB2D6C}"/>
              </a:ext>
            </a:extLst>
          </p:cNvPr>
          <p:cNvSpPr>
            <a:spLocks xmlns:a="http://schemas.openxmlformats.org/drawingml/2006/main" noGrp="1"/>
          </p:cNvSpPr>
          <p:nvPr/>
        </p:nvSpPr>
        <p:spPr>
          <a:xfrm xmlns:a="http://schemas.openxmlformats.org/drawingml/2006/main">
            <a:off x="6381750" y="1695450"/>
            <a:ext cx="523875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6" name="Chart"/>
          <p:cNvGraphicFramePr/>
          <p:nvPr/>
        </p:nvGraphicFramePr>
        <p:xfrm>
          <a:off xmlns:a="http://schemas.openxmlformats.org/drawingml/2006/main" x="6381750" y="1762125"/>
          <a:ext xmlns:a="http://schemas.openxmlformats.org/drawingml/2006/main" cx="5238750" cy="3810000"/>
        </p:xfrm>
        <a:graphic xmlns:a="http://schemas.openxmlformats.org/drawingml/2006/main">
          <a:graphicData uri="http://schemas.openxmlformats.org/drawingml/2006/chart">
            <c:chart xmlns:r="http://schemas.openxmlformats.org/officeDocument/2006/relationships" xmlns:c="http://schemas.openxmlformats.org/drawingml/2006/chart" r:id="R3874d670a86f4c3b"/>
          </a:graphicData>
        </a:graphic>
      </p:graphicFrame>
      <p:graphicFrame>
        <p:nvGraphicFramePr>
          <p:cNvPr id="27" name="Chart"/>
          <p:cNvGraphicFramePr/>
          <p:nvPr/>
        </p:nvGraphicFramePr>
        <p:xfrm>
          <a:off xmlns:a="http://schemas.openxmlformats.org/drawingml/2006/main" x="8858250" y="1200150"/>
          <a:ext xmlns:a="http://schemas.openxmlformats.org/drawingml/2006/main" cx="2762250" cy="209550"/>
        </p:xfrm>
        <a:graphic xmlns:a="http://schemas.openxmlformats.org/drawingml/2006/main">
          <a:graphicData uri="http://schemas.openxmlformats.org/drawingml/2006/chart">
            <c:chart xmlns:r="http://schemas.openxmlformats.org/officeDocument/2006/relationships" xmlns:c="http://schemas.openxmlformats.org/drawingml/2006/chart" r:id="R175bf5ac341b4ba5"/>
          </a:graphicData>
        </a:graphic>
      </p:graphicFrame>
      <p:sp>
        <p:nvSpPr>
          <p:cNvPr id="14" name="">
            <a:extLst xmlns:a="http://schemas.openxmlformats.org/drawingml/2006/main">
              <a:ext uri="{FF2B5EF4-FFF2-40B4-BE49-F238E27FC236}">
                <a16:creationId xmlns:a16="http://schemas.microsoft.com/office/drawing/2014/main" id="{1F10ABAC-1F69-43D9-B874-9AD0AC347953}"/>
              </a:ext>
            </a:extLst>
          </p:cNvPr>
          <p:cNvSpPr>
            <a:spLocks xmlns:a="http://schemas.openxmlformats.org/drawingml/2006/main" noGrp="1"/>
          </p:cNvSpPr>
          <p:nvPr/>
        </p:nvSpPr>
        <p:spPr>
          <a:xfrm xmlns:a="http://schemas.openxmlformats.org/drawingml/2006/main">
            <a:off x="571500" y="5953125"/>
            <a:ext cx="1104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803" b="0">
                <a:solidFill>
                  <a:srgbClr val="8D9399"/>
                </a:solidFill>
                <a:latin typeface="Arial"/>
                <a:ea typeface="Arial"/>
                <a:cs typeface="Arial"/>
              </a:defRPr>
            </a:pPr>
            <a:r>
              <a:rPr sz="803" b="0">
                <a:solidFill>
                  <a:srgbClr val="8D9399"/>
                </a:solidFill>
                <a:latin typeface="Arial"/>
                <a:ea typeface="Arial"/>
                <a:cs typeface="Arial"/>
              </a:rPr>
              <a:t>Bucket Cartão: 26 incluídos, 17 fora e 1 pendente. Em jun/26, 31 dos 33 CNPJs selecionados têm reporte ativo; 2 não reportam.</a:t>
            </a:r>
          </a:p>
        </p:txBody>
      </p:sp>
    </p:spTree>
    <p:extLst>
      <p:ext uri="{BB962C8B-B14F-4D97-AF65-F5344CB8AC3E}">
        <p14:creationId xmlns:p14="http://schemas.microsoft.com/office/powerpoint/2010/main" val="129460312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5147009-7E5B-4D51-8633-6DDF461A8004}"/>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CARTEIRA POR TIPO DE RECEBÍVEL</a:t>
            </a:r>
          </a:p>
        </p:txBody>
      </p:sp>
      <p:sp>
        <p:nvSpPr>
          <p:cNvPr id="2" name="">
            <a:extLst xmlns:a="http://schemas.openxmlformats.org/drawingml/2006/main">
              <a:ext uri="{FF2B5EF4-FFF2-40B4-BE49-F238E27FC236}">
                <a16:creationId xmlns:a16="http://schemas.microsoft.com/office/drawing/2014/main" id="{1BFBDFE3-200D-4A7A-8E67-DE8FE3E06DBE}"/>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Financeiro ganhou 17,5 p.p. e explicou 70,1% do aumento líquido do valor segmentado</a:t>
            </a:r>
          </a:p>
        </p:txBody>
      </p:sp>
      <p:sp>
        <p:nvSpPr>
          <p:cNvPr id="3" name="">
            <a:extLst xmlns:a="http://schemas.openxmlformats.org/drawingml/2006/main">
              <a:ext uri="{FF2B5EF4-FFF2-40B4-BE49-F238E27FC236}">
                <a16:creationId xmlns:a16="http://schemas.microsoft.com/office/drawing/2014/main" id="{B6AA3982-D99B-4E5B-BEB7-828772B0B5BC}"/>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A17A887-32FB-4A8A-AEFB-498B848D631A}"/>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1A5F555-D65D-485B-AC42-4D5123B5B3FB}"/>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 Informe Mensal, Tabela II; dez/23 e jun/26. Percentuais sobre a soma dos segmentos reportados; contribuição = Δ Financeiro / Δ total líquido.</a:t>
            </a:r>
          </a:p>
        </p:txBody>
      </p:sp>
      <p:sp>
        <p:nvSpPr>
          <p:cNvPr id="6" name="">
            <a:extLst xmlns:a="http://schemas.openxmlformats.org/drawingml/2006/main">
              <a:ext uri="{FF2B5EF4-FFF2-40B4-BE49-F238E27FC236}">
                <a16:creationId xmlns:a16="http://schemas.microsoft.com/office/drawing/2014/main" id="{C6903585-6583-48C3-B6D4-FF9AD554BC39}"/>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10</a:t>
            </a:r>
          </a:p>
        </p:txBody>
      </p:sp>
      <p:sp>
        <p:nvSpPr>
          <p:cNvPr id="7" name="">
            <a:extLst xmlns:a="http://schemas.openxmlformats.org/drawingml/2006/main">
              <a:ext uri="{FF2B5EF4-FFF2-40B4-BE49-F238E27FC236}">
                <a16:creationId xmlns:a16="http://schemas.microsoft.com/office/drawing/2014/main" id="{D63725E8-F590-40DD-9184-E3C817FD3F5E}"/>
              </a:ext>
            </a:extLst>
          </p:cNvPr>
          <p:cNvSpPr>
            <a:spLocks xmlns:a="http://schemas.openxmlformats.org/drawingml/2006/main" noGrp="1"/>
          </p:cNvSpPr>
          <p:nvPr/>
        </p:nvSpPr>
        <p:spPr>
          <a:xfrm xmlns:a="http://schemas.openxmlformats.org/drawingml/2006/main">
            <a:off x="571500" y="142875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VALOR REPORTADO · R$ BI</a:t>
            </a:r>
          </a:p>
        </p:txBody>
      </p:sp>
      <p:sp>
        <p:nvSpPr>
          <p:cNvPr id="8" name="">
            <a:extLst xmlns:a="http://schemas.openxmlformats.org/drawingml/2006/main">
              <a:ext uri="{FF2B5EF4-FFF2-40B4-BE49-F238E27FC236}">
                <a16:creationId xmlns:a16="http://schemas.microsoft.com/office/drawing/2014/main" id="{C2FF1571-01B7-4920-BF27-01EB43600D70}"/>
              </a:ext>
            </a:extLst>
          </p:cNvPr>
          <p:cNvSpPr>
            <a:spLocks xmlns:a="http://schemas.openxmlformats.org/drawingml/2006/main" noGrp="1"/>
          </p:cNvSpPr>
          <p:nvPr/>
        </p:nvSpPr>
        <p:spPr>
          <a:xfrm xmlns:a="http://schemas.openxmlformats.org/drawingml/2006/main">
            <a:off x="571500" y="1695450"/>
            <a:ext cx="523875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4" name="Chart"/>
          <p:cNvGraphicFramePr/>
          <p:nvPr/>
        </p:nvGraphicFramePr>
        <p:xfrm>
          <a:off xmlns:a="http://schemas.openxmlformats.org/drawingml/2006/main" x="571500" y="1743075"/>
          <a:ext xmlns:a="http://schemas.openxmlformats.org/drawingml/2006/main" cx="5238750" cy="4238625"/>
        </p:xfrm>
        <a:graphic xmlns:a="http://schemas.openxmlformats.org/drawingml/2006/main">
          <a:graphicData uri="http://schemas.openxmlformats.org/drawingml/2006/chart">
            <c:chart xmlns:r="http://schemas.openxmlformats.org/officeDocument/2006/relationships" xmlns:c="http://schemas.openxmlformats.org/drawingml/2006/chart" r:id="R4e191474eb4e479e"/>
          </a:graphicData>
        </a:graphic>
      </p:graphicFrame>
      <p:sp>
        <p:nvSpPr>
          <p:cNvPr id="10" name="">
            <a:extLst xmlns:a="http://schemas.openxmlformats.org/drawingml/2006/main">
              <a:ext uri="{FF2B5EF4-FFF2-40B4-BE49-F238E27FC236}">
                <a16:creationId xmlns:a16="http://schemas.microsoft.com/office/drawing/2014/main" id="{3D8BA91D-A678-4694-B86A-07E68F6B074B}"/>
              </a:ext>
            </a:extLst>
          </p:cNvPr>
          <p:cNvSpPr>
            <a:spLocks xmlns:a="http://schemas.openxmlformats.org/drawingml/2006/main" noGrp="1"/>
          </p:cNvSpPr>
          <p:nvPr/>
        </p:nvSpPr>
        <p:spPr>
          <a:xfrm xmlns:a="http://schemas.openxmlformats.org/drawingml/2006/main">
            <a:off x="6381750" y="142875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 DO VALOR SEGMENTADO DA TABELA II</a:t>
            </a:r>
          </a:p>
        </p:txBody>
      </p:sp>
      <p:sp>
        <p:nvSpPr>
          <p:cNvPr id="11" name="">
            <a:extLst xmlns:a="http://schemas.openxmlformats.org/drawingml/2006/main">
              <a:ext uri="{FF2B5EF4-FFF2-40B4-BE49-F238E27FC236}">
                <a16:creationId xmlns:a16="http://schemas.microsoft.com/office/drawing/2014/main" id="{2B16A8BB-49A8-48A7-93D9-07A230A071E3}"/>
              </a:ext>
            </a:extLst>
          </p:cNvPr>
          <p:cNvSpPr>
            <a:spLocks xmlns:a="http://schemas.openxmlformats.org/drawingml/2006/main" noGrp="1"/>
          </p:cNvSpPr>
          <p:nvPr/>
        </p:nvSpPr>
        <p:spPr>
          <a:xfrm xmlns:a="http://schemas.openxmlformats.org/drawingml/2006/main">
            <a:off x="6381750" y="1695450"/>
            <a:ext cx="523875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7" name="Chart"/>
          <p:cNvGraphicFramePr/>
          <p:nvPr/>
        </p:nvGraphicFramePr>
        <p:xfrm>
          <a:off xmlns:a="http://schemas.openxmlformats.org/drawingml/2006/main" x="6381750" y="1743075"/>
          <a:ext xmlns:a="http://schemas.openxmlformats.org/drawingml/2006/main" cx="5238750" cy="4238625"/>
        </p:xfrm>
        <a:graphic xmlns:a="http://schemas.openxmlformats.org/drawingml/2006/main">
          <a:graphicData uri="http://schemas.openxmlformats.org/drawingml/2006/chart">
            <c:chart xmlns:r="http://schemas.openxmlformats.org/officeDocument/2006/relationships" xmlns:c="http://schemas.openxmlformats.org/drawingml/2006/chart" r:id="R3de42de8c9274c54"/>
          </a:graphicData>
        </a:graphic>
      </p:graphicFrame>
      <p:sp>
        <p:nvSpPr>
          <p:cNvPr id="13" name="">
            <a:extLst xmlns:a="http://schemas.openxmlformats.org/drawingml/2006/main">
              <a:ext uri="{FF2B5EF4-FFF2-40B4-BE49-F238E27FC236}">
                <a16:creationId xmlns:a16="http://schemas.microsoft.com/office/drawing/2014/main" id="{E6B9AB52-7F3F-409A-AC58-1EF6F8454885}"/>
              </a:ext>
            </a:extLst>
          </p:cNvPr>
          <p:cNvSpPr>
            <a:spLocks xmlns:a="http://schemas.openxmlformats.org/drawingml/2006/main" noGrp="1"/>
          </p:cNvSpPr>
          <p:nvPr/>
        </p:nvSpPr>
        <p:spPr>
          <a:xfrm xmlns:a="http://schemas.openxmlformats.org/drawingml/2006/main">
            <a:off x="7239000" y="5715000"/>
            <a:ext cx="4381500" cy="2286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DFC935B-EA21-4860-9D2D-783B1D6D92AA}"/>
              </a:ext>
            </a:extLst>
          </p:cNvPr>
          <p:cNvSpPr>
            <a:spLocks xmlns:a="http://schemas.openxmlformats.org/drawingml/2006/main" noGrp="1"/>
          </p:cNvSpPr>
          <p:nvPr/>
        </p:nvSpPr>
        <p:spPr>
          <a:xfrm xmlns:a="http://schemas.openxmlformats.org/drawingml/2006/main">
            <a:off x="571500" y="6048375"/>
            <a:ext cx="1104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35" b="0">
                <a:solidFill>
                  <a:srgbClr val="30353A"/>
                </a:solidFill>
                <a:latin typeface="Arial"/>
                <a:ea typeface="Arial"/>
                <a:cs typeface="Arial"/>
              </a:defRPr>
            </a:pPr>
            <a:r>
              <a:rPr sz="735" b="0">
                <a:solidFill>
                  <a:srgbClr val="30353A"/>
                </a:solidFill>
                <a:latin typeface="Arial"/>
                <a:ea typeface="Arial"/>
                <a:cs typeface="Arial"/>
              </a:rPr>
              <a:t>Diferença Tabela II − Tabela I: R$ 51,7 bi em dez/23 e R$ 60,4 bi em jun/26. Em jun/26, 0 fundos sem abertura (R$ 0,0 bi de PL); Top 20 explicam 40,5% do gap positivo.</a:t>
            </a:r>
          </a:p>
        </p:txBody>
      </p:sp>
      <p:graphicFrame>
        <p:nvGraphicFramePr>
          <p:cNvPr id="30" name="Chart"/>
          <p:cNvGraphicFramePr/>
          <p:nvPr/>
        </p:nvGraphicFramePr>
        <p:xfrm>
          <a:off xmlns:a="http://schemas.openxmlformats.org/drawingml/2006/main" x="9239250" y="1219200"/>
          <a:ext xmlns:a="http://schemas.openxmlformats.org/drawingml/2006/main" cx="2381250" cy="209550"/>
        </p:xfrm>
        <a:graphic xmlns:a="http://schemas.openxmlformats.org/drawingml/2006/main">
          <a:graphicData uri="http://schemas.openxmlformats.org/drawingml/2006/chart">
            <c:chart xmlns:r="http://schemas.openxmlformats.org/officeDocument/2006/relationships" xmlns:c="http://schemas.openxmlformats.org/drawingml/2006/chart" r:id="Rb060dac5a4e643c2"/>
          </a:graphicData>
        </a:graphic>
      </p:graphicFrame>
    </p:spTree>
    <p:extLst>
      <p:ext uri="{BB962C8B-B14F-4D97-AF65-F5344CB8AC3E}">
        <p14:creationId xmlns:p14="http://schemas.microsoft.com/office/powerpoint/2010/main" val="15572051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44371A6E-EB81-4D09-83BF-FB8CE719CCD9}"/>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OBSERVABILIDADE DA INADIMPLÊNCIA</a:t>
            </a:r>
          </a:p>
        </p:txBody>
      </p:sp>
      <p:sp>
        <p:nvSpPr>
          <p:cNvPr id="2" name="">
            <a:extLst xmlns:a="http://schemas.openxmlformats.org/drawingml/2006/main">
              <a:ext uri="{FF2B5EF4-FFF2-40B4-BE49-F238E27FC236}">
                <a16:creationId xmlns:a16="http://schemas.microsoft.com/office/drawing/2014/main" id="{64BA126C-3D6C-421B-AD0F-DA37F90D4BE5}"/>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O cap retira R$ 14,6 bi de 178 veículos; 10 casos explicam 57,4%</a:t>
            </a:r>
          </a:p>
        </p:txBody>
      </p:sp>
      <p:sp>
        <p:nvSpPr>
          <p:cNvPr id="3" name="">
            <a:extLst xmlns:a="http://schemas.openxmlformats.org/drawingml/2006/main">
              <a:ext uri="{FF2B5EF4-FFF2-40B4-BE49-F238E27FC236}">
                <a16:creationId xmlns:a16="http://schemas.microsoft.com/office/drawing/2014/main" id="{A7E7CD7C-90F8-4761-8C77-192348D3E4C9}"/>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AC97401-AB6D-448B-ABF0-C90AAFA4D40E}"/>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836D4F4-EC19-4D7A-96CC-1B225225698F}"/>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 jun/26. Ajuste = mínimo entre inadimplência não negativa e carteira não negativa por veículo.</a:t>
            </a:r>
          </a:p>
        </p:txBody>
      </p:sp>
      <p:sp>
        <p:nvSpPr>
          <p:cNvPr id="6" name="">
            <a:extLst xmlns:a="http://schemas.openxmlformats.org/drawingml/2006/main">
              <a:ext uri="{FF2B5EF4-FFF2-40B4-BE49-F238E27FC236}">
                <a16:creationId xmlns:a16="http://schemas.microsoft.com/office/drawing/2014/main" id="{5D87D4F5-9DB3-42D4-A394-3581D1F5E231}"/>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11</a:t>
            </a:r>
          </a:p>
        </p:txBody>
      </p:sp>
      <p:sp>
        <p:nvSpPr>
          <p:cNvPr id="7" name="">
            <a:extLst xmlns:a="http://schemas.openxmlformats.org/drawingml/2006/main">
              <a:ext uri="{FF2B5EF4-FFF2-40B4-BE49-F238E27FC236}">
                <a16:creationId xmlns:a16="http://schemas.microsoft.com/office/drawing/2014/main" id="{BB24B2C2-EDC2-44C0-B730-B48D9BD372A3}"/>
              </a:ext>
            </a:extLst>
          </p:cNvPr>
          <p:cNvSpPr>
            <a:spLocks xmlns:a="http://schemas.openxmlformats.org/drawingml/2006/main" noGrp="1"/>
          </p:cNvSpPr>
          <p:nvPr/>
        </p:nvSpPr>
        <p:spPr>
          <a:xfrm xmlns:a="http://schemas.openxmlformats.org/drawingml/2006/main">
            <a:off x="571500" y="1428750"/>
            <a:ext cx="6762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MÉTRICAS SOBRE A CARTEIRA COBERTA</a:t>
            </a:r>
          </a:p>
        </p:txBody>
      </p:sp>
      <p:sp>
        <p:nvSpPr>
          <p:cNvPr id="8" name="">
            <a:extLst xmlns:a="http://schemas.openxmlformats.org/drawingml/2006/main">
              <a:ext uri="{FF2B5EF4-FFF2-40B4-BE49-F238E27FC236}">
                <a16:creationId xmlns:a16="http://schemas.microsoft.com/office/drawing/2014/main" id="{A4804F2C-11F6-4DE8-90C8-09C2D7381E0E}"/>
              </a:ext>
            </a:extLst>
          </p:cNvPr>
          <p:cNvSpPr>
            <a:spLocks xmlns:a="http://schemas.openxmlformats.org/drawingml/2006/main" noGrp="1"/>
          </p:cNvSpPr>
          <p:nvPr/>
        </p:nvSpPr>
        <p:spPr>
          <a:xfrm xmlns:a="http://schemas.openxmlformats.org/drawingml/2006/main">
            <a:off x="571500" y="1695450"/>
            <a:ext cx="676275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39" name="Chart"/>
          <p:cNvGraphicFramePr/>
          <p:nvPr/>
        </p:nvGraphicFramePr>
        <p:xfrm>
          <a:off xmlns:a="http://schemas.openxmlformats.org/drawingml/2006/main" x="571500" y="1857375"/>
          <a:ext xmlns:a="http://schemas.openxmlformats.org/drawingml/2006/main" cx="6762750" cy="3667125"/>
        </p:xfrm>
        <a:graphic xmlns:a="http://schemas.openxmlformats.org/drawingml/2006/main">
          <a:graphicData uri="http://schemas.openxmlformats.org/drawingml/2006/chart">
            <c:chart xmlns:r="http://schemas.openxmlformats.org/officeDocument/2006/relationships" xmlns:c="http://schemas.openxmlformats.org/drawingml/2006/chart" r:id="Re096d860ea9d4f3f"/>
          </a:graphicData>
        </a:graphic>
      </p:graphicFrame>
      <p:sp>
        <p:nvSpPr>
          <p:cNvPr id="10" name="">
            <a:extLst xmlns:a="http://schemas.openxmlformats.org/drawingml/2006/main">
              <a:ext uri="{FF2B5EF4-FFF2-40B4-BE49-F238E27FC236}">
                <a16:creationId xmlns:a16="http://schemas.microsoft.com/office/drawing/2014/main" id="{955AB9E8-50D1-415E-B826-1950DD80227A}"/>
              </a:ext>
            </a:extLst>
          </p:cNvPr>
          <p:cNvSpPr>
            <a:spLocks xmlns:a="http://schemas.openxmlformats.org/drawingml/2006/main" noGrp="1"/>
          </p:cNvSpPr>
          <p:nvPr/>
        </p:nvSpPr>
        <p:spPr>
          <a:xfrm xmlns:a="http://schemas.openxmlformats.org/drawingml/2006/main">
            <a:off x="2095500" y="5219700"/>
            <a:ext cx="5334000" cy="2667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CA22958-EA33-4E2E-8064-F9B3CA06CD78}"/>
              </a:ext>
            </a:extLst>
          </p:cNvPr>
          <p:cNvSpPr>
            <a:spLocks xmlns:a="http://schemas.openxmlformats.org/drawingml/2006/main" noGrp="1"/>
          </p:cNvSpPr>
          <p:nvPr/>
        </p:nvSpPr>
        <p:spPr>
          <a:xfrm xmlns:a="http://schemas.openxmlformats.org/drawingml/2006/main">
            <a:off x="7858125" y="1428750"/>
            <a:ext cx="3762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UNIVERSO E COBERTURA</a:t>
            </a:r>
          </a:p>
        </p:txBody>
      </p:sp>
      <p:sp>
        <p:nvSpPr>
          <p:cNvPr id="12" name="">
            <a:extLst xmlns:a="http://schemas.openxmlformats.org/drawingml/2006/main">
              <a:ext uri="{FF2B5EF4-FFF2-40B4-BE49-F238E27FC236}">
                <a16:creationId xmlns:a16="http://schemas.microsoft.com/office/drawing/2014/main" id="{B62358B6-49FB-4D54-BC07-4A67FB6F4407}"/>
              </a:ext>
            </a:extLst>
          </p:cNvPr>
          <p:cNvSpPr>
            <a:spLocks xmlns:a="http://schemas.openxmlformats.org/drawingml/2006/main" noGrp="1"/>
          </p:cNvSpPr>
          <p:nvPr/>
        </p:nvSpPr>
        <p:spPr>
          <a:xfrm xmlns:a="http://schemas.openxmlformats.org/drawingml/2006/main">
            <a:off x="7858125" y="1695450"/>
            <a:ext cx="3762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D01AEC5-B174-43FE-BB17-6A36D792AF8F}"/>
              </a:ext>
            </a:extLst>
          </p:cNvPr>
          <p:cNvSpPr>
            <a:spLocks xmlns:a="http://schemas.openxmlformats.org/drawingml/2006/main" noGrp="1"/>
          </p:cNvSpPr>
          <p:nvPr/>
        </p:nvSpPr>
        <p:spPr>
          <a:xfrm xmlns:a="http://schemas.openxmlformats.org/drawingml/2006/main">
            <a:off x="7858125" y="1962150"/>
            <a:ext cx="1994059"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013" b="1">
                <a:solidFill>
                  <a:srgbClr val="30353A"/>
                </a:solidFill>
                <a:latin typeface="Arial"/>
                <a:ea typeface="Arial"/>
                <a:cs typeface="Arial"/>
              </a:defRPr>
            </a:pPr>
            <a:r>
              <a:rPr sz="1013" b="1">
                <a:solidFill>
                  <a:srgbClr val="30353A"/>
                </a:solidFill>
                <a:latin typeface="Arial"/>
                <a:ea typeface="Arial"/>
                <a:cs typeface="Arial"/>
              </a:rPr>
              <a:t>Veículos / fundos</a:t>
            </a:r>
          </a:p>
        </p:txBody>
      </p:sp>
      <p:sp>
        <p:nvSpPr>
          <p:cNvPr id="14" name="">
            <a:extLst xmlns:a="http://schemas.openxmlformats.org/drawingml/2006/main">
              <a:ext uri="{FF2B5EF4-FFF2-40B4-BE49-F238E27FC236}">
                <a16:creationId xmlns:a16="http://schemas.microsoft.com/office/drawing/2014/main" id="{8CA00794-DD65-4653-8960-1754D333E7F2}"/>
              </a:ext>
            </a:extLst>
          </p:cNvPr>
          <p:cNvSpPr>
            <a:spLocks xmlns:a="http://schemas.openxmlformats.org/drawingml/2006/main" noGrp="1"/>
          </p:cNvSpPr>
          <p:nvPr/>
        </p:nvSpPr>
        <p:spPr>
          <a:xfrm xmlns:a="http://schemas.openxmlformats.org/drawingml/2006/main">
            <a:off x="9965055" y="1962150"/>
            <a:ext cx="1655445"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013" b="0">
                <a:solidFill>
                  <a:srgbClr val="151515"/>
                </a:solidFill>
                <a:latin typeface="Arial"/>
                <a:ea typeface="Arial"/>
                <a:cs typeface="Arial"/>
              </a:defRPr>
            </a:pPr>
            <a:r>
              <a:rPr sz="1013" b="0">
                <a:solidFill>
                  <a:srgbClr val="151515"/>
                </a:solidFill>
                <a:latin typeface="Arial"/>
                <a:ea typeface="Arial"/>
                <a:cs typeface="Arial"/>
              </a:rPr>
              <a:t>4.252 / 4.247</a:t>
            </a:r>
          </a:p>
        </p:txBody>
      </p:sp>
      <p:sp>
        <p:nvSpPr>
          <p:cNvPr id="15" name="">
            <a:extLst xmlns:a="http://schemas.openxmlformats.org/drawingml/2006/main">
              <a:ext uri="{FF2B5EF4-FFF2-40B4-BE49-F238E27FC236}">
                <a16:creationId xmlns:a16="http://schemas.microsoft.com/office/drawing/2014/main" id="{6160820E-37F7-4F8C-9FC8-8DFCB16D59D2}"/>
              </a:ext>
            </a:extLst>
          </p:cNvPr>
          <p:cNvSpPr>
            <a:spLocks xmlns:a="http://schemas.openxmlformats.org/drawingml/2006/main" noGrp="1"/>
          </p:cNvSpPr>
          <p:nvPr/>
        </p:nvSpPr>
        <p:spPr>
          <a:xfrm xmlns:a="http://schemas.openxmlformats.org/drawingml/2006/main">
            <a:off x="7858125" y="2405063"/>
            <a:ext cx="37623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29B2740-E34B-4E6F-AE15-657FC7DCBB55}"/>
              </a:ext>
            </a:extLst>
          </p:cNvPr>
          <p:cNvSpPr>
            <a:spLocks xmlns:a="http://schemas.openxmlformats.org/drawingml/2006/main" noGrp="1"/>
          </p:cNvSpPr>
          <p:nvPr/>
        </p:nvSpPr>
        <p:spPr>
          <a:xfrm xmlns:a="http://schemas.openxmlformats.org/drawingml/2006/main">
            <a:off x="7858125" y="2462213"/>
            <a:ext cx="1994059"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013" b="1">
                <a:solidFill>
                  <a:srgbClr val="30353A"/>
                </a:solidFill>
                <a:latin typeface="Arial"/>
                <a:ea typeface="Arial"/>
                <a:cs typeface="Arial"/>
              </a:defRPr>
            </a:pPr>
            <a:r>
              <a:rPr sz="1013" b="1">
                <a:solidFill>
                  <a:srgbClr val="30353A"/>
                </a:solidFill>
                <a:latin typeface="Arial"/>
                <a:ea typeface="Arial"/>
                <a:cs typeface="Arial"/>
              </a:rPr>
              <a:t>Carteira positiva</a:t>
            </a:r>
          </a:p>
        </p:txBody>
      </p:sp>
      <p:sp>
        <p:nvSpPr>
          <p:cNvPr id="17" name="">
            <a:extLst xmlns:a="http://schemas.openxmlformats.org/drawingml/2006/main">
              <a:ext uri="{FF2B5EF4-FFF2-40B4-BE49-F238E27FC236}">
                <a16:creationId xmlns:a16="http://schemas.microsoft.com/office/drawing/2014/main" id="{817301B1-B626-4122-917A-6F4EA0E58721}"/>
              </a:ext>
            </a:extLst>
          </p:cNvPr>
          <p:cNvSpPr>
            <a:spLocks xmlns:a="http://schemas.openxmlformats.org/drawingml/2006/main" noGrp="1"/>
          </p:cNvSpPr>
          <p:nvPr/>
        </p:nvSpPr>
        <p:spPr>
          <a:xfrm xmlns:a="http://schemas.openxmlformats.org/drawingml/2006/main">
            <a:off x="9965055" y="2462213"/>
            <a:ext cx="1655445"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013" b="0">
                <a:solidFill>
                  <a:srgbClr val="151515"/>
                </a:solidFill>
                <a:latin typeface="Arial"/>
                <a:ea typeface="Arial"/>
                <a:cs typeface="Arial"/>
              </a:defRPr>
            </a:pPr>
            <a:r>
              <a:rPr sz="1013" b="0">
                <a:solidFill>
                  <a:srgbClr val="151515"/>
                </a:solidFill>
                <a:latin typeface="Arial"/>
                <a:ea typeface="Arial"/>
                <a:cs typeface="Arial"/>
              </a:rPr>
              <a:t>3.130</a:t>
            </a:r>
          </a:p>
        </p:txBody>
      </p:sp>
      <p:sp>
        <p:nvSpPr>
          <p:cNvPr id="18" name="">
            <a:extLst xmlns:a="http://schemas.openxmlformats.org/drawingml/2006/main">
              <a:ext uri="{FF2B5EF4-FFF2-40B4-BE49-F238E27FC236}">
                <a16:creationId xmlns:a16="http://schemas.microsoft.com/office/drawing/2014/main" id="{D90505AA-23C7-4504-AB97-54B57073339A}"/>
              </a:ext>
            </a:extLst>
          </p:cNvPr>
          <p:cNvSpPr>
            <a:spLocks xmlns:a="http://schemas.openxmlformats.org/drawingml/2006/main" noGrp="1"/>
          </p:cNvSpPr>
          <p:nvPr/>
        </p:nvSpPr>
        <p:spPr>
          <a:xfrm xmlns:a="http://schemas.openxmlformats.org/drawingml/2006/main">
            <a:off x="7858125" y="2905125"/>
            <a:ext cx="37623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01052B0-CD7B-4337-BCEF-DB721FA82357}"/>
              </a:ext>
            </a:extLst>
          </p:cNvPr>
          <p:cNvSpPr>
            <a:spLocks xmlns:a="http://schemas.openxmlformats.org/drawingml/2006/main" noGrp="1"/>
          </p:cNvSpPr>
          <p:nvPr/>
        </p:nvSpPr>
        <p:spPr>
          <a:xfrm xmlns:a="http://schemas.openxmlformats.org/drawingml/2006/main">
            <a:off x="7858125" y="2962275"/>
            <a:ext cx="1994059"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013" b="1">
                <a:solidFill>
                  <a:srgbClr val="30353A"/>
                </a:solidFill>
                <a:latin typeface="Arial"/>
                <a:ea typeface="Arial"/>
                <a:cs typeface="Arial"/>
              </a:defRPr>
            </a:pPr>
            <a:r>
              <a:rPr sz="1013" b="1">
                <a:solidFill>
                  <a:srgbClr val="30353A"/>
                </a:solidFill>
                <a:latin typeface="Arial"/>
                <a:ea typeface="Arial"/>
                <a:cs typeface="Arial"/>
              </a:rPr>
              <a:t>Campos reportados</a:t>
            </a:r>
          </a:p>
        </p:txBody>
      </p:sp>
      <p:sp>
        <p:nvSpPr>
          <p:cNvPr id="20" name="">
            <a:extLst xmlns:a="http://schemas.openxmlformats.org/drawingml/2006/main">
              <a:ext uri="{FF2B5EF4-FFF2-40B4-BE49-F238E27FC236}">
                <a16:creationId xmlns:a16="http://schemas.microsoft.com/office/drawing/2014/main" id="{24A967D0-855D-449E-AD8D-BAD9305C703C}"/>
              </a:ext>
            </a:extLst>
          </p:cNvPr>
          <p:cNvSpPr>
            <a:spLocks xmlns:a="http://schemas.openxmlformats.org/drawingml/2006/main" noGrp="1"/>
          </p:cNvSpPr>
          <p:nvPr/>
        </p:nvSpPr>
        <p:spPr>
          <a:xfrm xmlns:a="http://schemas.openxmlformats.org/drawingml/2006/main">
            <a:off x="9965055" y="2962275"/>
            <a:ext cx="1655445"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013" b="0">
                <a:solidFill>
                  <a:srgbClr val="151515"/>
                </a:solidFill>
                <a:latin typeface="Arial"/>
                <a:ea typeface="Arial"/>
                <a:cs typeface="Arial"/>
              </a:defRPr>
            </a:pPr>
            <a:r>
              <a:rPr sz="1013" b="0">
                <a:solidFill>
                  <a:srgbClr val="151515"/>
                </a:solidFill>
                <a:latin typeface="Arial"/>
                <a:ea typeface="Arial"/>
                <a:cs typeface="Arial"/>
              </a:rPr>
              <a:t>4.252</a:t>
            </a:r>
          </a:p>
        </p:txBody>
      </p:sp>
      <p:sp>
        <p:nvSpPr>
          <p:cNvPr id="21" name="">
            <a:extLst xmlns:a="http://schemas.openxmlformats.org/drawingml/2006/main">
              <a:ext uri="{FF2B5EF4-FFF2-40B4-BE49-F238E27FC236}">
                <a16:creationId xmlns:a16="http://schemas.microsoft.com/office/drawing/2014/main" id="{B1DFEC76-5C00-4FCB-BEBD-198F0E96AA0F}"/>
              </a:ext>
            </a:extLst>
          </p:cNvPr>
          <p:cNvSpPr>
            <a:spLocks xmlns:a="http://schemas.openxmlformats.org/drawingml/2006/main" noGrp="1"/>
          </p:cNvSpPr>
          <p:nvPr/>
        </p:nvSpPr>
        <p:spPr>
          <a:xfrm xmlns:a="http://schemas.openxmlformats.org/drawingml/2006/main">
            <a:off x="7858125" y="3405188"/>
            <a:ext cx="37623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6AE06A-645E-4DC6-BD59-604C165AEA50}"/>
              </a:ext>
            </a:extLst>
          </p:cNvPr>
          <p:cNvSpPr>
            <a:spLocks xmlns:a="http://schemas.openxmlformats.org/drawingml/2006/main" noGrp="1"/>
          </p:cNvSpPr>
          <p:nvPr/>
        </p:nvSpPr>
        <p:spPr>
          <a:xfrm xmlns:a="http://schemas.openxmlformats.org/drawingml/2006/main">
            <a:off x="7858125" y="3462338"/>
            <a:ext cx="1994059"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013" b="1">
                <a:solidFill>
                  <a:srgbClr val="EC7000"/>
                </a:solidFill>
                <a:latin typeface="Arial"/>
                <a:ea typeface="Arial"/>
                <a:cs typeface="Arial"/>
              </a:defRPr>
            </a:pPr>
            <a:r>
              <a:rPr sz="1013" b="1">
                <a:solidFill>
                  <a:srgbClr val="EC7000"/>
                </a:solidFill>
                <a:latin typeface="Arial"/>
                <a:ea typeface="Arial"/>
                <a:cs typeface="Arial"/>
              </a:rPr>
              <a:t>Cobertura por PL</a:t>
            </a:r>
          </a:p>
        </p:txBody>
      </p:sp>
      <p:sp>
        <p:nvSpPr>
          <p:cNvPr id="23" name="">
            <a:extLst xmlns:a="http://schemas.openxmlformats.org/drawingml/2006/main">
              <a:ext uri="{FF2B5EF4-FFF2-40B4-BE49-F238E27FC236}">
                <a16:creationId xmlns:a16="http://schemas.microsoft.com/office/drawing/2014/main" id="{C24A1670-DED5-4D28-B684-FB8D33680107}"/>
              </a:ext>
            </a:extLst>
          </p:cNvPr>
          <p:cNvSpPr>
            <a:spLocks xmlns:a="http://schemas.openxmlformats.org/drawingml/2006/main" noGrp="1"/>
          </p:cNvSpPr>
          <p:nvPr/>
        </p:nvSpPr>
        <p:spPr>
          <a:xfrm xmlns:a="http://schemas.openxmlformats.org/drawingml/2006/main">
            <a:off x="9965055" y="3462338"/>
            <a:ext cx="1655445"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013" b="0">
                <a:solidFill>
                  <a:srgbClr val="151515"/>
                </a:solidFill>
                <a:latin typeface="Arial"/>
                <a:ea typeface="Arial"/>
                <a:cs typeface="Arial"/>
              </a:defRPr>
            </a:pPr>
            <a:r>
              <a:rPr sz="1013" b="0">
                <a:solidFill>
                  <a:srgbClr val="151515"/>
                </a:solidFill>
                <a:latin typeface="Arial"/>
                <a:ea typeface="Arial"/>
                <a:cs typeface="Arial"/>
              </a:rPr>
              <a:t>100,0%</a:t>
            </a:r>
          </a:p>
        </p:txBody>
      </p:sp>
      <p:sp>
        <p:nvSpPr>
          <p:cNvPr id="24" name="">
            <a:extLst xmlns:a="http://schemas.openxmlformats.org/drawingml/2006/main">
              <a:ext uri="{FF2B5EF4-FFF2-40B4-BE49-F238E27FC236}">
                <a16:creationId xmlns:a16="http://schemas.microsoft.com/office/drawing/2014/main" id="{F5EEF126-4F21-43C2-9457-78952BC43423}"/>
              </a:ext>
            </a:extLst>
          </p:cNvPr>
          <p:cNvSpPr>
            <a:spLocks xmlns:a="http://schemas.openxmlformats.org/drawingml/2006/main" noGrp="1"/>
          </p:cNvSpPr>
          <p:nvPr/>
        </p:nvSpPr>
        <p:spPr>
          <a:xfrm xmlns:a="http://schemas.openxmlformats.org/drawingml/2006/main">
            <a:off x="7858125" y="3905250"/>
            <a:ext cx="37623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7A0E92A5-3192-400F-941A-B30916AD81B6}"/>
              </a:ext>
            </a:extLst>
          </p:cNvPr>
          <p:cNvSpPr>
            <a:spLocks xmlns:a="http://schemas.openxmlformats.org/drawingml/2006/main" noGrp="1"/>
          </p:cNvSpPr>
          <p:nvPr/>
        </p:nvSpPr>
        <p:spPr>
          <a:xfrm xmlns:a="http://schemas.openxmlformats.org/drawingml/2006/main">
            <a:off x="7858125" y="3962400"/>
            <a:ext cx="1994059"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013" b="1">
                <a:solidFill>
                  <a:srgbClr val="30353A"/>
                </a:solidFill>
                <a:latin typeface="Arial"/>
                <a:ea typeface="Arial"/>
                <a:cs typeface="Arial"/>
              </a:defRPr>
            </a:pPr>
            <a:r>
              <a:rPr sz="1013" b="1">
                <a:solidFill>
                  <a:srgbClr val="30353A"/>
                </a:solidFill>
                <a:latin typeface="Arial"/>
                <a:ea typeface="Arial"/>
                <a:cs typeface="Arial"/>
              </a:rPr>
              <a:t>Casos acima da carteira</a:t>
            </a:r>
          </a:p>
        </p:txBody>
      </p:sp>
      <p:sp>
        <p:nvSpPr>
          <p:cNvPr id="26" name="">
            <a:extLst xmlns:a="http://schemas.openxmlformats.org/drawingml/2006/main">
              <a:ext uri="{FF2B5EF4-FFF2-40B4-BE49-F238E27FC236}">
                <a16:creationId xmlns:a16="http://schemas.microsoft.com/office/drawing/2014/main" id="{FAB8C7D0-6480-47B1-A09A-EDF16D2BFACB}"/>
              </a:ext>
            </a:extLst>
          </p:cNvPr>
          <p:cNvSpPr>
            <a:spLocks xmlns:a="http://schemas.openxmlformats.org/drawingml/2006/main" noGrp="1"/>
          </p:cNvSpPr>
          <p:nvPr/>
        </p:nvSpPr>
        <p:spPr>
          <a:xfrm xmlns:a="http://schemas.openxmlformats.org/drawingml/2006/main">
            <a:off x="9965055" y="3962400"/>
            <a:ext cx="1655445"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013" b="0">
                <a:solidFill>
                  <a:srgbClr val="151515"/>
                </a:solidFill>
                <a:latin typeface="Arial"/>
                <a:ea typeface="Arial"/>
                <a:cs typeface="Arial"/>
              </a:defRPr>
            </a:pPr>
            <a:r>
              <a:rPr sz="1013" b="0">
                <a:solidFill>
                  <a:srgbClr val="151515"/>
                </a:solidFill>
                <a:latin typeface="Arial"/>
                <a:ea typeface="Arial"/>
                <a:cs typeface="Arial"/>
              </a:rPr>
              <a:t>178 · 1,04% do PL</a:t>
            </a:r>
          </a:p>
        </p:txBody>
      </p:sp>
      <p:sp>
        <p:nvSpPr>
          <p:cNvPr id="27" name="">
            <a:extLst xmlns:a="http://schemas.openxmlformats.org/drawingml/2006/main">
              <a:ext uri="{FF2B5EF4-FFF2-40B4-BE49-F238E27FC236}">
                <a16:creationId xmlns:a16="http://schemas.microsoft.com/office/drawing/2014/main" id="{3D36D273-BAF7-4852-AE4D-AFF7B19061AD}"/>
              </a:ext>
            </a:extLst>
          </p:cNvPr>
          <p:cNvSpPr>
            <a:spLocks xmlns:a="http://schemas.openxmlformats.org/drawingml/2006/main" noGrp="1"/>
          </p:cNvSpPr>
          <p:nvPr/>
        </p:nvSpPr>
        <p:spPr>
          <a:xfrm xmlns:a="http://schemas.openxmlformats.org/drawingml/2006/main">
            <a:off x="7858125" y="4405313"/>
            <a:ext cx="37623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C150BB77-4FA1-4C2C-ADEB-5499D1D5826B}"/>
              </a:ext>
            </a:extLst>
          </p:cNvPr>
          <p:cNvSpPr>
            <a:spLocks xmlns:a="http://schemas.openxmlformats.org/drawingml/2006/main" noGrp="1"/>
          </p:cNvSpPr>
          <p:nvPr/>
        </p:nvSpPr>
        <p:spPr>
          <a:xfrm xmlns:a="http://schemas.openxmlformats.org/drawingml/2006/main">
            <a:off x="7858125" y="4462463"/>
            <a:ext cx="1994059"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013" b="1">
                <a:solidFill>
                  <a:srgbClr val="30353A"/>
                </a:solidFill>
                <a:latin typeface="Arial"/>
                <a:ea typeface="Arial"/>
                <a:cs typeface="Arial"/>
              </a:defRPr>
            </a:pPr>
            <a:r>
              <a:rPr sz="1013" b="1">
                <a:solidFill>
                  <a:srgbClr val="30353A"/>
                </a:solidFill>
                <a:latin typeface="Arial"/>
                <a:ea typeface="Arial"/>
                <a:cs typeface="Arial"/>
              </a:rPr>
              <a:t>Excesso Top 1 / 5 / 10</a:t>
            </a:r>
          </a:p>
        </p:txBody>
      </p:sp>
      <p:sp>
        <p:nvSpPr>
          <p:cNvPr id="29" name="">
            <a:extLst xmlns:a="http://schemas.openxmlformats.org/drawingml/2006/main">
              <a:ext uri="{FF2B5EF4-FFF2-40B4-BE49-F238E27FC236}">
                <a16:creationId xmlns:a16="http://schemas.microsoft.com/office/drawing/2014/main" id="{6B46F18B-0C2F-41C3-8CFE-99CEE7795B0D}"/>
              </a:ext>
            </a:extLst>
          </p:cNvPr>
          <p:cNvSpPr>
            <a:spLocks xmlns:a="http://schemas.openxmlformats.org/drawingml/2006/main" noGrp="1"/>
          </p:cNvSpPr>
          <p:nvPr/>
        </p:nvSpPr>
        <p:spPr>
          <a:xfrm xmlns:a="http://schemas.openxmlformats.org/drawingml/2006/main">
            <a:off x="9965055" y="4462463"/>
            <a:ext cx="1655445"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013" b="0">
                <a:solidFill>
                  <a:srgbClr val="151515"/>
                </a:solidFill>
                <a:latin typeface="Arial"/>
                <a:ea typeface="Arial"/>
                <a:cs typeface="Arial"/>
              </a:defRPr>
            </a:pPr>
            <a:r>
              <a:rPr sz="1013" b="0">
                <a:solidFill>
                  <a:srgbClr val="151515"/>
                </a:solidFill>
                <a:latin typeface="Arial"/>
                <a:ea typeface="Arial"/>
                <a:cs typeface="Arial"/>
              </a:rPr>
              <a:t>14,2% / 42,0% / 57,4%</a:t>
            </a:r>
          </a:p>
        </p:txBody>
      </p:sp>
      <p:sp>
        <p:nvSpPr>
          <p:cNvPr id="30" name="">
            <a:extLst xmlns:a="http://schemas.openxmlformats.org/drawingml/2006/main">
              <a:ext uri="{FF2B5EF4-FFF2-40B4-BE49-F238E27FC236}">
                <a16:creationId xmlns:a16="http://schemas.microsoft.com/office/drawing/2014/main" id="{8DBD53CA-9A34-4E3B-9856-BEF8719A3EB9}"/>
              </a:ext>
            </a:extLst>
          </p:cNvPr>
          <p:cNvSpPr>
            <a:spLocks xmlns:a="http://schemas.openxmlformats.org/drawingml/2006/main" noGrp="1"/>
          </p:cNvSpPr>
          <p:nvPr/>
        </p:nvSpPr>
        <p:spPr>
          <a:xfrm xmlns:a="http://schemas.openxmlformats.org/drawingml/2006/main">
            <a:off x="7858125" y="5238750"/>
            <a:ext cx="37623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Ex-360 publicável: 4,9% ajustada. O antigo excesso de R$ 6,89 bi era a parcela vincenda ligada a créditos inadimplentes, prevista na Tabela I e omitida do comparador; 555 veículos reportam o campo.</a:t>
            </a:r>
          </a:p>
        </p:txBody>
      </p:sp>
    </p:spTree>
    <p:extLst>
      <p:ext uri="{BB962C8B-B14F-4D97-AF65-F5344CB8AC3E}">
        <p14:creationId xmlns:p14="http://schemas.microsoft.com/office/powerpoint/2010/main" val="41516366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027D866-E20A-4BCE-A060-2B2F2CF2C7B9}"/>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INADIMPLÊNCIA · BASE ORIGINAL</a:t>
            </a:r>
          </a:p>
        </p:txBody>
      </p:sp>
      <p:sp>
        <p:nvSpPr>
          <p:cNvPr id="2" name="">
            <a:extLst xmlns:a="http://schemas.openxmlformats.org/drawingml/2006/main">
              <a:ext uri="{FF2B5EF4-FFF2-40B4-BE49-F238E27FC236}">
                <a16:creationId xmlns:a16="http://schemas.microsoft.com/office/drawing/2014/main" id="{973FA079-40CC-4F4D-A780-7641C052EC32}"/>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95025"/>
          </a:bodyPr>
          <a:lstStyle xmlns:a="http://schemas.openxmlformats.org/drawingml/2006/main"/>
          <a:p xmlns:a="http://schemas.openxmlformats.org/drawingml/2006/main">
            <a:pPr algn="l">
              <a:lnSpc>
                <a:spcPct val="100000"/>
              </a:lnSpc>
              <a:buNone/>
              <a:defRPr sz="1950" b="1">
                <a:solidFill>
                  <a:srgbClr val="151515"/>
                </a:solidFill>
                <a:latin typeface="Arial"/>
                <a:ea typeface="Arial"/>
                <a:cs typeface="Arial"/>
              </a:defRPr>
            </a:pPr>
            <a:r>
              <a:rPr sz="1950" b="1">
                <a:solidFill>
                  <a:srgbClr val="151515"/>
                </a:solidFill>
                <a:latin typeface="Arial"/>
                <a:ea typeface="Arial"/>
                <a:cs typeface="Arial"/>
              </a:rPr>
              <a:t>Coorte atual monotipo: 4,4% da carteira em jun/26; fundos com zero permanecem no denominador</a:t>
            </a:r>
          </a:p>
        </p:txBody>
      </p:sp>
      <p:sp>
        <p:nvSpPr>
          <p:cNvPr id="3" name="">
            <a:extLst xmlns:a="http://schemas.openxmlformats.org/drawingml/2006/main">
              <a:ext uri="{FF2B5EF4-FFF2-40B4-BE49-F238E27FC236}">
                <a16:creationId xmlns:a16="http://schemas.microsoft.com/office/drawing/2014/main" id="{4A891F57-FDE4-4DA2-9DE7-27F7D920F5B7}"/>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0B7BD8A-9068-4247-B729-FC914DBC1481}"/>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07E0269-42D3-4D0B-9EA7-EA3A915CEA60}"/>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 Informe Mensal, Tabelas I, II e IV. Coorte e subtipo congelados em jun/26; ex-FIC, PL positivo, campos reportados e inadimplência ≤ carteira.</a:t>
            </a:r>
          </a:p>
        </p:txBody>
      </p:sp>
      <p:sp>
        <p:nvSpPr>
          <p:cNvPr id="6" name="">
            <a:extLst xmlns:a="http://schemas.openxmlformats.org/drawingml/2006/main">
              <a:ext uri="{FF2B5EF4-FFF2-40B4-BE49-F238E27FC236}">
                <a16:creationId xmlns:a16="http://schemas.microsoft.com/office/drawing/2014/main" id="{11CA4AFB-4A90-4BF1-BBF8-DC8A2937CCDB}"/>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12</a:t>
            </a:r>
          </a:p>
        </p:txBody>
      </p:sp>
      <p:sp>
        <p:nvSpPr>
          <p:cNvPr id="7" name="">
            <a:extLst xmlns:a="http://schemas.openxmlformats.org/drawingml/2006/main">
              <a:ext uri="{FF2B5EF4-FFF2-40B4-BE49-F238E27FC236}">
                <a16:creationId xmlns:a16="http://schemas.microsoft.com/office/drawing/2014/main" id="{E58E45F1-7233-404B-BA2B-89763006393F}"/>
              </a:ext>
            </a:extLst>
          </p:cNvPr>
          <p:cNvSpPr>
            <a:spLocks xmlns:a="http://schemas.openxmlformats.org/drawingml/2006/main" noGrp="1"/>
          </p:cNvSpPr>
          <p:nvPr/>
        </p:nvSpPr>
        <p:spPr>
          <a:xfrm xmlns:a="http://schemas.openxmlformats.org/drawingml/2006/main">
            <a:off x="571500" y="1323975"/>
            <a:ext cx="5857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SÉRIE AGREGADA · % DA CARTEIRA</a:t>
            </a:r>
          </a:p>
        </p:txBody>
      </p:sp>
      <p:sp>
        <p:nvSpPr>
          <p:cNvPr id="8" name="">
            <a:extLst xmlns:a="http://schemas.openxmlformats.org/drawingml/2006/main">
              <a:ext uri="{FF2B5EF4-FFF2-40B4-BE49-F238E27FC236}">
                <a16:creationId xmlns:a16="http://schemas.microsoft.com/office/drawing/2014/main" id="{1054CA74-D0D6-40BF-A4F3-DD145304A9CB}"/>
              </a:ext>
            </a:extLst>
          </p:cNvPr>
          <p:cNvSpPr>
            <a:spLocks xmlns:a="http://schemas.openxmlformats.org/drawingml/2006/main" noGrp="1"/>
          </p:cNvSpPr>
          <p:nvPr/>
        </p:nvSpPr>
        <p:spPr>
          <a:xfrm xmlns:a="http://schemas.openxmlformats.org/drawingml/2006/main">
            <a:off x="571500" y="1590675"/>
            <a:ext cx="58578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5" name="Chart"/>
          <p:cNvGraphicFramePr/>
          <p:nvPr/>
        </p:nvGraphicFramePr>
        <p:xfrm>
          <a:off xmlns:a="http://schemas.openxmlformats.org/drawingml/2006/main" x="571500" y="1657350"/>
          <a:ext xmlns:a="http://schemas.openxmlformats.org/drawingml/2006/main" cx="5857875" cy="3219450"/>
        </p:xfrm>
        <a:graphic xmlns:a="http://schemas.openxmlformats.org/drawingml/2006/main">
          <a:graphicData uri="http://schemas.openxmlformats.org/drawingml/2006/chart">
            <c:chart xmlns:r="http://schemas.openxmlformats.org/officeDocument/2006/relationships" xmlns:c="http://schemas.openxmlformats.org/drawingml/2006/chart" r:id="R4b7f400ab4b1454e"/>
          </a:graphicData>
        </a:graphic>
      </p:graphicFrame>
      <p:graphicFrame>
        <p:nvGraphicFramePr>
          <p:cNvPr id="26" name="Chart"/>
          <p:cNvGraphicFramePr/>
          <p:nvPr/>
        </p:nvGraphicFramePr>
        <p:xfrm>
          <a:off xmlns:a="http://schemas.openxmlformats.org/drawingml/2006/main" x="1095375" y="4848225"/>
          <a:ext xmlns:a="http://schemas.openxmlformats.org/drawingml/2006/main" cx="4953000" cy="228600"/>
        </p:xfrm>
        <a:graphic xmlns:a="http://schemas.openxmlformats.org/drawingml/2006/main">
          <a:graphicData uri="http://schemas.openxmlformats.org/drawingml/2006/chart">
            <c:chart xmlns:r="http://schemas.openxmlformats.org/officeDocument/2006/relationships" xmlns:c="http://schemas.openxmlformats.org/drawingml/2006/chart" r:id="R895ca6d6af1c43a7"/>
          </a:graphicData>
        </a:graphic>
      </p:graphicFrame>
      <p:sp>
        <p:nvSpPr>
          <p:cNvPr id="11" name="">
            <a:extLst xmlns:a="http://schemas.openxmlformats.org/drawingml/2006/main">
              <a:ext uri="{FF2B5EF4-FFF2-40B4-BE49-F238E27FC236}">
                <a16:creationId xmlns:a16="http://schemas.microsoft.com/office/drawing/2014/main" id="{4B3BFEBB-1C14-49E2-B3DA-7A21759C2649}"/>
              </a:ext>
            </a:extLst>
          </p:cNvPr>
          <p:cNvSpPr>
            <a:spLocks xmlns:a="http://schemas.openxmlformats.org/drawingml/2006/main" noGrp="1"/>
          </p:cNvSpPr>
          <p:nvPr/>
        </p:nvSpPr>
        <p:spPr>
          <a:xfrm xmlns:a="http://schemas.openxmlformats.org/drawingml/2006/main">
            <a:off x="6762750" y="1323975"/>
            <a:ext cx="485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FIDCs COM UM ÚNICO TIPO NA TABELA II</a:t>
            </a:r>
          </a:p>
        </p:txBody>
      </p:sp>
      <p:sp>
        <p:nvSpPr>
          <p:cNvPr id="12" name="">
            <a:extLst xmlns:a="http://schemas.openxmlformats.org/drawingml/2006/main">
              <a:ext uri="{FF2B5EF4-FFF2-40B4-BE49-F238E27FC236}">
                <a16:creationId xmlns:a16="http://schemas.microsoft.com/office/drawing/2014/main" id="{0B8FF70A-2802-41EA-B797-BD7E9AA5FB1F}"/>
              </a:ext>
            </a:extLst>
          </p:cNvPr>
          <p:cNvSpPr>
            <a:spLocks xmlns:a="http://schemas.openxmlformats.org/drawingml/2006/main" noGrp="1"/>
          </p:cNvSpPr>
          <p:nvPr/>
        </p:nvSpPr>
        <p:spPr>
          <a:xfrm xmlns:a="http://schemas.openxmlformats.org/drawingml/2006/main">
            <a:off x="6762750" y="1590675"/>
            <a:ext cx="485775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9" name=""/>
          <p:cNvGraphicFramePr/>
          <p:nvPr/>
        </p:nvGraphicFramePr>
        <p:xfrm>
          <a:off xmlns:a="http://schemas.openxmlformats.org/drawingml/2006/main" x="6762750" y="1657350"/>
          <a:ext xmlns:a="http://schemas.openxmlformats.org/drawingml/2006/main" cx="4857750" cy="3429000"/>
        </p:xfrm>
        <a:graphic xmlns:a="http://schemas.openxmlformats.org/drawingml/2006/main">
          <a:graphicData uri="http://schemas.openxmlformats.org/drawingml/2006/table">
            <a:tbl>
              <a:tblPr firstRow="0" firstCol="0" lastRow="0" lastCol="0" bandRow="0" bandCol="0"/>
              <a:tblGrid>
                <a:gridCol w="2095500"/>
                <a:gridCol w="714375"/>
                <a:gridCol w="1000125"/>
                <a:gridCol w="1047750"/>
              </a:tblGrid>
              <a:tr h="209550">
                <a:tc>
                  <a:txBody>
                    <a:bodyPr wrap="square" anchor="ctr">
                      <a:normAutofit/>
                    </a:bodyPr>
                    <a:lstStyle/>
                    <a:p>
                      <a:pPr algn="l"/>
                      <a:r>
                        <a:rPr sz="623" b="1">
                          <a:solidFill>
                            <a:srgbClr val="FFFFFF"/>
                          </a:solidFill>
                          <a:latin typeface="Arial"/>
                          <a:ea typeface="Arial"/>
                          <a:cs typeface="Arial"/>
                        </a:rPr>
                        <a:t>Tipo</a:t>
                      </a:r>
                    </a:p>
                  </a:txBody>
                  <a:tcPr marL="47625" marR="47625" marT="19050" marB="19050" anchor="ctr">
                    <a:solidFill>
                      <a:srgbClr val="151515"/>
                    </a:solidFill>
                  </a:tcPr>
                </a:tc>
                <a:tc>
                  <a:txBody>
                    <a:bodyPr wrap="square" anchor="ctr">
                      <a:normAutofit/>
                    </a:bodyPr>
                    <a:lstStyle/>
                    <a:p>
                      <a:pPr algn="r"/>
                      <a:r>
                        <a:rPr sz="623" b="1">
                          <a:solidFill>
                            <a:srgbClr val="FFFFFF"/>
                          </a:solidFill>
                          <a:latin typeface="Arial"/>
                          <a:ea typeface="Arial"/>
                          <a:cs typeface="Arial"/>
                        </a:rPr>
                        <a:t>Fundos</a:t>
                      </a:r>
                    </a:p>
                  </a:txBody>
                  <a:tcPr marL="47625" marR="47625" marT="19050" marB="19050" anchor="ctr">
                    <a:solidFill>
                      <a:srgbClr val="151515"/>
                    </a:solidFill>
                  </a:tcPr>
                </a:tc>
                <a:tc>
                  <a:txBody>
                    <a:bodyPr wrap="square" anchor="ctr">
                      <a:normAutofit/>
                    </a:bodyPr>
                    <a:lstStyle/>
                    <a:p>
                      <a:pPr algn="r"/>
                      <a:r>
                        <a:rPr sz="623" b="1">
                          <a:solidFill>
                            <a:srgbClr val="FFFFFF"/>
                          </a:solidFill>
                          <a:latin typeface="Arial"/>
                          <a:ea typeface="Arial"/>
                          <a:cs typeface="Arial"/>
                        </a:rPr>
                        <a:t>Carteira</a:t>
                      </a:r>
                    </a:p>
                  </a:txBody>
                  <a:tcPr marL="47625" marR="47625" marT="19050" marB="19050" anchor="ctr">
                    <a:solidFill>
                      <a:srgbClr val="151515"/>
                    </a:solidFill>
                  </a:tcPr>
                </a:tc>
                <a:tc>
                  <a:txBody>
                    <a:bodyPr wrap="square" anchor="ctr">
                      <a:normAutofit/>
                    </a:bodyPr>
                    <a:lstStyle/>
                    <a:p>
                      <a:pPr algn="r"/>
                      <a:r>
                        <a:rPr sz="623" b="1">
                          <a:solidFill>
                            <a:srgbClr val="FFFFFF"/>
                          </a:solidFill>
                          <a:latin typeface="Arial"/>
                          <a:ea typeface="Arial"/>
                          <a:cs typeface="Arial"/>
                        </a:rPr>
                        <a:t>Inad./cart.</a:t>
                      </a:r>
                    </a:p>
                  </a:txBody>
                  <a:tcPr marL="47625" marR="47625" marT="19050" marB="19050" anchor="ctr">
                    <a:solidFill>
                      <a:srgbClr val="151515"/>
                    </a:solidFill>
                  </a:tcPr>
                </a:tc>
              </a:tr>
              <a:tr h="321945">
                <a:tc>
                  <a:txBody>
                    <a:bodyPr wrap="square" anchor="ctr">
                      <a:normAutofit/>
                    </a:bodyPr>
                    <a:lstStyle/>
                    <a:p>
                      <a:pPr algn="l"/>
                      <a:r>
                        <a:rPr sz="638">
                          <a:solidFill>
                            <a:srgbClr val="30353A"/>
                          </a:solidFill>
                          <a:latin typeface="Arial"/>
                          <a:ea typeface="Arial"/>
                          <a:cs typeface="Arial"/>
                        </a:rPr>
                        <a:t>Financeiro</a:t>
                      </a:r>
                    </a:p>
                  </a:txBody>
                  <a:tcPr marL="47625" marR="47625" marT="14288" marB="14288" anchor="ctr">
                    <a:solidFill>
                      <a:srgbClr val="FFF1E6"/>
                    </a:solidFill>
                  </a:tcPr>
                </a:tc>
                <a:tc>
                  <a:txBody>
                    <a:bodyPr wrap="square" anchor="ctr">
                      <a:normAutofit/>
                    </a:bodyPr>
                    <a:lstStyle/>
                    <a:p>
                      <a:pPr algn="r"/>
                      <a:r>
                        <a:rPr sz="638">
                          <a:solidFill>
                            <a:srgbClr val="30353A"/>
                          </a:solidFill>
                          <a:latin typeface="Arial"/>
                          <a:ea typeface="Arial"/>
                          <a:cs typeface="Arial"/>
                        </a:rPr>
                        <a:t>1.215</a:t>
                      </a:r>
                    </a:p>
                  </a:txBody>
                  <a:tcPr marL="47625" marR="47625" marT="14288" marB="14288" anchor="ctr">
                    <a:solidFill>
                      <a:srgbClr val="FFF1E6"/>
                    </a:solidFill>
                  </a:tcPr>
                </a:tc>
                <a:tc>
                  <a:txBody>
                    <a:bodyPr wrap="square" anchor="ctr">
                      <a:normAutofit/>
                    </a:bodyPr>
                    <a:lstStyle/>
                    <a:p>
                      <a:pPr algn="r"/>
                      <a:r>
                        <a:rPr sz="638">
                          <a:solidFill>
                            <a:srgbClr val="30353A"/>
                          </a:solidFill>
                          <a:latin typeface="Arial"/>
                          <a:ea typeface="Arial"/>
                          <a:cs typeface="Arial"/>
                        </a:rPr>
                        <a:t>232,6</a:t>
                      </a:r>
                    </a:p>
                  </a:txBody>
                  <a:tcPr marL="47625" marR="47625" marT="14288" marB="14288" anchor="ctr">
                    <a:solidFill>
                      <a:srgbClr val="FFF1E6"/>
                    </a:solidFill>
                  </a:tcPr>
                </a:tc>
                <a:tc>
                  <a:txBody>
                    <a:bodyPr wrap="square" anchor="ctr">
                      <a:normAutofit/>
                    </a:bodyPr>
                    <a:lstStyle/>
                    <a:p>
                      <a:pPr algn="r"/>
                      <a:r>
                        <a:rPr sz="638">
                          <a:solidFill>
                            <a:srgbClr val="30353A"/>
                          </a:solidFill>
                          <a:latin typeface="Arial"/>
                          <a:ea typeface="Arial"/>
                          <a:cs typeface="Arial"/>
                        </a:rPr>
                        <a:t>7,2%</a:t>
                      </a:r>
                    </a:p>
                  </a:txBody>
                  <a:tcPr marL="47625" marR="47625" marT="14288" marB="14288" anchor="ctr">
                    <a:solidFill>
                      <a:srgbClr val="FFF1E6"/>
                    </a:solidFill>
                  </a:tcPr>
                </a:tc>
              </a:tr>
              <a:tr h="321945">
                <a:tc>
                  <a:txBody>
                    <a:bodyPr wrap="square" anchor="ctr">
                      <a:normAutofit/>
                    </a:bodyPr>
                    <a:lstStyle/>
                    <a:p>
                      <a:pPr algn="l"/>
                      <a:r>
                        <a:rPr sz="638">
                          <a:solidFill>
                            <a:srgbClr val="30353A"/>
                          </a:solidFill>
                          <a:latin typeface="Arial"/>
                          <a:ea typeface="Arial"/>
                          <a:cs typeface="Arial"/>
                        </a:rPr>
                        <a:t>Cartão de crédito</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41</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76,4</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1,2%</a:t>
                      </a:r>
                    </a:p>
                  </a:txBody>
                  <a:tcPr marL="47625" marR="47625" marT="14288" marB="14288" anchor="ctr">
                    <a:solidFill>
                      <a:srgbClr val="F5F6F7"/>
                    </a:solidFill>
                  </a:tcPr>
                </a:tc>
              </a:tr>
              <a:tr h="321945">
                <a:tc>
                  <a:txBody>
                    <a:bodyPr wrap="square" anchor="ctr">
                      <a:normAutofit/>
                    </a:bodyPr>
                    <a:lstStyle/>
                    <a:p>
                      <a:pPr algn="l"/>
                      <a:r>
                        <a:rPr sz="638">
                          <a:solidFill>
                            <a:srgbClr val="30353A"/>
                          </a:solidFill>
                          <a:latin typeface="Arial"/>
                          <a:ea typeface="Arial"/>
                          <a:cs typeface="Arial"/>
                        </a:rPr>
                        <a:t>Comercial</a:t>
                      </a:r>
                    </a:p>
                  </a:txBody>
                  <a:tcPr marL="47625" marR="47625" marT="14288" marB="14288" anchor="ctr">
                    <a:solidFill>
                      <a:srgbClr val="FFFFFF"/>
                    </a:solidFill>
                  </a:tcPr>
                </a:tc>
                <a:tc>
                  <a:txBody>
                    <a:bodyPr wrap="square" anchor="ctr">
                      <a:normAutofit/>
                    </a:bodyPr>
                    <a:lstStyle/>
                    <a:p>
                      <a:pPr algn="r"/>
                      <a:r>
                        <a:rPr sz="638">
                          <a:solidFill>
                            <a:srgbClr val="30353A"/>
                          </a:solidFill>
                          <a:latin typeface="Arial"/>
                          <a:ea typeface="Arial"/>
                          <a:cs typeface="Arial"/>
                        </a:rPr>
                        <a:t>257</a:t>
                      </a:r>
                    </a:p>
                  </a:txBody>
                  <a:tcPr marL="47625" marR="47625" marT="14288" marB="14288" anchor="ctr">
                    <a:solidFill>
                      <a:srgbClr val="FFFFFF"/>
                    </a:solidFill>
                  </a:tcPr>
                </a:tc>
                <a:tc>
                  <a:txBody>
                    <a:bodyPr wrap="square" anchor="ctr">
                      <a:normAutofit/>
                    </a:bodyPr>
                    <a:lstStyle/>
                    <a:p>
                      <a:pPr algn="r"/>
                      <a:r>
                        <a:rPr sz="638">
                          <a:solidFill>
                            <a:srgbClr val="30353A"/>
                          </a:solidFill>
                          <a:latin typeface="Arial"/>
                          <a:ea typeface="Arial"/>
                          <a:cs typeface="Arial"/>
                        </a:rPr>
                        <a:t>73,2</a:t>
                      </a:r>
                    </a:p>
                  </a:txBody>
                  <a:tcPr marL="47625" marR="47625" marT="14288" marB="14288" anchor="ctr">
                    <a:solidFill>
                      <a:srgbClr val="FFFFFF"/>
                    </a:solidFill>
                  </a:tcPr>
                </a:tc>
                <a:tc>
                  <a:txBody>
                    <a:bodyPr wrap="square" anchor="ctr">
                      <a:normAutofit/>
                    </a:bodyPr>
                    <a:lstStyle/>
                    <a:p>
                      <a:pPr algn="r"/>
                      <a:r>
                        <a:rPr sz="638">
                          <a:solidFill>
                            <a:srgbClr val="30353A"/>
                          </a:solidFill>
                          <a:latin typeface="Arial"/>
                          <a:ea typeface="Arial"/>
                          <a:cs typeface="Arial"/>
                        </a:rPr>
                        <a:t>3,8%</a:t>
                      </a:r>
                    </a:p>
                  </a:txBody>
                  <a:tcPr marL="47625" marR="47625" marT="14288" marB="14288" anchor="ctr">
                    <a:solidFill>
                      <a:srgbClr val="FFFFFF"/>
                    </a:solidFill>
                  </a:tcPr>
                </a:tc>
              </a:tr>
              <a:tr h="321945">
                <a:tc>
                  <a:txBody>
                    <a:bodyPr wrap="square" anchor="ctr">
                      <a:normAutofit/>
                    </a:bodyPr>
                    <a:lstStyle/>
                    <a:p>
                      <a:pPr algn="l"/>
                      <a:r>
                        <a:rPr sz="638">
                          <a:solidFill>
                            <a:srgbClr val="30353A"/>
                          </a:solidFill>
                          <a:latin typeface="Arial"/>
                          <a:ea typeface="Arial"/>
                          <a:cs typeface="Arial"/>
                        </a:rPr>
                        <a:t>Industrial</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52</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61,5</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1,1%</a:t>
                      </a:r>
                    </a:p>
                  </a:txBody>
                  <a:tcPr marL="47625" marR="47625" marT="14288" marB="14288" anchor="ctr">
                    <a:solidFill>
                      <a:srgbClr val="F5F6F7"/>
                    </a:solidFill>
                  </a:tcPr>
                </a:tc>
              </a:tr>
              <a:tr h="321945">
                <a:tc>
                  <a:txBody>
                    <a:bodyPr wrap="square" anchor="ctr">
                      <a:normAutofit/>
                    </a:bodyPr>
                    <a:lstStyle/>
                    <a:p>
                      <a:pPr algn="l"/>
                      <a:r>
                        <a:rPr sz="638">
                          <a:solidFill>
                            <a:srgbClr val="30353A"/>
                          </a:solidFill>
                          <a:latin typeface="Arial"/>
                          <a:ea typeface="Arial"/>
                          <a:cs typeface="Arial"/>
                        </a:rPr>
                        <a:t>Serviços</a:t>
                      </a:r>
                    </a:p>
                  </a:txBody>
                  <a:tcPr marL="47625" marR="47625" marT="14288" marB="14288" anchor="ctr">
                    <a:solidFill>
                      <a:srgbClr val="FFFFFF"/>
                    </a:solidFill>
                  </a:tcPr>
                </a:tc>
                <a:tc>
                  <a:txBody>
                    <a:bodyPr wrap="square" anchor="ctr">
                      <a:normAutofit/>
                    </a:bodyPr>
                    <a:lstStyle/>
                    <a:p>
                      <a:pPr algn="r"/>
                      <a:r>
                        <a:rPr sz="638">
                          <a:solidFill>
                            <a:srgbClr val="30353A"/>
                          </a:solidFill>
                          <a:latin typeface="Arial"/>
                          <a:ea typeface="Arial"/>
                          <a:cs typeface="Arial"/>
                        </a:rPr>
                        <a:t>160</a:t>
                      </a:r>
                    </a:p>
                  </a:txBody>
                  <a:tcPr marL="47625" marR="47625" marT="14288" marB="14288" anchor="ctr">
                    <a:solidFill>
                      <a:srgbClr val="FFFFFF"/>
                    </a:solidFill>
                  </a:tcPr>
                </a:tc>
                <a:tc>
                  <a:txBody>
                    <a:bodyPr wrap="square" anchor="ctr">
                      <a:normAutofit/>
                    </a:bodyPr>
                    <a:lstStyle/>
                    <a:p>
                      <a:pPr algn="r"/>
                      <a:r>
                        <a:rPr sz="638">
                          <a:solidFill>
                            <a:srgbClr val="30353A"/>
                          </a:solidFill>
                          <a:latin typeface="Arial"/>
                          <a:ea typeface="Arial"/>
                          <a:cs typeface="Arial"/>
                        </a:rPr>
                        <a:t>31,4</a:t>
                      </a:r>
                    </a:p>
                  </a:txBody>
                  <a:tcPr marL="47625" marR="47625" marT="14288" marB="14288" anchor="ctr">
                    <a:solidFill>
                      <a:srgbClr val="FFFFFF"/>
                    </a:solidFill>
                  </a:tcPr>
                </a:tc>
                <a:tc>
                  <a:txBody>
                    <a:bodyPr wrap="square" anchor="ctr">
                      <a:normAutofit/>
                    </a:bodyPr>
                    <a:lstStyle/>
                    <a:p>
                      <a:pPr algn="r"/>
                      <a:r>
                        <a:rPr sz="638">
                          <a:solidFill>
                            <a:srgbClr val="30353A"/>
                          </a:solidFill>
                          <a:latin typeface="Arial"/>
                          <a:ea typeface="Arial"/>
                          <a:cs typeface="Arial"/>
                        </a:rPr>
                        <a:t>1,6%</a:t>
                      </a:r>
                    </a:p>
                  </a:txBody>
                  <a:tcPr marL="47625" marR="47625" marT="14288" marB="14288" anchor="ctr">
                    <a:solidFill>
                      <a:srgbClr val="FFFFFF"/>
                    </a:solidFill>
                  </a:tcPr>
                </a:tc>
              </a:tr>
              <a:tr h="321945">
                <a:tc>
                  <a:txBody>
                    <a:bodyPr wrap="square" anchor="ctr">
                      <a:normAutofit/>
                    </a:bodyPr>
                    <a:lstStyle/>
                    <a:p>
                      <a:pPr algn="l"/>
                      <a:r>
                        <a:rPr sz="638">
                          <a:solidFill>
                            <a:srgbClr val="30353A"/>
                          </a:solidFill>
                          <a:latin typeface="Arial"/>
                          <a:ea typeface="Arial"/>
                          <a:cs typeface="Arial"/>
                        </a:rPr>
                        <a:t>Setor público</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129</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24,5</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2,7%</a:t>
                      </a:r>
                    </a:p>
                  </a:txBody>
                  <a:tcPr marL="47625" marR="47625" marT="14288" marB="14288" anchor="ctr">
                    <a:solidFill>
                      <a:srgbClr val="F5F6F7"/>
                    </a:solidFill>
                  </a:tcPr>
                </a:tc>
              </a:tr>
              <a:tr h="321945">
                <a:tc>
                  <a:txBody>
                    <a:bodyPr wrap="square" anchor="ctr">
                      <a:normAutofit/>
                    </a:bodyPr>
                    <a:lstStyle/>
                    <a:p>
                      <a:pPr algn="l"/>
                      <a:r>
                        <a:rPr sz="638">
                          <a:solidFill>
                            <a:srgbClr val="30353A"/>
                          </a:solidFill>
                          <a:latin typeface="Arial"/>
                          <a:ea typeface="Arial"/>
                          <a:cs typeface="Arial"/>
                        </a:rPr>
                        <a:t>Ações judiciais</a:t>
                      </a:r>
                    </a:p>
                  </a:txBody>
                  <a:tcPr marL="47625" marR="47625" marT="14288" marB="14288" anchor="ctr">
                    <a:solidFill>
                      <a:srgbClr val="FFFFFF"/>
                    </a:solidFill>
                  </a:tcPr>
                </a:tc>
                <a:tc>
                  <a:txBody>
                    <a:bodyPr wrap="square" anchor="ctr">
                      <a:normAutofit/>
                    </a:bodyPr>
                    <a:lstStyle/>
                    <a:p>
                      <a:pPr algn="r"/>
                      <a:r>
                        <a:rPr sz="638">
                          <a:solidFill>
                            <a:srgbClr val="30353A"/>
                          </a:solidFill>
                          <a:latin typeface="Arial"/>
                          <a:ea typeface="Arial"/>
                          <a:cs typeface="Arial"/>
                        </a:rPr>
                        <a:t>160</a:t>
                      </a:r>
                    </a:p>
                  </a:txBody>
                  <a:tcPr marL="47625" marR="47625" marT="14288" marB="14288" anchor="ctr">
                    <a:solidFill>
                      <a:srgbClr val="FFFFFF"/>
                    </a:solidFill>
                  </a:tcPr>
                </a:tc>
                <a:tc>
                  <a:txBody>
                    <a:bodyPr wrap="square" anchor="ctr">
                      <a:normAutofit/>
                    </a:bodyPr>
                    <a:lstStyle/>
                    <a:p>
                      <a:pPr algn="r"/>
                      <a:r>
                        <a:rPr sz="638">
                          <a:solidFill>
                            <a:srgbClr val="30353A"/>
                          </a:solidFill>
                          <a:latin typeface="Arial"/>
                          <a:ea typeface="Arial"/>
                          <a:cs typeface="Arial"/>
                        </a:rPr>
                        <a:t>19,7</a:t>
                      </a:r>
                    </a:p>
                  </a:txBody>
                  <a:tcPr marL="47625" marR="47625" marT="14288" marB="14288" anchor="ctr">
                    <a:solidFill>
                      <a:srgbClr val="FFFFFF"/>
                    </a:solidFill>
                  </a:tcPr>
                </a:tc>
                <a:tc>
                  <a:txBody>
                    <a:bodyPr wrap="square" anchor="ctr">
                      <a:normAutofit/>
                    </a:bodyPr>
                    <a:lstStyle/>
                    <a:p>
                      <a:pPr algn="r"/>
                      <a:r>
                        <a:rPr sz="638">
                          <a:solidFill>
                            <a:srgbClr val="30353A"/>
                          </a:solidFill>
                          <a:latin typeface="Arial"/>
                          <a:ea typeface="Arial"/>
                          <a:cs typeface="Arial"/>
                        </a:rPr>
                        <a:t>2,8%</a:t>
                      </a:r>
                    </a:p>
                  </a:txBody>
                  <a:tcPr marL="47625" marR="47625" marT="14288" marB="14288" anchor="ctr">
                    <a:solidFill>
                      <a:srgbClr val="FFFFFF"/>
                    </a:solidFill>
                  </a:tcPr>
                </a:tc>
              </a:tr>
              <a:tr h="321945">
                <a:tc>
                  <a:txBody>
                    <a:bodyPr wrap="square" anchor="ctr">
                      <a:normAutofit/>
                    </a:bodyPr>
                    <a:lstStyle/>
                    <a:p>
                      <a:pPr algn="l"/>
                      <a:r>
                        <a:rPr sz="638">
                          <a:solidFill>
                            <a:srgbClr val="30353A"/>
                          </a:solidFill>
                          <a:latin typeface="Arial"/>
                          <a:ea typeface="Arial"/>
                          <a:cs typeface="Arial"/>
                        </a:rPr>
                        <a:t>Agronegócio</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36</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4,7</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9,8%</a:t>
                      </a:r>
                    </a:p>
                  </a:txBody>
                  <a:tcPr marL="47625" marR="47625" marT="14288" marB="14288" anchor="ctr">
                    <a:solidFill>
                      <a:srgbClr val="F5F6F7"/>
                    </a:solidFill>
                  </a:tcPr>
                </a:tc>
              </a:tr>
              <a:tr h="321945">
                <a:tc>
                  <a:txBody>
                    <a:bodyPr wrap="square" anchor="ctr">
                      <a:normAutofit/>
                    </a:bodyPr>
                    <a:lstStyle/>
                    <a:p>
                      <a:pPr algn="l"/>
                      <a:r>
                        <a:rPr sz="638">
                          <a:solidFill>
                            <a:srgbClr val="30353A"/>
                          </a:solidFill>
                          <a:latin typeface="Arial"/>
                          <a:ea typeface="Arial"/>
                          <a:cs typeface="Arial"/>
                        </a:rPr>
                        <a:t>Imobiliário</a:t>
                      </a:r>
                    </a:p>
                  </a:txBody>
                  <a:tcPr marL="47625" marR="47625" marT="14288" marB="14288" anchor="ctr">
                    <a:solidFill>
                      <a:srgbClr val="FFFFFF"/>
                    </a:solidFill>
                  </a:tcPr>
                </a:tc>
                <a:tc>
                  <a:txBody>
                    <a:bodyPr wrap="square" anchor="ctr">
                      <a:normAutofit/>
                    </a:bodyPr>
                    <a:lstStyle/>
                    <a:p>
                      <a:pPr algn="r"/>
                      <a:r>
                        <a:rPr sz="638">
                          <a:solidFill>
                            <a:srgbClr val="30353A"/>
                          </a:solidFill>
                          <a:latin typeface="Arial"/>
                          <a:ea typeface="Arial"/>
                          <a:cs typeface="Arial"/>
                        </a:rPr>
                        <a:t>15</a:t>
                      </a:r>
                    </a:p>
                  </a:txBody>
                  <a:tcPr marL="47625" marR="47625" marT="14288" marB="14288" anchor="ctr">
                    <a:solidFill>
                      <a:srgbClr val="FFFFFF"/>
                    </a:solidFill>
                  </a:tcPr>
                </a:tc>
                <a:tc>
                  <a:txBody>
                    <a:bodyPr wrap="square" anchor="ctr">
                      <a:normAutofit/>
                    </a:bodyPr>
                    <a:lstStyle/>
                    <a:p>
                      <a:pPr algn="r"/>
                      <a:r>
                        <a:rPr sz="638">
                          <a:solidFill>
                            <a:srgbClr val="30353A"/>
                          </a:solidFill>
                          <a:latin typeface="Arial"/>
                          <a:ea typeface="Arial"/>
                          <a:cs typeface="Arial"/>
                        </a:rPr>
                        <a:t>0,7</a:t>
                      </a:r>
                    </a:p>
                  </a:txBody>
                  <a:tcPr marL="47625" marR="47625" marT="14288" marB="14288" anchor="ctr">
                    <a:solidFill>
                      <a:srgbClr val="FFFFFF"/>
                    </a:solidFill>
                  </a:tcPr>
                </a:tc>
                <a:tc>
                  <a:txBody>
                    <a:bodyPr wrap="square" anchor="ctr">
                      <a:normAutofit/>
                    </a:bodyPr>
                    <a:lstStyle/>
                    <a:p>
                      <a:pPr algn="r"/>
                      <a:r>
                        <a:rPr sz="638">
                          <a:solidFill>
                            <a:srgbClr val="30353A"/>
                          </a:solidFill>
                          <a:latin typeface="Arial"/>
                          <a:ea typeface="Arial"/>
                          <a:cs typeface="Arial"/>
                        </a:rPr>
                        <a:t>7,3%</a:t>
                      </a:r>
                    </a:p>
                  </a:txBody>
                  <a:tcPr marL="47625" marR="47625" marT="14288" marB="14288" anchor="ctr">
                    <a:solidFill>
                      <a:srgbClr val="FFFFFF"/>
                    </a:solidFill>
                  </a:tcPr>
                </a:tc>
              </a:tr>
              <a:tr h="321945">
                <a:tc>
                  <a:txBody>
                    <a:bodyPr wrap="square" anchor="ctr">
                      <a:normAutofit/>
                    </a:bodyPr>
                    <a:lstStyle/>
                    <a:p>
                      <a:pPr algn="l"/>
                      <a:r>
                        <a:rPr sz="638">
                          <a:solidFill>
                            <a:srgbClr val="30353A"/>
                          </a:solidFill>
                          <a:latin typeface="Arial"/>
                          <a:ea typeface="Arial"/>
                          <a:cs typeface="Arial"/>
                        </a:rPr>
                        <a:t>Factoring</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1</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0,1</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13,9%</a:t>
                      </a:r>
                    </a:p>
                  </a:txBody>
                  <a:tcPr marL="47625" marR="47625" marT="14288" marB="14288" anchor="ctr">
                    <a:solidFill>
                      <a:srgbClr val="F5F6F7"/>
                    </a:solidFill>
                  </a:tcPr>
                </a:tc>
              </a:tr>
            </a:tbl>
          </a:graphicData>
        </a:graphic>
      </p:graphicFrame>
      <p:sp>
        <p:nvSpPr>
          <p:cNvPr id="14" name="">
            <a:extLst xmlns:a="http://schemas.openxmlformats.org/drawingml/2006/main">
              <a:ext uri="{FF2B5EF4-FFF2-40B4-BE49-F238E27FC236}">
                <a16:creationId xmlns:a16="http://schemas.microsoft.com/office/drawing/2014/main" id="{8E661C0C-B21F-485F-A696-9A80FF08606C}"/>
              </a:ext>
            </a:extLst>
          </p:cNvPr>
          <p:cNvSpPr>
            <a:spLocks xmlns:a="http://schemas.openxmlformats.org/drawingml/2006/main" noGrp="1"/>
          </p:cNvSpPr>
          <p:nvPr/>
        </p:nvSpPr>
        <p:spPr>
          <a:xfrm xmlns:a="http://schemas.openxmlformats.org/drawingml/2006/main">
            <a:off x="571500" y="52863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3EBD07B-FFC3-4D61-90E6-CFAAD9981448}"/>
              </a:ext>
            </a:extLst>
          </p:cNvPr>
          <p:cNvSpPr>
            <a:spLocks xmlns:a="http://schemas.openxmlformats.org/drawingml/2006/main" noGrp="1"/>
          </p:cNvSpPr>
          <p:nvPr/>
        </p:nvSpPr>
        <p:spPr>
          <a:xfrm xmlns:a="http://schemas.openxmlformats.org/drawingml/2006/main">
            <a:off x="571500" y="54292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65" b="0">
                <a:solidFill>
                  <a:srgbClr val="30353A"/>
                </a:solidFill>
                <a:latin typeface="Arial"/>
                <a:ea typeface="Arial"/>
                <a:cs typeface="Arial"/>
              </a:defRPr>
            </a:pPr>
            <a:r>
              <a:rPr sz="765" b="0">
                <a:solidFill>
                  <a:srgbClr val="30353A"/>
                </a:solidFill>
                <a:latin typeface="Arial"/>
                <a:ea typeface="Arial"/>
                <a:cs typeface="Arial"/>
              </a:rPr>
              <a:t>Monotipo: 2.066 fundos e R$ 608,7 bi. Fora: 948 multitipo (R$ 190,2 bi), 126 acima da carteira (R$ 6,1 bi) e 486 sem tipo (R$ 75,4 bi).</a:t>
            </a:r>
          </a:p>
        </p:txBody>
      </p:sp>
      <p:sp>
        <p:nvSpPr>
          <p:cNvPr id="16" name="">
            <a:extLst xmlns:a="http://schemas.openxmlformats.org/drawingml/2006/main">
              <a:ext uri="{FF2B5EF4-FFF2-40B4-BE49-F238E27FC236}">
                <a16:creationId xmlns:a16="http://schemas.microsoft.com/office/drawing/2014/main" id="{152711C5-629B-41D0-947E-BE0C2AA5FEB9}"/>
              </a:ext>
            </a:extLst>
          </p:cNvPr>
          <p:cNvSpPr>
            <a:spLocks xmlns:a="http://schemas.openxmlformats.org/drawingml/2006/main" noGrp="1"/>
          </p:cNvSpPr>
          <p:nvPr/>
        </p:nvSpPr>
        <p:spPr>
          <a:xfrm xmlns:a="http://schemas.openxmlformats.org/drawingml/2006/main">
            <a:off x="571500" y="5857875"/>
            <a:ext cx="1104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0" b="0">
                <a:solidFill>
                  <a:srgbClr val="8D9399"/>
                </a:solidFill>
                <a:latin typeface="Arial"/>
                <a:ea typeface="Arial"/>
                <a:cs typeface="Arial"/>
              </a:defRPr>
            </a:pPr>
            <a:r>
              <a:rPr sz="780" b="0">
                <a:solidFill>
                  <a:srgbClr val="8D9399"/>
                </a:solidFill>
                <a:latin typeface="Arial"/>
                <a:ea typeface="Arial"/>
                <a:cs typeface="Arial"/>
              </a:rPr>
              <a:t>Base original: fundos elegíveis com inadimplência reportada igual a zero permanecem no denominador. A linha histórica usa a coorte atual e, portanto, está sujeita a viés de sobrevivência.</a:t>
            </a:r>
          </a:p>
        </p:txBody>
      </p:sp>
    </p:spTree>
    <p:extLst>
      <p:ext uri="{BB962C8B-B14F-4D97-AF65-F5344CB8AC3E}">
        <p14:creationId xmlns:p14="http://schemas.microsoft.com/office/powerpoint/2010/main" val="133030427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612F5D5-EBA7-4A14-9FE5-7D1F1DBC7B98}"/>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INADIMPLÊNCIA · EX-ZEROS</a:t>
            </a:r>
          </a:p>
        </p:txBody>
      </p:sp>
      <p:sp>
        <p:nvSpPr>
          <p:cNvPr id="2" name="">
            <a:extLst xmlns:a="http://schemas.openxmlformats.org/drawingml/2006/main">
              <a:ext uri="{FF2B5EF4-FFF2-40B4-BE49-F238E27FC236}">
                <a16:creationId xmlns:a16="http://schemas.microsoft.com/office/drawing/2014/main" id="{0CBEDFA2-1BFE-4337-B66F-F50F28E934A2}"/>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A exclusão dos zeros eleva a métrica para 13,5% em jun/26, variação de 9,1 p.p.</a:t>
            </a:r>
          </a:p>
        </p:txBody>
      </p:sp>
      <p:sp>
        <p:nvSpPr>
          <p:cNvPr id="3" name="">
            <a:extLst xmlns:a="http://schemas.openxmlformats.org/drawingml/2006/main">
              <a:ext uri="{FF2B5EF4-FFF2-40B4-BE49-F238E27FC236}">
                <a16:creationId xmlns:a16="http://schemas.microsoft.com/office/drawing/2014/main" id="{340852F0-AD3C-445B-8570-6F19CB6D8A11}"/>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F00DEC8-B22E-4FE9-AC52-D36747A526BE}"/>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7E0E082-552F-4F13-880F-545425D4222C}"/>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 Informe Mensal, Tabelas I, II e IV; mesma coorte da base original. Método completo no export.</a:t>
            </a:r>
          </a:p>
        </p:txBody>
      </p:sp>
      <p:sp>
        <p:nvSpPr>
          <p:cNvPr id="6" name="">
            <a:extLst xmlns:a="http://schemas.openxmlformats.org/drawingml/2006/main">
              <a:ext uri="{FF2B5EF4-FFF2-40B4-BE49-F238E27FC236}">
                <a16:creationId xmlns:a16="http://schemas.microsoft.com/office/drawing/2014/main" id="{6F2F1579-9917-42B7-BDF7-21C41A493798}"/>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13</a:t>
            </a:r>
          </a:p>
        </p:txBody>
      </p:sp>
      <p:sp>
        <p:nvSpPr>
          <p:cNvPr id="7" name="">
            <a:extLst xmlns:a="http://schemas.openxmlformats.org/drawingml/2006/main">
              <a:ext uri="{FF2B5EF4-FFF2-40B4-BE49-F238E27FC236}">
                <a16:creationId xmlns:a16="http://schemas.microsoft.com/office/drawing/2014/main" id="{0C7BB576-EC81-411B-B4E1-B6BD7603388E}"/>
              </a:ext>
            </a:extLst>
          </p:cNvPr>
          <p:cNvSpPr>
            <a:spLocks xmlns:a="http://schemas.openxmlformats.org/drawingml/2006/main" noGrp="1"/>
          </p:cNvSpPr>
          <p:nvPr/>
        </p:nvSpPr>
        <p:spPr>
          <a:xfrm xmlns:a="http://schemas.openxmlformats.org/drawingml/2006/main">
            <a:off x="571500" y="1323975"/>
            <a:ext cx="5857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SÉRIE EX-ZEROS · % DA CARTEIRA</a:t>
            </a:r>
          </a:p>
        </p:txBody>
      </p:sp>
      <p:sp>
        <p:nvSpPr>
          <p:cNvPr id="8" name="">
            <a:extLst xmlns:a="http://schemas.openxmlformats.org/drawingml/2006/main">
              <a:ext uri="{FF2B5EF4-FFF2-40B4-BE49-F238E27FC236}">
                <a16:creationId xmlns:a16="http://schemas.microsoft.com/office/drawing/2014/main" id="{F998BC4B-CA70-497F-B9C9-39755BA382F2}"/>
              </a:ext>
            </a:extLst>
          </p:cNvPr>
          <p:cNvSpPr>
            <a:spLocks xmlns:a="http://schemas.openxmlformats.org/drawingml/2006/main" noGrp="1"/>
          </p:cNvSpPr>
          <p:nvPr/>
        </p:nvSpPr>
        <p:spPr>
          <a:xfrm xmlns:a="http://schemas.openxmlformats.org/drawingml/2006/main">
            <a:off x="571500" y="1590675"/>
            <a:ext cx="58578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5" name="Chart"/>
          <p:cNvGraphicFramePr/>
          <p:nvPr/>
        </p:nvGraphicFramePr>
        <p:xfrm>
          <a:off xmlns:a="http://schemas.openxmlformats.org/drawingml/2006/main" x="571500" y="1657350"/>
          <a:ext xmlns:a="http://schemas.openxmlformats.org/drawingml/2006/main" cx="5857875" cy="3219450"/>
        </p:xfrm>
        <a:graphic xmlns:a="http://schemas.openxmlformats.org/drawingml/2006/main">
          <a:graphicData uri="http://schemas.openxmlformats.org/drawingml/2006/chart">
            <c:chart xmlns:r="http://schemas.openxmlformats.org/officeDocument/2006/relationships" xmlns:c="http://schemas.openxmlformats.org/drawingml/2006/chart" r:id="R004732ea04504068"/>
          </a:graphicData>
        </a:graphic>
      </p:graphicFrame>
      <p:graphicFrame>
        <p:nvGraphicFramePr>
          <p:cNvPr id="26" name="Chart"/>
          <p:cNvGraphicFramePr/>
          <p:nvPr/>
        </p:nvGraphicFramePr>
        <p:xfrm>
          <a:off xmlns:a="http://schemas.openxmlformats.org/drawingml/2006/main" x="1762125" y="4848225"/>
          <a:ext xmlns:a="http://schemas.openxmlformats.org/drawingml/2006/main" cx="3619500" cy="228600"/>
        </p:xfrm>
        <a:graphic xmlns:a="http://schemas.openxmlformats.org/drawingml/2006/main">
          <a:graphicData uri="http://schemas.openxmlformats.org/drawingml/2006/chart">
            <c:chart xmlns:r="http://schemas.openxmlformats.org/officeDocument/2006/relationships" xmlns:c="http://schemas.openxmlformats.org/drawingml/2006/chart" r:id="Re0160d6d45d64180"/>
          </a:graphicData>
        </a:graphic>
      </p:graphicFrame>
      <p:sp>
        <p:nvSpPr>
          <p:cNvPr id="11" name="">
            <a:extLst xmlns:a="http://schemas.openxmlformats.org/drawingml/2006/main">
              <a:ext uri="{FF2B5EF4-FFF2-40B4-BE49-F238E27FC236}">
                <a16:creationId xmlns:a16="http://schemas.microsoft.com/office/drawing/2014/main" id="{7D971278-4242-475B-BC12-96404E9DE888}"/>
              </a:ext>
            </a:extLst>
          </p:cNvPr>
          <p:cNvSpPr>
            <a:spLocks xmlns:a="http://schemas.openxmlformats.org/drawingml/2006/main" noGrp="1"/>
          </p:cNvSpPr>
          <p:nvPr/>
        </p:nvSpPr>
        <p:spPr>
          <a:xfrm xmlns:a="http://schemas.openxmlformats.org/drawingml/2006/main">
            <a:off x="6762750" y="1323975"/>
            <a:ext cx="485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FIDCs MONOTIPO · SENSIBILIDADE POR CLASSIFICAÇÃO</a:t>
            </a:r>
          </a:p>
        </p:txBody>
      </p:sp>
      <p:sp>
        <p:nvSpPr>
          <p:cNvPr id="12" name="">
            <a:extLst xmlns:a="http://schemas.openxmlformats.org/drawingml/2006/main">
              <a:ext uri="{FF2B5EF4-FFF2-40B4-BE49-F238E27FC236}">
                <a16:creationId xmlns:a16="http://schemas.microsoft.com/office/drawing/2014/main" id="{965F97C1-39A0-4CDC-A0AE-4AC38E47333C}"/>
              </a:ext>
            </a:extLst>
          </p:cNvPr>
          <p:cNvSpPr>
            <a:spLocks xmlns:a="http://schemas.openxmlformats.org/drawingml/2006/main" noGrp="1"/>
          </p:cNvSpPr>
          <p:nvPr/>
        </p:nvSpPr>
        <p:spPr>
          <a:xfrm xmlns:a="http://schemas.openxmlformats.org/drawingml/2006/main">
            <a:off x="6762750" y="1590675"/>
            <a:ext cx="485775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9" name=""/>
          <p:cNvGraphicFramePr/>
          <p:nvPr/>
        </p:nvGraphicFramePr>
        <p:xfrm>
          <a:off xmlns:a="http://schemas.openxmlformats.org/drawingml/2006/main" x="6762750" y="1657350"/>
          <a:ext xmlns:a="http://schemas.openxmlformats.org/drawingml/2006/main" cx="4857750" cy="3429000"/>
        </p:xfrm>
        <a:graphic xmlns:a="http://schemas.openxmlformats.org/drawingml/2006/main">
          <a:graphicData uri="http://schemas.openxmlformats.org/drawingml/2006/table">
            <a:tbl>
              <a:tblPr firstRow="0" firstCol="0" lastRow="0" lastCol="0" bandRow="0" bandCol="0"/>
              <a:tblGrid>
                <a:gridCol w="1666875"/>
                <a:gridCol w="571500"/>
                <a:gridCol w="904875"/>
                <a:gridCol w="904875"/>
                <a:gridCol w="809625"/>
              </a:tblGrid>
              <a:tr h="209550">
                <a:tc>
                  <a:txBody>
                    <a:bodyPr wrap="square" anchor="ctr">
                      <a:normAutofit/>
                    </a:bodyPr>
                    <a:lstStyle/>
                    <a:p>
                      <a:pPr algn="l"/>
                      <a:r>
                        <a:rPr sz="593" b="1">
                          <a:solidFill>
                            <a:srgbClr val="FFFFFF"/>
                          </a:solidFill>
                          <a:latin typeface="Arial"/>
                          <a:ea typeface="Arial"/>
                          <a:cs typeface="Arial"/>
                        </a:rPr>
                        <a:t>Tipo</a:t>
                      </a:r>
                    </a:p>
                  </a:txBody>
                  <a:tcPr marL="47625" marR="47625" marT="19050" marB="19050" anchor="ctr">
                    <a:solidFill>
                      <a:srgbClr val="151515"/>
                    </a:solidFill>
                  </a:tcPr>
                </a:tc>
                <a:tc>
                  <a:txBody>
                    <a:bodyPr wrap="square" anchor="ctr">
                      <a:normAutofit/>
                    </a:bodyPr>
                    <a:lstStyle/>
                    <a:p>
                      <a:pPr algn="r"/>
                      <a:r>
                        <a:rPr sz="593" b="1">
                          <a:solidFill>
                            <a:srgbClr val="FFFFFF"/>
                          </a:solidFill>
                          <a:latin typeface="Arial"/>
                          <a:ea typeface="Arial"/>
                          <a:cs typeface="Arial"/>
                        </a:rPr>
                        <a:t>Fundos</a:t>
                      </a:r>
                    </a:p>
                  </a:txBody>
                  <a:tcPr marL="47625" marR="47625" marT="19050" marB="19050" anchor="ctr">
                    <a:solidFill>
                      <a:srgbClr val="151515"/>
                    </a:solidFill>
                  </a:tcPr>
                </a:tc>
                <a:tc>
                  <a:txBody>
                    <a:bodyPr wrap="square" anchor="ctr">
                      <a:normAutofit/>
                    </a:bodyPr>
                    <a:lstStyle/>
                    <a:p>
                      <a:pPr algn="r"/>
                      <a:r>
                        <a:rPr sz="593" b="1">
                          <a:solidFill>
                            <a:srgbClr val="FFFFFF"/>
                          </a:solidFill>
                          <a:latin typeface="Arial"/>
                          <a:ea typeface="Arial"/>
                          <a:cs typeface="Arial"/>
                        </a:rPr>
                        <a:t>Carteira</a:t>
                      </a:r>
                    </a:p>
                  </a:txBody>
                  <a:tcPr marL="47625" marR="47625" marT="19050" marB="19050" anchor="ctr">
                    <a:solidFill>
                      <a:srgbClr val="151515"/>
                    </a:solidFill>
                  </a:tcPr>
                </a:tc>
                <a:tc>
                  <a:txBody>
                    <a:bodyPr wrap="square" anchor="ctr">
                      <a:normAutofit/>
                    </a:bodyPr>
                    <a:lstStyle/>
                    <a:p>
                      <a:pPr algn="r"/>
                      <a:r>
                        <a:rPr sz="593" b="1">
                          <a:solidFill>
                            <a:srgbClr val="FFFFFF"/>
                          </a:solidFill>
                          <a:latin typeface="Arial"/>
                          <a:ea typeface="Arial"/>
                          <a:cs typeface="Arial"/>
                        </a:rPr>
                        <a:t>Inad./cart.</a:t>
                      </a:r>
                    </a:p>
                  </a:txBody>
                  <a:tcPr marL="47625" marR="47625" marT="19050" marB="19050" anchor="ctr">
                    <a:solidFill>
                      <a:srgbClr val="151515"/>
                    </a:solidFill>
                  </a:tcPr>
                </a:tc>
                <a:tc>
                  <a:txBody>
                    <a:bodyPr wrap="square" anchor="ctr">
                      <a:normAutofit/>
                    </a:bodyPr>
                    <a:lstStyle/>
                    <a:p>
                      <a:pPr algn="r"/>
                      <a:r>
                        <a:rPr sz="593" b="1">
                          <a:solidFill>
                            <a:srgbClr val="FFFFFF"/>
                          </a:solidFill>
                          <a:latin typeface="Arial"/>
                          <a:ea typeface="Arial"/>
                          <a:cs typeface="Arial"/>
                        </a:rPr>
                        <a:t>Δ p.p.</a:t>
                      </a:r>
                    </a:p>
                  </a:txBody>
                  <a:tcPr marL="47625" marR="47625" marT="19050" marB="19050" anchor="ctr">
                    <a:solidFill>
                      <a:srgbClr val="151515"/>
                    </a:solidFill>
                  </a:tcPr>
                </a:tc>
              </a:tr>
              <a:tr h="321945">
                <a:tc>
                  <a:txBody>
                    <a:bodyPr wrap="square" anchor="ctr">
                      <a:normAutofit/>
                    </a:bodyPr>
                    <a:lstStyle/>
                    <a:p>
                      <a:pPr algn="l"/>
                      <a:r>
                        <a:rPr sz="607">
                          <a:solidFill>
                            <a:srgbClr val="30353A"/>
                          </a:solidFill>
                          <a:latin typeface="Arial"/>
                          <a:ea typeface="Arial"/>
                          <a:cs typeface="Arial"/>
                        </a:rPr>
                        <a:t>Financeiro</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649</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124,6</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13,4%</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6,2</a:t>
                      </a:r>
                    </a:p>
                  </a:txBody>
                  <a:tcPr marL="47625" marR="47625" marT="14288" marB="14288" anchor="ctr">
                    <a:solidFill>
                      <a:srgbClr val="FFFFFF"/>
                    </a:solidFill>
                  </a:tcPr>
                </a:tc>
              </a:tr>
              <a:tr h="321945">
                <a:tc>
                  <a:txBody>
                    <a:bodyPr wrap="square" anchor="ctr">
                      <a:normAutofit/>
                    </a:bodyPr>
                    <a:lstStyle/>
                    <a:p>
                      <a:pPr algn="l"/>
                      <a:r>
                        <a:rPr sz="607">
                          <a:solidFill>
                            <a:srgbClr val="30353A"/>
                          </a:solidFill>
                          <a:latin typeface="Arial"/>
                          <a:ea typeface="Arial"/>
                          <a:cs typeface="Arial"/>
                        </a:rPr>
                        <a:t>Comercial</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129</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21,9</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12,8%</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9,0</a:t>
                      </a:r>
                    </a:p>
                  </a:txBody>
                  <a:tcPr marL="47625" marR="47625" marT="14288" marB="14288" anchor="ctr">
                    <a:solidFill>
                      <a:srgbClr val="F5F6F7"/>
                    </a:solidFill>
                  </a:tcPr>
                </a:tc>
              </a:tr>
              <a:tr h="321945">
                <a:tc>
                  <a:txBody>
                    <a:bodyPr wrap="square" anchor="ctr">
                      <a:normAutofit/>
                    </a:bodyPr>
                    <a:lstStyle/>
                    <a:p>
                      <a:pPr algn="l"/>
                      <a:r>
                        <a:rPr sz="607">
                          <a:solidFill>
                            <a:srgbClr val="30353A"/>
                          </a:solidFill>
                          <a:latin typeface="Arial"/>
                          <a:ea typeface="Arial"/>
                          <a:cs typeface="Arial"/>
                        </a:rPr>
                        <a:t>Cartão de crédito</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12</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9,1</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9,8%</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8,6</a:t>
                      </a:r>
                    </a:p>
                  </a:txBody>
                  <a:tcPr marL="47625" marR="47625" marT="14288" marB="14288" anchor="ctr">
                    <a:solidFill>
                      <a:srgbClr val="FFFFFF"/>
                    </a:solidFill>
                  </a:tcPr>
                </a:tc>
              </a:tr>
              <a:tr h="321945">
                <a:tc>
                  <a:txBody>
                    <a:bodyPr wrap="square" anchor="ctr">
                      <a:normAutofit/>
                    </a:bodyPr>
                    <a:lstStyle/>
                    <a:p>
                      <a:pPr algn="l"/>
                      <a:r>
                        <a:rPr sz="607">
                          <a:solidFill>
                            <a:srgbClr val="30353A"/>
                          </a:solidFill>
                          <a:latin typeface="Arial"/>
                          <a:ea typeface="Arial"/>
                          <a:cs typeface="Arial"/>
                        </a:rPr>
                        <a:t>Serviços</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66</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6,7</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7,3%</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5,7</a:t>
                      </a:r>
                    </a:p>
                  </a:txBody>
                  <a:tcPr marL="47625" marR="47625" marT="14288" marB="14288" anchor="ctr">
                    <a:solidFill>
                      <a:srgbClr val="F5F6F7"/>
                    </a:solidFill>
                  </a:tcPr>
                </a:tc>
              </a:tr>
              <a:tr h="321945">
                <a:tc>
                  <a:txBody>
                    <a:bodyPr wrap="square" anchor="ctr">
                      <a:normAutofit/>
                    </a:bodyPr>
                    <a:lstStyle/>
                    <a:p>
                      <a:pPr algn="l"/>
                      <a:r>
                        <a:rPr sz="607">
                          <a:solidFill>
                            <a:srgbClr val="30353A"/>
                          </a:solidFill>
                          <a:latin typeface="Arial"/>
                          <a:ea typeface="Arial"/>
                          <a:cs typeface="Arial"/>
                        </a:rPr>
                        <a:t>Setor público</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26</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2,7</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24,9%</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22,2</a:t>
                      </a:r>
                    </a:p>
                  </a:txBody>
                  <a:tcPr marL="47625" marR="47625" marT="14288" marB="14288" anchor="ctr">
                    <a:solidFill>
                      <a:srgbClr val="FFFFFF"/>
                    </a:solidFill>
                  </a:tcPr>
                </a:tc>
              </a:tr>
              <a:tr h="321945">
                <a:tc>
                  <a:txBody>
                    <a:bodyPr wrap="square" anchor="ctr">
                      <a:normAutofit/>
                    </a:bodyPr>
                    <a:lstStyle/>
                    <a:p>
                      <a:pPr algn="l"/>
                      <a:r>
                        <a:rPr sz="607">
                          <a:solidFill>
                            <a:srgbClr val="30353A"/>
                          </a:solidFill>
                          <a:latin typeface="Arial"/>
                          <a:ea typeface="Arial"/>
                          <a:cs typeface="Arial"/>
                        </a:rPr>
                        <a:t>Ações judiciais</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20</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2,1</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25,4%</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22,6</a:t>
                      </a:r>
                    </a:p>
                  </a:txBody>
                  <a:tcPr marL="47625" marR="47625" marT="14288" marB="14288" anchor="ctr">
                    <a:solidFill>
                      <a:srgbClr val="F5F6F7"/>
                    </a:solidFill>
                  </a:tcPr>
                </a:tc>
              </a:tr>
              <a:tr h="321945">
                <a:tc>
                  <a:txBody>
                    <a:bodyPr wrap="square" anchor="ctr">
                      <a:normAutofit/>
                    </a:bodyPr>
                    <a:lstStyle/>
                    <a:p>
                      <a:pPr algn="l"/>
                      <a:r>
                        <a:rPr sz="607">
                          <a:solidFill>
                            <a:srgbClr val="30353A"/>
                          </a:solidFill>
                          <a:latin typeface="Arial"/>
                          <a:ea typeface="Arial"/>
                          <a:cs typeface="Arial"/>
                        </a:rPr>
                        <a:t>Industrial</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32</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2,1</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30,6%</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29,6</a:t>
                      </a:r>
                    </a:p>
                  </a:txBody>
                  <a:tcPr marL="47625" marR="47625" marT="14288" marB="14288" anchor="ctr">
                    <a:solidFill>
                      <a:srgbClr val="FFFFFF"/>
                    </a:solidFill>
                  </a:tcPr>
                </a:tc>
              </a:tr>
              <a:tr h="321945">
                <a:tc>
                  <a:txBody>
                    <a:bodyPr wrap="square" anchor="ctr">
                      <a:normAutofit/>
                    </a:bodyPr>
                    <a:lstStyle/>
                    <a:p>
                      <a:pPr algn="l"/>
                      <a:r>
                        <a:rPr sz="607">
                          <a:solidFill>
                            <a:srgbClr val="30353A"/>
                          </a:solidFill>
                          <a:latin typeface="Arial"/>
                          <a:ea typeface="Arial"/>
                          <a:cs typeface="Arial"/>
                        </a:rPr>
                        <a:t>Agronegócio</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14</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2,0</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22,8%</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13,0</a:t>
                      </a:r>
                    </a:p>
                  </a:txBody>
                  <a:tcPr marL="47625" marR="47625" marT="14288" marB="14288" anchor="ctr">
                    <a:solidFill>
                      <a:srgbClr val="F5F6F7"/>
                    </a:solidFill>
                  </a:tcPr>
                </a:tc>
              </a:tr>
              <a:tr h="321945">
                <a:tc>
                  <a:txBody>
                    <a:bodyPr wrap="square" anchor="ctr">
                      <a:normAutofit/>
                    </a:bodyPr>
                    <a:lstStyle/>
                    <a:p>
                      <a:pPr algn="l"/>
                      <a:r>
                        <a:rPr sz="607">
                          <a:solidFill>
                            <a:srgbClr val="30353A"/>
                          </a:solidFill>
                          <a:latin typeface="Arial"/>
                          <a:ea typeface="Arial"/>
                          <a:cs typeface="Arial"/>
                        </a:rPr>
                        <a:t>Imobiliário</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7</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0,5</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9,7%</a:t>
                      </a:r>
                    </a:p>
                  </a:txBody>
                  <a:tcPr marL="47625" marR="47625" marT="14288" marB="14288" anchor="ctr">
                    <a:solidFill>
                      <a:srgbClr val="FFFFFF"/>
                    </a:solidFill>
                  </a:tcPr>
                </a:tc>
                <a:tc>
                  <a:txBody>
                    <a:bodyPr wrap="square" anchor="ctr">
                      <a:normAutofit/>
                    </a:bodyPr>
                    <a:lstStyle/>
                    <a:p>
                      <a:pPr algn="r"/>
                      <a:r>
                        <a:rPr sz="607">
                          <a:solidFill>
                            <a:srgbClr val="30353A"/>
                          </a:solidFill>
                          <a:latin typeface="Arial"/>
                          <a:ea typeface="Arial"/>
                          <a:cs typeface="Arial"/>
                        </a:rPr>
                        <a:t>2,5</a:t>
                      </a:r>
                    </a:p>
                  </a:txBody>
                  <a:tcPr marL="47625" marR="47625" marT="14288" marB="14288" anchor="ctr">
                    <a:solidFill>
                      <a:srgbClr val="FFFFFF"/>
                    </a:solidFill>
                  </a:tcPr>
                </a:tc>
              </a:tr>
              <a:tr h="321945">
                <a:tc>
                  <a:txBody>
                    <a:bodyPr wrap="square" anchor="ctr">
                      <a:normAutofit/>
                    </a:bodyPr>
                    <a:lstStyle/>
                    <a:p>
                      <a:pPr algn="l"/>
                      <a:r>
                        <a:rPr sz="607">
                          <a:solidFill>
                            <a:srgbClr val="30353A"/>
                          </a:solidFill>
                          <a:latin typeface="Arial"/>
                          <a:ea typeface="Arial"/>
                          <a:cs typeface="Arial"/>
                        </a:rPr>
                        <a:t>Factoring</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1</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0,1</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13,9%</a:t>
                      </a:r>
                    </a:p>
                  </a:txBody>
                  <a:tcPr marL="47625" marR="47625" marT="14288" marB="14288" anchor="ctr">
                    <a:solidFill>
                      <a:srgbClr val="F5F6F7"/>
                    </a:solidFill>
                  </a:tcPr>
                </a:tc>
                <a:tc>
                  <a:txBody>
                    <a:bodyPr wrap="square" anchor="ctr">
                      <a:normAutofit/>
                    </a:bodyPr>
                    <a:lstStyle/>
                    <a:p>
                      <a:pPr algn="r"/>
                      <a:r>
                        <a:rPr sz="607">
                          <a:solidFill>
                            <a:srgbClr val="30353A"/>
                          </a:solidFill>
                          <a:latin typeface="Arial"/>
                          <a:ea typeface="Arial"/>
                          <a:cs typeface="Arial"/>
                        </a:rPr>
                        <a:t>0,0</a:t>
                      </a:r>
                    </a:p>
                  </a:txBody>
                  <a:tcPr marL="47625" marR="47625" marT="14288" marB="14288" anchor="ctr">
                    <a:solidFill>
                      <a:srgbClr val="F5F6F7"/>
                    </a:solidFill>
                  </a:tcPr>
                </a:tc>
              </a:tr>
            </a:tbl>
          </a:graphicData>
        </a:graphic>
      </p:graphicFrame>
      <p:sp>
        <p:nvSpPr>
          <p:cNvPr id="14" name="">
            <a:extLst xmlns:a="http://schemas.openxmlformats.org/drawingml/2006/main">
              <a:ext uri="{FF2B5EF4-FFF2-40B4-BE49-F238E27FC236}">
                <a16:creationId xmlns:a16="http://schemas.microsoft.com/office/drawing/2014/main" id="{854CC53F-B31A-48A9-BBC2-04FD52EFD384}"/>
              </a:ext>
            </a:extLst>
          </p:cNvPr>
          <p:cNvSpPr>
            <a:spLocks xmlns:a="http://schemas.openxmlformats.org/drawingml/2006/main" noGrp="1"/>
          </p:cNvSpPr>
          <p:nvPr/>
        </p:nvSpPr>
        <p:spPr>
          <a:xfrm xmlns:a="http://schemas.openxmlformats.org/drawingml/2006/main">
            <a:off x="571500" y="52863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6B1C9B6-E12B-4529-9E10-C3ADD382DE51}"/>
              </a:ext>
            </a:extLst>
          </p:cNvPr>
          <p:cNvSpPr>
            <a:spLocks xmlns:a="http://schemas.openxmlformats.org/drawingml/2006/main" noGrp="1"/>
          </p:cNvSpPr>
          <p:nvPr/>
        </p:nvSpPr>
        <p:spPr>
          <a:xfrm xmlns:a="http://schemas.openxmlformats.org/drawingml/2006/main">
            <a:off x="571500" y="54292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65" b="0">
                <a:solidFill>
                  <a:srgbClr val="30353A"/>
                </a:solidFill>
                <a:latin typeface="Arial"/>
                <a:ea typeface="Arial"/>
                <a:cs typeface="Arial"/>
              </a:defRPr>
            </a:pPr>
            <a:r>
              <a:rPr sz="765" b="0">
                <a:solidFill>
                  <a:srgbClr val="30353A"/>
                </a:solidFill>
                <a:latin typeface="Arial"/>
                <a:ea typeface="Arial"/>
                <a:cs typeface="Arial"/>
              </a:rPr>
              <a:t>Em jun/26, 956 de 2.066 fundos da coorte histórica permanecem na sensibilidade; a carteira do denominador cai de R$ 524,8 bi para R$ 171,9 bi.</a:t>
            </a:r>
          </a:p>
        </p:txBody>
      </p:sp>
      <p:sp>
        <p:nvSpPr>
          <p:cNvPr id="16" name="">
            <a:extLst xmlns:a="http://schemas.openxmlformats.org/drawingml/2006/main">
              <a:ext uri="{FF2B5EF4-FFF2-40B4-BE49-F238E27FC236}">
                <a16:creationId xmlns:a16="http://schemas.microsoft.com/office/drawing/2014/main" id="{36F0CE83-E3A5-41B6-833F-EAE4D4F32DA0}"/>
              </a:ext>
            </a:extLst>
          </p:cNvPr>
          <p:cNvSpPr>
            <a:spLocks xmlns:a="http://schemas.openxmlformats.org/drawingml/2006/main" noGrp="1"/>
          </p:cNvSpPr>
          <p:nvPr/>
        </p:nvSpPr>
        <p:spPr>
          <a:xfrm xmlns:a="http://schemas.openxmlformats.org/drawingml/2006/main">
            <a:off x="571500" y="5857875"/>
            <a:ext cx="1104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0" b="0">
                <a:solidFill>
                  <a:srgbClr val="8D9399"/>
                </a:solidFill>
                <a:latin typeface="Arial"/>
                <a:ea typeface="Arial"/>
                <a:cs typeface="Arial"/>
              </a:defRPr>
            </a:pPr>
            <a:r>
              <a:rPr sz="780" b="0">
                <a:solidFill>
                  <a:srgbClr val="8D9399"/>
                </a:solidFill>
                <a:latin typeface="Arial"/>
                <a:ea typeface="Arial"/>
                <a:cs typeface="Arial"/>
              </a:rPr>
              <a:t>A direção é necessariamente de alta ou estabilidade, pois o numerador removido é zero e o denominador diminui. A magnitude por classificação está na última coluna.</a:t>
            </a:r>
          </a:p>
        </p:txBody>
      </p:sp>
    </p:spTree>
    <p:extLst>
      <p:ext uri="{BB962C8B-B14F-4D97-AF65-F5344CB8AC3E}">
        <p14:creationId xmlns:p14="http://schemas.microsoft.com/office/powerpoint/2010/main" val="26772855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140FDC9-461D-4008-9968-686EE6EA50FC}"/>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INADIMPLÊNCIA · COORTE ATUAL POR RECEBÍVEL</a:t>
            </a:r>
          </a:p>
        </p:txBody>
      </p:sp>
      <p:sp>
        <p:nvSpPr>
          <p:cNvPr id="2" name="">
            <a:extLst xmlns:a="http://schemas.openxmlformats.org/drawingml/2006/main">
              <a:ext uri="{FF2B5EF4-FFF2-40B4-BE49-F238E27FC236}">
                <a16:creationId xmlns:a16="http://schemas.microsoft.com/office/drawing/2014/main" id="{8AE74FCD-ADDD-4D56-A545-52CA8FA8129F}"/>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Financeiro encerra jun/26 em 7,2%; a coorte fixa soma R$ 608,7 bi</a:t>
            </a:r>
          </a:p>
        </p:txBody>
      </p:sp>
      <p:sp>
        <p:nvSpPr>
          <p:cNvPr id="3" name="">
            <a:extLst xmlns:a="http://schemas.openxmlformats.org/drawingml/2006/main">
              <a:ext uri="{FF2B5EF4-FFF2-40B4-BE49-F238E27FC236}">
                <a16:creationId xmlns:a16="http://schemas.microsoft.com/office/drawing/2014/main" id="{1A277277-4085-4AA1-A6A7-09E4D80FE704}"/>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3D1023-457D-438C-BA56-FD6908559009}"/>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F92F505-3D93-4DC4-9CA9-64F0503FD65B}"/>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 Informe Mensal. CNPJs monotipo em jun/26 aplicados ao histórico; laranja = mercado ajustado. Há viés de sobrevivência.</a:t>
            </a:r>
          </a:p>
        </p:txBody>
      </p:sp>
      <p:sp>
        <p:nvSpPr>
          <p:cNvPr id="6" name="">
            <a:extLst xmlns:a="http://schemas.openxmlformats.org/drawingml/2006/main">
              <a:ext uri="{FF2B5EF4-FFF2-40B4-BE49-F238E27FC236}">
                <a16:creationId xmlns:a16="http://schemas.microsoft.com/office/drawing/2014/main" id="{CBD1F6CA-1F87-4D4E-BB2F-529D262FED58}"/>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14</a:t>
            </a:r>
          </a:p>
        </p:txBody>
      </p:sp>
      <p:sp>
        <p:nvSpPr>
          <p:cNvPr id="7" name="">
            <a:extLst xmlns:a="http://schemas.openxmlformats.org/drawingml/2006/main">
              <a:ext uri="{FF2B5EF4-FFF2-40B4-BE49-F238E27FC236}">
                <a16:creationId xmlns:a16="http://schemas.microsoft.com/office/drawing/2014/main" id="{56594D18-B354-45ED-AA12-358D6B71FD21}"/>
              </a:ext>
            </a:extLst>
          </p:cNvPr>
          <p:cNvSpPr>
            <a:spLocks xmlns:a="http://schemas.openxmlformats.org/drawingml/2006/main" noGrp="1"/>
          </p:cNvSpPr>
          <p:nvPr/>
        </p:nvSpPr>
        <p:spPr>
          <a:xfrm xmlns:a="http://schemas.openxmlformats.org/drawingml/2006/main">
            <a:off x="571500" y="1304925"/>
            <a:ext cx="7429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 DA CARTEIRA · DEZ/23 → JUN/26</a:t>
            </a:r>
          </a:p>
        </p:txBody>
      </p:sp>
      <p:sp>
        <p:nvSpPr>
          <p:cNvPr id="8" name="">
            <a:extLst xmlns:a="http://schemas.openxmlformats.org/drawingml/2006/main">
              <a:ext uri="{FF2B5EF4-FFF2-40B4-BE49-F238E27FC236}">
                <a16:creationId xmlns:a16="http://schemas.microsoft.com/office/drawing/2014/main" id="{577ADDE9-88AE-4ABF-8042-AE07CC2DF46A}"/>
              </a:ext>
            </a:extLst>
          </p:cNvPr>
          <p:cNvSpPr>
            <a:spLocks xmlns:a="http://schemas.openxmlformats.org/drawingml/2006/main" noGrp="1"/>
          </p:cNvSpPr>
          <p:nvPr/>
        </p:nvSpPr>
        <p:spPr>
          <a:xfrm xmlns:a="http://schemas.openxmlformats.org/drawingml/2006/main">
            <a:off x="571500" y="1571625"/>
            <a:ext cx="74295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3" name="Chart"/>
          <p:cNvGraphicFramePr/>
          <p:nvPr/>
        </p:nvGraphicFramePr>
        <p:xfrm>
          <a:off xmlns:a="http://schemas.openxmlformats.org/drawingml/2006/main" x="571500" y="1638300"/>
          <a:ext xmlns:a="http://schemas.openxmlformats.org/drawingml/2006/main" cx="7429500" cy="3667125"/>
        </p:xfrm>
        <a:graphic xmlns:a="http://schemas.openxmlformats.org/drawingml/2006/main">
          <a:graphicData uri="http://schemas.openxmlformats.org/drawingml/2006/chart">
            <c:chart xmlns:r="http://schemas.openxmlformats.org/officeDocument/2006/relationships" xmlns:c="http://schemas.openxmlformats.org/drawingml/2006/chart" r:id="R2870404302b74780"/>
          </a:graphicData>
        </a:graphic>
      </p:graphicFrame>
      <p:sp>
        <p:nvSpPr>
          <p:cNvPr id="10" name="">
            <a:extLst xmlns:a="http://schemas.openxmlformats.org/drawingml/2006/main">
              <a:ext uri="{FF2B5EF4-FFF2-40B4-BE49-F238E27FC236}">
                <a16:creationId xmlns:a16="http://schemas.microsoft.com/office/drawing/2014/main" id="{860367E2-F5B9-4CDA-9EA4-2353A405A473}"/>
              </a:ext>
            </a:extLst>
          </p:cNvPr>
          <p:cNvSpPr>
            <a:spLocks xmlns:a="http://schemas.openxmlformats.org/drawingml/2006/main" noGrp="1"/>
          </p:cNvSpPr>
          <p:nvPr/>
        </p:nvSpPr>
        <p:spPr>
          <a:xfrm xmlns:a="http://schemas.openxmlformats.org/drawingml/2006/main">
            <a:off x="8239125" y="1304925"/>
            <a:ext cx="3381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FOTOGRAFIA · JUN/26</a:t>
            </a:r>
          </a:p>
        </p:txBody>
      </p:sp>
      <p:sp>
        <p:nvSpPr>
          <p:cNvPr id="11" name="">
            <a:extLst xmlns:a="http://schemas.openxmlformats.org/drawingml/2006/main">
              <a:ext uri="{FF2B5EF4-FFF2-40B4-BE49-F238E27FC236}">
                <a16:creationId xmlns:a16="http://schemas.microsoft.com/office/drawing/2014/main" id="{F991272F-6A30-49C4-8E52-551FC8D886C5}"/>
              </a:ext>
            </a:extLst>
          </p:cNvPr>
          <p:cNvSpPr>
            <a:spLocks xmlns:a="http://schemas.openxmlformats.org/drawingml/2006/main" noGrp="1"/>
          </p:cNvSpPr>
          <p:nvPr/>
        </p:nvSpPr>
        <p:spPr>
          <a:xfrm xmlns:a="http://schemas.openxmlformats.org/drawingml/2006/main">
            <a:off x="8239125" y="1571625"/>
            <a:ext cx="3381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6" name=""/>
          <p:cNvGraphicFramePr/>
          <p:nvPr/>
        </p:nvGraphicFramePr>
        <p:xfrm>
          <a:off xmlns:a="http://schemas.openxmlformats.org/drawingml/2006/main" x="8239125" y="1638300"/>
          <a:ext xmlns:a="http://schemas.openxmlformats.org/drawingml/2006/main" cx="3381375" cy="3667125"/>
        </p:xfrm>
        <a:graphic xmlns:a="http://schemas.openxmlformats.org/drawingml/2006/main">
          <a:graphicData uri="http://schemas.openxmlformats.org/drawingml/2006/table">
            <a:tbl>
              <a:tblPr firstRow="0" firstCol="0" lastRow="0" lastCol="0" bandRow="0" bandCol="0"/>
              <a:tblGrid>
                <a:gridCol w="1428750"/>
                <a:gridCol w="523875"/>
                <a:gridCol w="619125"/>
                <a:gridCol w="809625"/>
              </a:tblGrid>
              <a:tr h="209550">
                <a:tc>
                  <a:txBody>
                    <a:bodyPr wrap="square" anchor="ctr">
                      <a:normAutofit/>
                    </a:bodyPr>
                    <a:lstStyle/>
                    <a:p>
                      <a:pPr algn="l"/>
                      <a:r>
                        <a:rPr sz="548" b="1">
                          <a:solidFill>
                            <a:srgbClr val="FFFFFF"/>
                          </a:solidFill>
                          <a:latin typeface="Arial"/>
                          <a:ea typeface="Arial"/>
                          <a:cs typeface="Arial"/>
                        </a:rPr>
                        <a:t>Tipo Tabela II</a:t>
                      </a:r>
                    </a:p>
                  </a:txBody>
                  <a:tcPr marL="47625" marR="47625" marT="19050" marB="19050" anchor="ctr">
                    <a:solidFill>
                      <a:srgbClr val="151515"/>
                    </a:solidFill>
                  </a:tcPr>
                </a:tc>
                <a:tc>
                  <a:txBody>
                    <a:bodyPr wrap="square" anchor="ctr">
                      <a:normAutofit/>
                    </a:bodyPr>
                    <a:lstStyle/>
                    <a:p>
                      <a:pPr algn="r"/>
                      <a:r>
                        <a:rPr sz="548" b="1">
                          <a:solidFill>
                            <a:srgbClr val="FFFFFF"/>
                          </a:solidFill>
                          <a:latin typeface="Arial"/>
                          <a:ea typeface="Arial"/>
                          <a:cs typeface="Arial"/>
                        </a:rPr>
                        <a:t>Fundos</a:t>
                      </a:r>
                    </a:p>
                  </a:txBody>
                  <a:tcPr marL="47625" marR="47625" marT="19050" marB="19050" anchor="ctr">
                    <a:solidFill>
                      <a:srgbClr val="151515"/>
                    </a:solidFill>
                  </a:tcPr>
                </a:tc>
                <a:tc>
                  <a:txBody>
                    <a:bodyPr wrap="square" anchor="ctr">
                      <a:normAutofit/>
                    </a:bodyPr>
                    <a:lstStyle/>
                    <a:p>
                      <a:pPr algn="r"/>
                      <a:r>
                        <a:rPr sz="548" b="1">
                          <a:solidFill>
                            <a:srgbClr val="FFFFFF"/>
                          </a:solidFill>
                          <a:latin typeface="Arial"/>
                          <a:ea typeface="Arial"/>
                          <a:cs typeface="Arial"/>
                        </a:rPr>
                        <a:t>PL bi</a:t>
                      </a:r>
                    </a:p>
                  </a:txBody>
                  <a:tcPr marL="47625" marR="47625" marT="19050" marB="19050" anchor="ctr">
                    <a:solidFill>
                      <a:srgbClr val="151515"/>
                    </a:solidFill>
                  </a:tcPr>
                </a:tc>
                <a:tc>
                  <a:txBody>
                    <a:bodyPr wrap="square" anchor="ctr">
                      <a:normAutofit/>
                    </a:bodyPr>
                    <a:lstStyle/>
                    <a:p>
                      <a:pPr algn="r"/>
                      <a:r>
                        <a:rPr sz="548" b="1">
                          <a:solidFill>
                            <a:srgbClr val="FFFFFF"/>
                          </a:solidFill>
                          <a:latin typeface="Arial"/>
                          <a:ea typeface="Arial"/>
                          <a:cs typeface="Arial"/>
                        </a:rPr>
                        <a:t>Inad./cart.</a:t>
                      </a:r>
                    </a:p>
                  </a:txBody>
                  <a:tcPr marL="47625" marR="47625" marT="19050" marB="19050" anchor="ctr">
                    <a:solidFill>
                      <a:srgbClr val="151515"/>
                    </a:solidFill>
                  </a:tcPr>
                </a:tc>
              </a:tr>
              <a:tr h="345758">
                <a:tc>
                  <a:txBody>
                    <a:bodyPr wrap="square" anchor="ctr">
                      <a:normAutofit/>
                    </a:bodyPr>
                    <a:lstStyle/>
                    <a:p>
                      <a:pPr algn="l"/>
                      <a:r>
                        <a:rPr sz="570">
                          <a:solidFill>
                            <a:srgbClr val="30353A"/>
                          </a:solidFill>
                          <a:latin typeface="Arial"/>
                          <a:ea typeface="Arial"/>
                          <a:cs typeface="Arial"/>
                        </a:rPr>
                        <a:t>Financeiro</a:t>
                      </a:r>
                    </a:p>
                  </a:txBody>
                  <a:tcPr marL="47625" marR="47625" marT="14288" marB="14288" anchor="ctr">
                    <a:solidFill>
                      <a:srgbClr val="FFF1E6"/>
                    </a:solidFill>
                  </a:tcPr>
                </a:tc>
                <a:tc>
                  <a:txBody>
                    <a:bodyPr wrap="square" anchor="ctr">
                      <a:normAutofit/>
                    </a:bodyPr>
                    <a:lstStyle/>
                    <a:p>
                      <a:pPr algn="r"/>
                      <a:r>
                        <a:rPr sz="570">
                          <a:solidFill>
                            <a:srgbClr val="30353A"/>
                          </a:solidFill>
                          <a:latin typeface="Arial"/>
                          <a:ea typeface="Arial"/>
                          <a:cs typeface="Arial"/>
                        </a:rPr>
                        <a:t>1.215</a:t>
                      </a:r>
                    </a:p>
                  </a:txBody>
                  <a:tcPr marL="47625" marR="47625" marT="14288" marB="14288" anchor="ctr">
                    <a:solidFill>
                      <a:srgbClr val="FFF1E6"/>
                    </a:solidFill>
                  </a:tcPr>
                </a:tc>
                <a:tc>
                  <a:txBody>
                    <a:bodyPr wrap="square" anchor="ctr">
                      <a:normAutofit/>
                    </a:bodyPr>
                    <a:lstStyle/>
                    <a:p>
                      <a:pPr algn="r"/>
                      <a:r>
                        <a:rPr sz="570">
                          <a:solidFill>
                            <a:srgbClr val="30353A"/>
                          </a:solidFill>
                          <a:latin typeface="Arial"/>
                          <a:ea typeface="Arial"/>
                          <a:cs typeface="Arial"/>
                        </a:rPr>
                        <a:t>256,2</a:t>
                      </a:r>
                    </a:p>
                  </a:txBody>
                  <a:tcPr marL="47625" marR="47625" marT="14288" marB="14288" anchor="ctr">
                    <a:solidFill>
                      <a:srgbClr val="FFF1E6"/>
                    </a:solidFill>
                  </a:tcPr>
                </a:tc>
                <a:tc>
                  <a:txBody>
                    <a:bodyPr wrap="square" anchor="ctr">
                      <a:normAutofit/>
                    </a:bodyPr>
                    <a:lstStyle/>
                    <a:p>
                      <a:pPr algn="r"/>
                      <a:r>
                        <a:rPr sz="570">
                          <a:solidFill>
                            <a:srgbClr val="30353A"/>
                          </a:solidFill>
                          <a:latin typeface="Arial"/>
                          <a:ea typeface="Arial"/>
                          <a:cs typeface="Arial"/>
                        </a:rPr>
                        <a:t>7,2%</a:t>
                      </a:r>
                    </a:p>
                  </a:txBody>
                  <a:tcPr marL="47625" marR="47625" marT="14288" marB="14288" anchor="ctr">
                    <a:solidFill>
                      <a:srgbClr val="FFF1E6"/>
                    </a:solidFill>
                  </a:tcPr>
                </a:tc>
              </a:tr>
              <a:tr h="345758">
                <a:tc>
                  <a:txBody>
                    <a:bodyPr wrap="square" anchor="ctr">
                      <a:normAutofit/>
                    </a:bodyPr>
                    <a:lstStyle/>
                    <a:p>
                      <a:pPr algn="l"/>
                      <a:r>
                        <a:rPr sz="570">
                          <a:solidFill>
                            <a:srgbClr val="30353A"/>
                          </a:solidFill>
                          <a:latin typeface="Arial"/>
                          <a:ea typeface="Arial"/>
                          <a:cs typeface="Arial"/>
                        </a:rPr>
                        <a:t>Cartão de crédito</a:t>
                      </a:r>
                    </a:p>
                  </a:txBody>
                  <a:tcPr marL="47625" marR="47625" marT="14288" marB="14288" anchor="ctr">
                    <a:solidFill>
                      <a:srgbClr val="F5F6F7"/>
                    </a:solidFill>
                  </a:tcPr>
                </a:tc>
                <a:tc>
                  <a:txBody>
                    <a:bodyPr wrap="square" anchor="ctr">
                      <a:normAutofit/>
                    </a:bodyPr>
                    <a:lstStyle/>
                    <a:p>
                      <a:pPr algn="r"/>
                      <a:r>
                        <a:rPr sz="570">
                          <a:solidFill>
                            <a:srgbClr val="30353A"/>
                          </a:solidFill>
                          <a:latin typeface="Arial"/>
                          <a:ea typeface="Arial"/>
                          <a:cs typeface="Arial"/>
                        </a:rPr>
                        <a:t>41</a:t>
                      </a:r>
                    </a:p>
                  </a:txBody>
                  <a:tcPr marL="47625" marR="47625" marT="14288" marB="14288" anchor="ctr">
                    <a:solidFill>
                      <a:srgbClr val="F5F6F7"/>
                    </a:solidFill>
                  </a:tcPr>
                </a:tc>
                <a:tc>
                  <a:txBody>
                    <a:bodyPr wrap="square" anchor="ctr">
                      <a:normAutofit/>
                    </a:bodyPr>
                    <a:lstStyle/>
                    <a:p>
                      <a:pPr algn="r"/>
                      <a:r>
                        <a:rPr sz="570">
                          <a:solidFill>
                            <a:srgbClr val="30353A"/>
                          </a:solidFill>
                          <a:latin typeface="Arial"/>
                          <a:ea typeface="Arial"/>
                          <a:cs typeface="Arial"/>
                        </a:rPr>
                        <a:t>96,9</a:t>
                      </a:r>
                    </a:p>
                  </a:txBody>
                  <a:tcPr marL="47625" marR="47625" marT="14288" marB="14288" anchor="ctr">
                    <a:solidFill>
                      <a:srgbClr val="F5F6F7"/>
                    </a:solidFill>
                  </a:tcPr>
                </a:tc>
                <a:tc>
                  <a:txBody>
                    <a:bodyPr wrap="square" anchor="ctr">
                      <a:normAutofit/>
                    </a:bodyPr>
                    <a:lstStyle/>
                    <a:p>
                      <a:pPr algn="r"/>
                      <a:r>
                        <a:rPr sz="570">
                          <a:solidFill>
                            <a:srgbClr val="30353A"/>
                          </a:solidFill>
                          <a:latin typeface="Arial"/>
                          <a:ea typeface="Arial"/>
                          <a:cs typeface="Arial"/>
                        </a:rPr>
                        <a:t>1,2%</a:t>
                      </a:r>
                    </a:p>
                  </a:txBody>
                  <a:tcPr marL="47625" marR="47625" marT="14288" marB="14288" anchor="ctr">
                    <a:solidFill>
                      <a:srgbClr val="F5F6F7"/>
                    </a:solidFill>
                  </a:tcPr>
                </a:tc>
              </a:tr>
              <a:tr h="345758">
                <a:tc>
                  <a:txBody>
                    <a:bodyPr wrap="square" anchor="ctr">
                      <a:normAutofit/>
                    </a:bodyPr>
                    <a:lstStyle/>
                    <a:p>
                      <a:pPr algn="l"/>
                      <a:r>
                        <a:rPr sz="570">
                          <a:solidFill>
                            <a:srgbClr val="30353A"/>
                          </a:solidFill>
                          <a:latin typeface="Arial"/>
                          <a:ea typeface="Arial"/>
                          <a:cs typeface="Arial"/>
                        </a:rPr>
                        <a:t>Comercial</a:t>
                      </a:r>
                    </a:p>
                  </a:txBody>
                  <a:tcPr marL="47625" marR="47625" marT="14288" marB="14288" anchor="ctr">
                    <a:solidFill>
                      <a:srgbClr val="FFFFFF"/>
                    </a:solidFill>
                  </a:tcPr>
                </a:tc>
                <a:tc>
                  <a:txBody>
                    <a:bodyPr wrap="square" anchor="ctr">
                      <a:normAutofit/>
                    </a:bodyPr>
                    <a:lstStyle/>
                    <a:p>
                      <a:pPr algn="r"/>
                      <a:r>
                        <a:rPr sz="570">
                          <a:solidFill>
                            <a:srgbClr val="30353A"/>
                          </a:solidFill>
                          <a:latin typeface="Arial"/>
                          <a:ea typeface="Arial"/>
                          <a:cs typeface="Arial"/>
                        </a:rPr>
                        <a:t>257</a:t>
                      </a:r>
                    </a:p>
                  </a:txBody>
                  <a:tcPr marL="47625" marR="47625" marT="14288" marB="14288" anchor="ctr">
                    <a:solidFill>
                      <a:srgbClr val="FFFFFF"/>
                    </a:solidFill>
                  </a:tcPr>
                </a:tc>
                <a:tc>
                  <a:txBody>
                    <a:bodyPr wrap="square" anchor="ctr">
                      <a:normAutofit/>
                    </a:bodyPr>
                    <a:lstStyle/>
                    <a:p>
                      <a:pPr algn="r"/>
                      <a:r>
                        <a:rPr sz="570">
                          <a:solidFill>
                            <a:srgbClr val="30353A"/>
                          </a:solidFill>
                          <a:latin typeface="Arial"/>
                          <a:ea typeface="Arial"/>
                          <a:cs typeface="Arial"/>
                        </a:rPr>
                        <a:t>93,4</a:t>
                      </a:r>
                    </a:p>
                  </a:txBody>
                  <a:tcPr marL="47625" marR="47625" marT="14288" marB="14288" anchor="ctr">
                    <a:solidFill>
                      <a:srgbClr val="FFFFFF"/>
                    </a:solidFill>
                  </a:tcPr>
                </a:tc>
                <a:tc>
                  <a:txBody>
                    <a:bodyPr wrap="square" anchor="ctr">
                      <a:normAutofit/>
                    </a:bodyPr>
                    <a:lstStyle/>
                    <a:p>
                      <a:pPr algn="r"/>
                      <a:r>
                        <a:rPr sz="570">
                          <a:solidFill>
                            <a:srgbClr val="30353A"/>
                          </a:solidFill>
                          <a:latin typeface="Arial"/>
                          <a:ea typeface="Arial"/>
                          <a:cs typeface="Arial"/>
                        </a:rPr>
                        <a:t>3,8%</a:t>
                      </a:r>
                    </a:p>
                  </a:txBody>
                  <a:tcPr marL="47625" marR="47625" marT="14288" marB="14288" anchor="ctr">
                    <a:solidFill>
                      <a:srgbClr val="FFFFFF"/>
                    </a:solidFill>
                  </a:tcPr>
                </a:tc>
              </a:tr>
              <a:tr h="345758">
                <a:tc>
                  <a:txBody>
                    <a:bodyPr wrap="square" anchor="ctr">
                      <a:normAutofit/>
                    </a:bodyPr>
                    <a:lstStyle/>
                    <a:p>
                      <a:pPr algn="l"/>
                      <a:r>
                        <a:rPr sz="570">
                          <a:solidFill>
                            <a:srgbClr val="30353A"/>
                          </a:solidFill>
                          <a:latin typeface="Arial"/>
                          <a:ea typeface="Arial"/>
                          <a:cs typeface="Arial"/>
                        </a:rPr>
                        <a:t>Industrial</a:t>
                      </a:r>
                    </a:p>
                  </a:txBody>
                  <a:tcPr marL="47625" marR="47625" marT="14288" marB="14288" anchor="ctr">
                    <a:solidFill>
                      <a:srgbClr val="F5F6F7"/>
                    </a:solidFill>
                  </a:tcPr>
                </a:tc>
                <a:tc>
                  <a:txBody>
                    <a:bodyPr wrap="square" anchor="ctr">
                      <a:normAutofit/>
                    </a:bodyPr>
                    <a:lstStyle/>
                    <a:p>
                      <a:pPr algn="r"/>
                      <a:r>
                        <a:rPr sz="570">
                          <a:solidFill>
                            <a:srgbClr val="30353A"/>
                          </a:solidFill>
                          <a:latin typeface="Arial"/>
                          <a:ea typeface="Arial"/>
                          <a:cs typeface="Arial"/>
                        </a:rPr>
                        <a:t>52</a:t>
                      </a:r>
                    </a:p>
                  </a:txBody>
                  <a:tcPr marL="47625" marR="47625" marT="14288" marB="14288" anchor="ctr">
                    <a:solidFill>
                      <a:srgbClr val="F5F6F7"/>
                    </a:solidFill>
                  </a:tcPr>
                </a:tc>
                <a:tc>
                  <a:txBody>
                    <a:bodyPr wrap="square" anchor="ctr">
                      <a:normAutofit/>
                    </a:bodyPr>
                    <a:lstStyle/>
                    <a:p>
                      <a:pPr algn="r"/>
                      <a:r>
                        <a:rPr sz="570">
                          <a:solidFill>
                            <a:srgbClr val="30353A"/>
                          </a:solidFill>
                          <a:latin typeface="Arial"/>
                          <a:ea typeface="Arial"/>
                          <a:cs typeface="Arial"/>
                        </a:rPr>
                        <a:t>65,0</a:t>
                      </a:r>
                    </a:p>
                  </a:txBody>
                  <a:tcPr marL="47625" marR="47625" marT="14288" marB="14288" anchor="ctr">
                    <a:solidFill>
                      <a:srgbClr val="F5F6F7"/>
                    </a:solidFill>
                  </a:tcPr>
                </a:tc>
                <a:tc>
                  <a:txBody>
                    <a:bodyPr wrap="square" anchor="ctr">
                      <a:normAutofit/>
                    </a:bodyPr>
                    <a:lstStyle/>
                    <a:p>
                      <a:pPr algn="r"/>
                      <a:r>
                        <a:rPr sz="570">
                          <a:solidFill>
                            <a:srgbClr val="30353A"/>
                          </a:solidFill>
                          <a:latin typeface="Arial"/>
                          <a:ea typeface="Arial"/>
                          <a:cs typeface="Arial"/>
                        </a:rPr>
                        <a:t>1,1%</a:t>
                      </a:r>
                    </a:p>
                  </a:txBody>
                  <a:tcPr marL="47625" marR="47625" marT="14288" marB="14288" anchor="ctr">
                    <a:solidFill>
                      <a:srgbClr val="F5F6F7"/>
                    </a:solidFill>
                  </a:tcPr>
                </a:tc>
              </a:tr>
              <a:tr h="345758">
                <a:tc>
                  <a:txBody>
                    <a:bodyPr wrap="square" anchor="ctr">
                      <a:normAutofit/>
                    </a:bodyPr>
                    <a:lstStyle/>
                    <a:p>
                      <a:pPr algn="l"/>
                      <a:r>
                        <a:rPr sz="570">
                          <a:solidFill>
                            <a:srgbClr val="30353A"/>
                          </a:solidFill>
                          <a:latin typeface="Arial"/>
                          <a:ea typeface="Arial"/>
                          <a:cs typeface="Arial"/>
                        </a:rPr>
                        <a:t>Serviços</a:t>
                      </a:r>
                    </a:p>
                  </a:txBody>
                  <a:tcPr marL="47625" marR="47625" marT="14288" marB="14288" anchor="ctr">
                    <a:solidFill>
                      <a:srgbClr val="FFFFFF"/>
                    </a:solidFill>
                  </a:tcPr>
                </a:tc>
                <a:tc>
                  <a:txBody>
                    <a:bodyPr wrap="square" anchor="ctr">
                      <a:normAutofit/>
                    </a:bodyPr>
                    <a:lstStyle/>
                    <a:p>
                      <a:pPr algn="r"/>
                      <a:r>
                        <a:rPr sz="570">
                          <a:solidFill>
                            <a:srgbClr val="30353A"/>
                          </a:solidFill>
                          <a:latin typeface="Arial"/>
                          <a:ea typeface="Arial"/>
                          <a:cs typeface="Arial"/>
                        </a:rPr>
                        <a:t>160</a:t>
                      </a:r>
                    </a:p>
                  </a:txBody>
                  <a:tcPr marL="47625" marR="47625" marT="14288" marB="14288" anchor="ctr">
                    <a:solidFill>
                      <a:srgbClr val="FFFFFF"/>
                    </a:solidFill>
                  </a:tcPr>
                </a:tc>
                <a:tc>
                  <a:txBody>
                    <a:bodyPr wrap="square" anchor="ctr">
                      <a:normAutofit/>
                    </a:bodyPr>
                    <a:lstStyle/>
                    <a:p>
                      <a:pPr algn="r"/>
                      <a:r>
                        <a:rPr sz="570">
                          <a:solidFill>
                            <a:srgbClr val="30353A"/>
                          </a:solidFill>
                          <a:latin typeface="Arial"/>
                          <a:ea typeface="Arial"/>
                          <a:cs typeface="Arial"/>
                        </a:rPr>
                        <a:t>36,5</a:t>
                      </a:r>
                    </a:p>
                  </a:txBody>
                  <a:tcPr marL="47625" marR="47625" marT="14288" marB="14288" anchor="ctr">
                    <a:solidFill>
                      <a:srgbClr val="FFFFFF"/>
                    </a:solidFill>
                  </a:tcPr>
                </a:tc>
                <a:tc>
                  <a:txBody>
                    <a:bodyPr wrap="square" anchor="ctr">
                      <a:normAutofit/>
                    </a:bodyPr>
                    <a:lstStyle/>
                    <a:p>
                      <a:pPr algn="r"/>
                      <a:r>
                        <a:rPr sz="570">
                          <a:solidFill>
                            <a:srgbClr val="30353A"/>
                          </a:solidFill>
                          <a:latin typeface="Arial"/>
                          <a:ea typeface="Arial"/>
                          <a:cs typeface="Arial"/>
                        </a:rPr>
                        <a:t>1,6%</a:t>
                      </a:r>
                    </a:p>
                  </a:txBody>
                  <a:tcPr marL="47625" marR="47625" marT="14288" marB="14288" anchor="ctr">
                    <a:solidFill>
                      <a:srgbClr val="FFFFFF"/>
                    </a:solidFill>
                  </a:tcPr>
                </a:tc>
              </a:tr>
              <a:tr h="345758">
                <a:tc>
                  <a:txBody>
                    <a:bodyPr wrap="square" anchor="ctr">
                      <a:normAutofit/>
                    </a:bodyPr>
                    <a:lstStyle/>
                    <a:p>
                      <a:pPr algn="l"/>
                      <a:r>
                        <a:rPr sz="570">
                          <a:solidFill>
                            <a:srgbClr val="30353A"/>
                          </a:solidFill>
                          <a:latin typeface="Arial"/>
                          <a:ea typeface="Arial"/>
                          <a:cs typeface="Arial"/>
                        </a:rPr>
                        <a:t>Setor público</a:t>
                      </a:r>
                    </a:p>
                  </a:txBody>
                  <a:tcPr marL="47625" marR="47625" marT="14288" marB="14288" anchor="ctr">
                    <a:solidFill>
                      <a:srgbClr val="F5F6F7"/>
                    </a:solidFill>
                  </a:tcPr>
                </a:tc>
                <a:tc>
                  <a:txBody>
                    <a:bodyPr wrap="square" anchor="ctr">
                      <a:normAutofit/>
                    </a:bodyPr>
                    <a:lstStyle/>
                    <a:p>
                      <a:pPr algn="r"/>
                      <a:r>
                        <a:rPr sz="570">
                          <a:solidFill>
                            <a:srgbClr val="30353A"/>
                          </a:solidFill>
                          <a:latin typeface="Arial"/>
                          <a:ea typeface="Arial"/>
                          <a:cs typeface="Arial"/>
                        </a:rPr>
                        <a:t>129</a:t>
                      </a:r>
                    </a:p>
                  </a:txBody>
                  <a:tcPr marL="47625" marR="47625" marT="14288" marB="14288" anchor="ctr">
                    <a:solidFill>
                      <a:srgbClr val="F5F6F7"/>
                    </a:solidFill>
                  </a:tcPr>
                </a:tc>
                <a:tc>
                  <a:txBody>
                    <a:bodyPr wrap="square" anchor="ctr">
                      <a:normAutofit/>
                    </a:bodyPr>
                    <a:lstStyle/>
                    <a:p>
                      <a:pPr algn="r"/>
                      <a:r>
                        <a:rPr sz="570">
                          <a:solidFill>
                            <a:srgbClr val="30353A"/>
                          </a:solidFill>
                          <a:latin typeface="Arial"/>
                          <a:ea typeface="Arial"/>
                          <a:cs typeface="Arial"/>
                        </a:rPr>
                        <a:t>30,6</a:t>
                      </a:r>
                    </a:p>
                  </a:txBody>
                  <a:tcPr marL="47625" marR="47625" marT="14288" marB="14288" anchor="ctr">
                    <a:solidFill>
                      <a:srgbClr val="F5F6F7"/>
                    </a:solidFill>
                  </a:tcPr>
                </a:tc>
                <a:tc>
                  <a:txBody>
                    <a:bodyPr wrap="square" anchor="ctr">
                      <a:normAutofit/>
                    </a:bodyPr>
                    <a:lstStyle/>
                    <a:p>
                      <a:pPr algn="r"/>
                      <a:r>
                        <a:rPr sz="570">
                          <a:solidFill>
                            <a:srgbClr val="30353A"/>
                          </a:solidFill>
                          <a:latin typeface="Arial"/>
                          <a:ea typeface="Arial"/>
                          <a:cs typeface="Arial"/>
                        </a:rPr>
                        <a:t>2,7%</a:t>
                      </a:r>
                    </a:p>
                  </a:txBody>
                  <a:tcPr marL="47625" marR="47625" marT="14288" marB="14288" anchor="ctr">
                    <a:solidFill>
                      <a:srgbClr val="F5F6F7"/>
                    </a:solidFill>
                  </a:tcPr>
                </a:tc>
              </a:tr>
              <a:tr h="345758">
                <a:tc>
                  <a:txBody>
                    <a:bodyPr wrap="square" anchor="ctr">
                      <a:normAutofit/>
                    </a:bodyPr>
                    <a:lstStyle/>
                    <a:p>
                      <a:pPr algn="l"/>
                      <a:r>
                        <a:rPr sz="570">
                          <a:solidFill>
                            <a:srgbClr val="30353A"/>
                          </a:solidFill>
                          <a:latin typeface="Arial"/>
                          <a:ea typeface="Arial"/>
                          <a:cs typeface="Arial"/>
                        </a:rPr>
                        <a:t>Ações judiciais</a:t>
                      </a:r>
                    </a:p>
                  </a:txBody>
                  <a:tcPr marL="47625" marR="47625" marT="14288" marB="14288" anchor="ctr">
                    <a:solidFill>
                      <a:srgbClr val="FFFFFF"/>
                    </a:solidFill>
                  </a:tcPr>
                </a:tc>
                <a:tc>
                  <a:txBody>
                    <a:bodyPr wrap="square" anchor="ctr">
                      <a:normAutofit/>
                    </a:bodyPr>
                    <a:lstStyle/>
                    <a:p>
                      <a:pPr algn="r"/>
                      <a:r>
                        <a:rPr sz="570">
                          <a:solidFill>
                            <a:srgbClr val="30353A"/>
                          </a:solidFill>
                          <a:latin typeface="Arial"/>
                          <a:ea typeface="Arial"/>
                          <a:cs typeface="Arial"/>
                        </a:rPr>
                        <a:t>160</a:t>
                      </a:r>
                    </a:p>
                  </a:txBody>
                  <a:tcPr marL="47625" marR="47625" marT="14288" marB="14288" anchor="ctr">
                    <a:solidFill>
                      <a:srgbClr val="FFFFFF"/>
                    </a:solidFill>
                  </a:tcPr>
                </a:tc>
                <a:tc>
                  <a:txBody>
                    <a:bodyPr wrap="square" anchor="ctr">
                      <a:normAutofit/>
                    </a:bodyPr>
                    <a:lstStyle/>
                    <a:p>
                      <a:pPr algn="r"/>
                      <a:r>
                        <a:rPr sz="570">
                          <a:solidFill>
                            <a:srgbClr val="30353A"/>
                          </a:solidFill>
                          <a:latin typeface="Arial"/>
                          <a:ea typeface="Arial"/>
                          <a:cs typeface="Arial"/>
                        </a:rPr>
                        <a:t>22,0</a:t>
                      </a:r>
                    </a:p>
                  </a:txBody>
                  <a:tcPr marL="47625" marR="47625" marT="14288" marB="14288" anchor="ctr">
                    <a:solidFill>
                      <a:srgbClr val="FFFFFF"/>
                    </a:solidFill>
                  </a:tcPr>
                </a:tc>
                <a:tc>
                  <a:txBody>
                    <a:bodyPr wrap="square" anchor="ctr">
                      <a:normAutofit/>
                    </a:bodyPr>
                    <a:lstStyle/>
                    <a:p>
                      <a:pPr algn="r"/>
                      <a:r>
                        <a:rPr sz="570">
                          <a:solidFill>
                            <a:srgbClr val="30353A"/>
                          </a:solidFill>
                          <a:latin typeface="Arial"/>
                          <a:ea typeface="Arial"/>
                          <a:cs typeface="Arial"/>
                        </a:rPr>
                        <a:t>2,8%</a:t>
                      </a:r>
                    </a:p>
                  </a:txBody>
                  <a:tcPr marL="47625" marR="47625" marT="14288" marB="14288" anchor="ctr">
                    <a:solidFill>
                      <a:srgbClr val="FFFFFF"/>
                    </a:solidFill>
                  </a:tcPr>
                </a:tc>
              </a:tr>
              <a:tr h="345758">
                <a:tc>
                  <a:txBody>
                    <a:bodyPr wrap="square" anchor="ctr">
                      <a:normAutofit/>
                    </a:bodyPr>
                    <a:lstStyle/>
                    <a:p>
                      <a:pPr algn="l"/>
                      <a:r>
                        <a:rPr sz="570">
                          <a:solidFill>
                            <a:srgbClr val="30353A"/>
                          </a:solidFill>
                          <a:latin typeface="Arial"/>
                          <a:ea typeface="Arial"/>
                          <a:cs typeface="Arial"/>
                        </a:rPr>
                        <a:t>Agronegócio</a:t>
                      </a:r>
                    </a:p>
                  </a:txBody>
                  <a:tcPr marL="47625" marR="47625" marT="14288" marB="14288" anchor="ctr">
                    <a:solidFill>
                      <a:srgbClr val="F5F6F7"/>
                    </a:solidFill>
                  </a:tcPr>
                </a:tc>
                <a:tc>
                  <a:txBody>
                    <a:bodyPr wrap="square" anchor="ctr">
                      <a:normAutofit/>
                    </a:bodyPr>
                    <a:lstStyle/>
                    <a:p>
                      <a:pPr algn="r"/>
                      <a:r>
                        <a:rPr sz="570">
                          <a:solidFill>
                            <a:srgbClr val="30353A"/>
                          </a:solidFill>
                          <a:latin typeface="Arial"/>
                          <a:ea typeface="Arial"/>
                          <a:cs typeface="Arial"/>
                        </a:rPr>
                        <a:t>36</a:t>
                      </a:r>
                    </a:p>
                  </a:txBody>
                  <a:tcPr marL="47625" marR="47625" marT="14288" marB="14288" anchor="ctr">
                    <a:solidFill>
                      <a:srgbClr val="F5F6F7"/>
                    </a:solidFill>
                  </a:tcPr>
                </a:tc>
                <a:tc>
                  <a:txBody>
                    <a:bodyPr wrap="square" anchor="ctr">
                      <a:normAutofit/>
                    </a:bodyPr>
                    <a:lstStyle/>
                    <a:p>
                      <a:pPr algn="r"/>
                      <a:r>
                        <a:rPr sz="570">
                          <a:solidFill>
                            <a:srgbClr val="30353A"/>
                          </a:solidFill>
                          <a:latin typeface="Arial"/>
                          <a:ea typeface="Arial"/>
                          <a:cs typeface="Arial"/>
                        </a:rPr>
                        <a:t>7,1</a:t>
                      </a:r>
                    </a:p>
                  </a:txBody>
                  <a:tcPr marL="47625" marR="47625" marT="14288" marB="14288" anchor="ctr">
                    <a:solidFill>
                      <a:srgbClr val="F5F6F7"/>
                    </a:solidFill>
                  </a:tcPr>
                </a:tc>
                <a:tc>
                  <a:txBody>
                    <a:bodyPr wrap="square" anchor="ctr">
                      <a:normAutofit/>
                    </a:bodyPr>
                    <a:lstStyle/>
                    <a:p>
                      <a:pPr algn="r"/>
                      <a:r>
                        <a:rPr sz="570">
                          <a:solidFill>
                            <a:srgbClr val="30353A"/>
                          </a:solidFill>
                          <a:latin typeface="Arial"/>
                          <a:ea typeface="Arial"/>
                          <a:cs typeface="Arial"/>
                        </a:rPr>
                        <a:t>9,8%</a:t>
                      </a:r>
                    </a:p>
                  </a:txBody>
                  <a:tcPr marL="47625" marR="47625" marT="14288" marB="14288" anchor="ctr">
                    <a:solidFill>
                      <a:srgbClr val="F5F6F7"/>
                    </a:solidFill>
                  </a:tcPr>
                </a:tc>
              </a:tr>
              <a:tr h="345758">
                <a:tc>
                  <a:txBody>
                    <a:bodyPr wrap="square" anchor="ctr">
                      <a:normAutofit/>
                    </a:bodyPr>
                    <a:lstStyle/>
                    <a:p>
                      <a:pPr algn="l"/>
                      <a:r>
                        <a:rPr sz="570">
                          <a:solidFill>
                            <a:srgbClr val="30353A"/>
                          </a:solidFill>
                          <a:latin typeface="Arial"/>
                          <a:ea typeface="Arial"/>
                          <a:cs typeface="Arial"/>
                        </a:rPr>
                        <a:t>Imobiliário</a:t>
                      </a:r>
                    </a:p>
                  </a:txBody>
                  <a:tcPr marL="47625" marR="47625" marT="14288" marB="14288" anchor="ctr">
                    <a:solidFill>
                      <a:srgbClr val="FFFFFF"/>
                    </a:solidFill>
                  </a:tcPr>
                </a:tc>
                <a:tc>
                  <a:txBody>
                    <a:bodyPr wrap="square" anchor="ctr">
                      <a:normAutofit/>
                    </a:bodyPr>
                    <a:lstStyle/>
                    <a:p>
                      <a:pPr algn="r"/>
                      <a:r>
                        <a:rPr sz="570">
                          <a:solidFill>
                            <a:srgbClr val="30353A"/>
                          </a:solidFill>
                          <a:latin typeface="Arial"/>
                          <a:ea typeface="Arial"/>
                          <a:cs typeface="Arial"/>
                        </a:rPr>
                        <a:t>15</a:t>
                      </a:r>
                    </a:p>
                  </a:txBody>
                  <a:tcPr marL="47625" marR="47625" marT="14288" marB="14288" anchor="ctr">
                    <a:solidFill>
                      <a:srgbClr val="FFFFFF"/>
                    </a:solidFill>
                  </a:tcPr>
                </a:tc>
                <a:tc>
                  <a:txBody>
                    <a:bodyPr wrap="square" anchor="ctr">
                      <a:normAutofit/>
                    </a:bodyPr>
                    <a:lstStyle/>
                    <a:p>
                      <a:pPr algn="r"/>
                      <a:r>
                        <a:rPr sz="570">
                          <a:solidFill>
                            <a:srgbClr val="30353A"/>
                          </a:solidFill>
                          <a:latin typeface="Arial"/>
                          <a:ea typeface="Arial"/>
                          <a:cs typeface="Arial"/>
                        </a:rPr>
                        <a:t>0,9</a:t>
                      </a:r>
                    </a:p>
                  </a:txBody>
                  <a:tcPr marL="47625" marR="47625" marT="14288" marB="14288" anchor="ctr">
                    <a:solidFill>
                      <a:srgbClr val="FFFFFF"/>
                    </a:solidFill>
                  </a:tcPr>
                </a:tc>
                <a:tc>
                  <a:txBody>
                    <a:bodyPr wrap="square" anchor="ctr">
                      <a:normAutofit/>
                    </a:bodyPr>
                    <a:lstStyle/>
                    <a:p>
                      <a:pPr algn="r"/>
                      <a:r>
                        <a:rPr sz="570">
                          <a:solidFill>
                            <a:srgbClr val="30353A"/>
                          </a:solidFill>
                          <a:latin typeface="Arial"/>
                          <a:ea typeface="Arial"/>
                          <a:cs typeface="Arial"/>
                        </a:rPr>
                        <a:t>7,3%</a:t>
                      </a:r>
                    </a:p>
                  </a:txBody>
                  <a:tcPr marL="47625" marR="47625" marT="14288" marB="14288" anchor="ctr">
                    <a:solidFill>
                      <a:srgbClr val="FFFFFF"/>
                    </a:solidFill>
                  </a:tcPr>
                </a:tc>
              </a:tr>
              <a:tr h="345758">
                <a:tc>
                  <a:txBody>
                    <a:bodyPr wrap="square" anchor="ctr">
                      <a:normAutofit/>
                    </a:bodyPr>
                    <a:lstStyle/>
                    <a:p>
                      <a:pPr algn="l"/>
                      <a:r>
                        <a:rPr sz="570">
                          <a:solidFill>
                            <a:srgbClr val="30353A"/>
                          </a:solidFill>
                          <a:latin typeface="Arial"/>
                          <a:ea typeface="Arial"/>
                          <a:cs typeface="Arial"/>
                        </a:rPr>
                        <a:t>Factoring</a:t>
                      </a:r>
                    </a:p>
                  </a:txBody>
                  <a:tcPr marL="47625" marR="47625" marT="14288" marB="14288" anchor="ctr">
                    <a:solidFill>
                      <a:srgbClr val="F5F6F7"/>
                    </a:solidFill>
                  </a:tcPr>
                </a:tc>
                <a:tc>
                  <a:txBody>
                    <a:bodyPr wrap="square" anchor="ctr">
                      <a:normAutofit/>
                    </a:bodyPr>
                    <a:lstStyle/>
                    <a:p>
                      <a:pPr algn="r"/>
                      <a:r>
                        <a:rPr sz="570">
                          <a:solidFill>
                            <a:srgbClr val="30353A"/>
                          </a:solidFill>
                          <a:latin typeface="Arial"/>
                          <a:ea typeface="Arial"/>
                          <a:cs typeface="Arial"/>
                        </a:rPr>
                        <a:t>1</a:t>
                      </a:r>
                    </a:p>
                  </a:txBody>
                  <a:tcPr marL="47625" marR="47625" marT="14288" marB="14288" anchor="ctr">
                    <a:solidFill>
                      <a:srgbClr val="F5F6F7"/>
                    </a:solidFill>
                  </a:tcPr>
                </a:tc>
                <a:tc>
                  <a:txBody>
                    <a:bodyPr wrap="square" anchor="ctr">
                      <a:normAutofit/>
                    </a:bodyPr>
                    <a:lstStyle/>
                    <a:p>
                      <a:pPr algn="r"/>
                      <a:r>
                        <a:rPr sz="570">
                          <a:solidFill>
                            <a:srgbClr val="30353A"/>
                          </a:solidFill>
                          <a:latin typeface="Arial"/>
                          <a:ea typeface="Arial"/>
                          <a:cs typeface="Arial"/>
                        </a:rPr>
                        <a:t>0,1</a:t>
                      </a:r>
                    </a:p>
                  </a:txBody>
                  <a:tcPr marL="47625" marR="47625" marT="14288" marB="14288" anchor="ctr">
                    <a:solidFill>
                      <a:srgbClr val="F5F6F7"/>
                    </a:solidFill>
                  </a:tcPr>
                </a:tc>
                <a:tc>
                  <a:txBody>
                    <a:bodyPr wrap="square" anchor="ctr">
                      <a:normAutofit/>
                    </a:bodyPr>
                    <a:lstStyle/>
                    <a:p>
                      <a:pPr algn="r"/>
                      <a:r>
                        <a:rPr sz="570">
                          <a:solidFill>
                            <a:srgbClr val="30353A"/>
                          </a:solidFill>
                          <a:latin typeface="Arial"/>
                          <a:ea typeface="Arial"/>
                          <a:cs typeface="Arial"/>
                        </a:rPr>
                        <a:t>13,9%</a:t>
                      </a:r>
                    </a:p>
                  </a:txBody>
                  <a:tcPr marL="47625" marR="47625" marT="14288" marB="14288" anchor="ctr">
                    <a:solidFill>
                      <a:srgbClr val="F5F6F7"/>
                    </a:solidFill>
                  </a:tcPr>
                </a:tc>
              </a:tr>
            </a:tbl>
          </a:graphicData>
        </a:graphic>
      </p:graphicFrame>
      <p:graphicFrame>
        <p:nvGraphicFramePr>
          <p:cNvPr id="27" name="Chart"/>
          <p:cNvGraphicFramePr/>
          <p:nvPr/>
        </p:nvGraphicFramePr>
        <p:xfrm>
          <a:off xmlns:a="http://schemas.openxmlformats.org/drawingml/2006/main" x="571500" y="5429250"/>
          <a:ext xmlns:a="http://schemas.openxmlformats.org/drawingml/2006/main" cx="11049000" cy="495300"/>
        </p:xfrm>
        <a:graphic xmlns:a="http://schemas.openxmlformats.org/drawingml/2006/main">
          <a:graphicData uri="http://schemas.openxmlformats.org/drawingml/2006/chart">
            <c:chart xmlns:r="http://schemas.openxmlformats.org/officeDocument/2006/relationships" xmlns:c="http://schemas.openxmlformats.org/drawingml/2006/chart" r:id="Rf3f91767f2034640"/>
          </a:graphicData>
        </a:graphic>
      </p:graphicFrame>
      <p:sp>
        <p:nvSpPr>
          <p:cNvPr id="14" name="">
            <a:extLst xmlns:a="http://schemas.openxmlformats.org/drawingml/2006/main">
              <a:ext uri="{FF2B5EF4-FFF2-40B4-BE49-F238E27FC236}">
                <a16:creationId xmlns:a16="http://schemas.microsoft.com/office/drawing/2014/main" id="{35210A8B-097A-4EE5-9ADF-F24911E86F99}"/>
              </a:ext>
            </a:extLst>
          </p:cNvPr>
          <p:cNvSpPr>
            <a:spLocks xmlns:a="http://schemas.openxmlformats.org/drawingml/2006/main" noGrp="1"/>
          </p:cNvSpPr>
          <p:nvPr/>
        </p:nvSpPr>
        <p:spPr>
          <a:xfrm xmlns:a="http://schemas.openxmlformats.org/drawingml/2006/main">
            <a:off x="571500" y="6019800"/>
            <a:ext cx="1104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35" b="0">
                <a:solidFill>
                  <a:srgbClr val="8D9399"/>
                </a:solidFill>
                <a:latin typeface="Arial"/>
                <a:ea typeface="Arial"/>
                <a:cs typeface="Arial"/>
              </a:defRPr>
            </a:pPr>
            <a:r>
              <a:rPr sz="735" b="0">
                <a:solidFill>
                  <a:srgbClr val="8D9399"/>
                </a:solidFill>
                <a:latin typeface="Arial"/>
                <a:ea typeface="Arial"/>
                <a:cs typeface="Arial"/>
              </a:rPr>
              <a:t>Coorte: 2.066 fundos e R$ 608,7 bi; consolidado ajustado 5,9%. Factoring e Imobiliário têm base pequena.</a:t>
            </a:r>
          </a:p>
        </p:txBody>
      </p:sp>
    </p:spTree>
    <p:extLst>
      <p:ext uri="{BB962C8B-B14F-4D97-AF65-F5344CB8AC3E}">
        <p14:creationId xmlns:p14="http://schemas.microsoft.com/office/powerpoint/2010/main" val="123127912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D2CA0B-0F14-42F6-8B4D-9BB5F95C5E21}"/>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INADIMPLÊNCIA · DISPERSÃO ENTRE REPORTANTES</a:t>
            </a:r>
          </a:p>
        </p:txBody>
      </p:sp>
      <p:sp>
        <p:nvSpPr>
          <p:cNvPr id="2" name="">
            <a:extLst xmlns:a="http://schemas.openxmlformats.org/drawingml/2006/main">
              <a:ext uri="{FF2B5EF4-FFF2-40B4-BE49-F238E27FC236}">
                <a16:creationId xmlns:a16="http://schemas.microsoft.com/office/drawing/2014/main" id="{DB79D7CA-B1B8-4B75-B813-4A00BF6929F6}"/>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Concentração do valor reportado por subcategoria da Tabela II</a:t>
            </a:r>
          </a:p>
        </p:txBody>
      </p:sp>
      <p:sp>
        <p:nvSpPr>
          <p:cNvPr id="3" name="">
            <a:extLst xmlns:a="http://schemas.openxmlformats.org/drawingml/2006/main">
              <a:ext uri="{FF2B5EF4-FFF2-40B4-BE49-F238E27FC236}">
                <a16:creationId xmlns:a16="http://schemas.microsoft.com/office/drawing/2014/main" id="{5211C6E9-08E4-42C5-8F72-CFCF5F7056B1}"/>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C670B16-3785-4F2F-ADA6-89B8501AFE66}"/>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34A88F3-E933-4F86-BA03-866CFF1F4C80}"/>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CVM, Informe Mensal FIDC, Tabelas I, II e IV, 2026-06. Somente fundos da coorte tipo único com inadimplência ajustada positiva.</a:t>
            </a:r>
          </a:p>
        </p:txBody>
      </p:sp>
      <p:sp>
        <p:nvSpPr>
          <p:cNvPr id="6" name="">
            <a:extLst xmlns:a="http://schemas.openxmlformats.org/drawingml/2006/main">
              <a:ext uri="{FF2B5EF4-FFF2-40B4-BE49-F238E27FC236}">
                <a16:creationId xmlns:a16="http://schemas.microsoft.com/office/drawing/2014/main" id="{9738945F-BFD7-4F87-9033-12B819838582}"/>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15</a:t>
            </a:r>
          </a:p>
        </p:txBody>
      </p:sp>
      <p:graphicFrame>
        <p:nvGraphicFramePr>
          <p:cNvPr id="15" name=""/>
          <p:cNvGraphicFramePr/>
          <p:nvPr/>
        </p:nvGraphicFramePr>
        <p:xfrm>
          <a:off xmlns:a="http://schemas.openxmlformats.org/drawingml/2006/main" x="571500" y="1352550"/>
          <a:ext xmlns:a="http://schemas.openxmlformats.org/drawingml/2006/main" cx="11049000" cy="4762500"/>
        </p:xfrm>
        <a:graphic xmlns:a="http://schemas.openxmlformats.org/drawingml/2006/main">
          <a:graphicData uri="http://schemas.openxmlformats.org/drawingml/2006/table">
            <a:tbl>
              <a:tblPr firstRow="0" firstCol="0" lastRow="0" lastCol="0" bandRow="0" bandCol="0"/>
              <a:tblGrid>
                <a:gridCol w="1952625"/>
                <a:gridCol w="571500"/>
                <a:gridCol w="1000125"/>
                <a:gridCol w="1285875"/>
                <a:gridCol w="1285875"/>
                <a:gridCol w="1285875"/>
                <a:gridCol w="666750"/>
                <a:gridCol w="666750"/>
                <a:gridCol w="2333625"/>
              </a:tblGrid>
              <a:tr h="209550">
                <a:tc>
                  <a:txBody>
                    <a:bodyPr wrap="square" anchor="ctr">
                      <a:normAutofit/>
                    </a:bodyPr>
                    <a:lstStyle/>
                    <a:p>
                      <a:pPr algn="l"/>
                      <a:r>
                        <a:rPr sz="607" b="1">
                          <a:solidFill>
                            <a:srgbClr val="FFFFFF"/>
                          </a:solidFill>
                          <a:latin typeface="Arial"/>
                          <a:ea typeface="Arial"/>
                          <a:cs typeface="Arial"/>
                        </a:rPr>
                        <a:t>Subcategoria</a:t>
                      </a:r>
                    </a:p>
                  </a:txBody>
                  <a:tcPr marL="47625" marR="47625" marT="19050" marB="19050" anchor="ctr">
                    <a:solidFill>
                      <a:srgbClr val="151515"/>
                    </a:solidFill>
                  </a:tcPr>
                </a:tc>
                <a:tc>
                  <a:txBody>
                    <a:bodyPr wrap="square" anchor="ctr">
                      <a:normAutofit/>
                    </a:bodyPr>
                    <a:lstStyle/>
                    <a:p>
                      <a:pPr algn="r"/>
                      <a:r>
                        <a:rPr sz="607" b="1">
                          <a:solidFill>
                            <a:srgbClr val="FFFFFF"/>
                          </a:solidFill>
                          <a:latin typeface="Arial"/>
                          <a:ea typeface="Arial"/>
                          <a:cs typeface="Arial"/>
                        </a:rPr>
                        <a:t>Fundos</a:t>
                      </a:r>
                    </a:p>
                  </a:txBody>
                  <a:tcPr marL="47625" marR="47625" marT="19050" marB="19050" anchor="ctr">
                    <a:solidFill>
                      <a:srgbClr val="151515"/>
                    </a:solidFill>
                  </a:tcPr>
                </a:tc>
                <a:tc>
                  <a:txBody>
                    <a:bodyPr wrap="square" anchor="ctr">
                      <a:normAutofit/>
                    </a:bodyPr>
                    <a:lstStyle/>
                    <a:p>
                      <a:pPr algn="r"/>
                      <a:r>
                        <a:rPr sz="607" b="1">
                          <a:solidFill>
                            <a:srgbClr val="FFFFFF"/>
                          </a:solidFill>
                          <a:latin typeface="Arial"/>
                          <a:ea typeface="Arial"/>
                          <a:cs typeface="Arial"/>
                        </a:rPr>
                        <a:t>Inad. · R$ bi</a:t>
                      </a:r>
                    </a:p>
                  </a:txBody>
                  <a:tcPr marL="47625" marR="47625" marT="19050" marB="19050" anchor="ctr">
                    <a:solidFill>
                      <a:srgbClr val="151515"/>
                    </a:solidFill>
                  </a:tcPr>
                </a:tc>
                <a:tc>
                  <a:txBody>
                    <a:bodyPr wrap="square" anchor="ctr">
                      <a:normAutofit/>
                    </a:bodyPr>
                    <a:lstStyle/>
                    <a:p>
                      <a:pPr algn="r"/>
                      <a:r>
                        <a:rPr sz="607" b="1">
                          <a:solidFill>
                            <a:srgbClr val="FFFFFF"/>
                          </a:solidFill>
                          <a:latin typeface="Arial"/>
                          <a:ea typeface="Arial"/>
                          <a:cs typeface="Arial"/>
                        </a:rPr>
                        <a:t>Top 1</a:t>
                      </a:r>
                    </a:p>
                  </a:txBody>
                  <a:tcPr marL="47625" marR="47625" marT="19050" marB="19050" anchor="ctr">
                    <a:solidFill>
                      <a:srgbClr val="151515"/>
                    </a:solidFill>
                  </a:tcPr>
                </a:tc>
                <a:tc>
                  <a:txBody>
                    <a:bodyPr wrap="square" anchor="ctr">
                      <a:normAutofit/>
                    </a:bodyPr>
                    <a:lstStyle/>
                    <a:p>
                      <a:pPr algn="r"/>
                      <a:r>
                        <a:rPr sz="607" b="1">
                          <a:solidFill>
                            <a:srgbClr val="FFFFFF"/>
                          </a:solidFill>
                          <a:latin typeface="Arial"/>
                          <a:ea typeface="Arial"/>
                          <a:cs typeface="Arial"/>
                        </a:rPr>
                        <a:t>Top 3</a:t>
                      </a:r>
                    </a:p>
                  </a:txBody>
                  <a:tcPr marL="47625" marR="47625" marT="19050" marB="19050" anchor="ctr">
                    <a:solidFill>
                      <a:srgbClr val="151515"/>
                    </a:solidFill>
                  </a:tcPr>
                </a:tc>
                <a:tc>
                  <a:txBody>
                    <a:bodyPr wrap="square" anchor="ctr">
                      <a:normAutofit/>
                    </a:bodyPr>
                    <a:lstStyle/>
                    <a:p>
                      <a:pPr algn="r"/>
                      <a:r>
                        <a:rPr sz="607" b="1">
                          <a:solidFill>
                            <a:srgbClr val="FFFFFF"/>
                          </a:solidFill>
                          <a:latin typeface="Arial"/>
                          <a:ea typeface="Arial"/>
                          <a:cs typeface="Arial"/>
                        </a:rPr>
                        <a:t>Top 5</a:t>
                      </a:r>
                    </a:p>
                  </a:txBody>
                  <a:tcPr marL="47625" marR="47625" marT="19050" marB="19050" anchor="ctr">
                    <a:solidFill>
                      <a:srgbClr val="151515"/>
                    </a:solidFill>
                  </a:tcPr>
                </a:tc>
                <a:tc>
                  <a:txBody>
                    <a:bodyPr wrap="square" anchor="ctr">
                      <a:normAutofit/>
                    </a:bodyPr>
                    <a:lstStyle/>
                    <a:p>
                      <a:pPr algn="r"/>
                      <a:r>
                        <a:rPr sz="607" b="1">
                          <a:solidFill>
                            <a:srgbClr val="FFFFFF"/>
                          </a:solidFill>
                          <a:latin typeface="Arial"/>
                          <a:ea typeface="Arial"/>
                          <a:cs typeface="Arial"/>
                        </a:rPr>
                        <a:t>HHI</a:t>
                      </a:r>
                    </a:p>
                  </a:txBody>
                  <a:tcPr marL="47625" marR="47625" marT="19050" marB="19050" anchor="ctr">
                    <a:solidFill>
                      <a:srgbClr val="151515"/>
                    </a:solidFill>
                  </a:tcPr>
                </a:tc>
                <a:tc>
                  <a:txBody>
                    <a:bodyPr wrap="square" anchor="ctr">
                      <a:normAutofit/>
                    </a:bodyPr>
                    <a:lstStyle/>
                    <a:p>
                      <a:pPr algn="r"/>
                      <a:r>
                        <a:rPr sz="607" b="1">
                          <a:solidFill>
                            <a:srgbClr val="FFFFFF"/>
                          </a:solidFill>
                          <a:latin typeface="Arial"/>
                          <a:ea typeface="Arial"/>
                          <a:cs typeface="Arial"/>
                        </a:rPr>
                        <a:t>Gini</a:t>
                      </a:r>
                    </a:p>
                  </a:txBody>
                  <a:tcPr marL="47625" marR="47625" marT="19050" marB="19050" anchor="ctr">
                    <a:solidFill>
                      <a:srgbClr val="151515"/>
                    </a:solidFill>
                  </a:tcPr>
                </a:tc>
                <a:tc>
                  <a:txBody>
                    <a:bodyPr wrap="square" anchor="ctr">
                      <a:normAutofit/>
                    </a:bodyPr>
                    <a:lstStyle/>
                    <a:p>
                      <a:pPr algn="l"/>
                      <a:r>
                        <a:rPr sz="607" b="1">
                          <a:solidFill>
                            <a:srgbClr val="FFFFFF"/>
                          </a:solidFill>
                          <a:latin typeface="Arial"/>
                          <a:ea typeface="Arial"/>
                          <a:cs typeface="Arial"/>
                        </a:rPr>
                        <a:t>Leitura</a:t>
                      </a:r>
                    </a:p>
                  </a:txBody>
                  <a:tcPr marL="47625" marR="47625" marT="19050" marB="19050" anchor="ctr">
                    <a:solidFill>
                      <a:srgbClr val="151515"/>
                    </a:solidFill>
                  </a:tcPr>
                </a:tc>
              </a:tr>
              <a:tr h="455295">
                <a:tc>
                  <a:txBody>
                    <a:bodyPr wrap="square" anchor="ctr">
                      <a:normAutofit/>
                    </a:bodyPr>
                    <a:lstStyle/>
                    <a:p>
                      <a:pPr algn="l"/>
                      <a:r>
                        <a:rPr sz="630">
                          <a:solidFill>
                            <a:srgbClr val="30353A"/>
                          </a:solidFill>
                          <a:latin typeface="Arial"/>
                          <a:ea typeface="Arial"/>
                          <a:cs typeface="Arial"/>
                        </a:rPr>
                        <a:t>Financeiro</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649</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16,67 bi</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1,41 bi · 8,5%</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3,61 bi · 21,6%</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5,46 bi · 32,7%</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0,030</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0,891</a:t>
                      </a:r>
                    </a:p>
                  </a:txBody>
                  <a:tcPr marL="47625" marR="47625" marT="14288" marB="14288" anchor="ctr">
                    <a:solidFill>
                      <a:srgbClr val="FFFFFF"/>
                    </a:solidFill>
                  </a:tcPr>
                </a:tc>
                <a:tc>
                  <a:txBody>
                    <a:bodyPr wrap="square" anchor="ctr">
                      <a:normAutofit/>
                    </a:bodyPr>
                    <a:lstStyle/>
                    <a:p>
                      <a:pPr algn="l"/>
                      <a:r>
                        <a:rPr sz="630">
                          <a:solidFill>
                            <a:srgbClr val="30353A"/>
                          </a:solidFill>
                          <a:latin typeface="Arial"/>
                          <a:ea typeface="Arial"/>
                          <a:cs typeface="Arial"/>
                        </a:rPr>
                        <a:t>Dispersa entre reportantes</a:t>
                      </a:r>
                    </a:p>
                  </a:txBody>
                  <a:tcPr marL="47625" marR="47625" marT="14288" marB="14288" anchor="ctr">
                    <a:solidFill>
                      <a:srgbClr val="FFFFFF"/>
                    </a:solidFill>
                  </a:tcPr>
                </a:tc>
              </a:tr>
              <a:tr h="455295">
                <a:tc>
                  <a:txBody>
                    <a:bodyPr wrap="square" anchor="ctr">
                      <a:normAutofit/>
                    </a:bodyPr>
                    <a:lstStyle/>
                    <a:p>
                      <a:pPr algn="l"/>
                      <a:r>
                        <a:rPr sz="630">
                          <a:solidFill>
                            <a:srgbClr val="30353A"/>
                          </a:solidFill>
                          <a:latin typeface="Arial"/>
                          <a:ea typeface="Arial"/>
                          <a:cs typeface="Arial"/>
                        </a:rPr>
                        <a:t>Comercial</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129</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2,81 bi</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1,38 bi · 49,2%</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1,94 bi · 69,1%</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2,10 bi · 74,8%</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0,272</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0,901</a:t>
                      </a:r>
                    </a:p>
                  </a:txBody>
                  <a:tcPr marL="47625" marR="47625" marT="14288" marB="14288" anchor="ctr">
                    <a:solidFill>
                      <a:srgbClr val="F5F6F7"/>
                    </a:solidFill>
                  </a:tcPr>
                </a:tc>
                <a:tc>
                  <a:txBody>
                    <a:bodyPr wrap="square" anchor="ctr">
                      <a:normAutofit/>
                    </a:bodyPr>
                    <a:lstStyle/>
                    <a:p>
                      <a:pPr algn="l"/>
                      <a:r>
                        <a:rPr sz="630">
                          <a:solidFill>
                            <a:srgbClr val="30353A"/>
                          </a:solidFill>
                          <a:latin typeface="Arial"/>
                          <a:ea typeface="Arial"/>
                          <a:cs typeface="Arial"/>
                        </a:rPr>
                        <a:t>Concentrada em poucos fundos</a:t>
                      </a:r>
                    </a:p>
                  </a:txBody>
                  <a:tcPr marL="47625" marR="47625" marT="14288" marB="14288" anchor="ctr">
                    <a:solidFill>
                      <a:srgbClr val="F5F6F7"/>
                    </a:solidFill>
                  </a:tcPr>
                </a:tc>
              </a:tr>
              <a:tr h="455295">
                <a:tc>
                  <a:txBody>
                    <a:bodyPr wrap="square" anchor="ctr">
                      <a:normAutofit/>
                    </a:bodyPr>
                    <a:lstStyle/>
                    <a:p>
                      <a:pPr algn="l"/>
                      <a:r>
                        <a:rPr sz="630">
                          <a:solidFill>
                            <a:srgbClr val="30353A"/>
                          </a:solidFill>
                          <a:latin typeface="Arial"/>
                          <a:ea typeface="Arial"/>
                          <a:cs typeface="Arial"/>
                        </a:rPr>
                        <a:t>Cartão de crédito</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12</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0,90 bi</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0,34 bi · 37,6%</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0,69 bi · 76,9%</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0,84 bi · 93,6%</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0,237</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0,662</a:t>
                      </a:r>
                    </a:p>
                  </a:txBody>
                  <a:tcPr marL="47625" marR="47625" marT="14288" marB="14288" anchor="ctr">
                    <a:solidFill>
                      <a:srgbClr val="FFFFFF"/>
                    </a:solidFill>
                  </a:tcPr>
                </a:tc>
                <a:tc>
                  <a:txBody>
                    <a:bodyPr wrap="square" anchor="ctr">
                      <a:normAutofit/>
                    </a:bodyPr>
                    <a:lstStyle/>
                    <a:p>
                      <a:pPr algn="l"/>
                      <a:r>
                        <a:rPr sz="630">
                          <a:solidFill>
                            <a:srgbClr val="30353A"/>
                          </a:solidFill>
                          <a:latin typeface="Arial"/>
                          <a:ea typeface="Arial"/>
                          <a:cs typeface="Arial"/>
                        </a:rPr>
                        <a:t>Concentrada em poucos fundos</a:t>
                      </a:r>
                    </a:p>
                  </a:txBody>
                  <a:tcPr marL="47625" marR="47625" marT="14288" marB="14288" anchor="ctr">
                    <a:solidFill>
                      <a:srgbClr val="FFFFFF"/>
                    </a:solidFill>
                  </a:tcPr>
                </a:tc>
              </a:tr>
              <a:tr h="455295">
                <a:tc>
                  <a:txBody>
                    <a:bodyPr wrap="square" anchor="ctr">
                      <a:normAutofit/>
                    </a:bodyPr>
                    <a:lstStyle/>
                    <a:p>
                      <a:pPr algn="l"/>
                      <a:r>
                        <a:rPr sz="630">
                          <a:solidFill>
                            <a:srgbClr val="30353A"/>
                          </a:solidFill>
                          <a:latin typeface="Arial"/>
                          <a:ea typeface="Arial"/>
                          <a:cs typeface="Arial"/>
                        </a:rPr>
                        <a:t>Setor público</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26</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0,66 bi</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0,50 bi · 75,9%</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0,57 bi · 85,7%</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0,59 bi · 89,0%</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0,584</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0,859</a:t>
                      </a:r>
                    </a:p>
                  </a:txBody>
                  <a:tcPr marL="47625" marR="47625" marT="14288" marB="14288" anchor="ctr">
                    <a:solidFill>
                      <a:srgbClr val="F5F6F7"/>
                    </a:solidFill>
                  </a:tcPr>
                </a:tc>
                <a:tc>
                  <a:txBody>
                    <a:bodyPr wrap="square" anchor="ctr">
                      <a:normAutofit/>
                    </a:bodyPr>
                    <a:lstStyle/>
                    <a:p>
                      <a:pPr algn="l"/>
                      <a:r>
                        <a:rPr sz="630">
                          <a:solidFill>
                            <a:srgbClr val="30353A"/>
                          </a:solidFill>
                          <a:latin typeface="Arial"/>
                          <a:ea typeface="Arial"/>
                          <a:cs typeface="Arial"/>
                        </a:rPr>
                        <a:t>Concentrada em poucos fundos</a:t>
                      </a:r>
                    </a:p>
                  </a:txBody>
                  <a:tcPr marL="47625" marR="47625" marT="14288" marB="14288" anchor="ctr">
                    <a:solidFill>
                      <a:srgbClr val="F5F6F7"/>
                    </a:solidFill>
                  </a:tcPr>
                </a:tc>
              </a:tr>
              <a:tr h="455295">
                <a:tc>
                  <a:txBody>
                    <a:bodyPr wrap="square" anchor="ctr">
                      <a:normAutofit/>
                    </a:bodyPr>
                    <a:lstStyle/>
                    <a:p>
                      <a:pPr algn="l"/>
                      <a:r>
                        <a:rPr sz="630">
                          <a:solidFill>
                            <a:srgbClr val="30353A"/>
                          </a:solidFill>
                          <a:latin typeface="Arial"/>
                          <a:ea typeface="Arial"/>
                          <a:cs typeface="Arial"/>
                        </a:rPr>
                        <a:t>Industrial</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32</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0,65 bi</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0,21 bi · 31,9%</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0,46 bi · 70,6%</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0,53 bi · 81,6%</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0,206</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0,822</a:t>
                      </a:r>
                    </a:p>
                  </a:txBody>
                  <a:tcPr marL="47625" marR="47625" marT="14288" marB="14288" anchor="ctr">
                    <a:solidFill>
                      <a:srgbClr val="FFFFFF"/>
                    </a:solidFill>
                  </a:tcPr>
                </a:tc>
                <a:tc>
                  <a:txBody>
                    <a:bodyPr wrap="square" anchor="ctr">
                      <a:normAutofit/>
                    </a:bodyPr>
                    <a:lstStyle/>
                    <a:p>
                      <a:pPr algn="l"/>
                      <a:r>
                        <a:rPr sz="630">
                          <a:solidFill>
                            <a:srgbClr val="30353A"/>
                          </a:solidFill>
                          <a:latin typeface="Arial"/>
                          <a:ea typeface="Arial"/>
                          <a:cs typeface="Arial"/>
                        </a:rPr>
                        <a:t>Concentrada em poucos fundos</a:t>
                      </a:r>
                    </a:p>
                  </a:txBody>
                  <a:tcPr marL="47625" marR="47625" marT="14288" marB="14288" anchor="ctr">
                    <a:solidFill>
                      <a:srgbClr val="FFFFFF"/>
                    </a:solidFill>
                  </a:tcPr>
                </a:tc>
              </a:tr>
              <a:tr h="455295">
                <a:tc>
                  <a:txBody>
                    <a:bodyPr wrap="square" anchor="ctr">
                      <a:normAutofit/>
                    </a:bodyPr>
                    <a:lstStyle/>
                    <a:p>
                      <a:pPr algn="l"/>
                      <a:r>
                        <a:rPr sz="630">
                          <a:solidFill>
                            <a:srgbClr val="30353A"/>
                          </a:solidFill>
                          <a:latin typeface="Arial"/>
                          <a:ea typeface="Arial"/>
                          <a:cs typeface="Arial"/>
                        </a:rPr>
                        <a:t>Ações judiciais</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20</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0,54 bi</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0,22 bi · 39,6%</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0,44 bi · 80,7%</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0,49 bi · 89,8%</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0,251</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0,788</a:t>
                      </a:r>
                    </a:p>
                  </a:txBody>
                  <a:tcPr marL="47625" marR="47625" marT="14288" marB="14288" anchor="ctr">
                    <a:solidFill>
                      <a:srgbClr val="F5F6F7"/>
                    </a:solidFill>
                  </a:tcPr>
                </a:tc>
                <a:tc>
                  <a:txBody>
                    <a:bodyPr wrap="square" anchor="ctr">
                      <a:normAutofit/>
                    </a:bodyPr>
                    <a:lstStyle/>
                    <a:p>
                      <a:pPr algn="l"/>
                      <a:r>
                        <a:rPr sz="630">
                          <a:solidFill>
                            <a:srgbClr val="30353A"/>
                          </a:solidFill>
                          <a:latin typeface="Arial"/>
                          <a:ea typeface="Arial"/>
                          <a:cs typeface="Arial"/>
                        </a:rPr>
                        <a:t>Concentrada em poucos fundos</a:t>
                      </a:r>
                    </a:p>
                  </a:txBody>
                  <a:tcPr marL="47625" marR="47625" marT="14288" marB="14288" anchor="ctr">
                    <a:solidFill>
                      <a:srgbClr val="F5F6F7"/>
                    </a:solidFill>
                  </a:tcPr>
                </a:tc>
              </a:tr>
              <a:tr h="455295">
                <a:tc>
                  <a:txBody>
                    <a:bodyPr wrap="square" anchor="ctr">
                      <a:normAutofit/>
                    </a:bodyPr>
                    <a:lstStyle/>
                    <a:p>
                      <a:pPr algn="l"/>
                      <a:r>
                        <a:rPr sz="630">
                          <a:solidFill>
                            <a:srgbClr val="30353A"/>
                          </a:solidFill>
                          <a:latin typeface="Arial"/>
                          <a:ea typeface="Arial"/>
                          <a:cs typeface="Arial"/>
                        </a:rPr>
                        <a:t>Serviços</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66</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0,49 bi</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0,12 bi · 25,2%</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0,21 bi · 42,3%</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0,25 bi · 51,6%</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0,093</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0,744</a:t>
                      </a:r>
                    </a:p>
                  </a:txBody>
                  <a:tcPr marL="47625" marR="47625" marT="14288" marB="14288" anchor="ctr">
                    <a:solidFill>
                      <a:srgbClr val="FFFFFF"/>
                    </a:solidFill>
                  </a:tcPr>
                </a:tc>
                <a:tc>
                  <a:txBody>
                    <a:bodyPr wrap="square" anchor="ctr">
                      <a:normAutofit/>
                    </a:bodyPr>
                    <a:lstStyle/>
                    <a:p>
                      <a:pPr algn="l"/>
                      <a:r>
                        <a:rPr sz="630">
                          <a:solidFill>
                            <a:srgbClr val="30353A"/>
                          </a:solidFill>
                          <a:latin typeface="Arial"/>
                          <a:ea typeface="Arial"/>
                          <a:cs typeface="Arial"/>
                        </a:rPr>
                        <a:t>Concentração intermediária</a:t>
                      </a:r>
                    </a:p>
                  </a:txBody>
                  <a:tcPr marL="47625" marR="47625" marT="14288" marB="14288" anchor="ctr">
                    <a:solidFill>
                      <a:srgbClr val="FFFFFF"/>
                    </a:solidFill>
                  </a:tcPr>
                </a:tc>
              </a:tr>
              <a:tr h="455295">
                <a:tc>
                  <a:txBody>
                    <a:bodyPr wrap="square" anchor="ctr">
                      <a:normAutofit/>
                    </a:bodyPr>
                    <a:lstStyle/>
                    <a:p>
                      <a:pPr algn="l"/>
                      <a:r>
                        <a:rPr sz="630">
                          <a:solidFill>
                            <a:srgbClr val="30353A"/>
                          </a:solidFill>
                          <a:latin typeface="Arial"/>
                          <a:ea typeface="Arial"/>
                          <a:cs typeface="Arial"/>
                        </a:rPr>
                        <a:t>Agronegócio</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14</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0,46 bi</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0,13 bi · 27,8%</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0,27 bi · 57,7%</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0,36 bi · 77,8%</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0,154</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0,561</a:t>
                      </a:r>
                    </a:p>
                  </a:txBody>
                  <a:tcPr marL="47625" marR="47625" marT="14288" marB="14288" anchor="ctr">
                    <a:solidFill>
                      <a:srgbClr val="F5F6F7"/>
                    </a:solidFill>
                  </a:tcPr>
                </a:tc>
                <a:tc>
                  <a:txBody>
                    <a:bodyPr wrap="square" anchor="ctr">
                      <a:normAutofit/>
                    </a:bodyPr>
                    <a:lstStyle/>
                    <a:p>
                      <a:pPr algn="l"/>
                      <a:r>
                        <a:rPr sz="630">
                          <a:solidFill>
                            <a:srgbClr val="30353A"/>
                          </a:solidFill>
                          <a:latin typeface="Arial"/>
                          <a:ea typeface="Arial"/>
                          <a:cs typeface="Arial"/>
                        </a:rPr>
                        <a:t>Concentrada em poucos fundos</a:t>
                      </a:r>
                    </a:p>
                  </a:txBody>
                  <a:tcPr marL="47625" marR="47625" marT="14288" marB="14288" anchor="ctr">
                    <a:solidFill>
                      <a:srgbClr val="F5F6F7"/>
                    </a:solidFill>
                  </a:tcPr>
                </a:tc>
              </a:tr>
              <a:tr h="455295">
                <a:tc>
                  <a:txBody>
                    <a:bodyPr wrap="square" anchor="ctr">
                      <a:normAutofit/>
                    </a:bodyPr>
                    <a:lstStyle/>
                    <a:p>
                      <a:pPr algn="l"/>
                      <a:r>
                        <a:rPr sz="630">
                          <a:solidFill>
                            <a:srgbClr val="30353A"/>
                          </a:solidFill>
                          <a:latin typeface="Arial"/>
                          <a:ea typeface="Arial"/>
                          <a:cs typeface="Arial"/>
                        </a:rPr>
                        <a:t>Imobiliário</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7</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0,05 bi</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0,02 bi · 42,2%</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0,04 bi · 79,6%</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0,05 bi · 93,7%</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0,274</a:t>
                      </a:r>
                    </a:p>
                  </a:txBody>
                  <a:tcPr marL="47625" marR="47625" marT="14288" marB="14288" anchor="ctr">
                    <a:solidFill>
                      <a:srgbClr val="FFFFFF"/>
                    </a:solidFill>
                  </a:tcPr>
                </a:tc>
                <a:tc>
                  <a:txBody>
                    <a:bodyPr wrap="square" anchor="ctr">
                      <a:normAutofit/>
                    </a:bodyPr>
                    <a:lstStyle/>
                    <a:p>
                      <a:pPr algn="r"/>
                      <a:r>
                        <a:rPr sz="630">
                          <a:solidFill>
                            <a:srgbClr val="30353A"/>
                          </a:solidFill>
                          <a:latin typeface="Arial"/>
                          <a:ea typeface="Arial"/>
                          <a:cs typeface="Arial"/>
                        </a:rPr>
                        <a:t>0,488</a:t>
                      </a:r>
                    </a:p>
                  </a:txBody>
                  <a:tcPr marL="47625" marR="47625" marT="14288" marB="14288" anchor="ctr">
                    <a:solidFill>
                      <a:srgbClr val="FFFFFF"/>
                    </a:solidFill>
                  </a:tcPr>
                </a:tc>
                <a:tc>
                  <a:txBody>
                    <a:bodyPr wrap="square" anchor="ctr">
                      <a:normAutofit/>
                    </a:bodyPr>
                    <a:lstStyle/>
                    <a:p>
                      <a:pPr algn="l"/>
                      <a:r>
                        <a:rPr sz="630">
                          <a:solidFill>
                            <a:srgbClr val="30353A"/>
                          </a:solidFill>
                          <a:latin typeface="Arial"/>
                          <a:ea typeface="Arial"/>
                          <a:cs typeface="Arial"/>
                        </a:rPr>
                        <a:t>Concentrada em poucos fundos</a:t>
                      </a:r>
                    </a:p>
                  </a:txBody>
                  <a:tcPr marL="47625" marR="47625" marT="14288" marB="14288" anchor="ctr">
                    <a:solidFill>
                      <a:srgbClr val="FFFFFF"/>
                    </a:solidFill>
                  </a:tcPr>
                </a:tc>
              </a:tr>
              <a:tr h="455295">
                <a:tc>
                  <a:txBody>
                    <a:bodyPr wrap="square" anchor="ctr">
                      <a:normAutofit/>
                    </a:bodyPr>
                    <a:lstStyle/>
                    <a:p>
                      <a:pPr algn="l"/>
                      <a:r>
                        <a:rPr sz="630">
                          <a:solidFill>
                            <a:srgbClr val="30353A"/>
                          </a:solidFill>
                          <a:latin typeface="Arial"/>
                          <a:ea typeface="Arial"/>
                          <a:cs typeface="Arial"/>
                        </a:rPr>
                        <a:t>Factoring</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1</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0,01 bi</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0,01 bi · 100,0%</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0,01 bi · 100,0%</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0,01 bi · 100,0%</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1,000</a:t>
                      </a:r>
                    </a:p>
                  </a:txBody>
                  <a:tcPr marL="47625" marR="47625" marT="14288" marB="14288" anchor="ctr">
                    <a:solidFill>
                      <a:srgbClr val="F5F6F7"/>
                    </a:solidFill>
                  </a:tcPr>
                </a:tc>
                <a:tc>
                  <a:txBody>
                    <a:bodyPr wrap="square" anchor="ctr">
                      <a:normAutofit/>
                    </a:bodyPr>
                    <a:lstStyle/>
                    <a:p>
                      <a:pPr algn="r"/>
                      <a:r>
                        <a:rPr sz="630">
                          <a:solidFill>
                            <a:srgbClr val="30353A"/>
                          </a:solidFill>
                          <a:latin typeface="Arial"/>
                          <a:ea typeface="Arial"/>
                          <a:cs typeface="Arial"/>
                        </a:rPr>
                        <a:t>0,000</a:t>
                      </a:r>
                    </a:p>
                  </a:txBody>
                  <a:tcPr marL="47625" marR="47625" marT="14288" marB="14288" anchor="ctr">
                    <a:solidFill>
                      <a:srgbClr val="F5F6F7"/>
                    </a:solidFill>
                  </a:tcPr>
                </a:tc>
                <a:tc>
                  <a:txBody>
                    <a:bodyPr wrap="square" anchor="ctr">
                      <a:normAutofit/>
                    </a:bodyPr>
                    <a:lstStyle/>
                    <a:p>
                      <a:pPr algn="l"/>
                      <a:r>
                        <a:rPr sz="630">
                          <a:solidFill>
                            <a:srgbClr val="30353A"/>
                          </a:solidFill>
                          <a:latin typeface="Arial"/>
                          <a:ea typeface="Arial"/>
                          <a:cs typeface="Arial"/>
                        </a:rPr>
                        <a:t>Concentrada em poucos fundos</a:t>
                      </a:r>
                    </a:p>
                  </a:txBody>
                  <a:tcPr marL="47625" marR="47625" marT="14288" marB="14288" anchor="ctr">
                    <a:solidFill>
                      <a:srgbClr val="F5F6F7"/>
                    </a:solidFill>
                  </a:tcPr>
                </a:tc>
              </a:tr>
            </a:tbl>
          </a:graphicData>
        </a:graphic>
      </p:graphicFrame>
      <p:sp>
        <p:nvSpPr>
          <p:cNvPr id="8" name="">
            <a:extLst xmlns:a="http://schemas.openxmlformats.org/drawingml/2006/main">
              <a:ext uri="{FF2B5EF4-FFF2-40B4-BE49-F238E27FC236}">
                <a16:creationId xmlns:a16="http://schemas.microsoft.com/office/drawing/2014/main" id="{48540AE5-C100-4EA5-BA11-C2C3AB892566}"/>
              </a:ext>
            </a:extLst>
          </p:cNvPr>
          <p:cNvSpPr>
            <a:spLocks xmlns:a="http://schemas.openxmlformats.org/drawingml/2006/main" noGrp="1"/>
          </p:cNvSpPr>
          <p:nvPr/>
        </p:nvSpPr>
        <p:spPr>
          <a:xfrm xmlns:a="http://schemas.openxmlformats.org/drawingml/2006/main">
            <a:off x="571500" y="6153150"/>
            <a:ext cx="110490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638" b="0">
                <a:solidFill>
                  <a:srgbClr val="8D9399"/>
                </a:solidFill>
                <a:latin typeface="Arial"/>
                <a:ea typeface="Arial"/>
                <a:cs typeface="Arial"/>
              </a:defRPr>
            </a:pPr>
            <a:r>
              <a:rPr sz="638" b="0">
                <a:solidFill>
                  <a:srgbClr val="8D9399"/>
                </a:solidFill>
                <a:latin typeface="Arial"/>
                <a:ea typeface="Arial"/>
                <a:cs typeface="Arial"/>
              </a:rPr>
              <a:t>Regra analítica: concentrada se HHI ≥ 0,25 ou Top 5 ≥ 70%; dispersa se HHI &lt; 0,10 e Top 5 &lt; 40%; demais casos intermediários. HHI e Gini medem concentração do valor reportado.</a:t>
            </a:r>
          </a:p>
        </p:txBody>
      </p:sp>
    </p:spTree>
    <p:extLst>
      <p:ext uri="{BB962C8B-B14F-4D97-AF65-F5344CB8AC3E}">
        <p14:creationId xmlns:p14="http://schemas.microsoft.com/office/powerpoint/2010/main" val="189345777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3A38C2B-80DE-4929-8347-FBD555665BD2}"/>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INADIMPLÊNCIA · SÍNTESE EXECUTIVA</a:t>
            </a:r>
          </a:p>
        </p:txBody>
      </p:sp>
      <p:sp>
        <p:nvSpPr>
          <p:cNvPr id="2" name="">
            <a:extLst xmlns:a="http://schemas.openxmlformats.org/drawingml/2006/main">
              <a:ext uri="{FF2B5EF4-FFF2-40B4-BE49-F238E27FC236}">
                <a16:creationId xmlns:a16="http://schemas.microsoft.com/office/drawing/2014/main" id="{8C8963BC-3122-4524-90A3-396EC5B8C0C7}"/>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956 fundos com inadimplência positiva representam 22,0% do PL ex-FIC positivo</a:t>
            </a:r>
          </a:p>
        </p:txBody>
      </p:sp>
      <p:sp>
        <p:nvSpPr>
          <p:cNvPr id="3" name="">
            <a:extLst xmlns:a="http://schemas.openxmlformats.org/drawingml/2006/main">
              <a:ext uri="{FF2B5EF4-FFF2-40B4-BE49-F238E27FC236}">
                <a16:creationId xmlns:a16="http://schemas.microsoft.com/office/drawing/2014/main" id="{C01F8FE7-7F11-494C-AB87-F32918D634C6}"/>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6CF93D1-CC50-4465-AE51-5D63369A4B70}"/>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5FF9FFD-849A-4FC9-8407-69B5BE6A2BEA}"/>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CVM, Informe Mensal FIDC, Tabelas I, II e IV, 2026-06. Universo: 3.626 fundos e R$ 880,4 bi; amostra positiva: R$ 193,4 bi.</a:t>
            </a:r>
          </a:p>
        </p:txBody>
      </p:sp>
      <p:sp>
        <p:nvSpPr>
          <p:cNvPr id="6" name="">
            <a:extLst xmlns:a="http://schemas.openxmlformats.org/drawingml/2006/main">
              <a:ext uri="{FF2B5EF4-FFF2-40B4-BE49-F238E27FC236}">
                <a16:creationId xmlns:a16="http://schemas.microsoft.com/office/drawing/2014/main" id="{D32C43A0-6B17-45D5-A428-F5E5A3B5010E}"/>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16</a:t>
            </a:r>
          </a:p>
        </p:txBody>
      </p:sp>
      <p:sp>
        <p:nvSpPr>
          <p:cNvPr id="7" name="">
            <a:extLst xmlns:a="http://schemas.openxmlformats.org/drawingml/2006/main">
              <a:ext uri="{FF2B5EF4-FFF2-40B4-BE49-F238E27FC236}">
                <a16:creationId xmlns:a16="http://schemas.microsoft.com/office/drawing/2014/main" id="{E8D9219F-1908-4C01-8253-B0D162546FC7}"/>
              </a:ext>
            </a:extLst>
          </p:cNvPr>
          <p:cNvSpPr>
            <a:spLocks xmlns:a="http://schemas.openxmlformats.org/drawingml/2006/main" noGrp="1"/>
          </p:cNvSpPr>
          <p:nvPr/>
        </p:nvSpPr>
        <p:spPr>
          <a:xfrm xmlns:a="http://schemas.openxmlformats.org/drawingml/2006/main">
            <a:off x="571500" y="1352550"/>
            <a:ext cx="1104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SUBCATEGORIAS PRIORITÁRIAS POR VALOR REPORTADO</a:t>
            </a:r>
          </a:p>
        </p:txBody>
      </p:sp>
      <p:sp>
        <p:nvSpPr>
          <p:cNvPr id="8" name="">
            <a:extLst xmlns:a="http://schemas.openxmlformats.org/drawingml/2006/main">
              <a:ext uri="{FF2B5EF4-FFF2-40B4-BE49-F238E27FC236}">
                <a16:creationId xmlns:a16="http://schemas.microsoft.com/office/drawing/2014/main" id="{9EF53247-A024-4F6C-976B-DFE47E0CA3BC}"/>
              </a:ext>
            </a:extLst>
          </p:cNvPr>
          <p:cNvSpPr>
            <a:spLocks xmlns:a="http://schemas.openxmlformats.org/drawingml/2006/main" noGrp="1"/>
          </p:cNvSpPr>
          <p:nvPr/>
        </p:nvSpPr>
        <p:spPr>
          <a:xfrm xmlns:a="http://schemas.openxmlformats.org/drawingml/2006/main">
            <a:off x="571500" y="16192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1" name=""/>
          <p:cNvGraphicFramePr/>
          <p:nvPr/>
        </p:nvGraphicFramePr>
        <p:xfrm>
          <a:off xmlns:a="http://schemas.openxmlformats.org/drawingml/2006/main" x="571500" y="1714500"/>
          <a:ext xmlns:a="http://schemas.openxmlformats.org/drawingml/2006/main" cx="11049000" cy="3095625"/>
        </p:xfrm>
        <a:graphic xmlns:a="http://schemas.openxmlformats.org/drawingml/2006/main">
          <a:graphicData uri="http://schemas.openxmlformats.org/drawingml/2006/table">
            <a:tbl>
              <a:tblPr firstRow="0" firstCol="0" lastRow="0" lastCol="0" bandRow="0" bandCol="0"/>
              <a:tblGrid>
                <a:gridCol w="666750"/>
                <a:gridCol w="1952625"/>
                <a:gridCol w="1190625"/>
                <a:gridCol w="666750"/>
                <a:gridCol w="809625"/>
                <a:gridCol w="2095500"/>
                <a:gridCol w="3667125"/>
              </a:tblGrid>
              <a:tr h="209550">
                <a:tc>
                  <a:txBody>
                    <a:bodyPr wrap="square" anchor="ctr">
                      <a:normAutofit/>
                    </a:bodyPr>
                    <a:lstStyle/>
                    <a:p>
                      <a:pPr algn="r"/>
                      <a:r>
                        <a:rPr sz="690" b="1">
                          <a:solidFill>
                            <a:srgbClr val="FFFFFF"/>
                          </a:solidFill>
                          <a:latin typeface="Arial"/>
                          <a:ea typeface="Arial"/>
                          <a:cs typeface="Arial"/>
                        </a:rPr>
                        <a:t>Prioridade</a:t>
                      </a:r>
                    </a:p>
                  </a:txBody>
                  <a:tcPr marL="47625" marR="47625" marT="19050" marB="19050" anchor="ctr">
                    <a:solidFill>
                      <a:srgbClr val="151515"/>
                    </a:solidFill>
                  </a:tcPr>
                </a:tc>
                <a:tc>
                  <a:txBody>
                    <a:bodyPr wrap="square" anchor="ctr">
                      <a:normAutofit/>
                    </a:bodyPr>
                    <a:lstStyle/>
                    <a:p>
                      <a:pPr algn="l"/>
                      <a:r>
                        <a:rPr sz="690" b="1">
                          <a:solidFill>
                            <a:srgbClr val="FFFFFF"/>
                          </a:solidFill>
                          <a:latin typeface="Arial"/>
                          <a:ea typeface="Arial"/>
                          <a:cs typeface="Arial"/>
                        </a:rPr>
                        <a:t>Subcategoria</a:t>
                      </a:r>
                    </a:p>
                  </a:txBody>
                  <a:tcPr marL="47625" marR="47625" marT="19050" marB="19050" anchor="ctr">
                    <a:solidFill>
                      <a:srgbClr val="151515"/>
                    </a:solidFill>
                  </a:tcPr>
                </a:tc>
                <a:tc>
                  <a:txBody>
                    <a:bodyPr wrap="square" anchor="ctr">
                      <a:normAutofit/>
                    </a:bodyPr>
                    <a:lstStyle/>
                    <a:p>
                      <a:pPr algn="r"/>
                      <a:r>
                        <a:rPr sz="690" b="1">
                          <a:solidFill>
                            <a:srgbClr val="FFFFFF"/>
                          </a:solidFill>
                          <a:latin typeface="Arial"/>
                          <a:ea typeface="Arial"/>
                          <a:cs typeface="Arial"/>
                        </a:rPr>
                        <a:t>Inadimplência</a:t>
                      </a:r>
                    </a:p>
                  </a:txBody>
                  <a:tcPr marL="47625" marR="47625" marT="19050" marB="19050" anchor="ctr">
                    <a:solidFill>
                      <a:srgbClr val="151515"/>
                    </a:solidFill>
                  </a:tcPr>
                </a:tc>
                <a:tc>
                  <a:txBody>
                    <a:bodyPr wrap="square" anchor="ctr">
                      <a:normAutofit/>
                    </a:bodyPr>
                    <a:lstStyle/>
                    <a:p>
                      <a:pPr algn="r"/>
                      <a:r>
                        <a:rPr sz="690" b="1">
                          <a:solidFill>
                            <a:srgbClr val="FFFFFF"/>
                          </a:solidFill>
                          <a:latin typeface="Arial"/>
                          <a:ea typeface="Arial"/>
                          <a:cs typeface="Arial"/>
                        </a:rPr>
                        <a:t>Fundos</a:t>
                      </a:r>
                    </a:p>
                  </a:txBody>
                  <a:tcPr marL="47625" marR="47625" marT="19050" marB="19050" anchor="ctr">
                    <a:solidFill>
                      <a:srgbClr val="151515"/>
                    </a:solidFill>
                  </a:tcPr>
                </a:tc>
                <a:tc>
                  <a:txBody>
                    <a:bodyPr wrap="square" anchor="ctr">
                      <a:normAutofit/>
                    </a:bodyPr>
                    <a:lstStyle/>
                    <a:p>
                      <a:pPr algn="r"/>
                      <a:r>
                        <a:rPr sz="690" b="1">
                          <a:solidFill>
                            <a:srgbClr val="FFFFFF"/>
                          </a:solidFill>
                          <a:latin typeface="Arial"/>
                          <a:ea typeface="Arial"/>
                          <a:cs typeface="Arial"/>
                        </a:rPr>
                        <a:t>Top 5</a:t>
                      </a:r>
                    </a:p>
                  </a:txBody>
                  <a:tcPr marL="47625" marR="47625" marT="19050" marB="19050" anchor="ctr">
                    <a:solidFill>
                      <a:srgbClr val="151515"/>
                    </a:solidFill>
                  </a:tcPr>
                </a:tc>
                <a:tc>
                  <a:txBody>
                    <a:bodyPr wrap="square" anchor="ctr">
                      <a:normAutofit/>
                    </a:bodyPr>
                    <a:lstStyle/>
                    <a:p>
                      <a:pPr algn="l"/>
                      <a:r>
                        <a:rPr sz="690" b="1">
                          <a:solidFill>
                            <a:srgbClr val="FFFFFF"/>
                          </a:solidFill>
                          <a:latin typeface="Arial"/>
                          <a:ea typeface="Arial"/>
                          <a:cs typeface="Arial"/>
                        </a:rPr>
                        <a:t>Leitura</a:t>
                      </a:r>
                    </a:p>
                  </a:txBody>
                  <a:tcPr marL="47625" marR="47625" marT="19050" marB="19050" anchor="ctr">
                    <a:solidFill>
                      <a:srgbClr val="151515"/>
                    </a:solidFill>
                  </a:tcPr>
                </a:tc>
                <a:tc>
                  <a:txBody>
                    <a:bodyPr wrap="square" anchor="ctr">
                      <a:normAutofit/>
                    </a:bodyPr>
                    <a:lstStyle/>
                    <a:p>
                      <a:pPr algn="l"/>
                      <a:r>
                        <a:rPr sz="690" b="1">
                          <a:solidFill>
                            <a:srgbClr val="FFFFFF"/>
                          </a:solidFill>
                          <a:latin typeface="Arial"/>
                          <a:ea typeface="Arial"/>
                          <a:cs typeface="Arial"/>
                        </a:rPr>
                        <a:t>Interpretação cautelar</a:t>
                      </a:r>
                    </a:p>
                  </a:txBody>
                  <a:tcPr marL="47625" marR="47625" marT="19050" marB="19050" anchor="ctr">
                    <a:solidFill>
                      <a:srgbClr val="151515"/>
                    </a:solidFill>
                  </a:tcPr>
                </a:tc>
              </a:tr>
              <a:tr h="577215">
                <a:tc>
                  <a:txBody>
                    <a:bodyPr wrap="square" anchor="ctr">
                      <a:normAutofit/>
                    </a:bodyPr>
                    <a:lstStyle/>
                    <a:p>
                      <a:pPr algn="r"/>
                      <a:r>
                        <a:rPr sz="750">
                          <a:solidFill>
                            <a:srgbClr val="30353A"/>
                          </a:solidFill>
                          <a:latin typeface="Arial"/>
                          <a:ea typeface="Arial"/>
                          <a:cs typeface="Arial"/>
                        </a:rPr>
                        <a:t>1</a:t>
                      </a:r>
                    </a:p>
                  </a:txBody>
                  <a:tcPr marL="47625" marR="47625" marT="14288" marB="14288" anchor="ctr">
                    <a:solidFill>
                      <a:srgbClr val="FFF1E6"/>
                    </a:solidFill>
                  </a:tcPr>
                </a:tc>
                <a:tc>
                  <a:txBody>
                    <a:bodyPr wrap="square" anchor="ctr">
                      <a:normAutofit/>
                    </a:bodyPr>
                    <a:lstStyle/>
                    <a:p>
                      <a:pPr algn="l"/>
                      <a:r>
                        <a:rPr sz="750">
                          <a:solidFill>
                            <a:srgbClr val="30353A"/>
                          </a:solidFill>
                          <a:latin typeface="Arial"/>
                          <a:ea typeface="Arial"/>
                          <a:cs typeface="Arial"/>
                        </a:rPr>
                        <a:t>Financeiro</a:t>
                      </a:r>
                    </a:p>
                  </a:txBody>
                  <a:tcPr marL="47625" marR="47625" marT="14288" marB="14288" anchor="ctr">
                    <a:solidFill>
                      <a:srgbClr val="FFF1E6"/>
                    </a:solidFill>
                  </a:tcPr>
                </a:tc>
                <a:tc>
                  <a:txBody>
                    <a:bodyPr wrap="square" anchor="ctr">
                      <a:normAutofit/>
                    </a:bodyPr>
                    <a:lstStyle/>
                    <a:p>
                      <a:pPr algn="r"/>
                      <a:r>
                        <a:rPr sz="750">
                          <a:solidFill>
                            <a:srgbClr val="30353A"/>
                          </a:solidFill>
                          <a:latin typeface="Arial"/>
                          <a:ea typeface="Arial"/>
                          <a:cs typeface="Arial"/>
                        </a:rPr>
                        <a:t>R$ 16,67 bi</a:t>
                      </a:r>
                    </a:p>
                  </a:txBody>
                  <a:tcPr marL="47625" marR="47625" marT="14288" marB="14288" anchor="ctr">
                    <a:solidFill>
                      <a:srgbClr val="FFF1E6"/>
                    </a:solidFill>
                  </a:tcPr>
                </a:tc>
                <a:tc>
                  <a:txBody>
                    <a:bodyPr wrap="square" anchor="ctr">
                      <a:normAutofit/>
                    </a:bodyPr>
                    <a:lstStyle/>
                    <a:p>
                      <a:pPr algn="r"/>
                      <a:r>
                        <a:rPr sz="750">
                          <a:solidFill>
                            <a:srgbClr val="30353A"/>
                          </a:solidFill>
                          <a:latin typeface="Arial"/>
                          <a:ea typeface="Arial"/>
                          <a:cs typeface="Arial"/>
                        </a:rPr>
                        <a:t>649</a:t>
                      </a:r>
                    </a:p>
                  </a:txBody>
                  <a:tcPr marL="47625" marR="47625" marT="14288" marB="14288" anchor="ctr">
                    <a:solidFill>
                      <a:srgbClr val="FFF1E6"/>
                    </a:solidFill>
                  </a:tcPr>
                </a:tc>
                <a:tc>
                  <a:txBody>
                    <a:bodyPr wrap="square" anchor="ctr">
                      <a:normAutofit/>
                    </a:bodyPr>
                    <a:lstStyle/>
                    <a:p>
                      <a:pPr algn="r"/>
                      <a:r>
                        <a:rPr sz="750">
                          <a:solidFill>
                            <a:srgbClr val="30353A"/>
                          </a:solidFill>
                          <a:latin typeface="Arial"/>
                          <a:ea typeface="Arial"/>
                          <a:cs typeface="Arial"/>
                        </a:rPr>
                        <a:t>32,7%</a:t>
                      </a:r>
                    </a:p>
                  </a:txBody>
                  <a:tcPr marL="47625" marR="47625" marT="14288" marB="14288" anchor="ctr">
                    <a:solidFill>
                      <a:srgbClr val="FFF1E6"/>
                    </a:solidFill>
                  </a:tcPr>
                </a:tc>
                <a:tc>
                  <a:txBody>
                    <a:bodyPr wrap="square" anchor="ctr">
                      <a:normAutofit/>
                    </a:bodyPr>
                    <a:lstStyle/>
                    <a:p>
                      <a:pPr algn="l"/>
                      <a:r>
                        <a:rPr sz="750">
                          <a:solidFill>
                            <a:srgbClr val="30353A"/>
                          </a:solidFill>
                          <a:latin typeface="Arial"/>
                          <a:ea typeface="Arial"/>
                          <a:cs typeface="Arial"/>
                        </a:rPr>
                        <a:t>Dispersa entre reportantes</a:t>
                      </a:r>
                    </a:p>
                  </a:txBody>
                  <a:tcPr marL="47625" marR="47625" marT="14288" marB="14288" anchor="ctr">
                    <a:solidFill>
                      <a:srgbClr val="FFF1E6"/>
                    </a:solidFill>
                  </a:tcPr>
                </a:tc>
                <a:tc>
                  <a:txBody>
                    <a:bodyPr wrap="square" anchor="ctr">
                      <a:normAutofit/>
                    </a:bodyPr>
                    <a:lstStyle/>
                    <a:p>
                      <a:pPr algn="l"/>
                      <a:r>
                        <a:rPr sz="750">
                          <a:solidFill>
                            <a:srgbClr val="30353A"/>
                          </a:solidFill>
                          <a:latin typeface="Arial"/>
                          <a:ea typeface="Arial"/>
                          <a:cs typeface="Arial"/>
                        </a:rPr>
                        <a:t>Sinal distribuído no subsetor reportante; não comprova risco sistêmico.</a:t>
                      </a:r>
                    </a:p>
                  </a:txBody>
                  <a:tcPr marL="47625" marR="47625" marT="14288" marB="14288" anchor="ctr">
                    <a:solidFill>
                      <a:srgbClr val="FFF1E6"/>
                    </a:solidFill>
                  </a:tcPr>
                </a:tc>
              </a:tr>
              <a:tr h="577215">
                <a:tc>
                  <a:txBody>
                    <a:bodyPr wrap="square" anchor="ctr">
                      <a:normAutofit/>
                    </a:bodyPr>
                    <a:lstStyle/>
                    <a:p>
                      <a:pPr algn="r"/>
                      <a:r>
                        <a:rPr sz="750">
                          <a:solidFill>
                            <a:srgbClr val="30353A"/>
                          </a:solidFill>
                          <a:latin typeface="Arial"/>
                          <a:ea typeface="Arial"/>
                          <a:cs typeface="Arial"/>
                        </a:rPr>
                        <a:t>2</a:t>
                      </a:r>
                    </a:p>
                  </a:txBody>
                  <a:tcPr marL="47625" marR="47625" marT="14288" marB="14288" anchor="ctr">
                    <a:solidFill>
                      <a:srgbClr val="F5F6F7"/>
                    </a:solidFill>
                  </a:tcPr>
                </a:tc>
                <a:tc>
                  <a:txBody>
                    <a:bodyPr wrap="square" anchor="ctr">
                      <a:normAutofit/>
                    </a:bodyPr>
                    <a:lstStyle/>
                    <a:p>
                      <a:pPr algn="l"/>
                      <a:r>
                        <a:rPr sz="750">
                          <a:solidFill>
                            <a:srgbClr val="30353A"/>
                          </a:solidFill>
                          <a:latin typeface="Arial"/>
                          <a:ea typeface="Arial"/>
                          <a:cs typeface="Arial"/>
                        </a:rPr>
                        <a:t>Comercial</a:t>
                      </a:r>
                    </a:p>
                  </a:txBody>
                  <a:tcPr marL="47625" marR="47625" marT="14288" marB="14288" anchor="ctr">
                    <a:solidFill>
                      <a:srgbClr val="F5F6F7"/>
                    </a:solidFill>
                  </a:tcPr>
                </a:tc>
                <a:tc>
                  <a:txBody>
                    <a:bodyPr wrap="square" anchor="ctr">
                      <a:normAutofit/>
                    </a:bodyPr>
                    <a:lstStyle/>
                    <a:p>
                      <a:pPr algn="r"/>
                      <a:r>
                        <a:rPr sz="750">
                          <a:solidFill>
                            <a:srgbClr val="30353A"/>
                          </a:solidFill>
                          <a:latin typeface="Arial"/>
                          <a:ea typeface="Arial"/>
                          <a:cs typeface="Arial"/>
                        </a:rPr>
                        <a:t>R$ 2,81 bi</a:t>
                      </a:r>
                    </a:p>
                  </a:txBody>
                  <a:tcPr marL="47625" marR="47625" marT="14288" marB="14288" anchor="ctr">
                    <a:solidFill>
                      <a:srgbClr val="F5F6F7"/>
                    </a:solidFill>
                  </a:tcPr>
                </a:tc>
                <a:tc>
                  <a:txBody>
                    <a:bodyPr wrap="square" anchor="ctr">
                      <a:normAutofit/>
                    </a:bodyPr>
                    <a:lstStyle/>
                    <a:p>
                      <a:pPr algn="r"/>
                      <a:r>
                        <a:rPr sz="750">
                          <a:solidFill>
                            <a:srgbClr val="30353A"/>
                          </a:solidFill>
                          <a:latin typeface="Arial"/>
                          <a:ea typeface="Arial"/>
                          <a:cs typeface="Arial"/>
                        </a:rPr>
                        <a:t>129</a:t>
                      </a:r>
                    </a:p>
                  </a:txBody>
                  <a:tcPr marL="47625" marR="47625" marT="14288" marB="14288" anchor="ctr">
                    <a:solidFill>
                      <a:srgbClr val="F5F6F7"/>
                    </a:solidFill>
                  </a:tcPr>
                </a:tc>
                <a:tc>
                  <a:txBody>
                    <a:bodyPr wrap="square" anchor="ctr">
                      <a:normAutofit/>
                    </a:bodyPr>
                    <a:lstStyle/>
                    <a:p>
                      <a:pPr algn="r"/>
                      <a:r>
                        <a:rPr sz="750">
                          <a:solidFill>
                            <a:srgbClr val="30353A"/>
                          </a:solidFill>
                          <a:latin typeface="Arial"/>
                          <a:ea typeface="Arial"/>
                          <a:cs typeface="Arial"/>
                        </a:rPr>
                        <a:t>74,8%</a:t>
                      </a:r>
                    </a:p>
                  </a:txBody>
                  <a:tcPr marL="47625" marR="47625" marT="14288" marB="14288" anchor="ctr">
                    <a:solidFill>
                      <a:srgbClr val="F5F6F7"/>
                    </a:solidFill>
                  </a:tcPr>
                </a:tc>
                <a:tc>
                  <a:txBody>
                    <a:bodyPr wrap="square" anchor="ctr">
                      <a:normAutofit/>
                    </a:bodyPr>
                    <a:lstStyle/>
                    <a:p>
                      <a:pPr algn="l"/>
                      <a:r>
                        <a:rPr sz="750">
                          <a:solidFill>
                            <a:srgbClr val="30353A"/>
                          </a:solidFill>
                          <a:latin typeface="Arial"/>
                          <a:ea typeface="Arial"/>
                          <a:cs typeface="Arial"/>
                        </a:rPr>
                        <a:t>Concentrada em poucos fundos</a:t>
                      </a:r>
                    </a:p>
                  </a:txBody>
                  <a:tcPr marL="47625" marR="47625" marT="14288" marB="14288" anchor="ctr">
                    <a:solidFill>
                      <a:srgbClr val="F5F6F7"/>
                    </a:solidFill>
                  </a:tcPr>
                </a:tc>
                <a:tc>
                  <a:txBody>
                    <a:bodyPr wrap="square" anchor="ctr">
                      <a:normAutofit/>
                    </a:bodyPr>
                    <a:lstStyle/>
                    <a:p>
                      <a:pPr algn="l"/>
                      <a:r>
                        <a:rPr sz="750">
                          <a:solidFill>
                            <a:srgbClr val="30353A"/>
                          </a:solidFill>
                          <a:latin typeface="Arial"/>
                          <a:ea typeface="Arial"/>
                          <a:cs typeface="Arial"/>
                        </a:rPr>
                        <a:t>Sinal compatível com casos específicos; requer validação fundo a fundo.</a:t>
                      </a:r>
                    </a:p>
                  </a:txBody>
                  <a:tcPr marL="47625" marR="47625" marT="14288" marB="14288" anchor="ctr">
                    <a:solidFill>
                      <a:srgbClr val="F5F6F7"/>
                    </a:solidFill>
                  </a:tcPr>
                </a:tc>
              </a:tr>
              <a:tr h="577215">
                <a:tc>
                  <a:txBody>
                    <a:bodyPr wrap="square" anchor="ctr">
                      <a:normAutofit/>
                    </a:bodyPr>
                    <a:lstStyle/>
                    <a:p>
                      <a:pPr algn="r"/>
                      <a:r>
                        <a:rPr sz="750">
                          <a:solidFill>
                            <a:srgbClr val="30353A"/>
                          </a:solidFill>
                          <a:latin typeface="Arial"/>
                          <a:ea typeface="Arial"/>
                          <a:cs typeface="Arial"/>
                        </a:rPr>
                        <a:t>3</a:t>
                      </a:r>
                    </a:p>
                  </a:txBody>
                  <a:tcPr marL="47625" marR="47625" marT="14288" marB="14288" anchor="ctr">
                    <a:solidFill>
                      <a:srgbClr val="FFFFFF"/>
                    </a:solidFill>
                  </a:tcPr>
                </a:tc>
                <a:tc>
                  <a:txBody>
                    <a:bodyPr wrap="square" anchor="ctr">
                      <a:normAutofit/>
                    </a:bodyPr>
                    <a:lstStyle/>
                    <a:p>
                      <a:pPr algn="l"/>
                      <a:r>
                        <a:rPr sz="750">
                          <a:solidFill>
                            <a:srgbClr val="30353A"/>
                          </a:solidFill>
                          <a:latin typeface="Arial"/>
                          <a:ea typeface="Arial"/>
                          <a:cs typeface="Arial"/>
                        </a:rPr>
                        <a:t>Cartão de crédito</a:t>
                      </a:r>
                    </a:p>
                  </a:txBody>
                  <a:tcPr marL="47625" marR="47625" marT="14288" marB="14288" anchor="ctr">
                    <a:solidFill>
                      <a:srgbClr val="FFFFFF"/>
                    </a:solidFill>
                  </a:tcPr>
                </a:tc>
                <a:tc>
                  <a:txBody>
                    <a:bodyPr wrap="square" anchor="ctr">
                      <a:normAutofit/>
                    </a:bodyPr>
                    <a:lstStyle/>
                    <a:p>
                      <a:pPr algn="r"/>
                      <a:r>
                        <a:rPr sz="750">
                          <a:solidFill>
                            <a:srgbClr val="30353A"/>
                          </a:solidFill>
                          <a:latin typeface="Arial"/>
                          <a:ea typeface="Arial"/>
                          <a:cs typeface="Arial"/>
                        </a:rPr>
                        <a:t>R$ 0,90 bi</a:t>
                      </a:r>
                    </a:p>
                  </a:txBody>
                  <a:tcPr marL="47625" marR="47625" marT="14288" marB="14288" anchor="ctr">
                    <a:solidFill>
                      <a:srgbClr val="FFFFFF"/>
                    </a:solidFill>
                  </a:tcPr>
                </a:tc>
                <a:tc>
                  <a:txBody>
                    <a:bodyPr wrap="square" anchor="ctr">
                      <a:normAutofit/>
                    </a:bodyPr>
                    <a:lstStyle/>
                    <a:p>
                      <a:pPr algn="r"/>
                      <a:r>
                        <a:rPr sz="750">
                          <a:solidFill>
                            <a:srgbClr val="30353A"/>
                          </a:solidFill>
                          <a:latin typeface="Arial"/>
                          <a:ea typeface="Arial"/>
                          <a:cs typeface="Arial"/>
                        </a:rPr>
                        <a:t>12</a:t>
                      </a:r>
                    </a:p>
                  </a:txBody>
                  <a:tcPr marL="47625" marR="47625" marT="14288" marB="14288" anchor="ctr">
                    <a:solidFill>
                      <a:srgbClr val="FFFFFF"/>
                    </a:solidFill>
                  </a:tcPr>
                </a:tc>
                <a:tc>
                  <a:txBody>
                    <a:bodyPr wrap="square" anchor="ctr">
                      <a:normAutofit/>
                    </a:bodyPr>
                    <a:lstStyle/>
                    <a:p>
                      <a:pPr algn="r"/>
                      <a:r>
                        <a:rPr sz="750">
                          <a:solidFill>
                            <a:srgbClr val="30353A"/>
                          </a:solidFill>
                          <a:latin typeface="Arial"/>
                          <a:ea typeface="Arial"/>
                          <a:cs typeface="Arial"/>
                        </a:rPr>
                        <a:t>93,6%</a:t>
                      </a:r>
                    </a:p>
                  </a:txBody>
                  <a:tcPr marL="47625" marR="47625" marT="14288" marB="14288" anchor="ctr">
                    <a:solidFill>
                      <a:srgbClr val="FFFFFF"/>
                    </a:solidFill>
                  </a:tcPr>
                </a:tc>
                <a:tc>
                  <a:txBody>
                    <a:bodyPr wrap="square" anchor="ctr">
                      <a:normAutofit/>
                    </a:bodyPr>
                    <a:lstStyle/>
                    <a:p>
                      <a:pPr algn="l"/>
                      <a:r>
                        <a:rPr sz="750">
                          <a:solidFill>
                            <a:srgbClr val="30353A"/>
                          </a:solidFill>
                          <a:latin typeface="Arial"/>
                          <a:ea typeface="Arial"/>
                          <a:cs typeface="Arial"/>
                        </a:rPr>
                        <a:t>Concentrada em poucos fundos</a:t>
                      </a:r>
                    </a:p>
                  </a:txBody>
                  <a:tcPr marL="47625" marR="47625" marT="14288" marB="14288" anchor="ctr">
                    <a:solidFill>
                      <a:srgbClr val="FFFFFF"/>
                    </a:solidFill>
                  </a:tcPr>
                </a:tc>
                <a:tc>
                  <a:txBody>
                    <a:bodyPr wrap="square" anchor="ctr">
                      <a:normAutofit/>
                    </a:bodyPr>
                    <a:lstStyle/>
                    <a:p>
                      <a:pPr algn="l"/>
                      <a:r>
                        <a:rPr sz="750">
                          <a:solidFill>
                            <a:srgbClr val="30353A"/>
                          </a:solidFill>
                          <a:latin typeface="Arial"/>
                          <a:ea typeface="Arial"/>
                          <a:cs typeface="Arial"/>
                        </a:rPr>
                        <a:t>Sinal compatível com casos específicos; requer validação fundo a fundo.</a:t>
                      </a:r>
                    </a:p>
                  </a:txBody>
                  <a:tcPr marL="47625" marR="47625" marT="14288" marB="14288" anchor="ctr">
                    <a:solidFill>
                      <a:srgbClr val="FFFFFF"/>
                    </a:solidFill>
                  </a:tcPr>
                </a:tc>
              </a:tr>
              <a:tr h="577215">
                <a:tc>
                  <a:txBody>
                    <a:bodyPr wrap="square" anchor="ctr">
                      <a:normAutofit/>
                    </a:bodyPr>
                    <a:lstStyle/>
                    <a:p>
                      <a:pPr algn="r"/>
                      <a:r>
                        <a:rPr sz="750">
                          <a:solidFill>
                            <a:srgbClr val="30353A"/>
                          </a:solidFill>
                          <a:latin typeface="Arial"/>
                          <a:ea typeface="Arial"/>
                          <a:cs typeface="Arial"/>
                        </a:rPr>
                        <a:t>4</a:t>
                      </a:r>
                    </a:p>
                  </a:txBody>
                  <a:tcPr marL="47625" marR="47625" marT="14288" marB="14288" anchor="ctr">
                    <a:solidFill>
                      <a:srgbClr val="F5F6F7"/>
                    </a:solidFill>
                  </a:tcPr>
                </a:tc>
                <a:tc>
                  <a:txBody>
                    <a:bodyPr wrap="square" anchor="ctr">
                      <a:normAutofit/>
                    </a:bodyPr>
                    <a:lstStyle/>
                    <a:p>
                      <a:pPr algn="l"/>
                      <a:r>
                        <a:rPr sz="750">
                          <a:solidFill>
                            <a:srgbClr val="30353A"/>
                          </a:solidFill>
                          <a:latin typeface="Arial"/>
                          <a:ea typeface="Arial"/>
                          <a:cs typeface="Arial"/>
                        </a:rPr>
                        <a:t>Setor público</a:t>
                      </a:r>
                    </a:p>
                  </a:txBody>
                  <a:tcPr marL="47625" marR="47625" marT="14288" marB="14288" anchor="ctr">
                    <a:solidFill>
                      <a:srgbClr val="F5F6F7"/>
                    </a:solidFill>
                  </a:tcPr>
                </a:tc>
                <a:tc>
                  <a:txBody>
                    <a:bodyPr wrap="square" anchor="ctr">
                      <a:normAutofit/>
                    </a:bodyPr>
                    <a:lstStyle/>
                    <a:p>
                      <a:pPr algn="r"/>
                      <a:r>
                        <a:rPr sz="750">
                          <a:solidFill>
                            <a:srgbClr val="30353A"/>
                          </a:solidFill>
                          <a:latin typeface="Arial"/>
                          <a:ea typeface="Arial"/>
                          <a:cs typeface="Arial"/>
                        </a:rPr>
                        <a:t>R$ 0,66 bi</a:t>
                      </a:r>
                    </a:p>
                  </a:txBody>
                  <a:tcPr marL="47625" marR="47625" marT="14288" marB="14288" anchor="ctr">
                    <a:solidFill>
                      <a:srgbClr val="F5F6F7"/>
                    </a:solidFill>
                  </a:tcPr>
                </a:tc>
                <a:tc>
                  <a:txBody>
                    <a:bodyPr wrap="square" anchor="ctr">
                      <a:normAutofit/>
                    </a:bodyPr>
                    <a:lstStyle/>
                    <a:p>
                      <a:pPr algn="r"/>
                      <a:r>
                        <a:rPr sz="750">
                          <a:solidFill>
                            <a:srgbClr val="30353A"/>
                          </a:solidFill>
                          <a:latin typeface="Arial"/>
                          <a:ea typeface="Arial"/>
                          <a:cs typeface="Arial"/>
                        </a:rPr>
                        <a:t>26</a:t>
                      </a:r>
                    </a:p>
                  </a:txBody>
                  <a:tcPr marL="47625" marR="47625" marT="14288" marB="14288" anchor="ctr">
                    <a:solidFill>
                      <a:srgbClr val="F5F6F7"/>
                    </a:solidFill>
                  </a:tcPr>
                </a:tc>
                <a:tc>
                  <a:txBody>
                    <a:bodyPr wrap="square" anchor="ctr">
                      <a:normAutofit/>
                    </a:bodyPr>
                    <a:lstStyle/>
                    <a:p>
                      <a:pPr algn="r"/>
                      <a:r>
                        <a:rPr sz="750">
                          <a:solidFill>
                            <a:srgbClr val="30353A"/>
                          </a:solidFill>
                          <a:latin typeface="Arial"/>
                          <a:ea typeface="Arial"/>
                          <a:cs typeface="Arial"/>
                        </a:rPr>
                        <a:t>89,0%</a:t>
                      </a:r>
                    </a:p>
                  </a:txBody>
                  <a:tcPr marL="47625" marR="47625" marT="14288" marB="14288" anchor="ctr">
                    <a:solidFill>
                      <a:srgbClr val="F5F6F7"/>
                    </a:solidFill>
                  </a:tcPr>
                </a:tc>
                <a:tc>
                  <a:txBody>
                    <a:bodyPr wrap="square" anchor="ctr">
                      <a:normAutofit/>
                    </a:bodyPr>
                    <a:lstStyle/>
                    <a:p>
                      <a:pPr algn="l"/>
                      <a:r>
                        <a:rPr sz="750">
                          <a:solidFill>
                            <a:srgbClr val="30353A"/>
                          </a:solidFill>
                          <a:latin typeface="Arial"/>
                          <a:ea typeface="Arial"/>
                          <a:cs typeface="Arial"/>
                        </a:rPr>
                        <a:t>Concentrada em poucos fundos</a:t>
                      </a:r>
                    </a:p>
                  </a:txBody>
                  <a:tcPr marL="47625" marR="47625" marT="14288" marB="14288" anchor="ctr">
                    <a:solidFill>
                      <a:srgbClr val="F5F6F7"/>
                    </a:solidFill>
                  </a:tcPr>
                </a:tc>
                <a:tc>
                  <a:txBody>
                    <a:bodyPr wrap="square" anchor="ctr">
                      <a:normAutofit/>
                    </a:bodyPr>
                    <a:lstStyle/>
                    <a:p>
                      <a:pPr algn="l"/>
                      <a:r>
                        <a:rPr sz="750">
                          <a:solidFill>
                            <a:srgbClr val="30353A"/>
                          </a:solidFill>
                          <a:latin typeface="Arial"/>
                          <a:ea typeface="Arial"/>
                          <a:cs typeface="Arial"/>
                        </a:rPr>
                        <a:t>Sinal compatível com casos específicos; requer validação fundo a fundo.</a:t>
                      </a:r>
                    </a:p>
                  </a:txBody>
                  <a:tcPr marL="47625" marR="47625" marT="14288" marB="14288" anchor="ctr">
                    <a:solidFill>
                      <a:srgbClr val="F5F6F7"/>
                    </a:solidFill>
                  </a:tcPr>
                </a:tc>
              </a:tr>
              <a:tr h="577215">
                <a:tc>
                  <a:txBody>
                    <a:bodyPr wrap="square" anchor="ctr">
                      <a:normAutofit/>
                    </a:bodyPr>
                    <a:lstStyle/>
                    <a:p>
                      <a:pPr algn="r"/>
                      <a:r>
                        <a:rPr sz="750">
                          <a:solidFill>
                            <a:srgbClr val="30353A"/>
                          </a:solidFill>
                          <a:latin typeface="Arial"/>
                          <a:ea typeface="Arial"/>
                          <a:cs typeface="Arial"/>
                        </a:rPr>
                        <a:t>5</a:t>
                      </a:r>
                    </a:p>
                  </a:txBody>
                  <a:tcPr marL="47625" marR="47625" marT="14288" marB="14288" anchor="ctr">
                    <a:solidFill>
                      <a:srgbClr val="FFFFFF"/>
                    </a:solidFill>
                  </a:tcPr>
                </a:tc>
                <a:tc>
                  <a:txBody>
                    <a:bodyPr wrap="square" anchor="ctr">
                      <a:normAutofit/>
                    </a:bodyPr>
                    <a:lstStyle/>
                    <a:p>
                      <a:pPr algn="l"/>
                      <a:r>
                        <a:rPr sz="750">
                          <a:solidFill>
                            <a:srgbClr val="30353A"/>
                          </a:solidFill>
                          <a:latin typeface="Arial"/>
                          <a:ea typeface="Arial"/>
                          <a:cs typeface="Arial"/>
                        </a:rPr>
                        <a:t>Industrial</a:t>
                      </a:r>
                    </a:p>
                  </a:txBody>
                  <a:tcPr marL="47625" marR="47625" marT="14288" marB="14288" anchor="ctr">
                    <a:solidFill>
                      <a:srgbClr val="FFFFFF"/>
                    </a:solidFill>
                  </a:tcPr>
                </a:tc>
                <a:tc>
                  <a:txBody>
                    <a:bodyPr wrap="square" anchor="ctr">
                      <a:normAutofit/>
                    </a:bodyPr>
                    <a:lstStyle/>
                    <a:p>
                      <a:pPr algn="r"/>
                      <a:r>
                        <a:rPr sz="750">
                          <a:solidFill>
                            <a:srgbClr val="30353A"/>
                          </a:solidFill>
                          <a:latin typeface="Arial"/>
                          <a:ea typeface="Arial"/>
                          <a:cs typeface="Arial"/>
                        </a:rPr>
                        <a:t>R$ 0,65 bi</a:t>
                      </a:r>
                    </a:p>
                  </a:txBody>
                  <a:tcPr marL="47625" marR="47625" marT="14288" marB="14288" anchor="ctr">
                    <a:solidFill>
                      <a:srgbClr val="FFFFFF"/>
                    </a:solidFill>
                  </a:tcPr>
                </a:tc>
                <a:tc>
                  <a:txBody>
                    <a:bodyPr wrap="square" anchor="ctr">
                      <a:normAutofit/>
                    </a:bodyPr>
                    <a:lstStyle/>
                    <a:p>
                      <a:pPr algn="r"/>
                      <a:r>
                        <a:rPr sz="750">
                          <a:solidFill>
                            <a:srgbClr val="30353A"/>
                          </a:solidFill>
                          <a:latin typeface="Arial"/>
                          <a:ea typeface="Arial"/>
                          <a:cs typeface="Arial"/>
                        </a:rPr>
                        <a:t>32</a:t>
                      </a:r>
                    </a:p>
                  </a:txBody>
                  <a:tcPr marL="47625" marR="47625" marT="14288" marB="14288" anchor="ctr">
                    <a:solidFill>
                      <a:srgbClr val="FFFFFF"/>
                    </a:solidFill>
                  </a:tcPr>
                </a:tc>
                <a:tc>
                  <a:txBody>
                    <a:bodyPr wrap="square" anchor="ctr">
                      <a:normAutofit/>
                    </a:bodyPr>
                    <a:lstStyle/>
                    <a:p>
                      <a:pPr algn="r"/>
                      <a:r>
                        <a:rPr sz="750">
                          <a:solidFill>
                            <a:srgbClr val="30353A"/>
                          </a:solidFill>
                          <a:latin typeface="Arial"/>
                          <a:ea typeface="Arial"/>
                          <a:cs typeface="Arial"/>
                        </a:rPr>
                        <a:t>81,6%</a:t>
                      </a:r>
                    </a:p>
                  </a:txBody>
                  <a:tcPr marL="47625" marR="47625" marT="14288" marB="14288" anchor="ctr">
                    <a:solidFill>
                      <a:srgbClr val="FFFFFF"/>
                    </a:solidFill>
                  </a:tcPr>
                </a:tc>
                <a:tc>
                  <a:txBody>
                    <a:bodyPr wrap="square" anchor="ctr">
                      <a:normAutofit/>
                    </a:bodyPr>
                    <a:lstStyle/>
                    <a:p>
                      <a:pPr algn="l"/>
                      <a:r>
                        <a:rPr sz="750">
                          <a:solidFill>
                            <a:srgbClr val="30353A"/>
                          </a:solidFill>
                          <a:latin typeface="Arial"/>
                          <a:ea typeface="Arial"/>
                          <a:cs typeface="Arial"/>
                        </a:rPr>
                        <a:t>Concentrada em poucos fundos</a:t>
                      </a:r>
                    </a:p>
                  </a:txBody>
                  <a:tcPr marL="47625" marR="47625" marT="14288" marB="14288" anchor="ctr">
                    <a:solidFill>
                      <a:srgbClr val="FFFFFF"/>
                    </a:solidFill>
                  </a:tcPr>
                </a:tc>
                <a:tc>
                  <a:txBody>
                    <a:bodyPr wrap="square" anchor="ctr">
                      <a:normAutofit/>
                    </a:bodyPr>
                    <a:lstStyle/>
                    <a:p>
                      <a:pPr algn="l"/>
                      <a:r>
                        <a:rPr sz="750">
                          <a:solidFill>
                            <a:srgbClr val="30353A"/>
                          </a:solidFill>
                          <a:latin typeface="Arial"/>
                          <a:ea typeface="Arial"/>
                          <a:cs typeface="Arial"/>
                        </a:rPr>
                        <a:t>Sinal compatível com casos específicos; requer validação fundo a fundo.</a:t>
                      </a:r>
                    </a:p>
                  </a:txBody>
                  <a:tcPr marL="47625" marR="47625" marT="14288" marB="14288"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23998AC2-91DF-4993-973C-9BB4E215E33E}"/>
              </a:ext>
            </a:extLst>
          </p:cNvPr>
          <p:cNvSpPr>
            <a:spLocks xmlns:a="http://schemas.openxmlformats.org/drawingml/2006/main" noGrp="1"/>
          </p:cNvSpPr>
          <p:nvPr/>
        </p:nvSpPr>
        <p:spPr>
          <a:xfrm xmlns:a="http://schemas.openxmlformats.org/drawingml/2006/main">
            <a:off x="571500" y="50482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4210ACF-5AA7-4FC5-B278-86F52A987E53}"/>
              </a:ext>
            </a:extLst>
          </p:cNvPr>
          <p:cNvSpPr>
            <a:spLocks xmlns:a="http://schemas.openxmlformats.org/drawingml/2006/main" noGrp="1"/>
          </p:cNvSpPr>
          <p:nvPr/>
        </p:nvSpPr>
        <p:spPr>
          <a:xfrm xmlns:a="http://schemas.openxmlformats.org/drawingml/2006/main">
            <a:off x="571500" y="5219700"/>
            <a:ext cx="1104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00" b="0">
                <a:solidFill>
                  <a:srgbClr val="30353A"/>
                </a:solidFill>
                <a:latin typeface="Arial"/>
                <a:ea typeface="Arial"/>
                <a:cs typeface="Arial"/>
              </a:defRPr>
            </a:pPr>
            <a:r>
              <a:rPr sz="900" b="0">
                <a:solidFill>
                  <a:srgbClr val="30353A"/>
                </a:solidFill>
                <a:latin typeface="Arial"/>
                <a:ea typeface="Arial"/>
                <a:cs typeface="Arial"/>
              </a:rPr>
              <a:t>Cobertura: 2.066 fundos na coorte tipo único (R$ 608,7 bi); 956 reportam valor positivo. A comparação com o universo de R$ 880,4 bi delimita a amostra.</a:t>
            </a:r>
          </a:p>
        </p:txBody>
      </p:sp>
      <p:sp>
        <p:nvSpPr>
          <p:cNvPr id="12" name="">
            <a:extLst xmlns:a="http://schemas.openxmlformats.org/drawingml/2006/main">
              <a:ext uri="{FF2B5EF4-FFF2-40B4-BE49-F238E27FC236}">
                <a16:creationId xmlns:a16="http://schemas.microsoft.com/office/drawing/2014/main" id="{F30F7869-4775-4F98-92F0-4B6319BCE39A}"/>
              </a:ext>
            </a:extLst>
          </p:cNvPr>
          <p:cNvSpPr>
            <a:spLocks xmlns:a="http://schemas.openxmlformats.org/drawingml/2006/main" noGrp="1"/>
          </p:cNvSpPr>
          <p:nvPr/>
        </p:nvSpPr>
        <p:spPr>
          <a:xfrm xmlns:a="http://schemas.openxmlformats.org/drawingml/2006/main">
            <a:off x="571500" y="57340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Limitações: zeros e ausências de reporte ficam fora da dispersão; atrasos e inconsistências podem reduzir a cobertura. Concentração sugere prioridade de validação e não identifica causalidade nem risco sistêmico por si só.</a:t>
            </a:r>
          </a:p>
        </p:txBody>
      </p:sp>
    </p:spTree>
    <p:extLst>
      <p:ext uri="{BB962C8B-B14F-4D97-AF65-F5344CB8AC3E}">
        <p14:creationId xmlns:p14="http://schemas.microsoft.com/office/powerpoint/2010/main" val="145490809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B50F2EA-7B4D-465B-87DB-8E7A0503B66F}"/>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PRESTADORES · RANKING E CONCENTRAÇÃO</a:t>
            </a:r>
          </a:p>
        </p:txBody>
      </p:sp>
      <p:sp>
        <p:nvSpPr>
          <p:cNvPr id="2" name="">
            <a:extLst xmlns:a="http://schemas.openxmlformats.org/drawingml/2006/main">
              <a:ext uri="{FF2B5EF4-FFF2-40B4-BE49-F238E27FC236}">
                <a16:creationId xmlns:a16="http://schemas.microsoft.com/office/drawing/2014/main" id="{47BAA190-763F-4164-8D84-B863D34894C9}"/>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Top 10 mantém cerca de 72% em administração e custódia; gestão subiu a 36,4%</a:t>
            </a:r>
          </a:p>
        </p:txBody>
      </p:sp>
      <p:sp>
        <p:nvSpPr>
          <p:cNvPr id="3" name="">
            <a:extLst xmlns:a="http://schemas.openxmlformats.org/drawingml/2006/main">
              <a:ext uri="{FF2B5EF4-FFF2-40B4-BE49-F238E27FC236}">
                <a16:creationId xmlns:a16="http://schemas.microsoft.com/office/drawing/2014/main" id="{EB0F09D3-CB9D-4A70-BD04-17727C57DB44}"/>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814256F-2D72-4AB9-93C8-A5E82FFA1B22}"/>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6F9BE61-8D9B-4DD5-882A-736BF2873FD7}"/>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 dez/25 e jun/26. PL ex-FIC; Sistema Petrobras e TAPSO excluídos do numerador e denominador. Administração observada; gestão/custódia históricas reconstruídas com cadastro vigente.</a:t>
            </a:r>
          </a:p>
        </p:txBody>
      </p:sp>
      <p:sp>
        <p:nvSpPr>
          <p:cNvPr id="6" name="">
            <a:extLst xmlns:a="http://schemas.openxmlformats.org/drawingml/2006/main">
              <a:ext uri="{FF2B5EF4-FFF2-40B4-BE49-F238E27FC236}">
                <a16:creationId xmlns:a16="http://schemas.microsoft.com/office/drawing/2014/main" id="{AC8FFCA0-D6E9-43E4-AD01-8A8D9947ABC7}"/>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17</a:t>
            </a:r>
          </a:p>
        </p:txBody>
      </p:sp>
      <p:sp>
        <p:nvSpPr>
          <p:cNvPr id="7" name="">
            <a:extLst xmlns:a="http://schemas.openxmlformats.org/drawingml/2006/main">
              <a:ext uri="{FF2B5EF4-FFF2-40B4-BE49-F238E27FC236}">
                <a16:creationId xmlns:a16="http://schemas.microsoft.com/office/drawing/2014/main" id="{55FEB1E5-3E2B-4E87-8C7A-16D12DECD41A}"/>
              </a:ext>
            </a:extLst>
          </p:cNvPr>
          <p:cNvSpPr>
            <a:spLocks xmlns:a="http://schemas.openxmlformats.org/drawingml/2006/main" noGrp="1"/>
          </p:cNvSpPr>
          <p:nvPr/>
        </p:nvSpPr>
        <p:spPr>
          <a:xfrm xmlns:a="http://schemas.openxmlformats.org/drawingml/2006/main">
            <a:off x="571500" y="1476375"/>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TOP 10 · % DO PL EX-FIC</a:t>
            </a:r>
          </a:p>
        </p:txBody>
      </p:sp>
      <p:sp>
        <p:nvSpPr>
          <p:cNvPr id="8" name="">
            <a:extLst xmlns:a="http://schemas.openxmlformats.org/drawingml/2006/main">
              <a:ext uri="{FF2B5EF4-FFF2-40B4-BE49-F238E27FC236}">
                <a16:creationId xmlns:a16="http://schemas.microsoft.com/office/drawing/2014/main" id="{BF8EC773-9D8F-4D06-8214-3F268030A490}"/>
              </a:ext>
            </a:extLst>
          </p:cNvPr>
          <p:cNvSpPr>
            <a:spLocks xmlns:a="http://schemas.openxmlformats.org/drawingml/2006/main" noGrp="1"/>
          </p:cNvSpPr>
          <p:nvPr/>
        </p:nvSpPr>
        <p:spPr>
          <a:xfrm xmlns:a="http://schemas.openxmlformats.org/drawingml/2006/main">
            <a:off x="571500" y="1743075"/>
            <a:ext cx="51435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6" name="Chart"/>
          <p:cNvGraphicFramePr/>
          <p:nvPr/>
        </p:nvGraphicFramePr>
        <p:xfrm>
          <a:off xmlns:a="http://schemas.openxmlformats.org/drawingml/2006/main" x="571500" y="1857375"/>
          <a:ext xmlns:a="http://schemas.openxmlformats.org/drawingml/2006/main" cx="5143500" cy="3000375"/>
        </p:xfrm>
        <a:graphic xmlns:a="http://schemas.openxmlformats.org/drawingml/2006/main">
          <a:graphicData uri="http://schemas.openxmlformats.org/drawingml/2006/chart">
            <c:chart xmlns:r="http://schemas.openxmlformats.org/officeDocument/2006/relationships" xmlns:c="http://schemas.openxmlformats.org/drawingml/2006/chart" r:id="R03b07e89fbd34a26"/>
          </a:graphicData>
        </a:graphic>
      </p:graphicFrame>
      <p:sp>
        <p:nvSpPr>
          <p:cNvPr id="10" name="">
            <a:extLst xmlns:a="http://schemas.openxmlformats.org/drawingml/2006/main">
              <a:ext uri="{FF2B5EF4-FFF2-40B4-BE49-F238E27FC236}">
                <a16:creationId xmlns:a16="http://schemas.microsoft.com/office/drawing/2014/main" id="{450E61AC-D7A4-4DC7-8D95-B9DD110237DD}"/>
              </a:ext>
            </a:extLst>
          </p:cNvPr>
          <p:cNvSpPr>
            <a:spLocks xmlns:a="http://schemas.openxmlformats.org/drawingml/2006/main" noGrp="1"/>
          </p:cNvSpPr>
          <p:nvPr/>
        </p:nvSpPr>
        <p:spPr>
          <a:xfrm xmlns:a="http://schemas.openxmlformats.org/drawingml/2006/main">
            <a:off x="571500" y="4629150"/>
            <a:ext cx="5143500" cy="3333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4AAEC34-6C51-4EC4-9D84-F59C2E4CE23A}"/>
              </a:ext>
            </a:extLst>
          </p:cNvPr>
          <p:cNvSpPr>
            <a:spLocks xmlns:a="http://schemas.openxmlformats.org/drawingml/2006/main" noGrp="1"/>
          </p:cNvSpPr>
          <p:nvPr/>
        </p:nvSpPr>
        <p:spPr>
          <a:xfrm xmlns:a="http://schemas.openxmlformats.org/drawingml/2006/main">
            <a:off x="6477000" y="1476375"/>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TOP 5 · % DO PL EX-FIC</a:t>
            </a:r>
          </a:p>
        </p:txBody>
      </p:sp>
      <p:sp>
        <p:nvSpPr>
          <p:cNvPr id="12" name="">
            <a:extLst xmlns:a="http://schemas.openxmlformats.org/drawingml/2006/main">
              <a:ext uri="{FF2B5EF4-FFF2-40B4-BE49-F238E27FC236}">
                <a16:creationId xmlns:a16="http://schemas.microsoft.com/office/drawing/2014/main" id="{D28109A6-9E65-456D-BB11-911C5C98A637}"/>
              </a:ext>
            </a:extLst>
          </p:cNvPr>
          <p:cNvSpPr>
            <a:spLocks xmlns:a="http://schemas.openxmlformats.org/drawingml/2006/main" noGrp="1"/>
          </p:cNvSpPr>
          <p:nvPr/>
        </p:nvSpPr>
        <p:spPr>
          <a:xfrm xmlns:a="http://schemas.openxmlformats.org/drawingml/2006/main">
            <a:off x="6477000" y="1743075"/>
            <a:ext cx="51435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30" name="Chart"/>
          <p:cNvGraphicFramePr/>
          <p:nvPr/>
        </p:nvGraphicFramePr>
        <p:xfrm>
          <a:off xmlns:a="http://schemas.openxmlformats.org/drawingml/2006/main" x="6477000" y="1857375"/>
          <a:ext xmlns:a="http://schemas.openxmlformats.org/drawingml/2006/main" cx="5143500" cy="3000375"/>
        </p:xfrm>
        <a:graphic xmlns:a="http://schemas.openxmlformats.org/drawingml/2006/main">
          <a:graphicData uri="http://schemas.openxmlformats.org/drawingml/2006/chart">
            <c:chart xmlns:r="http://schemas.openxmlformats.org/officeDocument/2006/relationships" xmlns:c="http://schemas.openxmlformats.org/drawingml/2006/chart" r:id="R3f5f6c9218a74545"/>
          </a:graphicData>
        </a:graphic>
      </p:graphicFrame>
      <p:sp>
        <p:nvSpPr>
          <p:cNvPr id="14" name="">
            <a:extLst xmlns:a="http://schemas.openxmlformats.org/drawingml/2006/main">
              <a:ext uri="{FF2B5EF4-FFF2-40B4-BE49-F238E27FC236}">
                <a16:creationId xmlns:a16="http://schemas.microsoft.com/office/drawing/2014/main" id="{74388669-C7BE-4B74-9F8D-1E4A2E79A179}"/>
              </a:ext>
            </a:extLst>
          </p:cNvPr>
          <p:cNvSpPr>
            <a:spLocks xmlns:a="http://schemas.openxmlformats.org/drawingml/2006/main" noGrp="1"/>
          </p:cNvSpPr>
          <p:nvPr/>
        </p:nvSpPr>
        <p:spPr>
          <a:xfrm xmlns:a="http://schemas.openxmlformats.org/drawingml/2006/main">
            <a:off x="6477000" y="4629150"/>
            <a:ext cx="5143500" cy="3333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281BD85-C78B-416F-9A62-2CC0B6C5769C}"/>
              </a:ext>
            </a:extLst>
          </p:cNvPr>
          <p:cNvSpPr>
            <a:spLocks xmlns:a="http://schemas.openxmlformats.org/drawingml/2006/main" noGrp="1"/>
          </p:cNvSpPr>
          <p:nvPr/>
        </p:nvSpPr>
        <p:spPr>
          <a:xfrm xmlns:a="http://schemas.openxmlformats.org/drawingml/2006/main">
            <a:off x="571500" y="519112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90E9CD1-8DE7-4A0F-A076-AD28FE79B6A5}"/>
              </a:ext>
            </a:extLst>
          </p:cNvPr>
          <p:cNvSpPr>
            <a:spLocks xmlns:a="http://schemas.openxmlformats.org/drawingml/2006/main" noGrp="1"/>
          </p:cNvSpPr>
          <p:nvPr/>
        </p:nvSpPr>
        <p:spPr>
          <a:xfrm xmlns:a="http://schemas.openxmlformats.org/drawingml/2006/main">
            <a:off x="571500" y="5429250"/>
            <a:ext cx="1104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00" b="0">
                <a:solidFill>
                  <a:srgbClr val="73787D"/>
                </a:solidFill>
                <a:latin typeface="Arial"/>
                <a:ea typeface="Arial"/>
                <a:cs typeface="Arial"/>
              </a:defRPr>
            </a:pPr>
            <a:r>
              <a:rPr sz="900" b="0">
                <a:solidFill>
                  <a:srgbClr val="73787D"/>
                </a:solidFill>
                <a:latin typeface="Arial"/>
                <a:ea typeface="Arial"/>
                <a:cs typeface="Arial"/>
              </a:rPr>
              <a:t>Cobertura de PL, dez/25 → Jun/26: administração 100,0% → 100,0%; gestão 99,0% → 99,8%; custódia 97,7% → 98,6%.</a:t>
            </a:r>
          </a:p>
        </p:txBody>
      </p:sp>
      <p:graphicFrame>
        <p:nvGraphicFramePr>
          <p:cNvPr id="34" name="Chart"/>
          <p:cNvGraphicFramePr/>
          <p:nvPr/>
        </p:nvGraphicFramePr>
        <p:xfrm>
          <a:off xmlns:a="http://schemas.openxmlformats.org/drawingml/2006/main" x="9239250" y="1219200"/>
          <a:ext xmlns:a="http://schemas.openxmlformats.org/drawingml/2006/main" cx="2381250" cy="209550"/>
        </p:xfrm>
        <a:graphic xmlns:a="http://schemas.openxmlformats.org/drawingml/2006/main">
          <a:graphicData uri="http://schemas.openxmlformats.org/drawingml/2006/chart">
            <c:chart xmlns:r="http://schemas.openxmlformats.org/officeDocument/2006/relationships" xmlns:c="http://schemas.openxmlformats.org/drawingml/2006/chart" r:id="R2484b98e2f7f4c8a"/>
          </a:graphicData>
        </a:graphic>
      </p:graphicFrame>
    </p:spTree>
    <p:extLst>
      <p:ext uri="{BB962C8B-B14F-4D97-AF65-F5344CB8AC3E}">
        <p14:creationId xmlns:p14="http://schemas.microsoft.com/office/powerpoint/2010/main" val="41256735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1C7005-0C31-44C3-A13B-821F82039953}"/>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RANKING · TOP 20 FIDCs</a:t>
            </a:r>
          </a:p>
        </p:txBody>
      </p:sp>
      <p:sp>
        <p:nvSpPr>
          <p:cNvPr id="2" name="">
            <a:extLst xmlns:a="http://schemas.openxmlformats.org/drawingml/2006/main">
              <a:ext uri="{FF2B5EF4-FFF2-40B4-BE49-F238E27FC236}">
                <a16:creationId xmlns:a16="http://schemas.microsoft.com/office/drawing/2014/main" id="{D1E5C84A-3C1C-4A49-A70B-D74043774190}"/>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Top 20 somam 25,7% do PL ex-FIC; Petrobras e TAPSO são 45,3% do bloco</a:t>
            </a:r>
          </a:p>
        </p:txBody>
      </p:sp>
      <p:sp>
        <p:nvSpPr>
          <p:cNvPr id="3" name="">
            <a:extLst xmlns:a="http://schemas.openxmlformats.org/drawingml/2006/main">
              <a:ext uri="{FF2B5EF4-FFF2-40B4-BE49-F238E27FC236}">
                <a16:creationId xmlns:a16="http://schemas.microsoft.com/office/drawing/2014/main" id="{846DB246-19D0-4875-B231-A6DD9060E526}"/>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E0E9F4F-27A7-4513-A2AB-BBDCB46C75F0}"/>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61DFE8E-A7C0-406B-AC0A-DD213002B301}"/>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 e ANBIMA, jun/26. Ranking derivado do universo completo ex-FIC; denominação legal completa no apêndice.</a:t>
            </a:r>
          </a:p>
        </p:txBody>
      </p:sp>
      <p:sp>
        <p:nvSpPr>
          <p:cNvPr id="6" name="">
            <a:extLst xmlns:a="http://schemas.openxmlformats.org/drawingml/2006/main">
              <a:ext uri="{FF2B5EF4-FFF2-40B4-BE49-F238E27FC236}">
                <a16:creationId xmlns:a16="http://schemas.microsoft.com/office/drawing/2014/main" id="{CAED0CC1-8B3D-4654-8F0A-5F8BA577EAC7}"/>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18</a:t>
            </a:r>
          </a:p>
        </p:txBody>
      </p:sp>
      <p:graphicFrame>
        <p:nvGraphicFramePr>
          <p:cNvPr id="15" name=""/>
          <p:cNvGraphicFramePr/>
          <p:nvPr/>
        </p:nvGraphicFramePr>
        <p:xfrm>
          <a:off xmlns:a="http://schemas.openxmlformats.org/drawingml/2006/main" x="571500" y="1428750"/>
          <a:ext xmlns:a="http://schemas.openxmlformats.org/drawingml/2006/main" cx="5429250" cy="4667250"/>
        </p:xfrm>
        <a:graphic xmlns:a="http://schemas.openxmlformats.org/drawingml/2006/main">
          <a:graphicData uri="http://schemas.openxmlformats.org/drawingml/2006/table">
            <a:tbl>
              <a:tblPr firstRow="0" firstCol="0" lastRow="0" lastCol="0" bandRow="0" bandCol="0"/>
              <a:tblGrid>
                <a:gridCol w="285750"/>
                <a:gridCol w="1666875"/>
                <a:gridCol w="552450"/>
                <a:gridCol w="523875"/>
                <a:gridCol w="1238250"/>
                <a:gridCol w="1162050"/>
              </a:tblGrid>
              <a:tr h="209550">
                <a:tc>
                  <a:txBody>
                    <a:bodyPr wrap="square" anchor="ctr">
                      <a:normAutofit/>
                    </a:bodyPr>
                    <a:lstStyle/>
                    <a:p>
                      <a:pPr algn="r"/>
                      <a:r>
                        <a:rPr sz="750" b="1">
                          <a:solidFill>
                            <a:srgbClr val="FFFFFF"/>
                          </a:solidFill>
                          <a:latin typeface="Arial"/>
                          <a:ea typeface="Arial"/>
                          <a:cs typeface="Arial"/>
                        </a:rPr>
                        <a:t>#</a:t>
                      </a:r>
                    </a:p>
                  </a:txBody>
                  <a:tcPr marL="47625" marR="47625" marT="19050" marB="19050" anchor="ctr">
                    <a:solidFill>
                      <a:srgbClr val="151515"/>
                    </a:solidFill>
                  </a:tcPr>
                </a:tc>
                <a:tc>
                  <a:txBody>
                    <a:bodyPr wrap="square" anchor="ctr">
                      <a:normAutofit/>
                    </a:bodyPr>
                    <a:lstStyle/>
                    <a:p>
                      <a:pPr algn="l"/>
                      <a:r>
                        <a:rPr sz="750" b="1">
                          <a:solidFill>
                            <a:srgbClr val="FFFFFF"/>
                          </a:solidFill>
                          <a:latin typeface="Arial"/>
                          <a:ea typeface="Arial"/>
                          <a:cs typeface="Arial"/>
                        </a:rPr>
                        <a:t>Fundo</a:t>
                      </a:r>
                    </a:p>
                  </a:txBody>
                  <a:tcPr marL="47625" marR="47625" marT="19050" marB="19050" anchor="ctr">
                    <a:solidFill>
                      <a:srgbClr val="151515"/>
                    </a:solidFill>
                  </a:tcPr>
                </a:tc>
                <a:tc>
                  <a:txBody>
                    <a:bodyPr wrap="square" anchor="ctr">
                      <a:normAutofit/>
                    </a:bodyPr>
                    <a:lstStyle/>
                    <a:p>
                      <a:pPr algn="r"/>
                      <a:r>
                        <a:rPr sz="750" b="1">
                          <a:solidFill>
                            <a:srgbClr val="FFFFFF"/>
                          </a:solidFill>
                          <a:latin typeface="Arial"/>
                          <a:ea typeface="Arial"/>
                          <a:cs typeface="Arial"/>
                        </a:rPr>
                        <a:t>PL bi</a:t>
                      </a:r>
                    </a:p>
                  </a:txBody>
                  <a:tcPr marL="47625" marR="47625" marT="19050" marB="19050" anchor="ctr">
                    <a:solidFill>
                      <a:srgbClr val="151515"/>
                    </a:solidFill>
                  </a:tcPr>
                </a:tc>
                <a:tc>
                  <a:txBody>
                    <a:bodyPr wrap="square" anchor="ctr">
                      <a:normAutofit/>
                    </a:bodyPr>
                    <a:lstStyle/>
                    <a:p>
                      <a:pPr algn="r"/>
                      <a:r>
                        <a:rPr sz="750" b="1">
                          <a:solidFill>
                            <a:srgbClr val="FFFFFF"/>
                          </a:solidFill>
                          <a:latin typeface="Arial"/>
                          <a:ea typeface="Arial"/>
                          <a:cs typeface="Arial"/>
                        </a:rPr>
                        <a:t>Share</a:t>
                      </a:r>
                    </a:p>
                  </a:txBody>
                  <a:tcPr marL="47625" marR="47625" marT="19050" marB="19050" anchor="ctr">
                    <a:solidFill>
                      <a:srgbClr val="151515"/>
                    </a:solidFill>
                  </a:tcPr>
                </a:tc>
                <a:tc>
                  <a:txBody>
                    <a:bodyPr wrap="square" anchor="ctr">
                      <a:normAutofit/>
                    </a:bodyPr>
                    <a:lstStyle/>
                    <a:p>
                      <a:pPr algn="l"/>
                      <a:r>
                        <a:rPr sz="750" b="1">
                          <a:solidFill>
                            <a:srgbClr val="FFFFFF"/>
                          </a:solidFill>
                          <a:latin typeface="Arial"/>
                          <a:ea typeface="Arial"/>
                          <a:cs typeface="Arial"/>
                        </a:rPr>
                        <a:t>Tipo / Foco</a:t>
                      </a:r>
                    </a:p>
                  </a:txBody>
                  <a:tcPr marL="47625" marR="47625" marT="19050" marB="19050" anchor="ctr">
                    <a:solidFill>
                      <a:srgbClr val="151515"/>
                    </a:solidFill>
                  </a:tcPr>
                </a:tc>
                <a:tc>
                  <a:txBody>
                    <a:bodyPr wrap="square" anchor="ctr">
                      <a:normAutofit/>
                    </a:bodyPr>
                    <a:lstStyle/>
                    <a:p>
                      <a:pPr algn="l"/>
                      <a:r>
                        <a:rPr sz="750" b="1">
                          <a:solidFill>
                            <a:srgbClr val="FFFFFF"/>
                          </a:solidFill>
                          <a:latin typeface="Arial"/>
                          <a:ea typeface="Arial"/>
                          <a:cs typeface="Arial"/>
                        </a:rPr>
                        <a:t>Modelo</a:t>
                      </a:r>
                    </a:p>
                  </a:txBody>
                  <a:tcPr marL="47625" marR="47625" marT="19050" marB="19050" anchor="ctr">
                    <a:solidFill>
                      <a:srgbClr val="151515"/>
                    </a:solidFill>
                  </a:tcPr>
                </a:tc>
              </a:tr>
              <a:tr h="445770">
                <a:tc>
                  <a:txBody>
                    <a:bodyPr wrap="square" anchor="ctr">
                      <a:normAutofit/>
                    </a:bodyPr>
                    <a:lstStyle/>
                    <a:p>
                      <a:pPr algn="r"/>
                      <a:r>
                        <a:rPr sz="803">
                          <a:solidFill>
                            <a:srgbClr val="30353A"/>
                          </a:solidFill>
                          <a:latin typeface="Arial"/>
                          <a:ea typeface="Arial"/>
                          <a:cs typeface="Arial"/>
                        </a:rPr>
                        <a:t>1</a:t>
                      </a:r>
                    </a:p>
                  </a:txBody>
                  <a:tcPr marL="47625" marR="47625" marT="14288" marB="14288" anchor="ctr">
                    <a:solidFill>
                      <a:srgbClr val="FFF1E6"/>
                    </a:solidFill>
                  </a:tcPr>
                </a:tc>
                <a:tc>
                  <a:txBody>
                    <a:bodyPr wrap="square" anchor="ctr">
                      <a:normAutofit/>
                    </a:bodyPr>
                    <a:lstStyle/>
                    <a:p>
                      <a:pPr algn="l"/>
                      <a:r>
                        <a:rPr sz="803">
                          <a:solidFill>
                            <a:srgbClr val="30353A"/>
                          </a:solidFill>
                          <a:latin typeface="Arial"/>
                          <a:ea typeface="Arial"/>
                          <a:cs typeface="Arial"/>
                        </a:rPr>
                        <a:t>FIDC Sistema Petrobras</a:t>
                      </a:r>
                    </a:p>
                  </a:txBody>
                  <a:tcPr marL="47625" marR="47625" marT="14288" marB="14288" anchor="ctr">
                    <a:solidFill>
                      <a:srgbClr val="FFF1E6"/>
                    </a:solidFill>
                  </a:tcPr>
                </a:tc>
                <a:tc>
                  <a:txBody>
                    <a:bodyPr wrap="square" anchor="ctr">
                      <a:normAutofit/>
                    </a:bodyPr>
                    <a:lstStyle/>
                    <a:p>
                      <a:pPr algn="r"/>
                      <a:r>
                        <a:rPr sz="803">
                          <a:solidFill>
                            <a:srgbClr val="30353A"/>
                          </a:solidFill>
                          <a:latin typeface="Arial"/>
                          <a:ea typeface="Arial"/>
                          <a:cs typeface="Arial"/>
                        </a:rPr>
                        <a:t>61,3 bi</a:t>
                      </a:r>
                    </a:p>
                  </a:txBody>
                  <a:tcPr marL="47625" marR="47625" marT="14288" marB="14288" anchor="ctr">
                    <a:solidFill>
                      <a:srgbClr val="FFF1E6"/>
                    </a:solidFill>
                  </a:tcPr>
                </a:tc>
                <a:tc>
                  <a:txBody>
                    <a:bodyPr wrap="square" anchor="ctr">
                      <a:normAutofit/>
                    </a:bodyPr>
                    <a:lstStyle/>
                    <a:p>
                      <a:pPr algn="r"/>
                      <a:r>
                        <a:rPr sz="803">
                          <a:solidFill>
                            <a:srgbClr val="30353A"/>
                          </a:solidFill>
                          <a:latin typeface="Arial"/>
                          <a:ea typeface="Arial"/>
                          <a:cs typeface="Arial"/>
                        </a:rPr>
                        <a:t>7,0%</a:t>
                      </a:r>
                    </a:p>
                  </a:txBody>
                  <a:tcPr marL="47625" marR="47625" marT="14288" marB="14288" anchor="ctr">
                    <a:solidFill>
                      <a:srgbClr val="FFF1E6"/>
                    </a:solidFill>
                  </a:tcPr>
                </a:tc>
                <a:tc>
                  <a:txBody>
                    <a:bodyPr wrap="square" anchor="ctr">
                      <a:normAutofit/>
                    </a:bodyPr>
                    <a:lstStyle/>
                    <a:p>
                      <a:pPr algn="l"/>
                      <a:r>
                        <a:rPr sz="803">
                          <a:solidFill>
                            <a:srgbClr val="30353A"/>
                          </a:solidFill>
                          <a:latin typeface="Arial"/>
                          <a:ea typeface="Arial"/>
                          <a:cs typeface="Arial"/>
                        </a:rPr>
                        <a:t>Agro, Indústria e Comércio</a:t>
                      </a:r>
                    </a:p>
                    <a:p>
                      <a:pPr algn="l"/>
                      <a:r>
                        <a:rPr sz="803">
                          <a:solidFill>
                            <a:srgbClr val="30353A"/>
                          </a:solidFill>
                          <a:latin typeface="Arial"/>
                          <a:ea typeface="Arial"/>
                          <a:cs typeface="Arial"/>
                        </a:rPr>
                        <a:t>Recebíveis Comerciais</a:t>
                      </a:r>
                    </a:p>
                  </a:txBody>
                  <a:tcPr marL="47625" marR="47625" marT="14288" marB="14288" anchor="ctr">
                    <a:solidFill>
                      <a:srgbClr val="FFF1E6"/>
                    </a:solidFill>
                  </a:tcPr>
                </a:tc>
                <a:tc>
                  <a:txBody>
                    <a:bodyPr wrap="square" anchor="ctr">
                      <a:normAutofit/>
                    </a:bodyPr>
                    <a:lstStyle/>
                    <a:p>
                      <a:pPr algn="l"/>
                      <a:r>
                        <a:rPr sz="803">
                          <a:solidFill>
                            <a:srgbClr val="30353A"/>
                          </a:solidFill>
                          <a:latin typeface="Arial"/>
                          <a:ea typeface="Arial"/>
                          <a:cs typeface="Arial"/>
                        </a:rPr>
                        <a:t>Monoestrutura</a:t>
                      </a:r>
                    </a:p>
                  </a:txBody>
                  <a:tcPr marL="47625" marR="47625" marT="14288" marB="14288" anchor="ctr">
                    <a:solidFill>
                      <a:srgbClr val="FFF1E6"/>
                    </a:solidFill>
                  </a:tcPr>
                </a:tc>
              </a:tr>
              <a:tr h="445770">
                <a:tc>
                  <a:txBody>
                    <a:bodyPr wrap="square" anchor="ctr">
                      <a:normAutofit/>
                    </a:bodyPr>
                    <a:lstStyle/>
                    <a:p>
                      <a:pPr algn="r"/>
                      <a:r>
                        <a:rPr sz="803">
                          <a:solidFill>
                            <a:srgbClr val="30353A"/>
                          </a:solidFill>
                          <a:latin typeface="Arial"/>
                          <a:ea typeface="Arial"/>
                          <a:cs typeface="Arial"/>
                        </a:rPr>
                        <a:t>2</a:t>
                      </a:r>
                    </a:p>
                  </a:txBody>
                  <a:tcPr marL="47625" marR="47625" marT="14288" marB="14288" anchor="ctr">
                    <a:solidFill>
                      <a:srgbClr val="FFF1E6"/>
                    </a:solidFill>
                  </a:tcPr>
                </a:tc>
                <a:tc>
                  <a:txBody>
                    <a:bodyPr wrap="square" anchor="ctr">
                      <a:normAutofit/>
                    </a:bodyPr>
                    <a:lstStyle/>
                    <a:p>
                      <a:pPr algn="l"/>
                      <a:r>
                        <a:rPr sz="803">
                          <a:solidFill>
                            <a:srgbClr val="30353A"/>
                          </a:solidFill>
                          <a:latin typeface="Arial"/>
                          <a:ea typeface="Arial"/>
                          <a:cs typeface="Arial"/>
                        </a:rPr>
                        <a:t>TAPSO</a:t>
                      </a:r>
                    </a:p>
                  </a:txBody>
                  <a:tcPr marL="47625" marR="47625" marT="14288" marB="14288" anchor="ctr">
                    <a:solidFill>
                      <a:srgbClr val="FFF1E6"/>
                    </a:solidFill>
                  </a:tcPr>
                </a:tc>
                <a:tc>
                  <a:txBody>
                    <a:bodyPr wrap="square" anchor="ctr">
                      <a:normAutofit/>
                    </a:bodyPr>
                    <a:lstStyle/>
                    <a:p>
                      <a:pPr algn="r"/>
                      <a:r>
                        <a:rPr sz="803">
                          <a:solidFill>
                            <a:srgbClr val="30353A"/>
                          </a:solidFill>
                          <a:latin typeface="Arial"/>
                          <a:ea typeface="Arial"/>
                          <a:cs typeface="Arial"/>
                        </a:rPr>
                        <a:t>41,5 bi</a:t>
                      </a:r>
                    </a:p>
                  </a:txBody>
                  <a:tcPr marL="47625" marR="47625" marT="14288" marB="14288" anchor="ctr">
                    <a:solidFill>
                      <a:srgbClr val="FFF1E6"/>
                    </a:solidFill>
                  </a:tcPr>
                </a:tc>
                <a:tc>
                  <a:txBody>
                    <a:bodyPr wrap="square" anchor="ctr">
                      <a:normAutofit/>
                    </a:bodyPr>
                    <a:lstStyle/>
                    <a:p>
                      <a:pPr algn="r"/>
                      <a:r>
                        <a:rPr sz="803">
                          <a:solidFill>
                            <a:srgbClr val="30353A"/>
                          </a:solidFill>
                          <a:latin typeface="Arial"/>
                          <a:ea typeface="Arial"/>
                          <a:cs typeface="Arial"/>
                        </a:rPr>
                        <a:t>4,7%</a:t>
                      </a:r>
                    </a:p>
                  </a:txBody>
                  <a:tcPr marL="47625" marR="47625" marT="14288" marB="14288" anchor="ctr">
                    <a:solidFill>
                      <a:srgbClr val="FFF1E6"/>
                    </a:solidFill>
                  </a:tcPr>
                </a:tc>
                <a:tc>
                  <a:txBody>
                    <a:bodyPr wrap="square" anchor="ctr">
                      <a:normAutofit/>
                    </a:bodyPr>
                    <a:lstStyle/>
                    <a:p>
                      <a:pPr algn="l"/>
                      <a:r>
                        <a:rPr sz="803">
                          <a:solidFill>
                            <a:srgbClr val="30353A"/>
                          </a:solidFill>
                          <a:latin typeface="Arial"/>
                          <a:ea typeface="Arial"/>
                          <a:cs typeface="Arial"/>
                        </a:rPr>
                        <a:t>Financeiro</a:t>
                      </a:r>
                    </a:p>
                    <a:p>
                      <a:pPr algn="l"/>
                      <a:r>
                        <a:rPr sz="803">
                          <a:solidFill>
                            <a:srgbClr val="30353A"/>
                          </a:solidFill>
                          <a:latin typeface="Arial"/>
                          <a:ea typeface="Arial"/>
                          <a:cs typeface="Arial"/>
                        </a:rPr>
                        <a:t>Crédito Pessoal</a:t>
                      </a:r>
                    </a:p>
                  </a:txBody>
                  <a:tcPr marL="47625" marR="47625" marT="14288" marB="14288" anchor="ctr">
                    <a:solidFill>
                      <a:srgbClr val="FFF1E6"/>
                    </a:solidFill>
                  </a:tcPr>
                </a:tc>
                <a:tc>
                  <a:txBody>
                    <a:bodyPr wrap="square" anchor="ctr">
                      <a:normAutofit/>
                    </a:bodyPr>
                    <a:lstStyle/>
                    <a:p>
                      <a:pPr algn="l"/>
                      <a:r>
                        <a:rPr sz="803">
                          <a:solidFill>
                            <a:srgbClr val="30353A"/>
                          </a:solidFill>
                          <a:latin typeface="Arial"/>
                          <a:ea typeface="Arial"/>
                          <a:cs typeface="Arial"/>
                        </a:rPr>
                        <a:t>Monoestrutura</a:t>
                      </a:r>
                    </a:p>
                  </a:txBody>
                  <a:tcPr marL="47625" marR="47625" marT="14288" marB="14288" anchor="ctr">
                    <a:solidFill>
                      <a:srgbClr val="FFF1E6"/>
                    </a:solidFill>
                  </a:tcPr>
                </a:tc>
              </a:tr>
              <a:tr h="445770">
                <a:tc>
                  <a:txBody>
                    <a:bodyPr wrap="square" anchor="ctr">
                      <a:normAutofit/>
                    </a:bodyPr>
                    <a:lstStyle/>
                    <a:p>
                      <a:pPr algn="r"/>
                      <a:r>
                        <a:rPr sz="803">
                          <a:solidFill>
                            <a:srgbClr val="30353A"/>
                          </a:solidFill>
                          <a:latin typeface="Arial"/>
                          <a:ea typeface="Arial"/>
                          <a:cs typeface="Arial"/>
                        </a:rPr>
                        <a:t>3</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PAN Auto</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18,0 bi</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2,0%</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Agro, Indústria e Comércio</a:t>
                      </a:r>
                    </a:p>
                    <a:p>
                      <a:pPr algn="l"/>
                      <a:r>
                        <a:rPr sz="803">
                          <a:solidFill>
                            <a:srgbClr val="30353A"/>
                          </a:solidFill>
                          <a:latin typeface="Arial"/>
                          <a:ea typeface="Arial"/>
                          <a:cs typeface="Arial"/>
                        </a:rPr>
                        <a:t>Recebíveis Comerciais</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Monoestrutura</a:t>
                      </a:r>
                    </a:p>
                  </a:txBody>
                  <a:tcPr marL="47625" marR="47625" marT="14288" marB="14288" anchor="ctr">
                    <a:solidFill>
                      <a:srgbClr val="FFFFFF"/>
                    </a:solidFill>
                  </a:tcPr>
                </a:tc>
              </a:tr>
              <a:tr h="445770">
                <a:tc>
                  <a:txBody>
                    <a:bodyPr wrap="square" anchor="ctr">
                      <a:normAutofit/>
                    </a:bodyPr>
                    <a:lstStyle/>
                    <a:p>
                      <a:pPr algn="r"/>
                      <a:r>
                        <a:rPr sz="803">
                          <a:solidFill>
                            <a:srgbClr val="30353A"/>
                          </a:solidFill>
                          <a:latin typeface="Arial"/>
                          <a:ea typeface="Arial"/>
                          <a:cs typeface="Arial"/>
                        </a:rPr>
                        <a:t>4</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CloudWalk Bela</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10,0 bi</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1,1%</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Outros</a:t>
                      </a:r>
                    </a:p>
                    <a:p>
                      <a:pPr algn="l"/>
                      <a:r>
                        <a:rPr sz="803">
                          <a:solidFill>
                            <a:srgbClr val="30353A"/>
                          </a:solidFill>
                          <a:latin typeface="Arial"/>
                          <a:ea typeface="Arial"/>
                          <a:cs typeface="Arial"/>
                        </a:rPr>
                        <a:t>Multicarteira Outros</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Monoestrutura</a:t>
                      </a:r>
                    </a:p>
                  </a:txBody>
                  <a:tcPr marL="47625" marR="47625" marT="14288" marB="14288" anchor="ctr">
                    <a:solidFill>
                      <a:srgbClr val="F5F6F7"/>
                    </a:solidFill>
                  </a:tcPr>
                </a:tc>
              </a:tr>
              <a:tr h="445770">
                <a:tc>
                  <a:txBody>
                    <a:bodyPr wrap="square" anchor="ctr">
                      <a:normAutofit/>
                    </a:bodyPr>
                    <a:lstStyle/>
                    <a:p>
                      <a:pPr algn="r"/>
                      <a:r>
                        <a:rPr sz="803">
                          <a:solidFill>
                            <a:srgbClr val="30353A"/>
                          </a:solidFill>
                          <a:latin typeface="Arial"/>
                          <a:ea typeface="Arial"/>
                          <a:cs typeface="Arial"/>
                        </a:rPr>
                        <a:t>5</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MT Global · Consignado Privado</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9,4 bi</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1,1%</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Financeiro</a:t>
                      </a:r>
                    </a:p>
                    <a:p>
                      <a:pPr algn="l"/>
                      <a:r>
                        <a:rPr sz="803">
                          <a:solidFill>
                            <a:srgbClr val="30353A"/>
                          </a:solidFill>
                          <a:latin typeface="Arial"/>
                          <a:ea typeface="Arial"/>
                          <a:cs typeface="Arial"/>
                        </a:rPr>
                        <a:t>Crédito Consignado</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Monoestrutura</a:t>
                      </a:r>
                    </a:p>
                  </a:txBody>
                  <a:tcPr marL="47625" marR="47625" marT="14288" marB="14288" anchor="ctr">
                    <a:solidFill>
                      <a:srgbClr val="FFFFFF"/>
                    </a:solidFill>
                  </a:tcPr>
                </a:tc>
              </a:tr>
              <a:tr h="445770">
                <a:tc>
                  <a:txBody>
                    <a:bodyPr wrap="square" anchor="ctr">
                      <a:normAutofit/>
                    </a:bodyPr>
                    <a:lstStyle/>
                    <a:p>
                      <a:pPr algn="r"/>
                      <a:r>
                        <a:rPr sz="803">
                          <a:solidFill>
                            <a:srgbClr val="30353A"/>
                          </a:solidFill>
                          <a:latin typeface="Arial"/>
                          <a:ea typeface="Arial"/>
                          <a:cs typeface="Arial"/>
                        </a:rPr>
                        <a:t>6</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Itaú Crédito Privado</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8,7 bi</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1,0%</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Outros</a:t>
                      </a:r>
                    </a:p>
                    <a:p>
                      <a:pPr algn="l"/>
                      <a:r>
                        <a:rPr sz="803">
                          <a:solidFill>
                            <a:srgbClr val="30353A"/>
                          </a:solidFill>
                          <a:latin typeface="Arial"/>
                          <a:ea typeface="Arial"/>
                          <a:cs typeface="Arial"/>
                        </a:rPr>
                        <a:t>Multicarteira Outros</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Monoestrutura</a:t>
                      </a:r>
                    </a:p>
                  </a:txBody>
                  <a:tcPr marL="47625" marR="47625" marT="14288" marB="14288" anchor="ctr">
                    <a:solidFill>
                      <a:srgbClr val="F5F6F7"/>
                    </a:solidFill>
                  </a:tcPr>
                </a:tc>
              </a:tr>
              <a:tr h="445770">
                <a:tc>
                  <a:txBody>
                    <a:bodyPr wrap="square" anchor="ctr">
                      <a:normAutofit/>
                    </a:bodyPr>
                    <a:lstStyle/>
                    <a:p>
                      <a:pPr algn="r"/>
                      <a:r>
                        <a:rPr sz="803">
                          <a:solidFill>
                            <a:srgbClr val="30353A"/>
                          </a:solidFill>
                          <a:latin typeface="Arial"/>
                          <a:ea typeface="Arial"/>
                          <a:cs typeface="Arial"/>
                        </a:rPr>
                        <a:t>7</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BTG Consignados II</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8,0 bi</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0,9%</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Financeiro</a:t>
                      </a:r>
                    </a:p>
                    <a:p>
                      <a:pPr algn="l"/>
                      <a:r>
                        <a:rPr sz="803">
                          <a:solidFill>
                            <a:srgbClr val="30353A"/>
                          </a:solidFill>
                          <a:latin typeface="Arial"/>
                          <a:ea typeface="Arial"/>
                          <a:cs typeface="Arial"/>
                        </a:rPr>
                        <a:t>Crédito Pessoal</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Monoestrutura</a:t>
                      </a:r>
                    </a:p>
                  </a:txBody>
                  <a:tcPr marL="47625" marR="47625" marT="14288" marB="14288" anchor="ctr">
                    <a:solidFill>
                      <a:srgbClr val="FFFFFF"/>
                    </a:solidFill>
                  </a:tcPr>
                </a:tc>
              </a:tr>
              <a:tr h="445770">
                <a:tc>
                  <a:txBody>
                    <a:bodyPr wrap="square" anchor="ctr">
                      <a:normAutofit/>
                    </a:bodyPr>
                    <a:lstStyle/>
                    <a:p>
                      <a:pPr algn="r"/>
                      <a:r>
                        <a:rPr sz="803">
                          <a:solidFill>
                            <a:srgbClr val="30353A"/>
                          </a:solidFill>
                          <a:latin typeface="Arial"/>
                          <a:ea typeface="Arial"/>
                          <a:cs typeface="Arial"/>
                        </a:rPr>
                        <a:t>8</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Aetos Energia</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7,4 bi</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0,8%</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Agro, Indústria e Comércio</a:t>
                      </a:r>
                    </a:p>
                    <a:p>
                      <a:pPr algn="l"/>
                      <a:r>
                        <a:rPr sz="803">
                          <a:solidFill>
                            <a:srgbClr val="30353A"/>
                          </a:solidFill>
                          <a:latin typeface="Arial"/>
                          <a:ea typeface="Arial"/>
                          <a:cs typeface="Arial"/>
                        </a:rPr>
                        <a:t>Recebíveis Comerciais</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Administração + Gestão</a:t>
                      </a:r>
                    </a:p>
                  </a:txBody>
                  <a:tcPr marL="47625" marR="47625" marT="14288" marB="14288" anchor="ctr">
                    <a:solidFill>
                      <a:srgbClr val="F5F6F7"/>
                    </a:solidFill>
                  </a:tcPr>
                </a:tc>
              </a:tr>
              <a:tr h="445770">
                <a:tc>
                  <a:txBody>
                    <a:bodyPr wrap="square" anchor="ctr">
                      <a:normAutofit/>
                    </a:bodyPr>
                    <a:lstStyle/>
                    <a:p>
                      <a:pPr algn="r"/>
                      <a:r>
                        <a:rPr sz="803">
                          <a:solidFill>
                            <a:srgbClr val="30353A"/>
                          </a:solidFill>
                          <a:latin typeface="Arial"/>
                          <a:ea typeface="Arial"/>
                          <a:cs typeface="Arial"/>
                        </a:rPr>
                        <a:t>9</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Cielo</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6,5 bi</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0,7%</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Financeiro</a:t>
                      </a:r>
                    </a:p>
                    <a:p>
                      <a:pPr algn="l"/>
                      <a:r>
                        <a:rPr sz="803">
                          <a:solidFill>
                            <a:srgbClr val="30353A"/>
                          </a:solidFill>
                          <a:latin typeface="Arial"/>
                          <a:ea typeface="Arial"/>
                          <a:cs typeface="Arial"/>
                        </a:rPr>
                        <a:t>Multicarteira Financeiro</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Monoestrutura</a:t>
                      </a:r>
                    </a:p>
                  </a:txBody>
                  <a:tcPr marL="47625" marR="47625" marT="14288" marB="14288" anchor="ctr">
                    <a:solidFill>
                      <a:srgbClr val="FFFFFF"/>
                    </a:solidFill>
                  </a:tcPr>
                </a:tc>
              </a:tr>
              <a:tr h="445770">
                <a:tc>
                  <a:txBody>
                    <a:bodyPr wrap="square" anchor="ctr">
                      <a:normAutofit/>
                    </a:bodyPr>
                    <a:lstStyle/>
                    <a:p>
                      <a:pPr algn="r"/>
                      <a:r>
                        <a:rPr sz="803">
                          <a:solidFill>
                            <a:srgbClr val="30353A"/>
                          </a:solidFill>
                          <a:latin typeface="Arial"/>
                          <a:ea typeface="Arial"/>
                          <a:cs typeface="Arial"/>
                        </a:rPr>
                        <a:t>10</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Rio Vermelho NP</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6,4 bi</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0,7%</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Outros</a:t>
                      </a:r>
                    </a:p>
                    <a:p>
                      <a:pPr algn="l"/>
                      <a:r>
                        <a:rPr sz="803">
                          <a:solidFill>
                            <a:srgbClr val="30353A"/>
                          </a:solidFill>
                          <a:latin typeface="Arial"/>
                          <a:ea typeface="Arial"/>
                          <a:cs typeface="Arial"/>
                        </a:rPr>
                        <a:t>Multicarteira Outros</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Administração + Gestão</a:t>
                      </a:r>
                    </a:p>
                  </a:txBody>
                  <a:tcPr marL="47625" marR="47625" marT="14288" marB="14288" anchor="ctr">
                    <a:solidFill>
                      <a:srgbClr val="F5F6F7"/>
                    </a:solidFill>
                  </a:tcPr>
                </a:tc>
              </a:tr>
            </a:tbl>
          </a:graphicData>
        </a:graphic>
      </p:graphicFrame>
      <p:graphicFrame>
        <p:nvGraphicFramePr>
          <p:cNvPr id="16" name=""/>
          <p:cNvGraphicFramePr/>
          <p:nvPr/>
        </p:nvGraphicFramePr>
        <p:xfrm>
          <a:off xmlns:a="http://schemas.openxmlformats.org/drawingml/2006/main" x="6191250" y="1428750"/>
          <a:ext xmlns:a="http://schemas.openxmlformats.org/drawingml/2006/main" cx="5429250" cy="4667250"/>
        </p:xfrm>
        <a:graphic xmlns:a="http://schemas.openxmlformats.org/drawingml/2006/main">
          <a:graphicData uri="http://schemas.openxmlformats.org/drawingml/2006/table">
            <a:tbl>
              <a:tblPr firstRow="0" firstCol="0" lastRow="0" lastCol="0" bandRow="0" bandCol="0"/>
              <a:tblGrid>
                <a:gridCol w="285750"/>
                <a:gridCol w="1666875"/>
                <a:gridCol w="552450"/>
                <a:gridCol w="523875"/>
                <a:gridCol w="1238250"/>
                <a:gridCol w="1162050"/>
              </a:tblGrid>
              <a:tr h="209550">
                <a:tc>
                  <a:txBody>
                    <a:bodyPr wrap="square" anchor="ctr">
                      <a:normAutofit/>
                    </a:bodyPr>
                    <a:lstStyle/>
                    <a:p>
                      <a:pPr algn="r"/>
                      <a:r>
                        <a:rPr sz="750" b="1">
                          <a:solidFill>
                            <a:srgbClr val="FFFFFF"/>
                          </a:solidFill>
                          <a:latin typeface="Arial"/>
                          <a:ea typeface="Arial"/>
                          <a:cs typeface="Arial"/>
                        </a:rPr>
                        <a:t>#</a:t>
                      </a:r>
                    </a:p>
                  </a:txBody>
                  <a:tcPr marL="47625" marR="47625" marT="19050" marB="19050" anchor="ctr">
                    <a:solidFill>
                      <a:srgbClr val="151515"/>
                    </a:solidFill>
                  </a:tcPr>
                </a:tc>
                <a:tc>
                  <a:txBody>
                    <a:bodyPr wrap="square" anchor="ctr">
                      <a:normAutofit/>
                    </a:bodyPr>
                    <a:lstStyle/>
                    <a:p>
                      <a:pPr algn="l"/>
                      <a:r>
                        <a:rPr sz="750" b="1">
                          <a:solidFill>
                            <a:srgbClr val="FFFFFF"/>
                          </a:solidFill>
                          <a:latin typeface="Arial"/>
                          <a:ea typeface="Arial"/>
                          <a:cs typeface="Arial"/>
                        </a:rPr>
                        <a:t>Fundo</a:t>
                      </a:r>
                    </a:p>
                  </a:txBody>
                  <a:tcPr marL="47625" marR="47625" marT="19050" marB="19050" anchor="ctr">
                    <a:solidFill>
                      <a:srgbClr val="151515"/>
                    </a:solidFill>
                  </a:tcPr>
                </a:tc>
                <a:tc>
                  <a:txBody>
                    <a:bodyPr wrap="square" anchor="ctr">
                      <a:normAutofit/>
                    </a:bodyPr>
                    <a:lstStyle/>
                    <a:p>
                      <a:pPr algn="r"/>
                      <a:r>
                        <a:rPr sz="750" b="1">
                          <a:solidFill>
                            <a:srgbClr val="FFFFFF"/>
                          </a:solidFill>
                          <a:latin typeface="Arial"/>
                          <a:ea typeface="Arial"/>
                          <a:cs typeface="Arial"/>
                        </a:rPr>
                        <a:t>PL bi</a:t>
                      </a:r>
                    </a:p>
                  </a:txBody>
                  <a:tcPr marL="47625" marR="47625" marT="19050" marB="19050" anchor="ctr">
                    <a:solidFill>
                      <a:srgbClr val="151515"/>
                    </a:solidFill>
                  </a:tcPr>
                </a:tc>
                <a:tc>
                  <a:txBody>
                    <a:bodyPr wrap="square" anchor="ctr">
                      <a:normAutofit/>
                    </a:bodyPr>
                    <a:lstStyle/>
                    <a:p>
                      <a:pPr algn="r"/>
                      <a:r>
                        <a:rPr sz="750" b="1">
                          <a:solidFill>
                            <a:srgbClr val="FFFFFF"/>
                          </a:solidFill>
                          <a:latin typeface="Arial"/>
                          <a:ea typeface="Arial"/>
                          <a:cs typeface="Arial"/>
                        </a:rPr>
                        <a:t>Share</a:t>
                      </a:r>
                    </a:p>
                  </a:txBody>
                  <a:tcPr marL="47625" marR="47625" marT="19050" marB="19050" anchor="ctr">
                    <a:solidFill>
                      <a:srgbClr val="151515"/>
                    </a:solidFill>
                  </a:tcPr>
                </a:tc>
                <a:tc>
                  <a:txBody>
                    <a:bodyPr wrap="square" anchor="ctr">
                      <a:normAutofit/>
                    </a:bodyPr>
                    <a:lstStyle/>
                    <a:p>
                      <a:pPr algn="l"/>
                      <a:r>
                        <a:rPr sz="750" b="1">
                          <a:solidFill>
                            <a:srgbClr val="FFFFFF"/>
                          </a:solidFill>
                          <a:latin typeface="Arial"/>
                          <a:ea typeface="Arial"/>
                          <a:cs typeface="Arial"/>
                        </a:rPr>
                        <a:t>Tipo / Foco</a:t>
                      </a:r>
                    </a:p>
                  </a:txBody>
                  <a:tcPr marL="47625" marR="47625" marT="19050" marB="19050" anchor="ctr">
                    <a:solidFill>
                      <a:srgbClr val="151515"/>
                    </a:solidFill>
                  </a:tcPr>
                </a:tc>
                <a:tc>
                  <a:txBody>
                    <a:bodyPr wrap="square" anchor="ctr">
                      <a:normAutofit/>
                    </a:bodyPr>
                    <a:lstStyle/>
                    <a:p>
                      <a:pPr algn="l"/>
                      <a:r>
                        <a:rPr sz="750" b="1">
                          <a:solidFill>
                            <a:srgbClr val="FFFFFF"/>
                          </a:solidFill>
                          <a:latin typeface="Arial"/>
                          <a:ea typeface="Arial"/>
                          <a:cs typeface="Arial"/>
                        </a:rPr>
                        <a:t>Modelo</a:t>
                      </a:r>
                    </a:p>
                  </a:txBody>
                  <a:tcPr marL="47625" marR="47625" marT="19050" marB="19050" anchor="ctr">
                    <a:solidFill>
                      <a:srgbClr val="151515"/>
                    </a:solidFill>
                  </a:tcPr>
                </a:tc>
              </a:tr>
              <a:tr h="445770">
                <a:tc>
                  <a:txBody>
                    <a:bodyPr wrap="square" anchor="ctr">
                      <a:normAutofit/>
                    </a:bodyPr>
                    <a:lstStyle/>
                    <a:p>
                      <a:pPr algn="r"/>
                      <a:r>
                        <a:rPr sz="803">
                          <a:solidFill>
                            <a:srgbClr val="30353A"/>
                          </a:solidFill>
                          <a:latin typeface="Arial"/>
                          <a:ea typeface="Arial"/>
                          <a:cs typeface="Arial"/>
                        </a:rPr>
                        <a:t>11</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PagSeguro I</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6,2 bi</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0,7%</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Outros</a:t>
                      </a:r>
                    </a:p>
                    <a:p>
                      <a:pPr algn="l"/>
                      <a:r>
                        <a:rPr sz="803">
                          <a:solidFill>
                            <a:srgbClr val="30353A"/>
                          </a:solidFill>
                          <a:latin typeface="Arial"/>
                          <a:ea typeface="Arial"/>
                          <a:cs typeface="Arial"/>
                        </a:rPr>
                        <a:t>Multicarteira Outros</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Monoestrutura</a:t>
                      </a:r>
                    </a:p>
                  </a:txBody>
                  <a:tcPr marL="47625" marR="47625" marT="14288" marB="14288" anchor="ctr">
                    <a:solidFill>
                      <a:srgbClr val="FFFFFF"/>
                    </a:solidFill>
                  </a:tcPr>
                </a:tc>
              </a:tr>
              <a:tr h="445770">
                <a:tc>
                  <a:txBody>
                    <a:bodyPr wrap="square" anchor="ctr">
                      <a:normAutofit/>
                    </a:bodyPr>
                    <a:lstStyle/>
                    <a:p>
                      <a:pPr algn="r"/>
                      <a:r>
                        <a:rPr sz="803">
                          <a:solidFill>
                            <a:srgbClr val="30353A"/>
                          </a:solidFill>
                          <a:latin typeface="Arial"/>
                          <a:ea typeface="Arial"/>
                          <a:cs typeface="Arial"/>
                        </a:rPr>
                        <a:t>12</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BTG Consignados</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6,0 bi</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0,7%</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Financeiro</a:t>
                      </a:r>
                    </a:p>
                    <a:p>
                      <a:pPr algn="l"/>
                      <a:r>
                        <a:rPr sz="803">
                          <a:solidFill>
                            <a:srgbClr val="30353A"/>
                          </a:solidFill>
                          <a:latin typeface="Arial"/>
                          <a:ea typeface="Arial"/>
                          <a:cs typeface="Arial"/>
                        </a:rPr>
                        <a:t>Crédito Pessoal</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Monoestrutura</a:t>
                      </a:r>
                    </a:p>
                  </a:txBody>
                  <a:tcPr marL="47625" marR="47625" marT="14288" marB="14288" anchor="ctr">
                    <a:solidFill>
                      <a:srgbClr val="F5F6F7"/>
                    </a:solidFill>
                  </a:tcPr>
                </a:tc>
              </a:tr>
              <a:tr h="445770">
                <a:tc>
                  <a:txBody>
                    <a:bodyPr wrap="square" anchor="ctr">
                      <a:normAutofit/>
                    </a:bodyPr>
                    <a:lstStyle/>
                    <a:p>
                      <a:pPr algn="r"/>
                      <a:r>
                        <a:rPr sz="803">
                          <a:solidFill>
                            <a:srgbClr val="30353A"/>
                          </a:solidFill>
                          <a:latin typeface="Arial"/>
                          <a:ea typeface="Arial"/>
                          <a:cs typeface="Arial"/>
                        </a:rPr>
                        <a:t>13</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Alternative Assets III</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5,9 bi</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0,7%</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Outros</a:t>
                      </a:r>
                    </a:p>
                    <a:p>
                      <a:pPr algn="l"/>
                      <a:r>
                        <a:rPr sz="803">
                          <a:solidFill>
                            <a:srgbClr val="30353A"/>
                          </a:solidFill>
                          <a:latin typeface="Arial"/>
                          <a:ea typeface="Arial"/>
                          <a:cs typeface="Arial"/>
                        </a:rPr>
                        <a:t>Multicarteira Outros</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Monoestrutura</a:t>
                      </a:r>
                    </a:p>
                  </a:txBody>
                  <a:tcPr marL="47625" marR="47625" marT="14288" marB="14288" anchor="ctr">
                    <a:solidFill>
                      <a:srgbClr val="FFFFFF"/>
                    </a:solidFill>
                  </a:tcPr>
                </a:tc>
              </a:tr>
              <a:tr h="445770">
                <a:tc>
                  <a:txBody>
                    <a:bodyPr wrap="square" anchor="ctr">
                      <a:normAutofit/>
                    </a:bodyPr>
                    <a:lstStyle/>
                    <a:p>
                      <a:pPr algn="r"/>
                      <a:r>
                        <a:rPr sz="803">
                          <a:solidFill>
                            <a:srgbClr val="30353A"/>
                          </a:solidFill>
                          <a:latin typeface="Arial"/>
                          <a:ea typeface="Arial"/>
                          <a:cs typeface="Arial"/>
                        </a:rPr>
                        <a:t>14</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Monee I</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5,8 bi</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0,7%</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Outros</a:t>
                      </a:r>
                    </a:p>
                    <a:p>
                      <a:pPr algn="l"/>
                      <a:r>
                        <a:rPr sz="803">
                          <a:solidFill>
                            <a:srgbClr val="30353A"/>
                          </a:solidFill>
                          <a:latin typeface="Arial"/>
                          <a:ea typeface="Arial"/>
                          <a:cs typeface="Arial"/>
                        </a:rPr>
                        <a:t>Multicarteira Outros</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Administração + Custódia</a:t>
                      </a:r>
                    </a:p>
                  </a:txBody>
                  <a:tcPr marL="47625" marR="47625" marT="14288" marB="14288" anchor="ctr">
                    <a:solidFill>
                      <a:srgbClr val="F5F6F7"/>
                    </a:solidFill>
                  </a:tcPr>
                </a:tc>
              </a:tr>
              <a:tr h="445770">
                <a:tc>
                  <a:txBody>
                    <a:bodyPr wrap="square" anchor="ctr">
                      <a:normAutofit/>
                    </a:bodyPr>
                    <a:lstStyle/>
                    <a:p>
                      <a:pPr algn="r"/>
                      <a:r>
                        <a:rPr sz="803">
                          <a:solidFill>
                            <a:srgbClr val="30353A"/>
                          </a:solidFill>
                          <a:latin typeface="Arial"/>
                          <a:ea typeface="Arial"/>
                          <a:cs typeface="Arial"/>
                        </a:rPr>
                        <a:t>15</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PicPay I</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4,8 bi</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0,5%</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Financeiro</a:t>
                      </a:r>
                    </a:p>
                    <a:p>
                      <a:pPr algn="l"/>
                      <a:r>
                        <a:rPr sz="803">
                          <a:solidFill>
                            <a:srgbClr val="30353A"/>
                          </a:solidFill>
                          <a:latin typeface="Arial"/>
                          <a:ea typeface="Arial"/>
                          <a:cs typeface="Arial"/>
                        </a:rPr>
                        <a:t>Multicarteira Financeiro</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Monoestrutura</a:t>
                      </a:r>
                    </a:p>
                  </a:txBody>
                  <a:tcPr marL="47625" marR="47625" marT="14288" marB="14288" anchor="ctr">
                    <a:solidFill>
                      <a:srgbClr val="FFFFFF"/>
                    </a:solidFill>
                  </a:tcPr>
                </a:tc>
              </a:tr>
              <a:tr h="445770">
                <a:tc>
                  <a:txBody>
                    <a:bodyPr wrap="square" anchor="ctr">
                      <a:normAutofit/>
                    </a:bodyPr>
                    <a:lstStyle/>
                    <a:p>
                      <a:pPr algn="r"/>
                      <a:r>
                        <a:rPr sz="803">
                          <a:solidFill>
                            <a:srgbClr val="30353A"/>
                          </a:solidFill>
                          <a:latin typeface="Arial"/>
                          <a:ea typeface="Arial"/>
                          <a:cs typeface="Arial"/>
                        </a:rPr>
                        <a:t>16</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Artesanal Master</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4,5 bi</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0,5%</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Financeiro</a:t>
                      </a:r>
                    </a:p>
                    <a:p>
                      <a:pPr algn="l"/>
                      <a:r>
                        <a:rPr sz="803">
                          <a:solidFill>
                            <a:srgbClr val="30353A"/>
                          </a:solidFill>
                          <a:latin typeface="Arial"/>
                          <a:ea typeface="Arial"/>
                          <a:cs typeface="Arial"/>
                        </a:rPr>
                        <a:t>Crédito Pessoal</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Três prestadores distintos</a:t>
                      </a:r>
                    </a:p>
                  </a:txBody>
                  <a:tcPr marL="47625" marR="47625" marT="14288" marB="14288" anchor="ctr">
                    <a:solidFill>
                      <a:srgbClr val="F5F6F7"/>
                    </a:solidFill>
                  </a:tcPr>
                </a:tc>
              </a:tr>
              <a:tr h="445770">
                <a:tc>
                  <a:txBody>
                    <a:bodyPr wrap="square" anchor="ctr">
                      <a:normAutofit/>
                    </a:bodyPr>
                    <a:lstStyle/>
                    <a:p>
                      <a:pPr algn="r"/>
                      <a:r>
                        <a:rPr sz="803">
                          <a:solidFill>
                            <a:srgbClr val="30353A"/>
                          </a:solidFill>
                          <a:latin typeface="Arial"/>
                          <a:ea typeface="Arial"/>
                          <a:cs typeface="Arial"/>
                        </a:rPr>
                        <a:t>17</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Marobá</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4,5 bi</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0,5%</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Outros</a:t>
                      </a:r>
                    </a:p>
                    <a:p>
                      <a:pPr algn="l"/>
                      <a:r>
                        <a:rPr sz="803">
                          <a:solidFill>
                            <a:srgbClr val="30353A"/>
                          </a:solidFill>
                          <a:latin typeface="Arial"/>
                          <a:ea typeface="Arial"/>
                          <a:cs typeface="Arial"/>
                        </a:rPr>
                        <a:t>Multicarteira Outros</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Três prestadores distintos</a:t>
                      </a:r>
                    </a:p>
                  </a:txBody>
                  <a:tcPr marL="47625" marR="47625" marT="14288" marB="14288" anchor="ctr">
                    <a:solidFill>
                      <a:srgbClr val="FFFFFF"/>
                    </a:solidFill>
                  </a:tcPr>
                </a:tc>
              </a:tr>
              <a:tr h="445770">
                <a:tc>
                  <a:txBody>
                    <a:bodyPr wrap="square" anchor="ctr">
                      <a:normAutofit/>
                    </a:bodyPr>
                    <a:lstStyle/>
                    <a:p>
                      <a:pPr algn="r"/>
                      <a:r>
                        <a:rPr sz="803">
                          <a:solidFill>
                            <a:srgbClr val="30353A"/>
                          </a:solidFill>
                          <a:latin typeface="Arial"/>
                          <a:ea typeface="Arial"/>
                          <a:cs typeface="Arial"/>
                        </a:rPr>
                        <a:t>18</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Venda de Veículos</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4,2 bi</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0,5%</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Financeiro</a:t>
                      </a:r>
                    </a:p>
                    <a:p>
                      <a:pPr algn="l"/>
                      <a:r>
                        <a:rPr sz="803">
                          <a:solidFill>
                            <a:srgbClr val="30353A"/>
                          </a:solidFill>
                          <a:latin typeface="Arial"/>
                          <a:ea typeface="Arial"/>
                          <a:cs typeface="Arial"/>
                        </a:rPr>
                        <a:t>Financiamento de Veículos</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Administração + Custódia</a:t>
                      </a:r>
                    </a:p>
                  </a:txBody>
                  <a:tcPr marL="47625" marR="47625" marT="14288" marB="14288" anchor="ctr">
                    <a:solidFill>
                      <a:srgbClr val="F5F6F7"/>
                    </a:solidFill>
                  </a:tcPr>
                </a:tc>
              </a:tr>
              <a:tr h="445770">
                <a:tc>
                  <a:txBody>
                    <a:bodyPr wrap="square" anchor="ctr">
                      <a:normAutofit/>
                    </a:bodyPr>
                    <a:lstStyle/>
                    <a:p>
                      <a:pPr algn="r"/>
                      <a:r>
                        <a:rPr sz="803">
                          <a:solidFill>
                            <a:srgbClr val="30353A"/>
                          </a:solidFill>
                          <a:latin typeface="Arial"/>
                          <a:ea typeface="Arial"/>
                          <a:cs typeface="Arial"/>
                        </a:rPr>
                        <a:t>19</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Day Maxx 2</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4,0 bi</a:t>
                      </a:r>
                    </a:p>
                  </a:txBody>
                  <a:tcPr marL="47625" marR="47625" marT="14288" marB="14288" anchor="ctr">
                    <a:solidFill>
                      <a:srgbClr val="FFFFFF"/>
                    </a:solidFill>
                  </a:tcPr>
                </a:tc>
                <a:tc>
                  <a:txBody>
                    <a:bodyPr wrap="square" anchor="ctr">
                      <a:normAutofit/>
                    </a:bodyPr>
                    <a:lstStyle/>
                    <a:p>
                      <a:pPr algn="r"/>
                      <a:r>
                        <a:rPr sz="803">
                          <a:solidFill>
                            <a:srgbClr val="30353A"/>
                          </a:solidFill>
                          <a:latin typeface="Arial"/>
                          <a:ea typeface="Arial"/>
                          <a:cs typeface="Arial"/>
                        </a:rPr>
                        <a:t>0,5%</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Outros</a:t>
                      </a:r>
                    </a:p>
                    <a:p>
                      <a:pPr algn="l"/>
                      <a:r>
                        <a:rPr sz="803">
                          <a:solidFill>
                            <a:srgbClr val="30353A"/>
                          </a:solidFill>
                          <a:latin typeface="Arial"/>
                          <a:ea typeface="Arial"/>
                          <a:cs typeface="Arial"/>
                        </a:rPr>
                        <a:t>Multicarteira Outros</a:t>
                      </a:r>
                    </a:p>
                  </a:txBody>
                  <a:tcPr marL="47625" marR="47625" marT="14288" marB="14288" anchor="ctr">
                    <a:solidFill>
                      <a:srgbClr val="FFFFFF"/>
                    </a:solidFill>
                  </a:tcPr>
                </a:tc>
                <a:tc>
                  <a:txBody>
                    <a:bodyPr wrap="square" anchor="ctr">
                      <a:normAutofit/>
                    </a:bodyPr>
                    <a:lstStyle/>
                    <a:p>
                      <a:pPr algn="l"/>
                      <a:r>
                        <a:rPr sz="803">
                          <a:solidFill>
                            <a:srgbClr val="30353A"/>
                          </a:solidFill>
                          <a:latin typeface="Arial"/>
                          <a:ea typeface="Arial"/>
                          <a:cs typeface="Arial"/>
                        </a:rPr>
                        <a:t>Monoestrutura</a:t>
                      </a:r>
                    </a:p>
                  </a:txBody>
                  <a:tcPr marL="47625" marR="47625" marT="14288" marB="14288" anchor="ctr">
                    <a:solidFill>
                      <a:srgbClr val="FFFFFF"/>
                    </a:solidFill>
                  </a:tcPr>
                </a:tc>
              </a:tr>
              <a:tr h="445770">
                <a:tc>
                  <a:txBody>
                    <a:bodyPr wrap="square" anchor="ctr">
                      <a:normAutofit/>
                    </a:bodyPr>
                    <a:lstStyle/>
                    <a:p>
                      <a:pPr algn="r"/>
                      <a:r>
                        <a:rPr sz="803">
                          <a:solidFill>
                            <a:srgbClr val="30353A"/>
                          </a:solidFill>
                          <a:latin typeface="Arial"/>
                          <a:ea typeface="Arial"/>
                          <a:cs typeface="Arial"/>
                        </a:rPr>
                        <a:t>20</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ACR BEM</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3,7 bi</a:t>
                      </a:r>
                    </a:p>
                  </a:txBody>
                  <a:tcPr marL="47625" marR="47625" marT="14288" marB="14288" anchor="ctr">
                    <a:solidFill>
                      <a:srgbClr val="F5F6F7"/>
                    </a:solidFill>
                  </a:tcPr>
                </a:tc>
                <a:tc>
                  <a:txBody>
                    <a:bodyPr wrap="square" anchor="ctr">
                      <a:normAutofit/>
                    </a:bodyPr>
                    <a:lstStyle/>
                    <a:p>
                      <a:pPr algn="r"/>
                      <a:r>
                        <a:rPr sz="803">
                          <a:solidFill>
                            <a:srgbClr val="30353A"/>
                          </a:solidFill>
                          <a:latin typeface="Arial"/>
                          <a:ea typeface="Arial"/>
                          <a:cs typeface="Arial"/>
                        </a:rPr>
                        <a:t>0,4%</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Financeiro</a:t>
                      </a:r>
                    </a:p>
                    <a:p>
                      <a:pPr algn="l"/>
                      <a:r>
                        <a:rPr sz="803">
                          <a:solidFill>
                            <a:srgbClr val="30353A"/>
                          </a:solidFill>
                          <a:latin typeface="Arial"/>
                          <a:ea typeface="Arial"/>
                          <a:cs typeface="Arial"/>
                        </a:rPr>
                        <a:t>Multicarteira Financeiro</a:t>
                      </a:r>
                    </a:p>
                  </a:txBody>
                  <a:tcPr marL="47625" marR="47625" marT="14288" marB="14288" anchor="ctr">
                    <a:solidFill>
                      <a:srgbClr val="F5F6F7"/>
                    </a:solidFill>
                  </a:tcPr>
                </a:tc>
                <a:tc>
                  <a:txBody>
                    <a:bodyPr wrap="square" anchor="ctr">
                      <a:normAutofit/>
                    </a:bodyPr>
                    <a:lstStyle/>
                    <a:p>
                      <a:pPr algn="l"/>
                      <a:r>
                        <a:rPr sz="803">
                          <a:solidFill>
                            <a:srgbClr val="30353A"/>
                          </a:solidFill>
                          <a:latin typeface="Arial"/>
                          <a:ea typeface="Arial"/>
                          <a:cs typeface="Arial"/>
                        </a:rPr>
                        <a:t>Monoestrutura</a:t>
                      </a:r>
                    </a:p>
                  </a:txBody>
                  <a:tcPr marL="47625" marR="47625" marT="14288" marB="14288" anchor="ctr">
                    <a:solidFill>
                      <a:srgbClr val="F5F6F7"/>
                    </a:solidFill>
                  </a:tcPr>
                </a:tc>
              </a:tr>
            </a:tbl>
          </a:graphicData>
        </a:graphic>
      </p:graphicFrame>
    </p:spTree>
    <p:extLst>
      <p:ext uri="{BB962C8B-B14F-4D97-AF65-F5344CB8AC3E}">
        <p14:creationId xmlns:p14="http://schemas.microsoft.com/office/powerpoint/2010/main" val="76079917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6645898-F657-407B-BD9A-3293A49A9F72}"/>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RANKING · TOP 20 OUTROS</a:t>
            </a:r>
          </a:p>
        </p:txBody>
      </p:sp>
      <p:sp>
        <p:nvSpPr>
          <p:cNvPr id="2" name="">
            <a:extLst xmlns:a="http://schemas.openxmlformats.org/drawingml/2006/main">
              <a:ext uri="{FF2B5EF4-FFF2-40B4-BE49-F238E27FC236}">
                <a16:creationId xmlns:a16="http://schemas.microsoft.com/office/drawing/2014/main" id="{667E7737-0AAA-4F00-A439-513896AFF1AC}"/>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91160"/>
          </a:bodyPr>
          <a:lstStyle xmlns:a="http://schemas.openxmlformats.org/drawingml/2006/main"/>
          <a:p xmlns:a="http://schemas.openxmlformats.org/drawingml/2006/main">
            <a:pPr algn="l">
              <a:lnSpc>
                <a:spcPct val="100000"/>
              </a:lnSpc>
              <a:buNone/>
              <a:defRPr sz="1950" b="1">
                <a:solidFill>
                  <a:srgbClr val="151515"/>
                </a:solidFill>
                <a:latin typeface="Arial"/>
                <a:ea typeface="Arial"/>
                <a:cs typeface="Arial"/>
              </a:defRPr>
            </a:pPr>
            <a:r>
              <a:rPr sz="1950" b="1">
                <a:solidFill>
                  <a:srgbClr val="151515"/>
                </a:solidFill>
                <a:latin typeface="Arial"/>
                <a:ea typeface="Arial"/>
                <a:cs typeface="Arial"/>
              </a:rPr>
              <a:t>5 candidatos somam R$ 34,4 bi · 10,0% do Tipo literal Outros; 9,7% do bucket do slide 8, que inclui N/D</a:t>
            </a:r>
          </a:p>
        </p:txBody>
      </p:sp>
      <p:sp>
        <p:nvSpPr>
          <p:cNvPr id="3" name="">
            <a:extLst xmlns:a="http://schemas.openxmlformats.org/drawingml/2006/main">
              <a:ext uri="{FF2B5EF4-FFF2-40B4-BE49-F238E27FC236}">
                <a16:creationId xmlns:a16="http://schemas.microsoft.com/office/drawing/2014/main" id="{1068BF87-666F-4252-9493-4AFC4591CA95}"/>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C9A19C5-04AF-4F3D-8458-EFF7FB6F995E}"/>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2368084-DC40-4899-B092-1F25EF0A488A}"/>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 e FundosNet; ranking em jun/26. Regulamento público vigente mais recente, leitura automatizada por pypdf; links e limitações no workbook.</a:t>
            </a:r>
          </a:p>
        </p:txBody>
      </p:sp>
      <p:sp>
        <p:nvSpPr>
          <p:cNvPr id="6" name="">
            <a:extLst xmlns:a="http://schemas.openxmlformats.org/drawingml/2006/main">
              <a:ext uri="{FF2B5EF4-FFF2-40B4-BE49-F238E27FC236}">
                <a16:creationId xmlns:a16="http://schemas.microsoft.com/office/drawing/2014/main" id="{72D02FEB-D5AB-4F4C-945C-10501C9066CB}"/>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19</a:t>
            </a:r>
          </a:p>
        </p:txBody>
      </p:sp>
      <p:graphicFrame>
        <p:nvGraphicFramePr>
          <p:cNvPr id="15" name=""/>
          <p:cNvGraphicFramePr/>
          <p:nvPr/>
        </p:nvGraphicFramePr>
        <p:xfrm>
          <a:off xmlns:a="http://schemas.openxmlformats.org/drawingml/2006/main" x="571500" y="1428750"/>
          <a:ext xmlns:a="http://schemas.openxmlformats.org/drawingml/2006/main" cx="5429250" cy="4667250"/>
        </p:xfrm>
        <a:graphic xmlns:a="http://schemas.openxmlformats.org/drawingml/2006/main">
          <a:graphicData uri="http://schemas.openxmlformats.org/drawingml/2006/table">
            <a:tbl>
              <a:tblPr firstRow="0" firstCol="0" lastRow="0" lastCol="0" bandRow="0" bandCol="0"/>
              <a:tblGrid>
                <a:gridCol w="266700"/>
                <a:gridCol w="1352550"/>
                <a:gridCol w="523875"/>
                <a:gridCol w="904875"/>
                <a:gridCol w="1000125"/>
                <a:gridCol w="1381125"/>
              </a:tblGrid>
              <a:tr h="209550">
                <a:tc>
                  <a:txBody>
                    <a:bodyPr wrap="square" anchor="ctr">
                      <a:normAutofit/>
                    </a:bodyPr>
                    <a:lstStyle/>
                    <a:p>
                      <a:pPr algn="r"/>
                      <a:r>
                        <a:rPr sz="698" b="1">
                          <a:solidFill>
                            <a:srgbClr val="FFFFFF"/>
                          </a:solidFill>
                          <a:latin typeface="Arial"/>
                          <a:ea typeface="Arial"/>
                          <a:cs typeface="Arial"/>
                        </a:rPr>
                        <a:t>#</a:t>
                      </a:r>
                    </a:p>
                  </a:txBody>
                  <a:tcPr marL="47625" marR="47625" marT="19050" marB="19050" anchor="ctr">
                    <a:solidFill>
                      <a:srgbClr val="151515"/>
                    </a:solidFill>
                  </a:tcPr>
                </a:tc>
                <a:tc>
                  <a:txBody>
                    <a:bodyPr wrap="square" anchor="ctr">
                      <a:normAutofit/>
                    </a:bodyPr>
                    <a:lstStyle/>
                    <a:p>
                      <a:pPr algn="l"/>
                      <a:r>
                        <a:rPr sz="698" b="1">
                          <a:solidFill>
                            <a:srgbClr val="FFFFFF"/>
                          </a:solidFill>
                          <a:latin typeface="Arial"/>
                          <a:ea typeface="Arial"/>
                          <a:cs typeface="Arial"/>
                        </a:rPr>
                        <a:t>Fundo</a:t>
                      </a:r>
                    </a:p>
                  </a:txBody>
                  <a:tcPr marL="47625" marR="47625" marT="19050" marB="19050" anchor="ctr">
                    <a:solidFill>
                      <a:srgbClr val="151515"/>
                    </a:solidFill>
                  </a:tcPr>
                </a:tc>
                <a:tc>
                  <a:txBody>
                    <a:bodyPr wrap="square" anchor="ctr">
                      <a:normAutofit/>
                    </a:bodyPr>
                    <a:lstStyle/>
                    <a:p>
                      <a:pPr algn="r"/>
                      <a:r>
                        <a:rPr sz="698" b="1">
                          <a:solidFill>
                            <a:srgbClr val="FFFFFF"/>
                          </a:solidFill>
                          <a:latin typeface="Arial"/>
                          <a:ea typeface="Arial"/>
                          <a:cs typeface="Arial"/>
                        </a:rPr>
                        <a:t>PL bi</a:t>
                      </a:r>
                    </a:p>
                  </a:txBody>
                  <a:tcPr marL="47625" marR="47625" marT="19050" marB="19050" anchor="ctr">
                    <a:solidFill>
                      <a:srgbClr val="151515"/>
                    </a:solidFill>
                  </a:tcPr>
                </a:tc>
                <a:tc>
                  <a:txBody>
                    <a:bodyPr wrap="square" anchor="ctr">
                      <a:normAutofit/>
                    </a:bodyPr>
                    <a:lstStyle/>
                    <a:p>
                      <a:pPr algn="l"/>
                      <a:r>
                        <a:rPr sz="698" b="1">
                          <a:solidFill>
                            <a:srgbClr val="FFFFFF"/>
                          </a:solidFill>
                          <a:latin typeface="Arial"/>
                          <a:ea typeface="Arial"/>
                          <a:cs typeface="Arial"/>
                        </a:rPr>
                        <a:t>Cedente / originador expresso</a:t>
                      </a:r>
                    </a:p>
                  </a:txBody>
                  <a:tcPr marL="47625" marR="47625" marT="19050" marB="19050" anchor="ctr">
                    <a:solidFill>
                      <a:srgbClr val="151515"/>
                    </a:solidFill>
                  </a:tcPr>
                </a:tc>
                <a:tc>
                  <a:txBody>
                    <a:bodyPr wrap="square" anchor="ctr">
                      <a:normAutofit/>
                    </a:bodyPr>
                    <a:lstStyle/>
                    <a:p>
                      <a:pPr algn="l"/>
                      <a:r>
                        <a:rPr sz="698" b="1">
                          <a:solidFill>
                            <a:srgbClr val="FFFFFF"/>
                          </a:solidFill>
                          <a:latin typeface="Arial"/>
                          <a:ea typeface="Arial"/>
                          <a:cs typeface="Arial"/>
                        </a:rPr>
                        <a:t>Categoria proposta</a:t>
                      </a:r>
                    </a:p>
                  </a:txBody>
                  <a:tcPr marL="47625" marR="47625" marT="19050" marB="19050" anchor="ctr">
                    <a:solidFill>
                      <a:srgbClr val="151515"/>
                    </a:solidFill>
                  </a:tcPr>
                </a:tc>
                <a:tc>
                  <a:txBody>
                    <a:bodyPr wrap="square" anchor="ctr">
                      <a:normAutofit/>
                    </a:bodyPr>
                    <a:lstStyle/>
                    <a:p>
                      <a:pPr algn="l"/>
                      <a:r>
                        <a:rPr sz="698" b="1">
                          <a:solidFill>
                            <a:srgbClr val="FFFFFF"/>
                          </a:solidFill>
                          <a:latin typeface="Arial"/>
                          <a:ea typeface="Arial"/>
                          <a:cs typeface="Arial"/>
                        </a:rPr>
                        <a:t>Status</a:t>
                      </a:r>
                    </a:p>
                  </a:txBody>
                  <a:tcPr marL="47625" marR="47625" marT="19050" marB="19050" anchor="ctr">
                    <a:solidFill>
                      <a:srgbClr val="151515"/>
                    </a:solidFill>
                  </a:tcPr>
                </a:tc>
              </a:tr>
              <a:tr h="445770">
                <a:tc>
                  <a:txBody>
                    <a:bodyPr wrap="square" anchor="ctr">
                      <a:normAutofit/>
                    </a:bodyPr>
                    <a:lstStyle/>
                    <a:p>
                      <a:pPr algn="r"/>
                      <a:r>
                        <a:rPr sz="728">
                          <a:solidFill>
                            <a:srgbClr val="30353A"/>
                          </a:solidFill>
                          <a:latin typeface="Arial"/>
                          <a:ea typeface="Arial"/>
                          <a:cs typeface="Arial"/>
                        </a:rPr>
                        <a:t>1</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CloudWalk Bela</a:t>
                      </a:r>
                    </a:p>
                  </a:txBody>
                  <a:tcPr marL="47625" marR="47625" marT="14288" marB="14288" anchor="ctr">
                    <a:solidFill>
                      <a:srgbClr val="FFFFFF"/>
                    </a:solidFill>
                  </a:tcPr>
                </a:tc>
                <a:tc>
                  <a:txBody>
                    <a:bodyPr wrap="square" anchor="ctr">
                      <a:normAutofit/>
                    </a:bodyPr>
                    <a:lstStyle/>
                    <a:p>
                      <a:pPr algn="r"/>
                      <a:r>
                        <a:rPr sz="728">
                          <a:solidFill>
                            <a:srgbClr val="30353A"/>
                          </a:solidFill>
                          <a:latin typeface="Arial"/>
                          <a:ea typeface="Arial"/>
                          <a:cs typeface="Arial"/>
                        </a:rPr>
                        <a:t>10,0 bi</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CloudWalk Instituição</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Financeiro —</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Candidato</a:t>
                      </a:r>
                    </a:p>
                  </a:txBody>
                  <a:tcPr marL="47625" marR="47625" marT="14288" marB="14288" anchor="ctr">
                    <a:solidFill>
                      <a:srgbClr val="FFFFFF"/>
                    </a:solidFill>
                  </a:tcPr>
                </a:tc>
              </a:tr>
              <a:tr h="445770">
                <a:tc>
                  <a:txBody>
                    <a:bodyPr wrap="square" anchor="ctr">
                      <a:normAutofit/>
                    </a:bodyPr>
                    <a:lstStyle/>
                    <a:p>
                      <a:pPr algn="r"/>
                      <a:r>
                        <a:rPr sz="728">
                          <a:solidFill>
                            <a:srgbClr val="30353A"/>
                          </a:solidFill>
                          <a:latin typeface="Arial"/>
                          <a:ea typeface="Arial"/>
                          <a:cs typeface="Arial"/>
                        </a:rPr>
                        <a:t>2</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Itaú Crédito Privado</a:t>
                      </a:r>
                    </a:p>
                  </a:txBody>
                  <a:tcPr marL="47625" marR="47625" marT="14288" marB="14288" anchor="ctr">
                    <a:solidFill>
                      <a:srgbClr val="F5F6F7"/>
                    </a:solidFill>
                  </a:tcPr>
                </a:tc>
                <a:tc>
                  <a:txBody>
                    <a:bodyPr wrap="square" anchor="ctr">
                      <a:normAutofit/>
                    </a:bodyPr>
                    <a:lstStyle/>
                    <a:p>
                      <a:pPr algn="r"/>
                      <a:r>
                        <a:rPr sz="728">
                          <a:solidFill>
                            <a:srgbClr val="30353A"/>
                          </a:solidFill>
                          <a:latin typeface="Arial"/>
                          <a:ea typeface="Arial"/>
                          <a:cs typeface="Arial"/>
                        </a:rPr>
                        <a:t>8,7 bi</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Ausência de cedente ou</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Financeiro —</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Candidato</a:t>
                      </a:r>
                    </a:p>
                  </a:txBody>
                  <a:tcPr marL="47625" marR="47625" marT="14288" marB="14288" anchor="ctr">
                    <a:solidFill>
                      <a:srgbClr val="F5F6F7"/>
                    </a:solidFill>
                  </a:tcPr>
                </a:tc>
              </a:tr>
              <a:tr h="445770">
                <a:tc>
                  <a:txBody>
                    <a:bodyPr wrap="square" anchor="ctr">
                      <a:normAutofit/>
                    </a:bodyPr>
                    <a:lstStyle/>
                    <a:p>
                      <a:pPr algn="r"/>
                      <a:r>
                        <a:rPr sz="728">
                          <a:solidFill>
                            <a:srgbClr val="30353A"/>
                          </a:solidFill>
                          <a:latin typeface="Arial"/>
                          <a:ea typeface="Arial"/>
                          <a:cs typeface="Arial"/>
                        </a:rPr>
                        <a:t>3</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Rio Vermelho NP</a:t>
                      </a:r>
                    </a:p>
                  </a:txBody>
                  <a:tcPr marL="47625" marR="47625" marT="14288" marB="14288" anchor="ctr">
                    <a:solidFill>
                      <a:srgbClr val="FFFFFF"/>
                    </a:solidFill>
                  </a:tcPr>
                </a:tc>
                <a:tc>
                  <a:txBody>
                    <a:bodyPr wrap="square" anchor="ctr">
                      <a:normAutofit/>
                    </a:bodyPr>
                    <a:lstStyle/>
                    <a:p>
                      <a:pPr algn="r"/>
                      <a:r>
                        <a:rPr sz="728">
                          <a:solidFill>
                            <a:srgbClr val="30353A"/>
                          </a:solidFill>
                          <a:latin typeface="Arial"/>
                          <a:ea typeface="Arial"/>
                          <a:cs typeface="Arial"/>
                        </a:rPr>
                        <a:t>6,4 bi</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Pessoas físicas,</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Outros —</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Manter em Outros</a:t>
                      </a:r>
                    </a:p>
                  </a:txBody>
                  <a:tcPr marL="47625" marR="47625" marT="14288" marB="14288" anchor="ctr">
                    <a:solidFill>
                      <a:srgbClr val="FFFFFF"/>
                    </a:solidFill>
                  </a:tcPr>
                </a:tc>
              </a:tr>
              <a:tr h="445770">
                <a:tc>
                  <a:txBody>
                    <a:bodyPr wrap="square" anchor="ctr">
                      <a:normAutofit/>
                    </a:bodyPr>
                    <a:lstStyle/>
                    <a:p>
                      <a:pPr algn="r"/>
                      <a:r>
                        <a:rPr sz="728">
                          <a:solidFill>
                            <a:srgbClr val="30353A"/>
                          </a:solidFill>
                          <a:latin typeface="Arial"/>
                          <a:ea typeface="Arial"/>
                          <a:cs typeface="Arial"/>
                        </a:rPr>
                        <a:t>4</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PagSeguro I</a:t>
                      </a:r>
                    </a:p>
                  </a:txBody>
                  <a:tcPr marL="47625" marR="47625" marT="14288" marB="14288" anchor="ctr">
                    <a:solidFill>
                      <a:srgbClr val="F5F6F7"/>
                    </a:solidFill>
                  </a:tcPr>
                </a:tc>
                <a:tc>
                  <a:txBody>
                    <a:bodyPr wrap="square" anchor="ctr">
                      <a:normAutofit/>
                    </a:bodyPr>
                    <a:lstStyle/>
                    <a:p>
                      <a:pPr algn="r"/>
                      <a:r>
                        <a:rPr sz="728">
                          <a:solidFill>
                            <a:srgbClr val="30353A"/>
                          </a:solidFill>
                          <a:latin typeface="Arial"/>
                          <a:ea typeface="Arial"/>
                          <a:cs typeface="Arial"/>
                        </a:rPr>
                        <a:t>6,2 bi</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Estabelecimentos</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Financeiro —</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Candidato</a:t>
                      </a:r>
                    </a:p>
                  </a:txBody>
                  <a:tcPr marL="47625" marR="47625" marT="14288" marB="14288" anchor="ctr">
                    <a:solidFill>
                      <a:srgbClr val="F5F6F7"/>
                    </a:solidFill>
                  </a:tcPr>
                </a:tc>
              </a:tr>
              <a:tr h="445770">
                <a:tc>
                  <a:txBody>
                    <a:bodyPr wrap="square" anchor="ctr">
                      <a:normAutofit/>
                    </a:bodyPr>
                    <a:lstStyle/>
                    <a:p>
                      <a:pPr algn="r"/>
                      <a:r>
                        <a:rPr sz="728">
                          <a:solidFill>
                            <a:srgbClr val="30353A"/>
                          </a:solidFill>
                          <a:latin typeface="Arial"/>
                          <a:ea typeface="Arial"/>
                          <a:cs typeface="Arial"/>
                        </a:rPr>
                        <a:t>5</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Alternative Assets III</a:t>
                      </a:r>
                    </a:p>
                  </a:txBody>
                  <a:tcPr marL="47625" marR="47625" marT="14288" marB="14288" anchor="ctr">
                    <a:solidFill>
                      <a:srgbClr val="FFFFFF"/>
                    </a:solidFill>
                  </a:tcPr>
                </a:tc>
                <a:tc>
                  <a:txBody>
                    <a:bodyPr wrap="square" anchor="ctr">
                      <a:normAutofit/>
                    </a:bodyPr>
                    <a:lstStyle/>
                    <a:p>
                      <a:pPr algn="r"/>
                      <a:r>
                        <a:rPr sz="728">
                          <a:solidFill>
                            <a:srgbClr val="30353A"/>
                          </a:solidFill>
                          <a:latin typeface="Arial"/>
                          <a:ea typeface="Arial"/>
                          <a:cs typeface="Arial"/>
                        </a:rPr>
                        <a:t>5,9 bi</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Pessoas jurídicas ou</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Outros —</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Manter em Outros</a:t>
                      </a:r>
                    </a:p>
                  </a:txBody>
                  <a:tcPr marL="47625" marR="47625" marT="14288" marB="14288" anchor="ctr">
                    <a:solidFill>
                      <a:srgbClr val="FFFFFF"/>
                    </a:solidFill>
                  </a:tcPr>
                </a:tc>
              </a:tr>
              <a:tr h="445770">
                <a:tc>
                  <a:txBody>
                    <a:bodyPr wrap="square" anchor="ctr">
                      <a:normAutofit/>
                    </a:bodyPr>
                    <a:lstStyle/>
                    <a:p>
                      <a:pPr algn="r"/>
                      <a:r>
                        <a:rPr sz="728">
                          <a:solidFill>
                            <a:srgbClr val="30353A"/>
                          </a:solidFill>
                          <a:latin typeface="Arial"/>
                          <a:ea typeface="Arial"/>
                          <a:cs typeface="Arial"/>
                        </a:rPr>
                        <a:t>6</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Monee I</a:t>
                      </a:r>
                    </a:p>
                  </a:txBody>
                  <a:tcPr marL="47625" marR="47625" marT="14288" marB="14288" anchor="ctr">
                    <a:solidFill>
                      <a:srgbClr val="F5F6F7"/>
                    </a:solidFill>
                  </a:tcPr>
                </a:tc>
                <a:tc>
                  <a:txBody>
                    <a:bodyPr wrap="square" anchor="ctr">
                      <a:normAutofit/>
                    </a:bodyPr>
                    <a:lstStyle/>
                    <a:p>
                      <a:pPr algn="r"/>
                      <a:r>
                        <a:rPr sz="728">
                          <a:solidFill>
                            <a:srgbClr val="30353A"/>
                          </a:solidFill>
                          <a:latin typeface="Arial"/>
                          <a:ea typeface="Arial"/>
                          <a:cs typeface="Arial"/>
                        </a:rPr>
                        <a:t>5,8 bi</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SHPP Brasil</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Financeiro —</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Candidato</a:t>
                      </a:r>
                    </a:p>
                  </a:txBody>
                  <a:tcPr marL="47625" marR="47625" marT="14288" marB="14288" anchor="ctr">
                    <a:solidFill>
                      <a:srgbClr val="F5F6F7"/>
                    </a:solidFill>
                  </a:tcPr>
                </a:tc>
              </a:tr>
              <a:tr h="445770">
                <a:tc>
                  <a:txBody>
                    <a:bodyPr wrap="square" anchor="ctr">
                      <a:normAutofit/>
                    </a:bodyPr>
                    <a:lstStyle/>
                    <a:p>
                      <a:pPr algn="r"/>
                      <a:r>
                        <a:rPr sz="728">
                          <a:solidFill>
                            <a:srgbClr val="30353A"/>
                          </a:solidFill>
                          <a:latin typeface="Arial"/>
                          <a:ea typeface="Arial"/>
                          <a:cs typeface="Arial"/>
                        </a:rPr>
                        <a:t>7</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Marobá</a:t>
                      </a:r>
                    </a:p>
                  </a:txBody>
                  <a:tcPr marL="47625" marR="47625" marT="14288" marB="14288" anchor="ctr">
                    <a:solidFill>
                      <a:srgbClr val="FFFFFF"/>
                    </a:solidFill>
                  </a:tcPr>
                </a:tc>
                <a:tc>
                  <a:txBody>
                    <a:bodyPr wrap="square" anchor="ctr">
                      <a:normAutofit/>
                    </a:bodyPr>
                    <a:lstStyle/>
                    <a:p>
                      <a:pPr algn="r"/>
                      <a:r>
                        <a:rPr sz="728">
                          <a:solidFill>
                            <a:srgbClr val="30353A"/>
                          </a:solidFill>
                          <a:latin typeface="Arial"/>
                          <a:ea typeface="Arial"/>
                          <a:cs typeface="Arial"/>
                        </a:rPr>
                        <a:t>4,5 bi</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Ausência de originador</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Outros —</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Manter em Outros</a:t>
                      </a:r>
                    </a:p>
                  </a:txBody>
                  <a:tcPr marL="47625" marR="47625" marT="14288" marB="14288" anchor="ctr">
                    <a:solidFill>
                      <a:srgbClr val="FFFFFF"/>
                    </a:solidFill>
                  </a:tcPr>
                </a:tc>
              </a:tr>
              <a:tr h="445770">
                <a:tc>
                  <a:txBody>
                    <a:bodyPr wrap="square" anchor="ctr">
                      <a:normAutofit/>
                    </a:bodyPr>
                    <a:lstStyle/>
                    <a:p>
                      <a:pPr algn="r"/>
                      <a:r>
                        <a:rPr sz="728">
                          <a:solidFill>
                            <a:srgbClr val="30353A"/>
                          </a:solidFill>
                          <a:latin typeface="Arial"/>
                          <a:ea typeface="Arial"/>
                          <a:cs typeface="Arial"/>
                        </a:rPr>
                        <a:t>8</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Day Maxx 2</a:t>
                      </a:r>
                    </a:p>
                  </a:txBody>
                  <a:tcPr marL="47625" marR="47625" marT="14288" marB="14288" anchor="ctr">
                    <a:solidFill>
                      <a:srgbClr val="F5F6F7"/>
                    </a:solidFill>
                  </a:tcPr>
                </a:tc>
                <a:tc>
                  <a:txBody>
                    <a:bodyPr wrap="square" anchor="ctr">
                      <a:normAutofit/>
                    </a:bodyPr>
                    <a:lstStyle/>
                    <a:p>
                      <a:pPr algn="r"/>
                      <a:r>
                        <a:rPr sz="728">
                          <a:solidFill>
                            <a:srgbClr val="30353A"/>
                          </a:solidFill>
                          <a:latin typeface="Arial"/>
                          <a:ea typeface="Arial"/>
                          <a:cs typeface="Arial"/>
                        </a:rPr>
                        <a:t>4,0 bi</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Pessoas físicas ou</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Validação manual</a:t>
                      </a:r>
                    </a:p>
                  </a:txBody>
                  <a:tcPr marL="47625" marR="47625" marT="14288" marB="14288" anchor="ctr">
                    <a:solidFill>
                      <a:srgbClr val="F5F6F7"/>
                    </a:solidFill>
                  </a:tcPr>
                </a:tc>
              </a:tr>
              <a:tr h="445770">
                <a:tc>
                  <a:txBody>
                    <a:bodyPr wrap="square" anchor="ctr">
                      <a:normAutofit/>
                    </a:bodyPr>
                    <a:lstStyle/>
                    <a:p>
                      <a:pPr algn="r"/>
                      <a:r>
                        <a:rPr sz="728">
                          <a:solidFill>
                            <a:srgbClr val="30353A"/>
                          </a:solidFill>
                          <a:latin typeface="Arial"/>
                          <a:ea typeface="Arial"/>
                          <a:cs typeface="Arial"/>
                        </a:rPr>
                        <a:t>9</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HAVAN ECONÔMICO, FINANCEIRO E COMERCIAL</a:t>
                      </a:r>
                    </a:p>
                  </a:txBody>
                  <a:tcPr marL="47625" marR="47625" marT="14288" marB="14288" anchor="ctr">
                    <a:solidFill>
                      <a:srgbClr val="FFFFFF"/>
                    </a:solidFill>
                  </a:tcPr>
                </a:tc>
                <a:tc>
                  <a:txBody>
                    <a:bodyPr wrap="square" anchor="ctr">
                      <a:normAutofit/>
                    </a:bodyPr>
                    <a:lstStyle/>
                    <a:p>
                      <a:pPr algn="r"/>
                      <a:r>
                        <a:rPr sz="728">
                          <a:solidFill>
                            <a:srgbClr val="30353A"/>
                          </a:solidFill>
                          <a:latin typeface="Arial"/>
                          <a:ea typeface="Arial"/>
                          <a:cs typeface="Arial"/>
                        </a:rPr>
                        <a:t>3,7 bi</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Havan S.A. (cedente) e</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Agro, Indústria</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Candidato</a:t>
                      </a:r>
                    </a:p>
                  </a:txBody>
                  <a:tcPr marL="47625" marR="47625" marT="14288" marB="14288" anchor="ctr">
                    <a:solidFill>
                      <a:srgbClr val="FFFFFF"/>
                    </a:solidFill>
                  </a:tcPr>
                </a:tc>
              </a:tr>
              <a:tr h="445770">
                <a:tc>
                  <a:txBody>
                    <a:bodyPr wrap="square" anchor="ctr">
                      <a:normAutofit/>
                    </a:bodyPr>
                    <a:lstStyle/>
                    <a:p>
                      <a:pPr algn="r"/>
                      <a:r>
                        <a:rPr sz="728">
                          <a:solidFill>
                            <a:srgbClr val="30353A"/>
                          </a:solidFill>
                          <a:latin typeface="Arial"/>
                          <a:ea typeface="Arial"/>
                          <a:cs typeface="Arial"/>
                        </a:rPr>
                        <a:t>10</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RSCRED MULTIESTRÉGIA - NÃO-PADRONIZADOS</a:t>
                      </a:r>
                    </a:p>
                  </a:txBody>
                  <a:tcPr marL="47625" marR="47625" marT="14288" marB="14288" anchor="ctr">
                    <a:solidFill>
                      <a:srgbClr val="F5F6F7"/>
                    </a:solidFill>
                  </a:tcPr>
                </a:tc>
                <a:tc>
                  <a:txBody>
                    <a:bodyPr wrap="square" anchor="ctr">
                      <a:normAutofit/>
                    </a:bodyPr>
                    <a:lstStyle/>
                    <a:p>
                      <a:pPr algn="r"/>
                      <a:r>
                        <a:rPr sz="728">
                          <a:solidFill>
                            <a:srgbClr val="30353A"/>
                          </a:solidFill>
                          <a:latin typeface="Arial"/>
                          <a:ea typeface="Arial"/>
                          <a:cs typeface="Arial"/>
                        </a:rPr>
                        <a:t>3,6 bi</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Múltiplos cedentes;</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Outros —</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Manter em Outros</a:t>
                      </a:r>
                    </a:p>
                  </a:txBody>
                  <a:tcPr marL="47625" marR="47625" marT="14288" marB="14288" anchor="ctr">
                    <a:solidFill>
                      <a:srgbClr val="F5F6F7"/>
                    </a:solidFill>
                  </a:tcPr>
                </a:tc>
              </a:tr>
            </a:tbl>
          </a:graphicData>
        </a:graphic>
      </p:graphicFrame>
      <p:graphicFrame>
        <p:nvGraphicFramePr>
          <p:cNvPr id="16" name=""/>
          <p:cNvGraphicFramePr/>
          <p:nvPr/>
        </p:nvGraphicFramePr>
        <p:xfrm>
          <a:off xmlns:a="http://schemas.openxmlformats.org/drawingml/2006/main" x="6191250" y="1428750"/>
          <a:ext xmlns:a="http://schemas.openxmlformats.org/drawingml/2006/main" cx="5429250" cy="4667250"/>
        </p:xfrm>
        <a:graphic xmlns:a="http://schemas.openxmlformats.org/drawingml/2006/main">
          <a:graphicData uri="http://schemas.openxmlformats.org/drawingml/2006/table">
            <a:tbl>
              <a:tblPr firstRow="0" firstCol="0" lastRow="0" lastCol="0" bandRow="0" bandCol="0"/>
              <a:tblGrid>
                <a:gridCol w="266700"/>
                <a:gridCol w="1352550"/>
                <a:gridCol w="523875"/>
                <a:gridCol w="904875"/>
                <a:gridCol w="1000125"/>
                <a:gridCol w="1381125"/>
              </a:tblGrid>
              <a:tr h="209550">
                <a:tc>
                  <a:txBody>
                    <a:bodyPr wrap="square" anchor="ctr">
                      <a:normAutofit/>
                    </a:bodyPr>
                    <a:lstStyle/>
                    <a:p>
                      <a:pPr algn="r"/>
                      <a:r>
                        <a:rPr sz="698" b="1">
                          <a:solidFill>
                            <a:srgbClr val="FFFFFF"/>
                          </a:solidFill>
                          <a:latin typeface="Arial"/>
                          <a:ea typeface="Arial"/>
                          <a:cs typeface="Arial"/>
                        </a:rPr>
                        <a:t>#</a:t>
                      </a:r>
                    </a:p>
                  </a:txBody>
                  <a:tcPr marL="47625" marR="47625" marT="19050" marB="19050" anchor="ctr">
                    <a:solidFill>
                      <a:srgbClr val="151515"/>
                    </a:solidFill>
                  </a:tcPr>
                </a:tc>
                <a:tc>
                  <a:txBody>
                    <a:bodyPr wrap="square" anchor="ctr">
                      <a:normAutofit/>
                    </a:bodyPr>
                    <a:lstStyle/>
                    <a:p>
                      <a:pPr algn="l"/>
                      <a:r>
                        <a:rPr sz="698" b="1">
                          <a:solidFill>
                            <a:srgbClr val="FFFFFF"/>
                          </a:solidFill>
                          <a:latin typeface="Arial"/>
                          <a:ea typeface="Arial"/>
                          <a:cs typeface="Arial"/>
                        </a:rPr>
                        <a:t>Fundo</a:t>
                      </a:r>
                    </a:p>
                  </a:txBody>
                  <a:tcPr marL="47625" marR="47625" marT="19050" marB="19050" anchor="ctr">
                    <a:solidFill>
                      <a:srgbClr val="151515"/>
                    </a:solidFill>
                  </a:tcPr>
                </a:tc>
                <a:tc>
                  <a:txBody>
                    <a:bodyPr wrap="square" anchor="ctr">
                      <a:normAutofit/>
                    </a:bodyPr>
                    <a:lstStyle/>
                    <a:p>
                      <a:pPr algn="r"/>
                      <a:r>
                        <a:rPr sz="698" b="1">
                          <a:solidFill>
                            <a:srgbClr val="FFFFFF"/>
                          </a:solidFill>
                          <a:latin typeface="Arial"/>
                          <a:ea typeface="Arial"/>
                          <a:cs typeface="Arial"/>
                        </a:rPr>
                        <a:t>PL bi</a:t>
                      </a:r>
                    </a:p>
                  </a:txBody>
                  <a:tcPr marL="47625" marR="47625" marT="19050" marB="19050" anchor="ctr">
                    <a:solidFill>
                      <a:srgbClr val="151515"/>
                    </a:solidFill>
                  </a:tcPr>
                </a:tc>
                <a:tc>
                  <a:txBody>
                    <a:bodyPr wrap="square" anchor="ctr">
                      <a:normAutofit/>
                    </a:bodyPr>
                    <a:lstStyle/>
                    <a:p>
                      <a:pPr algn="l"/>
                      <a:r>
                        <a:rPr sz="698" b="1">
                          <a:solidFill>
                            <a:srgbClr val="FFFFFF"/>
                          </a:solidFill>
                          <a:latin typeface="Arial"/>
                          <a:ea typeface="Arial"/>
                          <a:cs typeface="Arial"/>
                        </a:rPr>
                        <a:t>Cedente / originador expresso</a:t>
                      </a:r>
                    </a:p>
                  </a:txBody>
                  <a:tcPr marL="47625" marR="47625" marT="19050" marB="19050" anchor="ctr">
                    <a:solidFill>
                      <a:srgbClr val="151515"/>
                    </a:solidFill>
                  </a:tcPr>
                </a:tc>
                <a:tc>
                  <a:txBody>
                    <a:bodyPr wrap="square" anchor="ctr">
                      <a:normAutofit/>
                    </a:bodyPr>
                    <a:lstStyle/>
                    <a:p>
                      <a:pPr algn="l"/>
                      <a:r>
                        <a:rPr sz="698" b="1">
                          <a:solidFill>
                            <a:srgbClr val="FFFFFF"/>
                          </a:solidFill>
                          <a:latin typeface="Arial"/>
                          <a:ea typeface="Arial"/>
                          <a:cs typeface="Arial"/>
                        </a:rPr>
                        <a:t>Categoria proposta</a:t>
                      </a:r>
                    </a:p>
                  </a:txBody>
                  <a:tcPr marL="47625" marR="47625" marT="19050" marB="19050" anchor="ctr">
                    <a:solidFill>
                      <a:srgbClr val="151515"/>
                    </a:solidFill>
                  </a:tcPr>
                </a:tc>
                <a:tc>
                  <a:txBody>
                    <a:bodyPr wrap="square" anchor="ctr">
                      <a:normAutofit/>
                    </a:bodyPr>
                    <a:lstStyle/>
                    <a:p>
                      <a:pPr algn="l"/>
                      <a:r>
                        <a:rPr sz="698" b="1">
                          <a:solidFill>
                            <a:srgbClr val="FFFFFF"/>
                          </a:solidFill>
                          <a:latin typeface="Arial"/>
                          <a:ea typeface="Arial"/>
                          <a:cs typeface="Arial"/>
                        </a:rPr>
                        <a:t>Status</a:t>
                      </a:r>
                    </a:p>
                  </a:txBody>
                  <a:tcPr marL="47625" marR="47625" marT="19050" marB="19050" anchor="ctr">
                    <a:solidFill>
                      <a:srgbClr val="151515"/>
                    </a:solidFill>
                  </a:tcPr>
                </a:tc>
              </a:tr>
              <a:tr h="445770">
                <a:tc>
                  <a:txBody>
                    <a:bodyPr wrap="square" anchor="ctr">
                      <a:normAutofit/>
                    </a:bodyPr>
                    <a:lstStyle/>
                    <a:p>
                      <a:pPr algn="r"/>
                      <a:r>
                        <a:rPr sz="728">
                          <a:solidFill>
                            <a:srgbClr val="30353A"/>
                          </a:solidFill>
                          <a:latin typeface="Arial"/>
                          <a:ea typeface="Arial"/>
                          <a:cs typeface="Arial"/>
                        </a:rPr>
                        <a:t>11</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EXPERT III ILIMITADA</a:t>
                      </a:r>
                    </a:p>
                  </a:txBody>
                  <a:tcPr marL="47625" marR="47625" marT="14288" marB="14288" anchor="ctr">
                    <a:solidFill>
                      <a:srgbClr val="FFFFFF"/>
                    </a:solidFill>
                  </a:tcPr>
                </a:tc>
                <a:tc>
                  <a:txBody>
                    <a:bodyPr wrap="square" anchor="ctr">
                      <a:normAutofit/>
                    </a:bodyPr>
                    <a:lstStyle/>
                    <a:p>
                      <a:pPr algn="r"/>
                      <a:r>
                        <a:rPr sz="728">
                          <a:solidFill>
                            <a:srgbClr val="30353A"/>
                          </a:solidFill>
                          <a:latin typeface="Arial"/>
                          <a:ea typeface="Arial"/>
                          <a:cs typeface="Arial"/>
                        </a:rPr>
                        <a:t>3,5 bi</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Regulamento não</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Validação manual</a:t>
                      </a:r>
                    </a:p>
                  </a:txBody>
                  <a:tcPr marL="47625" marR="47625" marT="14288" marB="14288" anchor="ctr">
                    <a:solidFill>
                      <a:srgbClr val="FFFFFF"/>
                    </a:solidFill>
                  </a:tcPr>
                </a:tc>
              </a:tr>
              <a:tr h="445770">
                <a:tc>
                  <a:txBody>
                    <a:bodyPr wrap="square" anchor="ctr">
                      <a:normAutofit/>
                    </a:bodyPr>
                    <a:lstStyle/>
                    <a:p>
                      <a:pPr algn="r"/>
                      <a:r>
                        <a:rPr sz="728">
                          <a:solidFill>
                            <a:srgbClr val="30353A"/>
                          </a:solidFill>
                          <a:latin typeface="Arial"/>
                          <a:ea typeface="Arial"/>
                          <a:cs typeface="Arial"/>
                        </a:rPr>
                        <a:t>12</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OCCAM CRÉDITO CORPORATIVO 30</a:t>
                      </a:r>
                    </a:p>
                  </a:txBody>
                  <a:tcPr marL="47625" marR="47625" marT="14288" marB="14288" anchor="ctr">
                    <a:solidFill>
                      <a:srgbClr val="F5F6F7"/>
                    </a:solidFill>
                  </a:tcPr>
                </a:tc>
                <a:tc>
                  <a:txBody>
                    <a:bodyPr wrap="square" anchor="ctr">
                      <a:normAutofit/>
                    </a:bodyPr>
                    <a:lstStyle/>
                    <a:p>
                      <a:pPr algn="r"/>
                      <a:r>
                        <a:rPr sz="728">
                          <a:solidFill>
                            <a:srgbClr val="30353A"/>
                          </a:solidFill>
                          <a:latin typeface="Arial"/>
                          <a:ea typeface="Arial"/>
                          <a:cs typeface="Arial"/>
                        </a:rPr>
                        <a:t>3,5 bi</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Ausência de originador</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Validação manual</a:t>
                      </a:r>
                    </a:p>
                  </a:txBody>
                  <a:tcPr marL="47625" marR="47625" marT="14288" marB="14288" anchor="ctr">
                    <a:solidFill>
                      <a:srgbClr val="F5F6F7"/>
                    </a:solidFill>
                  </a:tcPr>
                </a:tc>
              </a:tr>
              <a:tr h="445770">
                <a:tc>
                  <a:txBody>
                    <a:bodyPr wrap="square" anchor="ctr">
                      <a:normAutofit/>
                    </a:bodyPr>
                    <a:lstStyle/>
                    <a:p>
                      <a:pPr algn="r"/>
                      <a:r>
                        <a:rPr sz="728">
                          <a:solidFill>
                            <a:srgbClr val="30353A"/>
                          </a:solidFill>
                          <a:latin typeface="Arial"/>
                          <a:ea typeface="Arial"/>
                          <a:cs typeface="Arial"/>
                        </a:rPr>
                        <a:t>13</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RED REAL LP</a:t>
                      </a:r>
                    </a:p>
                  </a:txBody>
                  <a:tcPr marL="47625" marR="47625" marT="14288" marB="14288" anchor="ctr">
                    <a:solidFill>
                      <a:srgbClr val="FFFFFF"/>
                    </a:solidFill>
                  </a:tcPr>
                </a:tc>
                <a:tc>
                  <a:txBody>
                    <a:bodyPr wrap="square" anchor="ctr">
                      <a:normAutofit/>
                    </a:bodyPr>
                    <a:lstStyle/>
                    <a:p>
                      <a:pPr algn="r"/>
                      <a:r>
                        <a:rPr sz="728">
                          <a:solidFill>
                            <a:srgbClr val="30353A"/>
                          </a:solidFill>
                          <a:latin typeface="Arial"/>
                          <a:ea typeface="Arial"/>
                          <a:cs typeface="Arial"/>
                        </a:rPr>
                        <a:t>3,4 bi</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Múltiplos cedentes;</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Validação manual</a:t>
                      </a:r>
                    </a:p>
                  </a:txBody>
                  <a:tcPr marL="47625" marR="47625" marT="14288" marB="14288" anchor="ctr">
                    <a:solidFill>
                      <a:srgbClr val="FFFFFF"/>
                    </a:solidFill>
                  </a:tcPr>
                </a:tc>
              </a:tr>
              <a:tr h="445770">
                <a:tc>
                  <a:txBody>
                    <a:bodyPr wrap="square" anchor="ctr">
                      <a:normAutofit/>
                    </a:bodyPr>
                    <a:lstStyle/>
                    <a:p>
                      <a:pPr algn="r"/>
                      <a:r>
                        <a:rPr sz="728">
                          <a:solidFill>
                            <a:srgbClr val="30353A"/>
                          </a:solidFill>
                          <a:latin typeface="Arial"/>
                          <a:ea typeface="Arial"/>
                          <a:cs typeface="Arial"/>
                        </a:rPr>
                        <a:t>14</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ASA</a:t>
                      </a:r>
                    </a:p>
                  </a:txBody>
                  <a:tcPr marL="47625" marR="47625" marT="14288" marB="14288" anchor="ctr">
                    <a:solidFill>
                      <a:srgbClr val="F5F6F7"/>
                    </a:solidFill>
                  </a:tcPr>
                </a:tc>
                <a:tc>
                  <a:txBody>
                    <a:bodyPr wrap="square" anchor="ctr">
                      <a:normAutofit/>
                    </a:bodyPr>
                    <a:lstStyle/>
                    <a:p>
                      <a:pPr algn="r"/>
                      <a:r>
                        <a:rPr sz="728">
                          <a:solidFill>
                            <a:srgbClr val="30353A"/>
                          </a:solidFill>
                          <a:latin typeface="Arial"/>
                          <a:ea typeface="Arial"/>
                          <a:cs typeface="Arial"/>
                        </a:rPr>
                        <a:t>3,4 bi</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Pessoas físicas ou</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Validação manual</a:t>
                      </a:r>
                    </a:p>
                  </a:txBody>
                  <a:tcPr marL="47625" marR="47625" marT="14288" marB="14288" anchor="ctr">
                    <a:solidFill>
                      <a:srgbClr val="F5F6F7"/>
                    </a:solidFill>
                  </a:tcPr>
                </a:tc>
              </a:tr>
              <a:tr h="445770">
                <a:tc>
                  <a:txBody>
                    <a:bodyPr wrap="square" anchor="ctr">
                      <a:normAutofit/>
                    </a:bodyPr>
                    <a:lstStyle/>
                    <a:p>
                      <a:pPr algn="r"/>
                      <a:r>
                        <a:rPr sz="728">
                          <a:solidFill>
                            <a:srgbClr val="30353A"/>
                          </a:solidFill>
                          <a:latin typeface="Arial"/>
                          <a:ea typeface="Arial"/>
                          <a:cs typeface="Arial"/>
                        </a:rPr>
                        <a:t>15</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FIDC PCG - BRASIL</a:t>
                      </a:r>
                    </a:p>
                  </a:txBody>
                  <a:tcPr marL="47625" marR="47625" marT="14288" marB="14288" anchor="ctr">
                    <a:solidFill>
                      <a:srgbClr val="FFFFFF"/>
                    </a:solidFill>
                  </a:tcPr>
                </a:tc>
                <a:tc>
                  <a:txBody>
                    <a:bodyPr wrap="square" anchor="ctr">
                      <a:normAutofit/>
                    </a:bodyPr>
                    <a:lstStyle/>
                    <a:p>
                      <a:pPr algn="r"/>
                      <a:r>
                        <a:rPr sz="728">
                          <a:solidFill>
                            <a:srgbClr val="30353A"/>
                          </a:solidFill>
                          <a:latin typeface="Arial"/>
                          <a:ea typeface="Arial"/>
                          <a:cs typeface="Arial"/>
                        </a:rPr>
                        <a:t>3,1 bi</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Entidades distintas;</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Outros —</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Manter em Outros</a:t>
                      </a:r>
                    </a:p>
                  </a:txBody>
                  <a:tcPr marL="47625" marR="47625" marT="14288" marB="14288" anchor="ctr">
                    <a:solidFill>
                      <a:srgbClr val="FFFFFF"/>
                    </a:solidFill>
                  </a:tcPr>
                </a:tc>
              </a:tr>
              <a:tr h="445770">
                <a:tc>
                  <a:txBody>
                    <a:bodyPr wrap="square" anchor="ctr">
                      <a:normAutofit/>
                    </a:bodyPr>
                    <a:lstStyle/>
                    <a:p>
                      <a:pPr algn="r"/>
                      <a:r>
                        <a:rPr sz="728">
                          <a:solidFill>
                            <a:srgbClr val="30353A"/>
                          </a:solidFill>
                          <a:latin typeface="Arial"/>
                          <a:ea typeface="Arial"/>
                          <a:cs typeface="Arial"/>
                        </a:rPr>
                        <a:t>16</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CARNIVAL</a:t>
                      </a:r>
                    </a:p>
                  </a:txBody>
                  <a:tcPr marL="47625" marR="47625" marT="14288" marB="14288" anchor="ctr">
                    <a:solidFill>
                      <a:srgbClr val="F5F6F7"/>
                    </a:solidFill>
                  </a:tcPr>
                </a:tc>
                <a:tc>
                  <a:txBody>
                    <a:bodyPr wrap="square" anchor="ctr">
                      <a:normAutofit/>
                    </a:bodyPr>
                    <a:lstStyle/>
                    <a:p>
                      <a:pPr algn="r"/>
                      <a:r>
                        <a:rPr sz="728">
                          <a:solidFill>
                            <a:srgbClr val="30353A"/>
                          </a:solidFill>
                          <a:latin typeface="Arial"/>
                          <a:ea typeface="Arial"/>
                          <a:cs typeface="Arial"/>
                        </a:rPr>
                        <a:t>3,1 bi</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Empresas em</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Outros —</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Manter em Outros</a:t>
                      </a:r>
                    </a:p>
                  </a:txBody>
                  <a:tcPr marL="47625" marR="47625" marT="14288" marB="14288" anchor="ctr">
                    <a:solidFill>
                      <a:srgbClr val="F5F6F7"/>
                    </a:solidFill>
                  </a:tcPr>
                </a:tc>
              </a:tr>
              <a:tr h="445770">
                <a:tc>
                  <a:txBody>
                    <a:bodyPr wrap="square" anchor="ctr">
                      <a:normAutofit/>
                    </a:bodyPr>
                    <a:lstStyle/>
                    <a:p>
                      <a:pPr algn="r"/>
                      <a:r>
                        <a:rPr sz="728">
                          <a:solidFill>
                            <a:srgbClr val="30353A"/>
                          </a:solidFill>
                          <a:latin typeface="Arial"/>
                          <a:ea typeface="Arial"/>
                          <a:cs typeface="Arial"/>
                        </a:rPr>
                        <a:t>17</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ALTERNATIVE ASSETS I</a:t>
                      </a:r>
                    </a:p>
                  </a:txBody>
                  <a:tcPr marL="47625" marR="47625" marT="14288" marB="14288" anchor="ctr">
                    <a:solidFill>
                      <a:srgbClr val="FFFFFF"/>
                    </a:solidFill>
                  </a:tcPr>
                </a:tc>
                <a:tc>
                  <a:txBody>
                    <a:bodyPr wrap="square" anchor="ctr">
                      <a:normAutofit/>
                    </a:bodyPr>
                    <a:lstStyle/>
                    <a:p>
                      <a:pPr algn="r"/>
                      <a:r>
                        <a:rPr sz="728">
                          <a:solidFill>
                            <a:srgbClr val="30353A"/>
                          </a:solidFill>
                          <a:latin typeface="Arial"/>
                          <a:ea typeface="Arial"/>
                          <a:cs typeface="Arial"/>
                        </a:rPr>
                        <a:t>3,0 bi</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Pessoas físicas,</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Outros —</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Manter em Outros</a:t>
                      </a:r>
                    </a:p>
                  </a:txBody>
                  <a:tcPr marL="47625" marR="47625" marT="14288" marB="14288" anchor="ctr">
                    <a:solidFill>
                      <a:srgbClr val="FFFFFF"/>
                    </a:solidFill>
                  </a:tcPr>
                </a:tc>
              </a:tr>
              <a:tr h="445770">
                <a:tc>
                  <a:txBody>
                    <a:bodyPr wrap="square" anchor="ctr">
                      <a:normAutofit/>
                    </a:bodyPr>
                    <a:lstStyle/>
                    <a:p>
                      <a:pPr algn="r"/>
                      <a:r>
                        <a:rPr sz="728">
                          <a:solidFill>
                            <a:srgbClr val="30353A"/>
                          </a:solidFill>
                          <a:latin typeface="Arial"/>
                          <a:ea typeface="Arial"/>
                          <a:cs typeface="Arial"/>
                        </a:rPr>
                        <a:t>18</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GSR NÃO PADRONIZADOS</a:t>
                      </a:r>
                    </a:p>
                  </a:txBody>
                  <a:tcPr marL="47625" marR="47625" marT="14288" marB="14288" anchor="ctr">
                    <a:solidFill>
                      <a:srgbClr val="F5F6F7"/>
                    </a:solidFill>
                  </a:tcPr>
                </a:tc>
                <a:tc>
                  <a:txBody>
                    <a:bodyPr wrap="square" anchor="ctr">
                      <a:normAutofit/>
                    </a:bodyPr>
                    <a:lstStyle/>
                    <a:p>
                      <a:pPr algn="r"/>
                      <a:r>
                        <a:rPr sz="728">
                          <a:solidFill>
                            <a:srgbClr val="30353A"/>
                          </a:solidFill>
                          <a:latin typeface="Arial"/>
                          <a:ea typeface="Arial"/>
                          <a:cs typeface="Arial"/>
                        </a:rPr>
                        <a:t>2,9 bi</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Aquele que realiza a</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Validação manual</a:t>
                      </a:r>
                    </a:p>
                  </a:txBody>
                  <a:tcPr marL="47625" marR="47625" marT="14288" marB="14288" anchor="ctr">
                    <a:solidFill>
                      <a:srgbClr val="F5F6F7"/>
                    </a:solidFill>
                  </a:tcPr>
                </a:tc>
              </a:tr>
              <a:tr h="445770">
                <a:tc>
                  <a:txBody>
                    <a:bodyPr wrap="square" anchor="ctr">
                      <a:normAutofit/>
                    </a:bodyPr>
                    <a:lstStyle/>
                    <a:p>
                      <a:pPr algn="r"/>
                      <a:r>
                        <a:rPr sz="728">
                          <a:solidFill>
                            <a:srgbClr val="30353A"/>
                          </a:solidFill>
                          <a:latin typeface="Arial"/>
                          <a:ea typeface="Arial"/>
                          <a:cs typeface="Arial"/>
                        </a:rPr>
                        <a:t>19</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MULTISEGMENTOS NPL IPANEMA VI</a:t>
                      </a:r>
                    </a:p>
                  </a:txBody>
                  <a:tcPr marL="47625" marR="47625" marT="14288" marB="14288" anchor="ctr">
                    <a:solidFill>
                      <a:srgbClr val="FFFFFF"/>
                    </a:solidFill>
                  </a:tcPr>
                </a:tc>
                <a:tc>
                  <a:txBody>
                    <a:bodyPr wrap="square" anchor="ctr">
                      <a:normAutofit/>
                    </a:bodyPr>
                    <a:lstStyle/>
                    <a:p>
                      <a:pPr algn="r"/>
                      <a:r>
                        <a:rPr sz="728">
                          <a:solidFill>
                            <a:srgbClr val="30353A"/>
                          </a:solidFill>
                          <a:latin typeface="Arial"/>
                          <a:ea typeface="Arial"/>
                          <a:cs typeface="Arial"/>
                        </a:rPr>
                        <a:t>2,6 bi</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Pessoas físicas ou</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Outros —</a:t>
                      </a:r>
                    </a:p>
                  </a:txBody>
                  <a:tcPr marL="47625" marR="47625" marT="14288" marB="14288" anchor="ctr">
                    <a:solidFill>
                      <a:srgbClr val="FFFFFF"/>
                    </a:solidFill>
                  </a:tcPr>
                </a:tc>
                <a:tc>
                  <a:txBody>
                    <a:bodyPr wrap="square" anchor="ctr">
                      <a:normAutofit/>
                    </a:bodyPr>
                    <a:lstStyle/>
                    <a:p>
                      <a:pPr algn="l"/>
                      <a:r>
                        <a:rPr sz="728">
                          <a:solidFill>
                            <a:srgbClr val="30353A"/>
                          </a:solidFill>
                          <a:latin typeface="Arial"/>
                          <a:ea typeface="Arial"/>
                          <a:cs typeface="Arial"/>
                        </a:rPr>
                        <a:t>Manter em Outros</a:t>
                      </a:r>
                    </a:p>
                  </a:txBody>
                  <a:tcPr marL="47625" marR="47625" marT="14288" marB="14288" anchor="ctr">
                    <a:solidFill>
                      <a:srgbClr val="FFFFFF"/>
                    </a:solidFill>
                  </a:tcPr>
                </a:tc>
              </a:tr>
              <a:tr h="445770">
                <a:tc>
                  <a:txBody>
                    <a:bodyPr wrap="square" anchor="ctr">
                      <a:normAutofit/>
                    </a:bodyPr>
                    <a:lstStyle/>
                    <a:p>
                      <a:pPr algn="r"/>
                      <a:r>
                        <a:rPr sz="728">
                          <a:solidFill>
                            <a:srgbClr val="30353A"/>
                          </a:solidFill>
                          <a:latin typeface="Arial"/>
                          <a:ea typeface="Arial"/>
                          <a:cs typeface="Arial"/>
                        </a:rPr>
                        <a:t>20</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ARTESANAL CRÉDITO PRIVADO</a:t>
                      </a:r>
                    </a:p>
                  </a:txBody>
                  <a:tcPr marL="47625" marR="47625" marT="14288" marB="14288" anchor="ctr">
                    <a:solidFill>
                      <a:srgbClr val="F5F6F7"/>
                    </a:solidFill>
                  </a:tcPr>
                </a:tc>
                <a:tc>
                  <a:txBody>
                    <a:bodyPr wrap="square" anchor="ctr">
                      <a:normAutofit/>
                    </a:bodyPr>
                    <a:lstStyle/>
                    <a:p>
                      <a:pPr algn="r"/>
                      <a:r>
                        <a:rPr sz="728">
                          <a:solidFill>
                            <a:srgbClr val="30353A"/>
                          </a:solidFill>
                          <a:latin typeface="Arial"/>
                          <a:ea typeface="Arial"/>
                          <a:cs typeface="Arial"/>
                        </a:rPr>
                        <a:t>2,5 bi</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Pessoas físicas ou</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Outros —</a:t>
                      </a:r>
                    </a:p>
                  </a:txBody>
                  <a:tcPr marL="47625" marR="47625" marT="14288" marB="14288" anchor="ctr">
                    <a:solidFill>
                      <a:srgbClr val="F5F6F7"/>
                    </a:solidFill>
                  </a:tcPr>
                </a:tc>
                <a:tc>
                  <a:txBody>
                    <a:bodyPr wrap="square" anchor="ctr">
                      <a:normAutofit/>
                    </a:bodyPr>
                    <a:lstStyle/>
                    <a:p>
                      <a:pPr algn="l"/>
                      <a:r>
                        <a:rPr sz="728">
                          <a:solidFill>
                            <a:srgbClr val="30353A"/>
                          </a:solidFill>
                          <a:latin typeface="Arial"/>
                          <a:ea typeface="Arial"/>
                          <a:cs typeface="Arial"/>
                        </a:rPr>
                        <a:t>Manter em Outros</a:t>
                      </a:r>
                    </a:p>
                  </a:txBody>
                  <a:tcPr marL="47625" marR="47625" marT="14288" marB="14288" anchor="ctr">
                    <a:solidFill>
                      <a:srgbClr val="F5F6F7"/>
                    </a:solidFill>
                  </a:tcPr>
                </a:tc>
              </a:tr>
            </a:tbl>
          </a:graphicData>
        </a:graphic>
      </p:graphicFrame>
    </p:spTree>
    <p:extLst>
      <p:ext uri="{BB962C8B-B14F-4D97-AF65-F5344CB8AC3E}">
        <p14:creationId xmlns:p14="http://schemas.microsoft.com/office/powerpoint/2010/main" val="55393053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542274-610B-43B1-9184-A92C15015B9F}"/>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RANKING · TOP 20 POR TIPO ANBIMA</a:t>
            </a:r>
          </a:p>
        </p:txBody>
      </p:sp>
      <p:sp>
        <p:nvSpPr>
          <p:cNvPr id="2" name="">
            <a:extLst xmlns:a="http://schemas.openxmlformats.org/drawingml/2006/main">
              <a:ext uri="{FF2B5EF4-FFF2-40B4-BE49-F238E27FC236}">
                <a16:creationId xmlns:a16="http://schemas.microsoft.com/office/drawing/2014/main" id="{6599C277-7F38-4230-BBCD-444D645F1988}"/>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Fomento Mercantil · R$ 32,3 bi · 37,3% do bucket</a:t>
            </a:r>
          </a:p>
        </p:txBody>
      </p:sp>
      <p:sp>
        <p:nvSpPr>
          <p:cNvPr id="3" name="">
            <a:extLst xmlns:a="http://schemas.openxmlformats.org/drawingml/2006/main">
              <a:ext uri="{FF2B5EF4-FFF2-40B4-BE49-F238E27FC236}">
                <a16:creationId xmlns:a16="http://schemas.microsoft.com/office/drawing/2014/main" id="{E0E9E78E-86BB-4D61-9498-10995D237151}"/>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0BD6A69-A6D3-4794-9131-4D7B742904DE}"/>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63D7580-1000-47A5-9C16-C3FC6D9277B8}"/>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PL: CVM, Informe Mensal, jun/26. Tipo/Foco: fotografia ANBIMA de 29/dez/25; níveis documental e proxy permanecem identificados no workbook.</a:t>
            </a:r>
          </a:p>
        </p:txBody>
      </p:sp>
      <p:sp>
        <p:nvSpPr>
          <p:cNvPr id="6" name="">
            <a:extLst xmlns:a="http://schemas.openxmlformats.org/drawingml/2006/main">
              <a:ext uri="{FF2B5EF4-FFF2-40B4-BE49-F238E27FC236}">
                <a16:creationId xmlns:a16="http://schemas.microsoft.com/office/drawing/2014/main" id="{6DA0ACD1-5EFB-4910-9EEB-C0828FA4F0DB}"/>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20</a:t>
            </a:r>
          </a:p>
        </p:txBody>
      </p:sp>
      <p:graphicFrame>
        <p:nvGraphicFramePr>
          <p:cNvPr id="14" name=""/>
          <p:cNvGraphicFramePr/>
          <p:nvPr/>
        </p:nvGraphicFramePr>
        <p:xfrm>
          <a:off xmlns:a="http://schemas.openxmlformats.org/drawingml/2006/main" x="571500" y="1352550"/>
          <a:ext xmlns:a="http://schemas.openxmlformats.org/drawingml/2006/main" cx="11049000" cy="4857750"/>
        </p:xfrm>
        <a:graphic xmlns:a="http://schemas.openxmlformats.org/drawingml/2006/main">
          <a:graphicData uri="http://schemas.openxmlformats.org/drawingml/2006/table">
            <a:tbl>
              <a:tblPr firstRow="0" firstCol="0" lastRow="0" lastCol="0" bandRow="0" bandCol="0"/>
              <a:tblGrid>
                <a:gridCol w="323850"/>
                <a:gridCol w="2343150"/>
                <a:gridCol w="666750"/>
                <a:gridCol w="914400"/>
                <a:gridCol w="914400"/>
                <a:gridCol w="876300"/>
                <a:gridCol w="5010150"/>
              </a:tblGrid>
              <a:tr h="209550">
                <a:tc>
                  <a:txBody>
                    <a:bodyPr wrap="square" anchor="ctr">
                      <a:normAutofit/>
                    </a:bodyPr>
                    <a:lstStyle/>
                    <a:p>
                      <a:pPr algn="r"/>
                      <a:r>
                        <a:rPr sz="525" b="1">
                          <a:solidFill>
                            <a:srgbClr val="FFFFFF"/>
                          </a:solidFill>
                          <a:latin typeface="Arial"/>
                          <a:ea typeface="Arial"/>
                          <a:cs typeface="Arial"/>
                        </a:rPr>
                        <a:t>#</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FIDC</a:t>
                      </a:r>
                    </a:p>
                  </a:txBody>
                  <a:tcPr marL="47625" marR="47625" marT="19050" marB="19050" anchor="ctr">
                    <a:solidFill>
                      <a:srgbClr val="151515"/>
                    </a:solidFill>
                  </a:tcPr>
                </a:tc>
                <a:tc>
                  <a:txBody>
                    <a:bodyPr wrap="square" anchor="ctr">
                      <a:normAutofit/>
                    </a:bodyPr>
                    <a:lstStyle/>
                    <a:p>
                      <a:pPr algn="r"/>
                      <a:r>
                        <a:rPr sz="525" b="1">
                          <a:solidFill>
                            <a:srgbClr val="FFFFFF"/>
                          </a:solidFill>
                          <a:latin typeface="Arial"/>
                          <a:ea typeface="Arial"/>
                          <a:cs typeface="Arial"/>
                        </a:rPr>
                        <a:t>PL · R$ bi</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Gestor</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Administrador</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Custodiante</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Cedente / originador expresso</a:t>
                      </a:r>
                    </a:p>
                  </a:txBody>
                  <a:tcPr marL="47625" marR="47625" marT="19050" marB="19050" anchor="ctr">
                    <a:solidFill>
                      <a:srgbClr val="151515"/>
                    </a:solidFill>
                  </a:tcPr>
                </a:tc>
              </a:tr>
              <a:tr h="232410">
                <a:tc>
                  <a:txBody>
                    <a:bodyPr wrap="square" anchor="ctr">
                      <a:normAutofit/>
                    </a:bodyPr>
                    <a:lstStyle/>
                    <a:p>
                      <a:pPr algn="r"/>
                      <a:r>
                        <a:rPr sz="488">
                          <a:solidFill>
                            <a:srgbClr val="30353A"/>
                          </a:solidFill>
                          <a:latin typeface="Arial"/>
                          <a:ea typeface="Arial"/>
                          <a:cs typeface="Arial"/>
                        </a:rPr>
                        <a:t>1</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COMERCIAIS MEDICI I</a:t>
                      </a:r>
                    </a:p>
                  </a:txBody>
                  <a:tcPr marL="47625" marR="47625" marT="14288" marB="14288" anchor="ctr">
                    <a:solidFill>
                      <a:srgbClr val="FFF1E6"/>
                    </a:solidFill>
                  </a:tcPr>
                </a:tc>
                <a:tc>
                  <a:txBody>
                    <a:bodyPr wrap="square" anchor="ctr">
                      <a:normAutofit/>
                    </a:bodyPr>
                    <a:lstStyle/>
                    <a:p>
                      <a:pPr algn="r"/>
                      <a:r>
                        <a:rPr sz="488">
                          <a:solidFill>
                            <a:srgbClr val="30353A"/>
                          </a:solidFill>
                          <a:latin typeface="Arial"/>
                          <a:ea typeface="Arial"/>
                          <a:cs typeface="Arial"/>
                        </a:rPr>
                        <a:t>3,09 bi</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QI GESTÃO DE</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FF1E6"/>
                    </a:solidFill>
                  </a:tcPr>
                </a:tc>
              </a:tr>
              <a:tr h="232410">
                <a:tc>
                  <a:txBody>
                    <a:bodyPr wrap="square" anchor="ctr">
                      <a:normAutofit/>
                    </a:bodyPr>
                    <a:lstStyle/>
                    <a:p>
                      <a:pPr algn="r"/>
                      <a:r>
                        <a:rPr sz="488">
                          <a:solidFill>
                            <a:srgbClr val="30353A"/>
                          </a:solidFill>
                          <a:latin typeface="Arial"/>
                          <a:ea typeface="Arial"/>
                          <a:cs typeface="Arial"/>
                        </a:rPr>
                        <a:t>2</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ATLANTA</a:t>
                      </a:r>
                    </a:p>
                  </a:txBody>
                  <a:tcPr marL="47625" marR="47625" marT="14288" marB="14288" anchor="ctr">
                    <a:solidFill>
                      <a:srgbClr val="FFF1E6"/>
                    </a:solidFill>
                  </a:tcPr>
                </a:tc>
                <a:tc>
                  <a:txBody>
                    <a:bodyPr wrap="square" anchor="ctr">
                      <a:normAutofit/>
                    </a:bodyPr>
                    <a:lstStyle/>
                    <a:p>
                      <a:pPr algn="r"/>
                      <a:r>
                        <a:rPr sz="488">
                          <a:solidFill>
                            <a:srgbClr val="30353A"/>
                          </a:solidFill>
                          <a:latin typeface="Arial"/>
                          <a:ea typeface="Arial"/>
                          <a:cs typeface="Arial"/>
                        </a:rPr>
                        <a:t>3,09 bi</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TERCON</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Ausência de entidade nominal; múltiplos cedentes não conhecidos previamente.</a:t>
                      </a:r>
                    </a:p>
                  </a:txBody>
                  <a:tcPr marL="47625" marR="47625" marT="14288" marB="14288" anchor="ctr">
                    <a:solidFill>
                      <a:srgbClr val="FFF1E6"/>
                    </a:solidFill>
                  </a:tcPr>
                </a:tc>
              </a:tr>
              <a:tr h="232410">
                <a:tc>
                  <a:txBody>
                    <a:bodyPr wrap="square" anchor="ctr">
                      <a:normAutofit/>
                    </a:bodyPr>
                    <a:lstStyle/>
                    <a:p>
                      <a:pPr algn="r"/>
                      <a:r>
                        <a:rPr sz="488">
                          <a:solidFill>
                            <a:srgbClr val="30353A"/>
                          </a:solidFill>
                          <a:latin typeface="Arial"/>
                          <a:ea typeface="Arial"/>
                          <a:cs typeface="Arial"/>
                        </a:rPr>
                        <a:t>3</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CITY - 02 NÃO-PADRONIZADOS</a:t>
                      </a:r>
                    </a:p>
                  </a:txBody>
                  <a:tcPr marL="47625" marR="47625" marT="14288" marB="14288" anchor="ctr">
                    <a:solidFill>
                      <a:srgbClr val="FFF1E6"/>
                    </a:solidFill>
                  </a:tcPr>
                </a:tc>
                <a:tc>
                  <a:txBody>
                    <a:bodyPr wrap="square" anchor="ctr">
                      <a:normAutofit/>
                    </a:bodyPr>
                    <a:lstStyle/>
                    <a:p>
                      <a:pPr algn="r"/>
                      <a:r>
                        <a:rPr sz="488">
                          <a:solidFill>
                            <a:srgbClr val="30353A"/>
                          </a:solidFill>
                          <a:latin typeface="Arial"/>
                          <a:ea typeface="Arial"/>
                          <a:cs typeface="Arial"/>
                        </a:rPr>
                        <a:t>2,71 bi</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SMART AGRO</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SEFER</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SEFER</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FF1E6"/>
                    </a:solidFill>
                  </a:tcPr>
                </a:tc>
              </a:tr>
              <a:tr h="232410">
                <a:tc>
                  <a:txBody>
                    <a:bodyPr wrap="square" anchor="ctr">
                      <a:normAutofit/>
                    </a:bodyPr>
                    <a:lstStyle/>
                    <a:p>
                      <a:pPr algn="r"/>
                      <a:r>
                        <a:rPr sz="488">
                          <a:solidFill>
                            <a:srgbClr val="30353A"/>
                          </a:solidFill>
                          <a:latin typeface="Arial"/>
                          <a:ea typeface="Arial"/>
                          <a:cs typeface="Arial"/>
                        </a:rPr>
                        <a:t>4</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EUV SP1</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2,18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EUROVEST</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FIDD</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FIDD</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Candidato textual para validação (p. 27): NTE A CESSAO, DE MODO QUE APENAS SAO PASSIVEIS DE AQUISICAO PELA CLASSE DE COTAS OS DIREITOS CREDITORIOS QUE, PREVIAMENTE A DATA DE AQUISICAO: (I) OS CEDENTES DOS DIREITOS DE CREDITO DEVEM SER PESSOAS JURIDICAS COM INSCRICAO NO CNPJ/MF; (II) DEVEM SER REPRESENTADOS POR CEDULAS DE CREDITO BANCARIO, NOTAS PROMISSORIAS, CONTRATOS DE PRESTACAO DE SERVICOS, DEBENTURES, ENTRE OUTROS. 5.3.1. PARA FINS DA VERIFICACAO DOS CRITERIOS DE ELEGIBILIDADE, SERA CONSIDERADO O PATRIMONIO LIQUIDO E O VALOR DOS DIREITOS CREDITORIOS INTEGRANTES DA CARTEIRA NO DIA UTIL IMEDIATAMENTE ANTERIOR A DATA DE AQUISICAO. 5.3.</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5</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MULTIPLIKE PLUS</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2,12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MULTIPLIKE</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Ausência de entidade nominal; credores originais definidos genericamente.</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6</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MULTIPLICA</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1,99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MULTIPLICA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7</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IOX II</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1,89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TERCON</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8</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NÃO-PADRONIZADOS MULTISSETORIAL BS</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1,63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TERCON</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9</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CF</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1,48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INVISTA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10</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ALDEBARAN II</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1,48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EMERALD</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BANCO J.</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11</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MULTIAGRO</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1,28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MULTIPLICA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12</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SIFRA STAR</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1,28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ORRAM GESTÃO</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FIDD</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FIDD</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Candidato textual para validação (p. 7): ECLARATORI O NO 17722, DE 06 DE MARCO DE 2020; GRUPO ECONOMICO: SIGNIFICA O CONJUNTO DE PESSOAS JURIDICAS QUE: (I) ESTEJAM SOB O MESMO CONTROLE QUE O CEDENTE; (II ) SEJAM CONTROLADAS, DE MODO DIRETO OU INDIRETO, PELO CEDENTE; (III) SEJAM CONTROLADORAS, DE MODO DIRETO OU INDIRETO, DO CEDENTE; OU (IV) FILIAIS DO CEDENTE OU INSCRITAS NO CNPJ/ME SOB NUMERO COM A MESMA RAIZ QUE O CEDENTE; EMPRESAS DE CONSULTORIA ESPECIALIZADA: SIGNIFICA O CONJUNTO FORMADO PELAS SEGUINTES EMPRESAS PARCEIRAS E DETENTORAS DE INTERESSE COMUM, CONTRATADAS PELO FUNDO: (I) OPINIAO ASSESSORIA; (II) SIFRA SERVICOS DE CREDITO; E (III) OPS; E (III) SIFRA S/A IGP-M: E O INDICE GERAL DE PRECOS DO MERCADO, DIVULGADO PELA FUNDACAO GETULI</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13</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SIFRA PLUS MULTISSEGMENTOS</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1,23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ORRAM GESTÃO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14</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MULTIPLIKE</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1,18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MULTIPLIKE</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15</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IOX I</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1,02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OURO PRETO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Ausência de entidade nominal no conteúdo acessível.</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16</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FOR-TE FIDC</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0,98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BEM</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Candidato textual para validação (p. 66): ANEXO DA CLASSE UNICA DE INVESTIMENTO DO FOR-TE FUNDO DE INVESTIMENTO EM DIREITOS CREDITORIOS – CNPJ/MF N° 06.182.371/0001-18 – VIGENTE EM 21.07.2025. 66 ANEXO A POLITICA DE CONCESSAO DE CREDITO ADOTADA PELOS CEDENTES FORNECEDORES NO PROCESSO DE ORIGINACAO DOS DIREITOS CREDITORIOS, OS DEPARTAMENTOS DE ANALISE DE CREDITO DOS CEDENTES/FORNECEDORES DEVERAO ANALISAR OS SEGUINTES DOCUMENTOS E INFORMACOES QUE LHES SERAO FORNECIDAS PELOS SACADOS TELEFONICA, NA QUALIDADE DE SACADOS DOS DIREITOS CREDITORIOS A SEREM CEDIDOS AO FUNDO: • COPIA DO ESTAT</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17</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CLIENTES BRF II</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0,97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BEM</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Candidato textual para validação (p. 8): 0.932/0001-02 (“FUNDO”) – DATADO DE 29.11.2023 8 CAPITAL AUTORIZADO DO FUNDO TEM O SIGNIFICADO QUE LHE E ATRIBUIDO NA CLAUSULA 2.4 DESTE REGULAMENTO. CEDENTE E A BRF S.A., COMPANHIA ABERTA COM SEDE NA CIDADE DE ITAJAI, SANTA CATARINA, NA RUA JORGE TZACHEL, 475, BAIRRO FAZENDA, CEP 88.301 -600, INSCRITA NO CNPJ/MF SOB O NO 01.838.723/0001-27, POR MEIO DE SUA MATRIZ OU DE SUAS FILIAIS. CLASSE OU CLASSES SIGNIFICA CADA UMA DAS CLASSES DESCRITAS NOS SEUS RESPECTIVOS ANEXOS DESTE REGULAMENTO , AS QUAIS SAO CONSTITUIDAS COM UM PATRIMONIO PROPRIO E SEGREGADO DO PATRIMONIO DAS DEMAIS CLASSES, E QUE RESPONDE APENAS POR OBRIGACOES PROPRIAS DA RESPECTIVA CLASSE. CMN E O CONSELHO MONE</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18</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VERMILLION I NÃO PADRONIZADOS</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0,96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GV ATACAMA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19</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SB CRÉDITO MULTISSETORIAL</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0,95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CARMEL</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Ausência de entidade nominal no conteúdo acessível.</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20</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ROYAL BANK</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0,81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SEVEN POUNDS</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INTRAG</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ITAU</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5F6F7"/>
                    </a:solidFill>
                  </a:tcPr>
                </a:tc>
              </a:tr>
            </a:tbl>
          </a:graphicData>
        </a:graphic>
      </p:graphicFrame>
    </p:spTree>
    <p:extLst>
      <p:ext uri="{BB962C8B-B14F-4D97-AF65-F5344CB8AC3E}">
        <p14:creationId xmlns:p14="http://schemas.microsoft.com/office/powerpoint/2010/main" val="101232572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DACB815-56E8-4B68-AFBC-00CDFA7A56E3}"/>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RANKING · TOP 20 POR TIPO ANBIMA</a:t>
            </a:r>
          </a:p>
        </p:txBody>
      </p:sp>
      <p:sp>
        <p:nvSpPr>
          <p:cNvPr id="2" name="">
            <a:extLst xmlns:a="http://schemas.openxmlformats.org/drawingml/2006/main">
              <a:ext uri="{FF2B5EF4-FFF2-40B4-BE49-F238E27FC236}">
                <a16:creationId xmlns:a16="http://schemas.microsoft.com/office/drawing/2014/main" id="{31A02AF9-0AA2-4081-B256-372398A2155F}"/>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Agro, Indústria e Comércio · R$ 121,0 bi · 64,0% do bucket</a:t>
            </a:r>
          </a:p>
        </p:txBody>
      </p:sp>
      <p:sp>
        <p:nvSpPr>
          <p:cNvPr id="3" name="">
            <a:extLst xmlns:a="http://schemas.openxmlformats.org/drawingml/2006/main">
              <a:ext uri="{FF2B5EF4-FFF2-40B4-BE49-F238E27FC236}">
                <a16:creationId xmlns:a16="http://schemas.microsoft.com/office/drawing/2014/main" id="{81CD02C5-1B51-480A-8963-F1E1E9F7D8E6}"/>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8C90FF0-97BF-4491-8461-ECC7EA2CCAC6}"/>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4591FFC-8A98-4378-80BF-B9216F6D0600}"/>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PL: CVM, Informe Mensal, jun/26. Tipo/Foco: fotografia ANBIMA de 29/dez/25; níveis documental e proxy permanecem identificados no workbook.</a:t>
            </a:r>
          </a:p>
        </p:txBody>
      </p:sp>
      <p:sp>
        <p:nvSpPr>
          <p:cNvPr id="6" name="">
            <a:extLst xmlns:a="http://schemas.openxmlformats.org/drawingml/2006/main">
              <a:ext uri="{FF2B5EF4-FFF2-40B4-BE49-F238E27FC236}">
                <a16:creationId xmlns:a16="http://schemas.microsoft.com/office/drawing/2014/main" id="{0B4D52FC-3D01-4DFF-A33E-8EBE86C77DD1}"/>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21</a:t>
            </a:r>
          </a:p>
        </p:txBody>
      </p:sp>
      <p:graphicFrame>
        <p:nvGraphicFramePr>
          <p:cNvPr id="14" name=""/>
          <p:cNvGraphicFramePr/>
          <p:nvPr/>
        </p:nvGraphicFramePr>
        <p:xfrm>
          <a:off xmlns:a="http://schemas.openxmlformats.org/drawingml/2006/main" x="571500" y="1352550"/>
          <a:ext xmlns:a="http://schemas.openxmlformats.org/drawingml/2006/main" cx="11049000" cy="4857750"/>
        </p:xfrm>
        <a:graphic xmlns:a="http://schemas.openxmlformats.org/drawingml/2006/main">
          <a:graphicData uri="http://schemas.openxmlformats.org/drawingml/2006/table">
            <a:tbl>
              <a:tblPr firstRow="0" firstCol="0" lastRow="0" lastCol="0" bandRow="0" bandCol="0"/>
              <a:tblGrid>
                <a:gridCol w="323850"/>
                <a:gridCol w="2343150"/>
                <a:gridCol w="666750"/>
                <a:gridCol w="914400"/>
                <a:gridCol w="914400"/>
                <a:gridCol w="876300"/>
                <a:gridCol w="5010150"/>
              </a:tblGrid>
              <a:tr h="209550">
                <a:tc>
                  <a:txBody>
                    <a:bodyPr wrap="square" anchor="ctr">
                      <a:normAutofit/>
                    </a:bodyPr>
                    <a:lstStyle/>
                    <a:p>
                      <a:pPr algn="r"/>
                      <a:r>
                        <a:rPr sz="525" b="1">
                          <a:solidFill>
                            <a:srgbClr val="FFFFFF"/>
                          </a:solidFill>
                          <a:latin typeface="Arial"/>
                          <a:ea typeface="Arial"/>
                          <a:cs typeface="Arial"/>
                        </a:rPr>
                        <a:t>#</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FIDC</a:t>
                      </a:r>
                    </a:p>
                  </a:txBody>
                  <a:tcPr marL="47625" marR="47625" marT="19050" marB="19050" anchor="ctr">
                    <a:solidFill>
                      <a:srgbClr val="151515"/>
                    </a:solidFill>
                  </a:tcPr>
                </a:tc>
                <a:tc>
                  <a:txBody>
                    <a:bodyPr wrap="square" anchor="ctr">
                      <a:normAutofit/>
                    </a:bodyPr>
                    <a:lstStyle/>
                    <a:p>
                      <a:pPr algn="r"/>
                      <a:r>
                        <a:rPr sz="525" b="1">
                          <a:solidFill>
                            <a:srgbClr val="FFFFFF"/>
                          </a:solidFill>
                          <a:latin typeface="Arial"/>
                          <a:ea typeface="Arial"/>
                          <a:cs typeface="Arial"/>
                        </a:rPr>
                        <a:t>PL · R$ bi</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Gestor</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Administrador</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Custodiante</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Cedente / originador expresso</a:t>
                      </a:r>
                    </a:p>
                  </a:txBody>
                  <a:tcPr marL="47625" marR="47625" marT="19050" marB="19050" anchor="ctr">
                    <a:solidFill>
                      <a:srgbClr val="151515"/>
                    </a:solidFill>
                  </a:tcPr>
                </a:tc>
              </a:tr>
              <a:tr h="232410">
                <a:tc>
                  <a:txBody>
                    <a:bodyPr wrap="square" anchor="ctr">
                      <a:normAutofit/>
                    </a:bodyPr>
                    <a:lstStyle/>
                    <a:p>
                      <a:pPr algn="r"/>
                      <a:r>
                        <a:rPr sz="488">
                          <a:solidFill>
                            <a:srgbClr val="30353A"/>
                          </a:solidFill>
                          <a:latin typeface="Arial"/>
                          <a:ea typeface="Arial"/>
                          <a:cs typeface="Arial"/>
                        </a:rPr>
                        <a:t>1</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FIDC DO SISTEMA PETROBRAS</a:t>
                      </a:r>
                    </a:p>
                  </a:txBody>
                  <a:tcPr marL="47625" marR="47625" marT="14288" marB="14288" anchor="ctr">
                    <a:solidFill>
                      <a:srgbClr val="FFF1E6"/>
                    </a:solidFill>
                  </a:tcPr>
                </a:tc>
                <a:tc>
                  <a:txBody>
                    <a:bodyPr wrap="square" anchor="ctr">
                      <a:normAutofit/>
                    </a:bodyPr>
                    <a:lstStyle/>
                    <a:p>
                      <a:pPr algn="r"/>
                      <a:r>
                        <a:rPr sz="488">
                          <a:solidFill>
                            <a:srgbClr val="30353A"/>
                          </a:solidFill>
                          <a:latin typeface="Arial"/>
                          <a:ea typeface="Arial"/>
                          <a:cs typeface="Arial"/>
                        </a:rPr>
                        <a:t>61,25 bi</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BB GESTAO DE</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BB GESTAO DE</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BANCO DO</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Empresas integrantes do Sistema Petrobras que cedam direitos ao fundo; o regulamento não traz lista fechada de cedentes.</a:t>
                      </a:r>
                    </a:p>
                  </a:txBody>
                  <a:tcPr marL="47625" marR="47625" marT="14288" marB="14288" anchor="ctr">
                    <a:solidFill>
                      <a:srgbClr val="FFF1E6"/>
                    </a:solidFill>
                  </a:tcPr>
                </a:tc>
              </a:tr>
              <a:tr h="232410">
                <a:tc>
                  <a:txBody>
                    <a:bodyPr wrap="square" anchor="ctr">
                      <a:normAutofit/>
                    </a:bodyPr>
                    <a:lstStyle/>
                    <a:p>
                      <a:pPr algn="r"/>
                      <a:r>
                        <a:rPr sz="488">
                          <a:solidFill>
                            <a:srgbClr val="30353A"/>
                          </a:solidFill>
                          <a:latin typeface="Arial"/>
                          <a:ea typeface="Arial"/>
                          <a:cs typeface="Arial"/>
                        </a:rPr>
                        <a:t>2</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PAN AUTO</a:t>
                      </a:r>
                    </a:p>
                  </a:txBody>
                  <a:tcPr marL="47625" marR="47625" marT="14288" marB="14288" anchor="ctr">
                    <a:solidFill>
                      <a:srgbClr val="FFF1E6"/>
                    </a:solidFill>
                  </a:tcPr>
                </a:tc>
                <a:tc>
                  <a:txBody>
                    <a:bodyPr wrap="square" anchor="ctr">
                      <a:normAutofit/>
                    </a:bodyPr>
                    <a:lstStyle/>
                    <a:p>
                      <a:pPr algn="r"/>
                      <a:r>
                        <a:rPr sz="488">
                          <a:solidFill>
                            <a:srgbClr val="30353A"/>
                          </a:solidFill>
                          <a:latin typeface="Arial"/>
                          <a:ea typeface="Arial"/>
                          <a:cs typeface="Arial"/>
                        </a:rPr>
                        <a:t>17,97 bi</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BTG PACTUAL</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BTG PACTUAL</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BANCO BTG</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Não identificado nos documentos selecionados.</a:t>
                      </a:r>
                    </a:p>
                  </a:txBody>
                  <a:tcPr marL="47625" marR="47625" marT="14288" marB="14288" anchor="ctr">
                    <a:solidFill>
                      <a:srgbClr val="FFF1E6"/>
                    </a:solidFill>
                  </a:tcPr>
                </a:tc>
              </a:tr>
              <a:tr h="232410">
                <a:tc>
                  <a:txBody>
                    <a:bodyPr wrap="square" anchor="ctr">
                      <a:normAutofit/>
                    </a:bodyPr>
                    <a:lstStyle/>
                    <a:p>
                      <a:pPr algn="r"/>
                      <a:r>
                        <a:rPr sz="488">
                          <a:solidFill>
                            <a:srgbClr val="30353A"/>
                          </a:solidFill>
                          <a:latin typeface="Arial"/>
                          <a:ea typeface="Arial"/>
                          <a:cs typeface="Arial"/>
                        </a:rPr>
                        <a:t>3</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AETOS ENERGIA</a:t>
                      </a:r>
                    </a:p>
                  </a:txBody>
                  <a:tcPr marL="47625" marR="47625" marT="14288" marB="14288" anchor="ctr">
                    <a:solidFill>
                      <a:srgbClr val="FFF1E6"/>
                    </a:solidFill>
                  </a:tcPr>
                </a:tc>
                <a:tc>
                  <a:txBody>
                    <a:bodyPr wrap="square" anchor="ctr">
                      <a:normAutofit/>
                    </a:bodyPr>
                    <a:lstStyle/>
                    <a:p>
                      <a:pPr algn="r"/>
                      <a:r>
                        <a:rPr sz="488">
                          <a:solidFill>
                            <a:srgbClr val="30353A"/>
                          </a:solidFill>
                          <a:latin typeface="Arial"/>
                          <a:ea typeface="Arial"/>
                          <a:cs typeface="Arial"/>
                        </a:rPr>
                        <a:t>7,35 bi</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XP</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XP</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XP Comercializadora de Energia S.A. — CNPJ 34.475.373/0001-30.</a:t>
                      </a:r>
                    </a:p>
                  </a:txBody>
                  <a:tcPr marL="47625" marR="47625" marT="14288" marB="14288" anchor="ctr">
                    <a:solidFill>
                      <a:srgbClr val="FFF1E6"/>
                    </a:solidFill>
                  </a:tcPr>
                </a:tc>
              </a:tr>
              <a:tr h="232410">
                <a:tc>
                  <a:txBody>
                    <a:bodyPr wrap="square" anchor="ctr">
                      <a:normAutofit/>
                    </a:bodyPr>
                    <a:lstStyle/>
                    <a:p>
                      <a:pPr algn="r"/>
                      <a:r>
                        <a:rPr sz="488">
                          <a:solidFill>
                            <a:srgbClr val="30353A"/>
                          </a:solidFill>
                          <a:latin typeface="Arial"/>
                          <a:ea typeface="Arial"/>
                          <a:cs typeface="Arial"/>
                        </a:rPr>
                        <a:t>4</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FIDC GM - VENDA DE VEÍCULOS</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2,98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INTEGRAL</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BEM</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Candidato textual para validação (p. 14): NTE CONTRATADA(S) PEL A CLASSE PARA A PRESTACAO DE SERVICOS DE COBRANCA BANCARIA, NOS TERMOS DO ITEM 7.3 DO PRESENTE ANEXO E DO CONTRATO DE COBRANCA. CEDENTE GENERAL MOTORS DO BRASIL LTDA. CNPJ CADASTRO NACIONAL DA PESSOA JURIDICA.</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5</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CLOUDWALK A.I. SEGMENTO MEIOS DE</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2,70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BTG PACTUAL</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BTG PACTUAL</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 BTG</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Cloudwalk Instituição de Pagamento e Serviços Ltda. — CNPJ 18.189.547/0001-42.</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6</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GAZIN MULTISSEGMENTOS</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2,49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PETRA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FINAXIS S.A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Candidato textual para validação (p. 6): NAXIS - PR RUA PASTEUR, 463, 11O ANDAR 80250-104 CURITIBA PR OUVIDORIA 0800 601 1313 WWW.FINAXIS.COM.BR PARANA, NA ROD PR 82, KM 01, S/N, INSCRITA NO CNPJ SOB O NO 11.760.553/0001-69. “CEDENTES” SIGNIFICA, EM CONJUNTO OU INDISTINTAMENTE, AS CEDENTES OUTRO, AS ENTIDADES GAZIN E A CEDENTE ESPECIAL. “CODIGO ANBIMA” CODIGO DE ADMINISTRACAO E GESTAO DE RECURSOS DE TERCEIROS, DA ANBIMA. “CONTA VINCULADA” CONTAS ESPECIAIS DE TITULARIDADE DE CADA UM DOS CEDENTES, MOVIMENTADA PELO CUSTODIANTE, NA QUAL SERAO RECEBIDOS OS RECURSOS DECORRENTES DO PAGAMENTO DOS DIREITOS CREDITORIOS CE</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7</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VITA AUTO</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2,49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BEM</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Candidato textual para validação (p. 12): INSTITUICAO FINANCEIRA COM SEDE NA CIDADE DE BETIM, ESTADO DE MINAS GERAIS, NA AV. DO CONTORNO, 3455 - GALPAO 9 SALA 10, CEP 32.669-900, INSCRITA NO CNPJ/MF SOB O NO 62.237.425/0001-76. “CEDENTE” FCA FIAT CHRYSLER AUTOMOVEIS DO BRASIL LTDA., SOCIEDADE EMPRESARIA LIMITADA COM SEDE NA CIDADE DE BETIM, ESTADO DE MINAS GERAIS, NA AV. DO CONTORNO, 3455 – GALPAO 9 , SALA 10, CEP</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8</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ER</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2,46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VERT GESTORA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VERT</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VERT</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ÂMBAR ENERGIA S.A. — CNPJ 01.645.009/0003-84.</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9</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AGRO FLEX</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2,35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ECO GESTÃO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Candidato textual para validação (p. 4): EM SER CONTRATADAS COMO AGENTE DE COBRANCA DOS DIREITOS CREDITORIOS ADQUIRIDOS INADIMPLIDOS PESSOAS FISICAS OU JURIDICAS, INCLUSIVE AQUELAS QUE SEJAM CEDENTES DE DIREITOS CREDITORIOS A CLASSE UNICA. “AGROMATIC” OU “AGENTE EXTRAORDINARIO” SIGNIFICA AGROMATIC SOLUCOES DE TECNOLOGIA DIGITAL LTDA., DEVIDAMENTE INSCRITA NO CNPJ/MF SOB O NO 37.178.510/0001-63, COM SEDE NA RUA GENERAL AUGUSTO SOARES DOS SANTOS, NO 100, CJ. 103/104, LAGOINHA, CEP 14095-240, NA CIDADE DE RIBEIRAO PRETO, ESTADO DE SAO PAULO, OU QUALQUER OUTRO PRESTADOR DE SERVICO QUE VENHA A SUBSTITUI-LA, NA QUALIDADE DE AGENTE EXTRAORDINARIO DE COBRANCA E FORMALIZACAO DOS DIREITOS CREDITORIOS, NOS TERMOS DO CONTRATO DE AGENTE D</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10</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HYUNDAI</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2,19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INTEGRAL</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S3 CACEIS</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Candidato textual para validação (p. 6): ULO, ESTADO DE SAO PAULO, AVENIDA DAS NACOES UNIDAS, 14.171, 24O ANDAR, TORRE CRYSTAL, VILA GERTRUDES, INSCRITA NO CNPJ SOB O NO 30.172.491/0001-19. “CEDENTE” HYUNDAI MOTOR BRASIL MONTADORA DE AUTOMOVEIS LTDA. , SOCIEDADE LIMITADA, COM SEDE NA CIDADE DE PIRACICABA, ESTADO DE SAO PAULO, NA AVENIDA HYUNDAI, NO 777, INSCRITA NO CNPJ SOB O NO 10.394.422/0001 -42 E SUA FILI AL LOCALIZADA NA CIDADE DE ANAPOLIS, ESTADO DE GOIAS, REGISTRADA NO CNPJ SOB NO 10.394.422/0008-19, INCLUSIVE OUTRAS QUE VENHAM A SER ABERTAS. “CESSAO FIDUCIARIA” SIGNIFICA A CESSAO FIDUCIARIA DAS LETRAS DE CAMBIO DE TITULARIDADE DE CADA CONCESSIONARIA, FORMALIZADA POR MEIO DO CONTRATO DE CESSAO FIDUCIARIA DE LETRAS DE CAMBIO,</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11</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ENDURANCE</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2,00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KANASTRA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INTRAG</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LIMINE</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PagueVeloz Instituição de Pagamento Ltda. — CNPJ 03.816.413/0001-37 | Serasa S.A. — CNPJ 62.173.620/0133-20</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12</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IBCB-AF01</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1,91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INTRA ASSET</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HEMERA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HEMERA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Ausência de entidade nominal; cedentes e endossantes definidos genericamente.</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13</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SELLER 3 SEGMENTO MEIOS DE</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1,88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Estabelecimentos comerciais e Mercado Crédito</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14</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AUTO-HONDA</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1,84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BEM</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Candidato textual para validação (p. 14): INANCEIRA COM SEDE NA CIDADE DE SAO PAULO, ESTADO DE SAO PAULO, NA RUA DR. JOSE AUREO BUSTAMANTE, 377, MEZANINO, 3O ANDAR, CEP 04710-090, INSCRITA NO CNPJ/MF SOB O NO 03.634.220/0001-65. CEDENTE HONDA AUTOMOVEIS DO BRASIL LTDA., SOCIEDADE EMPRESARIA LIMITADA COM SEDE NA CIDADE DE SUMARE, ESTADO DE SAO PAULO, NA AVENIDA INTERNA, 03, PREDIO 6A, DISTRITO DE NOVA VENEZA, ENTRADA PELA ESTRADA MUNICIPAL VALENCIA CALEGARI, 777, CEP 13181-903, INSCRITA NO CNPJ/MF SOB O NO 01.192.333/0001-22. CHAVES DE ACESSO ELETRONICO SIGNIFI</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15</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COBUCCIO DE RESPONS LIMITADA</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1,76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CARMEL</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16</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CATERPILLAR DO SEGMENTO INDUSTRIAL</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1,67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TIVIO</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BEM</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Candidato textual para validação (p. 15): NA CIDADE DE BELO HORIZONTE, ESTADO DE MINAS GERAIS, NA RUA MARIA LUIZA SANTIAGO, N°200, 20° ANDAR, BAIRRO SANTA LUCIA, CEP 30.360 -740, INSCRITA N O CNPJ: 33.502.360/0001-40.CBL (“CGM” E, EM CONJUNTO COM A CBL E A CBCL, “CEDENTES”). PARAGRAFO PRIMEIRO - AQUISICAO DOS DIREITOS CREDITORIOS CORPORATIVOS FICA CONDICIONADA A APROVACAO D O GESTOR , PAUTADO EXCLUSIVAMENTE POR SEUS CRITERIOS DE SELETIVIDADE E CONVENIENCIA, DESDE QUE RESPEITADAS AS CONDICOES DA POLITICA DE INVESTIMENTO DA CLASSE E DEVERAO TER BAIXO RISCO DE CREDITO, CONFORME TABELA ABAIXO: STAN</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17</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RED - MULTISETORIAL LP</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1,57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REDASSET</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HEMERA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HEMERA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18</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ANGICO FIDC SEGMENTO</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1,39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ITAU</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INTRAG</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ITAU</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Ausência de entidade nominal; empresas de projetos aparecem genericamente como Devedores.</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19</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IFOOD I FIDC SEGMENTO MEIOS DE</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1,39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GENIAL</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GENIAL</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20</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LF III</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1,39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PETRA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FINAXIS S.A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Listo Instituição de Pagamento Ltda.</a:t>
                      </a:r>
                    </a:p>
                  </a:txBody>
                  <a:tcPr marL="47625" marR="47625" marT="14288" marB="14288" anchor="ctr">
                    <a:solidFill>
                      <a:srgbClr val="F5F6F7"/>
                    </a:solidFill>
                  </a:tcPr>
                </a:tc>
              </a:tr>
            </a:tbl>
          </a:graphicData>
        </a:graphic>
      </p:graphicFrame>
    </p:spTree>
    <p:extLst>
      <p:ext uri="{BB962C8B-B14F-4D97-AF65-F5344CB8AC3E}">
        <p14:creationId xmlns:p14="http://schemas.microsoft.com/office/powerpoint/2010/main" val="24543082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CA89993-2E4A-4AF8-AC4F-103C18AC2470}"/>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RANKING · TOP 20 POR TIPO ANBIMA</a:t>
            </a:r>
          </a:p>
        </p:txBody>
      </p:sp>
      <p:sp>
        <p:nvSpPr>
          <p:cNvPr id="2" name="">
            <a:extLst xmlns:a="http://schemas.openxmlformats.org/drawingml/2006/main">
              <a:ext uri="{FF2B5EF4-FFF2-40B4-BE49-F238E27FC236}">
                <a16:creationId xmlns:a16="http://schemas.microsoft.com/office/drawing/2014/main" id="{3045C8D5-B978-4A9A-B848-02857119A85E}"/>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Financeiro · R$ 120,8 bi · 48,6% do bucket</a:t>
            </a:r>
          </a:p>
        </p:txBody>
      </p:sp>
      <p:sp>
        <p:nvSpPr>
          <p:cNvPr id="3" name="">
            <a:extLst xmlns:a="http://schemas.openxmlformats.org/drawingml/2006/main">
              <a:ext uri="{FF2B5EF4-FFF2-40B4-BE49-F238E27FC236}">
                <a16:creationId xmlns:a16="http://schemas.microsoft.com/office/drawing/2014/main" id="{68FE84EE-0A8B-48D3-A29F-142A3160A286}"/>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AA666D9-AF57-4A37-8D08-47D63C7BA5F9}"/>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359ABC8-5DE9-4B7B-B740-8B9CEDF15AA1}"/>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PL: CVM, Informe Mensal, jun/26. Tipo/Foco: fotografia ANBIMA de 29/dez/25; níveis documental e proxy permanecem identificados no workbook.</a:t>
            </a:r>
          </a:p>
        </p:txBody>
      </p:sp>
      <p:sp>
        <p:nvSpPr>
          <p:cNvPr id="6" name="">
            <a:extLst xmlns:a="http://schemas.openxmlformats.org/drawingml/2006/main">
              <a:ext uri="{FF2B5EF4-FFF2-40B4-BE49-F238E27FC236}">
                <a16:creationId xmlns:a16="http://schemas.microsoft.com/office/drawing/2014/main" id="{A85BA07B-A123-408E-9610-DBD37DD5D708}"/>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22</a:t>
            </a:r>
          </a:p>
        </p:txBody>
      </p:sp>
      <p:graphicFrame>
        <p:nvGraphicFramePr>
          <p:cNvPr id="14" name=""/>
          <p:cNvGraphicFramePr/>
          <p:nvPr/>
        </p:nvGraphicFramePr>
        <p:xfrm>
          <a:off xmlns:a="http://schemas.openxmlformats.org/drawingml/2006/main" x="571500" y="1352550"/>
          <a:ext xmlns:a="http://schemas.openxmlformats.org/drawingml/2006/main" cx="11049000" cy="4857750"/>
        </p:xfrm>
        <a:graphic xmlns:a="http://schemas.openxmlformats.org/drawingml/2006/main">
          <a:graphicData uri="http://schemas.openxmlformats.org/drawingml/2006/table">
            <a:tbl>
              <a:tblPr firstRow="0" firstCol="0" lastRow="0" lastCol="0" bandRow="0" bandCol="0"/>
              <a:tblGrid>
                <a:gridCol w="323850"/>
                <a:gridCol w="2343150"/>
                <a:gridCol w="666750"/>
                <a:gridCol w="914400"/>
                <a:gridCol w="914400"/>
                <a:gridCol w="876300"/>
                <a:gridCol w="5010150"/>
              </a:tblGrid>
              <a:tr h="209550">
                <a:tc>
                  <a:txBody>
                    <a:bodyPr wrap="square" anchor="ctr">
                      <a:normAutofit/>
                    </a:bodyPr>
                    <a:lstStyle/>
                    <a:p>
                      <a:pPr algn="r"/>
                      <a:r>
                        <a:rPr sz="525" b="1">
                          <a:solidFill>
                            <a:srgbClr val="FFFFFF"/>
                          </a:solidFill>
                          <a:latin typeface="Arial"/>
                          <a:ea typeface="Arial"/>
                          <a:cs typeface="Arial"/>
                        </a:rPr>
                        <a:t>#</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FIDC</a:t>
                      </a:r>
                    </a:p>
                  </a:txBody>
                  <a:tcPr marL="47625" marR="47625" marT="19050" marB="19050" anchor="ctr">
                    <a:solidFill>
                      <a:srgbClr val="151515"/>
                    </a:solidFill>
                  </a:tcPr>
                </a:tc>
                <a:tc>
                  <a:txBody>
                    <a:bodyPr wrap="square" anchor="ctr">
                      <a:normAutofit/>
                    </a:bodyPr>
                    <a:lstStyle/>
                    <a:p>
                      <a:pPr algn="r"/>
                      <a:r>
                        <a:rPr sz="525" b="1">
                          <a:solidFill>
                            <a:srgbClr val="FFFFFF"/>
                          </a:solidFill>
                          <a:latin typeface="Arial"/>
                          <a:ea typeface="Arial"/>
                          <a:cs typeface="Arial"/>
                        </a:rPr>
                        <a:t>PL · R$ bi</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Gestor</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Administrador</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Custodiante</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Cedente / originador expresso</a:t>
                      </a:r>
                    </a:p>
                  </a:txBody>
                  <a:tcPr marL="47625" marR="47625" marT="19050" marB="19050" anchor="ctr">
                    <a:solidFill>
                      <a:srgbClr val="151515"/>
                    </a:solidFill>
                  </a:tcPr>
                </a:tc>
              </a:tr>
              <a:tr h="232410">
                <a:tc>
                  <a:txBody>
                    <a:bodyPr wrap="square" anchor="ctr">
                      <a:normAutofit/>
                    </a:bodyPr>
                    <a:lstStyle/>
                    <a:p>
                      <a:pPr algn="r"/>
                      <a:r>
                        <a:rPr sz="488">
                          <a:solidFill>
                            <a:srgbClr val="30353A"/>
                          </a:solidFill>
                          <a:latin typeface="Arial"/>
                          <a:ea typeface="Arial"/>
                          <a:cs typeface="Arial"/>
                        </a:rPr>
                        <a:t>1</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TAPSO</a:t>
                      </a:r>
                    </a:p>
                  </a:txBody>
                  <a:tcPr marL="47625" marR="47625" marT="14288" marB="14288" anchor="ctr">
                    <a:solidFill>
                      <a:srgbClr val="FFF1E6"/>
                    </a:solidFill>
                  </a:tcPr>
                </a:tc>
                <a:tc>
                  <a:txBody>
                    <a:bodyPr wrap="square" anchor="ctr">
                      <a:normAutofit/>
                    </a:bodyPr>
                    <a:lstStyle/>
                    <a:p>
                      <a:pPr algn="r"/>
                      <a:r>
                        <a:rPr sz="488">
                          <a:solidFill>
                            <a:srgbClr val="30353A"/>
                          </a:solidFill>
                          <a:latin typeface="Arial"/>
                          <a:ea typeface="Arial"/>
                          <a:cs typeface="Arial"/>
                        </a:rPr>
                        <a:t>41,50 bi</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Estabelecimentos credenciados e instituições financeiras parceiras</a:t>
                      </a:r>
                    </a:p>
                  </a:txBody>
                  <a:tcPr marL="47625" marR="47625" marT="14288" marB="14288" anchor="ctr">
                    <a:solidFill>
                      <a:srgbClr val="FFF1E6"/>
                    </a:solidFill>
                  </a:tcPr>
                </a:tc>
              </a:tr>
              <a:tr h="232410">
                <a:tc>
                  <a:txBody>
                    <a:bodyPr wrap="square" anchor="ctr">
                      <a:normAutofit/>
                    </a:bodyPr>
                    <a:lstStyle/>
                    <a:p>
                      <a:pPr algn="r"/>
                      <a:r>
                        <a:rPr sz="488">
                          <a:solidFill>
                            <a:srgbClr val="30353A"/>
                          </a:solidFill>
                          <a:latin typeface="Arial"/>
                          <a:ea typeface="Arial"/>
                          <a:cs typeface="Arial"/>
                        </a:rPr>
                        <a:t>2</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CLASSE CONSIGNADO PRIVADO DO MT</a:t>
                      </a:r>
                    </a:p>
                  </a:txBody>
                  <a:tcPr marL="47625" marR="47625" marT="14288" marB="14288" anchor="ctr">
                    <a:solidFill>
                      <a:srgbClr val="FFF1E6"/>
                    </a:solidFill>
                  </a:tcPr>
                </a:tc>
                <a:tc>
                  <a:txBody>
                    <a:bodyPr wrap="square" anchor="ctr">
                      <a:normAutofit/>
                    </a:bodyPr>
                    <a:lstStyle/>
                    <a:p>
                      <a:pPr algn="r"/>
                      <a:r>
                        <a:rPr sz="488">
                          <a:solidFill>
                            <a:srgbClr val="30353A"/>
                          </a:solidFill>
                          <a:latin typeface="Arial"/>
                          <a:ea typeface="Arial"/>
                          <a:cs typeface="Arial"/>
                        </a:rPr>
                        <a:t>9,41 bi</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BTG PACTUAL</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BTG PACTUAL</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BANCO BTG</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Parati Crédito, Financiamento e Investimento S.A., como originadora e endossante das CCBs.</a:t>
                      </a:r>
                    </a:p>
                  </a:txBody>
                  <a:tcPr marL="47625" marR="47625" marT="14288" marB="14288" anchor="ctr">
                    <a:solidFill>
                      <a:srgbClr val="FFF1E6"/>
                    </a:solidFill>
                  </a:tcPr>
                </a:tc>
              </a:tr>
              <a:tr h="232410">
                <a:tc>
                  <a:txBody>
                    <a:bodyPr wrap="square" anchor="ctr">
                      <a:normAutofit/>
                    </a:bodyPr>
                    <a:lstStyle/>
                    <a:p>
                      <a:pPr algn="r"/>
                      <a:r>
                        <a:rPr sz="488">
                          <a:solidFill>
                            <a:srgbClr val="30353A"/>
                          </a:solidFill>
                          <a:latin typeface="Arial"/>
                          <a:ea typeface="Arial"/>
                          <a:cs typeface="Arial"/>
                        </a:rPr>
                        <a:t>3</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BTG PACTUAL CONSIGNADOS II</a:t>
                      </a:r>
                    </a:p>
                  </a:txBody>
                  <a:tcPr marL="47625" marR="47625" marT="14288" marB="14288" anchor="ctr">
                    <a:solidFill>
                      <a:srgbClr val="FFF1E6"/>
                    </a:solidFill>
                  </a:tcPr>
                </a:tc>
                <a:tc>
                  <a:txBody>
                    <a:bodyPr wrap="square" anchor="ctr">
                      <a:normAutofit/>
                    </a:bodyPr>
                    <a:lstStyle/>
                    <a:p>
                      <a:pPr algn="r"/>
                      <a:r>
                        <a:rPr sz="488">
                          <a:solidFill>
                            <a:srgbClr val="30353A"/>
                          </a:solidFill>
                          <a:latin typeface="Arial"/>
                          <a:ea typeface="Arial"/>
                          <a:cs typeface="Arial"/>
                        </a:rPr>
                        <a:t>8,03 bi</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BANCO BTG</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BTG PACTUAL</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BANCO BTG</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Instituições financeiras que concedam as CCBs; nomes individuais não identificados no regulamento selecionado.</a:t>
                      </a:r>
                    </a:p>
                  </a:txBody>
                  <a:tcPr marL="47625" marR="47625" marT="14288" marB="14288" anchor="ctr">
                    <a:solidFill>
                      <a:srgbClr val="FFF1E6"/>
                    </a:solidFill>
                  </a:tcPr>
                </a:tc>
              </a:tr>
              <a:tr h="232410">
                <a:tc>
                  <a:txBody>
                    <a:bodyPr wrap="square" anchor="ctr">
                      <a:normAutofit/>
                    </a:bodyPr>
                    <a:lstStyle/>
                    <a:p>
                      <a:pPr algn="r"/>
                      <a:r>
                        <a:rPr sz="488">
                          <a:solidFill>
                            <a:srgbClr val="30353A"/>
                          </a:solidFill>
                          <a:latin typeface="Arial"/>
                          <a:ea typeface="Arial"/>
                          <a:cs typeface="Arial"/>
                        </a:rPr>
                        <a:t>4</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CIELO</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6,48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BEM</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Estabelecimentos credenciados da Cielo</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5</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BTG PACTUAL CONSIGNADOS</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6,01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 BTG</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BTG PACTUAL</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 BTG</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Instituições financeiras que concedam as CCB; nomes individuais não identificados no regulamento.</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6</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PICPAY I</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4,76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GENIAL</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GENIAL</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Usuários finais, clientes e estabelecimentos subcredenciados do PicPay</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7</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ARTESANAL MASTER</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4,52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ARTESANAL</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 GENIAL</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 B3</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Pessoas físicas ou jurídicas titulares dos instrumentos elegíveis; nenhuma entidade única foi identificada.</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8</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VENDA DE VEÍCULOS</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4,24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INTEGRAL</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S3 CACEIS</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S3 CACEIS</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Nissan do Brasil Automóveis Ltda. e Renault do Brasil Ltda.</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9</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FIDC ACR BEM BANCOS EMISSORES DE</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3,68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BEM</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Stone Instituição de Pagamento S.A.</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10</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SELLER FIDC SEGMENTO MEIOS DE</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3,66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Mercado Crédito Sociedade de Crédito, Financiamento e Investimento S.A. — CNPJ 37.679.449/0001-38 | Estabelecimentos Comerciais não individualizados</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11</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CLOUDWALK PI SEGMENTO MEIOS DE</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3,25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BTG PACTUAL</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BTG PACTUAL</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 BTG</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Cloudwalk Instituição de Pagamento e Serviços Ltda. — CNPJ 18.189.547/0001-42.</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12</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VTK</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3,09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FACTA FINANCEIRA S.A. CRÉDITO FINANCIAMENTO E INVESTIMENTO — CNPJ 15.581.638/0001-30.</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13</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MT CONSIGNADO PRIVADO I</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3,07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BTG PACTUAL</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BTG PACTUAL</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 BTG</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Parati Crédito Financiamento e Investimento S.A. — CNPJ 03.311.443/0001-91.</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14</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MERCADO CRÉDITO</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3,02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POLÍGONO</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BTG PACTUAL</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BANCO BTG</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Ausência de entidade nominal; instituições financeiras parceiras e vendedores usuários da plataforma são definidos genericamente.</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15</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AGIBANK II</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2,97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16</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SELLER II SEGMENTO MEIOS DE</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2,88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17</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METEORO</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2,69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N/D</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18</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ACR I BANCOS EMISSORES DE CARTÃO</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2,66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OLIVEIRA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Stone Instituição de Pagamento S.A.</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19</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CLUBCARD VAREJO</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2,47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PHRONESIS</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BRL TRUST</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BRL TRUST</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Não identificado no documento público</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20</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SOMA III</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2,46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GENIAL</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GENIAL</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Stone SCD, Stone e afiliadas</a:t>
                      </a:r>
                    </a:p>
                  </a:txBody>
                  <a:tcPr marL="47625" marR="47625" marT="14288" marB="14288" anchor="ctr">
                    <a:solidFill>
                      <a:srgbClr val="F5F6F7"/>
                    </a:solidFill>
                  </a:tcPr>
                </a:tc>
              </a:tr>
            </a:tbl>
          </a:graphicData>
        </a:graphic>
      </p:graphicFrame>
    </p:spTree>
    <p:extLst>
      <p:ext uri="{BB962C8B-B14F-4D97-AF65-F5344CB8AC3E}">
        <p14:creationId xmlns:p14="http://schemas.microsoft.com/office/powerpoint/2010/main" val="146653281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60CC699-D2F7-405D-A201-7FD17D67C951}"/>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RANKING · TOP 20 POR TIPO ANBIMA</a:t>
            </a:r>
          </a:p>
        </p:txBody>
      </p:sp>
      <p:sp>
        <p:nvSpPr>
          <p:cNvPr id="2" name="">
            <a:extLst xmlns:a="http://schemas.openxmlformats.org/drawingml/2006/main">
              <a:ext uri="{FF2B5EF4-FFF2-40B4-BE49-F238E27FC236}">
                <a16:creationId xmlns:a16="http://schemas.microsoft.com/office/drawing/2014/main" id="{794CA07C-BA36-492D-A0B1-580DD05A6B5D}"/>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Outros · R$ 89,8 bi · 25,2% do bucket</a:t>
            </a:r>
          </a:p>
        </p:txBody>
      </p:sp>
      <p:sp>
        <p:nvSpPr>
          <p:cNvPr id="3" name="">
            <a:extLst xmlns:a="http://schemas.openxmlformats.org/drawingml/2006/main">
              <a:ext uri="{FF2B5EF4-FFF2-40B4-BE49-F238E27FC236}">
                <a16:creationId xmlns:a16="http://schemas.microsoft.com/office/drawing/2014/main" id="{447F67EB-3EA5-44ED-8C45-993E79DACC6B}"/>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0ED2848-1CDD-4080-84AF-87BE39AB8A7A}"/>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7AC9526-94FB-45E7-9E8C-E17274DCEF59}"/>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PL: CVM, Informe Mensal, jun/26. Tipo/Foco: fotografia ANBIMA de 29/dez/25; níveis documental e proxy permanecem identificados no workbook.</a:t>
            </a:r>
          </a:p>
        </p:txBody>
      </p:sp>
      <p:sp>
        <p:nvSpPr>
          <p:cNvPr id="6" name="">
            <a:extLst xmlns:a="http://schemas.openxmlformats.org/drawingml/2006/main">
              <a:ext uri="{FF2B5EF4-FFF2-40B4-BE49-F238E27FC236}">
                <a16:creationId xmlns:a16="http://schemas.microsoft.com/office/drawing/2014/main" id="{39327B8C-EB19-4BF5-AB96-D018B0259545}"/>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23</a:t>
            </a:r>
          </a:p>
        </p:txBody>
      </p:sp>
      <p:graphicFrame>
        <p:nvGraphicFramePr>
          <p:cNvPr id="14" name=""/>
          <p:cNvGraphicFramePr/>
          <p:nvPr/>
        </p:nvGraphicFramePr>
        <p:xfrm>
          <a:off xmlns:a="http://schemas.openxmlformats.org/drawingml/2006/main" x="571500" y="1352550"/>
          <a:ext xmlns:a="http://schemas.openxmlformats.org/drawingml/2006/main" cx="11049000" cy="4857750"/>
        </p:xfrm>
        <a:graphic xmlns:a="http://schemas.openxmlformats.org/drawingml/2006/main">
          <a:graphicData uri="http://schemas.openxmlformats.org/drawingml/2006/table">
            <a:tbl>
              <a:tblPr firstRow="0" firstCol="0" lastRow="0" lastCol="0" bandRow="0" bandCol="0"/>
              <a:tblGrid>
                <a:gridCol w="323850"/>
                <a:gridCol w="2343150"/>
                <a:gridCol w="666750"/>
                <a:gridCol w="914400"/>
                <a:gridCol w="914400"/>
                <a:gridCol w="876300"/>
                <a:gridCol w="5010150"/>
              </a:tblGrid>
              <a:tr h="209550">
                <a:tc>
                  <a:txBody>
                    <a:bodyPr wrap="square" anchor="ctr">
                      <a:normAutofit/>
                    </a:bodyPr>
                    <a:lstStyle/>
                    <a:p>
                      <a:pPr algn="r"/>
                      <a:r>
                        <a:rPr sz="525" b="1">
                          <a:solidFill>
                            <a:srgbClr val="FFFFFF"/>
                          </a:solidFill>
                          <a:latin typeface="Arial"/>
                          <a:ea typeface="Arial"/>
                          <a:cs typeface="Arial"/>
                        </a:rPr>
                        <a:t>#</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FIDC</a:t>
                      </a:r>
                    </a:p>
                  </a:txBody>
                  <a:tcPr marL="47625" marR="47625" marT="19050" marB="19050" anchor="ctr">
                    <a:solidFill>
                      <a:srgbClr val="151515"/>
                    </a:solidFill>
                  </a:tcPr>
                </a:tc>
                <a:tc>
                  <a:txBody>
                    <a:bodyPr wrap="square" anchor="ctr">
                      <a:normAutofit/>
                    </a:bodyPr>
                    <a:lstStyle/>
                    <a:p>
                      <a:pPr algn="r"/>
                      <a:r>
                        <a:rPr sz="525" b="1">
                          <a:solidFill>
                            <a:srgbClr val="FFFFFF"/>
                          </a:solidFill>
                          <a:latin typeface="Arial"/>
                          <a:ea typeface="Arial"/>
                          <a:cs typeface="Arial"/>
                        </a:rPr>
                        <a:t>PL · R$ bi</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Gestor</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Administrador</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Custodiante</a:t>
                      </a:r>
                    </a:p>
                  </a:txBody>
                  <a:tcPr marL="47625" marR="47625" marT="19050" marB="19050" anchor="ctr">
                    <a:solidFill>
                      <a:srgbClr val="151515"/>
                    </a:solidFill>
                  </a:tcPr>
                </a:tc>
                <a:tc>
                  <a:txBody>
                    <a:bodyPr wrap="square" anchor="ctr">
                      <a:normAutofit/>
                    </a:bodyPr>
                    <a:lstStyle/>
                    <a:p>
                      <a:pPr algn="l"/>
                      <a:r>
                        <a:rPr sz="525" b="1">
                          <a:solidFill>
                            <a:srgbClr val="FFFFFF"/>
                          </a:solidFill>
                          <a:latin typeface="Arial"/>
                          <a:ea typeface="Arial"/>
                          <a:cs typeface="Arial"/>
                        </a:rPr>
                        <a:t>Cedente / originador expresso</a:t>
                      </a:r>
                    </a:p>
                  </a:txBody>
                  <a:tcPr marL="47625" marR="47625" marT="19050" marB="19050" anchor="ctr">
                    <a:solidFill>
                      <a:srgbClr val="151515"/>
                    </a:solidFill>
                  </a:tcPr>
                </a:tc>
              </a:tr>
              <a:tr h="232410">
                <a:tc>
                  <a:txBody>
                    <a:bodyPr wrap="square" anchor="ctr">
                      <a:normAutofit/>
                    </a:bodyPr>
                    <a:lstStyle/>
                    <a:p>
                      <a:pPr algn="r"/>
                      <a:r>
                        <a:rPr sz="488">
                          <a:solidFill>
                            <a:srgbClr val="30353A"/>
                          </a:solidFill>
                          <a:latin typeface="Arial"/>
                          <a:ea typeface="Arial"/>
                          <a:cs typeface="Arial"/>
                        </a:rPr>
                        <a:t>1</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CLOUDWALK BELA SEGMENTO MEIOS DE</a:t>
                      </a:r>
                    </a:p>
                  </a:txBody>
                  <a:tcPr marL="47625" marR="47625" marT="14288" marB="14288" anchor="ctr">
                    <a:solidFill>
                      <a:srgbClr val="FFF1E6"/>
                    </a:solidFill>
                  </a:tcPr>
                </a:tc>
                <a:tc>
                  <a:txBody>
                    <a:bodyPr wrap="square" anchor="ctr">
                      <a:normAutofit/>
                    </a:bodyPr>
                    <a:lstStyle/>
                    <a:p>
                      <a:pPr algn="r"/>
                      <a:r>
                        <a:rPr sz="488">
                          <a:solidFill>
                            <a:srgbClr val="30353A"/>
                          </a:solidFill>
                          <a:latin typeface="Arial"/>
                          <a:ea typeface="Arial"/>
                          <a:cs typeface="Arial"/>
                        </a:rPr>
                        <a:t>10,01 bi</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BEM</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CloudWalk Instituição de Pagamento e Serviços Ltda.</a:t>
                      </a:r>
                    </a:p>
                  </a:txBody>
                  <a:tcPr marL="47625" marR="47625" marT="14288" marB="14288" anchor="ctr">
                    <a:solidFill>
                      <a:srgbClr val="FFF1E6"/>
                    </a:solidFill>
                  </a:tcPr>
                </a:tc>
              </a:tr>
              <a:tr h="232410">
                <a:tc>
                  <a:txBody>
                    <a:bodyPr wrap="square" anchor="ctr">
                      <a:normAutofit/>
                    </a:bodyPr>
                    <a:lstStyle/>
                    <a:p>
                      <a:pPr algn="r"/>
                      <a:r>
                        <a:rPr sz="488">
                          <a:solidFill>
                            <a:srgbClr val="30353A"/>
                          </a:solidFill>
                          <a:latin typeface="Arial"/>
                          <a:ea typeface="Arial"/>
                          <a:cs typeface="Arial"/>
                        </a:rPr>
                        <a:t>2</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ITAÚ CRÉDITO PRIVADO</a:t>
                      </a:r>
                    </a:p>
                  </a:txBody>
                  <a:tcPr marL="47625" marR="47625" marT="14288" marB="14288" anchor="ctr">
                    <a:solidFill>
                      <a:srgbClr val="FFF1E6"/>
                    </a:solidFill>
                  </a:tcPr>
                </a:tc>
                <a:tc>
                  <a:txBody>
                    <a:bodyPr wrap="square" anchor="ctr">
                      <a:normAutofit/>
                    </a:bodyPr>
                    <a:lstStyle/>
                    <a:p>
                      <a:pPr algn="r"/>
                      <a:r>
                        <a:rPr sz="488">
                          <a:solidFill>
                            <a:srgbClr val="30353A"/>
                          </a:solidFill>
                          <a:latin typeface="Arial"/>
                          <a:ea typeface="Arial"/>
                          <a:cs typeface="Arial"/>
                        </a:rPr>
                        <a:t>8,72 bi</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ITAU</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INTRAG</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ITAU</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Ausência de cedente ou originador único expressamente identificado.</a:t>
                      </a:r>
                    </a:p>
                  </a:txBody>
                  <a:tcPr marL="47625" marR="47625" marT="14288" marB="14288" anchor="ctr">
                    <a:solidFill>
                      <a:srgbClr val="FFF1E6"/>
                    </a:solidFill>
                  </a:tcPr>
                </a:tc>
              </a:tr>
              <a:tr h="232410">
                <a:tc>
                  <a:txBody>
                    <a:bodyPr wrap="square" anchor="ctr">
                      <a:normAutofit/>
                    </a:bodyPr>
                    <a:lstStyle/>
                    <a:p>
                      <a:pPr algn="r"/>
                      <a:r>
                        <a:rPr sz="488">
                          <a:solidFill>
                            <a:srgbClr val="30353A"/>
                          </a:solidFill>
                          <a:latin typeface="Arial"/>
                          <a:ea typeface="Arial"/>
                          <a:cs typeface="Arial"/>
                        </a:rPr>
                        <a:t>3</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RIO VERMELHO NÃO PADRONIZADO</a:t>
                      </a:r>
                    </a:p>
                  </a:txBody>
                  <a:tcPr marL="47625" marR="47625" marT="14288" marB="14288" anchor="ctr">
                    <a:solidFill>
                      <a:srgbClr val="FFF1E6"/>
                    </a:solidFill>
                  </a:tcPr>
                </a:tc>
                <a:tc>
                  <a:txBody>
                    <a:bodyPr wrap="square" anchor="ctr">
                      <a:normAutofit/>
                    </a:bodyPr>
                    <a:lstStyle/>
                    <a:p>
                      <a:pPr algn="r"/>
                      <a:r>
                        <a:rPr sz="488">
                          <a:solidFill>
                            <a:srgbClr val="30353A"/>
                          </a:solidFill>
                          <a:latin typeface="Arial"/>
                          <a:ea typeface="Arial"/>
                          <a:cs typeface="Arial"/>
                        </a:rPr>
                        <a:t>6,39 bi</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CBSF TRUST</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CBSF S.A</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REAG TRUST</a:t>
                      </a:r>
                    </a:p>
                  </a:txBody>
                  <a:tcPr marL="47625" marR="47625" marT="14288" marB="14288" anchor="ctr">
                    <a:solidFill>
                      <a:srgbClr val="FFF1E6"/>
                    </a:solidFill>
                  </a:tcPr>
                </a:tc>
                <a:tc>
                  <a:txBody>
                    <a:bodyPr wrap="square" anchor="ctr">
                      <a:normAutofit/>
                    </a:bodyPr>
                    <a:lstStyle/>
                    <a:p>
                      <a:pPr algn="l"/>
                      <a:r>
                        <a:rPr sz="488">
                          <a:solidFill>
                            <a:srgbClr val="30353A"/>
                          </a:solidFill>
                          <a:latin typeface="Arial"/>
                          <a:ea typeface="Arial"/>
                          <a:cs typeface="Arial"/>
                        </a:rPr>
                        <a:t>Pessoas físicas, pessoas jurídicas ou fundos de investimento; nomes individuais não informados.</a:t>
                      </a:r>
                    </a:p>
                  </a:txBody>
                  <a:tcPr marL="47625" marR="47625" marT="14288" marB="14288" anchor="ctr">
                    <a:solidFill>
                      <a:srgbClr val="FFF1E6"/>
                    </a:solidFill>
                  </a:tcPr>
                </a:tc>
              </a:tr>
              <a:tr h="232410">
                <a:tc>
                  <a:txBody>
                    <a:bodyPr wrap="square" anchor="ctr">
                      <a:normAutofit/>
                    </a:bodyPr>
                    <a:lstStyle/>
                    <a:p>
                      <a:pPr algn="r"/>
                      <a:r>
                        <a:rPr sz="488">
                          <a:solidFill>
                            <a:srgbClr val="30353A"/>
                          </a:solidFill>
                          <a:latin typeface="Arial"/>
                          <a:ea typeface="Arial"/>
                          <a:cs typeface="Arial"/>
                        </a:rPr>
                        <a:t>4</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PAGSEGURO I</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6,23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GENIAL</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GENIAL</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Estabelecimentos credenciados, representados pelo PagSeguro</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5</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ALTERNATIVE ASSETS III</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5,86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 BTG</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BTG PACTUAL</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 BTG</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Pessoas jurídicas ou fundos de investimento; nomes individuais não informados.</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6</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MONEE I</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5,75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VALORA RENDA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SHPP Brasil Instituição de Pagamento e Serviços de Pagamentos Ltda. (originadora); estabelecimentos (cedentes de recebíveis de pagamento); instituições financeiras parceiras (endossantes).</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7</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MAROBÁ FUNDO DE INVESTMENTO EM</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4,47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KANASTRA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INTRAG</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LIMINE</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Ausência de originador ou cedente nominal no regulamento consultado.</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8</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DAY MAXX 2</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4,02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DAYCOVAL</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Pessoas físicas ou jurídicas que cedam direitos; nomes individuais não informados.</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9</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HAVAN SEGMENTO ECONÔMICO,</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3,67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PETRA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Havan S.A. (cedente) e BMP Sociedade de Crédito Direto S.A. ou outra instituição autorizada (cedente de CCB).</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10</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RSCRED MULTIESTRÉGIA -</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3,60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SECURITY</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RJI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RJI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Múltiplos cedentes; nomes individuais não informados.</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11</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EXPERT III</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3,52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DAYCOVAL</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Regulamento não localizado no FundosNet para o CNPJ consultado.</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12</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OCCAM CRÉDITO CORPORATIVO 30</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3,47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NOVA OCCAM</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BNY MELLON</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BNY MELLON</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Ausência de originador ou cedente nominal no documento selecionado.</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13</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RED REAL LP</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3,39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REDASSET</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FINAXIS S.A</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Múltiplos cedentes; nomes individuais não informados.</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14</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ASA</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3,36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ASA ASSET</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QI S.A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Pessoas físicas ou jurídicas; nomes individuais não informados.</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15</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FIDC PCG - BRASIL MULTICARTEIRA</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3,14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BANK OF</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BEM</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Entidades distintas; nomes individuais não informados.</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16</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CARNIVAL</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3,06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CBSF TRUST</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CBSF S.A</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REAG TRUST</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Empresas em recuperação judicial ou não; nomes individuais não informados.</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17</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ALTERNATIVE ASSETS I</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3,03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 BTG</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BTG PACTUAL</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BANCO BTG</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Pessoas físicas, pessoas jurídicas ou fundos de investimento; nomes individuais não informados.</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18</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GSR NÃO PADRONIZADOS</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2,94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TRUSTEE</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TRUSTEE</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TRUSTEE</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Aquele que realiza a cessão; nome individual não informado.</a:t>
                      </a:r>
                    </a:p>
                  </a:txBody>
                  <a:tcPr marL="47625" marR="47625" marT="14288" marB="14288" anchor="ctr">
                    <a:solidFill>
                      <a:srgbClr val="F5F6F7"/>
                    </a:solidFill>
                  </a:tcPr>
                </a:tc>
              </a:tr>
              <a:tr h="232410">
                <a:tc>
                  <a:txBody>
                    <a:bodyPr wrap="square" anchor="ctr">
                      <a:normAutofit/>
                    </a:bodyPr>
                    <a:lstStyle/>
                    <a:p>
                      <a:pPr algn="r"/>
                      <a:r>
                        <a:rPr sz="488">
                          <a:solidFill>
                            <a:srgbClr val="30353A"/>
                          </a:solidFill>
                          <a:latin typeface="Arial"/>
                          <a:ea typeface="Arial"/>
                          <a:cs typeface="Arial"/>
                        </a:rPr>
                        <a:t>19</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FIDC MULTISEGMENTOS NPL IPANEMA VI</a:t>
                      </a:r>
                    </a:p>
                  </a:txBody>
                  <a:tcPr marL="47625" marR="47625" marT="14288" marB="14288" anchor="ctr">
                    <a:solidFill>
                      <a:srgbClr val="FFFFFF"/>
                    </a:solidFill>
                  </a:tcPr>
                </a:tc>
                <a:tc>
                  <a:txBody>
                    <a:bodyPr wrap="square" anchor="ctr">
                      <a:normAutofit/>
                    </a:bodyPr>
                    <a:lstStyle/>
                    <a:p>
                      <a:pPr algn="r"/>
                      <a:r>
                        <a:rPr sz="488">
                          <a:solidFill>
                            <a:srgbClr val="30353A"/>
                          </a:solidFill>
                          <a:latin typeface="Arial"/>
                          <a:ea typeface="Arial"/>
                          <a:cs typeface="Arial"/>
                        </a:rPr>
                        <a:t>2,63 bi</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BRL TRUST</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BRL TRUST</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BRL TRUST</a:t>
                      </a:r>
                    </a:p>
                  </a:txBody>
                  <a:tcPr marL="47625" marR="47625" marT="14288" marB="14288" anchor="ctr">
                    <a:solidFill>
                      <a:srgbClr val="FFFFFF"/>
                    </a:solidFill>
                  </a:tcPr>
                </a:tc>
                <a:tc>
                  <a:txBody>
                    <a:bodyPr wrap="square" anchor="ctr">
                      <a:normAutofit/>
                    </a:bodyPr>
                    <a:lstStyle/>
                    <a:p>
                      <a:pPr algn="l"/>
                      <a:r>
                        <a:rPr sz="488">
                          <a:solidFill>
                            <a:srgbClr val="30353A"/>
                          </a:solidFill>
                          <a:latin typeface="Arial"/>
                          <a:ea typeface="Arial"/>
                          <a:cs typeface="Arial"/>
                        </a:rPr>
                        <a:t>Pessoas físicas ou jurídicas; nomes individuais não informados.</a:t>
                      </a:r>
                    </a:p>
                  </a:txBody>
                  <a:tcPr marL="47625" marR="47625" marT="14288" marB="14288" anchor="ctr">
                    <a:solidFill>
                      <a:srgbClr val="FFFFFF"/>
                    </a:solidFill>
                  </a:tcPr>
                </a:tc>
              </a:tr>
              <a:tr h="232410">
                <a:tc>
                  <a:txBody>
                    <a:bodyPr wrap="square" anchor="ctr">
                      <a:normAutofit/>
                    </a:bodyPr>
                    <a:lstStyle/>
                    <a:p>
                      <a:pPr algn="r"/>
                      <a:r>
                        <a:rPr sz="488">
                          <a:solidFill>
                            <a:srgbClr val="30353A"/>
                          </a:solidFill>
                          <a:latin typeface="Arial"/>
                          <a:ea typeface="Arial"/>
                          <a:cs typeface="Arial"/>
                        </a:rPr>
                        <a:t>20</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ARTESANAL CRÉDITO PRIVADO</a:t>
                      </a:r>
                    </a:p>
                  </a:txBody>
                  <a:tcPr marL="47625" marR="47625" marT="14288" marB="14288" anchor="ctr">
                    <a:solidFill>
                      <a:srgbClr val="F5F6F7"/>
                    </a:solidFill>
                  </a:tcPr>
                </a:tc>
                <a:tc>
                  <a:txBody>
                    <a:bodyPr wrap="square" anchor="ctr">
                      <a:normAutofit/>
                    </a:bodyPr>
                    <a:lstStyle/>
                    <a:p>
                      <a:pPr algn="r"/>
                      <a:r>
                        <a:rPr sz="488">
                          <a:solidFill>
                            <a:srgbClr val="30353A"/>
                          </a:solidFill>
                          <a:latin typeface="Arial"/>
                          <a:ea typeface="Arial"/>
                          <a:cs typeface="Arial"/>
                        </a:rPr>
                        <a:t>2,53 bi</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ARTESANAL</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GENIAL</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BANCO B3</a:t>
                      </a:r>
                    </a:p>
                  </a:txBody>
                  <a:tcPr marL="47625" marR="47625" marT="14288" marB="14288" anchor="ctr">
                    <a:solidFill>
                      <a:srgbClr val="F5F6F7"/>
                    </a:solidFill>
                  </a:tcPr>
                </a:tc>
                <a:tc>
                  <a:txBody>
                    <a:bodyPr wrap="square" anchor="ctr">
                      <a:normAutofit/>
                    </a:bodyPr>
                    <a:lstStyle/>
                    <a:p>
                      <a:pPr algn="l"/>
                      <a:r>
                        <a:rPr sz="488">
                          <a:solidFill>
                            <a:srgbClr val="30353A"/>
                          </a:solidFill>
                          <a:latin typeface="Arial"/>
                          <a:ea typeface="Arial"/>
                          <a:cs typeface="Arial"/>
                        </a:rPr>
                        <a:t>Pessoas físicas ou jurídicas; nomes individuais não informados.</a:t>
                      </a:r>
                    </a:p>
                  </a:txBody>
                  <a:tcPr marL="47625" marR="47625" marT="14288" marB="14288" anchor="ctr">
                    <a:solidFill>
                      <a:srgbClr val="F5F6F7"/>
                    </a:solidFill>
                  </a:tcPr>
                </a:tc>
              </a:tr>
            </a:tbl>
          </a:graphicData>
        </a:graphic>
      </p:graphicFrame>
    </p:spTree>
    <p:extLst>
      <p:ext uri="{BB962C8B-B14F-4D97-AF65-F5344CB8AC3E}">
        <p14:creationId xmlns:p14="http://schemas.microsoft.com/office/powerpoint/2010/main" val="108882155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C7372455-3510-4472-9A72-1AC0A2F9EAFA}"/>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MODELO DE PRESTAÇÃO</a:t>
            </a:r>
          </a:p>
        </p:txBody>
      </p:sp>
      <p:sp>
        <p:nvSpPr>
          <p:cNvPr id="2" name="">
            <a:extLst xmlns:a="http://schemas.openxmlformats.org/drawingml/2006/main">
              <a:ext uri="{FF2B5EF4-FFF2-40B4-BE49-F238E27FC236}">
                <a16:creationId xmlns:a16="http://schemas.microsoft.com/office/drawing/2014/main" id="{22E0D827-ACB9-4644-9617-0C4F9A17FA03}"/>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Monoestruturas são 8,0% dos fundos e 35,7% do PL; dados incompletos cobrem 1,2%</a:t>
            </a:r>
          </a:p>
        </p:txBody>
      </p:sp>
      <p:sp>
        <p:nvSpPr>
          <p:cNvPr id="3" name="">
            <a:extLst xmlns:a="http://schemas.openxmlformats.org/drawingml/2006/main">
              <a:ext uri="{FF2B5EF4-FFF2-40B4-BE49-F238E27FC236}">
                <a16:creationId xmlns:a16="http://schemas.microsoft.com/office/drawing/2014/main" id="{D2F8D1A4-6F76-413C-9E52-FB68CCF403A1}"/>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1BCE878-77C2-4013-8226-84993B223EDA}"/>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25AE5FA-74AA-4FD2-A52A-E51ECEC0BF79}"/>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 cadastro vigente em jun/26. PL bruto, inclui FIC-FIDC. Definição mono: mesmo conglomerado normalizado nas três funções.</a:t>
            </a:r>
          </a:p>
        </p:txBody>
      </p:sp>
      <p:sp>
        <p:nvSpPr>
          <p:cNvPr id="6" name="">
            <a:extLst xmlns:a="http://schemas.openxmlformats.org/drawingml/2006/main">
              <a:ext uri="{FF2B5EF4-FFF2-40B4-BE49-F238E27FC236}">
                <a16:creationId xmlns:a16="http://schemas.microsoft.com/office/drawing/2014/main" id="{C99881D0-2EE3-40BA-ABB2-ACB62A676E63}"/>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24</a:t>
            </a:r>
          </a:p>
        </p:txBody>
      </p:sp>
      <p:graphicFrame>
        <p:nvGraphicFramePr>
          <p:cNvPr id="35" name="Chart"/>
          <p:cNvGraphicFramePr/>
          <p:nvPr/>
        </p:nvGraphicFramePr>
        <p:xfrm>
          <a:off xmlns:a="http://schemas.openxmlformats.org/drawingml/2006/main" x="571500" y="1476375"/>
          <a:ext xmlns:a="http://schemas.openxmlformats.org/drawingml/2006/main" cx="7048500" cy="4191000"/>
        </p:xfrm>
        <a:graphic xmlns:a="http://schemas.openxmlformats.org/drawingml/2006/main">
          <a:graphicData uri="http://schemas.openxmlformats.org/drawingml/2006/chart">
            <c:chart xmlns:r="http://schemas.openxmlformats.org/officeDocument/2006/relationships" xmlns:c="http://schemas.openxmlformats.org/drawingml/2006/chart" r:id="Ra688e7b4962b46e1"/>
          </a:graphicData>
        </a:graphic>
      </p:graphicFrame>
      <p:sp>
        <p:nvSpPr>
          <p:cNvPr id="8" name="">
            <a:extLst xmlns:a="http://schemas.openxmlformats.org/drawingml/2006/main">
              <a:ext uri="{FF2B5EF4-FFF2-40B4-BE49-F238E27FC236}">
                <a16:creationId xmlns:a16="http://schemas.microsoft.com/office/drawing/2014/main" id="{DA7FCDEA-A9B9-48D6-81DF-2BEE3AF67CF6}"/>
              </a:ext>
            </a:extLst>
          </p:cNvPr>
          <p:cNvSpPr>
            <a:spLocks xmlns:a="http://schemas.openxmlformats.org/drawingml/2006/main" noGrp="1"/>
          </p:cNvSpPr>
          <p:nvPr/>
        </p:nvSpPr>
        <p:spPr>
          <a:xfrm xmlns:a="http://schemas.openxmlformats.org/drawingml/2006/main">
            <a:off x="1524000" y="5057775"/>
            <a:ext cx="6000750" cy="2667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04EC04E-A3E0-4F7D-9B49-A7DCD96FCA5C}"/>
              </a:ext>
            </a:extLst>
          </p:cNvPr>
          <p:cNvSpPr>
            <a:spLocks xmlns:a="http://schemas.openxmlformats.org/drawingml/2006/main" noGrp="1"/>
          </p:cNvSpPr>
          <p:nvPr/>
        </p:nvSpPr>
        <p:spPr>
          <a:xfrm xmlns:a="http://schemas.openxmlformats.org/drawingml/2006/main">
            <a:off x="8096250" y="1476375"/>
            <a:ext cx="3524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VOLUME E QUANTIDADE</a:t>
            </a:r>
          </a:p>
        </p:txBody>
      </p:sp>
      <p:sp>
        <p:nvSpPr>
          <p:cNvPr id="10" name="">
            <a:extLst xmlns:a="http://schemas.openxmlformats.org/drawingml/2006/main">
              <a:ext uri="{FF2B5EF4-FFF2-40B4-BE49-F238E27FC236}">
                <a16:creationId xmlns:a16="http://schemas.microsoft.com/office/drawing/2014/main" id="{AC7B74D6-8F80-4CAC-B632-9DC2D315B76F}"/>
              </a:ext>
            </a:extLst>
          </p:cNvPr>
          <p:cNvSpPr>
            <a:spLocks xmlns:a="http://schemas.openxmlformats.org/drawingml/2006/main" noGrp="1"/>
          </p:cNvSpPr>
          <p:nvPr/>
        </p:nvSpPr>
        <p:spPr>
          <a:xfrm xmlns:a="http://schemas.openxmlformats.org/drawingml/2006/main">
            <a:off x="8096250" y="1743075"/>
            <a:ext cx="352425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3084DB4-CDBE-4A32-952A-92CD92F71B16}"/>
              </a:ext>
            </a:extLst>
          </p:cNvPr>
          <p:cNvSpPr>
            <a:spLocks xmlns:a="http://schemas.openxmlformats.org/drawingml/2006/main" noGrp="1"/>
          </p:cNvSpPr>
          <p:nvPr/>
        </p:nvSpPr>
        <p:spPr>
          <a:xfrm xmlns:a="http://schemas.openxmlformats.org/drawingml/2006/main">
            <a:off x="8096250" y="1962150"/>
            <a:ext cx="1867853"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1">
                <a:solidFill>
                  <a:srgbClr val="EC7000"/>
                </a:solidFill>
                <a:latin typeface="Arial"/>
                <a:ea typeface="Arial"/>
                <a:cs typeface="Arial"/>
              </a:defRPr>
            </a:pPr>
            <a:r>
              <a:rPr sz="938" b="1">
                <a:solidFill>
                  <a:srgbClr val="EC7000"/>
                </a:solidFill>
                <a:latin typeface="Arial"/>
                <a:ea typeface="Arial"/>
                <a:cs typeface="Arial"/>
              </a:rPr>
              <a:t>Monoestrutura</a:t>
            </a:r>
          </a:p>
        </p:txBody>
      </p:sp>
      <p:sp>
        <p:nvSpPr>
          <p:cNvPr id="12" name="">
            <a:extLst xmlns:a="http://schemas.openxmlformats.org/drawingml/2006/main">
              <a:ext uri="{FF2B5EF4-FFF2-40B4-BE49-F238E27FC236}">
                <a16:creationId xmlns:a16="http://schemas.microsoft.com/office/drawing/2014/main" id="{8AC4DCC4-793A-419D-9B78-EC4B0771FACF}"/>
              </a:ext>
            </a:extLst>
          </p:cNvPr>
          <p:cNvSpPr>
            <a:spLocks xmlns:a="http://schemas.openxmlformats.org/drawingml/2006/main" noGrp="1"/>
          </p:cNvSpPr>
          <p:nvPr/>
        </p:nvSpPr>
        <p:spPr>
          <a:xfrm xmlns:a="http://schemas.openxmlformats.org/drawingml/2006/main">
            <a:off x="10069830" y="1962150"/>
            <a:ext cx="155067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938" b="0">
                <a:solidFill>
                  <a:srgbClr val="151515"/>
                </a:solidFill>
                <a:latin typeface="Arial"/>
                <a:ea typeface="Arial"/>
                <a:cs typeface="Arial"/>
              </a:defRPr>
            </a:pPr>
            <a:r>
              <a:rPr sz="938" b="0">
                <a:solidFill>
                  <a:srgbClr val="151515"/>
                </a:solidFill>
                <a:latin typeface="Arial"/>
                <a:ea typeface="Arial"/>
                <a:cs typeface="Arial"/>
              </a:rPr>
              <a:t>341 · R$ 342,9 bi</a:t>
            </a:r>
          </a:p>
        </p:txBody>
      </p:sp>
      <p:sp>
        <p:nvSpPr>
          <p:cNvPr id="13" name="">
            <a:extLst xmlns:a="http://schemas.openxmlformats.org/drawingml/2006/main">
              <a:ext uri="{FF2B5EF4-FFF2-40B4-BE49-F238E27FC236}">
                <a16:creationId xmlns:a16="http://schemas.microsoft.com/office/drawing/2014/main" id="{BC18FC28-D429-4E80-A0AF-7AF4E69F4494}"/>
              </a:ext>
            </a:extLst>
          </p:cNvPr>
          <p:cNvSpPr>
            <a:spLocks xmlns:a="http://schemas.openxmlformats.org/drawingml/2006/main" noGrp="1"/>
          </p:cNvSpPr>
          <p:nvPr/>
        </p:nvSpPr>
        <p:spPr>
          <a:xfrm xmlns:a="http://schemas.openxmlformats.org/drawingml/2006/main">
            <a:off x="8096250" y="2468563"/>
            <a:ext cx="3524250"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169AA48-D183-4463-98C5-7046D362E454}"/>
              </a:ext>
            </a:extLst>
          </p:cNvPr>
          <p:cNvSpPr>
            <a:spLocks xmlns:a="http://schemas.openxmlformats.org/drawingml/2006/main" noGrp="1"/>
          </p:cNvSpPr>
          <p:nvPr/>
        </p:nvSpPr>
        <p:spPr>
          <a:xfrm xmlns:a="http://schemas.openxmlformats.org/drawingml/2006/main">
            <a:off x="8096250" y="2525713"/>
            <a:ext cx="1867853"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1">
                <a:solidFill>
                  <a:srgbClr val="30353A"/>
                </a:solidFill>
                <a:latin typeface="Arial"/>
                <a:ea typeface="Arial"/>
                <a:cs typeface="Arial"/>
              </a:defRPr>
            </a:pPr>
            <a:r>
              <a:rPr sz="938" b="1">
                <a:solidFill>
                  <a:srgbClr val="30353A"/>
                </a:solidFill>
                <a:latin typeface="Arial"/>
                <a:ea typeface="Arial"/>
                <a:cs typeface="Arial"/>
              </a:rPr>
              <a:t>Administração + Gestão</a:t>
            </a:r>
          </a:p>
        </p:txBody>
      </p:sp>
      <p:sp>
        <p:nvSpPr>
          <p:cNvPr id="15" name="">
            <a:extLst xmlns:a="http://schemas.openxmlformats.org/drawingml/2006/main">
              <a:ext uri="{FF2B5EF4-FFF2-40B4-BE49-F238E27FC236}">
                <a16:creationId xmlns:a16="http://schemas.microsoft.com/office/drawing/2014/main" id="{EA10AC7B-C868-4B55-BBFC-563A62147C53}"/>
              </a:ext>
            </a:extLst>
          </p:cNvPr>
          <p:cNvSpPr>
            <a:spLocks xmlns:a="http://schemas.openxmlformats.org/drawingml/2006/main" noGrp="1"/>
          </p:cNvSpPr>
          <p:nvPr/>
        </p:nvSpPr>
        <p:spPr>
          <a:xfrm xmlns:a="http://schemas.openxmlformats.org/drawingml/2006/main">
            <a:off x="10069830" y="2525713"/>
            <a:ext cx="155067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938" b="0">
                <a:solidFill>
                  <a:srgbClr val="151515"/>
                </a:solidFill>
                <a:latin typeface="Arial"/>
                <a:ea typeface="Arial"/>
                <a:cs typeface="Arial"/>
              </a:defRPr>
            </a:pPr>
            <a:r>
              <a:rPr sz="938" b="0">
                <a:solidFill>
                  <a:srgbClr val="151515"/>
                </a:solidFill>
                <a:latin typeface="Arial"/>
                <a:ea typeface="Arial"/>
                <a:cs typeface="Arial"/>
              </a:rPr>
              <a:t>33 · R$ 24,1 bi</a:t>
            </a:r>
          </a:p>
        </p:txBody>
      </p:sp>
      <p:sp>
        <p:nvSpPr>
          <p:cNvPr id="16" name="">
            <a:extLst xmlns:a="http://schemas.openxmlformats.org/drawingml/2006/main">
              <a:ext uri="{FF2B5EF4-FFF2-40B4-BE49-F238E27FC236}">
                <a16:creationId xmlns:a16="http://schemas.microsoft.com/office/drawing/2014/main" id="{49BD844C-E00E-4007-8A72-5D1CE4BD2CCF}"/>
              </a:ext>
            </a:extLst>
          </p:cNvPr>
          <p:cNvSpPr>
            <a:spLocks xmlns:a="http://schemas.openxmlformats.org/drawingml/2006/main" noGrp="1"/>
          </p:cNvSpPr>
          <p:nvPr/>
        </p:nvSpPr>
        <p:spPr>
          <a:xfrm xmlns:a="http://schemas.openxmlformats.org/drawingml/2006/main">
            <a:off x="8096250" y="3032125"/>
            <a:ext cx="3524250"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2C5B93A-C4FC-4DA6-AA60-349F15B1B6BD}"/>
              </a:ext>
            </a:extLst>
          </p:cNvPr>
          <p:cNvSpPr>
            <a:spLocks xmlns:a="http://schemas.openxmlformats.org/drawingml/2006/main" noGrp="1"/>
          </p:cNvSpPr>
          <p:nvPr/>
        </p:nvSpPr>
        <p:spPr>
          <a:xfrm xmlns:a="http://schemas.openxmlformats.org/drawingml/2006/main">
            <a:off x="8096250" y="3089275"/>
            <a:ext cx="1867853"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1">
                <a:solidFill>
                  <a:srgbClr val="30353A"/>
                </a:solidFill>
                <a:latin typeface="Arial"/>
                <a:ea typeface="Arial"/>
                <a:cs typeface="Arial"/>
              </a:defRPr>
            </a:pPr>
            <a:r>
              <a:rPr sz="938" b="1">
                <a:solidFill>
                  <a:srgbClr val="30353A"/>
                </a:solidFill>
                <a:latin typeface="Arial"/>
                <a:ea typeface="Arial"/>
                <a:cs typeface="Arial"/>
              </a:rPr>
              <a:t>Administração + Custódia</a:t>
            </a:r>
          </a:p>
        </p:txBody>
      </p:sp>
      <p:sp>
        <p:nvSpPr>
          <p:cNvPr id="18" name="">
            <a:extLst xmlns:a="http://schemas.openxmlformats.org/drawingml/2006/main">
              <a:ext uri="{FF2B5EF4-FFF2-40B4-BE49-F238E27FC236}">
                <a16:creationId xmlns:a16="http://schemas.microsoft.com/office/drawing/2014/main" id="{013BA1EB-F603-4B61-938B-D9383998D6C5}"/>
              </a:ext>
            </a:extLst>
          </p:cNvPr>
          <p:cNvSpPr>
            <a:spLocks xmlns:a="http://schemas.openxmlformats.org/drawingml/2006/main" noGrp="1"/>
          </p:cNvSpPr>
          <p:nvPr/>
        </p:nvSpPr>
        <p:spPr>
          <a:xfrm xmlns:a="http://schemas.openxmlformats.org/drawingml/2006/main">
            <a:off x="10069830" y="3089275"/>
            <a:ext cx="155067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938" b="0">
                <a:solidFill>
                  <a:srgbClr val="151515"/>
                </a:solidFill>
                <a:latin typeface="Arial"/>
                <a:ea typeface="Arial"/>
                <a:cs typeface="Arial"/>
              </a:defRPr>
            </a:pPr>
            <a:r>
              <a:rPr sz="938" b="0">
                <a:solidFill>
                  <a:srgbClr val="151515"/>
                </a:solidFill>
                <a:latin typeface="Arial"/>
                <a:ea typeface="Arial"/>
                <a:cs typeface="Arial"/>
              </a:rPr>
              <a:t>3.441 · R$ 525,1 bi</a:t>
            </a:r>
          </a:p>
        </p:txBody>
      </p:sp>
      <p:sp>
        <p:nvSpPr>
          <p:cNvPr id="19" name="">
            <a:extLst xmlns:a="http://schemas.openxmlformats.org/drawingml/2006/main">
              <a:ext uri="{FF2B5EF4-FFF2-40B4-BE49-F238E27FC236}">
                <a16:creationId xmlns:a16="http://schemas.microsoft.com/office/drawing/2014/main" id="{8BDA65B9-CF6B-43DC-85F4-6DB8EB8C1909}"/>
              </a:ext>
            </a:extLst>
          </p:cNvPr>
          <p:cNvSpPr>
            <a:spLocks xmlns:a="http://schemas.openxmlformats.org/drawingml/2006/main" noGrp="1"/>
          </p:cNvSpPr>
          <p:nvPr/>
        </p:nvSpPr>
        <p:spPr>
          <a:xfrm xmlns:a="http://schemas.openxmlformats.org/drawingml/2006/main">
            <a:off x="8096250" y="3595688"/>
            <a:ext cx="3524250"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31DD5CC-4A4B-4FE5-ABB9-A764F08DF6EC}"/>
              </a:ext>
            </a:extLst>
          </p:cNvPr>
          <p:cNvSpPr>
            <a:spLocks xmlns:a="http://schemas.openxmlformats.org/drawingml/2006/main" noGrp="1"/>
          </p:cNvSpPr>
          <p:nvPr/>
        </p:nvSpPr>
        <p:spPr>
          <a:xfrm xmlns:a="http://schemas.openxmlformats.org/drawingml/2006/main">
            <a:off x="8096250" y="3652838"/>
            <a:ext cx="1867853"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1">
                <a:solidFill>
                  <a:srgbClr val="30353A"/>
                </a:solidFill>
                <a:latin typeface="Arial"/>
                <a:ea typeface="Arial"/>
                <a:cs typeface="Arial"/>
              </a:defRPr>
            </a:pPr>
            <a:r>
              <a:rPr sz="938" b="1">
                <a:solidFill>
                  <a:srgbClr val="30353A"/>
                </a:solidFill>
                <a:latin typeface="Arial"/>
                <a:ea typeface="Arial"/>
                <a:cs typeface="Arial"/>
              </a:rPr>
              <a:t>Gestão + Custódia</a:t>
            </a:r>
          </a:p>
        </p:txBody>
      </p:sp>
      <p:sp>
        <p:nvSpPr>
          <p:cNvPr id="21" name="">
            <a:extLst xmlns:a="http://schemas.openxmlformats.org/drawingml/2006/main">
              <a:ext uri="{FF2B5EF4-FFF2-40B4-BE49-F238E27FC236}">
                <a16:creationId xmlns:a16="http://schemas.microsoft.com/office/drawing/2014/main" id="{52F2DBDA-076B-4E4A-8D8B-466A72B4F3C7}"/>
              </a:ext>
            </a:extLst>
          </p:cNvPr>
          <p:cNvSpPr>
            <a:spLocks xmlns:a="http://schemas.openxmlformats.org/drawingml/2006/main" noGrp="1"/>
          </p:cNvSpPr>
          <p:nvPr/>
        </p:nvSpPr>
        <p:spPr>
          <a:xfrm xmlns:a="http://schemas.openxmlformats.org/drawingml/2006/main">
            <a:off x="10069830" y="3652838"/>
            <a:ext cx="155067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938" b="0">
                <a:solidFill>
                  <a:srgbClr val="151515"/>
                </a:solidFill>
                <a:latin typeface="Arial"/>
                <a:ea typeface="Arial"/>
                <a:cs typeface="Arial"/>
              </a:defRPr>
            </a:pPr>
            <a:r>
              <a:rPr sz="938" b="0">
                <a:solidFill>
                  <a:srgbClr val="151515"/>
                </a:solidFill>
                <a:latin typeface="Arial"/>
                <a:ea typeface="Arial"/>
                <a:cs typeface="Arial"/>
              </a:rPr>
              <a:t>39 · R$ 8,2 bi</a:t>
            </a:r>
          </a:p>
        </p:txBody>
      </p:sp>
      <p:sp>
        <p:nvSpPr>
          <p:cNvPr id="22" name="">
            <a:extLst xmlns:a="http://schemas.openxmlformats.org/drawingml/2006/main">
              <a:ext uri="{FF2B5EF4-FFF2-40B4-BE49-F238E27FC236}">
                <a16:creationId xmlns:a16="http://schemas.microsoft.com/office/drawing/2014/main" id="{DFDD4FFA-B757-49FE-996F-8DFBD8995FC8}"/>
              </a:ext>
            </a:extLst>
          </p:cNvPr>
          <p:cNvSpPr>
            <a:spLocks xmlns:a="http://schemas.openxmlformats.org/drawingml/2006/main" noGrp="1"/>
          </p:cNvSpPr>
          <p:nvPr/>
        </p:nvSpPr>
        <p:spPr>
          <a:xfrm xmlns:a="http://schemas.openxmlformats.org/drawingml/2006/main">
            <a:off x="8096250" y="4159250"/>
            <a:ext cx="3524250"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8C87593-FD01-491E-839E-D8AF0F131800}"/>
              </a:ext>
            </a:extLst>
          </p:cNvPr>
          <p:cNvSpPr>
            <a:spLocks xmlns:a="http://schemas.openxmlformats.org/drawingml/2006/main" noGrp="1"/>
          </p:cNvSpPr>
          <p:nvPr/>
        </p:nvSpPr>
        <p:spPr>
          <a:xfrm xmlns:a="http://schemas.openxmlformats.org/drawingml/2006/main">
            <a:off x="8096250" y="4216400"/>
            <a:ext cx="1867853"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1">
                <a:solidFill>
                  <a:srgbClr val="30353A"/>
                </a:solidFill>
                <a:latin typeface="Arial"/>
                <a:ea typeface="Arial"/>
                <a:cs typeface="Arial"/>
              </a:defRPr>
            </a:pPr>
            <a:r>
              <a:rPr sz="938" b="1">
                <a:solidFill>
                  <a:srgbClr val="30353A"/>
                </a:solidFill>
                <a:latin typeface="Arial"/>
                <a:ea typeface="Arial"/>
                <a:cs typeface="Arial"/>
              </a:rPr>
              <a:t>Três prestadores distintos</a:t>
            </a:r>
          </a:p>
        </p:txBody>
      </p:sp>
      <p:sp>
        <p:nvSpPr>
          <p:cNvPr id="24" name="">
            <a:extLst xmlns:a="http://schemas.openxmlformats.org/drawingml/2006/main">
              <a:ext uri="{FF2B5EF4-FFF2-40B4-BE49-F238E27FC236}">
                <a16:creationId xmlns:a16="http://schemas.microsoft.com/office/drawing/2014/main" id="{0EAC194F-3647-4EA2-A549-C744814AAC6F}"/>
              </a:ext>
            </a:extLst>
          </p:cNvPr>
          <p:cNvSpPr>
            <a:spLocks xmlns:a="http://schemas.openxmlformats.org/drawingml/2006/main" noGrp="1"/>
          </p:cNvSpPr>
          <p:nvPr/>
        </p:nvSpPr>
        <p:spPr>
          <a:xfrm xmlns:a="http://schemas.openxmlformats.org/drawingml/2006/main">
            <a:off x="10069830" y="4216400"/>
            <a:ext cx="155067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938" b="0">
                <a:solidFill>
                  <a:srgbClr val="151515"/>
                </a:solidFill>
                <a:latin typeface="Arial"/>
                <a:ea typeface="Arial"/>
                <a:cs typeface="Arial"/>
              </a:defRPr>
            </a:pPr>
            <a:r>
              <a:rPr sz="938" b="0">
                <a:solidFill>
                  <a:srgbClr val="151515"/>
                </a:solidFill>
                <a:latin typeface="Arial"/>
                <a:ea typeface="Arial"/>
                <a:cs typeface="Arial"/>
              </a:rPr>
              <a:t>321 · R$ 49,6 bi</a:t>
            </a:r>
          </a:p>
        </p:txBody>
      </p:sp>
      <p:sp>
        <p:nvSpPr>
          <p:cNvPr id="25" name="">
            <a:extLst xmlns:a="http://schemas.openxmlformats.org/drawingml/2006/main">
              <a:ext uri="{FF2B5EF4-FFF2-40B4-BE49-F238E27FC236}">
                <a16:creationId xmlns:a16="http://schemas.microsoft.com/office/drawing/2014/main" id="{012A876F-DEC6-4730-9F75-E5171F11DA52}"/>
              </a:ext>
            </a:extLst>
          </p:cNvPr>
          <p:cNvSpPr>
            <a:spLocks xmlns:a="http://schemas.openxmlformats.org/drawingml/2006/main" noGrp="1"/>
          </p:cNvSpPr>
          <p:nvPr/>
        </p:nvSpPr>
        <p:spPr>
          <a:xfrm xmlns:a="http://schemas.openxmlformats.org/drawingml/2006/main">
            <a:off x="8096250" y="4722813"/>
            <a:ext cx="3524250"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51DE170C-BB1C-4A40-8614-DD609561F6ED}"/>
              </a:ext>
            </a:extLst>
          </p:cNvPr>
          <p:cNvSpPr>
            <a:spLocks xmlns:a="http://schemas.openxmlformats.org/drawingml/2006/main" noGrp="1"/>
          </p:cNvSpPr>
          <p:nvPr/>
        </p:nvSpPr>
        <p:spPr>
          <a:xfrm xmlns:a="http://schemas.openxmlformats.org/drawingml/2006/main">
            <a:off x="8096250" y="4779963"/>
            <a:ext cx="1867853"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1">
                <a:solidFill>
                  <a:srgbClr val="30353A"/>
                </a:solidFill>
                <a:latin typeface="Arial"/>
                <a:ea typeface="Arial"/>
                <a:cs typeface="Arial"/>
              </a:defRPr>
            </a:pPr>
            <a:r>
              <a:rPr sz="938" b="1">
                <a:solidFill>
                  <a:srgbClr val="30353A"/>
                </a:solidFill>
                <a:latin typeface="Arial"/>
                <a:ea typeface="Arial"/>
                <a:cs typeface="Arial"/>
              </a:rPr>
              <a:t>Dados incompletos</a:t>
            </a:r>
          </a:p>
        </p:txBody>
      </p:sp>
      <p:sp>
        <p:nvSpPr>
          <p:cNvPr id="27" name="">
            <a:extLst xmlns:a="http://schemas.openxmlformats.org/drawingml/2006/main">
              <a:ext uri="{FF2B5EF4-FFF2-40B4-BE49-F238E27FC236}">
                <a16:creationId xmlns:a16="http://schemas.microsoft.com/office/drawing/2014/main" id="{4C79482F-18FE-4F4F-8C1A-6C4821BAC5D2}"/>
              </a:ext>
            </a:extLst>
          </p:cNvPr>
          <p:cNvSpPr>
            <a:spLocks xmlns:a="http://schemas.openxmlformats.org/drawingml/2006/main" noGrp="1"/>
          </p:cNvSpPr>
          <p:nvPr/>
        </p:nvSpPr>
        <p:spPr>
          <a:xfrm xmlns:a="http://schemas.openxmlformats.org/drawingml/2006/main">
            <a:off x="10069830" y="4779963"/>
            <a:ext cx="155067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938" b="0">
                <a:solidFill>
                  <a:srgbClr val="151515"/>
                </a:solidFill>
                <a:latin typeface="Arial"/>
                <a:ea typeface="Arial"/>
                <a:cs typeface="Arial"/>
              </a:defRPr>
            </a:pPr>
            <a:r>
              <a:rPr sz="938" b="0">
                <a:solidFill>
                  <a:srgbClr val="151515"/>
                </a:solidFill>
                <a:latin typeface="Arial"/>
                <a:ea typeface="Arial"/>
                <a:cs typeface="Arial"/>
              </a:rPr>
              <a:t>72 · R$ 11,5 bi</a:t>
            </a:r>
          </a:p>
        </p:txBody>
      </p:sp>
      <p:sp>
        <p:nvSpPr>
          <p:cNvPr id="28" name="">
            <a:extLst xmlns:a="http://schemas.openxmlformats.org/drawingml/2006/main">
              <a:ext uri="{FF2B5EF4-FFF2-40B4-BE49-F238E27FC236}">
                <a16:creationId xmlns:a16="http://schemas.microsoft.com/office/drawing/2014/main" id="{BBD9E782-7DDF-4F53-8817-BAA4F881D7C4}"/>
              </a:ext>
            </a:extLst>
          </p:cNvPr>
          <p:cNvSpPr>
            <a:spLocks xmlns:a="http://schemas.openxmlformats.org/drawingml/2006/main" noGrp="1"/>
          </p:cNvSpPr>
          <p:nvPr/>
        </p:nvSpPr>
        <p:spPr>
          <a:xfrm xmlns:a="http://schemas.openxmlformats.org/drawingml/2006/main">
            <a:off x="571500" y="5924550"/>
            <a:ext cx="11049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682" b="0">
                <a:solidFill>
                  <a:srgbClr val="8D9399"/>
                </a:solidFill>
                <a:latin typeface="Arial"/>
                <a:ea typeface="Arial"/>
                <a:cs typeface="Arial"/>
              </a:defRPr>
            </a:pPr>
            <a:r>
              <a:rPr sz="682" b="0">
                <a:solidFill>
                  <a:srgbClr val="8D9399"/>
                </a:solidFill>
                <a:latin typeface="Arial"/>
                <a:ea typeface="Arial"/>
                <a:cs typeface="Arial"/>
              </a:rPr>
              <a:t>Conglomerado econômico normalizado: Kanastra permanece separada do Itaú e CBSF da REAG. A afiliação Kanastra→Itaú é exclusiva do ranking de independentes.</a:t>
            </a:r>
          </a:p>
        </p:txBody>
      </p:sp>
    </p:spTree>
    <p:extLst>
      <p:ext uri="{BB962C8B-B14F-4D97-AF65-F5344CB8AC3E}">
        <p14:creationId xmlns:p14="http://schemas.microsoft.com/office/powerpoint/2010/main" val="74204171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0" name="">
            <a:extLst xmlns:a="http://schemas.openxmlformats.org/drawingml/2006/main">
              <a:ext uri="{FF2B5EF4-FFF2-40B4-BE49-F238E27FC236}">
                <a16:creationId xmlns:a16="http://schemas.microsoft.com/office/drawing/2014/main" id="{4A05E1B4-F8E9-45C9-B982-AF14D27FEFDB}"/>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CONCENTRAÇÃO DAS MONOESTRUTURAS</a:t>
            </a:r>
          </a:p>
        </p:txBody>
      </p:sp>
      <p:sp>
        <p:nvSpPr>
          <p:cNvPr id="2" name="">
            <a:extLst xmlns:a="http://schemas.openxmlformats.org/drawingml/2006/main">
              <a:ext uri="{FF2B5EF4-FFF2-40B4-BE49-F238E27FC236}">
                <a16:creationId xmlns:a16="http://schemas.microsoft.com/office/drawing/2014/main" id="{922355E1-9E68-4448-8458-A35855F09CBA}"/>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95975"/>
          </a:bodyPr>
          <a:lstStyle xmlns:a="http://schemas.openxmlformats.org/drawingml/2006/main"/>
          <a:p xmlns:a="http://schemas.openxmlformats.org/drawingml/2006/main">
            <a:pPr algn="l">
              <a:lnSpc>
                <a:spcPct val="100000"/>
              </a:lnSpc>
              <a:buNone/>
              <a:defRPr sz="1950" b="1">
                <a:solidFill>
                  <a:srgbClr val="151515"/>
                </a:solidFill>
                <a:latin typeface="Arial"/>
                <a:ea typeface="Arial"/>
                <a:cs typeface="Arial"/>
              </a:defRPr>
            </a:pPr>
            <a:r>
              <a:rPr sz="1950" b="1">
                <a:solidFill>
                  <a:srgbClr val="151515"/>
                </a:solidFill>
                <a:latin typeface="Arial"/>
                <a:ea typeface="Arial"/>
                <a:cs typeface="Arial"/>
              </a:rPr>
              <a:t>Sistema Petrobras é todo o PL mono do BB; TAPSO representa 54% do PL mono da Oliveira Trust</a:t>
            </a:r>
          </a:p>
        </p:txBody>
      </p:sp>
      <p:sp>
        <p:nvSpPr>
          <p:cNvPr id="3" name="">
            <a:extLst xmlns:a="http://schemas.openxmlformats.org/drawingml/2006/main">
              <a:ext uri="{FF2B5EF4-FFF2-40B4-BE49-F238E27FC236}">
                <a16:creationId xmlns:a16="http://schemas.microsoft.com/office/drawing/2014/main" id="{1444A675-A323-429C-B7B8-98D340E48245}"/>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E37FFA5-0A0F-4EEC-AEE1-60A3B4BAF54D}"/>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4AFD4C8-438E-4C75-852B-1DD60BC12E0D}"/>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 jun/26. Preço, propostas e contratos não integram a base.</a:t>
            </a:r>
          </a:p>
        </p:txBody>
      </p:sp>
      <p:sp>
        <p:nvSpPr>
          <p:cNvPr id="6" name="">
            <a:extLst xmlns:a="http://schemas.openxmlformats.org/drawingml/2006/main">
              <a:ext uri="{FF2B5EF4-FFF2-40B4-BE49-F238E27FC236}">
                <a16:creationId xmlns:a16="http://schemas.microsoft.com/office/drawing/2014/main" id="{6D6F608E-9885-4CDE-9B98-94FEC507E27B}"/>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25</a:t>
            </a:r>
          </a:p>
        </p:txBody>
      </p:sp>
      <p:sp>
        <p:nvSpPr>
          <p:cNvPr id="7" name="">
            <a:extLst xmlns:a="http://schemas.openxmlformats.org/drawingml/2006/main">
              <a:ext uri="{FF2B5EF4-FFF2-40B4-BE49-F238E27FC236}">
                <a16:creationId xmlns:a16="http://schemas.microsoft.com/office/drawing/2014/main" id="{367C2CDA-C05F-4CD8-A601-E4FBE1ED888E}"/>
              </a:ext>
            </a:extLst>
          </p:cNvPr>
          <p:cNvSpPr>
            <a:spLocks xmlns:a="http://schemas.openxmlformats.org/drawingml/2006/main" noGrp="1"/>
          </p:cNvSpPr>
          <p:nvPr/>
        </p:nvSpPr>
        <p:spPr>
          <a:xfrm xmlns:a="http://schemas.openxmlformats.org/drawingml/2006/main">
            <a:off x="571500" y="1476375"/>
            <a:ext cx="7000875" cy="323850"/>
          </a:xfrm>
          <a:prstGeom xmlns:a="http://schemas.openxmlformats.org/drawingml/2006/main" prst="rect">
            <a:avLst/>
          </a:prstGeom>
          <a:solidFill xmlns:a="http://schemas.openxmlformats.org/drawingml/2006/main">
            <a:srgbClr val="15151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456E8BD-C314-442C-89A7-A5B47988938D}"/>
              </a:ext>
            </a:extLst>
          </p:cNvPr>
          <p:cNvSpPr>
            <a:spLocks xmlns:a="http://schemas.openxmlformats.org/drawingml/2006/main" noGrp="1"/>
          </p:cNvSpPr>
          <p:nvPr/>
        </p:nvSpPr>
        <p:spPr>
          <a:xfrm xmlns:a="http://schemas.openxmlformats.org/drawingml/2006/main">
            <a:off x="628650" y="1504950"/>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863" b="1">
                <a:solidFill>
                  <a:srgbClr val="FFFFFF"/>
                </a:solidFill>
                <a:latin typeface="Arial"/>
                <a:ea typeface="Arial"/>
                <a:cs typeface="Arial"/>
              </a:defRPr>
            </a:pPr>
            <a:r>
              <a:rPr sz="863" b="1">
                <a:solidFill>
                  <a:srgbClr val="FFFFFF"/>
                </a:solidFill>
                <a:latin typeface="Arial"/>
                <a:ea typeface="Arial"/>
                <a:cs typeface="Arial"/>
              </a:rPr>
              <a:t>Grupo</a:t>
            </a:r>
          </a:p>
        </p:txBody>
      </p:sp>
      <p:sp>
        <p:nvSpPr>
          <p:cNvPr id="9" name="">
            <a:extLst xmlns:a="http://schemas.openxmlformats.org/drawingml/2006/main">
              <a:ext uri="{FF2B5EF4-FFF2-40B4-BE49-F238E27FC236}">
                <a16:creationId xmlns:a16="http://schemas.microsoft.com/office/drawing/2014/main" id="{801A4C9D-BA21-49A4-8F17-5D77E9F9E66E}"/>
              </a:ext>
            </a:extLst>
          </p:cNvPr>
          <p:cNvSpPr>
            <a:spLocks xmlns:a="http://schemas.openxmlformats.org/drawingml/2006/main" noGrp="1"/>
          </p:cNvSpPr>
          <p:nvPr/>
        </p:nvSpPr>
        <p:spPr>
          <a:xfrm xmlns:a="http://schemas.openxmlformats.org/drawingml/2006/main">
            <a:off x="1771650" y="150495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863" b="1">
                <a:solidFill>
                  <a:srgbClr val="FFFFFF"/>
                </a:solidFill>
                <a:latin typeface="Arial"/>
                <a:ea typeface="Arial"/>
                <a:cs typeface="Arial"/>
              </a:defRPr>
            </a:pPr>
            <a:r>
              <a:rPr sz="863" b="1">
                <a:solidFill>
                  <a:srgbClr val="FFFFFF"/>
                </a:solidFill>
                <a:latin typeface="Arial"/>
                <a:ea typeface="Arial"/>
                <a:cs typeface="Arial"/>
              </a:rPr>
              <a:t>PL mono</a:t>
            </a:r>
          </a:p>
        </p:txBody>
      </p:sp>
      <p:sp>
        <p:nvSpPr>
          <p:cNvPr id="10" name="">
            <a:extLst xmlns:a="http://schemas.openxmlformats.org/drawingml/2006/main">
              <a:ext uri="{FF2B5EF4-FFF2-40B4-BE49-F238E27FC236}">
                <a16:creationId xmlns:a16="http://schemas.microsoft.com/office/drawing/2014/main" id="{AD3328AD-1D7B-47D0-8393-B7224813CD05}"/>
              </a:ext>
            </a:extLst>
          </p:cNvPr>
          <p:cNvSpPr>
            <a:spLocks xmlns:a="http://schemas.openxmlformats.org/drawingml/2006/main" noGrp="1"/>
          </p:cNvSpPr>
          <p:nvPr/>
        </p:nvSpPr>
        <p:spPr>
          <a:xfrm xmlns:a="http://schemas.openxmlformats.org/drawingml/2006/main">
            <a:off x="2628900" y="15049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863" b="1">
                <a:solidFill>
                  <a:srgbClr val="FFFFFF"/>
                </a:solidFill>
                <a:latin typeface="Arial"/>
                <a:ea typeface="Arial"/>
                <a:cs typeface="Arial"/>
              </a:defRPr>
            </a:pPr>
            <a:r>
              <a:rPr sz="863" b="1">
                <a:solidFill>
                  <a:srgbClr val="FFFFFF"/>
                </a:solidFill>
                <a:latin typeface="Arial"/>
                <a:ea typeface="Arial"/>
                <a:cs typeface="Arial"/>
              </a:rPr>
              <a:t>Fundos</a:t>
            </a:r>
          </a:p>
        </p:txBody>
      </p:sp>
      <p:sp>
        <p:nvSpPr>
          <p:cNvPr id="11" name="">
            <a:extLst xmlns:a="http://schemas.openxmlformats.org/drawingml/2006/main">
              <a:ext uri="{FF2B5EF4-FFF2-40B4-BE49-F238E27FC236}">
                <a16:creationId xmlns:a16="http://schemas.microsoft.com/office/drawing/2014/main" id="{74A5A233-23A4-4FD9-80FD-E4CE2F959404}"/>
              </a:ext>
            </a:extLst>
          </p:cNvPr>
          <p:cNvSpPr>
            <a:spLocks xmlns:a="http://schemas.openxmlformats.org/drawingml/2006/main" noGrp="1"/>
          </p:cNvSpPr>
          <p:nvPr/>
        </p:nvSpPr>
        <p:spPr>
          <a:xfrm xmlns:a="http://schemas.openxmlformats.org/drawingml/2006/main">
            <a:off x="3152775" y="150495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863" b="1">
                <a:solidFill>
                  <a:srgbClr val="FFFFFF"/>
                </a:solidFill>
                <a:latin typeface="Arial"/>
                <a:ea typeface="Arial"/>
                <a:cs typeface="Arial"/>
              </a:defRPr>
            </a:pPr>
            <a:r>
              <a:rPr sz="863" b="1">
                <a:solidFill>
                  <a:srgbClr val="FFFFFF"/>
                </a:solidFill>
                <a:latin typeface="Arial"/>
                <a:ea typeface="Arial"/>
                <a:cs typeface="Arial"/>
              </a:rPr>
              <a:t>Maior fundo</a:t>
            </a:r>
          </a:p>
        </p:txBody>
      </p:sp>
      <p:sp>
        <p:nvSpPr>
          <p:cNvPr id="12" name="">
            <a:extLst xmlns:a="http://schemas.openxmlformats.org/drawingml/2006/main">
              <a:ext uri="{FF2B5EF4-FFF2-40B4-BE49-F238E27FC236}">
                <a16:creationId xmlns:a16="http://schemas.microsoft.com/office/drawing/2014/main" id="{6C334F8C-01ED-4FE5-BCA7-A49A9793B152}"/>
              </a:ext>
            </a:extLst>
          </p:cNvPr>
          <p:cNvSpPr>
            <a:spLocks xmlns:a="http://schemas.openxmlformats.org/drawingml/2006/main" noGrp="1"/>
          </p:cNvSpPr>
          <p:nvPr/>
        </p:nvSpPr>
        <p:spPr>
          <a:xfrm xmlns:a="http://schemas.openxmlformats.org/drawingml/2006/main">
            <a:off x="5248275" y="1504950"/>
            <a:ext cx="647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863" b="1">
                <a:solidFill>
                  <a:srgbClr val="FFFFFF"/>
                </a:solidFill>
                <a:latin typeface="Arial"/>
                <a:ea typeface="Arial"/>
                <a:cs typeface="Arial"/>
              </a:defRPr>
            </a:pPr>
            <a:r>
              <a:rPr sz="863" b="1">
                <a:solidFill>
                  <a:srgbClr val="FFFFFF"/>
                </a:solidFill>
                <a:latin typeface="Arial"/>
                <a:ea typeface="Arial"/>
                <a:cs typeface="Arial"/>
              </a:rPr>
              <a:t>Top 1</a:t>
            </a:r>
          </a:p>
        </p:txBody>
      </p:sp>
      <p:sp>
        <p:nvSpPr>
          <p:cNvPr id="13" name="">
            <a:extLst xmlns:a="http://schemas.openxmlformats.org/drawingml/2006/main">
              <a:ext uri="{FF2B5EF4-FFF2-40B4-BE49-F238E27FC236}">
                <a16:creationId xmlns:a16="http://schemas.microsoft.com/office/drawing/2014/main" id="{C39C97D8-69CF-4C4C-9B77-7393FE045A79}"/>
              </a:ext>
            </a:extLst>
          </p:cNvPr>
          <p:cNvSpPr>
            <a:spLocks xmlns:a="http://schemas.openxmlformats.org/drawingml/2006/main" noGrp="1"/>
          </p:cNvSpPr>
          <p:nvPr/>
        </p:nvSpPr>
        <p:spPr>
          <a:xfrm xmlns:a="http://schemas.openxmlformats.org/drawingml/2006/main">
            <a:off x="6010275" y="1504950"/>
            <a:ext cx="647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863" b="1">
                <a:solidFill>
                  <a:srgbClr val="FFFFFF"/>
                </a:solidFill>
                <a:latin typeface="Arial"/>
                <a:ea typeface="Arial"/>
                <a:cs typeface="Arial"/>
              </a:defRPr>
            </a:pPr>
            <a:r>
              <a:rPr sz="863" b="1">
                <a:solidFill>
                  <a:srgbClr val="FFFFFF"/>
                </a:solidFill>
                <a:latin typeface="Arial"/>
                <a:ea typeface="Arial"/>
                <a:cs typeface="Arial"/>
              </a:rPr>
              <a:t>Top 3</a:t>
            </a:r>
          </a:p>
        </p:txBody>
      </p:sp>
      <p:sp>
        <p:nvSpPr>
          <p:cNvPr id="14" name="">
            <a:extLst xmlns:a="http://schemas.openxmlformats.org/drawingml/2006/main">
              <a:ext uri="{FF2B5EF4-FFF2-40B4-BE49-F238E27FC236}">
                <a16:creationId xmlns:a16="http://schemas.microsoft.com/office/drawing/2014/main" id="{CA7639F3-DF61-4179-B362-F2F17639EFA1}"/>
              </a:ext>
            </a:extLst>
          </p:cNvPr>
          <p:cNvSpPr>
            <a:spLocks xmlns:a="http://schemas.openxmlformats.org/drawingml/2006/main" noGrp="1"/>
          </p:cNvSpPr>
          <p:nvPr/>
        </p:nvSpPr>
        <p:spPr>
          <a:xfrm xmlns:a="http://schemas.openxmlformats.org/drawingml/2006/main">
            <a:off x="6772275" y="150495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863" b="1">
                <a:solidFill>
                  <a:srgbClr val="FFFFFF"/>
                </a:solidFill>
                <a:latin typeface="Arial"/>
                <a:ea typeface="Arial"/>
                <a:cs typeface="Arial"/>
              </a:defRPr>
            </a:pPr>
            <a:r>
              <a:rPr sz="863" b="1">
                <a:solidFill>
                  <a:srgbClr val="FFFFFF"/>
                </a:solidFill>
                <a:latin typeface="Arial"/>
                <a:ea typeface="Arial"/>
                <a:cs typeface="Arial"/>
              </a:rPr>
              <a:t>HHI</a:t>
            </a:r>
          </a:p>
        </p:txBody>
      </p:sp>
      <p:sp>
        <p:nvSpPr>
          <p:cNvPr id="15" name="">
            <a:extLst xmlns:a="http://schemas.openxmlformats.org/drawingml/2006/main">
              <a:ext uri="{FF2B5EF4-FFF2-40B4-BE49-F238E27FC236}">
                <a16:creationId xmlns:a16="http://schemas.microsoft.com/office/drawing/2014/main" id="{EB7DCA4E-7A45-4285-BFCA-0F24DE9FD81E}"/>
              </a:ext>
            </a:extLst>
          </p:cNvPr>
          <p:cNvSpPr>
            <a:spLocks xmlns:a="http://schemas.openxmlformats.org/drawingml/2006/main" noGrp="1"/>
          </p:cNvSpPr>
          <p:nvPr/>
        </p:nvSpPr>
        <p:spPr>
          <a:xfrm xmlns:a="http://schemas.openxmlformats.org/drawingml/2006/main">
            <a:off x="571500" y="1800225"/>
            <a:ext cx="7000875" cy="6286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2589F80-C26F-4BEE-97A0-958E67835004}"/>
              </a:ext>
            </a:extLst>
          </p:cNvPr>
          <p:cNvSpPr>
            <a:spLocks xmlns:a="http://schemas.openxmlformats.org/drawingml/2006/main" noGrp="1"/>
          </p:cNvSpPr>
          <p:nvPr/>
        </p:nvSpPr>
        <p:spPr>
          <a:xfrm xmlns:a="http://schemas.openxmlformats.org/drawingml/2006/main">
            <a:off x="571500" y="2419350"/>
            <a:ext cx="70008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BA7BA30-D2EE-48F7-939D-05BE7DEDDCD5}"/>
              </a:ext>
            </a:extLst>
          </p:cNvPr>
          <p:cNvSpPr>
            <a:spLocks xmlns:a="http://schemas.openxmlformats.org/drawingml/2006/main" noGrp="1"/>
          </p:cNvSpPr>
          <p:nvPr/>
        </p:nvSpPr>
        <p:spPr>
          <a:xfrm xmlns:a="http://schemas.openxmlformats.org/drawingml/2006/main">
            <a:off x="628650" y="1828800"/>
            <a:ext cx="1028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BTG Pactual</a:t>
            </a:r>
          </a:p>
        </p:txBody>
      </p:sp>
      <p:sp>
        <p:nvSpPr>
          <p:cNvPr id="18" name="">
            <a:extLst xmlns:a="http://schemas.openxmlformats.org/drawingml/2006/main">
              <a:ext uri="{FF2B5EF4-FFF2-40B4-BE49-F238E27FC236}">
                <a16:creationId xmlns:a16="http://schemas.microsoft.com/office/drawing/2014/main" id="{1C4F4CFB-DE65-4B48-99B2-57B105B35D35}"/>
              </a:ext>
            </a:extLst>
          </p:cNvPr>
          <p:cNvSpPr>
            <a:spLocks xmlns:a="http://schemas.openxmlformats.org/drawingml/2006/main" noGrp="1"/>
          </p:cNvSpPr>
          <p:nvPr/>
        </p:nvSpPr>
        <p:spPr>
          <a:xfrm xmlns:a="http://schemas.openxmlformats.org/drawingml/2006/main">
            <a:off x="1771650" y="1828800"/>
            <a:ext cx="742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81,0 bi</a:t>
            </a:r>
          </a:p>
        </p:txBody>
      </p:sp>
      <p:sp>
        <p:nvSpPr>
          <p:cNvPr id="19" name="">
            <a:extLst xmlns:a="http://schemas.openxmlformats.org/drawingml/2006/main">
              <a:ext uri="{FF2B5EF4-FFF2-40B4-BE49-F238E27FC236}">
                <a16:creationId xmlns:a16="http://schemas.microsoft.com/office/drawing/2014/main" id="{15C4D3F7-C4CA-4253-A478-20EEBABF1D98}"/>
              </a:ext>
            </a:extLst>
          </p:cNvPr>
          <p:cNvSpPr>
            <a:spLocks xmlns:a="http://schemas.openxmlformats.org/drawingml/2006/main" noGrp="1"/>
          </p:cNvSpPr>
          <p:nvPr/>
        </p:nvSpPr>
        <p:spPr>
          <a:xfrm xmlns:a="http://schemas.openxmlformats.org/drawingml/2006/main">
            <a:off x="2628900" y="1828800"/>
            <a:ext cx="4095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77</a:t>
            </a:r>
          </a:p>
        </p:txBody>
      </p:sp>
      <p:sp>
        <p:nvSpPr>
          <p:cNvPr id="20" name="">
            <a:extLst xmlns:a="http://schemas.openxmlformats.org/drawingml/2006/main">
              <a:ext uri="{FF2B5EF4-FFF2-40B4-BE49-F238E27FC236}">
                <a16:creationId xmlns:a16="http://schemas.microsoft.com/office/drawing/2014/main" id="{37B8D4B5-D991-4BB2-99CF-87CA54749D97}"/>
              </a:ext>
            </a:extLst>
          </p:cNvPr>
          <p:cNvSpPr>
            <a:spLocks xmlns:a="http://schemas.openxmlformats.org/drawingml/2006/main" noGrp="1"/>
          </p:cNvSpPr>
          <p:nvPr/>
        </p:nvSpPr>
        <p:spPr>
          <a:xfrm xmlns:a="http://schemas.openxmlformats.org/drawingml/2006/main">
            <a:off x="3152775" y="1828800"/>
            <a:ext cx="19812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PAN Auto</a:t>
            </a:r>
          </a:p>
        </p:txBody>
      </p:sp>
      <p:sp>
        <p:nvSpPr>
          <p:cNvPr id="21" name="">
            <a:extLst xmlns:a="http://schemas.openxmlformats.org/drawingml/2006/main">
              <a:ext uri="{FF2B5EF4-FFF2-40B4-BE49-F238E27FC236}">
                <a16:creationId xmlns:a16="http://schemas.microsoft.com/office/drawing/2014/main" id="{9D1296D7-5D39-4E26-ADD7-852EEEBF7816}"/>
              </a:ext>
            </a:extLst>
          </p:cNvPr>
          <p:cNvSpPr>
            <a:spLocks xmlns:a="http://schemas.openxmlformats.org/drawingml/2006/main" noGrp="1"/>
          </p:cNvSpPr>
          <p:nvPr/>
        </p:nvSpPr>
        <p:spPr>
          <a:xfrm xmlns:a="http://schemas.openxmlformats.org/drawingml/2006/main">
            <a:off x="5248275" y="1828800"/>
            <a:ext cx="647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22,2%</a:t>
            </a:r>
          </a:p>
        </p:txBody>
      </p:sp>
      <p:sp>
        <p:nvSpPr>
          <p:cNvPr id="22" name="">
            <a:extLst xmlns:a="http://schemas.openxmlformats.org/drawingml/2006/main">
              <a:ext uri="{FF2B5EF4-FFF2-40B4-BE49-F238E27FC236}">
                <a16:creationId xmlns:a16="http://schemas.microsoft.com/office/drawing/2014/main" id="{8F89E636-E749-43B6-93C3-093074F29E24}"/>
              </a:ext>
            </a:extLst>
          </p:cNvPr>
          <p:cNvSpPr>
            <a:spLocks xmlns:a="http://schemas.openxmlformats.org/drawingml/2006/main" noGrp="1"/>
          </p:cNvSpPr>
          <p:nvPr/>
        </p:nvSpPr>
        <p:spPr>
          <a:xfrm xmlns:a="http://schemas.openxmlformats.org/drawingml/2006/main">
            <a:off x="6010275" y="1828800"/>
            <a:ext cx="647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43,7%</a:t>
            </a:r>
          </a:p>
        </p:txBody>
      </p:sp>
      <p:sp>
        <p:nvSpPr>
          <p:cNvPr id="23" name="">
            <a:extLst xmlns:a="http://schemas.openxmlformats.org/drawingml/2006/main">
              <a:ext uri="{FF2B5EF4-FFF2-40B4-BE49-F238E27FC236}">
                <a16:creationId xmlns:a16="http://schemas.microsoft.com/office/drawing/2014/main" id="{1E5C3FB1-0B59-4D73-AC12-6F6306184EEB}"/>
              </a:ext>
            </a:extLst>
          </p:cNvPr>
          <p:cNvSpPr>
            <a:spLocks xmlns:a="http://schemas.openxmlformats.org/drawingml/2006/main" noGrp="1"/>
          </p:cNvSpPr>
          <p:nvPr/>
        </p:nvSpPr>
        <p:spPr>
          <a:xfrm xmlns:a="http://schemas.openxmlformats.org/drawingml/2006/main">
            <a:off x="6772275" y="1828800"/>
            <a:ext cx="742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923</a:t>
            </a:r>
          </a:p>
        </p:txBody>
      </p:sp>
      <p:sp>
        <p:nvSpPr>
          <p:cNvPr id="24" name="">
            <a:extLst xmlns:a="http://schemas.openxmlformats.org/drawingml/2006/main">
              <a:ext uri="{FF2B5EF4-FFF2-40B4-BE49-F238E27FC236}">
                <a16:creationId xmlns:a16="http://schemas.microsoft.com/office/drawing/2014/main" id="{36F0B3FC-139E-483B-ADA3-BEB1691A2231}"/>
              </a:ext>
            </a:extLst>
          </p:cNvPr>
          <p:cNvSpPr>
            <a:spLocks xmlns:a="http://schemas.openxmlformats.org/drawingml/2006/main" noGrp="1"/>
          </p:cNvSpPr>
          <p:nvPr/>
        </p:nvSpPr>
        <p:spPr>
          <a:xfrm xmlns:a="http://schemas.openxmlformats.org/drawingml/2006/main">
            <a:off x="571500" y="2428875"/>
            <a:ext cx="7000875" cy="628650"/>
          </a:xfrm>
          <a:prstGeom xmlns:a="http://schemas.openxmlformats.org/drawingml/2006/main" prst="rect">
            <a:avLst/>
          </a:prstGeom>
          <a:solidFill xmlns:a="http://schemas.openxmlformats.org/drawingml/2006/main">
            <a:srgbClr val="FFF1E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E5083238-9218-434D-B8D4-FFBAB0D96238}"/>
              </a:ext>
            </a:extLst>
          </p:cNvPr>
          <p:cNvSpPr>
            <a:spLocks xmlns:a="http://schemas.openxmlformats.org/drawingml/2006/main" noGrp="1"/>
          </p:cNvSpPr>
          <p:nvPr/>
        </p:nvSpPr>
        <p:spPr>
          <a:xfrm xmlns:a="http://schemas.openxmlformats.org/drawingml/2006/main">
            <a:off x="571500" y="3048000"/>
            <a:ext cx="70008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758AF092-79A4-46F5-BD25-F43FA00B2C60}"/>
              </a:ext>
            </a:extLst>
          </p:cNvPr>
          <p:cNvSpPr>
            <a:spLocks xmlns:a="http://schemas.openxmlformats.org/drawingml/2006/main" noGrp="1"/>
          </p:cNvSpPr>
          <p:nvPr/>
        </p:nvSpPr>
        <p:spPr>
          <a:xfrm xmlns:a="http://schemas.openxmlformats.org/drawingml/2006/main">
            <a:off x="628650" y="2457450"/>
            <a:ext cx="1028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840" b="1">
                <a:solidFill>
                  <a:srgbClr val="EC7000"/>
                </a:solidFill>
                <a:latin typeface="Arial"/>
                <a:ea typeface="Arial"/>
                <a:cs typeface="Arial"/>
              </a:defRPr>
            </a:pPr>
            <a:r>
              <a:rPr sz="840" b="1">
                <a:solidFill>
                  <a:srgbClr val="EC7000"/>
                </a:solidFill>
                <a:latin typeface="Arial"/>
                <a:ea typeface="Arial"/>
                <a:cs typeface="Arial"/>
              </a:rPr>
              <a:t>Oliveira Trust</a:t>
            </a:r>
          </a:p>
        </p:txBody>
      </p:sp>
      <p:sp>
        <p:nvSpPr>
          <p:cNvPr id="27" name="">
            <a:extLst xmlns:a="http://schemas.openxmlformats.org/drawingml/2006/main">
              <a:ext uri="{FF2B5EF4-FFF2-40B4-BE49-F238E27FC236}">
                <a16:creationId xmlns:a16="http://schemas.microsoft.com/office/drawing/2014/main" id="{927B9FC2-9A3D-4CD9-B340-8E4C56D5C782}"/>
              </a:ext>
            </a:extLst>
          </p:cNvPr>
          <p:cNvSpPr>
            <a:spLocks xmlns:a="http://schemas.openxmlformats.org/drawingml/2006/main" noGrp="1"/>
          </p:cNvSpPr>
          <p:nvPr/>
        </p:nvSpPr>
        <p:spPr>
          <a:xfrm xmlns:a="http://schemas.openxmlformats.org/drawingml/2006/main">
            <a:off x="1771650" y="2457450"/>
            <a:ext cx="742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1">
                <a:solidFill>
                  <a:srgbClr val="EC7000"/>
                </a:solidFill>
                <a:latin typeface="Arial"/>
                <a:ea typeface="Arial"/>
                <a:cs typeface="Arial"/>
              </a:defRPr>
            </a:pPr>
            <a:r>
              <a:rPr sz="840" b="1">
                <a:solidFill>
                  <a:srgbClr val="EC7000"/>
                </a:solidFill>
                <a:latin typeface="Arial"/>
                <a:ea typeface="Arial"/>
                <a:cs typeface="Arial"/>
              </a:rPr>
              <a:t>76,7 bi</a:t>
            </a:r>
          </a:p>
        </p:txBody>
      </p:sp>
      <p:sp>
        <p:nvSpPr>
          <p:cNvPr id="28" name="">
            <a:extLst xmlns:a="http://schemas.openxmlformats.org/drawingml/2006/main">
              <a:ext uri="{FF2B5EF4-FFF2-40B4-BE49-F238E27FC236}">
                <a16:creationId xmlns:a16="http://schemas.microsoft.com/office/drawing/2014/main" id="{825508C8-98E9-4704-B127-EB43BD7D9F06}"/>
              </a:ext>
            </a:extLst>
          </p:cNvPr>
          <p:cNvSpPr>
            <a:spLocks xmlns:a="http://schemas.openxmlformats.org/drawingml/2006/main" noGrp="1"/>
          </p:cNvSpPr>
          <p:nvPr/>
        </p:nvSpPr>
        <p:spPr>
          <a:xfrm xmlns:a="http://schemas.openxmlformats.org/drawingml/2006/main">
            <a:off x="2628900" y="2457450"/>
            <a:ext cx="4095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47</a:t>
            </a:r>
          </a:p>
        </p:txBody>
      </p:sp>
      <p:sp>
        <p:nvSpPr>
          <p:cNvPr id="29" name="">
            <a:extLst xmlns:a="http://schemas.openxmlformats.org/drawingml/2006/main">
              <a:ext uri="{FF2B5EF4-FFF2-40B4-BE49-F238E27FC236}">
                <a16:creationId xmlns:a16="http://schemas.microsoft.com/office/drawing/2014/main" id="{422B7AC5-FAF1-45B5-B60C-9C6D0C983502}"/>
              </a:ext>
            </a:extLst>
          </p:cNvPr>
          <p:cNvSpPr>
            <a:spLocks xmlns:a="http://schemas.openxmlformats.org/drawingml/2006/main" noGrp="1"/>
          </p:cNvSpPr>
          <p:nvPr/>
        </p:nvSpPr>
        <p:spPr>
          <a:xfrm xmlns:a="http://schemas.openxmlformats.org/drawingml/2006/main">
            <a:off x="3152775" y="2457450"/>
            <a:ext cx="19812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TAPSO</a:t>
            </a:r>
          </a:p>
        </p:txBody>
      </p:sp>
      <p:sp>
        <p:nvSpPr>
          <p:cNvPr id="30" name="">
            <a:extLst xmlns:a="http://schemas.openxmlformats.org/drawingml/2006/main">
              <a:ext uri="{FF2B5EF4-FFF2-40B4-BE49-F238E27FC236}">
                <a16:creationId xmlns:a16="http://schemas.microsoft.com/office/drawing/2014/main" id="{6DC430A6-D07F-42FD-B960-865F313D0885}"/>
              </a:ext>
            </a:extLst>
          </p:cNvPr>
          <p:cNvSpPr>
            <a:spLocks xmlns:a="http://schemas.openxmlformats.org/drawingml/2006/main" noGrp="1"/>
          </p:cNvSpPr>
          <p:nvPr/>
        </p:nvSpPr>
        <p:spPr>
          <a:xfrm xmlns:a="http://schemas.openxmlformats.org/drawingml/2006/main">
            <a:off x="5248275" y="2457450"/>
            <a:ext cx="647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54,1%</a:t>
            </a:r>
          </a:p>
        </p:txBody>
      </p:sp>
      <p:sp>
        <p:nvSpPr>
          <p:cNvPr id="31" name="">
            <a:extLst xmlns:a="http://schemas.openxmlformats.org/drawingml/2006/main">
              <a:ext uri="{FF2B5EF4-FFF2-40B4-BE49-F238E27FC236}">
                <a16:creationId xmlns:a16="http://schemas.microsoft.com/office/drawing/2014/main" id="{491F7CF8-ED93-491B-895A-CC2A225F104D}"/>
              </a:ext>
            </a:extLst>
          </p:cNvPr>
          <p:cNvSpPr>
            <a:spLocks xmlns:a="http://schemas.openxmlformats.org/drawingml/2006/main" noGrp="1"/>
          </p:cNvSpPr>
          <p:nvPr/>
        </p:nvSpPr>
        <p:spPr>
          <a:xfrm xmlns:a="http://schemas.openxmlformats.org/drawingml/2006/main">
            <a:off x="6010275" y="2457450"/>
            <a:ext cx="647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62,9%</a:t>
            </a:r>
          </a:p>
        </p:txBody>
      </p:sp>
      <p:sp>
        <p:nvSpPr>
          <p:cNvPr id="32" name="">
            <a:extLst xmlns:a="http://schemas.openxmlformats.org/drawingml/2006/main">
              <a:ext uri="{FF2B5EF4-FFF2-40B4-BE49-F238E27FC236}">
                <a16:creationId xmlns:a16="http://schemas.microsoft.com/office/drawing/2014/main" id="{E8402482-D4C6-4935-A1C0-39BAB270D77C}"/>
              </a:ext>
            </a:extLst>
          </p:cNvPr>
          <p:cNvSpPr>
            <a:spLocks xmlns:a="http://schemas.openxmlformats.org/drawingml/2006/main" noGrp="1"/>
          </p:cNvSpPr>
          <p:nvPr/>
        </p:nvSpPr>
        <p:spPr>
          <a:xfrm xmlns:a="http://schemas.openxmlformats.org/drawingml/2006/main">
            <a:off x="6772275" y="2457450"/>
            <a:ext cx="742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3.056</a:t>
            </a:r>
          </a:p>
        </p:txBody>
      </p:sp>
      <p:sp>
        <p:nvSpPr>
          <p:cNvPr id="33" name="">
            <a:extLst xmlns:a="http://schemas.openxmlformats.org/drawingml/2006/main">
              <a:ext uri="{FF2B5EF4-FFF2-40B4-BE49-F238E27FC236}">
                <a16:creationId xmlns:a16="http://schemas.microsoft.com/office/drawing/2014/main" id="{136371BD-11CC-4CC5-983C-7168438B8198}"/>
              </a:ext>
            </a:extLst>
          </p:cNvPr>
          <p:cNvSpPr>
            <a:spLocks xmlns:a="http://schemas.openxmlformats.org/drawingml/2006/main" noGrp="1"/>
          </p:cNvSpPr>
          <p:nvPr/>
        </p:nvSpPr>
        <p:spPr>
          <a:xfrm xmlns:a="http://schemas.openxmlformats.org/drawingml/2006/main">
            <a:off x="571500" y="3057525"/>
            <a:ext cx="7000875" cy="628650"/>
          </a:xfrm>
          <a:prstGeom xmlns:a="http://schemas.openxmlformats.org/drawingml/2006/main" prst="rect">
            <a:avLst/>
          </a:prstGeom>
          <a:solidFill xmlns:a="http://schemas.openxmlformats.org/drawingml/2006/main">
            <a:srgbClr val="FFF1E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F1CA0DF1-7759-4A8B-A027-FAFA69FB770D}"/>
              </a:ext>
            </a:extLst>
          </p:cNvPr>
          <p:cNvSpPr>
            <a:spLocks xmlns:a="http://schemas.openxmlformats.org/drawingml/2006/main" noGrp="1"/>
          </p:cNvSpPr>
          <p:nvPr/>
        </p:nvSpPr>
        <p:spPr>
          <a:xfrm xmlns:a="http://schemas.openxmlformats.org/drawingml/2006/main">
            <a:off x="571500" y="3676650"/>
            <a:ext cx="70008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3BA5ADD2-A9AA-4C9F-83F9-70BB7C3BF494}"/>
              </a:ext>
            </a:extLst>
          </p:cNvPr>
          <p:cNvSpPr>
            <a:spLocks xmlns:a="http://schemas.openxmlformats.org/drawingml/2006/main" noGrp="1"/>
          </p:cNvSpPr>
          <p:nvPr/>
        </p:nvSpPr>
        <p:spPr>
          <a:xfrm xmlns:a="http://schemas.openxmlformats.org/drawingml/2006/main">
            <a:off x="628650" y="3086100"/>
            <a:ext cx="1028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840" b="1">
                <a:solidFill>
                  <a:srgbClr val="EC7000"/>
                </a:solidFill>
                <a:latin typeface="Arial"/>
                <a:ea typeface="Arial"/>
                <a:cs typeface="Arial"/>
              </a:defRPr>
            </a:pPr>
            <a:r>
              <a:rPr sz="840" b="1">
                <a:solidFill>
                  <a:srgbClr val="EC7000"/>
                </a:solidFill>
                <a:latin typeface="Arial"/>
                <a:ea typeface="Arial"/>
                <a:cs typeface="Arial"/>
              </a:rPr>
              <a:t>Banco do Brasil</a:t>
            </a:r>
          </a:p>
        </p:txBody>
      </p:sp>
      <p:sp>
        <p:nvSpPr>
          <p:cNvPr id="36" name="">
            <a:extLst xmlns:a="http://schemas.openxmlformats.org/drawingml/2006/main">
              <a:ext uri="{FF2B5EF4-FFF2-40B4-BE49-F238E27FC236}">
                <a16:creationId xmlns:a16="http://schemas.microsoft.com/office/drawing/2014/main" id="{EC9D9743-E714-4020-B371-3253EE27E23B}"/>
              </a:ext>
            </a:extLst>
          </p:cNvPr>
          <p:cNvSpPr>
            <a:spLocks xmlns:a="http://schemas.openxmlformats.org/drawingml/2006/main" noGrp="1"/>
          </p:cNvSpPr>
          <p:nvPr/>
        </p:nvSpPr>
        <p:spPr>
          <a:xfrm xmlns:a="http://schemas.openxmlformats.org/drawingml/2006/main">
            <a:off x="1771650" y="3086100"/>
            <a:ext cx="742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1">
                <a:solidFill>
                  <a:srgbClr val="EC7000"/>
                </a:solidFill>
                <a:latin typeface="Arial"/>
                <a:ea typeface="Arial"/>
                <a:cs typeface="Arial"/>
              </a:defRPr>
            </a:pPr>
            <a:r>
              <a:rPr sz="840" b="1">
                <a:solidFill>
                  <a:srgbClr val="EC7000"/>
                </a:solidFill>
                <a:latin typeface="Arial"/>
                <a:ea typeface="Arial"/>
                <a:cs typeface="Arial"/>
              </a:rPr>
              <a:t>61,3 bi</a:t>
            </a:r>
          </a:p>
        </p:txBody>
      </p:sp>
      <p:sp>
        <p:nvSpPr>
          <p:cNvPr id="37" name="">
            <a:extLst xmlns:a="http://schemas.openxmlformats.org/drawingml/2006/main">
              <a:ext uri="{FF2B5EF4-FFF2-40B4-BE49-F238E27FC236}">
                <a16:creationId xmlns:a16="http://schemas.microsoft.com/office/drawing/2014/main" id="{B262A7A0-37EC-4705-AFA3-5C579C85A368}"/>
              </a:ext>
            </a:extLst>
          </p:cNvPr>
          <p:cNvSpPr>
            <a:spLocks xmlns:a="http://schemas.openxmlformats.org/drawingml/2006/main" noGrp="1"/>
          </p:cNvSpPr>
          <p:nvPr/>
        </p:nvSpPr>
        <p:spPr>
          <a:xfrm xmlns:a="http://schemas.openxmlformats.org/drawingml/2006/main">
            <a:off x="2628900" y="3086100"/>
            <a:ext cx="4095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1</a:t>
            </a:r>
          </a:p>
        </p:txBody>
      </p:sp>
      <p:sp>
        <p:nvSpPr>
          <p:cNvPr id="38" name="">
            <a:extLst xmlns:a="http://schemas.openxmlformats.org/drawingml/2006/main">
              <a:ext uri="{FF2B5EF4-FFF2-40B4-BE49-F238E27FC236}">
                <a16:creationId xmlns:a16="http://schemas.microsoft.com/office/drawing/2014/main" id="{288C5EF6-7C81-4561-AEE7-7B2C2A82F35A}"/>
              </a:ext>
            </a:extLst>
          </p:cNvPr>
          <p:cNvSpPr>
            <a:spLocks xmlns:a="http://schemas.openxmlformats.org/drawingml/2006/main" noGrp="1"/>
          </p:cNvSpPr>
          <p:nvPr/>
        </p:nvSpPr>
        <p:spPr>
          <a:xfrm xmlns:a="http://schemas.openxmlformats.org/drawingml/2006/main">
            <a:off x="3152775" y="3086100"/>
            <a:ext cx="19812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FIDC Sistema Petrobras</a:t>
            </a:r>
          </a:p>
        </p:txBody>
      </p:sp>
      <p:sp>
        <p:nvSpPr>
          <p:cNvPr id="39" name="">
            <a:extLst xmlns:a="http://schemas.openxmlformats.org/drawingml/2006/main">
              <a:ext uri="{FF2B5EF4-FFF2-40B4-BE49-F238E27FC236}">
                <a16:creationId xmlns:a16="http://schemas.microsoft.com/office/drawing/2014/main" id="{F75D973E-93F6-4B93-8305-693B4992D78A}"/>
              </a:ext>
            </a:extLst>
          </p:cNvPr>
          <p:cNvSpPr>
            <a:spLocks xmlns:a="http://schemas.openxmlformats.org/drawingml/2006/main" noGrp="1"/>
          </p:cNvSpPr>
          <p:nvPr/>
        </p:nvSpPr>
        <p:spPr>
          <a:xfrm xmlns:a="http://schemas.openxmlformats.org/drawingml/2006/main">
            <a:off x="5248275" y="3086100"/>
            <a:ext cx="647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100,0%</a:t>
            </a:r>
          </a:p>
        </p:txBody>
      </p:sp>
      <p:sp>
        <p:nvSpPr>
          <p:cNvPr id="40" name="">
            <a:extLst xmlns:a="http://schemas.openxmlformats.org/drawingml/2006/main">
              <a:ext uri="{FF2B5EF4-FFF2-40B4-BE49-F238E27FC236}">
                <a16:creationId xmlns:a16="http://schemas.microsoft.com/office/drawing/2014/main" id="{B10B7499-D7E1-4CEB-8852-2690B3533604}"/>
              </a:ext>
            </a:extLst>
          </p:cNvPr>
          <p:cNvSpPr>
            <a:spLocks xmlns:a="http://schemas.openxmlformats.org/drawingml/2006/main" noGrp="1"/>
          </p:cNvSpPr>
          <p:nvPr/>
        </p:nvSpPr>
        <p:spPr>
          <a:xfrm xmlns:a="http://schemas.openxmlformats.org/drawingml/2006/main">
            <a:off x="6010275" y="3086100"/>
            <a:ext cx="647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100,0%</a:t>
            </a:r>
          </a:p>
        </p:txBody>
      </p:sp>
      <p:sp>
        <p:nvSpPr>
          <p:cNvPr id="41" name="">
            <a:extLst xmlns:a="http://schemas.openxmlformats.org/drawingml/2006/main">
              <a:ext uri="{FF2B5EF4-FFF2-40B4-BE49-F238E27FC236}">
                <a16:creationId xmlns:a16="http://schemas.microsoft.com/office/drawing/2014/main" id="{E621EE42-7563-4C21-BB61-44CB794B3D99}"/>
              </a:ext>
            </a:extLst>
          </p:cNvPr>
          <p:cNvSpPr>
            <a:spLocks xmlns:a="http://schemas.openxmlformats.org/drawingml/2006/main" noGrp="1"/>
          </p:cNvSpPr>
          <p:nvPr/>
        </p:nvSpPr>
        <p:spPr>
          <a:xfrm xmlns:a="http://schemas.openxmlformats.org/drawingml/2006/main">
            <a:off x="6772275" y="3086100"/>
            <a:ext cx="742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10.000</a:t>
            </a:r>
          </a:p>
        </p:txBody>
      </p:sp>
      <p:sp>
        <p:nvSpPr>
          <p:cNvPr id="42" name="">
            <a:extLst xmlns:a="http://schemas.openxmlformats.org/drawingml/2006/main">
              <a:ext uri="{FF2B5EF4-FFF2-40B4-BE49-F238E27FC236}">
                <a16:creationId xmlns:a16="http://schemas.microsoft.com/office/drawing/2014/main" id="{A7C18E5F-8759-48C6-B90D-5EB5AB8A8231}"/>
              </a:ext>
            </a:extLst>
          </p:cNvPr>
          <p:cNvSpPr>
            <a:spLocks xmlns:a="http://schemas.openxmlformats.org/drawingml/2006/main" noGrp="1"/>
          </p:cNvSpPr>
          <p:nvPr/>
        </p:nvSpPr>
        <p:spPr>
          <a:xfrm xmlns:a="http://schemas.openxmlformats.org/drawingml/2006/main">
            <a:off x="571500" y="3686175"/>
            <a:ext cx="7000875" cy="628650"/>
          </a:xfrm>
          <a:prstGeom xmlns:a="http://schemas.openxmlformats.org/drawingml/2006/main" prst="rect">
            <a:avLst/>
          </a:prstGeom>
          <a:solidFill xmlns:a="http://schemas.openxmlformats.org/drawingml/2006/main">
            <a:srgbClr val="F5F6F7"/>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641DB35E-1DAE-44C5-8C00-24A548576A5C}"/>
              </a:ext>
            </a:extLst>
          </p:cNvPr>
          <p:cNvSpPr>
            <a:spLocks xmlns:a="http://schemas.openxmlformats.org/drawingml/2006/main" noGrp="1"/>
          </p:cNvSpPr>
          <p:nvPr/>
        </p:nvSpPr>
        <p:spPr>
          <a:xfrm xmlns:a="http://schemas.openxmlformats.org/drawingml/2006/main">
            <a:off x="571500" y="4305300"/>
            <a:ext cx="70008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DAF4097D-A6B8-4993-902F-1D6FBEAE097F}"/>
              </a:ext>
            </a:extLst>
          </p:cNvPr>
          <p:cNvSpPr>
            <a:spLocks xmlns:a="http://schemas.openxmlformats.org/drawingml/2006/main" noGrp="1"/>
          </p:cNvSpPr>
          <p:nvPr/>
        </p:nvSpPr>
        <p:spPr>
          <a:xfrm xmlns:a="http://schemas.openxmlformats.org/drawingml/2006/main">
            <a:off x="628650" y="3714750"/>
            <a:ext cx="1028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Bradesco</a:t>
            </a:r>
          </a:p>
        </p:txBody>
      </p:sp>
      <p:sp>
        <p:nvSpPr>
          <p:cNvPr id="45" name="">
            <a:extLst xmlns:a="http://schemas.openxmlformats.org/drawingml/2006/main">
              <a:ext uri="{FF2B5EF4-FFF2-40B4-BE49-F238E27FC236}">
                <a16:creationId xmlns:a16="http://schemas.microsoft.com/office/drawing/2014/main" id="{170C3FEC-EFEF-4652-9C89-25A761846177}"/>
              </a:ext>
            </a:extLst>
          </p:cNvPr>
          <p:cNvSpPr>
            <a:spLocks xmlns:a="http://schemas.openxmlformats.org/drawingml/2006/main" noGrp="1"/>
          </p:cNvSpPr>
          <p:nvPr/>
        </p:nvSpPr>
        <p:spPr>
          <a:xfrm xmlns:a="http://schemas.openxmlformats.org/drawingml/2006/main">
            <a:off x="1771650" y="3714750"/>
            <a:ext cx="742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39,3 bi</a:t>
            </a:r>
          </a:p>
        </p:txBody>
      </p:sp>
      <p:sp>
        <p:nvSpPr>
          <p:cNvPr id="46" name="">
            <a:extLst xmlns:a="http://schemas.openxmlformats.org/drawingml/2006/main">
              <a:ext uri="{FF2B5EF4-FFF2-40B4-BE49-F238E27FC236}">
                <a16:creationId xmlns:a16="http://schemas.microsoft.com/office/drawing/2014/main" id="{69124E92-7DDF-4298-BF8B-E77E856E8A10}"/>
              </a:ext>
            </a:extLst>
          </p:cNvPr>
          <p:cNvSpPr>
            <a:spLocks xmlns:a="http://schemas.openxmlformats.org/drawingml/2006/main" noGrp="1"/>
          </p:cNvSpPr>
          <p:nvPr/>
        </p:nvSpPr>
        <p:spPr>
          <a:xfrm xmlns:a="http://schemas.openxmlformats.org/drawingml/2006/main">
            <a:off x="2628900" y="3714750"/>
            <a:ext cx="4095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28</a:t>
            </a:r>
          </a:p>
        </p:txBody>
      </p:sp>
      <p:sp>
        <p:nvSpPr>
          <p:cNvPr id="47" name="">
            <a:extLst xmlns:a="http://schemas.openxmlformats.org/drawingml/2006/main">
              <a:ext uri="{FF2B5EF4-FFF2-40B4-BE49-F238E27FC236}">
                <a16:creationId xmlns:a16="http://schemas.microsoft.com/office/drawing/2014/main" id="{998A2E76-3985-4300-B91B-18488794F335}"/>
              </a:ext>
            </a:extLst>
          </p:cNvPr>
          <p:cNvSpPr>
            <a:spLocks xmlns:a="http://schemas.openxmlformats.org/drawingml/2006/main" noGrp="1"/>
          </p:cNvSpPr>
          <p:nvPr/>
        </p:nvSpPr>
        <p:spPr>
          <a:xfrm xmlns:a="http://schemas.openxmlformats.org/drawingml/2006/main">
            <a:off x="3152775" y="3714750"/>
            <a:ext cx="19812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CloudWalk Bela</a:t>
            </a:r>
          </a:p>
        </p:txBody>
      </p:sp>
      <p:sp>
        <p:nvSpPr>
          <p:cNvPr id="48" name="">
            <a:extLst xmlns:a="http://schemas.openxmlformats.org/drawingml/2006/main">
              <a:ext uri="{FF2B5EF4-FFF2-40B4-BE49-F238E27FC236}">
                <a16:creationId xmlns:a16="http://schemas.microsoft.com/office/drawing/2014/main" id="{D85FBD9D-FFFA-472B-9134-E72EF6F9CEEE}"/>
              </a:ext>
            </a:extLst>
          </p:cNvPr>
          <p:cNvSpPr>
            <a:spLocks xmlns:a="http://schemas.openxmlformats.org/drawingml/2006/main" noGrp="1"/>
          </p:cNvSpPr>
          <p:nvPr/>
        </p:nvSpPr>
        <p:spPr>
          <a:xfrm xmlns:a="http://schemas.openxmlformats.org/drawingml/2006/main">
            <a:off x="5248275" y="3714750"/>
            <a:ext cx="647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25,4%</a:t>
            </a:r>
          </a:p>
        </p:txBody>
      </p:sp>
      <p:sp>
        <p:nvSpPr>
          <p:cNvPr id="49" name="">
            <a:extLst xmlns:a="http://schemas.openxmlformats.org/drawingml/2006/main">
              <a:ext uri="{FF2B5EF4-FFF2-40B4-BE49-F238E27FC236}">
                <a16:creationId xmlns:a16="http://schemas.microsoft.com/office/drawing/2014/main" id="{038CF046-23D1-4F07-8EA0-B8A51D8EA35F}"/>
              </a:ext>
            </a:extLst>
          </p:cNvPr>
          <p:cNvSpPr>
            <a:spLocks xmlns:a="http://schemas.openxmlformats.org/drawingml/2006/main" noGrp="1"/>
          </p:cNvSpPr>
          <p:nvPr/>
        </p:nvSpPr>
        <p:spPr>
          <a:xfrm xmlns:a="http://schemas.openxmlformats.org/drawingml/2006/main">
            <a:off x="6010275" y="3714750"/>
            <a:ext cx="647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51,3%</a:t>
            </a:r>
          </a:p>
        </p:txBody>
      </p:sp>
      <p:sp>
        <p:nvSpPr>
          <p:cNvPr id="50" name="">
            <a:extLst xmlns:a="http://schemas.openxmlformats.org/drawingml/2006/main">
              <a:ext uri="{FF2B5EF4-FFF2-40B4-BE49-F238E27FC236}">
                <a16:creationId xmlns:a16="http://schemas.microsoft.com/office/drawing/2014/main" id="{DBEB2573-B362-4952-BA05-A83796DFCB2E}"/>
              </a:ext>
            </a:extLst>
          </p:cNvPr>
          <p:cNvSpPr>
            <a:spLocks xmlns:a="http://schemas.openxmlformats.org/drawingml/2006/main" noGrp="1"/>
          </p:cNvSpPr>
          <p:nvPr/>
        </p:nvSpPr>
        <p:spPr>
          <a:xfrm xmlns:a="http://schemas.openxmlformats.org/drawingml/2006/main">
            <a:off x="6772275" y="3714750"/>
            <a:ext cx="742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1.196</a:t>
            </a:r>
          </a:p>
        </p:txBody>
      </p:sp>
      <p:sp>
        <p:nvSpPr>
          <p:cNvPr id="51" name="">
            <a:extLst xmlns:a="http://schemas.openxmlformats.org/drawingml/2006/main">
              <a:ext uri="{FF2B5EF4-FFF2-40B4-BE49-F238E27FC236}">
                <a16:creationId xmlns:a16="http://schemas.microsoft.com/office/drawing/2014/main" id="{26559DCF-8BC4-4314-8CF6-752A7E87C6DF}"/>
              </a:ext>
            </a:extLst>
          </p:cNvPr>
          <p:cNvSpPr>
            <a:spLocks xmlns:a="http://schemas.openxmlformats.org/drawingml/2006/main" noGrp="1"/>
          </p:cNvSpPr>
          <p:nvPr/>
        </p:nvSpPr>
        <p:spPr>
          <a:xfrm xmlns:a="http://schemas.openxmlformats.org/drawingml/2006/main">
            <a:off x="571500" y="4314825"/>
            <a:ext cx="7000875" cy="6286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2" name="">
            <a:extLst xmlns:a="http://schemas.openxmlformats.org/drawingml/2006/main">
              <a:ext uri="{FF2B5EF4-FFF2-40B4-BE49-F238E27FC236}">
                <a16:creationId xmlns:a16="http://schemas.microsoft.com/office/drawing/2014/main" id="{50FFDB4E-034C-4693-9B6E-D8A3500702A1}"/>
              </a:ext>
            </a:extLst>
          </p:cNvPr>
          <p:cNvSpPr>
            <a:spLocks xmlns:a="http://schemas.openxmlformats.org/drawingml/2006/main" noGrp="1"/>
          </p:cNvSpPr>
          <p:nvPr/>
        </p:nvSpPr>
        <p:spPr>
          <a:xfrm xmlns:a="http://schemas.openxmlformats.org/drawingml/2006/main">
            <a:off x="571500" y="4933950"/>
            <a:ext cx="70008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FE5AD1AC-C738-481E-9F2D-3764C210784D}"/>
              </a:ext>
            </a:extLst>
          </p:cNvPr>
          <p:cNvSpPr>
            <a:spLocks xmlns:a="http://schemas.openxmlformats.org/drawingml/2006/main" noGrp="1"/>
          </p:cNvSpPr>
          <p:nvPr/>
        </p:nvSpPr>
        <p:spPr>
          <a:xfrm xmlns:a="http://schemas.openxmlformats.org/drawingml/2006/main">
            <a:off x="628650" y="4343400"/>
            <a:ext cx="1028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Genial</a:t>
            </a:r>
          </a:p>
        </p:txBody>
      </p:sp>
      <p:sp>
        <p:nvSpPr>
          <p:cNvPr id="54" name="">
            <a:extLst xmlns:a="http://schemas.openxmlformats.org/drawingml/2006/main">
              <a:ext uri="{FF2B5EF4-FFF2-40B4-BE49-F238E27FC236}">
                <a16:creationId xmlns:a16="http://schemas.microsoft.com/office/drawing/2014/main" id="{BDF936BB-D921-4740-A613-A7057DBEDF57}"/>
              </a:ext>
            </a:extLst>
          </p:cNvPr>
          <p:cNvSpPr>
            <a:spLocks xmlns:a="http://schemas.openxmlformats.org/drawingml/2006/main" noGrp="1"/>
          </p:cNvSpPr>
          <p:nvPr/>
        </p:nvSpPr>
        <p:spPr>
          <a:xfrm xmlns:a="http://schemas.openxmlformats.org/drawingml/2006/main">
            <a:off x="1771650" y="4343400"/>
            <a:ext cx="742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26,9 bi</a:t>
            </a:r>
          </a:p>
        </p:txBody>
      </p:sp>
      <p:sp>
        <p:nvSpPr>
          <p:cNvPr id="55" name="">
            <a:extLst xmlns:a="http://schemas.openxmlformats.org/drawingml/2006/main">
              <a:ext uri="{FF2B5EF4-FFF2-40B4-BE49-F238E27FC236}">
                <a16:creationId xmlns:a16="http://schemas.microsoft.com/office/drawing/2014/main" id="{986530F9-BC47-44F3-BAFE-5B15064E445D}"/>
              </a:ext>
            </a:extLst>
          </p:cNvPr>
          <p:cNvSpPr>
            <a:spLocks xmlns:a="http://schemas.openxmlformats.org/drawingml/2006/main" noGrp="1"/>
          </p:cNvSpPr>
          <p:nvPr/>
        </p:nvSpPr>
        <p:spPr>
          <a:xfrm xmlns:a="http://schemas.openxmlformats.org/drawingml/2006/main">
            <a:off x="2628900" y="4343400"/>
            <a:ext cx="4095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45</a:t>
            </a:r>
          </a:p>
        </p:txBody>
      </p:sp>
      <p:sp>
        <p:nvSpPr>
          <p:cNvPr id="56" name="">
            <a:extLst xmlns:a="http://schemas.openxmlformats.org/drawingml/2006/main">
              <a:ext uri="{FF2B5EF4-FFF2-40B4-BE49-F238E27FC236}">
                <a16:creationId xmlns:a16="http://schemas.microsoft.com/office/drawing/2014/main" id="{A1709E5A-E74A-4AD2-BB9B-416905E54C88}"/>
              </a:ext>
            </a:extLst>
          </p:cNvPr>
          <p:cNvSpPr>
            <a:spLocks xmlns:a="http://schemas.openxmlformats.org/drawingml/2006/main" noGrp="1"/>
          </p:cNvSpPr>
          <p:nvPr/>
        </p:nvSpPr>
        <p:spPr>
          <a:xfrm xmlns:a="http://schemas.openxmlformats.org/drawingml/2006/main">
            <a:off x="3152775" y="4343400"/>
            <a:ext cx="19812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PagSeguro I</a:t>
            </a:r>
          </a:p>
        </p:txBody>
      </p:sp>
      <p:sp>
        <p:nvSpPr>
          <p:cNvPr id="57" name="">
            <a:extLst xmlns:a="http://schemas.openxmlformats.org/drawingml/2006/main">
              <a:ext uri="{FF2B5EF4-FFF2-40B4-BE49-F238E27FC236}">
                <a16:creationId xmlns:a16="http://schemas.microsoft.com/office/drawing/2014/main" id="{3672602C-0FE6-4F93-B080-F14151AA36B6}"/>
              </a:ext>
            </a:extLst>
          </p:cNvPr>
          <p:cNvSpPr>
            <a:spLocks xmlns:a="http://schemas.openxmlformats.org/drawingml/2006/main" noGrp="1"/>
          </p:cNvSpPr>
          <p:nvPr/>
        </p:nvSpPr>
        <p:spPr>
          <a:xfrm xmlns:a="http://schemas.openxmlformats.org/drawingml/2006/main">
            <a:off x="5248275" y="4343400"/>
            <a:ext cx="647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23,2%</a:t>
            </a:r>
          </a:p>
        </p:txBody>
      </p:sp>
      <p:sp>
        <p:nvSpPr>
          <p:cNvPr id="58" name="">
            <a:extLst xmlns:a="http://schemas.openxmlformats.org/drawingml/2006/main">
              <a:ext uri="{FF2B5EF4-FFF2-40B4-BE49-F238E27FC236}">
                <a16:creationId xmlns:a16="http://schemas.microsoft.com/office/drawing/2014/main" id="{DB69A1FC-007C-44EF-93BA-08D3ABAE2372}"/>
              </a:ext>
            </a:extLst>
          </p:cNvPr>
          <p:cNvSpPr>
            <a:spLocks xmlns:a="http://schemas.openxmlformats.org/drawingml/2006/main" noGrp="1"/>
          </p:cNvSpPr>
          <p:nvPr/>
        </p:nvSpPr>
        <p:spPr>
          <a:xfrm xmlns:a="http://schemas.openxmlformats.org/drawingml/2006/main">
            <a:off x="6010275" y="4343400"/>
            <a:ext cx="647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50,1%</a:t>
            </a:r>
          </a:p>
        </p:txBody>
      </p:sp>
      <p:sp>
        <p:nvSpPr>
          <p:cNvPr id="59" name="">
            <a:extLst xmlns:a="http://schemas.openxmlformats.org/drawingml/2006/main">
              <a:ext uri="{FF2B5EF4-FFF2-40B4-BE49-F238E27FC236}">
                <a16:creationId xmlns:a16="http://schemas.microsoft.com/office/drawing/2014/main" id="{EEFFBCF9-8F39-4124-81D1-603F96D9271A}"/>
              </a:ext>
            </a:extLst>
          </p:cNvPr>
          <p:cNvSpPr>
            <a:spLocks xmlns:a="http://schemas.openxmlformats.org/drawingml/2006/main" noGrp="1"/>
          </p:cNvSpPr>
          <p:nvPr/>
        </p:nvSpPr>
        <p:spPr>
          <a:xfrm xmlns:a="http://schemas.openxmlformats.org/drawingml/2006/main">
            <a:off x="6772275" y="4343400"/>
            <a:ext cx="742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1.111</a:t>
            </a:r>
          </a:p>
        </p:txBody>
      </p:sp>
      <p:sp>
        <p:nvSpPr>
          <p:cNvPr id="60" name="">
            <a:extLst xmlns:a="http://schemas.openxmlformats.org/drawingml/2006/main">
              <a:ext uri="{FF2B5EF4-FFF2-40B4-BE49-F238E27FC236}">
                <a16:creationId xmlns:a16="http://schemas.microsoft.com/office/drawing/2014/main" id="{F87AD0C4-B497-4EAD-98CA-3F5D752196B6}"/>
              </a:ext>
            </a:extLst>
          </p:cNvPr>
          <p:cNvSpPr>
            <a:spLocks xmlns:a="http://schemas.openxmlformats.org/drawingml/2006/main" noGrp="1"/>
          </p:cNvSpPr>
          <p:nvPr/>
        </p:nvSpPr>
        <p:spPr>
          <a:xfrm xmlns:a="http://schemas.openxmlformats.org/drawingml/2006/main">
            <a:off x="571500" y="4943475"/>
            <a:ext cx="7000875" cy="628650"/>
          </a:xfrm>
          <a:prstGeom xmlns:a="http://schemas.openxmlformats.org/drawingml/2006/main" prst="rect">
            <a:avLst/>
          </a:prstGeom>
          <a:solidFill xmlns:a="http://schemas.openxmlformats.org/drawingml/2006/main">
            <a:srgbClr val="F5F6F7"/>
          </a:solidFill>
          <a:ln xmlns:a="http://schemas.openxmlformats.org/drawingml/2006/main" w="0">
            <a:noFill/>
            <a:prstDash val="solid"/>
          </a:ln>
        </p:spPr>
      </p:sp>
      <p:sp>
        <p:nvSpPr>
          <p:cNvPr id="61" name="">
            <a:extLst xmlns:a="http://schemas.openxmlformats.org/drawingml/2006/main">
              <a:ext uri="{FF2B5EF4-FFF2-40B4-BE49-F238E27FC236}">
                <a16:creationId xmlns:a16="http://schemas.microsoft.com/office/drawing/2014/main" id="{BCDD90DC-7B35-441C-8445-B9F92EBC9D13}"/>
              </a:ext>
            </a:extLst>
          </p:cNvPr>
          <p:cNvSpPr>
            <a:spLocks xmlns:a="http://schemas.openxmlformats.org/drawingml/2006/main" noGrp="1"/>
          </p:cNvSpPr>
          <p:nvPr/>
        </p:nvSpPr>
        <p:spPr>
          <a:xfrm xmlns:a="http://schemas.openxmlformats.org/drawingml/2006/main">
            <a:off x="571500" y="5562600"/>
            <a:ext cx="70008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62" name="">
            <a:extLst xmlns:a="http://schemas.openxmlformats.org/drawingml/2006/main">
              <a:ext uri="{FF2B5EF4-FFF2-40B4-BE49-F238E27FC236}">
                <a16:creationId xmlns:a16="http://schemas.microsoft.com/office/drawing/2014/main" id="{F4E9CB3E-D96B-4962-A9FF-B13616244737}"/>
              </a:ext>
            </a:extLst>
          </p:cNvPr>
          <p:cNvSpPr>
            <a:spLocks xmlns:a="http://schemas.openxmlformats.org/drawingml/2006/main" noGrp="1"/>
          </p:cNvSpPr>
          <p:nvPr/>
        </p:nvSpPr>
        <p:spPr>
          <a:xfrm xmlns:a="http://schemas.openxmlformats.org/drawingml/2006/main">
            <a:off x="628650" y="4972050"/>
            <a:ext cx="1028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Itaú</a:t>
            </a:r>
          </a:p>
        </p:txBody>
      </p:sp>
      <p:sp>
        <p:nvSpPr>
          <p:cNvPr id="63" name="">
            <a:extLst xmlns:a="http://schemas.openxmlformats.org/drawingml/2006/main">
              <a:ext uri="{FF2B5EF4-FFF2-40B4-BE49-F238E27FC236}">
                <a16:creationId xmlns:a16="http://schemas.microsoft.com/office/drawing/2014/main" id="{6158C1DD-FBAA-4AAD-86E0-FE313FBA3548}"/>
              </a:ext>
            </a:extLst>
          </p:cNvPr>
          <p:cNvSpPr>
            <a:spLocks xmlns:a="http://schemas.openxmlformats.org/drawingml/2006/main" noGrp="1"/>
          </p:cNvSpPr>
          <p:nvPr/>
        </p:nvSpPr>
        <p:spPr>
          <a:xfrm xmlns:a="http://schemas.openxmlformats.org/drawingml/2006/main">
            <a:off x="1771650" y="4972050"/>
            <a:ext cx="742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18,9 bi</a:t>
            </a:r>
          </a:p>
        </p:txBody>
      </p:sp>
      <p:sp>
        <p:nvSpPr>
          <p:cNvPr id="64" name="">
            <a:extLst xmlns:a="http://schemas.openxmlformats.org/drawingml/2006/main">
              <a:ext uri="{FF2B5EF4-FFF2-40B4-BE49-F238E27FC236}">
                <a16:creationId xmlns:a16="http://schemas.microsoft.com/office/drawing/2014/main" id="{76759204-A77E-421E-BCF4-3304F6EFAA97}"/>
              </a:ext>
            </a:extLst>
          </p:cNvPr>
          <p:cNvSpPr>
            <a:spLocks xmlns:a="http://schemas.openxmlformats.org/drawingml/2006/main" noGrp="1"/>
          </p:cNvSpPr>
          <p:nvPr/>
        </p:nvSpPr>
        <p:spPr>
          <a:xfrm xmlns:a="http://schemas.openxmlformats.org/drawingml/2006/main">
            <a:off x="2628900" y="4972050"/>
            <a:ext cx="4095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26</a:t>
            </a:r>
          </a:p>
        </p:txBody>
      </p:sp>
      <p:sp>
        <p:nvSpPr>
          <p:cNvPr id="65" name="">
            <a:extLst xmlns:a="http://schemas.openxmlformats.org/drawingml/2006/main">
              <a:ext uri="{FF2B5EF4-FFF2-40B4-BE49-F238E27FC236}">
                <a16:creationId xmlns:a16="http://schemas.microsoft.com/office/drawing/2014/main" id="{96A98061-0B15-4209-8A93-B75ED3A4A0B0}"/>
              </a:ext>
            </a:extLst>
          </p:cNvPr>
          <p:cNvSpPr>
            <a:spLocks xmlns:a="http://schemas.openxmlformats.org/drawingml/2006/main" noGrp="1"/>
          </p:cNvSpPr>
          <p:nvPr/>
        </p:nvSpPr>
        <p:spPr>
          <a:xfrm xmlns:a="http://schemas.openxmlformats.org/drawingml/2006/main">
            <a:off x="3152775" y="4972050"/>
            <a:ext cx="19812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Itaú Crédito Privado</a:t>
            </a:r>
          </a:p>
        </p:txBody>
      </p:sp>
      <p:sp>
        <p:nvSpPr>
          <p:cNvPr id="66" name="">
            <a:extLst xmlns:a="http://schemas.openxmlformats.org/drawingml/2006/main">
              <a:ext uri="{FF2B5EF4-FFF2-40B4-BE49-F238E27FC236}">
                <a16:creationId xmlns:a16="http://schemas.microsoft.com/office/drawing/2014/main" id="{465CA04F-414C-49F6-A437-ED29F6BB3EE4}"/>
              </a:ext>
            </a:extLst>
          </p:cNvPr>
          <p:cNvSpPr>
            <a:spLocks xmlns:a="http://schemas.openxmlformats.org/drawingml/2006/main" noGrp="1"/>
          </p:cNvSpPr>
          <p:nvPr/>
        </p:nvSpPr>
        <p:spPr>
          <a:xfrm xmlns:a="http://schemas.openxmlformats.org/drawingml/2006/main">
            <a:off x="5248275" y="4972050"/>
            <a:ext cx="647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46,0%</a:t>
            </a:r>
          </a:p>
        </p:txBody>
      </p:sp>
      <p:sp>
        <p:nvSpPr>
          <p:cNvPr id="67" name="">
            <a:extLst xmlns:a="http://schemas.openxmlformats.org/drawingml/2006/main">
              <a:ext uri="{FF2B5EF4-FFF2-40B4-BE49-F238E27FC236}">
                <a16:creationId xmlns:a16="http://schemas.microsoft.com/office/drawing/2014/main" id="{FB98911B-0455-4A76-AE14-B5965299AF55}"/>
              </a:ext>
            </a:extLst>
          </p:cNvPr>
          <p:cNvSpPr>
            <a:spLocks xmlns:a="http://schemas.openxmlformats.org/drawingml/2006/main" noGrp="1"/>
          </p:cNvSpPr>
          <p:nvPr/>
        </p:nvSpPr>
        <p:spPr>
          <a:xfrm xmlns:a="http://schemas.openxmlformats.org/drawingml/2006/main">
            <a:off x="6010275" y="4972050"/>
            <a:ext cx="647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57,6%</a:t>
            </a:r>
          </a:p>
        </p:txBody>
      </p:sp>
      <p:sp>
        <p:nvSpPr>
          <p:cNvPr id="68" name="">
            <a:extLst xmlns:a="http://schemas.openxmlformats.org/drawingml/2006/main">
              <a:ext uri="{FF2B5EF4-FFF2-40B4-BE49-F238E27FC236}">
                <a16:creationId xmlns:a16="http://schemas.microsoft.com/office/drawing/2014/main" id="{25B1C103-7178-4918-8B7D-A6BDAC6D3210}"/>
              </a:ext>
            </a:extLst>
          </p:cNvPr>
          <p:cNvSpPr>
            <a:spLocks xmlns:a="http://schemas.openxmlformats.org/drawingml/2006/main" noGrp="1"/>
          </p:cNvSpPr>
          <p:nvPr/>
        </p:nvSpPr>
        <p:spPr>
          <a:xfrm xmlns:a="http://schemas.openxmlformats.org/drawingml/2006/main">
            <a:off x="6772275" y="4972050"/>
            <a:ext cx="742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840" b="0">
                <a:solidFill>
                  <a:srgbClr val="30353A"/>
                </a:solidFill>
                <a:latin typeface="Arial"/>
                <a:ea typeface="Arial"/>
                <a:cs typeface="Arial"/>
              </a:defRPr>
            </a:pPr>
            <a:r>
              <a:rPr sz="840" b="0">
                <a:solidFill>
                  <a:srgbClr val="30353A"/>
                </a:solidFill>
                <a:latin typeface="Arial"/>
                <a:ea typeface="Arial"/>
                <a:cs typeface="Arial"/>
              </a:rPr>
              <a:t>2.290</a:t>
            </a:r>
          </a:p>
        </p:txBody>
      </p:sp>
      <p:sp>
        <p:nvSpPr>
          <p:cNvPr id="69" name="">
            <a:extLst xmlns:a="http://schemas.openxmlformats.org/drawingml/2006/main">
              <a:ext uri="{FF2B5EF4-FFF2-40B4-BE49-F238E27FC236}">
                <a16:creationId xmlns:a16="http://schemas.microsoft.com/office/drawing/2014/main" id="{C203FC7E-5BC0-4F59-A6AA-D573F3214A30}"/>
              </a:ext>
            </a:extLst>
          </p:cNvPr>
          <p:cNvSpPr>
            <a:spLocks xmlns:a="http://schemas.openxmlformats.org/drawingml/2006/main" noGrp="1"/>
          </p:cNvSpPr>
          <p:nvPr/>
        </p:nvSpPr>
        <p:spPr>
          <a:xfrm xmlns:a="http://schemas.openxmlformats.org/drawingml/2006/main">
            <a:off x="571500" y="5657850"/>
            <a:ext cx="7000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713" b="0">
                <a:solidFill>
                  <a:srgbClr val="8D9399"/>
                </a:solidFill>
                <a:latin typeface="Arial"/>
                <a:ea typeface="Arial"/>
                <a:cs typeface="Arial"/>
              </a:defRPr>
            </a:pPr>
            <a:r>
              <a:rPr sz="713" b="0">
                <a:solidFill>
                  <a:srgbClr val="8D9399"/>
                </a:solidFill>
                <a:latin typeface="Arial"/>
                <a:ea typeface="Arial"/>
                <a:cs typeface="Arial"/>
              </a:rPr>
              <a:t>HHI em pontos de 0 a 10.000; 10.000 corresponde a um único fundo.</a:t>
            </a:r>
          </a:p>
        </p:txBody>
      </p:sp>
      <p:sp>
        <p:nvSpPr>
          <p:cNvPr id="70" name="">
            <a:extLst xmlns:a="http://schemas.openxmlformats.org/drawingml/2006/main">
              <a:ext uri="{FF2B5EF4-FFF2-40B4-BE49-F238E27FC236}">
                <a16:creationId xmlns:a16="http://schemas.microsoft.com/office/drawing/2014/main" id="{90EDD86C-4D35-49EE-BB05-583BF1D7D588}"/>
              </a:ext>
            </a:extLst>
          </p:cNvPr>
          <p:cNvSpPr>
            <a:spLocks xmlns:a="http://schemas.openxmlformats.org/drawingml/2006/main" noGrp="1"/>
          </p:cNvSpPr>
          <p:nvPr/>
        </p:nvSpPr>
        <p:spPr>
          <a:xfrm xmlns:a="http://schemas.openxmlformats.org/drawingml/2006/main">
            <a:off x="8048625" y="1476375"/>
            <a:ext cx="3571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DOIS CASOS</a:t>
            </a:r>
          </a:p>
        </p:txBody>
      </p:sp>
      <p:sp>
        <p:nvSpPr>
          <p:cNvPr id="71" name="">
            <a:extLst xmlns:a="http://schemas.openxmlformats.org/drawingml/2006/main">
              <a:ext uri="{FF2B5EF4-FFF2-40B4-BE49-F238E27FC236}">
                <a16:creationId xmlns:a16="http://schemas.microsoft.com/office/drawing/2014/main" id="{171F80DA-6F60-429F-8387-A67C0F84249D}"/>
              </a:ext>
            </a:extLst>
          </p:cNvPr>
          <p:cNvSpPr>
            <a:spLocks xmlns:a="http://schemas.openxmlformats.org/drawingml/2006/main" noGrp="1"/>
          </p:cNvSpPr>
          <p:nvPr/>
        </p:nvSpPr>
        <p:spPr>
          <a:xfrm xmlns:a="http://schemas.openxmlformats.org/drawingml/2006/main">
            <a:off x="8048625" y="1743075"/>
            <a:ext cx="35718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72" name="">
            <a:extLst xmlns:a="http://schemas.openxmlformats.org/drawingml/2006/main">
              <a:ext uri="{FF2B5EF4-FFF2-40B4-BE49-F238E27FC236}">
                <a16:creationId xmlns:a16="http://schemas.microsoft.com/office/drawing/2014/main" id="{6CFFC55E-5896-45E8-B797-ABBEF6E56AFE}"/>
              </a:ext>
            </a:extLst>
          </p:cNvPr>
          <p:cNvSpPr>
            <a:spLocks xmlns:a="http://schemas.openxmlformats.org/drawingml/2006/main" noGrp="1"/>
          </p:cNvSpPr>
          <p:nvPr/>
        </p:nvSpPr>
        <p:spPr>
          <a:xfrm xmlns:a="http://schemas.openxmlformats.org/drawingml/2006/main">
            <a:off x="8048625" y="2000250"/>
            <a:ext cx="3571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25" b="1">
                <a:solidFill>
                  <a:srgbClr val="EC7000"/>
                </a:solidFill>
                <a:latin typeface="Arial"/>
                <a:ea typeface="Arial"/>
                <a:cs typeface="Arial"/>
              </a:defRPr>
            </a:pPr>
            <a:r>
              <a:rPr sz="825" b="1">
                <a:solidFill>
                  <a:srgbClr val="EC7000"/>
                </a:solidFill>
                <a:latin typeface="Arial"/>
                <a:ea typeface="Arial"/>
                <a:cs typeface="Arial"/>
              </a:rPr>
              <a:t>BANCO DO BRASIL</a:t>
            </a:r>
          </a:p>
        </p:txBody>
      </p:sp>
      <p:sp>
        <p:nvSpPr>
          <p:cNvPr id="73" name="">
            <a:extLst xmlns:a="http://schemas.openxmlformats.org/drawingml/2006/main">
              <a:ext uri="{FF2B5EF4-FFF2-40B4-BE49-F238E27FC236}">
                <a16:creationId xmlns:a16="http://schemas.microsoft.com/office/drawing/2014/main" id="{5D4A25E9-4CE3-4016-A03B-501258C613AB}"/>
              </a:ext>
            </a:extLst>
          </p:cNvPr>
          <p:cNvSpPr>
            <a:spLocks xmlns:a="http://schemas.openxmlformats.org/drawingml/2006/main" noGrp="1"/>
          </p:cNvSpPr>
          <p:nvPr/>
        </p:nvSpPr>
        <p:spPr>
          <a:xfrm xmlns:a="http://schemas.openxmlformats.org/drawingml/2006/main">
            <a:off x="8048625" y="2286000"/>
            <a:ext cx="3571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a:solidFill>
                  <a:srgbClr val="151515"/>
                </a:solidFill>
                <a:latin typeface="Arial"/>
                <a:ea typeface="Arial"/>
                <a:cs typeface="Arial"/>
              </a:defRPr>
            </a:pPr>
            <a:r>
              <a:rPr sz="1350" b="1">
                <a:solidFill>
                  <a:srgbClr val="151515"/>
                </a:solidFill>
                <a:latin typeface="Arial"/>
                <a:ea typeface="Arial"/>
                <a:cs typeface="Arial"/>
              </a:rPr>
              <a:t>FIDC Sistema Petrobras</a:t>
            </a:r>
          </a:p>
        </p:txBody>
      </p:sp>
      <p:sp>
        <p:nvSpPr>
          <p:cNvPr id="74" name="">
            <a:extLst xmlns:a="http://schemas.openxmlformats.org/drawingml/2006/main">
              <a:ext uri="{FF2B5EF4-FFF2-40B4-BE49-F238E27FC236}">
                <a16:creationId xmlns:a16="http://schemas.microsoft.com/office/drawing/2014/main" id="{629368AE-AA36-4C96-ABAC-432D968DA277}"/>
              </a:ext>
            </a:extLst>
          </p:cNvPr>
          <p:cNvSpPr>
            <a:spLocks xmlns:a="http://schemas.openxmlformats.org/drawingml/2006/main" noGrp="1"/>
          </p:cNvSpPr>
          <p:nvPr/>
        </p:nvSpPr>
        <p:spPr>
          <a:xfrm xmlns:a="http://schemas.openxmlformats.org/drawingml/2006/main">
            <a:off x="8048625" y="2667000"/>
            <a:ext cx="35718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025" b="1">
                <a:solidFill>
                  <a:srgbClr val="EC7000"/>
                </a:solidFill>
                <a:latin typeface="Arial"/>
                <a:ea typeface="Arial"/>
                <a:cs typeface="Arial"/>
              </a:defRPr>
            </a:pPr>
            <a:r>
              <a:rPr sz="2025" b="1">
                <a:solidFill>
                  <a:srgbClr val="EC7000"/>
                </a:solidFill>
                <a:latin typeface="Arial"/>
                <a:ea typeface="Arial"/>
                <a:cs typeface="Arial"/>
              </a:rPr>
              <a:t>R$ 61,3 bi</a:t>
            </a:r>
          </a:p>
        </p:txBody>
      </p:sp>
      <p:sp>
        <p:nvSpPr>
          <p:cNvPr id="75" name="">
            <a:extLst xmlns:a="http://schemas.openxmlformats.org/drawingml/2006/main">
              <a:ext uri="{FF2B5EF4-FFF2-40B4-BE49-F238E27FC236}">
                <a16:creationId xmlns:a16="http://schemas.microsoft.com/office/drawing/2014/main" id="{7DE1655C-BB62-4786-AFC1-CEC01DD5E612}"/>
              </a:ext>
            </a:extLst>
          </p:cNvPr>
          <p:cNvSpPr>
            <a:spLocks xmlns:a="http://schemas.openxmlformats.org/drawingml/2006/main" noGrp="1"/>
          </p:cNvSpPr>
          <p:nvPr/>
        </p:nvSpPr>
        <p:spPr>
          <a:xfrm xmlns:a="http://schemas.openxmlformats.org/drawingml/2006/main">
            <a:off x="8048625" y="3086100"/>
            <a:ext cx="35718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13" b="0">
                <a:solidFill>
                  <a:srgbClr val="73787D"/>
                </a:solidFill>
                <a:latin typeface="Arial"/>
                <a:ea typeface="Arial"/>
                <a:cs typeface="Arial"/>
              </a:defRPr>
            </a:pPr>
            <a:r>
              <a:rPr sz="1013" b="0">
                <a:solidFill>
                  <a:srgbClr val="73787D"/>
                </a:solidFill>
                <a:latin typeface="Arial"/>
                <a:ea typeface="Arial"/>
                <a:cs typeface="Arial"/>
              </a:rPr>
              <a:t>1 fundo; maior ticket = 100% do PL mono.</a:t>
            </a:r>
          </a:p>
        </p:txBody>
      </p:sp>
      <p:sp>
        <p:nvSpPr>
          <p:cNvPr id="76" name="">
            <a:extLst xmlns:a="http://schemas.openxmlformats.org/drawingml/2006/main">
              <a:ext uri="{FF2B5EF4-FFF2-40B4-BE49-F238E27FC236}">
                <a16:creationId xmlns:a16="http://schemas.microsoft.com/office/drawing/2014/main" id="{890BAFEE-AB11-436B-AFA5-29FBE55AF338}"/>
              </a:ext>
            </a:extLst>
          </p:cNvPr>
          <p:cNvSpPr>
            <a:spLocks xmlns:a="http://schemas.openxmlformats.org/drawingml/2006/main" noGrp="1"/>
          </p:cNvSpPr>
          <p:nvPr/>
        </p:nvSpPr>
        <p:spPr>
          <a:xfrm xmlns:a="http://schemas.openxmlformats.org/drawingml/2006/main">
            <a:off x="8048625" y="3714750"/>
            <a:ext cx="3571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25" b="1">
                <a:solidFill>
                  <a:srgbClr val="EC7000"/>
                </a:solidFill>
                <a:latin typeface="Arial"/>
                <a:ea typeface="Arial"/>
                <a:cs typeface="Arial"/>
              </a:defRPr>
            </a:pPr>
            <a:r>
              <a:rPr sz="825" b="1">
                <a:solidFill>
                  <a:srgbClr val="EC7000"/>
                </a:solidFill>
                <a:latin typeface="Arial"/>
                <a:ea typeface="Arial"/>
                <a:cs typeface="Arial"/>
              </a:rPr>
              <a:t>OLIVEIRA TRUST</a:t>
            </a:r>
          </a:p>
        </p:txBody>
      </p:sp>
      <p:sp>
        <p:nvSpPr>
          <p:cNvPr id="77" name="">
            <a:extLst xmlns:a="http://schemas.openxmlformats.org/drawingml/2006/main">
              <a:ext uri="{FF2B5EF4-FFF2-40B4-BE49-F238E27FC236}">
                <a16:creationId xmlns:a16="http://schemas.microsoft.com/office/drawing/2014/main" id="{A0B96BF3-FA0D-4A61-BC60-CA2ABF5644CB}"/>
              </a:ext>
            </a:extLst>
          </p:cNvPr>
          <p:cNvSpPr>
            <a:spLocks xmlns:a="http://schemas.openxmlformats.org/drawingml/2006/main" noGrp="1"/>
          </p:cNvSpPr>
          <p:nvPr/>
        </p:nvSpPr>
        <p:spPr>
          <a:xfrm xmlns:a="http://schemas.openxmlformats.org/drawingml/2006/main">
            <a:off x="8048625" y="4000500"/>
            <a:ext cx="3571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a:solidFill>
                  <a:srgbClr val="151515"/>
                </a:solidFill>
                <a:latin typeface="Arial"/>
                <a:ea typeface="Arial"/>
                <a:cs typeface="Arial"/>
              </a:defRPr>
            </a:pPr>
            <a:r>
              <a:rPr sz="1350" b="1">
                <a:solidFill>
                  <a:srgbClr val="151515"/>
                </a:solidFill>
                <a:latin typeface="Arial"/>
                <a:ea typeface="Arial"/>
                <a:cs typeface="Arial"/>
              </a:rPr>
              <a:t>TAPSO FIDC</a:t>
            </a:r>
          </a:p>
        </p:txBody>
      </p:sp>
      <p:sp>
        <p:nvSpPr>
          <p:cNvPr id="78" name="">
            <a:extLst xmlns:a="http://schemas.openxmlformats.org/drawingml/2006/main">
              <a:ext uri="{FF2B5EF4-FFF2-40B4-BE49-F238E27FC236}">
                <a16:creationId xmlns:a16="http://schemas.microsoft.com/office/drawing/2014/main" id="{BAAF829E-2607-4493-8598-E1397B2A6D7B}"/>
              </a:ext>
            </a:extLst>
          </p:cNvPr>
          <p:cNvSpPr>
            <a:spLocks xmlns:a="http://schemas.openxmlformats.org/drawingml/2006/main" noGrp="1"/>
          </p:cNvSpPr>
          <p:nvPr/>
        </p:nvSpPr>
        <p:spPr>
          <a:xfrm xmlns:a="http://schemas.openxmlformats.org/drawingml/2006/main">
            <a:off x="8048625" y="4381500"/>
            <a:ext cx="35718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025" b="1">
                <a:solidFill>
                  <a:srgbClr val="151515"/>
                </a:solidFill>
                <a:latin typeface="Arial"/>
                <a:ea typeface="Arial"/>
                <a:cs typeface="Arial"/>
              </a:defRPr>
            </a:pPr>
            <a:r>
              <a:rPr sz="2025" b="1">
                <a:solidFill>
                  <a:srgbClr val="151515"/>
                </a:solidFill>
                <a:latin typeface="Arial"/>
                <a:ea typeface="Arial"/>
                <a:cs typeface="Arial"/>
              </a:rPr>
              <a:t>R$ 41,5 bi</a:t>
            </a:r>
          </a:p>
        </p:txBody>
      </p:sp>
      <p:sp>
        <p:nvSpPr>
          <p:cNvPr id="79" name="">
            <a:extLst xmlns:a="http://schemas.openxmlformats.org/drawingml/2006/main">
              <a:ext uri="{FF2B5EF4-FFF2-40B4-BE49-F238E27FC236}">
                <a16:creationId xmlns:a16="http://schemas.microsoft.com/office/drawing/2014/main" id="{B3F1583E-3C48-4317-8A13-AF6DBD6A3038}"/>
              </a:ext>
            </a:extLst>
          </p:cNvPr>
          <p:cNvSpPr>
            <a:spLocks xmlns:a="http://schemas.openxmlformats.org/drawingml/2006/main" noGrp="1"/>
          </p:cNvSpPr>
          <p:nvPr/>
        </p:nvSpPr>
        <p:spPr>
          <a:xfrm xmlns:a="http://schemas.openxmlformats.org/drawingml/2006/main">
            <a:off x="8048625" y="4800600"/>
            <a:ext cx="35718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13" b="0">
                <a:solidFill>
                  <a:srgbClr val="73787D"/>
                </a:solidFill>
                <a:latin typeface="Arial"/>
                <a:ea typeface="Arial"/>
                <a:cs typeface="Arial"/>
              </a:defRPr>
            </a:pPr>
            <a:r>
              <a:rPr sz="1013" b="0">
                <a:solidFill>
                  <a:srgbClr val="73787D"/>
                </a:solidFill>
                <a:latin typeface="Arial"/>
                <a:ea typeface="Arial"/>
                <a:cs typeface="Arial"/>
              </a:rPr>
              <a:t>47 fundos; TAPSO = 54,1% do PL mono.</a:t>
            </a:r>
          </a:p>
        </p:txBody>
      </p:sp>
    </p:spTree>
    <p:extLst>
      <p:ext uri="{BB962C8B-B14F-4D97-AF65-F5344CB8AC3E}">
        <p14:creationId xmlns:p14="http://schemas.microsoft.com/office/powerpoint/2010/main" val="133663520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8E06318-86BA-453B-BA72-32061632A26A}"/>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OFERTAS ENCERRADAS · VOLUME E TICKET</a:t>
            </a:r>
          </a:p>
        </p:txBody>
      </p:sp>
      <p:sp>
        <p:nvSpPr>
          <p:cNvPr id="2" name="">
            <a:extLst xmlns:a="http://schemas.openxmlformats.org/drawingml/2006/main">
              <a:ext uri="{FF2B5EF4-FFF2-40B4-BE49-F238E27FC236}">
                <a16:creationId xmlns:a16="http://schemas.microsoft.com/office/drawing/2014/main" id="{711B235F-F567-4B9F-9D0D-F39D01B52B04}"/>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Jan–jun/26 somou R$ 65,5 bi em 771 ofertas, alta de 14,6% sobre jan–jun/25</a:t>
            </a:r>
          </a:p>
        </p:txBody>
      </p:sp>
      <p:sp>
        <p:nvSpPr>
          <p:cNvPr id="3" name="">
            <a:extLst xmlns:a="http://schemas.openxmlformats.org/drawingml/2006/main">
              <a:ext uri="{FF2B5EF4-FFF2-40B4-BE49-F238E27FC236}">
                <a16:creationId xmlns:a16="http://schemas.microsoft.com/office/drawing/2014/main" id="{363CB141-5121-46AE-9658-3B01397DE234}"/>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265D535-8574-4A76-A5B1-3B139150EFF9}"/>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34D415D-ADB9-44E1-8980-2F5112AE49A9}"/>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CVM/SRE, dois arquivos de ofertas, snapshot 24/jul/26. Primárias encerradas, todos os ritos; volume registrado.</a:t>
            </a:r>
          </a:p>
        </p:txBody>
      </p:sp>
      <p:sp>
        <p:nvSpPr>
          <p:cNvPr id="6" name="">
            <a:extLst xmlns:a="http://schemas.openxmlformats.org/drawingml/2006/main">
              <a:ext uri="{FF2B5EF4-FFF2-40B4-BE49-F238E27FC236}">
                <a16:creationId xmlns:a16="http://schemas.microsoft.com/office/drawing/2014/main" id="{3E134EA7-8C4E-40CB-8066-DF292A4E46FA}"/>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26</a:t>
            </a:r>
          </a:p>
        </p:txBody>
      </p:sp>
      <p:sp>
        <p:nvSpPr>
          <p:cNvPr id="7" name="">
            <a:extLst xmlns:a="http://schemas.openxmlformats.org/drawingml/2006/main">
              <a:ext uri="{FF2B5EF4-FFF2-40B4-BE49-F238E27FC236}">
                <a16:creationId xmlns:a16="http://schemas.microsoft.com/office/drawing/2014/main" id="{FD09B7A0-9809-4F00-989A-FB940BABD30E}"/>
              </a:ext>
            </a:extLst>
          </p:cNvPr>
          <p:cNvSpPr>
            <a:spLocks xmlns:a="http://schemas.openxmlformats.org/drawingml/2006/main" noGrp="1"/>
          </p:cNvSpPr>
          <p:nvPr/>
        </p:nvSpPr>
        <p:spPr>
          <a:xfrm xmlns:a="http://schemas.openxmlformats.org/drawingml/2006/main">
            <a:off x="571500" y="1381125"/>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VOLUME REGISTRADO E TICKET · FY / YTD</a:t>
            </a:r>
          </a:p>
        </p:txBody>
      </p:sp>
      <p:sp>
        <p:nvSpPr>
          <p:cNvPr id="8" name="">
            <a:extLst xmlns:a="http://schemas.openxmlformats.org/drawingml/2006/main">
              <a:ext uri="{FF2B5EF4-FFF2-40B4-BE49-F238E27FC236}">
                <a16:creationId xmlns:a16="http://schemas.microsoft.com/office/drawing/2014/main" id="{81491441-243C-4AC2-B28C-18760346833A}"/>
              </a:ext>
            </a:extLst>
          </p:cNvPr>
          <p:cNvSpPr>
            <a:spLocks xmlns:a="http://schemas.openxmlformats.org/drawingml/2006/main" noGrp="1"/>
          </p:cNvSpPr>
          <p:nvPr/>
        </p:nvSpPr>
        <p:spPr>
          <a:xfrm xmlns:a="http://schemas.openxmlformats.org/drawingml/2006/main">
            <a:off x="571500" y="1647825"/>
            <a:ext cx="523875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5" name="Chart"/>
          <p:cNvGraphicFramePr/>
          <p:nvPr/>
        </p:nvGraphicFramePr>
        <p:xfrm>
          <a:off xmlns:a="http://schemas.openxmlformats.org/drawingml/2006/main" x="571500" y="1714500"/>
          <a:ext xmlns:a="http://schemas.openxmlformats.org/drawingml/2006/main" cx="5238750" cy="2333625"/>
        </p:xfrm>
        <a:graphic xmlns:a="http://schemas.openxmlformats.org/drawingml/2006/main">
          <a:graphicData uri="http://schemas.openxmlformats.org/drawingml/2006/chart">
            <c:chart xmlns:r="http://schemas.openxmlformats.org/officeDocument/2006/relationships" xmlns:c="http://schemas.openxmlformats.org/drawingml/2006/chart" r:id="R08eea03900ed4047"/>
          </a:graphicData>
        </a:graphic>
      </p:graphicFrame>
      <p:sp>
        <p:nvSpPr>
          <p:cNvPr id="10" name="">
            <a:extLst xmlns:a="http://schemas.openxmlformats.org/drawingml/2006/main">
              <a:ext uri="{FF2B5EF4-FFF2-40B4-BE49-F238E27FC236}">
                <a16:creationId xmlns:a16="http://schemas.microsoft.com/office/drawing/2014/main" id="{0BE45690-BFD3-4D12-9150-CE5AFAB899EF}"/>
              </a:ext>
            </a:extLst>
          </p:cNvPr>
          <p:cNvSpPr>
            <a:spLocks xmlns:a="http://schemas.openxmlformats.org/drawingml/2006/main" noGrp="1"/>
          </p:cNvSpPr>
          <p:nvPr/>
        </p:nvSpPr>
        <p:spPr>
          <a:xfrm xmlns:a="http://schemas.openxmlformats.org/drawingml/2006/main">
            <a:off x="6381750" y="1381125"/>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VOLUME ACUMULADO · JAN–DEZ · R$ BI</a:t>
            </a:r>
          </a:p>
        </p:txBody>
      </p:sp>
      <p:sp>
        <p:nvSpPr>
          <p:cNvPr id="11" name="">
            <a:extLst xmlns:a="http://schemas.openxmlformats.org/drawingml/2006/main">
              <a:ext uri="{FF2B5EF4-FFF2-40B4-BE49-F238E27FC236}">
                <a16:creationId xmlns:a16="http://schemas.microsoft.com/office/drawing/2014/main" id="{4AE3C26E-51D1-4841-8F69-65F6BA66C59F}"/>
              </a:ext>
            </a:extLst>
          </p:cNvPr>
          <p:cNvSpPr>
            <a:spLocks xmlns:a="http://schemas.openxmlformats.org/drawingml/2006/main" noGrp="1"/>
          </p:cNvSpPr>
          <p:nvPr/>
        </p:nvSpPr>
        <p:spPr>
          <a:xfrm xmlns:a="http://schemas.openxmlformats.org/drawingml/2006/main">
            <a:off x="6381750" y="1647825"/>
            <a:ext cx="523875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8" name="Chart"/>
          <p:cNvGraphicFramePr/>
          <p:nvPr/>
        </p:nvGraphicFramePr>
        <p:xfrm>
          <a:off xmlns:a="http://schemas.openxmlformats.org/drawingml/2006/main" x="6381750" y="1714500"/>
          <a:ext xmlns:a="http://schemas.openxmlformats.org/drawingml/2006/main" cx="5238750" cy="2333625"/>
        </p:xfrm>
        <a:graphic xmlns:a="http://schemas.openxmlformats.org/drawingml/2006/main">
          <a:graphicData uri="http://schemas.openxmlformats.org/drawingml/2006/chart">
            <c:chart xmlns:r="http://schemas.openxmlformats.org/officeDocument/2006/relationships" xmlns:c="http://schemas.openxmlformats.org/drawingml/2006/chart" r:id="Rfca4ea4fa86d411f"/>
          </a:graphicData>
        </a:graphic>
      </p:graphicFrame>
      <p:graphicFrame>
        <p:nvGraphicFramePr>
          <p:cNvPr id="29" name="Chart"/>
          <p:cNvGraphicFramePr/>
          <p:nvPr/>
        </p:nvGraphicFramePr>
        <p:xfrm>
          <a:off xmlns:a="http://schemas.openxmlformats.org/drawingml/2006/main" x="7715250" y="4000500"/>
          <a:ext xmlns:a="http://schemas.openxmlformats.org/drawingml/2006/main" cx="3905250" cy="209550"/>
        </p:xfrm>
        <a:graphic xmlns:a="http://schemas.openxmlformats.org/drawingml/2006/main">
          <a:graphicData uri="http://schemas.openxmlformats.org/drawingml/2006/chart">
            <c:chart xmlns:r="http://schemas.openxmlformats.org/officeDocument/2006/relationships" xmlns:c="http://schemas.openxmlformats.org/drawingml/2006/chart" r:id="Rbd946d5caedb44b8"/>
          </a:graphicData>
        </a:graphic>
      </p:graphicFrame>
      <p:sp>
        <p:nvSpPr>
          <p:cNvPr id="14" name="">
            <a:extLst xmlns:a="http://schemas.openxmlformats.org/drawingml/2006/main">
              <a:ext uri="{FF2B5EF4-FFF2-40B4-BE49-F238E27FC236}">
                <a16:creationId xmlns:a16="http://schemas.microsoft.com/office/drawing/2014/main" id="{385764AC-F9CE-4E8B-B347-1661E9993ECC}"/>
              </a:ext>
            </a:extLst>
          </p:cNvPr>
          <p:cNvSpPr>
            <a:spLocks xmlns:a="http://schemas.openxmlformats.org/drawingml/2006/main" noGrp="1"/>
          </p:cNvSpPr>
          <p:nvPr/>
        </p:nvSpPr>
        <p:spPr>
          <a:xfrm xmlns:a="http://schemas.openxmlformats.org/drawingml/2006/main">
            <a:off x="6381750" y="4219575"/>
            <a:ext cx="52387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638" b="0">
                <a:solidFill>
                  <a:srgbClr val="8D9399"/>
                </a:solidFill>
                <a:latin typeface="Arial"/>
                <a:ea typeface="Arial"/>
                <a:cs typeface="Arial"/>
              </a:defRPr>
            </a:pPr>
            <a:r>
              <a:rPr sz="638" b="0">
                <a:solidFill>
                  <a:srgbClr val="8D9399"/>
                </a:solidFill>
                <a:latin typeface="Arial"/>
                <a:ea typeface="Arial"/>
                <a:cs typeface="Arial"/>
              </a:rPr>
              <a:t>2026 encerra em jun/26; as curvas de 2024 e 2025 seguem até dezembro.</a:t>
            </a:r>
          </a:p>
        </p:txBody>
      </p:sp>
      <p:graphicFrame>
        <p:nvGraphicFramePr>
          <p:cNvPr id="31" name=""/>
          <p:cNvGraphicFramePr/>
          <p:nvPr/>
        </p:nvGraphicFramePr>
        <p:xfrm>
          <a:off xmlns:a="http://schemas.openxmlformats.org/drawingml/2006/main" x="571500" y="4438650"/>
          <a:ext xmlns:a="http://schemas.openxmlformats.org/drawingml/2006/main" cx="11049000" cy="1428750"/>
        </p:xfrm>
        <a:graphic xmlns:a="http://schemas.openxmlformats.org/drawingml/2006/main">
          <a:graphicData uri="http://schemas.openxmlformats.org/drawingml/2006/table">
            <a:tbl>
              <a:tblPr firstRow="0" firstCol="0" lastRow="0" lastCol="0" bandRow="0" bandCol="0"/>
              <a:tblGrid>
                <a:gridCol w="952500"/>
                <a:gridCol w="1476375"/>
                <a:gridCol w="1714500"/>
                <a:gridCol w="1476375"/>
                <a:gridCol w="1476375"/>
                <a:gridCol w="1952625"/>
                <a:gridCol w="2000250"/>
              </a:tblGrid>
              <a:tr h="209550">
                <a:tc>
                  <a:txBody>
                    <a:bodyPr wrap="square" anchor="ctr">
                      <a:normAutofit/>
                    </a:bodyPr>
                    <a:lstStyle/>
                    <a:p>
                      <a:pPr algn="l"/>
                      <a:r>
                        <a:rPr sz="638" b="1">
                          <a:solidFill>
                            <a:srgbClr val="FFFFFF"/>
                          </a:solidFill>
                          <a:latin typeface="Arial"/>
                          <a:ea typeface="Arial"/>
                          <a:cs typeface="Arial"/>
                        </a:rPr>
                        <a:t>Ano</a:t>
                      </a:r>
                    </a:p>
                  </a:txBody>
                  <a:tcPr marL="47625" marR="47625" marT="19050" marB="19050" anchor="ctr">
                    <a:solidFill>
                      <a:srgbClr val="151515"/>
                    </a:solidFill>
                  </a:tcPr>
                </a:tc>
                <a:tc>
                  <a:txBody>
                    <a:bodyPr wrap="square" anchor="ctr">
                      <a:normAutofit/>
                    </a:bodyPr>
                    <a:lstStyle/>
                    <a:p>
                      <a:pPr algn="r"/>
                      <a:r>
                        <a:rPr sz="638" b="1">
                          <a:solidFill>
                            <a:srgbClr val="FFFFFF"/>
                          </a:solidFill>
                          <a:latin typeface="Arial"/>
                          <a:ea typeface="Arial"/>
                          <a:cs typeface="Arial"/>
                        </a:rPr>
                        <a:t>Ofertas encerradas</a:t>
                      </a:r>
                    </a:p>
                  </a:txBody>
                  <a:tcPr marL="47625" marR="47625" marT="19050" marB="19050" anchor="ctr">
                    <a:solidFill>
                      <a:srgbClr val="151515"/>
                    </a:solidFill>
                  </a:tcPr>
                </a:tc>
                <a:tc>
                  <a:txBody>
                    <a:bodyPr wrap="square" anchor="ctr">
                      <a:normAutofit/>
                    </a:bodyPr>
                    <a:lstStyle/>
                    <a:p>
                      <a:pPr algn="r"/>
                      <a:r>
                        <a:rPr sz="638" b="1">
                          <a:solidFill>
                            <a:srgbClr val="FFFFFF"/>
                          </a:solidFill>
                          <a:latin typeface="Arial"/>
                          <a:ea typeface="Arial"/>
                          <a:cs typeface="Arial"/>
                        </a:rPr>
                        <a:t>Volume registrado</a:t>
                      </a:r>
                    </a:p>
                  </a:txBody>
                  <a:tcPr marL="47625" marR="47625" marT="19050" marB="19050" anchor="ctr">
                    <a:solidFill>
                      <a:srgbClr val="151515"/>
                    </a:solidFill>
                  </a:tcPr>
                </a:tc>
                <a:tc>
                  <a:txBody>
                    <a:bodyPr wrap="square" anchor="ctr">
                      <a:normAutofit/>
                    </a:bodyPr>
                    <a:lstStyle/>
                    <a:p>
                      <a:pPr algn="r"/>
                      <a:r>
                        <a:rPr sz="638" b="1">
                          <a:solidFill>
                            <a:srgbClr val="FFFFFF"/>
                          </a:solidFill>
                          <a:latin typeface="Arial"/>
                          <a:ea typeface="Arial"/>
                          <a:cs typeface="Arial"/>
                        </a:rPr>
                        <a:t>Ticket médio</a:t>
                      </a:r>
                    </a:p>
                  </a:txBody>
                  <a:tcPr marL="47625" marR="47625" marT="19050" marB="19050" anchor="ctr">
                    <a:solidFill>
                      <a:srgbClr val="151515"/>
                    </a:solidFill>
                  </a:tcPr>
                </a:tc>
                <a:tc>
                  <a:txBody>
                    <a:bodyPr wrap="square" anchor="ctr">
                      <a:normAutofit/>
                    </a:bodyPr>
                    <a:lstStyle/>
                    <a:p>
                      <a:pPr algn="r"/>
                      <a:r>
                        <a:rPr sz="638" b="1">
                          <a:solidFill>
                            <a:srgbClr val="FFFFFF"/>
                          </a:solidFill>
                          <a:latin typeface="Arial"/>
                          <a:ea typeface="Arial"/>
                          <a:cs typeface="Arial"/>
                        </a:rPr>
                        <a:t>Ticket mediano</a:t>
                      </a:r>
                    </a:p>
                  </a:txBody>
                  <a:tcPr marL="47625" marR="47625" marT="19050" marB="19050" anchor="ctr">
                    <a:solidFill>
                      <a:srgbClr val="151515"/>
                    </a:solidFill>
                  </a:tcPr>
                </a:tc>
                <a:tc>
                  <a:txBody>
                    <a:bodyPr wrap="square" anchor="ctr">
                      <a:normAutofit/>
                    </a:bodyPr>
                    <a:lstStyle/>
                    <a:p>
                      <a:pPr algn="r"/>
                      <a:r>
                        <a:rPr sz="638" b="1">
                          <a:solidFill>
                            <a:srgbClr val="FFFFFF"/>
                          </a:solidFill>
                          <a:latin typeface="Arial"/>
                          <a:ea typeface="Arial"/>
                          <a:cs typeface="Arial"/>
                        </a:rPr>
                        <a:t>PF no volume colocado</a:t>
                      </a:r>
                    </a:p>
                  </a:txBody>
                  <a:tcPr marL="47625" marR="47625" marT="19050" marB="19050" anchor="ctr">
                    <a:solidFill>
                      <a:srgbClr val="151515"/>
                    </a:solidFill>
                  </a:tcPr>
                </a:tc>
                <a:tc>
                  <a:txBody>
                    <a:bodyPr wrap="square" anchor="ctr">
                      <a:normAutofit/>
                    </a:bodyPr>
                    <a:lstStyle/>
                    <a:p>
                      <a:pPr algn="r"/>
                      <a:r>
                        <a:rPr sz="638" b="1">
                          <a:solidFill>
                            <a:srgbClr val="FFFFFF"/>
                          </a:solidFill>
                          <a:latin typeface="Arial"/>
                          <a:ea typeface="Arial"/>
                          <a:cs typeface="Arial"/>
                        </a:rPr>
                        <a:t>Público profissional</a:t>
                      </a:r>
                    </a:p>
                  </a:txBody>
                  <a:tcPr marL="47625" marR="47625" marT="19050" marB="19050" anchor="ctr">
                    <a:solidFill>
                      <a:srgbClr val="151515"/>
                    </a:solidFill>
                  </a:tcPr>
                </a:tc>
              </a:tr>
              <a:tr h="243840">
                <a:tc>
                  <a:txBody>
                    <a:bodyPr wrap="square" anchor="ctr">
                      <a:normAutofit/>
                    </a:bodyPr>
                    <a:lstStyle/>
                    <a:p>
                      <a:pPr algn="l"/>
                      <a:r>
                        <a:rPr sz="660">
                          <a:solidFill>
                            <a:srgbClr val="30353A"/>
                          </a:solidFill>
                          <a:latin typeface="Arial"/>
                          <a:ea typeface="Arial"/>
                          <a:cs typeface="Arial"/>
                        </a:rPr>
                        <a:t>2022 FY</a:t>
                      </a:r>
                    </a:p>
                  </a:txBody>
                  <a:tcPr marL="47625" marR="47625" marT="14288" marB="14288" anchor="ctr">
                    <a:solidFill>
                      <a:srgbClr val="FFFFFF"/>
                    </a:solidFill>
                  </a:tcPr>
                </a:tc>
                <a:tc>
                  <a:txBody>
                    <a:bodyPr wrap="square" anchor="ctr">
                      <a:normAutofit/>
                    </a:bodyPr>
                    <a:lstStyle/>
                    <a:p>
                      <a:pPr algn="r"/>
                      <a:r>
                        <a:rPr sz="660">
                          <a:solidFill>
                            <a:srgbClr val="30353A"/>
                          </a:solidFill>
                          <a:latin typeface="Arial"/>
                          <a:ea typeface="Arial"/>
                          <a:cs typeface="Arial"/>
                        </a:rPr>
                        <a:t>7</a:t>
                      </a:r>
                    </a:p>
                  </a:txBody>
                  <a:tcPr marL="47625" marR="47625" marT="14288" marB="14288" anchor="ctr">
                    <a:solidFill>
                      <a:srgbClr val="FFFFFF"/>
                    </a:solidFill>
                  </a:tcPr>
                </a:tc>
                <a:tc>
                  <a:txBody>
                    <a:bodyPr wrap="square" anchor="ctr">
                      <a:normAutofit/>
                    </a:bodyPr>
                    <a:lstStyle/>
                    <a:p>
                      <a:pPr algn="r"/>
                      <a:r>
                        <a:rPr sz="660">
                          <a:solidFill>
                            <a:srgbClr val="30353A"/>
                          </a:solidFill>
                          <a:latin typeface="Arial"/>
                          <a:ea typeface="Arial"/>
                          <a:cs typeface="Arial"/>
                        </a:rPr>
                        <a:t>R$ 2,7 bi</a:t>
                      </a:r>
                    </a:p>
                  </a:txBody>
                  <a:tcPr marL="47625" marR="47625" marT="14288" marB="14288" anchor="ctr">
                    <a:solidFill>
                      <a:srgbClr val="FFFFFF"/>
                    </a:solidFill>
                  </a:tcPr>
                </a:tc>
                <a:tc>
                  <a:txBody>
                    <a:bodyPr wrap="square" anchor="ctr">
                      <a:normAutofit/>
                    </a:bodyPr>
                    <a:lstStyle/>
                    <a:p>
                      <a:pPr algn="r"/>
                      <a:r>
                        <a:rPr sz="660">
                          <a:solidFill>
                            <a:srgbClr val="30353A"/>
                          </a:solidFill>
                          <a:latin typeface="Arial"/>
                          <a:ea typeface="Arial"/>
                          <a:cs typeface="Arial"/>
                        </a:rPr>
                        <a:t>R$ 392,7 mi</a:t>
                      </a:r>
                    </a:p>
                  </a:txBody>
                  <a:tcPr marL="47625" marR="47625" marT="14288" marB="14288" anchor="ctr">
                    <a:solidFill>
                      <a:srgbClr val="FFFFFF"/>
                    </a:solidFill>
                  </a:tcPr>
                </a:tc>
                <a:tc>
                  <a:txBody>
                    <a:bodyPr wrap="square" anchor="ctr">
                      <a:normAutofit/>
                    </a:bodyPr>
                    <a:lstStyle/>
                    <a:p>
                      <a:pPr algn="r"/>
                      <a:r>
                        <a:rPr sz="660">
                          <a:solidFill>
                            <a:srgbClr val="30353A"/>
                          </a:solidFill>
                          <a:latin typeface="Arial"/>
                          <a:ea typeface="Arial"/>
                          <a:cs typeface="Arial"/>
                        </a:rPr>
                        <a:t>R$ 200,0 mi</a:t>
                      </a:r>
                    </a:p>
                  </a:txBody>
                  <a:tcPr marL="47625" marR="47625" marT="14288" marB="14288" anchor="ctr">
                    <a:solidFill>
                      <a:srgbClr val="FFFFFF"/>
                    </a:solidFill>
                  </a:tcPr>
                </a:tc>
                <a:tc>
                  <a:txBody>
                    <a:bodyPr wrap="square" anchor="ctr">
                      <a:normAutofit/>
                    </a:bodyPr>
                    <a:lstStyle/>
                    <a:p>
                      <a:pPr algn="r"/>
                      <a:r>
                        <a:rPr sz="660">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r"/>
                      <a:r>
                        <a:rPr sz="660">
                          <a:solidFill>
                            <a:srgbClr val="30353A"/>
                          </a:solidFill>
                          <a:latin typeface="Arial"/>
                          <a:ea typeface="Arial"/>
                          <a:cs typeface="Arial"/>
                        </a:rPr>
                        <a:t>N/D</a:t>
                      </a:r>
                    </a:p>
                  </a:txBody>
                  <a:tcPr marL="47625" marR="47625" marT="14288" marB="14288" anchor="ctr">
                    <a:solidFill>
                      <a:srgbClr val="FFFFFF"/>
                    </a:solidFill>
                  </a:tcPr>
                </a:tc>
              </a:tr>
              <a:tr h="243840">
                <a:tc>
                  <a:txBody>
                    <a:bodyPr wrap="square" anchor="ctr">
                      <a:normAutofit/>
                    </a:bodyPr>
                    <a:lstStyle/>
                    <a:p>
                      <a:pPr algn="l"/>
                      <a:r>
                        <a:rPr sz="660">
                          <a:solidFill>
                            <a:srgbClr val="30353A"/>
                          </a:solidFill>
                          <a:latin typeface="Arial"/>
                          <a:ea typeface="Arial"/>
                          <a:cs typeface="Arial"/>
                        </a:rPr>
                        <a:t>2023 FY</a:t>
                      </a:r>
                    </a:p>
                  </a:txBody>
                  <a:tcPr marL="47625" marR="47625" marT="14288" marB="14288" anchor="ctr">
                    <a:solidFill>
                      <a:srgbClr val="F5F6F7"/>
                    </a:solidFill>
                  </a:tcPr>
                </a:tc>
                <a:tc>
                  <a:txBody>
                    <a:bodyPr wrap="square" anchor="ctr">
                      <a:normAutofit/>
                    </a:bodyPr>
                    <a:lstStyle/>
                    <a:p>
                      <a:pPr algn="r"/>
                      <a:r>
                        <a:rPr sz="660">
                          <a:solidFill>
                            <a:srgbClr val="30353A"/>
                          </a:solidFill>
                          <a:latin typeface="Arial"/>
                          <a:ea typeface="Arial"/>
                          <a:cs typeface="Arial"/>
                        </a:rPr>
                        <a:t>350</a:t>
                      </a:r>
                    </a:p>
                  </a:txBody>
                  <a:tcPr marL="47625" marR="47625" marT="14288" marB="14288" anchor="ctr">
                    <a:solidFill>
                      <a:srgbClr val="F5F6F7"/>
                    </a:solidFill>
                  </a:tcPr>
                </a:tc>
                <a:tc>
                  <a:txBody>
                    <a:bodyPr wrap="square" anchor="ctr">
                      <a:normAutofit/>
                    </a:bodyPr>
                    <a:lstStyle/>
                    <a:p>
                      <a:pPr algn="r"/>
                      <a:r>
                        <a:rPr sz="660">
                          <a:solidFill>
                            <a:srgbClr val="30353A"/>
                          </a:solidFill>
                          <a:latin typeface="Arial"/>
                          <a:ea typeface="Arial"/>
                          <a:cs typeface="Arial"/>
                        </a:rPr>
                        <a:t>R$ 26,5 bi</a:t>
                      </a:r>
                    </a:p>
                  </a:txBody>
                  <a:tcPr marL="47625" marR="47625" marT="14288" marB="14288" anchor="ctr">
                    <a:solidFill>
                      <a:srgbClr val="F5F6F7"/>
                    </a:solidFill>
                  </a:tcPr>
                </a:tc>
                <a:tc>
                  <a:txBody>
                    <a:bodyPr wrap="square" anchor="ctr">
                      <a:normAutofit/>
                    </a:bodyPr>
                    <a:lstStyle/>
                    <a:p>
                      <a:pPr algn="r"/>
                      <a:r>
                        <a:rPr sz="660">
                          <a:solidFill>
                            <a:srgbClr val="30353A"/>
                          </a:solidFill>
                          <a:latin typeface="Arial"/>
                          <a:ea typeface="Arial"/>
                          <a:cs typeface="Arial"/>
                        </a:rPr>
                        <a:t>R$ 75,6 mi</a:t>
                      </a:r>
                    </a:p>
                  </a:txBody>
                  <a:tcPr marL="47625" marR="47625" marT="14288" marB="14288" anchor="ctr">
                    <a:solidFill>
                      <a:srgbClr val="F5F6F7"/>
                    </a:solidFill>
                  </a:tcPr>
                </a:tc>
                <a:tc>
                  <a:txBody>
                    <a:bodyPr wrap="square" anchor="ctr">
                      <a:normAutofit/>
                    </a:bodyPr>
                    <a:lstStyle/>
                    <a:p>
                      <a:pPr algn="r"/>
                      <a:r>
                        <a:rPr sz="660">
                          <a:solidFill>
                            <a:srgbClr val="30353A"/>
                          </a:solidFill>
                          <a:latin typeface="Arial"/>
                          <a:ea typeface="Arial"/>
                          <a:cs typeface="Arial"/>
                        </a:rPr>
                        <a:t>R$ 23,3 mi</a:t>
                      </a:r>
                    </a:p>
                  </a:txBody>
                  <a:tcPr marL="47625" marR="47625" marT="14288" marB="14288" anchor="ctr">
                    <a:solidFill>
                      <a:srgbClr val="F5F6F7"/>
                    </a:solidFill>
                  </a:tcPr>
                </a:tc>
                <a:tc>
                  <a:txBody>
                    <a:bodyPr wrap="square" anchor="ctr">
                      <a:normAutofit/>
                    </a:bodyPr>
                    <a:lstStyle/>
                    <a:p>
                      <a:pPr algn="r"/>
                      <a:r>
                        <a:rPr sz="660">
                          <a:solidFill>
                            <a:srgbClr val="30353A"/>
                          </a:solidFill>
                          <a:latin typeface="Arial"/>
                          <a:ea typeface="Arial"/>
                          <a:cs typeface="Arial"/>
                        </a:rPr>
                        <a:t>4,3%</a:t>
                      </a:r>
                    </a:p>
                  </a:txBody>
                  <a:tcPr marL="47625" marR="47625" marT="14288" marB="14288" anchor="ctr">
                    <a:solidFill>
                      <a:srgbClr val="F5F6F7"/>
                    </a:solidFill>
                  </a:tcPr>
                </a:tc>
                <a:tc>
                  <a:txBody>
                    <a:bodyPr wrap="square" anchor="ctr">
                      <a:normAutofit/>
                    </a:bodyPr>
                    <a:lstStyle/>
                    <a:p>
                      <a:pPr algn="r"/>
                      <a:r>
                        <a:rPr sz="660">
                          <a:solidFill>
                            <a:srgbClr val="30353A"/>
                          </a:solidFill>
                          <a:latin typeface="Arial"/>
                          <a:ea typeface="Arial"/>
                          <a:cs typeface="Arial"/>
                        </a:rPr>
                        <a:t>96,8%</a:t>
                      </a:r>
                    </a:p>
                  </a:txBody>
                  <a:tcPr marL="47625" marR="47625" marT="14288" marB="14288" anchor="ctr">
                    <a:solidFill>
                      <a:srgbClr val="F5F6F7"/>
                    </a:solidFill>
                  </a:tcPr>
                </a:tc>
              </a:tr>
              <a:tr h="243840">
                <a:tc>
                  <a:txBody>
                    <a:bodyPr wrap="square" anchor="ctr">
                      <a:normAutofit/>
                    </a:bodyPr>
                    <a:lstStyle/>
                    <a:p>
                      <a:pPr algn="l"/>
                      <a:r>
                        <a:rPr sz="660">
                          <a:solidFill>
                            <a:srgbClr val="30353A"/>
                          </a:solidFill>
                          <a:latin typeface="Arial"/>
                          <a:ea typeface="Arial"/>
                          <a:cs typeface="Arial"/>
                        </a:rPr>
                        <a:t>2024 FY</a:t>
                      </a:r>
                    </a:p>
                  </a:txBody>
                  <a:tcPr marL="47625" marR="47625" marT="14288" marB="14288" anchor="ctr">
                    <a:solidFill>
                      <a:srgbClr val="FFFFFF"/>
                    </a:solidFill>
                  </a:tcPr>
                </a:tc>
                <a:tc>
                  <a:txBody>
                    <a:bodyPr wrap="square" anchor="ctr">
                      <a:normAutofit/>
                    </a:bodyPr>
                    <a:lstStyle/>
                    <a:p>
                      <a:pPr algn="r"/>
                      <a:r>
                        <a:rPr sz="660">
                          <a:solidFill>
                            <a:srgbClr val="30353A"/>
                          </a:solidFill>
                          <a:latin typeface="Arial"/>
                          <a:ea typeface="Arial"/>
                          <a:cs typeface="Arial"/>
                        </a:rPr>
                        <a:t>1.009</a:t>
                      </a:r>
                    </a:p>
                  </a:txBody>
                  <a:tcPr marL="47625" marR="47625" marT="14288" marB="14288" anchor="ctr">
                    <a:solidFill>
                      <a:srgbClr val="FFFFFF"/>
                    </a:solidFill>
                  </a:tcPr>
                </a:tc>
                <a:tc>
                  <a:txBody>
                    <a:bodyPr wrap="square" anchor="ctr">
                      <a:normAutofit/>
                    </a:bodyPr>
                    <a:lstStyle/>
                    <a:p>
                      <a:pPr algn="r"/>
                      <a:r>
                        <a:rPr sz="660">
                          <a:solidFill>
                            <a:srgbClr val="30353A"/>
                          </a:solidFill>
                          <a:latin typeface="Arial"/>
                          <a:ea typeface="Arial"/>
                          <a:cs typeface="Arial"/>
                        </a:rPr>
                        <a:t>R$ 95,4 bi</a:t>
                      </a:r>
                    </a:p>
                  </a:txBody>
                  <a:tcPr marL="47625" marR="47625" marT="14288" marB="14288" anchor="ctr">
                    <a:solidFill>
                      <a:srgbClr val="FFFFFF"/>
                    </a:solidFill>
                  </a:tcPr>
                </a:tc>
                <a:tc>
                  <a:txBody>
                    <a:bodyPr wrap="square" anchor="ctr">
                      <a:normAutofit/>
                    </a:bodyPr>
                    <a:lstStyle/>
                    <a:p>
                      <a:pPr algn="r"/>
                      <a:r>
                        <a:rPr sz="660">
                          <a:solidFill>
                            <a:srgbClr val="30353A"/>
                          </a:solidFill>
                          <a:latin typeface="Arial"/>
                          <a:ea typeface="Arial"/>
                          <a:cs typeface="Arial"/>
                        </a:rPr>
                        <a:t>R$ 94,6 mi</a:t>
                      </a:r>
                    </a:p>
                  </a:txBody>
                  <a:tcPr marL="47625" marR="47625" marT="14288" marB="14288" anchor="ctr">
                    <a:solidFill>
                      <a:srgbClr val="FFFFFF"/>
                    </a:solidFill>
                  </a:tcPr>
                </a:tc>
                <a:tc>
                  <a:txBody>
                    <a:bodyPr wrap="square" anchor="ctr">
                      <a:normAutofit/>
                    </a:bodyPr>
                    <a:lstStyle/>
                    <a:p>
                      <a:pPr algn="r"/>
                      <a:r>
                        <a:rPr sz="660">
                          <a:solidFill>
                            <a:srgbClr val="30353A"/>
                          </a:solidFill>
                          <a:latin typeface="Arial"/>
                          <a:ea typeface="Arial"/>
                          <a:cs typeface="Arial"/>
                        </a:rPr>
                        <a:t>R$ 30,0 mi</a:t>
                      </a:r>
                    </a:p>
                  </a:txBody>
                  <a:tcPr marL="47625" marR="47625" marT="14288" marB="14288" anchor="ctr">
                    <a:solidFill>
                      <a:srgbClr val="FFFFFF"/>
                    </a:solidFill>
                  </a:tcPr>
                </a:tc>
                <a:tc>
                  <a:txBody>
                    <a:bodyPr wrap="square" anchor="ctr">
                      <a:normAutofit/>
                    </a:bodyPr>
                    <a:lstStyle/>
                    <a:p>
                      <a:pPr algn="r"/>
                      <a:r>
                        <a:rPr sz="660">
                          <a:solidFill>
                            <a:srgbClr val="30353A"/>
                          </a:solidFill>
                          <a:latin typeface="Arial"/>
                          <a:ea typeface="Arial"/>
                          <a:cs typeface="Arial"/>
                        </a:rPr>
                        <a:t>4,6%</a:t>
                      </a:r>
                    </a:p>
                  </a:txBody>
                  <a:tcPr marL="47625" marR="47625" marT="14288" marB="14288" anchor="ctr">
                    <a:solidFill>
                      <a:srgbClr val="FFFFFF"/>
                    </a:solidFill>
                  </a:tcPr>
                </a:tc>
                <a:tc>
                  <a:txBody>
                    <a:bodyPr wrap="square" anchor="ctr">
                      <a:normAutofit/>
                    </a:bodyPr>
                    <a:lstStyle/>
                    <a:p>
                      <a:pPr algn="r"/>
                      <a:r>
                        <a:rPr sz="660">
                          <a:solidFill>
                            <a:srgbClr val="30353A"/>
                          </a:solidFill>
                          <a:latin typeface="Arial"/>
                          <a:ea typeface="Arial"/>
                          <a:cs typeface="Arial"/>
                        </a:rPr>
                        <a:t>94,4%</a:t>
                      </a:r>
                    </a:p>
                  </a:txBody>
                  <a:tcPr marL="47625" marR="47625" marT="14288" marB="14288" anchor="ctr">
                    <a:solidFill>
                      <a:srgbClr val="FFFFFF"/>
                    </a:solidFill>
                  </a:tcPr>
                </a:tc>
              </a:tr>
              <a:tr h="243840">
                <a:tc>
                  <a:txBody>
                    <a:bodyPr wrap="square" anchor="ctr">
                      <a:normAutofit/>
                    </a:bodyPr>
                    <a:lstStyle/>
                    <a:p>
                      <a:pPr algn="l"/>
                      <a:r>
                        <a:rPr sz="660">
                          <a:solidFill>
                            <a:srgbClr val="30353A"/>
                          </a:solidFill>
                          <a:latin typeface="Arial"/>
                          <a:ea typeface="Arial"/>
                          <a:cs typeface="Arial"/>
                        </a:rPr>
                        <a:t>2025 FY</a:t>
                      </a:r>
                    </a:p>
                  </a:txBody>
                  <a:tcPr marL="47625" marR="47625" marT="14288" marB="14288" anchor="ctr">
                    <a:solidFill>
                      <a:srgbClr val="F5F6F7"/>
                    </a:solidFill>
                  </a:tcPr>
                </a:tc>
                <a:tc>
                  <a:txBody>
                    <a:bodyPr wrap="square" anchor="ctr">
                      <a:normAutofit/>
                    </a:bodyPr>
                    <a:lstStyle/>
                    <a:p>
                      <a:pPr algn="r"/>
                      <a:r>
                        <a:rPr sz="660">
                          <a:solidFill>
                            <a:srgbClr val="30353A"/>
                          </a:solidFill>
                          <a:latin typeface="Arial"/>
                          <a:ea typeface="Arial"/>
                          <a:cs typeface="Arial"/>
                        </a:rPr>
                        <a:t>1.473</a:t>
                      </a:r>
                    </a:p>
                  </a:txBody>
                  <a:tcPr marL="47625" marR="47625" marT="14288" marB="14288" anchor="ctr">
                    <a:solidFill>
                      <a:srgbClr val="F5F6F7"/>
                    </a:solidFill>
                  </a:tcPr>
                </a:tc>
                <a:tc>
                  <a:txBody>
                    <a:bodyPr wrap="square" anchor="ctr">
                      <a:normAutofit/>
                    </a:bodyPr>
                    <a:lstStyle/>
                    <a:p>
                      <a:pPr algn="r"/>
                      <a:r>
                        <a:rPr sz="660">
                          <a:solidFill>
                            <a:srgbClr val="30353A"/>
                          </a:solidFill>
                          <a:latin typeface="Arial"/>
                          <a:ea typeface="Arial"/>
                          <a:cs typeface="Arial"/>
                        </a:rPr>
                        <a:t>R$ 116,9 bi</a:t>
                      </a:r>
                    </a:p>
                  </a:txBody>
                  <a:tcPr marL="47625" marR="47625" marT="14288" marB="14288" anchor="ctr">
                    <a:solidFill>
                      <a:srgbClr val="F5F6F7"/>
                    </a:solidFill>
                  </a:tcPr>
                </a:tc>
                <a:tc>
                  <a:txBody>
                    <a:bodyPr wrap="square" anchor="ctr">
                      <a:normAutofit/>
                    </a:bodyPr>
                    <a:lstStyle/>
                    <a:p>
                      <a:pPr algn="r"/>
                      <a:r>
                        <a:rPr sz="660">
                          <a:solidFill>
                            <a:srgbClr val="30353A"/>
                          </a:solidFill>
                          <a:latin typeface="Arial"/>
                          <a:ea typeface="Arial"/>
                          <a:cs typeface="Arial"/>
                        </a:rPr>
                        <a:t>R$ 79,4 mi</a:t>
                      </a:r>
                    </a:p>
                  </a:txBody>
                  <a:tcPr marL="47625" marR="47625" marT="14288" marB="14288" anchor="ctr">
                    <a:solidFill>
                      <a:srgbClr val="F5F6F7"/>
                    </a:solidFill>
                  </a:tcPr>
                </a:tc>
                <a:tc>
                  <a:txBody>
                    <a:bodyPr wrap="square" anchor="ctr">
                      <a:normAutofit/>
                    </a:bodyPr>
                    <a:lstStyle/>
                    <a:p>
                      <a:pPr algn="r"/>
                      <a:r>
                        <a:rPr sz="660">
                          <a:solidFill>
                            <a:srgbClr val="30353A"/>
                          </a:solidFill>
                          <a:latin typeface="Arial"/>
                          <a:ea typeface="Arial"/>
                          <a:cs typeface="Arial"/>
                        </a:rPr>
                        <a:t>R$ 25,0 mi</a:t>
                      </a:r>
                    </a:p>
                  </a:txBody>
                  <a:tcPr marL="47625" marR="47625" marT="14288" marB="14288" anchor="ctr">
                    <a:solidFill>
                      <a:srgbClr val="F5F6F7"/>
                    </a:solidFill>
                  </a:tcPr>
                </a:tc>
                <a:tc>
                  <a:txBody>
                    <a:bodyPr wrap="square" anchor="ctr">
                      <a:normAutofit/>
                    </a:bodyPr>
                    <a:lstStyle/>
                    <a:p>
                      <a:pPr algn="r"/>
                      <a:r>
                        <a:rPr sz="660">
                          <a:solidFill>
                            <a:srgbClr val="30353A"/>
                          </a:solidFill>
                          <a:latin typeface="Arial"/>
                          <a:ea typeface="Arial"/>
                          <a:cs typeface="Arial"/>
                        </a:rPr>
                        <a:t>6,6%</a:t>
                      </a:r>
                    </a:p>
                  </a:txBody>
                  <a:tcPr marL="47625" marR="47625" marT="14288" marB="14288" anchor="ctr">
                    <a:solidFill>
                      <a:srgbClr val="F5F6F7"/>
                    </a:solidFill>
                  </a:tcPr>
                </a:tc>
                <a:tc>
                  <a:txBody>
                    <a:bodyPr wrap="square" anchor="ctr">
                      <a:normAutofit/>
                    </a:bodyPr>
                    <a:lstStyle/>
                    <a:p>
                      <a:pPr algn="r"/>
                      <a:r>
                        <a:rPr sz="660">
                          <a:solidFill>
                            <a:srgbClr val="30353A"/>
                          </a:solidFill>
                          <a:latin typeface="Arial"/>
                          <a:ea typeface="Arial"/>
                          <a:cs typeface="Arial"/>
                        </a:rPr>
                        <a:t>92,8%</a:t>
                      </a:r>
                    </a:p>
                  </a:txBody>
                  <a:tcPr marL="47625" marR="47625" marT="14288" marB="14288" anchor="ctr">
                    <a:solidFill>
                      <a:srgbClr val="F5F6F7"/>
                    </a:solidFill>
                  </a:tcPr>
                </a:tc>
              </a:tr>
              <a:tr h="243840">
                <a:tc>
                  <a:txBody>
                    <a:bodyPr wrap="square" anchor="ctr">
                      <a:normAutofit/>
                    </a:bodyPr>
                    <a:lstStyle/>
                    <a:p>
                      <a:pPr algn="l"/>
                      <a:r>
                        <a:rPr sz="660">
                          <a:solidFill>
                            <a:srgbClr val="30353A"/>
                          </a:solidFill>
                          <a:latin typeface="Arial"/>
                          <a:ea typeface="Arial"/>
                          <a:cs typeface="Arial"/>
                        </a:rPr>
                        <a:t>2026 jan–jun</a:t>
                      </a:r>
                    </a:p>
                  </a:txBody>
                  <a:tcPr marL="47625" marR="47625" marT="14288" marB="14288" anchor="ctr">
                    <a:solidFill>
                      <a:srgbClr val="FFF1E6"/>
                    </a:solidFill>
                  </a:tcPr>
                </a:tc>
                <a:tc>
                  <a:txBody>
                    <a:bodyPr wrap="square" anchor="ctr">
                      <a:normAutofit/>
                    </a:bodyPr>
                    <a:lstStyle/>
                    <a:p>
                      <a:pPr algn="r"/>
                      <a:r>
                        <a:rPr sz="660">
                          <a:solidFill>
                            <a:srgbClr val="30353A"/>
                          </a:solidFill>
                          <a:latin typeface="Arial"/>
                          <a:ea typeface="Arial"/>
                          <a:cs typeface="Arial"/>
                        </a:rPr>
                        <a:t>771</a:t>
                      </a:r>
                    </a:p>
                  </a:txBody>
                  <a:tcPr marL="47625" marR="47625" marT="14288" marB="14288" anchor="ctr">
                    <a:solidFill>
                      <a:srgbClr val="FFF1E6"/>
                    </a:solidFill>
                  </a:tcPr>
                </a:tc>
                <a:tc>
                  <a:txBody>
                    <a:bodyPr wrap="square" anchor="ctr">
                      <a:normAutofit/>
                    </a:bodyPr>
                    <a:lstStyle/>
                    <a:p>
                      <a:pPr algn="r"/>
                      <a:r>
                        <a:rPr sz="660">
                          <a:solidFill>
                            <a:srgbClr val="30353A"/>
                          </a:solidFill>
                          <a:latin typeface="Arial"/>
                          <a:ea typeface="Arial"/>
                          <a:cs typeface="Arial"/>
                        </a:rPr>
                        <a:t>R$ 65,5 bi</a:t>
                      </a:r>
                    </a:p>
                  </a:txBody>
                  <a:tcPr marL="47625" marR="47625" marT="14288" marB="14288" anchor="ctr">
                    <a:solidFill>
                      <a:srgbClr val="FFF1E6"/>
                    </a:solidFill>
                  </a:tcPr>
                </a:tc>
                <a:tc>
                  <a:txBody>
                    <a:bodyPr wrap="square" anchor="ctr">
                      <a:normAutofit/>
                    </a:bodyPr>
                    <a:lstStyle/>
                    <a:p>
                      <a:pPr algn="r"/>
                      <a:r>
                        <a:rPr sz="660">
                          <a:solidFill>
                            <a:srgbClr val="30353A"/>
                          </a:solidFill>
                          <a:latin typeface="Arial"/>
                          <a:ea typeface="Arial"/>
                          <a:cs typeface="Arial"/>
                        </a:rPr>
                        <a:t>R$ 84,9 mi</a:t>
                      </a:r>
                    </a:p>
                  </a:txBody>
                  <a:tcPr marL="47625" marR="47625" marT="14288" marB="14288" anchor="ctr">
                    <a:solidFill>
                      <a:srgbClr val="FFF1E6"/>
                    </a:solidFill>
                  </a:tcPr>
                </a:tc>
                <a:tc>
                  <a:txBody>
                    <a:bodyPr wrap="square" anchor="ctr">
                      <a:normAutofit/>
                    </a:bodyPr>
                    <a:lstStyle/>
                    <a:p>
                      <a:pPr algn="r"/>
                      <a:r>
                        <a:rPr sz="660">
                          <a:solidFill>
                            <a:srgbClr val="30353A"/>
                          </a:solidFill>
                          <a:latin typeface="Arial"/>
                          <a:ea typeface="Arial"/>
                          <a:cs typeface="Arial"/>
                        </a:rPr>
                        <a:t>R$ 22,5 mi</a:t>
                      </a:r>
                    </a:p>
                  </a:txBody>
                  <a:tcPr marL="47625" marR="47625" marT="14288" marB="14288" anchor="ctr">
                    <a:solidFill>
                      <a:srgbClr val="FFF1E6"/>
                    </a:solidFill>
                  </a:tcPr>
                </a:tc>
                <a:tc>
                  <a:txBody>
                    <a:bodyPr wrap="square" anchor="ctr">
                      <a:normAutofit/>
                    </a:bodyPr>
                    <a:lstStyle/>
                    <a:p>
                      <a:pPr algn="r"/>
                      <a:r>
                        <a:rPr sz="660">
                          <a:solidFill>
                            <a:srgbClr val="30353A"/>
                          </a:solidFill>
                          <a:latin typeface="Arial"/>
                          <a:ea typeface="Arial"/>
                          <a:cs typeface="Arial"/>
                        </a:rPr>
                        <a:t>4,0%</a:t>
                      </a:r>
                    </a:p>
                  </a:txBody>
                  <a:tcPr marL="47625" marR="47625" marT="14288" marB="14288" anchor="ctr">
                    <a:solidFill>
                      <a:srgbClr val="FFF1E6"/>
                    </a:solidFill>
                  </a:tcPr>
                </a:tc>
                <a:tc>
                  <a:txBody>
                    <a:bodyPr wrap="square" anchor="ctr">
                      <a:normAutofit/>
                    </a:bodyPr>
                    <a:lstStyle/>
                    <a:p>
                      <a:pPr algn="r"/>
                      <a:r>
                        <a:rPr sz="660">
                          <a:solidFill>
                            <a:srgbClr val="30353A"/>
                          </a:solidFill>
                          <a:latin typeface="Arial"/>
                          <a:ea typeface="Arial"/>
                          <a:cs typeface="Arial"/>
                        </a:rPr>
                        <a:t>93,8%</a:t>
                      </a:r>
                    </a:p>
                  </a:txBody>
                  <a:tcPr marL="47625" marR="47625" marT="14288" marB="14288" anchor="ctr">
                    <a:solidFill>
                      <a:srgbClr val="FFF1E6"/>
                    </a:solidFill>
                  </a:tcPr>
                </a:tc>
              </a:tr>
            </a:tbl>
          </a:graphicData>
        </a:graphic>
      </p:graphicFrame>
      <p:sp>
        <p:nvSpPr>
          <p:cNvPr id="16" name="">
            <a:extLst xmlns:a="http://schemas.openxmlformats.org/drawingml/2006/main">
              <a:ext uri="{FF2B5EF4-FFF2-40B4-BE49-F238E27FC236}">
                <a16:creationId xmlns:a16="http://schemas.microsoft.com/office/drawing/2014/main" id="{3DA8820E-3AFA-4A15-BD90-22DA5A3BB6AB}"/>
              </a:ext>
            </a:extLst>
          </p:cNvPr>
          <p:cNvSpPr>
            <a:spLocks xmlns:a="http://schemas.openxmlformats.org/drawingml/2006/main" noGrp="1"/>
          </p:cNvSpPr>
          <p:nvPr/>
        </p:nvSpPr>
        <p:spPr>
          <a:xfrm xmlns:a="http://schemas.openxmlformats.org/drawingml/2006/main">
            <a:off x="571500" y="5962650"/>
            <a:ext cx="1104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65" b="0">
                <a:solidFill>
                  <a:srgbClr val="8D9399"/>
                </a:solidFill>
                <a:latin typeface="Arial"/>
                <a:ea typeface="Arial"/>
                <a:cs typeface="Arial"/>
              </a:defRPr>
            </a:pPr>
            <a:r>
              <a:rPr sz="765" b="0">
                <a:solidFill>
                  <a:srgbClr val="8D9399"/>
                </a:solidFill>
                <a:latin typeface="Arial"/>
                <a:ea typeface="Arial"/>
                <a:cs typeface="Arial"/>
              </a:rPr>
              <a:t>PF representa 4,0% do proxy colocado; cobertura 97,3%. Público profissional usa o volume registrado total como denominador, incluindo N/D; 2022 = N/D por ausência de reporte.</a:t>
            </a:r>
          </a:p>
        </p:txBody>
      </p:sp>
    </p:spTree>
    <p:extLst>
      <p:ext uri="{BB962C8B-B14F-4D97-AF65-F5344CB8AC3E}">
        <p14:creationId xmlns:p14="http://schemas.microsoft.com/office/powerpoint/2010/main" val="79710223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6C80E99-6082-43A5-8C4E-082DBD1AB77A}"/>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OFERTAS ENCERRADAS · DISTRIBUIÇÃO DO TICKET</a:t>
            </a:r>
          </a:p>
        </p:txBody>
      </p:sp>
      <p:sp>
        <p:nvSpPr>
          <p:cNvPr id="2" name="">
            <a:extLst xmlns:a="http://schemas.openxmlformats.org/drawingml/2006/main">
              <a:ext uri="{FF2B5EF4-FFF2-40B4-BE49-F238E27FC236}">
                <a16:creationId xmlns:a16="http://schemas.microsoft.com/office/drawing/2014/main" id="{56E99C82-FB1C-4B37-95A3-07848B5DAE87}"/>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22 ofertas ≥ R$ 500 mi concentram 42,2% do volume em jan–jun/26</a:t>
            </a:r>
          </a:p>
        </p:txBody>
      </p:sp>
      <p:sp>
        <p:nvSpPr>
          <p:cNvPr id="3" name="">
            <a:extLst xmlns:a="http://schemas.openxmlformats.org/drawingml/2006/main">
              <a:ext uri="{FF2B5EF4-FFF2-40B4-BE49-F238E27FC236}">
                <a16:creationId xmlns:a16="http://schemas.microsoft.com/office/drawing/2014/main" id="{7A5601A6-7688-4223-8C99-7B741EFD8CB4}"/>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AD498D9-3AB4-49A1-AAA0-F977271B7F99}"/>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F47211B-B9DA-4348-A38B-4665FC446DC8}"/>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CVM/SRE, dois arquivos de ofertas; mesma coorte primária encerrada do slide anterior. 2026 = jan–jun.</a:t>
            </a:r>
          </a:p>
        </p:txBody>
      </p:sp>
      <p:sp>
        <p:nvSpPr>
          <p:cNvPr id="6" name="">
            <a:extLst xmlns:a="http://schemas.openxmlformats.org/drawingml/2006/main">
              <a:ext uri="{FF2B5EF4-FFF2-40B4-BE49-F238E27FC236}">
                <a16:creationId xmlns:a16="http://schemas.microsoft.com/office/drawing/2014/main" id="{77127D31-F85D-4066-BD85-1D6D85DBC3C0}"/>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27</a:t>
            </a:r>
          </a:p>
        </p:txBody>
      </p:sp>
      <p:sp>
        <p:nvSpPr>
          <p:cNvPr id="7" name="">
            <a:extLst xmlns:a="http://schemas.openxmlformats.org/drawingml/2006/main">
              <a:ext uri="{FF2B5EF4-FFF2-40B4-BE49-F238E27FC236}">
                <a16:creationId xmlns:a16="http://schemas.microsoft.com/office/drawing/2014/main" id="{2AF38A30-67EE-4C31-AE1D-A60C4BC6F8C9}"/>
              </a:ext>
            </a:extLst>
          </p:cNvPr>
          <p:cNvSpPr>
            <a:spLocks xmlns:a="http://schemas.openxmlformats.org/drawingml/2006/main" noGrp="1"/>
          </p:cNvSpPr>
          <p:nvPr/>
        </p:nvSpPr>
        <p:spPr>
          <a:xfrm xmlns:a="http://schemas.openxmlformats.org/drawingml/2006/main">
            <a:off x="571500" y="13811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 DAS OFERTAS</a:t>
            </a:r>
          </a:p>
        </p:txBody>
      </p:sp>
      <p:sp>
        <p:nvSpPr>
          <p:cNvPr id="8" name="">
            <a:extLst xmlns:a="http://schemas.openxmlformats.org/drawingml/2006/main">
              <a:ext uri="{FF2B5EF4-FFF2-40B4-BE49-F238E27FC236}">
                <a16:creationId xmlns:a16="http://schemas.microsoft.com/office/drawing/2014/main" id="{93A1E2A9-0E9D-485A-9B6E-DE6075B0DAA8}"/>
              </a:ext>
            </a:extLst>
          </p:cNvPr>
          <p:cNvSpPr>
            <a:spLocks xmlns:a="http://schemas.openxmlformats.org/drawingml/2006/main" noGrp="1"/>
          </p:cNvSpPr>
          <p:nvPr/>
        </p:nvSpPr>
        <p:spPr>
          <a:xfrm xmlns:a="http://schemas.openxmlformats.org/drawingml/2006/main">
            <a:off x="571500" y="1647825"/>
            <a:ext cx="342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34" name="Chart"/>
          <p:cNvGraphicFramePr/>
          <p:nvPr/>
        </p:nvGraphicFramePr>
        <p:xfrm>
          <a:off xmlns:a="http://schemas.openxmlformats.org/drawingml/2006/main" x="571500" y="1743075"/>
          <a:ext xmlns:a="http://schemas.openxmlformats.org/drawingml/2006/main" cx="3429000" cy="3714750"/>
        </p:xfrm>
        <a:graphic xmlns:a="http://schemas.openxmlformats.org/drawingml/2006/main">
          <a:graphicData uri="http://schemas.openxmlformats.org/drawingml/2006/chart">
            <c:chart xmlns:r="http://schemas.openxmlformats.org/officeDocument/2006/relationships" xmlns:c="http://schemas.openxmlformats.org/drawingml/2006/chart" r:id="Rda477786a41e46cf"/>
          </a:graphicData>
        </a:graphic>
      </p:graphicFrame>
      <p:sp>
        <p:nvSpPr>
          <p:cNvPr id="10" name="">
            <a:extLst xmlns:a="http://schemas.openxmlformats.org/drawingml/2006/main">
              <a:ext uri="{FF2B5EF4-FFF2-40B4-BE49-F238E27FC236}">
                <a16:creationId xmlns:a16="http://schemas.microsoft.com/office/drawing/2014/main" id="{9A88BBF5-F1DE-4601-A1AF-2A4419898CF5}"/>
              </a:ext>
            </a:extLst>
          </p:cNvPr>
          <p:cNvSpPr>
            <a:spLocks xmlns:a="http://schemas.openxmlformats.org/drawingml/2006/main" noGrp="1"/>
          </p:cNvSpPr>
          <p:nvPr/>
        </p:nvSpPr>
        <p:spPr>
          <a:xfrm xmlns:a="http://schemas.openxmlformats.org/drawingml/2006/main">
            <a:off x="4286250" y="13811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 DO VOLUME</a:t>
            </a:r>
          </a:p>
        </p:txBody>
      </p:sp>
      <p:sp>
        <p:nvSpPr>
          <p:cNvPr id="11" name="">
            <a:extLst xmlns:a="http://schemas.openxmlformats.org/drawingml/2006/main">
              <a:ext uri="{FF2B5EF4-FFF2-40B4-BE49-F238E27FC236}">
                <a16:creationId xmlns:a16="http://schemas.microsoft.com/office/drawing/2014/main" id="{358CA204-B6FE-437C-B6E1-C7747FEB75D4}"/>
              </a:ext>
            </a:extLst>
          </p:cNvPr>
          <p:cNvSpPr>
            <a:spLocks xmlns:a="http://schemas.openxmlformats.org/drawingml/2006/main" noGrp="1"/>
          </p:cNvSpPr>
          <p:nvPr/>
        </p:nvSpPr>
        <p:spPr>
          <a:xfrm xmlns:a="http://schemas.openxmlformats.org/drawingml/2006/main">
            <a:off x="4286250" y="1647825"/>
            <a:ext cx="342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37" name="Chart"/>
          <p:cNvGraphicFramePr/>
          <p:nvPr/>
        </p:nvGraphicFramePr>
        <p:xfrm>
          <a:off xmlns:a="http://schemas.openxmlformats.org/drawingml/2006/main" x="4286250" y="1743075"/>
          <a:ext xmlns:a="http://schemas.openxmlformats.org/drawingml/2006/main" cx="3429000" cy="3714750"/>
        </p:xfrm>
        <a:graphic xmlns:a="http://schemas.openxmlformats.org/drawingml/2006/main">
          <a:graphicData uri="http://schemas.openxmlformats.org/drawingml/2006/chart">
            <c:chart xmlns:r="http://schemas.openxmlformats.org/officeDocument/2006/relationships" xmlns:c="http://schemas.openxmlformats.org/drawingml/2006/chart" r:id="Rbddb9e829d464091"/>
          </a:graphicData>
        </a:graphic>
      </p:graphicFrame>
      <p:sp>
        <p:nvSpPr>
          <p:cNvPr id="13" name="">
            <a:extLst xmlns:a="http://schemas.openxmlformats.org/drawingml/2006/main">
              <a:ext uri="{FF2B5EF4-FFF2-40B4-BE49-F238E27FC236}">
                <a16:creationId xmlns:a16="http://schemas.microsoft.com/office/drawing/2014/main" id="{31EE2C8E-58B9-4CC7-9FD5-FC370D75D46E}"/>
              </a:ext>
            </a:extLst>
          </p:cNvPr>
          <p:cNvSpPr>
            <a:spLocks xmlns:a="http://schemas.openxmlformats.org/drawingml/2006/main" noGrp="1"/>
          </p:cNvSpPr>
          <p:nvPr/>
        </p:nvSpPr>
        <p:spPr>
          <a:xfrm xmlns:a="http://schemas.openxmlformats.org/drawingml/2006/main">
            <a:off x="8001000" y="1381125"/>
            <a:ext cx="3619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VOLUME · R$ BI</a:t>
            </a:r>
          </a:p>
        </p:txBody>
      </p:sp>
      <p:sp>
        <p:nvSpPr>
          <p:cNvPr id="14" name="">
            <a:extLst xmlns:a="http://schemas.openxmlformats.org/drawingml/2006/main">
              <a:ext uri="{FF2B5EF4-FFF2-40B4-BE49-F238E27FC236}">
                <a16:creationId xmlns:a16="http://schemas.microsoft.com/office/drawing/2014/main" id="{7B3220B8-2F63-4D10-A3EE-A4E058C9D3CD}"/>
              </a:ext>
            </a:extLst>
          </p:cNvPr>
          <p:cNvSpPr>
            <a:spLocks xmlns:a="http://schemas.openxmlformats.org/drawingml/2006/main" noGrp="1"/>
          </p:cNvSpPr>
          <p:nvPr/>
        </p:nvSpPr>
        <p:spPr>
          <a:xfrm xmlns:a="http://schemas.openxmlformats.org/drawingml/2006/main">
            <a:off x="8001000" y="1647825"/>
            <a:ext cx="36195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40" name="Chart"/>
          <p:cNvGraphicFramePr/>
          <p:nvPr/>
        </p:nvGraphicFramePr>
        <p:xfrm>
          <a:off xmlns:a="http://schemas.openxmlformats.org/drawingml/2006/main" x="8001000" y="1743075"/>
          <a:ext xmlns:a="http://schemas.openxmlformats.org/drawingml/2006/main" cx="3619500" cy="3714750"/>
        </p:xfrm>
        <a:graphic xmlns:a="http://schemas.openxmlformats.org/drawingml/2006/main">
          <a:graphicData uri="http://schemas.openxmlformats.org/drawingml/2006/chart">
            <c:chart xmlns:r="http://schemas.openxmlformats.org/officeDocument/2006/relationships" xmlns:c="http://schemas.openxmlformats.org/drawingml/2006/chart" r:id="R285068aa13e04bfe"/>
          </a:graphicData>
        </a:graphic>
      </p:graphicFrame>
      <p:graphicFrame>
        <p:nvGraphicFramePr>
          <p:cNvPr id="41" name="Chart"/>
          <p:cNvGraphicFramePr/>
          <p:nvPr/>
        </p:nvGraphicFramePr>
        <p:xfrm>
          <a:off xmlns:a="http://schemas.openxmlformats.org/drawingml/2006/main" x="4048125" y="5486400"/>
          <a:ext xmlns:a="http://schemas.openxmlformats.org/drawingml/2006/main" cx="4095750" cy="209550"/>
        </p:xfrm>
        <a:graphic xmlns:a="http://schemas.openxmlformats.org/drawingml/2006/main">
          <a:graphicData uri="http://schemas.openxmlformats.org/drawingml/2006/chart">
            <c:chart xmlns:r="http://schemas.openxmlformats.org/officeDocument/2006/relationships" xmlns:c="http://schemas.openxmlformats.org/drawingml/2006/chart" r:id="Rf1ed0d3449444dcd"/>
          </a:graphicData>
        </a:graphic>
      </p:graphicFrame>
      <p:sp>
        <p:nvSpPr>
          <p:cNvPr id="17" name="">
            <a:extLst xmlns:a="http://schemas.openxmlformats.org/drawingml/2006/main">
              <a:ext uri="{FF2B5EF4-FFF2-40B4-BE49-F238E27FC236}">
                <a16:creationId xmlns:a16="http://schemas.microsoft.com/office/drawing/2014/main" id="{E735406A-C0CD-41CE-9EE0-7672A4DEC2FA}"/>
              </a:ext>
            </a:extLst>
          </p:cNvPr>
          <p:cNvSpPr>
            <a:spLocks xmlns:a="http://schemas.openxmlformats.org/drawingml/2006/main" noGrp="1"/>
          </p:cNvSpPr>
          <p:nvPr/>
        </p:nvSpPr>
        <p:spPr>
          <a:xfrm xmlns:a="http://schemas.openxmlformats.org/drawingml/2006/main">
            <a:off x="571500" y="5705475"/>
            <a:ext cx="110490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615" b="0">
                <a:solidFill>
                  <a:srgbClr val="8D9399"/>
                </a:solidFill>
                <a:latin typeface="Arial"/>
                <a:ea typeface="Arial"/>
                <a:cs typeface="Arial"/>
              </a:defRPr>
            </a:pPr>
            <a:r>
              <a:rPr sz="615" b="0">
                <a:solidFill>
                  <a:srgbClr val="8D9399"/>
                </a:solidFill>
                <a:latin typeface="Arial"/>
                <a:ea typeface="Arial"/>
                <a:cs typeface="Arial"/>
              </a:rPr>
              <a:t>Faixas fecham no limite inferior; “&gt; R$ 100 mi” é estrito e exclui ofertas exatamente iguais a R$ 100 mi.</a:t>
            </a:r>
          </a:p>
        </p:txBody>
      </p:sp>
      <p:sp>
        <p:nvSpPr>
          <p:cNvPr id="18" name="">
            <a:extLst xmlns:a="http://schemas.openxmlformats.org/drawingml/2006/main">
              <a:ext uri="{FF2B5EF4-FFF2-40B4-BE49-F238E27FC236}">
                <a16:creationId xmlns:a16="http://schemas.microsoft.com/office/drawing/2014/main" id="{7D75685E-5A15-45F2-BB24-4A6745AC7621}"/>
              </a:ext>
            </a:extLst>
          </p:cNvPr>
          <p:cNvSpPr>
            <a:spLocks xmlns:a="http://schemas.openxmlformats.org/drawingml/2006/main" noGrp="1"/>
          </p:cNvSpPr>
          <p:nvPr/>
        </p:nvSpPr>
        <p:spPr>
          <a:xfrm xmlns:a="http://schemas.openxmlformats.org/drawingml/2006/main">
            <a:off x="571500" y="5867400"/>
            <a:ext cx="34290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660" b="1">
                <a:solidFill>
                  <a:srgbClr val="30353A"/>
                </a:solidFill>
                <a:latin typeface="Arial"/>
                <a:ea typeface="Arial"/>
                <a:cs typeface="Arial"/>
              </a:defRPr>
            </a:pPr>
            <a:r>
              <a:rPr sz="660" b="1">
                <a:solidFill>
                  <a:srgbClr val="30353A"/>
                </a:solidFill>
                <a:latin typeface="Arial"/>
                <a:ea typeface="Arial"/>
                <a:cs typeface="Arial"/>
              </a:rPr>
              <a:t>2024FY · &gt; R$ 100 mi</a:t>
            </a:r>
          </a:p>
        </p:txBody>
      </p:sp>
      <p:sp>
        <p:nvSpPr>
          <p:cNvPr id="19" name="">
            <a:extLst xmlns:a="http://schemas.openxmlformats.org/drawingml/2006/main">
              <a:ext uri="{FF2B5EF4-FFF2-40B4-BE49-F238E27FC236}">
                <a16:creationId xmlns:a16="http://schemas.microsoft.com/office/drawing/2014/main" id="{F999E165-6C80-44FA-AB97-0B6344F6D91B}"/>
              </a:ext>
            </a:extLst>
          </p:cNvPr>
          <p:cNvSpPr>
            <a:spLocks xmlns:a="http://schemas.openxmlformats.org/drawingml/2006/main" noGrp="1"/>
          </p:cNvSpPr>
          <p:nvPr/>
        </p:nvSpPr>
        <p:spPr>
          <a:xfrm xmlns:a="http://schemas.openxmlformats.org/drawingml/2006/main">
            <a:off x="571500" y="6048375"/>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653" b="0">
                <a:solidFill>
                  <a:srgbClr val="8D9399"/>
                </a:solidFill>
                <a:latin typeface="Arial"/>
                <a:ea typeface="Arial"/>
                <a:cs typeface="Arial"/>
              </a:defRPr>
            </a:pPr>
            <a:r>
              <a:rPr sz="653" b="0">
                <a:solidFill>
                  <a:srgbClr val="8D9399"/>
                </a:solidFill>
                <a:latin typeface="Arial"/>
                <a:ea typeface="Arial"/>
                <a:cs typeface="Arial"/>
              </a:rPr>
              <a:t>R$ 72,0 bi · 75,5% do volume · 181 ofertas (17,9%)</a:t>
            </a:r>
          </a:p>
        </p:txBody>
      </p:sp>
      <p:sp>
        <p:nvSpPr>
          <p:cNvPr id="20" name="">
            <a:extLst xmlns:a="http://schemas.openxmlformats.org/drawingml/2006/main">
              <a:ext uri="{FF2B5EF4-FFF2-40B4-BE49-F238E27FC236}">
                <a16:creationId xmlns:a16="http://schemas.microsoft.com/office/drawing/2014/main" id="{2D51C869-456B-4808-B88F-A82F064FD873}"/>
              </a:ext>
            </a:extLst>
          </p:cNvPr>
          <p:cNvSpPr>
            <a:spLocks xmlns:a="http://schemas.openxmlformats.org/drawingml/2006/main" noGrp="1"/>
          </p:cNvSpPr>
          <p:nvPr/>
        </p:nvSpPr>
        <p:spPr>
          <a:xfrm xmlns:a="http://schemas.openxmlformats.org/drawingml/2006/main">
            <a:off x="4143375" y="5867400"/>
            <a:ext cx="952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78C4875-3D7A-44B7-8C30-F643E4919EA0}"/>
              </a:ext>
            </a:extLst>
          </p:cNvPr>
          <p:cNvSpPr>
            <a:spLocks xmlns:a="http://schemas.openxmlformats.org/drawingml/2006/main" noGrp="1"/>
          </p:cNvSpPr>
          <p:nvPr/>
        </p:nvSpPr>
        <p:spPr>
          <a:xfrm xmlns:a="http://schemas.openxmlformats.org/drawingml/2006/main">
            <a:off x="4286250" y="5867400"/>
            <a:ext cx="34290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660" b="1">
                <a:solidFill>
                  <a:srgbClr val="30353A"/>
                </a:solidFill>
                <a:latin typeface="Arial"/>
                <a:ea typeface="Arial"/>
                <a:cs typeface="Arial"/>
              </a:defRPr>
            </a:pPr>
            <a:r>
              <a:rPr sz="660" b="1">
                <a:solidFill>
                  <a:srgbClr val="30353A"/>
                </a:solidFill>
                <a:latin typeface="Arial"/>
                <a:ea typeface="Arial"/>
                <a:cs typeface="Arial"/>
              </a:rPr>
              <a:t>2025FY · &gt; R$ 100 mi</a:t>
            </a:r>
          </a:p>
        </p:txBody>
      </p:sp>
      <p:sp>
        <p:nvSpPr>
          <p:cNvPr id="22" name="">
            <a:extLst xmlns:a="http://schemas.openxmlformats.org/drawingml/2006/main">
              <a:ext uri="{FF2B5EF4-FFF2-40B4-BE49-F238E27FC236}">
                <a16:creationId xmlns:a16="http://schemas.microsoft.com/office/drawing/2014/main" id="{12C1A3A0-0C62-4D85-8B88-D28DCAC9A81B}"/>
              </a:ext>
            </a:extLst>
          </p:cNvPr>
          <p:cNvSpPr>
            <a:spLocks xmlns:a="http://schemas.openxmlformats.org/drawingml/2006/main" noGrp="1"/>
          </p:cNvSpPr>
          <p:nvPr/>
        </p:nvSpPr>
        <p:spPr>
          <a:xfrm xmlns:a="http://schemas.openxmlformats.org/drawingml/2006/main">
            <a:off x="4286250" y="6048375"/>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653" b="0">
                <a:solidFill>
                  <a:srgbClr val="8D9399"/>
                </a:solidFill>
                <a:latin typeface="Arial"/>
                <a:ea typeface="Arial"/>
                <a:cs typeface="Arial"/>
              </a:defRPr>
            </a:pPr>
            <a:r>
              <a:rPr sz="653" b="0">
                <a:solidFill>
                  <a:srgbClr val="8D9399"/>
                </a:solidFill>
                <a:latin typeface="Arial"/>
                <a:ea typeface="Arial"/>
                <a:cs typeface="Arial"/>
              </a:rPr>
              <a:t>R$ 81,8 bi · 69,9% do volume · 227 ofertas (15,4%)</a:t>
            </a:r>
          </a:p>
        </p:txBody>
      </p:sp>
      <p:sp>
        <p:nvSpPr>
          <p:cNvPr id="23" name="">
            <a:extLst xmlns:a="http://schemas.openxmlformats.org/drawingml/2006/main">
              <a:ext uri="{FF2B5EF4-FFF2-40B4-BE49-F238E27FC236}">
                <a16:creationId xmlns:a16="http://schemas.microsoft.com/office/drawing/2014/main" id="{4CCD5150-5A4D-4AAF-8DAF-06D42DCEF1B7}"/>
              </a:ext>
            </a:extLst>
          </p:cNvPr>
          <p:cNvSpPr>
            <a:spLocks xmlns:a="http://schemas.openxmlformats.org/drawingml/2006/main" noGrp="1"/>
          </p:cNvSpPr>
          <p:nvPr/>
        </p:nvSpPr>
        <p:spPr>
          <a:xfrm xmlns:a="http://schemas.openxmlformats.org/drawingml/2006/main">
            <a:off x="7858125" y="5867400"/>
            <a:ext cx="952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74BCF69-A253-477C-8ED2-D7B83F083DF1}"/>
              </a:ext>
            </a:extLst>
          </p:cNvPr>
          <p:cNvSpPr>
            <a:spLocks xmlns:a="http://schemas.openxmlformats.org/drawingml/2006/main" noGrp="1"/>
          </p:cNvSpPr>
          <p:nvPr/>
        </p:nvSpPr>
        <p:spPr>
          <a:xfrm xmlns:a="http://schemas.openxmlformats.org/drawingml/2006/main">
            <a:off x="8001000" y="5867400"/>
            <a:ext cx="34290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660" b="1">
                <a:solidFill>
                  <a:srgbClr val="EC7000"/>
                </a:solidFill>
                <a:latin typeface="Arial"/>
                <a:ea typeface="Arial"/>
                <a:cs typeface="Arial"/>
              </a:defRPr>
            </a:pPr>
            <a:r>
              <a:rPr sz="660" b="1">
                <a:solidFill>
                  <a:srgbClr val="EC7000"/>
                </a:solidFill>
                <a:latin typeface="Arial"/>
                <a:ea typeface="Arial"/>
                <a:cs typeface="Arial"/>
              </a:rPr>
              <a:t>2026 YTD · &gt; R$ 100 mi</a:t>
            </a:r>
          </a:p>
        </p:txBody>
      </p:sp>
      <p:sp>
        <p:nvSpPr>
          <p:cNvPr id="25" name="">
            <a:extLst xmlns:a="http://schemas.openxmlformats.org/drawingml/2006/main">
              <a:ext uri="{FF2B5EF4-FFF2-40B4-BE49-F238E27FC236}">
                <a16:creationId xmlns:a16="http://schemas.microsoft.com/office/drawing/2014/main" id="{701C15E9-DA09-4BBA-9D72-93C247526BCF}"/>
              </a:ext>
            </a:extLst>
          </p:cNvPr>
          <p:cNvSpPr>
            <a:spLocks xmlns:a="http://schemas.openxmlformats.org/drawingml/2006/main" noGrp="1"/>
          </p:cNvSpPr>
          <p:nvPr/>
        </p:nvSpPr>
        <p:spPr>
          <a:xfrm xmlns:a="http://schemas.openxmlformats.org/drawingml/2006/main">
            <a:off x="8001000" y="6048375"/>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653" b="0">
                <a:solidFill>
                  <a:srgbClr val="8D9399"/>
                </a:solidFill>
                <a:latin typeface="Arial"/>
                <a:ea typeface="Arial"/>
                <a:cs typeface="Arial"/>
              </a:defRPr>
            </a:pPr>
            <a:r>
              <a:rPr sz="653" b="0">
                <a:solidFill>
                  <a:srgbClr val="8D9399"/>
                </a:solidFill>
                <a:latin typeface="Arial"/>
                <a:ea typeface="Arial"/>
                <a:cs typeface="Arial"/>
              </a:rPr>
              <a:t>R$ 47,7 bi · 72,9% do volume · 120 ofertas (15,6%)</a:t>
            </a:r>
          </a:p>
        </p:txBody>
      </p:sp>
    </p:spTree>
    <p:extLst>
      <p:ext uri="{BB962C8B-B14F-4D97-AF65-F5344CB8AC3E}">
        <p14:creationId xmlns:p14="http://schemas.microsoft.com/office/powerpoint/2010/main" val="105012729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6225ECA-C255-45E8-B9A4-7D5388779B59}"/>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OFERTAS · VOLUME E REGIME</a:t>
            </a:r>
          </a:p>
        </p:txBody>
      </p:sp>
      <p:sp>
        <p:nvSpPr>
          <p:cNvPr id="2" name="">
            <a:extLst xmlns:a="http://schemas.openxmlformats.org/drawingml/2006/main">
              <a:ext uri="{FF2B5EF4-FFF2-40B4-BE49-F238E27FC236}">
                <a16:creationId xmlns:a16="http://schemas.microsoft.com/office/drawing/2014/main" id="{35195C27-528A-4248-AC00-D5E288226812}"/>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Melhores esforços concentram 96% das ofertas e 69% do volume em jan–jun/26</a:t>
            </a:r>
          </a:p>
        </p:txBody>
      </p:sp>
      <p:sp>
        <p:nvSpPr>
          <p:cNvPr id="3" name="">
            <a:extLst xmlns:a="http://schemas.openxmlformats.org/drawingml/2006/main">
              <a:ext uri="{FF2B5EF4-FFF2-40B4-BE49-F238E27FC236}">
                <a16:creationId xmlns:a16="http://schemas.microsoft.com/office/drawing/2014/main" id="{B7574A44-049E-4EFC-916B-19FC7DD6803E}"/>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1B9FC30-3764-4486-9F62-FC3EB7EDB20A}"/>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BBFBC02-C626-46C2-86A6-A040901E9EA4}"/>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CVM/SRE, dois arquivos de ofertas, snapshot 24/jul/26. Regime declarado; campo ausente = Não informado.</a:t>
            </a:r>
          </a:p>
        </p:txBody>
      </p:sp>
      <p:sp>
        <p:nvSpPr>
          <p:cNvPr id="6" name="">
            <a:extLst xmlns:a="http://schemas.openxmlformats.org/drawingml/2006/main">
              <a:ext uri="{FF2B5EF4-FFF2-40B4-BE49-F238E27FC236}">
                <a16:creationId xmlns:a16="http://schemas.microsoft.com/office/drawing/2014/main" id="{3E16F7B6-A679-4D0F-85EF-D6933B62415D}"/>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28</a:t>
            </a:r>
          </a:p>
        </p:txBody>
      </p:sp>
      <p:sp>
        <p:nvSpPr>
          <p:cNvPr id="7" name="">
            <a:extLst xmlns:a="http://schemas.openxmlformats.org/drawingml/2006/main">
              <a:ext uri="{FF2B5EF4-FFF2-40B4-BE49-F238E27FC236}">
                <a16:creationId xmlns:a16="http://schemas.microsoft.com/office/drawing/2014/main" id="{50DF85F4-5DB2-476E-8607-4CE947769D76}"/>
              </a:ext>
            </a:extLst>
          </p:cNvPr>
          <p:cNvSpPr>
            <a:spLocks xmlns:a="http://schemas.openxmlformats.org/drawingml/2006/main" noGrp="1"/>
          </p:cNvSpPr>
          <p:nvPr/>
        </p:nvSpPr>
        <p:spPr>
          <a:xfrm xmlns:a="http://schemas.openxmlformats.org/drawingml/2006/main">
            <a:off x="571500" y="1304925"/>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NÚMERO DE OFERTAS</a:t>
            </a:r>
          </a:p>
        </p:txBody>
      </p:sp>
      <p:sp>
        <p:nvSpPr>
          <p:cNvPr id="8" name="">
            <a:extLst xmlns:a="http://schemas.openxmlformats.org/drawingml/2006/main">
              <a:ext uri="{FF2B5EF4-FFF2-40B4-BE49-F238E27FC236}">
                <a16:creationId xmlns:a16="http://schemas.microsoft.com/office/drawing/2014/main" id="{9A0A1223-CAE4-4461-A5FA-369389BA04E1}"/>
              </a:ext>
            </a:extLst>
          </p:cNvPr>
          <p:cNvSpPr>
            <a:spLocks xmlns:a="http://schemas.openxmlformats.org/drawingml/2006/main" noGrp="1"/>
          </p:cNvSpPr>
          <p:nvPr/>
        </p:nvSpPr>
        <p:spPr>
          <a:xfrm xmlns:a="http://schemas.openxmlformats.org/drawingml/2006/main">
            <a:off x="571500" y="1571625"/>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9" name="Chart"/>
          <p:cNvGraphicFramePr/>
          <p:nvPr/>
        </p:nvGraphicFramePr>
        <p:xfrm>
          <a:off xmlns:a="http://schemas.openxmlformats.org/drawingml/2006/main" x="571500" y="1628775"/>
          <a:ext xmlns:a="http://schemas.openxmlformats.org/drawingml/2006/main" cx="5286375" cy="1885950"/>
        </p:xfrm>
        <a:graphic xmlns:a="http://schemas.openxmlformats.org/drawingml/2006/main">
          <a:graphicData uri="http://schemas.openxmlformats.org/drawingml/2006/chart">
            <c:chart xmlns:r="http://schemas.openxmlformats.org/officeDocument/2006/relationships" xmlns:c="http://schemas.openxmlformats.org/drawingml/2006/chart" r:id="R8f6eb9e93ab249cf"/>
          </a:graphicData>
        </a:graphic>
      </p:graphicFrame>
      <p:sp>
        <p:nvSpPr>
          <p:cNvPr id="10" name="">
            <a:extLst xmlns:a="http://schemas.openxmlformats.org/drawingml/2006/main">
              <a:ext uri="{FF2B5EF4-FFF2-40B4-BE49-F238E27FC236}">
                <a16:creationId xmlns:a16="http://schemas.microsoft.com/office/drawing/2014/main" id="{F7AEE5DF-544E-463E-904E-2952A2C53BF8}"/>
              </a:ext>
            </a:extLst>
          </p:cNvPr>
          <p:cNvSpPr>
            <a:spLocks xmlns:a="http://schemas.openxmlformats.org/drawingml/2006/main" noGrp="1"/>
          </p:cNvSpPr>
          <p:nvPr/>
        </p:nvSpPr>
        <p:spPr>
          <a:xfrm xmlns:a="http://schemas.openxmlformats.org/drawingml/2006/main">
            <a:off x="6334125" y="1304925"/>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VOLUME REGISTRADO · R$ BI</a:t>
            </a:r>
          </a:p>
        </p:txBody>
      </p:sp>
      <p:sp>
        <p:nvSpPr>
          <p:cNvPr id="11" name="">
            <a:extLst xmlns:a="http://schemas.openxmlformats.org/drawingml/2006/main">
              <a:ext uri="{FF2B5EF4-FFF2-40B4-BE49-F238E27FC236}">
                <a16:creationId xmlns:a16="http://schemas.microsoft.com/office/drawing/2014/main" id="{E5DB9CA3-27AE-43DB-92B9-0C91CD230989}"/>
              </a:ext>
            </a:extLst>
          </p:cNvPr>
          <p:cNvSpPr>
            <a:spLocks xmlns:a="http://schemas.openxmlformats.org/drawingml/2006/main" noGrp="1"/>
          </p:cNvSpPr>
          <p:nvPr/>
        </p:nvSpPr>
        <p:spPr>
          <a:xfrm xmlns:a="http://schemas.openxmlformats.org/drawingml/2006/main">
            <a:off x="6334125" y="1571625"/>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32" name="Chart"/>
          <p:cNvGraphicFramePr/>
          <p:nvPr/>
        </p:nvGraphicFramePr>
        <p:xfrm>
          <a:off xmlns:a="http://schemas.openxmlformats.org/drawingml/2006/main" x="6334125" y="1628775"/>
          <a:ext xmlns:a="http://schemas.openxmlformats.org/drawingml/2006/main" cx="5286375" cy="1885950"/>
        </p:xfrm>
        <a:graphic xmlns:a="http://schemas.openxmlformats.org/drawingml/2006/main">
          <a:graphicData uri="http://schemas.openxmlformats.org/drawingml/2006/chart">
            <c:chart xmlns:r="http://schemas.openxmlformats.org/officeDocument/2006/relationships" xmlns:c="http://schemas.openxmlformats.org/drawingml/2006/chart" r:id="R28dcc7f29d904e24"/>
          </a:graphicData>
        </a:graphic>
      </p:graphicFrame>
      <p:graphicFrame>
        <p:nvGraphicFramePr>
          <p:cNvPr id="33" name="Chart"/>
          <p:cNvGraphicFramePr/>
          <p:nvPr/>
        </p:nvGraphicFramePr>
        <p:xfrm>
          <a:off xmlns:a="http://schemas.openxmlformats.org/drawingml/2006/main" x="4333875" y="3552825"/>
          <a:ext xmlns:a="http://schemas.openxmlformats.org/drawingml/2006/main" cx="3524250" cy="209550"/>
        </p:xfrm>
        <a:graphic xmlns:a="http://schemas.openxmlformats.org/drawingml/2006/main">
          <a:graphicData uri="http://schemas.openxmlformats.org/drawingml/2006/chart">
            <c:chart xmlns:r="http://schemas.openxmlformats.org/officeDocument/2006/relationships" xmlns:c="http://schemas.openxmlformats.org/drawingml/2006/chart" r:id="R8b40449663994b38"/>
          </a:graphicData>
        </a:graphic>
      </p:graphicFrame>
      <p:sp>
        <p:nvSpPr>
          <p:cNvPr id="14" name="">
            <a:extLst xmlns:a="http://schemas.openxmlformats.org/drawingml/2006/main">
              <a:ext uri="{FF2B5EF4-FFF2-40B4-BE49-F238E27FC236}">
                <a16:creationId xmlns:a16="http://schemas.microsoft.com/office/drawing/2014/main" id="{3DA88A2A-1B3D-458C-9357-693D9317BB8E}"/>
              </a:ext>
            </a:extLst>
          </p:cNvPr>
          <p:cNvSpPr>
            <a:spLocks xmlns:a="http://schemas.openxmlformats.org/drawingml/2006/main" noGrp="1"/>
          </p:cNvSpPr>
          <p:nvPr/>
        </p:nvSpPr>
        <p:spPr>
          <a:xfrm xmlns:a="http://schemas.openxmlformats.org/drawingml/2006/main">
            <a:off x="571500" y="3724275"/>
            <a:ext cx="5286375"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540" b="0">
                <a:solidFill>
                  <a:srgbClr val="8D9399"/>
                </a:solidFill>
                <a:latin typeface="Arial"/>
                <a:ea typeface="Arial"/>
                <a:cs typeface="Arial"/>
              </a:defRPr>
            </a:pPr>
            <a:r>
              <a:rPr sz="540" b="0">
                <a:solidFill>
                  <a:srgbClr val="8D9399"/>
                </a:solidFill>
                <a:latin typeface="Arial"/>
                <a:ea typeface="Arial"/>
                <a:cs typeface="Arial"/>
              </a:rPr>
              <a:t>% do período (Melhores esforços / Garantia firme / Misto) · 2024FY: 94 / 4 / 3%   ·   2025FY: 95 / 3 / 1%   ·   2026 jan–jun: 96 / 3 / 2%</a:t>
            </a:r>
          </a:p>
        </p:txBody>
      </p:sp>
      <p:sp>
        <p:nvSpPr>
          <p:cNvPr id="15" name="">
            <a:extLst xmlns:a="http://schemas.openxmlformats.org/drawingml/2006/main">
              <a:ext uri="{FF2B5EF4-FFF2-40B4-BE49-F238E27FC236}">
                <a16:creationId xmlns:a16="http://schemas.microsoft.com/office/drawing/2014/main" id="{02AA1ECE-13B7-419D-8399-4E1C0E82CA3A}"/>
              </a:ext>
            </a:extLst>
          </p:cNvPr>
          <p:cNvSpPr>
            <a:spLocks xmlns:a="http://schemas.openxmlformats.org/drawingml/2006/main" noGrp="1"/>
          </p:cNvSpPr>
          <p:nvPr/>
        </p:nvSpPr>
        <p:spPr>
          <a:xfrm xmlns:a="http://schemas.openxmlformats.org/drawingml/2006/main">
            <a:off x="571500" y="386715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REGIME DE COLOCAÇÃO · NÚMERO DE OFERTAS</a:t>
            </a:r>
          </a:p>
        </p:txBody>
      </p:sp>
      <p:sp>
        <p:nvSpPr>
          <p:cNvPr id="16" name="">
            <a:extLst xmlns:a="http://schemas.openxmlformats.org/drawingml/2006/main">
              <a:ext uri="{FF2B5EF4-FFF2-40B4-BE49-F238E27FC236}">
                <a16:creationId xmlns:a16="http://schemas.microsoft.com/office/drawing/2014/main" id="{03ED434B-4DCE-4A11-9DEA-82F518BBF246}"/>
              </a:ext>
            </a:extLst>
          </p:cNvPr>
          <p:cNvSpPr>
            <a:spLocks xmlns:a="http://schemas.openxmlformats.org/drawingml/2006/main" noGrp="1"/>
          </p:cNvSpPr>
          <p:nvPr/>
        </p:nvSpPr>
        <p:spPr>
          <a:xfrm xmlns:a="http://schemas.openxmlformats.org/drawingml/2006/main">
            <a:off x="571500" y="413385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37" name="Chart"/>
          <p:cNvGraphicFramePr/>
          <p:nvPr/>
        </p:nvGraphicFramePr>
        <p:xfrm>
          <a:off xmlns:a="http://schemas.openxmlformats.org/drawingml/2006/main" x="571500" y="4171950"/>
          <a:ext xmlns:a="http://schemas.openxmlformats.org/drawingml/2006/main" cx="5286375" cy="1857375"/>
        </p:xfrm>
        <a:graphic xmlns:a="http://schemas.openxmlformats.org/drawingml/2006/main">
          <a:graphicData uri="http://schemas.openxmlformats.org/drawingml/2006/chart">
            <c:chart xmlns:r="http://schemas.openxmlformats.org/officeDocument/2006/relationships" xmlns:c="http://schemas.openxmlformats.org/drawingml/2006/chart" r:id="R4ba370a0bc6b438c"/>
          </a:graphicData>
        </a:graphic>
      </p:graphicFrame>
      <p:sp>
        <p:nvSpPr>
          <p:cNvPr id="18" name="">
            <a:extLst xmlns:a="http://schemas.openxmlformats.org/drawingml/2006/main">
              <a:ext uri="{FF2B5EF4-FFF2-40B4-BE49-F238E27FC236}">
                <a16:creationId xmlns:a16="http://schemas.microsoft.com/office/drawing/2014/main" id="{0427AFA3-263D-42E4-B4B1-85D64D35AB04}"/>
              </a:ext>
            </a:extLst>
          </p:cNvPr>
          <p:cNvSpPr>
            <a:spLocks xmlns:a="http://schemas.openxmlformats.org/drawingml/2006/main" noGrp="1"/>
          </p:cNvSpPr>
          <p:nvPr/>
        </p:nvSpPr>
        <p:spPr>
          <a:xfrm xmlns:a="http://schemas.openxmlformats.org/drawingml/2006/main">
            <a:off x="6334125" y="386715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REGIME DE COLOCAÇÃO · VOLUME · R$ BI</a:t>
            </a:r>
          </a:p>
        </p:txBody>
      </p:sp>
      <p:sp>
        <p:nvSpPr>
          <p:cNvPr id="19" name="">
            <a:extLst xmlns:a="http://schemas.openxmlformats.org/drawingml/2006/main">
              <a:ext uri="{FF2B5EF4-FFF2-40B4-BE49-F238E27FC236}">
                <a16:creationId xmlns:a16="http://schemas.microsoft.com/office/drawing/2014/main" id="{CA88F2FA-1F96-4FF4-AE40-B05C787FB904}"/>
              </a:ext>
            </a:extLst>
          </p:cNvPr>
          <p:cNvSpPr>
            <a:spLocks xmlns:a="http://schemas.openxmlformats.org/drawingml/2006/main" noGrp="1"/>
          </p:cNvSpPr>
          <p:nvPr/>
        </p:nvSpPr>
        <p:spPr>
          <a:xfrm xmlns:a="http://schemas.openxmlformats.org/drawingml/2006/main">
            <a:off x="6334125" y="413385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40" name="Chart"/>
          <p:cNvGraphicFramePr/>
          <p:nvPr/>
        </p:nvGraphicFramePr>
        <p:xfrm>
          <a:off xmlns:a="http://schemas.openxmlformats.org/drawingml/2006/main" x="6334125" y="4171950"/>
          <a:ext xmlns:a="http://schemas.openxmlformats.org/drawingml/2006/main" cx="5286375" cy="1857375"/>
        </p:xfrm>
        <a:graphic xmlns:a="http://schemas.openxmlformats.org/drawingml/2006/main">
          <a:graphicData uri="http://schemas.openxmlformats.org/drawingml/2006/chart">
            <c:chart xmlns:r="http://schemas.openxmlformats.org/officeDocument/2006/relationships" xmlns:c="http://schemas.openxmlformats.org/drawingml/2006/chart" r:id="Rdccb4b265b2d4cb1"/>
          </a:graphicData>
        </a:graphic>
      </p:graphicFrame>
    </p:spTree>
    <p:extLst>
      <p:ext uri="{BB962C8B-B14F-4D97-AF65-F5344CB8AC3E}">
        <p14:creationId xmlns:p14="http://schemas.microsoft.com/office/powerpoint/2010/main" val="196647648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94FB055-4E36-42F9-B8D6-3AA4662737E8}"/>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TOP 15 · OFERTAS ENCERRADAS</a:t>
            </a:r>
          </a:p>
        </p:txBody>
      </p:sp>
      <p:sp>
        <p:nvSpPr>
          <p:cNvPr id="2" name="">
            <a:extLst xmlns:a="http://schemas.openxmlformats.org/drawingml/2006/main">
              <a:ext uri="{FF2B5EF4-FFF2-40B4-BE49-F238E27FC236}">
                <a16:creationId xmlns:a16="http://schemas.microsoft.com/office/drawing/2014/main" id="{87101594-18B3-4CDF-86D7-916F67EB8660}"/>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IBBA participou de 8 das 15 maiores em jan–jun/26; liderou 5</a:t>
            </a:r>
          </a:p>
        </p:txBody>
      </p:sp>
      <p:sp>
        <p:nvSpPr>
          <p:cNvPr id="3" name="">
            <a:extLst xmlns:a="http://schemas.openxmlformats.org/drawingml/2006/main">
              <a:ext uri="{FF2B5EF4-FFF2-40B4-BE49-F238E27FC236}">
                <a16:creationId xmlns:a16="http://schemas.microsoft.com/office/drawing/2014/main" id="{9B37C341-0AEE-4D31-91E5-82AB0EDD2E11}"/>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2F1BA33-F0DE-443F-B5BE-158F471C25C1}"/>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7394451-95B0-400D-BE66-19F57BEFC65E}"/>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CVM/SRE, dois arquivos de ofertas, e FundosNet. Primárias encerradas, todos os ritos; volume registrado.</a:t>
            </a:r>
          </a:p>
        </p:txBody>
      </p:sp>
      <p:sp>
        <p:nvSpPr>
          <p:cNvPr id="6" name="">
            <a:extLst xmlns:a="http://schemas.openxmlformats.org/drawingml/2006/main">
              <a:ext uri="{FF2B5EF4-FFF2-40B4-BE49-F238E27FC236}">
                <a16:creationId xmlns:a16="http://schemas.microsoft.com/office/drawing/2014/main" id="{94A92FF8-98AF-488D-BC15-6006631D9C62}"/>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29</a:t>
            </a:r>
          </a:p>
        </p:txBody>
      </p:sp>
      <p:sp>
        <p:nvSpPr>
          <p:cNvPr id="7" name="">
            <a:extLst xmlns:a="http://schemas.openxmlformats.org/drawingml/2006/main">
              <a:ext uri="{FF2B5EF4-FFF2-40B4-BE49-F238E27FC236}">
                <a16:creationId xmlns:a16="http://schemas.microsoft.com/office/drawing/2014/main" id="{FEFA6BFD-D511-4E8A-8BA8-4DD26F3C89F7}"/>
              </a:ext>
            </a:extLst>
          </p:cNvPr>
          <p:cNvSpPr>
            <a:spLocks xmlns:a="http://schemas.openxmlformats.org/drawingml/2006/main" noGrp="1"/>
          </p:cNvSpPr>
          <p:nvPr/>
        </p:nvSpPr>
        <p:spPr>
          <a:xfrm xmlns:a="http://schemas.openxmlformats.org/drawingml/2006/main">
            <a:off x="571500" y="13144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JAN–JUN/26 · TOP 15</a:t>
            </a:r>
          </a:p>
        </p:txBody>
      </p:sp>
      <p:sp>
        <p:nvSpPr>
          <p:cNvPr id="8" name="">
            <a:extLst xmlns:a="http://schemas.openxmlformats.org/drawingml/2006/main">
              <a:ext uri="{FF2B5EF4-FFF2-40B4-BE49-F238E27FC236}">
                <a16:creationId xmlns:a16="http://schemas.microsoft.com/office/drawing/2014/main" id="{25DF27F2-9DFF-403E-BD13-3A8C2C7EF7DC}"/>
              </a:ext>
            </a:extLst>
          </p:cNvPr>
          <p:cNvSpPr>
            <a:spLocks xmlns:a="http://schemas.openxmlformats.org/drawingml/2006/main" noGrp="1"/>
          </p:cNvSpPr>
          <p:nvPr/>
        </p:nvSpPr>
        <p:spPr>
          <a:xfrm xmlns:a="http://schemas.openxmlformats.org/drawingml/2006/main">
            <a:off x="571500" y="1581150"/>
            <a:ext cx="5334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4" name=""/>
          <p:cNvGraphicFramePr/>
          <p:nvPr/>
        </p:nvGraphicFramePr>
        <p:xfrm>
          <a:off xmlns:a="http://schemas.openxmlformats.org/drawingml/2006/main" x="571500" y="1657350"/>
          <a:ext xmlns:a="http://schemas.openxmlformats.org/drawingml/2006/main" cx="5334000" cy="4191000"/>
        </p:xfrm>
        <a:graphic xmlns:a="http://schemas.openxmlformats.org/drawingml/2006/main">
          <a:graphicData uri="http://schemas.openxmlformats.org/drawingml/2006/table">
            <a:tbl>
              <a:tblPr firstRow="0" firstCol="0" lastRow="0" lastCol="0" bandRow="0" bandCol="0"/>
              <a:tblGrid>
                <a:gridCol w="209550"/>
                <a:gridCol w="1000125"/>
                <a:gridCol w="571500"/>
                <a:gridCol w="400050"/>
                <a:gridCol w="571500"/>
                <a:gridCol w="285750"/>
                <a:gridCol w="247650"/>
                <a:gridCol w="428625"/>
                <a:gridCol w="704850"/>
                <a:gridCol w="914400"/>
              </a:tblGrid>
              <a:tr h="323850">
                <a:tc>
                  <a:txBody>
                    <a:bodyPr wrap="square" anchor="ctr">
                      <a:normAutofit/>
                    </a:bodyPr>
                    <a:lstStyle/>
                    <a:p>
                      <a:pPr algn="r"/>
                      <a:r>
                        <a:rPr sz="435" b="1">
                          <a:solidFill>
                            <a:srgbClr val="FFFFFF"/>
                          </a:solidFill>
                          <a:latin typeface="Arial"/>
                          <a:ea typeface="Arial"/>
                          <a:cs typeface="Arial"/>
                        </a:rPr>
                        <a:t>#</a:t>
                      </a:r>
                    </a:p>
                  </a:txBody>
                  <a:tcPr marL="47625" marR="47625" marT="19050" marB="19050" anchor="ctr">
                    <a:solidFill>
                      <a:srgbClr val="151515"/>
                    </a:solidFill>
                  </a:tcPr>
                </a:tc>
                <a:tc>
                  <a:txBody>
                    <a:bodyPr wrap="square" anchor="ctr">
                      <a:normAutofit/>
                    </a:bodyPr>
                    <a:lstStyle/>
                    <a:p>
                      <a:pPr algn="l"/>
                      <a:r>
                        <a:rPr sz="435" b="1">
                          <a:solidFill>
                            <a:srgbClr val="FFFFFF"/>
                          </a:solidFill>
                          <a:latin typeface="Arial"/>
                          <a:ea typeface="Arial"/>
                          <a:cs typeface="Arial"/>
                        </a:rPr>
                        <a:t>FIDC</a:t>
                      </a:r>
                    </a:p>
                  </a:txBody>
                  <a:tcPr marL="47625" marR="47625" marT="19050" marB="19050" anchor="ctr">
                    <a:solidFill>
                      <a:srgbClr val="151515"/>
                    </a:solidFill>
                  </a:tcPr>
                </a:tc>
                <a:tc>
                  <a:txBody>
                    <a:bodyPr wrap="square" anchor="ctr">
                      <a:normAutofit/>
                    </a:bodyPr>
                    <a:lstStyle/>
                    <a:p>
                      <a:pPr algn="l"/>
                      <a:r>
                        <a:rPr sz="435" b="1">
                          <a:solidFill>
                            <a:srgbClr val="FFFFFF"/>
                          </a:solidFill>
                          <a:latin typeface="Arial"/>
                          <a:ea typeface="Arial"/>
                          <a:cs typeface="Arial"/>
                        </a:rPr>
                        <a:t>Originador</a:t>
                      </a:r>
                    </a:p>
                  </a:txBody>
                  <a:tcPr marL="47625" marR="47625" marT="19050" marB="19050" anchor="ctr">
                    <a:solidFill>
                      <a:srgbClr val="151515"/>
                    </a:solidFill>
                  </a:tcPr>
                </a:tc>
                <a:tc>
                  <a:txBody>
                    <a:bodyPr wrap="square" anchor="ctr">
                      <a:normAutofit/>
                    </a:bodyPr>
                    <a:lstStyle/>
                    <a:p>
                      <a:pPr algn="r"/>
                      <a:r>
                        <a:rPr sz="435" b="1">
                          <a:solidFill>
                            <a:srgbClr val="FFFFFF"/>
                          </a:solidFill>
                          <a:latin typeface="Arial"/>
                          <a:ea typeface="Arial"/>
                          <a:cs typeface="Arial"/>
                        </a:rPr>
                        <a:t>R$ bi</a:t>
                      </a:r>
                    </a:p>
                  </a:txBody>
                  <a:tcPr marL="47625" marR="47625" marT="19050" marB="19050" anchor="ctr">
                    <a:solidFill>
                      <a:srgbClr val="151515"/>
                    </a:solidFill>
                  </a:tcPr>
                </a:tc>
                <a:tc>
                  <a:txBody>
                    <a:bodyPr wrap="square" anchor="ctr">
                      <a:normAutofit/>
                    </a:bodyPr>
                    <a:lstStyle/>
                    <a:p>
                      <a:pPr algn="l"/>
                      <a:r>
                        <a:rPr sz="435" b="1">
                          <a:solidFill>
                            <a:srgbClr val="FFFFFF"/>
                          </a:solidFill>
                          <a:latin typeface="Arial"/>
                          <a:ea typeface="Arial"/>
                          <a:cs typeface="Arial"/>
                        </a:rPr>
                        <a:t>Coord. líder</a:t>
                      </a:r>
                    </a:p>
                  </a:txBody>
                  <a:tcPr marL="47625" marR="47625" marT="19050" marB="19050" anchor="ctr">
                    <a:solidFill>
                      <a:srgbClr val="151515"/>
                    </a:solidFill>
                  </a:tcPr>
                </a:tc>
                <a:tc>
                  <a:txBody>
                    <a:bodyPr wrap="square" anchor="ctr">
                      <a:normAutofit/>
                    </a:bodyPr>
                    <a:lstStyle/>
                    <a:p>
                      <a:pPr algn="ctr"/>
                      <a:r>
                        <a:rPr sz="435" b="1">
                          <a:solidFill>
                            <a:srgbClr val="FFFFFF"/>
                          </a:solidFill>
                          <a:latin typeface="Arial"/>
                          <a:ea typeface="Arial"/>
                          <a:cs typeface="Arial"/>
                        </a:rPr>
                        <a:t>IBBA</a:t>
                      </a:r>
                    </a:p>
                  </a:txBody>
                  <a:tcPr marL="47625" marR="47625" marT="19050" marB="19050" anchor="ctr">
                    <a:solidFill>
                      <a:srgbClr val="151515"/>
                    </a:solidFill>
                  </a:tcPr>
                </a:tc>
                <a:tc>
                  <a:txBody>
                    <a:bodyPr wrap="square" anchor="ctr">
                      <a:normAutofit/>
                    </a:bodyPr>
                    <a:lstStyle/>
                    <a:p>
                      <a:pPr algn="ctr"/>
                      <a:r>
                        <a:rPr sz="435" b="1">
                          <a:solidFill>
                            <a:srgbClr val="FFFFFF"/>
                          </a:solidFill>
                          <a:latin typeface="Arial"/>
                          <a:ea typeface="Arial"/>
                          <a:cs typeface="Arial"/>
                        </a:rPr>
                        <a:t>GF</a:t>
                      </a:r>
                    </a:p>
                  </a:txBody>
                  <a:tcPr marL="47625" marR="47625" marT="19050" marB="19050" anchor="ctr">
                    <a:solidFill>
                      <a:srgbClr val="151515"/>
                    </a:solidFill>
                  </a:tcPr>
                </a:tc>
                <a:tc>
                  <a:txBody>
                    <a:bodyPr wrap="square" anchor="ctr">
                      <a:normAutofit/>
                    </a:bodyPr>
                    <a:lstStyle/>
                    <a:p>
                      <a:pPr algn="l"/>
                      <a:r>
                        <a:rPr sz="435" b="1">
                          <a:solidFill>
                            <a:srgbClr val="FFFFFF"/>
                          </a:solidFill>
                          <a:latin typeface="Arial"/>
                          <a:ea typeface="Arial"/>
                          <a:cs typeface="Arial"/>
                        </a:rPr>
                        <a:t>Público</a:t>
                      </a:r>
                    </a:p>
                  </a:txBody>
                  <a:tcPr marL="47625" marR="47625" marT="19050" marB="19050" anchor="ctr">
                    <a:solidFill>
                      <a:srgbClr val="151515"/>
                    </a:solidFill>
                  </a:tcPr>
                </a:tc>
                <a:tc>
                  <a:txBody>
                    <a:bodyPr wrap="square" anchor="ctr">
                      <a:normAutofit/>
                    </a:bodyPr>
                    <a:lstStyle/>
                    <a:p>
                      <a:pPr algn="l"/>
                      <a:r>
                        <a:rPr sz="435" b="1">
                          <a:solidFill>
                            <a:srgbClr val="FFFFFF"/>
                          </a:solidFill>
                          <a:latin typeface="Arial"/>
                          <a:ea typeface="Arial"/>
                          <a:cs typeface="Arial"/>
                        </a:rPr>
                        <a:t>Agência</a:t>
                      </a:r>
                    </a:p>
                  </a:txBody>
                  <a:tcPr marL="47625" marR="47625" marT="19050" marB="19050" anchor="ctr">
                    <a:solidFill>
                      <a:srgbClr val="151515"/>
                    </a:solidFill>
                  </a:tcPr>
                </a:tc>
                <a:tc>
                  <a:txBody>
                    <a:bodyPr wrap="square" anchor="ctr">
                      <a:normAutofit/>
                    </a:bodyPr>
                    <a:lstStyle/>
                    <a:p>
                      <a:pPr algn="l"/>
                      <a:r>
                        <a:rPr sz="435" b="1">
                          <a:solidFill>
                            <a:srgbClr val="FFFFFF"/>
                          </a:solidFill>
                          <a:latin typeface="Arial"/>
                          <a:ea typeface="Arial"/>
                          <a:cs typeface="Arial"/>
                        </a:rPr>
                        <a:t>Rating</a:t>
                      </a:r>
                    </a:p>
                  </a:txBody>
                  <a:tcPr marL="47625" marR="47625" marT="19050" marB="19050" anchor="ctr">
                    <a:solidFill>
                      <a:srgbClr val="151515"/>
                    </a:solidFill>
                  </a:tcPr>
                </a:tc>
              </a:tr>
              <a:tr h="257810">
                <a:tc>
                  <a:txBody>
                    <a:bodyPr wrap="square" anchor="ctr">
                      <a:normAutofit/>
                    </a:bodyPr>
                    <a:lstStyle/>
                    <a:p>
                      <a:pPr algn="r"/>
                      <a:r>
                        <a:rPr sz="443" b="1">
                          <a:solidFill>
                            <a:srgbClr val="EC7000"/>
                          </a:solidFill>
                          <a:latin typeface="Arial"/>
                          <a:ea typeface="Arial"/>
                          <a:cs typeface="Arial"/>
                        </a:rPr>
                        <a:t>1</a:t>
                      </a:r>
                    </a:p>
                  </a:txBody>
                  <a:tcPr marL="47625" marR="47625" marT="14288" marB="14288" anchor="ctr">
                    <a:solidFill>
                      <a:srgbClr val="FFF1E6"/>
                    </a:solidFill>
                  </a:tcPr>
                </a:tc>
                <a:tc>
                  <a:txBody>
                    <a:bodyPr wrap="square" anchor="ctr">
                      <a:normAutofit/>
                    </a:bodyPr>
                    <a:lstStyle/>
                    <a:p>
                      <a:pPr algn="l"/>
                      <a:r>
                        <a:rPr sz="443" b="1">
                          <a:solidFill>
                            <a:srgbClr val="EC7000"/>
                          </a:solidFill>
                          <a:latin typeface="Arial"/>
                          <a:ea typeface="Arial"/>
                          <a:cs typeface="Arial"/>
                        </a:rPr>
                        <a:t>CloudWalk Bela</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CloudWalk</a:t>
                      </a:r>
                    </a:p>
                  </a:txBody>
                  <a:tcPr marL="47625" marR="47625" marT="14288" marB="14288" anchor="ctr">
                    <a:solidFill>
                      <a:srgbClr val="FFF1E6"/>
                    </a:solidFill>
                  </a:tcPr>
                </a:tc>
                <a:tc>
                  <a:txBody>
                    <a:bodyPr wrap="square" anchor="ctr">
                      <a:normAutofit/>
                    </a:bodyPr>
                    <a:lstStyle/>
                    <a:p>
                      <a:pPr algn="r"/>
                      <a:r>
                        <a:rPr sz="443">
                          <a:solidFill>
                            <a:srgbClr val="30353A"/>
                          </a:solidFill>
                          <a:latin typeface="Arial"/>
                          <a:ea typeface="Arial"/>
                          <a:cs typeface="Arial"/>
                        </a:rPr>
                        <a:t>5,50</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BANCO BRADESCO BBI</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Moody's</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(P) AAA.br(sf)</a:t>
                      </a:r>
                    </a:p>
                    <a:p>
                      <a:pPr algn="l"/>
                      <a:r>
                        <a:rPr sz="443">
                          <a:solidFill>
                            <a:srgbClr val="30353A"/>
                          </a:solidFill>
                          <a:latin typeface="Arial"/>
                          <a:ea typeface="Arial"/>
                          <a:cs typeface="Arial"/>
                        </a:rPr>
                        <a:t>(P) AA+.br(sf)</a:t>
                      </a:r>
                    </a:p>
                    <a:p>
                      <a:pPr algn="l"/>
                      <a:r>
                        <a:rPr sz="443">
                          <a:solidFill>
                            <a:srgbClr val="30353A"/>
                          </a:solidFill>
                          <a:latin typeface="Arial"/>
                          <a:ea typeface="Arial"/>
                          <a:cs typeface="Arial"/>
                        </a:rPr>
                        <a:t>(P) BBB.br(sf)</a:t>
                      </a:r>
                    </a:p>
                  </a:txBody>
                  <a:tcPr marL="47625" marR="47625" marT="14288" marB="14288" anchor="ctr">
                    <a:solidFill>
                      <a:srgbClr val="FFF1E6"/>
                    </a:solidFill>
                  </a:tcPr>
                </a:tc>
              </a:tr>
              <a:tr h="257810">
                <a:tc>
                  <a:txBody>
                    <a:bodyPr wrap="square" anchor="ctr">
                      <a:normAutofit/>
                    </a:bodyPr>
                    <a:lstStyle/>
                    <a:p>
                      <a:pPr algn="r"/>
                      <a:r>
                        <a:rPr sz="443" b="1">
                          <a:solidFill>
                            <a:srgbClr val="EC7000"/>
                          </a:solidFill>
                          <a:latin typeface="Arial"/>
                          <a:ea typeface="Arial"/>
                          <a:cs typeface="Arial"/>
                        </a:rPr>
                        <a:t>2</a:t>
                      </a:r>
                    </a:p>
                  </a:txBody>
                  <a:tcPr marL="47625" marR="47625" marT="14288" marB="14288" anchor="ctr">
                    <a:solidFill>
                      <a:srgbClr val="FFF1E6"/>
                    </a:solidFill>
                  </a:tcPr>
                </a:tc>
                <a:tc>
                  <a:txBody>
                    <a:bodyPr wrap="square" anchor="ctr">
                      <a:normAutofit/>
                    </a:bodyPr>
                    <a:lstStyle/>
                    <a:p>
                      <a:pPr algn="l"/>
                      <a:r>
                        <a:rPr sz="443" b="1">
                          <a:solidFill>
                            <a:srgbClr val="EC7000"/>
                          </a:solidFill>
                          <a:latin typeface="Arial"/>
                          <a:ea typeface="Arial"/>
                          <a:cs typeface="Arial"/>
                        </a:rPr>
                        <a:t>VTK</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Não identificado</a:t>
                      </a:r>
                    </a:p>
                  </a:txBody>
                  <a:tcPr marL="47625" marR="47625" marT="14288" marB="14288" anchor="ctr">
                    <a:solidFill>
                      <a:srgbClr val="FFF1E6"/>
                    </a:solidFill>
                  </a:tcPr>
                </a:tc>
                <a:tc>
                  <a:txBody>
                    <a:bodyPr wrap="square" anchor="ctr">
                      <a:normAutofit/>
                    </a:bodyPr>
                    <a:lstStyle/>
                    <a:p>
                      <a:pPr algn="r"/>
                      <a:r>
                        <a:rPr sz="443">
                          <a:solidFill>
                            <a:srgbClr val="30353A"/>
                          </a:solidFill>
                          <a:latin typeface="Arial"/>
                          <a:ea typeface="Arial"/>
                          <a:cs typeface="Arial"/>
                        </a:rPr>
                        <a:t>2,85</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ITAU BBA</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1E6"/>
                    </a:solidFill>
                  </a:tcPr>
                </a:tc>
              </a:tr>
              <a:tr h="257810">
                <a:tc>
                  <a:txBody>
                    <a:bodyPr wrap="square" anchor="ctr">
                      <a:normAutofit/>
                    </a:bodyPr>
                    <a:lstStyle/>
                    <a:p>
                      <a:pPr algn="r"/>
                      <a:r>
                        <a:rPr sz="443" b="1">
                          <a:solidFill>
                            <a:srgbClr val="EC7000"/>
                          </a:solidFill>
                          <a:latin typeface="Arial"/>
                          <a:ea typeface="Arial"/>
                          <a:cs typeface="Arial"/>
                        </a:rPr>
                        <a:t>3</a:t>
                      </a:r>
                    </a:p>
                  </a:txBody>
                  <a:tcPr marL="47625" marR="47625" marT="14288" marB="14288" anchor="ctr">
                    <a:solidFill>
                      <a:srgbClr val="FFF1E6"/>
                    </a:solidFill>
                  </a:tcPr>
                </a:tc>
                <a:tc>
                  <a:txBody>
                    <a:bodyPr wrap="square" anchor="ctr">
                      <a:normAutofit/>
                    </a:bodyPr>
                    <a:lstStyle/>
                    <a:p>
                      <a:pPr algn="l"/>
                      <a:r>
                        <a:rPr sz="443" b="1">
                          <a:solidFill>
                            <a:srgbClr val="EC7000"/>
                          </a:solidFill>
                          <a:latin typeface="Arial"/>
                          <a:ea typeface="Arial"/>
                          <a:cs typeface="Arial"/>
                        </a:rPr>
                        <a:t>AGIBANK II</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Agibank</a:t>
                      </a:r>
                    </a:p>
                  </a:txBody>
                  <a:tcPr marL="47625" marR="47625" marT="14288" marB="14288" anchor="ctr">
                    <a:solidFill>
                      <a:srgbClr val="FFF1E6"/>
                    </a:solidFill>
                  </a:tcPr>
                </a:tc>
                <a:tc>
                  <a:txBody>
                    <a:bodyPr wrap="square" anchor="ctr">
                      <a:normAutofit/>
                    </a:bodyPr>
                    <a:lstStyle/>
                    <a:p>
                      <a:pPr algn="r"/>
                      <a:r>
                        <a:rPr sz="443">
                          <a:solidFill>
                            <a:srgbClr val="30353A"/>
                          </a:solidFill>
                          <a:latin typeface="Arial"/>
                          <a:ea typeface="Arial"/>
                          <a:cs typeface="Arial"/>
                        </a:rPr>
                        <a:t>2,50</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BANCO BRADESCO BBI</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Moody's</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AAA.br(sf)</a:t>
                      </a:r>
                    </a:p>
                  </a:txBody>
                  <a:tcPr marL="47625" marR="47625" marT="14288" marB="14288" anchor="ctr">
                    <a:solidFill>
                      <a:srgbClr val="FFF1E6"/>
                    </a:solidFill>
                  </a:tcPr>
                </a:tc>
              </a:tr>
              <a:tr h="257810">
                <a:tc>
                  <a:txBody>
                    <a:bodyPr wrap="square" anchor="ctr">
                      <a:normAutofit/>
                    </a:bodyPr>
                    <a:lstStyle/>
                    <a:p>
                      <a:pPr algn="r"/>
                      <a:r>
                        <a:rPr sz="443" b="1">
                          <a:solidFill>
                            <a:srgbClr val="EC7000"/>
                          </a:solidFill>
                          <a:latin typeface="Arial"/>
                          <a:ea typeface="Arial"/>
                          <a:cs typeface="Arial"/>
                        </a:rPr>
                        <a:t>4</a:t>
                      </a:r>
                    </a:p>
                  </a:txBody>
                  <a:tcPr marL="47625" marR="47625" marT="14288" marB="14288" anchor="ctr">
                    <a:solidFill>
                      <a:srgbClr val="FFF1E6"/>
                    </a:solidFill>
                  </a:tcPr>
                </a:tc>
                <a:tc>
                  <a:txBody>
                    <a:bodyPr wrap="square" anchor="ctr">
                      <a:normAutofit/>
                    </a:bodyPr>
                    <a:lstStyle/>
                    <a:p>
                      <a:pPr algn="l"/>
                      <a:r>
                        <a:rPr sz="443" b="1">
                          <a:solidFill>
                            <a:srgbClr val="EC7000"/>
                          </a:solidFill>
                          <a:latin typeface="Arial"/>
                          <a:ea typeface="Arial"/>
                          <a:cs typeface="Arial"/>
                        </a:rPr>
                        <a:t>DRIVER BRASIL SIX BANCO VOLKSWAGEN FINANCIAMENTO VEÍCULOS</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Banco Volkswagen</a:t>
                      </a:r>
                    </a:p>
                  </a:txBody>
                  <a:tcPr marL="47625" marR="47625" marT="14288" marB="14288" anchor="ctr">
                    <a:solidFill>
                      <a:srgbClr val="FFF1E6"/>
                    </a:solidFill>
                  </a:tcPr>
                </a:tc>
                <a:tc>
                  <a:txBody>
                    <a:bodyPr wrap="square" anchor="ctr">
                      <a:normAutofit/>
                    </a:bodyPr>
                    <a:lstStyle/>
                    <a:p>
                      <a:pPr algn="r"/>
                      <a:r>
                        <a:rPr sz="443">
                          <a:solidFill>
                            <a:srgbClr val="30353A"/>
                          </a:solidFill>
                          <a:latin typeface="Arial"/>
                          <a:ea typeface="Arial"/>
                          <a:cs typeface="Arial"/>
                        </a:rPr>
                        <a:t>2,00</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BANCO BRADESCO BBI</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Moody's</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AAA.br(sf)</a:t>
                      </a:r>
                    </a:p>
                  </a:txBody>
                  <a:tcPr marL="47625" marR="47625" marT="14288" marB="14288" anchor="ctr">
                    <a:solidFill>
                      <a:srgbClr val="FFF1E6"/>
                    </a:solidFill>
                  </a:tcPr>
                </a:tc>
              </a:tr>
              <a:tr h="257810">
                <a:tc>
                  <a:txBody>
                    <a:bodyPr wrap="square" anchor="ctr">
                      <a:normAutofit/>
                    </a:bodyPr>
                    <a:lstStyle/>
                    <a:p>
                      <a:pPr algn="r"/>
                      <a:r>
                        <a:rPr sz="443">
                          <a:solidFill>
                            <a:srgbClr val="30353A"/>
                          </a:solidFill>
                          <a:latin typeface="Arial"/>
                          <a:ea typeface="Arial"/>
                          <a:cs typeface="Arial"/>
                        </a:rPr>
                        <a:t>5</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SELLER 3 MEIOS PAGAMENTO</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Mercado Pago / Mercado</a:t>
                      </a:r>
                    </a:p>
                  </a:txBody>
                  <a:tcPr marL="47625" marR="47625" marT="14288" marB="14288" anchor="ctr">
                    <a:solidFill>
                      <a:srgbClr val="FFFFFF"/>
                    </a:solidFill>
                  </a:tcPr>
                </a:tc>
                <a:tc>
                  <a:txBody>
                    <a:bodyPr wrap="square" anchor="ctr">
                      <a:normAutofit/>
                    </a:bodyPr>
                    <a:lstStyle/>
                    <a:p>
                      <a:pPr algn="r"/>
                      <a:r>
                        <a:rPr sz="443">
                          <a:solidFill>
                            <a:srgbClr val="30353A"/>
                          </a:solidFill>
                          <a:latin typeface="Arial"/>
                          <a:ea typeface="Arial"/>
                          <a:cs typeface="Arial"/>
                        </a:rPr>
                        <a:t>1,50</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UBS BB Corretora</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Austin</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brAAA(sf)</a:t>
                      </a:r>
                    </a:p>
                  </a:txBody>
                  <a:tcPr marL="47625" marR="47625" marT="14288" marB="14288" anchor="ctr">
                    <a:solidFill>
                      <a:srgbClr val="FFFFFF"/>
                    </a:solidFill>
                  </a:tcPr>
                </a:tc>
              </a:tr>
              <a:tr h="257810">
                <a:tc>
                  <a:txBody>
                    <a:bodyPr wrap="square" anchor="ctr">
                      <a:normAutofit/>
                    </a:bodyPr>
                    <a:lstStyle/>
                    <a:p>
                      <a:pPr algn="r"/>
                      <a:r>
                        <a:rPr sz="443" b="1">
                          <a:solidFill>
                            <a:srgbClr val="EC7000"/>
                          </a:solidFill>
                          <a:latin typeface="Arial"/>
                          <a:ea typeface="Arial"/>
                          <a:cs typeface="Arial"/>
                        </a:rPr>
                        <a:t>6</a:t>
                      </a:r>
                    </a:p>
                  </a:txBody>
                  <a:tcPr marL="47625" marR="47625" marT="14288" marB="14288" anchor="ctr">
                    <a:solidFill>
                      <a:srgbClr val="FFF1E6"/>
                    </a:solidFill>
                  </a:tcPr>
                </a:tc>
                <a:tc>
                  <a:txBody>
                    <a:bodyPr wrap="square" anchor="ctr">
                      <a:normAutofit/>
                    </a:bodyPr>
                    <a:lstStyle/>
                    <a:p>
                      <a:pPr algn="l"/>
                      <a:r>
                        <a:rPr sz="443" b="1">
                          <a:solidFill>
                            <a:srgbClr val="EC7000"/>
                          </a:solidFill>
                          <a:latin typeface="Arial"/>
                          <a:ea typeface="Arial"/>
                          <a:cs typeface="Arial"/>
                        </a:rPr>
                        <a:t>Pine INSS III</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Banco Pine</a:t>
                      </a:r>
                    </a:p>
                  </a:txBody>
                  <a:tcPr marL="47625" marR="47625" marT="14288" marB="14288" anchor="ctr">
                    <a:solidFill>
                      <a:srgbClr val="FFF1E6"/>
                    </a:solidFill>
                  </a:tcPr>
                </a:tc>
                <a:tc>
                  <a:txBody>
                    <a:bodyPr wrap="square" anchor="ctr">
                      <a:normAutofit/>
                    </a:bodyPr>
                    <a:lstStyle/>
                    <a:p>
                      <a:pPr algn="r"/>
                      <a:r>
                        <a:rPr sz="443">
                          <a:solidFill>
                            <a:srgbClr val="30353A"/>
                          </a:solidFill>
                          <a:latin typeface="Arial"/>
                          <a:ea typeface="Arial"/>
                          <a:cs typeface="Arial"/>
                        </a:rPr>
                        <a:t>1,25</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ITAU BBA</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1E6"/>
                    </a:solidFill>
                  </a:tcPr>
                </a:tc>
              </a:tr>
              <a:tr h="257810">
                <a:tc>
                  <a:txBody>
                    <a:bodyPr wrap="square" anchor="ctr">
                      <a:normAutofit/>
                    </a:bodyPr>
                    <a:lstStyle/>
                    <a:p>
                      <a:pPr algn="r"/>
                      <a:r>
                        <a:rPr sz="443">
                          <a:solidFill>
                            <a:srgbClr val="30353A"/>
                          </a:solidFill>
                          <a:latin typeface="Arial"/>
                          <a:ea typeface="Arial"/>
                          <a:cs typeface="Arial"/>
                        </a:rPr>
                        <a:t>7</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INVESTIMENTOS PICPAY FGTS II</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PicPay</a:t>
                      </a:r>
                    </a:p>
                  </a:txBody>
                  <a:tcPr marL="47625" marR="47625" marT="14288" marB="14288" anchor="ctr">
                    <a:solidFill>
                      <a:srgbClr val="FFFFFF"/>
                    </a:solidFill>
                  </a:tcPr>
                </a:tc>
                <a:tc>
                  <a:txBody>
                    <a:bodyPr wrap="square" anchor="ctr">
                      <a:normAutofit/>
                    </a:bodyPr>
                    <a:lstStyle/>
                    <a:p>
                      <a:pPr algn="r"/>
                      <a:r>
                        <a:rPr sz="443">
                          <a:solidFill>
                            <a:srgbClr val="30353A"/>
                          </a:solidFill>
                          <a:latin typeface="Arial"/>
                          <a:ea typeface="Arial"/>
                          <a:cs typeface="Arial"/>
                        </a:rPr>
                        <a:t>1,25</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ABC BRASIL S.A</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Moody's</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(P) AAA.br(sf)</a:t>
                      </a:r>
                    </a:p>
                  </a:txBody>
                  <a:tcPr marL="47625" marR="47625" marT="14288" marB="14288" anchor="ctr">
                    <a:solidFill>
                      <a:srgbClr val="FFFFFF"/>
                    </a:solidFill>
                  </a:tcPr>
                </a:tc>
              </a:tr>
              <a:tr h="257810">
                <a:tc>
                  <a:txBody>
                    <a:bodyPr wrap="square" anchor="ctr">
                      <a:normAutofit/>
                    </a:bodyPr>
                    <a:lstStyle/>
                    <a:p>
                      <a:pPr algn="r"/>
                      <a:r>
                        <a:rPr sz="443">
                          <a:solidFill>
                            <a:srgbClr val="30353A"/>
                          </a:solidFill>
                          <a:latin typeface="Arial"/>
                          <a:ea typeface="Arial"/>
                          <a:cs typeface="Arial"/>
                        </a:rPr>
                        <a:t>8</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ICRED INSS II</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ICred</a:t>
                      </a:r>
                    </a:p>
                  </a:txBody>
                  <a:tcPr marL="47625" marR="47625" marT="14288" marB="14288" anchor="ctr">
                    <a:solidFill>
                      <a:srgbClr val="F5F6F7"/>
                    </a:solidFill>
                  </a:tcPr>
                </a:tc>
                <a:tc>
                  <a:txBody>
                    <a:bodyPr wrap="square" anchor="ctr">
                      <a:normAutofit/>
                    </a:bodyPr>
                    <a:lstStyle/>
                    <a:p>
                      <a:pPr algn="r"/>
                      <a:r>
                        <a:rPr sz="443">
                          <a:solidFill>
                            <a:srgbClr val="30353A"/>
                          </a:solidFill>
                          <a:latin typeface="Arial"/>
                          <a:ea typeface="Arial"/>
                          <a:cs typeface="Arial"/>
                        </a:rPr>
                        <a:t>1,02</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XP INVESTIMENTOS</a:t>
                      </a:r>
                    </a:p>
                  </a:txBody>
                  <a:tcPr marL="47625" marR="47625" marT="14288" marB="14288" anchor="ctr">
                    <a:solidFill>
                      <a:srgbClr val="F5F6F7"/>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5F6F7"/>
                    </a:solidFill>
                  </a:tcPr>
                </a:tc>
              </a:tr>
              <a:tr h="257810">
                <a:tc>
                  <a:txBody>
                    <a:bodyPr wrap="square" anchor="ctr">
                      <a:normAutofit/>
                    </a:bodyPr>
                    <a:lstStyle/>
                    <a:p>
                      <a:pPr algn="r"/>
                      <a:r>
                        <a:rPr sz="443">
                          <a:solidFill>
                            <a:srgbClr val="30353A"/>
                          </a:solidFill>
                          <a:latin typeface="Arial"/>
                          <a:ea typeface="Arial"/>
                          <a:cs typeface="Arial"/>
                        </a:rPr>
                        <a:t>9</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JIVEMAUÁ BOSSANOVA CRÉDITO SECURITIZADO II</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Não identificado ·</a:t>
                      </a:r>
                    </a:p>
                  </a:txBody>
                  <a:tcPr marL="47625" marR="47625" marT="14288" marB="14288" anchor="ctr">
                    <a:solidFill>
                      <a:srgbClr val="FFFFFF"/>
                    </a:solidFill>
                  </a:tcPr>
                </a:tc>
                <a:tc>
                  <a:txBody>
                    <a:bodyPr wrap="square" anchor="ctr">
                      <a:normAutofit/>
                    </a:bodyPr>
                    <a:lstStyle/>
                    <a:p>
                      <a:pPr algn="r"/>
                      <a:r>
                        <a:rPr sz="443">
                          <a:solidFill>
                            <a:srgbClr val="30353A"/>
                          </a:solidFill>
                          <a:latin typeface="Arial"/>
                          <a:ea typeface="Arial"/>
                          <a:cs typeface="Arial"/>
                        </a:rPr>
                        <a:t>1,00</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XP INVESTIMENTOS</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Qualif.</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43">
                          <a:solidFill>
                            <a:srgbClr val="30353A"/>
                          </a:solidFill>
                          <a:latin typeface="Arial"/>
                          <a:ea typeface="Arial"/>
                          <a:cs typeface="Arial"/>
                        </a:rPr>
                        <a:t>10</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COMERCIAIS MEDICI I</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Fornecedores de BRF e</a:t>
                      </a:r>
                    </a:p>
                  </a:txBody>
                  <a:tcPr marL="47625" marR="47625" marT="14288" marB="14288" anchor="ctr">
                    <a:solidFill>
                      <a:srgbClr val="F5F6F7"/>
                    </a:solidFill>
                  </a:tcPr>
                </a:tc>
                <a:tc>
                  <a:txBody>
                    <a:bodyPr wrap="square" anchor="ctr">
                      <a:normAutofit/>
                    </a:bodyPr>
                    <a:lstStyle/>
                    <a:p>
                      <a:pPr algn="r"/>
                      <a:r>
                        <a:rPr sz="443">
                          <a:solidFill>
                            <a:srgbClr val="30353A"/>
                          </a:solidFill>
                          <a:latin typeface="Arial"/>
                          <a:ea typeface="Arial"/>
                          <a:cs typeface="Arial"/>
                        </a:rPr>
                        <a:t>1,00</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BANCO BRADESCO BBI</a:t>
                      </a:r>
                    </a:p>
                  </a:txBody>
                  <a:tcPr marL="47625" marR="47625" marT="14288" marB="14288" anchor="ctr">
                    <a:solidFill>
                      <a:srgbClr val="F5F6F7"/>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Fitch</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AAAsf(bra)</a:t>
                      </a:r>
                    </a:p>
                  </a:txBody>
                  <a:tcPr marL="47625" marR="47625" marT="14288" marB="14288" anchor="ctr">
                    <a:solidFill>
                      <a:srgbClr val="F5F6F7"/>
                    </a:solidFill>
                  </a:tcPr>
                </a:tc>
              </a:tr>
              <a:tr h="257810">
                <a:tc>
                  <a:txBody>
                    <a:bodyPr wrap="square" anchor="ctr">
                      <a:normAutofit/>
                    </a:bodyPr>
                    <a:lstStyle/>
                    <a:p>
                      <a:pPr algn="r"/>
                      <a:r>
                        <a:rPr sz="443" b="1">
                          <a:solidFill>
                            <a:srgbClr val="EC7000"/>
                          </a:solidFill>
                          <a:latin typeface="Arial"/>
                          <a:ea typeface="Arial"/>
                          <a:cs typeface="Arial"/>
                        </a:rPr>
                        <a:t>11</a:t>
                      </a:r>
                    </a:p>
                  </a:txBody>
                  <a:tcPr marL="47625" marR="47625" marT="14288" marB="14288" anchor="ctr">
                    <a:solidFill>
                      <a:srgbClr val="FFF1E6"/>
                    </a:solidFill>
                  </a:tcPr>
                </a:tc>
                <a:tc>
                  <a:txBody>
                    <a:bodyPr wrap="square" anchor="ctr">
                      <a:normAutofit/>
                    </a:bodyPr>
                    <a:lstStyle/>
                    <a:p>
                      <a:pPr algn="l"/>
                      <a:r>
                        <a:rPr sz="443" b="1">
                          <a:solidFill>
                            <a:srgbClr val="EC7000"/>
                          </a:solidFill>
                          <a:latin typeface="Arial"/>
                          <a:ea typeface="Arial"/>
                          <a:cs typeface="Arial"/>
                        </a:rPr>
                        <a:t>PagSeguro I</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PagSeguro</a:t>
                      </a:r>
                    </a:p>
                  </a:txBody>
                  <a:tcPr marL="47625" marR="47625" marT="14288" marB="14288" anchor="ctr">
                    <a:solidFill>
                      <a:srgbClr val="FFF1E6"/>
                    </a:solidFill>
                  </a:tcPr>
                </a:tc>
                <a:tc>
                  <a:txBody>
                    <a:bodyPr wrap="square" anchor="ctr">
                      <a:normAutofit/>
                    </a:bodyPr>
                    <a:lstStyle/>
                    <a:p>
                      <a:pPr algn="r"/>
                      <a:r>
                        <a:rPr sz="443">
                          <a:solidFill>
                            <a:srgbClr val="30353A"/>
                          </a:solidFill>
                          <a:latin typeface="Arial"/>
                          <a:ea typeface="Arial"/>
                          <a:cs typeface="Arial"/>
                        </a:rPr>
                        <a:t>1,00</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ITAU BBA</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1E6"/>
                    </a:solidFill>
                  </a:tcPr>
                </a:tc>
              </a:tr>
              <a:tr h="257810">
                <a:tc>
                  <a:txBody>
                    <a:bodyPr wrap="square" anchor="ctr">
                      <a:normAutofit/>
                    </a:bodyPr>
                    <a:lstStyle/>
                    <a:p>
                      <a:pPr algn="r"/>
                      <a:r>
                        <a:rPr sz="443" b="1">
                          <a:solidFill>
                            <a:srgbClr val="EC7000"/>
                          </a:solidFill>
                          <a:latin typeface="Arial"/>
                          <a:ea typeface="Arial"/>
                          <a:cs typeface="Arial"/>
                        </a:rPr>
                        <a:t>12</a:t>
                      </a:r>
                    </a:p>
                  </a:txBody>
                  <a:tcPr marL="47625" marR="47625" marT="14288" marB="14288" anchor="ctr">
                    <a:solidFill>
                      <a:srgbClr val="FFF1E6"/>
                    </a:solidFill>
                  </a:tcPr>
                </a:tc>
                <a:tc>
                  <a:txBody>
                    <a:bodyPr wrap="square" anchor="ctr">
                      <a:normAutofit/>
                    </a:bodyPr>
                    <a:lstStyle/>
                    <a:p>
                      <a:pPr algn="l"/>
                      <a:r>
                        <a:rPr sz="443" b="1">
                          <a:solidFill>
                            <a:srgbClr val="EC7000"/>
                          </a:solidFill>
                          <a:latin typeface="Arial"/>
                          <a:ea typeface="Arial"/>
                          <a:cs typeface="Arial"/>
                        </a:rPr>
                        <a:t>IS GREEN SOLFACIL VII</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Solfácil</a:t>
                      </a:r>
                    </a:p>
                  </a:txBody>
                  <a:tcPr marL="47625" marR="47625" marT="14288" marB="14288" anchor="ctr">
                    <a:solidFill>
                      <a:srgbClr val="FFF1E6"/>
                    </a:solidFill>
                  </a:tcPr>
                </a:tc>
                <a:tc>
                  <a:txBody>
                    <a:bodyPr wrap="square" anchor="ctr">
                      <a:normAutofit/>
                    </a:bodyPr>
                    <a:lstStyle/>
                    <a:p>
                      <a:pPr algn="r"/>
                      <a:r>
                        <a:rPr sz="443">
                          <a:solidFill>
                            <a:srgbClr val="30353A"/>
                          </a:solidFill>
                          <a:latin typeface="Arial"/>
                          <a:ea typeface="Arial"/>
                          <a:cs typeface="Arial"/>
                        </a:rPr>
                        <a:t>0,77</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ITAU BBA</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Moody's</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br_Aa (AA)</a:t>
                      </a:r>
                    </a:p>
                  </a:txBody>
                  <a:tcPr marL="47625" marR="47625" marT="14288" marB="14288" anchor="ctr">
                    <a:solidFill>
                      <a:srgbClr val="FFF1E6"/>
                    </a:solidFill>
                  </a:tcPr>
                </a:tc>
              </a:tr>
              <a:tr h="257810">
                <a:tc>
                  <a:txBody>
                    <a:bodyPr wrap="square" anchor="ctr">
                      <a:normAutofit/>
                    </a:bodyPr>
                    <a:lstStyle/>
                    <a:p>
                      <a:pPr algn="r"/>
                      <a:r>
                        <a:rPr sz="443" b="1">
                          <a:solidFill>
                            <a:srgbClr val="EC7000"/>
                          </a:solidFill>
                          <a:latin typeface="Arial"/>
                          <a:ea typeface="Arial"/>
                          <a:cs typeface="Arial"/>
                        </a:rPr>
                        <a:t>13</a:t>
                      </a:r>
                    </a:p>
                  </a:txBody>
                  <a:tcPr marL="47625" marR="47625" marT="14288" marB="14288" anchor="ctr">
                    <a:solidFill>
                      <a:srgbClr val="FFF1E6"/>
                    </a:solidFill>
                  </a:tcPr>
                </a:tc>
                <a:tc>
                  <a:txBody>
                    <a:bodyPr wrap="square" anchor="ctr">
                      <a:normAutofit/>
                    </a:bodyPr>
                    <a:lstStyle/>
                    <a:p>
                      <a:pPr algn="l"/>
                      <a:r>
                        <a:rPr sz="443" b="1">
                          <a:solidFill>
                            <a:srgbClr val="EC7000"/>
                          </a:solidFill>
                          <a:latin typeface="Arial"/>
                          <a:ea typeface="Arial"/>
                          <a:cs typeface="Arial"/>
                        </a:rPr>
                        <a:t>DAYCOVAL D413</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Não identificado ·</a:t>
                      </a:r>
                    </a:p>
                  </a:txBody>
                  <a:tcPr marL="47625" marR="47625" marT="14288" marB="14288" anchor="ctr">
                    <a:solidFill>
                      <a:srgbClr val="FFF1E6"/>
                    </a:solidFill>
                  </a:tcPr>
                </a:tc>
                <a:tc>
                  <a:txBody>
                    <a:bodyPr wrap="square" anchor="ctr">
                      <a:normAutofit/>
                    </a:bodyPr>
                    <a:lstStyle/>
                    <a:p>
                      <a:pPr algn="r"/>
                      <a:r>
                        <a:rPr sz="443">
                          <a:solidFill>
                            <a:srgbClr val="30353A"/>
                          </a:solidFill>
                          <a:latin typeface="Arial"/>
                          <a:ea typeface="Arial"/>
                          <a:cs typeface="Arial"/>
                        </a:rPr>
                        <a:t>0,75</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ITAU BBA</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Fitch</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AAA(EXP)sf(bra)</a:t>
                      </a:r>
                    </a:p>
                    <a:p>
                      <a:pPr algn="l"/>
                      <a:r>
                        <a:rPr sz="443">
                          <a:solidFill>
                            <a:srgbClr val="30353A"/>
                          </a:solidFill>
                          <a:latin typeface="Arial"/>
                          <a:ea typeface="Arial"/>
                          <a:cs typeface="Arial"/>
                        </a:rPr>
                        <a:t>AA+(EXP)sf(bra)</a:t>
                      </a:r>
                    </a:p>
                  </a:txBody>
                  <a:tcPr marL="47625" marR="47625" marT="14288" marB="14288" anchor="ctr">
                    <a:solidFill>
                      <a:srgbClr val="FFF1E6"/>
                    </a:solidFill>
                  </a:tcPr>
                </a:tc>
              </a:tr>
              <a:tr h="257810">
                <a:tc>
                  <a:txBody>
                    <a:bodyPr wrap="square" anchor="ctr">
                      <a:normAutofit/>
                    </a:bodyPr>
                    <a:lstStyle/>
                    <a:p>
                      <a:pPr algn="r"/>
                      <a:r>
                        <a:rPr sz="443">
                          <a:solidFill>
                            <a:srgbClr val="30353A"/>
                          </a:solidFill>
                          <a:latin typeface="Arial"/>
                          <a:ea typeface="Arial"/>
                          <a:cs typeface="Arial"/>
                        </a:rPr>
                        <a:t>14</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LAVORO FORNECEDORES DO AGRONEGÓCIO</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Lavoro</a:t>
                      </a:r>
                    </a:p>
                  </a:txBody>
                  <a:tcPr marL="47625" marR="47625" marT="14288" marB="14288" anchor="ctr">
                    <a:solidFill>
                      <a:srgbClr val="F5F6F7"/>
                    </a:solidFill>
                  </a:tcPr>
                </a:tc>
                <a:tc>
                  <a:txBody>
                    <a:bodyPr wrap="square" anchor="ctr">
                      <a:normAutofit/>
                    </a:bodyPr>
                    <a:lstStyle/>
                    <a:p>
                      <a:pPr algn="r"/>
                      <a:r>
                        <a:rPr sz="443">
                          <a:solidFill>
                            <a:srgbClr val="30353A"/>
                          </a:solidFill>
                          <a:latin typeface="Arial"/>
                          <a:ea typeface="Arial"/>
                          <a:cs typeface="Arial"/>
                        </a:rPr>
                        <a:t>0,73</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OLIVEIRA TRUST S.A</a:t>
                      </a:r>
                    </a:p>
                  </a:txBody>
                  <a:tcPr marL="47625" marR="47625" marT="14288" marB="14288" anchor="ctr">
                    <a:solidFill>
                      <a:srgbClr val="F5F6F7"/>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5F6F7"/>
                    </a:solidFill>
                  </a:tcPr>
                </a:tc>
              </a:tr>
              <a:tr h="257810">
                <a:tc>
                  <a:txBody>
                    <a:bodyPr wrap="square" anchor="ctr">
                      <a:normAutofit/>
                    </a:bodyPr>
                    <a:lstStyle/>
                    <a:p>
                      <a:pPr algn="r"/>
                      <a:r>
                        <a:rPr sz="443">
                          <a:solidFill>
                            <a:srgbClr val="30353A"/>
                          </a:solidFill>
                          <a:latin typeface="Arial"/>
                          <a:ea typeface="Arial"/>
                          <a:cs typeface="Arial"/>
                        </a:rPr>
                        <a:t>15</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CLASSE ÚNICA AGRO CITI-BAYER</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Bayer</a:t>
                      </a:r>
                    </a:p>
                  </a:txBody>
                  <a:tcPr marL="47625" marR="47625" marT="14288" marB="14288" anchor="ctr">
                    <a:solidFill>
                      <a:srgbClr val="FFFFFF"/>
                    </a:solidFill>
                  </a:tcPr>
                </a:tc>
                <a:tc>
                  <a:txBody>
                    <a:bodyPr wrap="square" anchor="ctr">
                      <a:normAutofit/>
                    </a:bodyPr>
                    <a:lstStyle/>
                    <a:p>
                      <a:pPr algn="r"/>
                      <a:r>
                        <a:rPr sz="443">
                          <a:solidFill>
                            <a:srgbClr val="30353A"/>
                          </a:solidFill>
                          <a:latin typeface="Arial"/>
                          <a:ea typeface="Arial"/>
                          <a:cs typeface="Arial"/>
                        </a:rPr>
                        <a:t>0,70</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VORTX</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89ABE34D-80A4-44C6-A3BD-49823166B5AA}"/>
              </a:ext>
            </a:extLst>
          </p:cNvPr>
          <p:cNvSpPr>
            <a:spLocks xmlns:a="http://schemas.openxmlformats.org/drawingml/2006/main" noGrp="1"/>
          </p:cNvSpPr>
          <p:nvPr/>
        </p:nvSpPr>
        <p:spPr>
          <a:xfrm xmlns:a="http://schemas.openxmlformats.org/drawingml/2006/main">
            <a:off x="6286500" y="13144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2025FY · TOP 15</a:t>
            </a:r>
          </a:p>
        </p:txBody>
      </p:sp>
      <p:sp>
        <p:nvSpPr>
          <p:cNvPr id="11" name="">
            <a:extLst xmlns:a="http://schemas.openxmlformats.org/drawingml/2006/main">
              <a:ext uri="{FF2B5EF4-FFF2-40B4-BE49-F238E27FC236}">
                <a16:creationId xmlns:a16="http://schemas.microsoft.com/office/drawing/2014/main" id="{D3F1A93F-CD85-4576-B3BA-1DFB02F3A356}"/>
              </a:ext>
            </a:extLst>
          </p:cNvPr>
          <p:cNvSpPr>
            <a:spLocks xmlns:a="http://schemas.openxmlformats.org/drawingml/2006/main" noGrp="1"/>
          </p:cNvSpPr>
          <p:nvPr/>
        </p:nvSpPr>
        <p:spPr>
          <a:xfrm xmlns:a="http://schemas.openxmlformats.org/drawingml/2006/main">
            <a:off x="6286500" y="1581150"/>
            <a:ext cx="5334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7" name=""/>
          <p:cNvGraphicFramePr/>
          <p:nvPr/>
        </p:nvGraphicFramePr>
        <p:xfrm>
          <a:off xmlns:a="http://schemas.openxmlformats.org/drawingml/2006/main" x="6286500" y="1657350"/>
          <a:ext xmlns:a="http://schemas.openxmlformats.org/drawingml/2006/main" cx="5334000" cy="4191000"/>
        </p:xfrm>
        <a:graphic xmlns:a="http://schemas.openxmlformats.org/drawingml/2006/main">
          <a:graphicData uri="http://schemas.openxmlformats.org/drawingml/2006/table">
            <a:tbl>
              <a:tblPr firstRow="0" firstCol="0" lastRow="0" lastCol="0" bandRow="0" bandCol="0"/>
              <a:tblGrid>
                <a:gridCol w="209550"/>
                <a:gridCol w="1000125"/>
                <a:gridCol w="571500"/>
                <a:gridCol w="400050"/>
                <a:gridCol w="571500"/>
                <a:gridCol w="285750"/>
                <a:gridCol w="247650"/>
                <a:gridCol w="428625"/>
                <a:gridCol w="704850"/>
                <a:gridCol w="914400"/>
              </a:tblGrid>
              <a:tr h="323850">
                <a:tc>
                  <a:txBody>
                    <a:bodyPr wrap="square" anchor="ctr">
                      <a:normAutofit/>
                    </a:bodyPr>
                    <a:lstStyle/>
                    <a:p>
                      <a:pPr algn="r"/>
                      <a:r>
                        <a:rPr sz="435" b="1">
                          <a:solidFill>
                            <a:srgbClr val="FFFFFF"/>
                          </a:solidFill>
                          <a:latin typeface="Arial"/>
                          <a:ea typeface="Arial"/>
                          <a:cs typeface="Arial"/>
                        </a:rPr>
                        <a:t>#</a:t>
                      </a:r>
                    </a:p>
                  </a:txBody>
                  <a:tcPr marL="47625" marR="47625" marT="19050" marB="19050" anchor="ctr">
                    <a:solidFill>
                      <a:srgbClr val="151515"/>
                    </a:solidFill>
                  </a:tcPr>
                </a:tc>
                <a:tc>
                  <a:txBody>
                    <a:bodyPr wrap="square" anchor="ctr">
                      <a:normAutofit/>
                    </a:bodyPr>
                    <a:lstStyle/>
                    <a:p>
                      <a:pPr algn="l"/>
                      <a:r>
                        <a:rPr sz="435" b="1">
                          <a:solidFill>
                            <a:srgbClr val="FFFFFF"/>
                          </a:solidFill>
                          <a:latin typeface="Arial"/>
                          <a:ea typeface="Arial"/>
                          <a:cs typeface="Arial"/>
                        </a:rPr>
                        <a:t>FIDC</a:t>
                      </a:r>
                    </a:p>
                  </a:txBody>
                  <a:tcPr marL="47625" marR="47625" marT="19050" marB="19050" anchor="ctr">
                    <a:solidFill>
                      <a:srgbClr val="151515"/>
                    </a:solidFill>
                  </a:tcPr>
                </a:tc>
                <a:tc>
                  <a:txBody>
                    <a:bodyPr wrap="square" anchor="ctr">
                      <a:normAutofit/>
                    </a:bodyPr>
                    <a:lstStyle/>
                    <a:p>
                      <a:pPr algn="l"/>
                      <a:r>
                        <a:rPr sz="435" b="1">
                          <a:solidFill>
                            <a:srgbClr val="FFFFFF"/>
                          </a:solidFill>
                          <a:latin typeface="Arial"/>
                          <a:ea typeface="Arial"/>
                          <a:cs typeface="Arial"/>
                        </a:rPr>
                        <a:t>Originador</a:t>
                      </a:r>
                    </a:p>
                  </a:txBody>
                  <a:tcPr marL="47625" marR="47625" marT="19050" marB="19050" anchor="ctr">
                    <a:solidFill>
                      <a:srgbClr val="151515"/>
                    </a:solidFill>
                  </a:tcPr>
                </a:tc>
                <a:tc>
                  <a:txBody>
                    <a:bodyPr wrap="square" anchor="ctr">
                      <a:normAutofit/>
                    </a:bodyPr>
                    <a:lstStyle/>
                    <a:p>
                      <a:pPr algn="r"/>
                      <a:r>
                        <a:rPr sz="435" b="1">
                          <a:solidFill>
                            <a:srgbClr val="FFFFFF"/>
                          </a:solidFill>
                          <a:latin typeface="Arial"/>
                          <a:ea typeface="Arial"/>
                          <a:cs typeface="Arial"/>
                        </a:rPr>
                        <a:t>R$ bi</a:t>
                      </a:r>
                    </a:p>
                  </a:txBody>
                  <a:tcPr marL="47625" marR="47625" marT="19050" marB="19050" anchor="ctr">
                    <a:solidFill>
                      <a:srgbClr val="151515"/>
                    </a:solidFill>
                  </a:tcPr>
                </a:tc>
                <a:tc>
                  <a:txBody>
                    <a:bodyPr wrap="square" anchor="ctr">
                      <a:normAutofit/>
                    </a:bodyPr>
                    <a:lstStyle/>
                    <a:p>
                      <a:pPr algn="l"/>
                      <a:r>
                        <a:rPr sz="435" b="1">
                          <a:solidFill>
                            <a:srgbClr val="FFFFFF"/>
                          </a:solidFill>
                          <a:latin typeface="Arial"/>
                          <a:ea typeface="Arial"/>
                          <a:cs typeface="Arial"/>
                        </a:rPr>
                        <a:t>Coord. líder</a:t>
                      </a:r>
                    </a:p>
                  </a:txBody>
                  <a:tcPr marL="47625" marR="47625" marT="19050" marB="19050" anchor="ctr">
                    <a:solidFill>
                      <a:srgbClr val="151515"/>
                    </a:solidFill>
                  </a:tcPr>
                </a:tc>
                <a:tc>
                  <a:txBody>
                    <a:bodyPr wrap="square" anchor="ctr">
                      <a:normAutofit/>
                    </a:bodyPr>
                    <a:lstStyle/>
                    <a:p>
                      <a:pPr algn="ctr"/>
                      <a:r>
                        <a:rPr sz="435" b="1">
                          <a:solidFill>
                            <a:srgbClr val="FFFFFF"/>
                          </a:solidFill>
                          <a:latin typeface="Arial"/>
                          <a:ea typeface="Arial"/>
                          <a:cs typeface="Arial"/>
                        </a:rPr>
                        <a:t>IBBA</a:t>
                      </a:r>
                    </a:p>
                  </a:txBody>
                  <a:tcPr marL="47625" marR="47625" marT="19050" marB="19050" anchor="ctr">
                    <a:solidFill>
                      <a:srgbClr val="151515"/>
                    </a:solidFill>
                  </a:tcPr>
                </a:tc>
                <a:tc>
                  <a:txBody>
                    <a:bodyPr wrap="square" anchor="ctr">
                      <a:normAutofit/>
                    </a:bodyPr>
                    <a:lstStyle/>
                    <a:p>
                      <a:pPr algn="ctr"/>
                      <a:r>
                        <a:rPr sz="435" b="1">
                          <a:solidFill>
                            <a:srgbClr val="FFFFFF"/>
                          </a:solidFill>
                          <a:latin typeface="Arial"/>
                          <a:ea typeface="Arial"/>
                          <a:cs typeface="Arial"/>
                        </a:rPr>
                        <a:t>GF</a:t>
                      </a:r>
                    </a:p>
                  </a:txBody>
                  <a:tcPr marL="47625" marR="47625" marT="19050" marB="19050" anchor="ctr">
                    <a:solidFill>
                      <a:srgbClr val="151515"/>
                    </a:solidFill>
                  </a:tcPr>
                </a:tc>
                <a:tc>
                  <a:txBody>
                    <a:bodyPr wrap="square" anchor="ctr">
                      <a:normAutofit/>
                    </a:bodyPr>
                    <a:lstStyle/>
                    <a:p>
                      <a:pPr algn="l"/>
                      <a:r>
                        <a:rPr sz="435" b="1">
                          <a:solidFill>
                            <a:srgbClr val="FFFFFF"/>
                          </a:solidFill>
                          <a:latin typeface="Arial"/>
                          <a:ea typeface="Arial"/>
                          <a:cs typeface="Arial"/>
                        </a:rPr>
                        <a:t>Público</a:t>
                      </a:r>
                    </a:p>
                  </a:txBody>
                  <a:tcPr marL="47625" marR="47625" marT="19050" marB="19050" anchor="ctr">
                    <a:solidFill>
                      <a:srgbClr val="151515"/>
                    </a:solidFill>
                  </a:tcPr>
                </a:tc>
                <a:tc>
                  <a:txBody>
                    <a:bodyPr wrap="square" anchor="ctr">
                      <a:normAutofit/>
                    </a:bodyPr>
                    <a:lstStyle/>
                    <a:p>
                      <a:pPr algn="l"/>
                      <a:r>
                        <a:rPr sz="435" b="1">
                          <a:solidFill>
                            <a:srgbClr val="FFFFFF"/>
                          </a:solidFill>
                          <a:latin typeface="Arial"/>
                          <a:ea typeface="Arial"/>
                          <a:cs typeface="Arial"/>
                        </a:rPr>
                        <a:t>Agência</a:t>
                      </a:r>
                    </a:p>
                  </a:txBody>
                  <a:tcPr marL="47625" marR="47625" marT="19050" marB="19050" anchor="ctr">
                    <a:solidFill>
                      <a:srgbClr val="151515"/>
                    </a:solidFill>
                  </a:tcPr>
                </a:tc>
                <a:tc>
                  <a:txBody>
                    <a:bodyPr wrap="square" anchor="ctr">
                      <a:normAutofit/>
                    </a:bodyPr>
                    <a:lstStyle/>
                    <a:p>
                      <a:pPr algn="l"/>
                      <a:r>
                        <a:rPr sz="435" b="1">
                          <a:solidFill>
                            <a:srgbClr val="FFFFFF"/>
                          </a:solidFill>
                          <a:latin typeface="Arial"/>
                          <a:ea typeface="Arial"/>
                          <a:cs typeface="Arial"/>
                        </a:rPr>
                        <a:t>Rating</a:t>
                      </a:r>
                    </a:p>
                  </a:txBody>
                  <a:tcPr marL="47625" marR="47625" marT="19050" marB="19050" anchor="ctr">
                    <a:solidFill>
                      <a:srgbClr val="151515"/>
                    </a:solidFill>
                  </a:tcPr>
                </a:tc>
              </a:tr>
              <a:tr h="257810">
                <a:tc>
                  <a:txBody>
                    <a:bodyPr wrap="square" anchor="ctr">
                      <a:normAutofit/>
                    </a:bodyPr>
                    <a:lstStyle/>
                    <a:p>
                      <a:pPr algn="r"/>
                      <a:r>
                        <a:rPr sz="443">
                          <a:solidFill>
                            <a:srgbClr val="30353A"/>
                          </a:solidFill>
                          <a:latin typeface="Arial"/>
                          <a:ea typeface="Arial"/>
                          <a:cs typeface="Arial"/>
                        </a:rPr>
                        <a:t>1</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AGRO FLEX</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Carteira agro</a:t>
                      </a:r>
                    </a:p>
                  </a:txBody>
                  <a:tcPr marL="47625" marR="47625" marT="14288" marB="14288" anchor="ctr">
                    <a:solidFill>
                      <a:srgbClr val="FFFFFF"/>
                    </a:solidFill>
                  </a:tcPr>
                </a:tc>
                <a:tc>
                  <a:txBody>
                    <a:bodyPr wrap="square" anchor="ctr">
                      <a:normAutofit/>
                    </a:bodyPr>
                    <a:lstStyle/>
                    <a:p>
                      <a:pPr algn="r"/>
                      <a:r>
                        <a:rPr sz="443">
                          <a:solidFill>
                            <a:srgbClr val="30353A"/>
                          </a:solidFill>
                          <a:latin typeface="Arial"/>
                          <a:ea typeface="Arial"/>
                          <a:cs typeface="Arial"/>
                        </a:rPr>
                        <a:t>3,40</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BANCO SANTANDER</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43" b="1">
                          <a:solidFill>
                            <a:srgbClr val="EC7000"/>
                          </a:solidFill>
                          <a:latin typeface="Arial"/>
                          <a:ea typeface="Arial"/>
                          <a:cs typeface="Arial"/>
                        </a:rPr>
                        <a:t>2</a:t>
                      </a:r>
                    </a:p>
                  </a:txBody>
                  <a:tcPr marL="47625" marR="47625" marT="14288" marB="14288" anchor="ctr">
                    <a:solidFill>
                      <a:srgbClr val="FFF1E6"/>
                    </a:solidFill>
                  </a:tcPr>
                </a:tc>
                <a:tc>
                  <a:txBody>
                    <a:bodyPr wrap="square" anchor="ctr">
                      <a:normAutofit/>
                    </a:bodyPr>
                    <a:lstStyle/>
                    <a:p>
                      <a:pPr algn="l"/>
                      <a:r>
                        <a:rPr sz="443" b="1">
                          <a:solidFill>
                            <a:srgbClr val="EC7000"/>
                          </a:solidFill>
                          <a:latin typeface="Arial"/>
                          <a:ea typeface="Arial"/>
                          <a:cs typeface="Arial"/>
                        </a:rPr>
                        <a:t>CW PI</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CloudWalk</a:t>
                      </a:r>
                    </a:p>
                  </a:txBody>
                  <a:tcPr marL="47625" marR="47625" marT="14288" marB="14288" anchor="ctr">
                    <a:solidFill>
                      <a:srgbClr val="FFF1E6"/>
                    </a:solidFill>
                  </a:tcPr>
                </a:tc>
                <a:tc>
                  <a:txBody>
                    <a:bodyPr wrap="square" anchor="ctr">
                      <a:normAutofit/>
                    </a:bodyPr>
                    <a:lstStyle/>
                    <a:p>
                      <a:pPr algn="r"/>
                      <a:r>
                        <a:rPr sz="443">
                          <a:solidFill>
                            <a:srgbClr val="30353A"/>
                          </a:solidFill>
                          <a:latin typeface="Arial"/>
                          <a:ea typeface="Arial"/>
                          <a:cs typeface="Arial"/>
                        </a:rPr>
                        <a:t>3,14</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ITAU BBA</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Moody's</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AAA.br(sf)</a:t>
                      </a:r>
                    </a:p>
                    <a:p>
                      <a:pPr algn="l"/>
                      <a:r>
                        <a:rPr sz="443">
                          <a:solidFill>
                            <a:srgbClr val="30353A"/>
                          </a:solidFill>
                          <a:latin typeface="Arial"/>
                          <a:ea typeface="Arial"/>
                          <a:cs typeface="Arial"/>
                        </a:rPr>
                        <a:t>AA+.br(sf)</a:t>
                      </a:r>
                    </a:p>
                  </a:txBody>
                  <a:tcPr marL="47625" marR="47625" marT="14288" marB="14288" anchor="ctr">
                    <a:solidFill>
                      <a:srgbClr val="FFF1E6"/>
                    </a:solidFill>
                  </a:tcPr>
                </a:tc>
              </a:tr>
              <a:tr h="257810">
                <a:tc>
                  <a:txBody>
                    <a:bodyPr wrap="square" anchor="ctr">
                      <a:normAutofit/>
                    </a:bodyPr>
                    <a:lstStyle/>
                    <a:p>
                      <a:pPr algn="r"/>
                      <a:r>
                        <a:rPr sz="443">
                          <a:solidFill>
                            <a:srgbClr val="30353A"/>
                          </a:solidFill>
                          <a:latin typeface="Arial"/>
                          <a:ea typeface="Arial"/>
                          <a:cs typeface="Arial"/>
                        </a:rPr>
                        <a:t>3</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SANTANDER AUTO LOANS I FINANCEIRO</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Banco Santander</a:t>
                      </a:r>
                    </a:p>
                  </a:txBody>
                  <a:tcPr marL="47625" marR="47625" marT="14288" marB="14288" anchor="ctr">
                    <a:solidFill>
                      <a:srgbClr val="FFFFFF"/>
                    </a:solidFill>
                  </a:tcPr>
                </a:tc>
                <a:tc>
                  <a:txBody>
                    <a:bodyPr wrap="square" anchor="ctr">
                      <a:normAutofit/>
                    </a:bodyPr>
                    <a:lstStyle/>
                    <a:p>
                      <a:pPr algn="r"/>
                      <a:r>
                        <a:rPr sz="443">
                          <a:solidFill>
                            <a:srgbClr val="30353A"/>
                          </a:solidFill>
                          <a:latin typeface="Arial"/>
                          <a:ea typeface="Arial"/>
                          <a:cs typeface="Arial"/>
                        </a:rPr>
                        <a:t>3,00</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BANCO SANTANDER</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43" b="1">
                          <a:solidFill>
                            <a:srgbClr val="EC7000"/>
                          </a:solidFill>
                          <a:latin typeface="Arial"/>
                          <a:ea typeface="Arial"/>
                          <a:cs typeface="Arial"/>
                        </a:rPr>
                        <a:t>4</a:t>
                      </a:r>
                    </a:p>
                  </a:txBody>
                  <a:tcPr marL="47625" marR="47625" marT="14288" marB="14288" anchor="ctr">
                    <a:solidFill>
                      <a:srgbClr val="FFF1E6"/>
                    </a:solidFill>
                  </a:tcPr>
                </a:tc>
                <a:tc>
                  <a:txBody>
                    <a:bodyPr wrap="square" anchor="ctr">
                      <a:normAutofit/>
                    </a:bodyPr>
                    <a:lstStyle/>
                    <a:p>
                      <a:pPr algn="l"/>
                      <a:r>
                        <a:rPr sz="443" b="1">
                          <a:solidFill>
                            <a:srgbClr val="EC7000"/>
                          </a:solidFill>
                          <a:latin typeface="Arial"/>
                          <a:ea typeface="Arial"/>
                          <a:cs typeface="Arial"/>
                        </a:rPr>
                        <a:t>AGIBANK I</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Agibank</a:t>
                      </a:r>
                    </a:p>
                  </a:txBody>
                  <a:tcPr marL="47625" marR="47625" marT="14288" marB="14288" anchor="ctr">
                    <a:solidFill>
                      <a:srgbClr val="FFF1E6"/>
                    </a:solidFill>
                  </a:tcPr>
                </a:tc>
                <a:tc>
                  <a:txBody>
                    <a:bodyPr wrap="square" anchor="ctr">
                      <a:normAutofit/>
                    </a:bodyPr>
                    <a:lstStyle/>
                    <a:p>
                      <a:pPr algn="r"/>
                      <a:r>
                        <a:rPr sz="443">
                          <a:solidFill>
                            <a:srgbClr val="30353A"/>
                          </a:solidFill>
                          <a:latin typeface="Arial"/>
                          <a:ea typeface="Arial"/>
                          <a:cs typeface="Arial"/>
                        </a:rPr>
                        <a:t>2,00</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BANCO SANTANDER</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Moody's</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AAA.br(sf)</a:t>
                      </a:r>
                    </a:p>
                  </a:txBody>
                  <a:tcPr marL="47625" marR="47625" marT="14288" marB="14288" anchor="ctr">
                    <a:solidFill>
                      <a:srgbClr val="FFF1E6"/>
                    </a:solidFill>
                  </a:tcPr>
                </a:tc>
              </a:tr>
              <a:tr h="257810">
                <a:tc>
                  <a:txBody>
                    <a:bodyPr wrap="square" anchor="ctr">
                      <a:normAutofit/>
                    </a:bodyPr>
                    <a:lstStyle/>
                    <a:p>
                      <a:pPr algn="r"/>
                      <a:r>
                        <a:rPr sz="443">
                          <a:solidFill>
                            <a:srgbClr val="30353A"/>
                          </a:solidFill>
                          <a:latin typeface="Arial"/>
                          <a:ea typeface="Arial"/>
                          <a:cs typeface="Arial"/>
                        </a:rPr>
                        <a:t>5</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ER - ENERGIA</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Não identificado ·</a:t>
                      </a:r>
                    </a:p>
                  </a:txBody>
                  <a:tcPr marL="47625" marR="47625" marT="14288" marB="14288" anchor="ctr">
                    <a:solidFill>
                      <a:srgbClr val="FFFFFF"/>
                    </a:solidFill>
                  </a:tcPr>
                </a:tc>
                <a:tc>
                  <a:txBody>
                    <a:bodyPr wrap="square" anchor="ctr">
                      <a:normAutofit/>
                    </a:bodyPr>
                    <a:lstStyle/>
                    <a:p>
                      <a:pPr algn="r"/>
                      <a:r>
                        <a:rPr sz="443">
                          <a:solidFill>
                            <a:srgbClr val="30353A"/>
                          </a:solidFill>
                          <a:latin typeface="Arial"/>
                          <a:ea typeface="Arial"/>
                          <a:cs typeface="Arial"/>
                        </a:rPr>
                        <a:t>1,90</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XP INVESTIMENTOS</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43">
                          <a:solidFill>
                            <a:srgbClr val="30353A"/>
                          </a:solidFill>
                          <a:latin typeface="Arial"/>
                          <a:ea typeface="Arial"/>
                          <a:cs typeface="Arial"/>
                        </a:rPr>
                        <a:t>6</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ASA LP II COTAS LIM</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Não aplicável ·</a:t>
                      </a:r>
                    </a:p>
                  </a:txBody>
                  <a:tcPr marL="47625" marR="47625" marT="14288" marB="14288" anchor="ctr">
                    <a:solidFill>
                      <a:srgbClr val="F5F6F7"/>
                    </a:solidFill>
                  </a:tcPr>
                </a:tc>
                <a:tc>
                  <a:txBody>
                    <a:bodyPr wrap="square" anchor="ctr">
                      <a:normAutofit/>
                    </a:bodyPr>
                    <a:lstStyle/>
                    <a:p>
                      <a:pPr algn="r"/>
                      <a:r>
                        <a:rPr sz="443">
                          <a:solidFill>
                            <a:srgbClr val="30353A"/>
                          </a:solidFill>
                          <a:latin typeface="Arial"/>
                          <a:ea typeface="Arial"/>
                          <a:cs typeface="Arial"/>
                        </a:rPr>
                        <a:t>1,54</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SINGULARE S.A</a:t>
                      </a:r>
                    </a:p>
                  </a:txBody>
                  <a:tcPr marL="47625" marR="47625" marT="14288" marB="14288" anchor="ctr">
                    <a:solidFill>
                      <a:srgbClr val="F5F6F7"/>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Qualif.</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5F6F7"/>
                    </a:solidFill>
                  </a:tcPr>
                </a:tc>
              </a:tr>
              <a:tr h="257810">
                <a:tc>
                  <a:txBody>
                    <a:bodyPr wrap="square" anchor="ctr">
                      <a:normAutofit/>
                    </a:bodyPr>
                    <a:lstStyle/>
                    <a:p>
                      <a:pPr algn="r"/>
                      <a:r>
                        <a:rPr sz="443">
                          <a:solidFill>
                            <a:srgbClr val="30353A"/>
                          </a:solidFill>
                          <a:latin typeface="Arial"/>
                          <a:ea typeface="Arial"/>
                          <a:cs typeface="Arial"/>
                        </a:rPr>
                        <a:t>7</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AGRO FLEX</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Carteira agro</a:t>
                      </a:r>
                    </a:p>
                  </a:txBody>
                  <a:tcPr marL="47625" marR="47625" marT="14288" marB="14288" anchor="ctr">
                    <a:solidFill>
                      <a:srgbClr val="FFFFFF"/>
                    </a:solidFill>
                  </a:tcPr>
                </a:tc>
                <a:tc>
                  <a:txBody>
                    <a:bodyPr wrap="square" anchor="ctr">
                      <a:normAutofit/>
                    </a:bodyPr>
                    <a:lstStyle/>
                    <a:p>
                      <a:pPr algn="r"/>
                      <a:r>
                        <a:rPr sz="443">
                          <a:solidFill>
                            <a:srgbClr val="30353A"/>
                          </a:solidFill>
                          <a:latin typeface="Arial"/>
                          <a:ea typeface="Arial"/>
                          <a:cs typeface="Arial"/>
                        </a:rPr>
                        <a:t>1,50</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BANCO SANTANDER</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43">
                          <a:solidFill>
                            <a:srgbClr val="30353A"/>
                          </a:solidFill>
                          <a:latin typeface="Arial"/>
                          <a:ea typeface="Arial"/>
                          <a:cs typeface="Arial"/>
                        </a:rPr>
                        <a:t>8</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AGRO FLEX</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Carteira agro</a:t>
                      </a:r>
                    </a:p>
                  </a:txBody>
                  <a:tcPr marL="47625" marR="47625" marT="14288" marB="14288" anchor="ctr">
                    <a:solidFill>
                      <a:srgbClr val="F5F6F7"/>
                    </a:solidFill>
                  </a:tcPr>
                </a:tc>
                <a:tc>
                  <a:txBody>
                    <a:bodyPr wrap="square" anchor="ctr">
                      <a:normAutofit/>
                    </a:bodyPr>
                    <a:lstStyle/>
                    <a:p>
                      <a:pPr algn="r"/>
                      <a:r>
                        <a:rPr sz="443">
                          <a:solidFill>
                            <a:srgbClr val="30353A"/>
                          </a:solidFill>
                          <a:latin typeface="Arial"/>
                          <a:ea typeface="Arial"/>
                          <a:cs typeface="Arial"/>
                        </a:rPr>
                        <a:t>1,50</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BANCO SANTANDER</a:t>
                      </a:r>
                    </a:p>
                  </a:txBody>
                  <a:tcPr marL="47625" marR="47625" marT="14288" marB="14288" anchor="ctr">
                    <a:solidFill>
                      <a:srgbClr val="F5F6F7"/>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5F6F7"/>
                    </a:solidFill>
                  </a:tcPr>
                </a:tc>
              </a:tr>
              <a:tr h="257810">
                <a:tc>
                  <a:txBody>
                    <a:bodyPr wrap="square" anchor="ctr">
                      <a:normAutofit/>
                    </a:bodyPr>
                    <a:lstStyle/>
                    <a:p>
                      <a:pPr algn="r"/>
                      <a:r>
                        <a:rPr sz="443" b="1">
                          <a:solidFill>
                            <a:srgbClr val="EC7000"/>
                          </a:solidFill>
                          <a:latin typeface="Arial"/>
                          <a:ea typeface="Arial"/>
                          <a:cs typeface="Arial"/>
                        </a:rPr>
                        <a:t>9</a:t>
                      </a:r>
                    </a:p>
                  </a:txBody>
                  <a:tcPr marL="47625" marR="47625" marT="14288" marB="14288" anchor="ctr">
                    <a:solidFill>
                      <a:srgbClr val="FFF1E6"/>
                    </a:solidFill>
                  </a:tcPr>
                </a:tc>
                <a:tc>
                  <a:txBody>
                    <a:bodyPr wrap="square" anchor="ctr">
                      <a:normAutofit/>
                    </a:bodyPr>
                    <a:lstStyle/>
                    <a:p>
                      <a:pPr algn="l"/>
                      <a:r>
                        <a:rPr sz="443" b="1">
                          <a:solidFill>
                            <a:srgbClr val="EC7000"/>
                          </a:solidFill>
                          <a:latin typeface="Arial"/>
                          <a:ea typeface="Arial"/>
                          <a:cs typeface="Arial"/>
                        </a:rPr>
                        <a:t>Sellers I</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Mercado Pago / Mercado</a:t>
                      </a:r>
                    </a:p>
                  </a:txBody>
                  <a:tcPr marL="47625" marR="47625" marT="14288" marB="14288" anchor="ctr">
                    <a:solidFill>
                      <a:srgbClr val="FFF1E6"/>
                    </a:solidFill>
                  </a:tcPr>
                </a:tc>
                <a:tc>
                  <a:txBody>
                    <a:bodyPr wrap="square" anchor="ctr">
                      <a:normAutofit/>
                    </a:bodyPr>
                    <a:lstStyle/>
                    <a:p>
                      <a:pPr algn="r"/>
                      <a:r>
                        <a:rPr sz="443">
                          <a:solidFill>
                            <a:srgbClr val="30353A"/>
                          </a:solidFill>
                          <a:latin typeface="Arial"/>
                          <a:ea typeface="Arial"/>
                          <a:cs typeface="Arial"/>
                        </a:rPr>
                        <a:t>1,50</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UBS BB Corretora</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Austin</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brAAA(sf)</a:t>
                      </a:r>
                    </a:p>
                  </a:txBody>
                  <a:tcPr marL="47625" marR="47625" marT="14288" marB="14288" anchor="ctr">
                    <a:solidFill>
                      <a:srgbClr val="FFF1E6"/>
                    </a:solidFill>
                  </a:tcPr>
                </a:tc>
              </a:tr>
              <a:tr h="257810">
                <a:tc>
                  <a:txBody>
                    <a:bodyPr wrap="square" anchor="ctr">
                      <a:normAutofit/>
                    </a:bodyPr>
                    <a:lstStyle/>
                    <a:p>
                      <a:pPr algn="r"/>
                      <a:r>
                        <a:rPr sz="443">
                          <a:solidFill>
                            <a:srgbClr val="30353A"/>
                          </a:solidFill>
                          <a:latin typeface="Arial"/>
                          <a:ea typeface="Arial"/>
                          <a:cs typeface="Arial"/>
                        </a:rPr>
                        <a:t>10</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BV AUTO II FINANCEIRO</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Banco BV</a:t>
                      </a:r>
                    </a:p>
                  </a:txBody>
                  <a:tcPr marL="47625" marR="47625" marT="14288" marB="14288" anchor="ctr">
                    <a:solidFill>
                      <a:srgbClr val="F5F6F7"/>
                    </a:solidFill>
                  </a:tcPr>
                </a:tc>
                <a:tc>
                  <a:txBody>
                    <a:bodyPr wrap="square" anchor="ctr">
                      <a:normAutofit/>
                    </a:bodyPr>
                    <a:lstStyle/>
                    <a:p>
                      <a:pPr algn="r"/>
                      <a:r>
                        <a:rPr sz="443">
                          <a:solidFill>
                            <a:srgbClr val="30353A"/>
                          </a:solidFill>
                          <a:latin typeface="Arial"/>
                          <a:ea typeface="Arial"/>
                          <a:cs typeface="Arial"/>
                        </a:rPr>
                        <a:t>1,50</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Votorantim</a:t>
                      </a:r>
                    </a:p>
                  </a:txBody>
                  <a:tcPr marL="47625" marR="47625" marT="14288" marB="14288" anchor="ctr">
                    <a:solidFill>
                      <a:srgbClr val="F5F6F7"/>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5F6F7"/>
                    </a:solidFill>
                  </a:tcPr>
                </a:tc>
              </a:tr>
              <a:tr h="257810">
                <a:tc>
                  <a:txBody>
                    <a:bodyPr wrap="square" anchor="ctr">
                      <a:normAutofit/>
                    </a:bodyPr>
                    <a:lstStyle/>
                    <a:p>
                      <a:pPr algn="r"/>
                      <a:r>
                        <a:rPr sz="443" b="1">
                          <a:solidFill>
                            <a:srgbClr val="EC7000"/>
                          </a:solidFill>
                          <a:latin typeface="Arial"/>
                          <a:ea typeface="Arial"/>
                          <a:cs typeface="Arial"/>
                        </a:rPr>
                        <a:t>11</a:t>
                      </a:r>
                    </a:p>
                  </a:txBody>
                  <a:tcPr marL="47625" marR="47625" marT="14288" marB="14288" anchor="ctr">
                    <a:solidFill>
                      <a:srgbClr val="FFF1E6"/>
                    </a:solidFill>
                  </a:tcPr>
                </a:tc>
                <a:tc>
                  <a:txBody>
                    <a:bodyPr wrap="square" anchor="ctr">
                      <a:normAutofit/>
                    </a:bodyPr>
                    <a:lstStyle/>
                    <a:p>
                      <a:pPr algn="l"/>
                      <a:r>
                        <a:rPr sz="443" b="1">
                          <a:solidFill>
                            <a:srgbClr val="EC7000"/>
                          </a:solidFill>
                          <a:latin typeface="Arial"/>
                          <a:ea typeface="Arial"/>
                          <a:cs typeface="Arial"/>
                        </a:rPr>
                        <a:t>PINE INSS II</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Banco Pine</a:t>
                      </a:r>
                    </a:p>
                  </a:txBody>
                  <a:tcPr marL="47625" marR="47625" marT="14288" marB="14288" anchor="ctr">
                    <a:solidFill>
                      <a:srgbClr val="FFF1E6"/>
                    </a:solidFill>
                  </a:tcPr>
                </a:tc>
                <a:tc>
                  <a:txBody>
                    <a:bodyPr wrap="square" anchor="ctr">
                      <a:normAutofit/>
                    </a:bodyPr>
                    <a:lstStyle/>
                    <a:p>
                      <a:pPr algn="r"/>
                      <a:r>
                        <a:rPr sz="443">
                          <a:solidFill>
                            <a:srgbClr val="30353A"/>
                          </a:solidFill>
                          <a:latin typeface="Arial"/>
                          <a:ea typeface="Arial"/>
                          <a:cs typeface="Arial"/>
                        </a:rPr>
                        <a:t>1,25</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XP INVESTIMENTOS</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Moody's</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AAA(br)</a:t>
                      </a:r>
                    </a:p>
                  </a:txBody>
                  <a:tcPr marL="47625" marR="47625" marT="14288" marB="14288" anchor="ctr">
                    <a:solidFill>
                      <a:srgbClr val="FFF1E6"/>
                    </a:solidFill>
                  </a:tcPr>
                </a:tc>
              </a:tr>
              <a:tr h="257810">
                <a:tc>
                  <a:txBody>
                    <a:bodyPr wrap="square" anchor="ctr">
                      <a:normAutofit/>
                    </a:bodyPr>
                    <a:lstStyle/>
                    <a:p>
                      <a:pPr algn="r"/>
                      <a:r>
                        <a:rPr sz="443" b="1">
                          <a:solidFill>
                            <a:srgbClr val="EC7000"/>
                          </a:solidFill>
                          <a:latin typeface="Arial"/>
                          <a:ea typeface="Arial"/>
                          <a:cs typeface="Arial"/>
                        </a:rPr>
                        <a:t>12</a:t>
                      </a:r>
                    </a:p>
                  </a:txBody>
                  <a:tcPr marL="47625" marR="47625" marT="14288" marB="14288" anchor="ctr">
                    <a:solidFill>
                      <a:srgbClr val="FFF1E6"/>
                    </a:solidFill>
                  </a:tcPr>
                </a:tc>
                <a:tc>
                  <a:txBody>
                    <a:bodyPr wrap="square" anchor="ctr">
                      <a:normAutofit/>
                    </a:bodyPr>
                    <a:lstStyle/>
                    <a:p>
                      <a:pPr algn="l"/>
                      <a:r>
                        <a:rPr sz="443" b="1">
                          <a:solidFill>
                            <a:srgbClr val="EC7000"/>
                          </a:solidFill>
                          <a:latin typeface="Arial"/>
                          <a:ea typeface="Arial"/>
                          <a:cs typeface="Arial"/>
                        </a:rPr>
                        <a:t>VOLKSWAGEN TERA RECEBIVEIS COMERCIAIS</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Banco Volkswagen /</a:t>
                      </a:r>
                    </a:p>
                  </a:txBody>
                  <a:tcPr marL="47625" marR="47625" marT="14288" marB="14288" anchor="ctr">
                    <a:solidFill>
                      <a:srgbClr val="FFF1E6"/>
                    </a:solidFill>
                  </a:tcPr>
                </a:tc>
                <a:tc>
                  <a:txBody>
                    <a:bodyPr wrap="square" anchor="ctr">
                      <a:normAutofit/>
                    </a:bodyPr>
                    <a:lstStyle/>
                    <a:p>
                      <a:pPr algn="r"/>
                      <a:r>
                        <a:rPr sz="443">
                          <a:solidFill>
                            <a:srgbClr val="30353A"/>
                          </a:solidFill>
                          <a:latin typeface="Arial"/>
                          <a:ea typeface="Arial"/>
                          <a:cs typeface="Arial"/>
                        </a:rPr>
                        <a:t>1,00</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ITAU BBA</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Sim</a:t>
                      </a:r>
                    </a:p>
                  </a:txBody>
                  <a:tcPr marL="47625" marR="47625" marT="14288" marB="14288" anchor="ctr">
                    <a:solidFill>
                      <a:srgbClr val="FFF1E6"/>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1E6"/>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1E6"/>
                    </a:solidFill>
                  </a:tcPr>
                </a:tc>
              </a:tr>
              <a:tr h="257810">
                <a:tc>
                  <a:txBody>
                    <a:bodyPr wrap="square" anchor="ctr">
                      <a:normAutofit/>
                    </a:bodyPr>
                    <a:lstStyle/>
                    <a:p>
                      <a:pPr algn="r"/>
                      <a:r>
                        <a:rPr sz="443">
                          <a:solidFill>
                            <a:srgbClr val="30353A"/>
                          </a:solidFill>
                          <a:latin typeface="Arial"/>
                          <a:ea typeface="Arial"/>
                          <a:cs typeface="Arial"/>
                        </a:rPr>
                        <a:t>13</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BYX MOZART - CRÉDITO CONSIGNADO .</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Não identificado ·</a:t>
                      </a:r>
                    </a:p>
                  </a:txBody>
                  <a:tcPr marL="47625" marR="47625" marT="14288" marB="14288" anchor="ctr">
                    <a:solidFill>
                      <a:srgbClr val="FFFFFF"/>
                    </a:solidFill>
                  </a:tcPr>
                </a:tc>
                <a:tc>
                  <a:txBody>
                    <a:bodyPr wrap="square" anchor="ctr">
                      <a:normAutofit/>
                    </a:bodyPr>
                    <a:lstStyle/>
                    <a:p>
                      <a:pPr algn="r"/>
                      <a:r>
                        <a:rPr sz="443">
                          <a:solidFill>
                            <a:srgbClr val="30353A"/>
                          </a:solidFill>
                          <a:latin typeface="Arial"/>
                          <a:ea typeface="Arial"/>
                          <a:cs typeface="Arial"/>
                        </a:rPr>
                        <a:t>1,00</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VERT</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43">
                          <a:solidFill>
                            <a:srgbClr val="30353A"/>
                          </a:solidFill>
                          <a:latin typeface="Arial"/>
                          <a:ea typeface="Arial"/>
                          <a:cs typeface="Arial"/>
                        </a:rPr>
                        <a:t>14</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PINE INSS FINANCEIRO</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Banco Pine</a:t>
                      </a:r>
                    </a:p>
                  </a:txBody>
                  <a:tcPr marL="47625" marR="47625" marT="14288" marB="14288" anchor="ctr">
                    <a:solidFill>
                      <a:srgbClr val="F5F6F7"/>
                    </a:solidFill>
                  </a:tcPr>
                </a:tc>
                <a:tc>
                  <a:txBody>
                    <a:bodyPr wrap="square" anchor="ctr">
                      <a:normAutofit/>
                    </a:bodyPr>
                    <a:lstStyle/>
                    <a:p>
                      <a:pPr algn="r"/>
                      <a:r>
                        <a:rPr sz="443">
                          <a:solidFill>
                            <a:srgbClr val="30353A"/>
                          </a:solidFill>
                          <a:latin typeface="Arial"/>
                          <a:ea typeface="Arial"/>
                          <a:cs typeface="Arial"/>
                        </a:rPr>
                        <a:t>1,00</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VERT</a:t>
                      </a:r>
                    </a:p>
                  </a:txBody>
                  <a:tcPr marL="47625" marR="47625" marT="14288" marB="14288" anchor="ctr">
                    <a:solidFill>
                      <a:srgbClr val="F5F6F7"/>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5F6F7"/>
                    </a:solidFill>
                  </a:tcPr>
                </a:tc>
              </a:tr>
              <a:tr h="257810">
                <a:tc>
                  <a:txBody>
                    <a:bodyPr wrap="square" anchor="ctr">
                      <a:normAutofit/>
                    </a:bodyPr>
                    <a:lstStyle/>
                    <a:p>
                      <a:pPr algn="r"/>
                      <a:r>
                        <a:rPr sz="443">
                          <a:solidFill>
                            <a:srgbClr val="30353A"/>
                          </a:solidFill>
                          <a:latin typeface="Arial"/>
                          <a:ea typeface="Arial"/>
                          <a:cs typeface="Arial"/>
                        </a:rPr>
                        <a:t>15</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RED REAL LP</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443">
                          <a:solidFill>
                            <a:srgbClr val="30353A"/>
                          </a:solidFill>
                          <a:latin typeface="Arial"/>
                          <a:ea typeface="Arial"/>
                          <a:cs typeface="Arial"/>
                        </a:rPr>
                        <a:t>1,00</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FINAXIS S.A</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ctr"/>
                      <a:r>
                        <a:rPr sz="443">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43">
                          <a:solidFill>
                            <a:srgbClr val="30353A"/>
                          </a:solidFill>
                          <a:latin typeface="Arial"/>
                          <a:ea typeface="Arial"/>
                          <a:cs typeface="Arial"/>
                        </a:rPr>
                        <a:t>N/D</a:t>
                      </a:r>
                    </a:p>
                  </a:txBody>
                  <a:tcPr marL="47625" marR="47625" marT="14288" marB="14288" anchor="ctr">
                    <a:solidFill>
                      <a:srgbClr val="FFFFFF"/>
                    </a:solidFill>
                  </a:tcPr>
                </a:tc>
              </a:tr>
            </a:tbl>
          </a:graphicData>
        </a:graphic>
      </p:graphicFrame>
      <p:sp>
        <p:nvSpPr>
          <p:cNvPr id="13" name="">
            <a:extLst xmlns:a="http://schemas.openxmlformats.org/drawingml/2006/main">
              <a:ext uri="{FF2B5EF4-FFF2-40B4-BE49-F238E27FC236}">
                <a16:creationId xmlns:a16="http://schemas.microsoft.com/office/drawing/2014/main" id="{1E53F7DB-B0F0-46DF-9FD9-CBBF0D6923E1}"/>
              </a:ext>
            </a:extLst>
          </p:cNvPr>
          <p:cNvSpPr>
            <a:spLocks xmlns:a="http://schemas.openxmlformats.org/drawingml/2006/main" noGrp="1"/>
          </p:cNvSpPr>
          <p:nvPr/>
        </p:nvSpPr>
        <p:spPr>
          <a:xfrm xmlns:a="http://schemas.openxmlformats.org/drawingml/2006/main">
            <a:off x="571500" y="5905500"/>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690" b="1">
                <a:solidFill>
                  <a:srgbClr val="30353A"/>
                </a:solidFill>
                <a:latin typeface="Arial"/>
                <a:ea typeface="Arial"/>
                <a:cs typeface="Arial"/>
              </a:defRPr>
            </a:pPr>
            <a:r>
              <a:rPr sz="690" b="1">
                <a:solidFill>
                  <a:srgbClr val="30353A"/>
                </a:solidFill>
                <a:latin typeface="Arial"/>
                <a:ea typeface="Arial"/>
                <a:cs typeface="Arial"/>
              </a:rPr>
              <a:t>Subtotal: R$ 23,82 bi · 36,4% do período</a:t>
            </a:r>
          </a:p>
        </p:txBody>
      </p:sp>
      <p:sp>
        <p:nvSpPr>
          <p:cNvPr id="14" name="">
            <a:extLst xmlns:a="http://schemas.openxmlformats.org/drawingml/2006/main">
              <a:ext uri="{FF2B5EF4-FFF2-40B4-BE49-F238E27FC236}">
                <a16:creationId xmlns:a16="http://schemas.microsoft.com/office/drawing/2014/main" id="{69EA06E6-B2F5-4943-A562-EA8A0C84ED27}"/>
              </a:ext>
            </a:extLst>
          </p:cNvPr>
          <p:cNvSpPr>
            <a:spLocks xmlns:a="http://schemas.openxmlformats.org/drawingml/2006/main" noGrp="1"/>
          </p:cNvSpPr>
          <p:nvPr/>
        </p:nvSpPr>
        <p:spPr>
          <a:xfrm xmlns:a="http://schemas.openxmlformats.org/drawingml/2006/main">
            <a:off x="6286500" y="5905500"/>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690" b="1">
                <a:solidFill>
                  <a:srgbClr val="30353A"/>
                </a:solidFill>
                <a:latin typeface="Arial"/>
                <a:ea typeface="Arial"/>
                <a:cs typeface="Arial"/>
              </a:defRPr>
            </a:pPr>
            <a:r>
              <a:rPr sz="690" b="1">
                <a:solidFill>
                  <a:srgbClr val="30353A"/>
                </a:solidFill>
                <a:latin typeface="Arial"/>
                <a:ea typeface="Arial"/>
                <a:cs typeface="Arial"/>
              </a:rPr>
              <a:t>Subtotal: R$ 26,23 bi · 22,4% do período</a:t>
            </a:r>
          </a:p>
        </p:txBody>
      </p:sp>
      <p:sp>
        <p:nvSpPr>
          <p:cNvPr id="15" name="">
            <a:extLst xmlns:a="http://schemas.openxmlformats.org/drawingml/2006/main">
              <a:ext uri="{FF2B5EF4-FFF2-40B4-BE49-F238E27FC236}">
                <a16:creationId xmlns:a16="http://schemas.microsoft.com/office/drawing/2014/main" id="{6C34655C-8E66-46E5-B224-D352ECE9BB05}"/>
              </a:ext>
            </a:extLst>
          </p:cNvPr>
          <p:cNvSpPr>
            <a:spLocks xmlns:a="http://schemas.openxmlformats.org/drawingml/2006/main" noGrp="1"/>
          </p:cNvSpPr>
          <p:nvPr/>
        </p:nvSpPr>
        <p:spPr>
          <a:xfrm xmlns:a="http://schemas.openxmlformats.org/drawingml/2006/main">
            <a:off x="571500" y="6105525"/>
            <a:ext cx="1104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593" b="0">
                <a:solidFill>
                  <a:srgbClr val="8D9399"/>
                </a:solidFill>
                <a:latin typeface="Arial"/>
                <a:ea typeface="Arial"/>
                <a:cs typeface="Arial"/>
              </a:defRPr>
            </a:pPr>
            <a:r>
              <a:rPr sz="593" b="0">
                <a:solidFill>
                  <a:srgbClr val="8D9399"/>
                </a:solidFill>
                <a:latin typeface="Arial"/>
                <a:ea typeface="Arial"/>
                <a:cs typeface="Arial"/>
              </a:rPr>
              <a:t>Coord. líder = coordenador líder informado no requerimento. GF = garantia firme. Agência e Rating referem-se à emissão/série/subclasse conciliada; N/D indica ausência de documento aplicável. O workbook contém todos os períodos e a trilha documental.</a:t>
            </a:r>
          </a:p>
        </p:txBody>
      </p:sp>
    </p:spTree>
    <p:extLst>
      <p:ext uri="{BB962C8B-B14F-4D97-AF65-F5344CB8AC3E}">
        <p14:creationId xmlns:p14="http://schemas.microsoft.com/office/powerpoint/2010/main" val="120762114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E933B9A-FDD3-44AE-92ED-F39F377B275C}"/>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TOP 15 · HISTÓRICO</a:t>
            </a:r>
          </a:p>
        </p:txBody>
      </p:sp>
      <p:sp>
        <p:nvSpPr>
          <p:cNvPr id="2" name="">
            <a:extLst xmlns:a="http://schemas.openxmlformats.org/drawingml/2006/main">
              <a:ext uri="{FF2B5EF4-FFF2-40B4-BE49-F238E27FC236}">
                <a16:creationId xmlns:a16="http://schemas.microsoft.com/office/drawing/2014/main" id="{4210DC09-F39A-4937-ABFE-F062D21DFEB2}"/>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2024FY e 2023FY com agência e rating em colunas separadas</a:t>
            </a:r>
          </a:p>
        </p:txBody>
      </p:sp>
      <p:sp>
        <p:nvSpPr>
          <p:cNvPr id="3" name="">
            <a:extLst xmlns:a="http://schemas.openxmlformats.org/drawingml/2006/main">
              <a:ext uri="{FF2B5EF4-FFF2-40B4-BE49-F238E27FC236}">
                <a16:creationId xmlns:a16="http://schemas.microsoft.com/office/drawing/2014/main" id="{EB5438BF-48BD-45F1-8409-C4FA775731BB}"/>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765991B-0C28-4950-A0A5-820F859CF601}"/>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C4A624A-7775-405B-AC5F-DF83DB510497}"/>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CVM/SRE, dois arquivos de ofertas, e FundosNet. Primárias encerradas, todos os ritos; volume registrado.</a:t>
            </a:r>
          </a:p>
        </p:txBody>
      </p:sp>
      <p:sp>
        <p:nvSpPr>
          <p:cNvPr id="6" name="">
            <a:extLst xmlns:a="http://schemas.openxmlformats.org/drawingml/2006/main">
              <a:ext uri="{FF2B5EF4-FFF2-40B4-BE49-F238E27FC236}">
                <a16:creationId xmlns:a16="http://schemas.microsoft.com/office/drawing/2014/main" id="{5018F093-3BFC-4AC1-BD79-CE42FD292C72}"/>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30</a:t>
            </a:r>
          </a:p>
        </p:txBody>
      </p:sp>
      <p:sp>
        <p:nvSpPr>
          <p:cNvPr id="7" name="">
            <a:extLst xmlns:a="http://schemas.openxmlformats.org/drawingml/2006/main">
              <a:ext uri="{FF2B5EF4-FFF2-40B4-BE49-F238E27FC236}">
                <a16:creationId xmlns:a16="http://schemas.microsoft.com/office/drawing/2014/main" id="{2016DDCC-86A4-4D53-BB9C-8FB570DE818E}"/>
              </a:ext>
            </a:extLst>
          </p:cNvPr>
          <p:cNvSpPr>
            <a:spLocks xmlns:a="http://schemas.openxmlformats.org/drawingml/2006/main" noGrp="1"/>
          </p:cNvSpPr>
          <p:nvPr/>
        </p:nvSpPr>
        <p:spPr>
          <a:xfrm xmlns:a="http://schemas.openxmlformats.org/drawingml/2006/main">
            <a:off x="571500" y="13144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2024FY · TOP 15</a:t>
            </a:r>
          </a:p>
        </p:txBody>
      </p:sp>
      <p:sp>
        <p:nvSpPr>
          <p:cNvPr id="8" name="">
            <a:extLst xmlns:a="http://schemas.openxmlformats.org/drawingml/2006/main">
              <a:ext uri="{FF2B5EF4-FFF2-40B4-BE49-F238E27FC236}">
                <a16:creationId xmlns:a16="http://schemas.microsoft.com/office/drawing/2014/main" id="{98FB1ADE-ADFD-44E2-941D-8BE172DEA6FB}"/>
              </a:ext>
            </a:extLst>
          </p:cNvPr>
          <p:cNvSpPr>
            <a:spLocks xmlns:a="http://schemas.openxmlformats.org/drawingml/2006/main" noGrp="1"/>
          </p:cNvSpPr>
          <p:nvPr/>
        </p:nvSpPr>
        <p:spPr>
          <a:xfrm xmlns:a="http://schemas.openxmlformats.org/drawingml/2006/main">
            <a:off x="571500" y="1581150"/>
            <a:ext cx="5334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4" name=""/>
          <p:cNvGraphicFramePr/>
          <p:nvPr/>
        </p:nvGraphicFramePr>
        <p:xfrm>
          <a:off xmlns:a="http://schemas.openxmlformats.org/drawingml/2006/main" x="571500" y="1657350"/>
          <a:ext xmlns:a="http://schemas.openxmlformats.org/drawingml/2006/main" cx="5334000" cy="4191000"/>
        </p:xfrm>
        <a:graphic xmlns:a="http://schemas.openxmlformats.org/drawingml/2006/main">
          <a:graphicData uri="http://schemas.openxmlformats.org/drawingml/2006/table">
            <a:tbl>
              <a:tblPr firstRow="0" firstCol="0" lastRow="0" lastCol="0" bandRow="0" bandCol="0"/>
              <a:tblGrid>
                <a:gridCol w="228600"/>
                <a:gridCol w="1190625"/>
                <a:gridCol w="704850"/>
                <a:gridCol w="447675"/>
                <a:gridCol w="647700"/>
                <a:gridCol w="304800"/>
                <a:gridCol w="457200"/>
                <a:gridCol w="590550"/>
                <a:gridCol w="762000"/>
              </a:tblGrid>
              <a:tr h="323850">
                <a:tc>
                  <a:txBody>
                    <a:bodyPr wrap="square" anchor="ctr">
                      <a:normAutofit/>
                    </a:bodyPr>
                    <a:lstStyle/>
                    <a:p>
                      <a:pPr algn="r"/>
                      <a:r>
                        <a:rPr sz="443" b="1">
                          <a:solidFill>
                            <a:srgbClr val="FFFFFF"/>
                          </a:solidFill>
                          <a:latin typeface="Arial"/>
                          <a:ea typeface="Arial"/>
                          <a:cs typeface="Arial"/>
                        </a:rPr>
                        <a:t>#</a:t>
                      </a:r>
                    </a:p>
                  </a:txBody>
                  <a:tcPr marL="47625" marR="47625" marT="19050" marB="19050" anchor="ctr">
                    <a:solidFill>
                      <a:srgbClr val="151515"/>
                    </a:solidFill>
                  </a:tcPr>
                </a:tc>
                <a:tc>
                  <a:txBody>
                    <a:bodyPr wrap="square" anchor="ctr">
                      <a:normAutofit/>
                    </a:bodyPr>
                    <a:lstStyle/>
                    <a:p>
                      <a:pPr algn="l"/>
                      <a:r>
                        <a:rPr sz="443" b="1">
                          <a:solidFill>
                            <a:srgbClr val="FFFFFF"/>
                          </a:solidFill>
                          <a:latin typeface="Arial"/>
                          <a:ea typeface="Arial"/>
                          <a:cs typeface="Arial"/>
                        </a:rPr>
                        <a:t>FIDC</a:t>
                      </a:r>
                    </a:p>
                  </a:txBody>
                  <a:tcPr marL="47625" marR="47625" marT="19050" marB="19050" anchor="ctr">
                    <a:solidFill>
                      <a:srgbClr val="151515"/>
                    </a:solidFill>
                  </a:tcPr>
                </a:tc>
                <a:tc>
                  <a:txBody>
                    <a:bodyPr wrap="square" anchor="ctr">
                      <a:normAutofit/>
                    </a:bodyPr>
                    <a:lstStyle/>
                    <a:p>
                      <a:pPr algn="l"/>
                      <a:r>
                        <a:rPr sz="443" b="1">
                          <a:solidFill>
                            <a:srgbClr val="FFFFFF"/>
                          </a:solidFill>
                          <a:latin typeface="Arial"/>
                          <a:ea typeface="Arial"/>
                          <a:cs typeface="Arial"/>
                        </a:rPr>
                        <a:t>Originador</a:t>
                      </a:r>
                    </a:p>
                  </a:txBody>
                  <a:tcPr marL="47625" marR="47625" marT="19050" marB="19050" anchor="ctr">
                    <a:solidFill>
                      <a:srgbClr val="151515"/>
                    </a:solidFill>
                  </a:tcPr>
                </a:tc>
                <a:tc>
                  <a:txBody>
                    <a:bodyPr wrap="square" anchor="ctr">
                      <a:normAutofit/>
                    </a:bodyPr>
                    <a:lstStyle/>
                    <a:p>
                      <a:pPr algn="r"/>
                      <a:r>
                        <a:rPr sz="443" b="1">
                          <a:solidFill>
                            <a:srgbClr val="FFFFFF"/>
                          </a:solidFill>
                          <a:latin typeface="Arial"/>
                          <a:ea typeface="Arial"/>
                          <a:cs typeface="Arial"/>
                        </a:rPr>
                        <a:t>R$ bi</a:t>
                      </a:r>
                    </a:p>
                  </a:txBody>
                  <a:tcPr marL="47625" marR="47625" marT="19050" marB="19050" anchor="ctr">
                    <a:solidFill>
                      <a:srgbClr val="151515"/>
                    </a:solidFill>
                  </a:tcPr>
                </a:tc>
                <a:tc>
                  <a:txBody>
                    <a:bodyPr wrap="square" anchor="ctr">
                      <a:normAutofit/>
                    </a:bodyPr>
                    <a:lstStyle/>
                    <a:p>
                      <a:pPr algn="l"/>
                      <a:r>
                        <a:rPr sz="443" b="1">
                          <a:solidFill>
                            <a:srgbClr val="FFFFFF"/>
                          </a:solidFill>
                          <a:latin typeface="Arial"/>
                          <a:ea typeface="Arial"/>
                          <a:cs typeface="Arial"/>
                        </a:rPr>
                        <a:t>Coord.</a:t>
                      </a:r>
                    </a:p>
                  </a:txBody>
                  <a:tcPr marL="47625" marR="47625" marT="19050" marB="19050" anchor="ctr">
                    <a:solidFill>
                      <a:srgbClr val="151515"/>
                    </a:solidFill>
                  </a:tcPr>
                </a:tc>
                <a:tc>
                  <a:txBody>
                    <a:bodyPr wrap="square" anchor="ctr">
                      <a:normAutofit/>
                    </a:bodyPr>
                    <a:lstStyle/>
                    <a:p>
                      <a:pPr algn="ctr"/>
                      <a:r>
                        <a:rPr sz="443" b="1">
                          <a:solidFill>
                            <a:srgbClr val="FFFFFF"/>
                          </a:solidFill>
                          <a:latin typeface="Arial"/>
                          <a:ea typeface="Arial"/>
                          <a:cs typeface="Arial"/>
                        </a:rPr>
                        <a:t>GF</a:t>
                      </a:r>
                    </a:p>
                  </a:txBody>
                  <a:tcPr marL="47625" marR="47625" marT="19050" marB="19050" anchor="ctr">
                    <a:solidFill>
                      <a:srgbClr val="151515"/>
                    </a:solidFill>
                  </a:tcPr>
                </a:tc>
                <a:tc>
                  <a:txBody>
                    <a:bodyPr wrap="square" anchor="ctr">
                      <a:normAutofit/>
                    </a:bodyPr>
                    <a:lstStyle/>
                    <a:p>
                      <a:pPr algn="l"/>
                      <a:r>
                        <a:rPr sz="443" b="1">
                          <a:solidFill>
                            <a:srgbClr val="FFFFFF"/>
                          </a:solidFill>
                          <a:latin typeface="Arial"/>
                          <a:ea typeface="Arial"/>
                          <a:cs typeface="Arial"/>
                        </a:rPr>
                        <a:t>Público</a:t>
                      </a:r>
                    </a:p>
                  </a:txBody>
                  <a:tcPr marL="47625" marR="47625" marT="19050" marB="19050" anchor="ctr">
                    <a:solidFill>
                      <a:srgbClr val="151515"/>
                    </a:solidFill>
                  </a:tcPr>
                </a:tc>
                <a:tc>
                  <a:txBody>
                    <a:bodyPr wrap="square" anchor="ctr">
                      <a:normAutofit/>
                    </a:bodyPr>
                    <a:lstStyle/>
                    <a:p>
                      <a:pPr algn="l"/>
                      <a:r>
                        <a:rPr sz="443" b="1">
                          <a:solidFill>
                            <a:srgbClr val="FFFFFF"/>
                          </a:solidFill>
                          <a:latin typeface="Arial"/>
                          <a:ea typeface="Arial"/>
                          <a:cs typeface="Arial"/>
                        </a:rPr>
                        <a:t>Agência</a:t>
                      </a:r>
                    </a:p>
                  </a:txBody>
                  <a:tcPr marL="47625" marR="47625" marT="19050" marB="19050" anchor="ctr">
                    <a:solidFill>
                      <a:srgbClr val="151515"/>
                    </a:solidFill>
                  </a:tcPr>
                </a:tc>
                <a:tc>
                  <a:txBody>
                    <a:bodyPr wrap="square" anchor="ctr">
                      <a:normAutofit/>
                    </a:bodyPr>
                    <a:lstStyle/>
                    <a:p>
                      <a:pPr algn="l"/>
                      <a:r>
                        <a:rPr sz="443" b="1">
                          <a:solidFill>
                            <a:srgbClr val="FFFFFF"/>
                          </a:solidFill>
                          <a:latin typeface="Arial"/>
                          <a:ea typeface="Arial"/>
                          <a:cs typeface="Arial"/>
                        </a:rPr>
                        <a:t>Rating</a:t>
                      </a:r>
                    </a:p>
                  </a:txBody>
                  <a:tcPr marL="47625" marR="47625" marT="19050" marB="19050" anchor="ctr">
                    <a:solidFill>
                      <a:srgbClr val="151515"/>
                    </a:solidFill>
                  </a:tcPr>
                </a:tc>
              </a:tr>
              <a:tr h="257810">
                <a:tc>
                  <a:txBody>
                    <a:bodyPr wrap="square" anchor="ctr">
                      <a:normAutofit/>
                    </a:bodyPr>
                    <a:lstStyle/>
                    <a:p>
                      <a:pPr algn="r"/>
                      <a:r>
                        <a:rPr sz="458">
                          <a:solidFill>
                            <a:srgbClr val="30353A"/>
                          </a:solidFill>
                          <a:latin typeface="Arial"/>
                          <a:ea typeface="Arial"/>
                          <a:cs typeface="Arial"/>
                        </a:rPr>
                        <a:t>1</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CLASSE A DO BV AUTO I FINANCEIRO</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Banco BV</a:t>
                      </a:r>
                    </a:p>
                  </a:txBody>
                  <a:tcPr marL="47625" marR="47625" marT="14288" marB="14288" anchor="ctr">
                    <a:solidFill>
                      <a:srgbClr val="FFFFFF"/>
                    </a:solidFill>
                  </a:tcPr>
                </a:tc>
                <a:tc>
                  <a:txBody>
                    <a:bodyPr wrap="square" anchor="ctr">
                      <a:normAutofit/>
                    </a:bodyPr>
                    <a:lstStyle/>
                    <a:p>
                      <a:pPr algn="r"/>
                      <a:r>
                        <a:rPr sz="458">
                          <a:solidFill>
                            <a:srgbClr val="30353A"/>
                          </a:solidFill>
                          <a:latin typeface="Arial"/>
                          <a:ea typeface="Arial"/>
                          <a:cs typeface="Arial"/>
                        </a:rPr>
                        <a:t>3,51</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Votorantim</a:t>
                      </a:r>
                    </a:p>
                  </a:txBody>
                  <a:tcPr marL="47625" marR="47625" marT="14288" marB="14288" anchor="ctr">
                    <a:solidFill>
                      <a:srgbClr val="FFFFFF"/>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58">
                          <a:solidFill>
                            <a:srgbClr val="30353A"/>
                          </a:solidFill>
                          <a:latin typeface="Arial"/>
                          <a:ea typeface="Arial"/>
                          <a:cs typeface="Arial"/>
                        </a:rPr>
                        <a:t>2</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ACR BEM</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Stone</a:t>
                      </a:r>
                    </a:p>
                  </a:txBody>
                  <a:tcPr marL="47625" marR="47625" marT="14288" marB="14288" anchor="ctr">
                    <a:solidFill>
                      <a:srgbClr val="F5F6F7"/>
                    </a:solidFill>
                  </a:tcPr>
                </a:tc>
                <a:tc>
                  <a:txBody>
                    <a:bodyPr wrap="square" anchor="ctr">
                      <a:normAutofit/>
                    </a:bodyPr>
                    <a:lstStyle/>
                    <a:p>
                      <a:pPr algn="r"/>
                      <a:r>
                        <a:rPr sz="458">
                          <a:solidFill>
                            <a:srgbClr val="30353A"/>
                          </a:solidFill>
                          <a:latin typeface="Arial"/>
                          <a:ea typeface="Arial"/>
                          <a:cs typeface="Arial"/>
                        </a:rPr>
                        <a:t>3,50</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BANCO BRADESCO BBI</a:t>
                      </a:r>
                    </a:p>
                  </a:txBody>
                  <a:tcPr marL="47625" marR="47625" marT="14288" marB="14288" anchor="ctr">
                    <a:solidFill>
                      <a:srgbClr val="F5F6F7"/>
                    </a:solidFill>
                  </a:tcPr>
                </a:tc>
                <a:tc>
                  <a:txBody>
                    <a:bodyPr wrap="square" anchor="ctr">
                      <a:normAutofit/>
                    </a:bodyPr>
                    <a:lstStyle/>
                    <a:p>
                      <a:pPr algn="ctr"/>
                      <a:r>
                        <a:rPr sz="458">
                          <a:solidFill>
                            <a:srgbClr val="30353A"/>
                          </a:solidFill>
                          <a:latin typeface="Arial"/>
                          <a:ea typeface="Arial"/>
                          <a:cs typeface="Arial"/>
                        </a:rPr>
                        <a:t>Sim</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S&amp;P</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brAAA (sf)</a:t>
                      </a:r>
                    </a:p>
                  </a:txBody>
                  <a:tcPr marL="47625" marR="47625" marT="14288" marB="14288" anchor="ctr">
                    <a:solidFill>
                      <a:srgbClr val="F5F6F7"/>
                    </a:solidFill>
                  </a:tcPr>
                </a:tc>
              </a:tr>
              <a:tr h="257810">
                <a:tc>
                  <a:txBody>
                    <a:bodyPr wrap="square" anchor="ctr">
                      <a:normAutofit/>
                    </a:bodyPr>
                    <a:lstStyle/>
                    <a:p>
                      <a:pPr algn="r"/>
                      <a:r>
                        <a:rPr sz="458">
                          <a:solidFill>
                            <a:srgbClr val="30353A"/>
                          </a:solidFill>
                          <a:latin typeface="Arial"/>
                          <a:ea typeface="Arial"/>
                          <a:cs typeface="Arial"/>
                        </a:rPr>
                        <a:t>3</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AGRO FLEX</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458">
                          <a:solidFill>
                            <a:srgbClr val="30353A"/>
                          </a:solidFill>
                          <a:latin typeface="Arial"/>
                          <a:ea typeface="Arial"/>
                          <a:cs typeface="Arial"/>
                        </a:rPr>
                        <a:t>3,50</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BANCO SANTANDER</a:t>
                      </a:r>
                    </a:p>
                  </a:txBody>
                  <a:tcPr marL="47625" marR="47625" marT="14288" marB="14288" anchor="ctr">
                    <a:solidFill>
                      <a:srgbClr val="FFFFFF"/>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58">
                          <a:solidFill>
                            <a:srgbClr val="30353A"/>
                          </a:solidFill>
                          <a:latin typeface="Arial"/>
                          <a:ea typeface="Arial"/>
                          <a:cs typeface="Arial"/>
                        </a:rPr>
                        <a:t>4</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CITY - 02 NÃO-PADRONIZADOS</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5F6F7"/>
                    </a:solidFill>
                  </a:tcPr>
                </a:tc>
                <a:tc>
                  <a:txBody>
                    <a:bodyPr wrap="square" anchor="ctr">
                      <a:normAutofit/>
                    </a:bodyPr>
                    <a:lstStyle/>
                    <a:p>
                      <a:pPr algn="r"/>
                      <a:r>
                        <a:rPr sz="458">
                          <a:solidFill>
                            <a:srgbClr val="30353A"/>
                          </a:solidFill>
                          <a:latin typeface="Arial"/>
                          <a:ea typeface="Arial"/>
                          <a:cs typeface="Arial"/>
                        </a:rPr>
                        <a:t>3,00</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INDIGO</a:t>
                      </a:r>
                    </a:p>
                  </a:txBody>
                  <a:tcPr marL="47625" marR="47625" marT="14288" marB="14288" anchor="ctr">
                    <a:solidFill>
                      <a:srgbClr val="F5F6F7"/>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Liberum</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CCC(FE)</a:t>
                      </a:r>
                    </a:p>
                  </a:txBody>
                  <a:tcPr marL="47625" marR="47625" marT="14288" marB="14288" anchor="ctr">
                    <a:solidFill>
                      <a:srgbClr val="F5F6F7"/>
                    </a:solidFill>
                  </a:tcPr>
                </a:tc>
              </a:tr>
              <a:tr h="257810">
                <a:tc>
                  <a:txBody>
                    <a:bodyPr wrap="square" anchor="ctr">
                      <a:normAutofit/>
                    </a:bodyPr>
                    <a:lstStyle/>
                    <a:p>
                      <a:pPr algn="r"/>
                      <a:r>
                        <a:rPr sz="458">
                          <a:solidFill>
                            <a:srgbClr val="30353A"/>
                          </a:solidFill>
                          <a:latin typeface="Arial"/>
                          <a:ea typeface="Arial"/>
                          <a:cs typeface="Arial"/>
                        </a:rPr>
                        <a:t>5</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ACR I</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458">
                          <a:solidFill>
                            <a:srgbClr val="30353A"/>
                          </a:solidFill>
                          <a:latin typeface="Arial"/>
                          <a:ea typeface="Arial"/>
                          <a:cs typeface="Arial"/>
                        </a:rPr>
                        <a:t>2,78</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BANCO ABC BRASIL</a:t>
                      </a:r>
                    </a:p>
                  </a:txBody>
                  <a:tcPr marL="47625" marR="47625" marT="14288" marB="14288" anchor="ctr">
                    <a:solidFill>
                      <a:srgbClr val="FFFFFF"/>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Austin</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brAAA(sf)</a:t>
                      </a:r>
                    </a:p>
                  </a:txBody>
                  <a:tcPr marL="47625" marR="47625" marT="14288" marB="14288" anchor="ctr">
                    <a:solidFill>
                      <a:srgbClr val="FFFFFF"/>
                    </a:solidFill>
                  </a:tcPr>
                </a:tc>
              </a:tr>
              <a:tr h="257810">
                <a:tc>
                  <a:txBody>
                    <a:bodyPr wrap="square" anchor="ctr">
                      <a:normAutofit/>
                    </a:bodyPr>
                    <a:lstStyle/>
                    <a:p>
                      <a:pPr algn="r"/>
                      <a:r>
                        <a:rPr sz="458">
                          <a:solidFill>
                            <a:srgbClr val="30353A"/>
                          </a:solidFill>
                          <a:latin typeface="Arial"/>
                          <a:ea typeface="Arial"/>
                          <a:cs typeface="Arial"/>
                        </a:rPr>
                        <a:t>6</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CLOUDWALK AGI MEIOS PAGAMENTO</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CloudWalk</a:t>
                      </a:r>
                    </a:p>
                  </a:txBody>
                  <a:tcPr marL="47625" marR="47625" marT="14288" marB="14288" anchor="ctr">
                    <a:solidFill>
                      <a:srgbClr val="F5F6F7"/>
                    </a:solidFill>
                  </a:tcPr>
                </a:tc>
                <a:tc>
                  <a:txBody>
                    <a:bodyPr wrap="square" anchor="ctr">
                      <a:normAutofit/>
                    </a:bodyPr>
                    <a:lstStyle/>
                    <a:p>
                      <a:pPr algn="r"/>
                      <a:r>
                        <a:rPr sz="458">
                          <a:solidFill>
                            <a:srgbClr val="30353A"/>
                          </a:solidFill>
                          <a:latin typeface="Arial"/>
                          <a:ea typeface="Arial"/>
                          <a:cs typeface="Arial"/>
                        </a:rPr>
                        <a:t>2,59</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ITAU BBA</a:t>
                      </a:r>
                    </a:p>
                  </a:txBody>
                  <a:tcPr marL="47625" marR="47625" marT="14288" marB="14288" anchor="ctr">
                    <a:solidFill>
                      <a:srgbClr val="F5F6F7"/>
                    </a:solidFill>
                  </a:tcPr>
                </a:tc>
                <a:tc>
                  <a:txBody>
                    <a:bodyPr wrap="square" anchor="ctr">
                      <a:normAutofit/>
                    </a:bodyPr>
                    <a:lstStyle/>
                    <a:p>
                      <a:pPr algn="ctr"/>
                      <a:r>
                        <a:rPr sz="458">
                          <a:solidFill>
                            <a:srgbClr val="30353A"/>
                          </a:solidFill>
                          <a:latin typeface="Arial"/>
                          <a:ea typeface="Arial"/>
                          <a:cs typeface="Arial"/>
                        </a:rPr>
                        <a:t>Sim</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Moody's</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AAA.br(sf)</a:t>
                      </a:r>
                    </a:p>
                    <a:p>
                      <a:pPr algn="l"/>
                      <a:r>
                        <a:rPr sz="458">
                          <a:solidFill>
                            <a:srgbClr val="30353A"/>
                          </a:solidFill>
                          <a:latin typeface="Arial"/>
                          <a:ea typeface="Arial"/>
                          <a:cs typeface="Arial"/>
                        </a:rPr>
                        <a:t>BBB.br(sf)</a:t>
                      </a:r>
                    </a:p>
                  </a:txBody>
                  <a:tcPr marL="47625" marR="47625" marT="14288" marB="14288" anchor="ctr">
                    <a:solidFill>
                      <a:srgbClr val="F5F6F7"/>
                    </a:solidFill>
                  </a:tcPr>
                </a:tc>
              </a:tr>
              <a:tr h="257810">
                <a:tc>
                  <a:txBody>
                    <a:bodyPr wrap="square" anchor="ctr">
                      <a:normAutofit/>
                    </a:bodyPr>
                    <a:lstStyle/>
                    <a:p>
                      <a:pPr algn="r"/>
                      <a:r>
                        <a:rPr sz="458">
                          <a:solidFill>
                            <a:srgbClr val="30353A"/>
                          </a:solidFill>
                          <a:latin typeface="Arial"/>
                          <a:ea typeface="Arial"/>
                          <a:cs typeface="Arial"/>
                        </a:rPr>
                        <a:t>7</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Angá FGTS III</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458">
                          <a:solidFill>
                            <a:srgbClr val="30353A"/>
                          </a:solidFill>
                          <a:latin typeface="Arial"/>
                          <a:ea typeface="Arial"/>
                          <a:cs typeface="Arial"/>
                        </a:rPr>
                        <a:t>1,52</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Itaú BBA</a:t>
                      </a:r>
                    </a:p>
                  </a:txBody>
                  <a:tcPr marL="47625" marR="47625" marT="14288" marB="14288" anchor="ctr">
                    <a:solidFill>
                      <a:srgbClr val="FFFFFF"/>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58">
                          <a:solidFill>
                            <a:srgbClr val="30353A"/>
                          </a:solidFill>
                          <a:latin typeface="Arial"/>
                          <a:ea typeface="Arial"/>
                          <a:cs typeface="Arial"/>
                        </a:rPr>
                        <a:t>8</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AGRO FLEX</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5F6F7"/>
                    </a:solidFill>
                  </a:tcPr>
                </a:tc>
                <a:tc>
                  <a:txBody>
                    <a:bodyPr wrap="square" anchor="ctr">
                      <a:normAutofit/>
                    </a:bodyPr>
                    <a:lstStyle/>
                    <a:p>
                      <a:pPr algn="r"/>
                      <a:r>
                        <a:rPr sz="458">
                          <a:solidFill>
                            <a:srgbClr val="30353A"/>
                          </a:solidFill>
                          <a:latin typeface="Arial"/>
                          <a:ea typeface="Arial"/>
                          <a:cs typeface="Arial"/>
                        </a:rPr>
                        <a:t>1,50</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BANCO SANTANDER</a:t>
                      </a:r>
                    </a:p>
                  </a:txBody>
                  <a:tcPr marL="47625" marR="47625" marT="14288" marB="14288" anchor="ctr">
                    <a:solidFill>
                      <a:srgbClr val="F5F6F7"/>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5F6F7"/>
                    </a:solidFill>
                  </a:tcPr>
                </a:tc>
              </a:tr>
              <a:tr h="257810">
                <a:tc>
                  <a:txBody>
                    <a:bodyPr wrap="square" anchor="ctr">
                      <a:normAutofit/>
                    </a:bodyPr>
                    <a:lstStyle/>
                    <a:p>
                      <a:pPr algn="r"/>
                      <a:r>
                        <a:rPr sz="458">
                          <a:solidFill>
                            <a:srgbClr val="30353A"/>
                          </a:solidFill>
                          <a:latin typeface="Arial"/>
                          <a:ea typeface="Arial"/>
                          <a:cs typeface="Arial"/>
                        </a:rPr>
                        <a:t>9</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D365</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D365</a:t>
                      </a:r>
                    </a:p>
                  </a:txBody>
                  <a:tcPr marL="47625" marR="47625" marT="14288" marB="14288" anchor="ctr">
                    <a:solidFill>
                      <a:srgbClr val="FFFFFF"/>
                    </a:solidFill>
                  </a:tcPr>
                </a:tc>
                <a:tc>
                  <a:txBody>
                    <a:bodyPr wrap="square" anchor="ctr">
                      <a:normAutofit/>
                    </a:bodyPr>
                    <a:lstStyle/>
                    <a:p>
                      <a:pPr algn="r"/>
                      <a:r>
                        <a:rPr sz="458">
                          <a:solidFill>
                            <a:srgbClr val="30353A"/>
                          </a:solidFill>
                          <a:latin typeface="Arial"/>
                          <a:ea typeface="Arial"/>
                          <a:cs typeface="Arial"/>
                        </a:rPr>
                        <a:t>1,50</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BANCO SANTANDER</a:t>
                      </a:r>
                    </a:p>
                  </a:txBody>
                  <a:tcPr marL="47625" marR="47625" marT="14288" marB="14288" anchor="ctr">
                    <a:solidFill>
                      <a:srgbClr val="FFFFFF"/>
                    </a:solidFill>
                  </a:tcPr>
                </a:tc>
                <a:tc>
                  <a:txBody>
                    <a:bodyPr wrap="square" anchor="ctr">
                      <a:normAutofit/>
                    </a:bodyPr>
                    <a:lstStyle/>
                    <a:p>
                      <a:pPr algn="ctr"/>
                      <a:r>
                        <a:rPr sz="458">
                          <a:solidFill>
                            <a:srgbClr val="30353A"/>
                          </a:solidFill>
                          <a:latin typeface="Arial"/>
                          <a:ea typeface="Arial"/>
                          <a:cs typeface="Arial"/>
                        </a:rPr>
                        <a:t>Sim</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58">
                          <a:solidFill>
                            <a:srgbClr val="30353A"/>
                          </a:solidFill>
                          <a:latin typeface="Arial"/>
                          <a:ea typeface="Arial"/>
                          <a:cs typeface="Arial"/>
                        </a:rPr>
                        <a:t>10</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SELLER II MEIOS PAGAMENTO</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Mercado Pago / Mercado</a:t>
                      </a:r>
                    </a:p>
                  </a:txBody>
                  <a:tcPr marL="47625" marR="47625" marT="14288" marB="14288" anchor="ctr">
                    <a:solidFill>
                      <a:srgbClr val="F5F6F7"/>
                    </a:solidFill>
                  </a:tcPr>
                </a:tc>
                <a:tc>
                  <a:txBody>
                    <a:bodyPr wrap="square" anchor="ctr">
                      <a:normAutofit/>
                    </a:bodyPr>
                    <a:lstStyle/>
                    <a:p>
                      <a:pPr algn="r"/>
                      <a:r>
                        <a:rPr sz="458">
                          <a:solidFill>
                            <a:srgbClr val="30353A"/>
                          </a:solidFill>
                          <a:latin typeface="Arial"/>
                          <a:ea typeface="Arial"/>
                          <a:cs typeface="Arial"/>
                        </a:rPr>
                        <a:t>1,00</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BANCO BRADESCO BBI</a:t>
                      </a:r>
                    </a:p>
                  </a:txBody>
                  <a:tcPr marL="47625" marR="47625" marT="14288" marB="14288" anchor="ctr">
                    <a:solidFill>
                      <a:srgbClr val="F5F6F7"/>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S&amp;P</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brAAA (sf)</a:t>
                      </a:r>
                    </a:p>
                  </a:txBody>
                  <a:tcPr marL="47625" marR="47625" marT="14288" marB="14288" anchor="ctr">
                    <a:solidFill>
                      <a:srgbClr val="F5F6F7"/>
                    </a:solidFill>
                  </a:tcPr>
                </a:tc>
              </a:tr>
              <a:tr h="257810">
                <a:tc>
                  <a:txBody>
                    <a:bodyPr wrap="square" anchor="ctr">
                      <a:normAutofit/>
                    </a:bodyPr>
                    <a:lstStyle/>
                    <a:p>
                      <a:pPr algn="r"/>
                      <a:r>
                        <a:rPr sz="458">
                          <a:solidFill>
                            <a:srgbClr val="30353A"/>
                          </a:solidFill>
                          <a:latin typeface="Arial"/>
                          <a:ea typeface="Arial"/>
                          <a:cs typeface="Arial"/>
                        </a:rPr>
                        <a:t>11</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PagSeguro I</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PagSeguro</a:t>
                      </a:r>
                    </a:p>
                  </a:txBody>
                  <a:tcPr marL="47625" marR="47625" marT="14288" marB="14288" anchor="ctr">
                    <a:solidFill>
                      <a:srgbClr val="FFFFFF"/>
                    </a:solidFill>
                  </a:tcPr>
                </a:tc>
                <a:tc>
                  <a:txBody>
                    <a:bodyPr wrap="square" anchor="ctr">
                      <a:normAutofit/>
                    </a:bodyPr>
                    <a:lstStyle/>
                    <a:p>
                      <a:pPr algn="r"/>
                      <a:r>
                        <a:rPr sz="458">
                          <a:solidFill>
                            <a:srgbClr val="30353A"/>
                          </a:solidFill>
                          <a:latin typeface="Arial"/>
                          <a:ea typeface="Arial"/>
                          <a:cs typeface="Arial"/>
                        </a:rPr>
                        <a:t>1,00</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ITAU BBA</a:t>
                      </a:r>
                    </a:p>
                  </a:txBody>
                  <a:tcPr marL="47625" marR="47625" marT="14288" marB="14288" anchor="ctr">
                    <a:solidFill>
                      <a:srgbClr val="FFFFFF"/>
                    </a:solidFill>
                  </a:tcPr>
                </a:tc>
                <a:tc>
                  <a:txBody>
                    <a:bodyPr wrap="square" anchor="ctr">
                      <a:normAutofit/>
                    </a:bodyPr>
                    <a:lstStyle/>
                    <a:p>
                      <a:pPr algn="ctr"/>
                      <a:r>
                        <a:rPr sz="458">
                          <a:solidFill>
                            <a:srgbClr val="30353A"/>
                          </a:solidFill>
                          <a:latin typeface="Arial"/>
                          <a:ea typeface="Arial"/>
                          <a:cs typeface="Arial"/>
                        </a:rPr>
                        <a:t>Sim</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58">
                          <a:solidFill>
                            <a:srgbClr val="30353A"/>
                          </a:solidFill>
                          <a:latin typeface="Arial"/>
                          <a:ea typeface="Arial"/>
                          <a:cs typeface="Arial"/>
                        </a:rPr>
                        <a:t>12</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AGRO CITI-SYNGENTA</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5F6F7"/>
                    </a:solidFill>
                  </a:tcPr>
                </a:tc>
                <a:tc>
                  <a:txBody>
                    <a:bodyPr wrap="square" anchor="ctr">
                      <a:normAutofit/>
                    </a:bodyPr>
                    <a:lstStyle/>
                    <a:p>
                      <a:pPr algn="r"/>
                      <a:r>
                        <a:rPr sz="458">
                          <a:solidFill>
                            <a:srgbClr val="30353A"/>
                          </a:solidFill>
                          <a:latin typeface="Arial"/>
                          <a:ea typeface="Arial"/>
                          <a:cs typeface="Arial"/>
                        </a:rPr>
                        <a:t>0,90</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INTEGRAL ACCESS</a:t>
                      </a:r>
                    </a:p>
                  </a:txBody>
                  <a:tcPr marL="47625" marR="47625" marT="14288" marB="14288" anchor="ctr">
                    <a:solidFill>
                      <a:srgbClr val="F5F6F7"/>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5F6F7"/>
                    </a:solidFill>
                  </a:tcPr>
                </a:tc>
              </a:tr>
              <a:tr h="257810">
                <a:tc>
                  <a:txBody>
                    <a:bodyPr wrap="square" anchor="ctr">
                      <a:normAutofit/>
                    </a:bodyPr>
                    <a:lstStyle/>
                    <a:p>
                      <a:pPr algn="r"/>
                      <a:r>
                        <a:rPr sz="458">
                          <a:solidFill>
                            <a:srgbClr val="30353A"/>
                          </a:solidFill>
                          <a:latin typeface="Arial"/>
                          <a:ea typeface="Arial"/>
                          <a:cs typeface="Arial"/>
                        </a:rPr>
                        <a:t>13</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IS GREEN SOLFACIL VI</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Solfácil</a:t>
                      </a:r>
                    </a:p>
                  </a:txBody>
                  <a:tcPr marL="47625" marR="47625" marT="14288" marB="14288" anchor="ctr">
                    <a:solidFill>
                      <a:srgbClr val="FFFFFF"/>
                    </a:solidFill>
                  </a:tcPr>
                </a:tc>
                <a:tc>
                  <a:txBody>
                    <a:bodyPr wrap="square" anchor="ctr">
                      <a:normAutofit/>
                    </a:bodyPr>
                    <a:lstStyle/>
                    <a:p>
                      <a:pPr algn="r"/>
                      <a:r>
                        <a:rPr sz="458">
                          <a:solidFill>
                            <a:srgbClr val="30353A"/>
                          </a:solidFill>
                          <a:latin typeface="Arial"/>
                          <a:ea typeface="Arial"/>
                          <a:cs typeface="Arial"/>
                        </a:rPr>
                        <a:t>0,90</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BANCO MODAL S.A</a:t>
                      </a:r>
                    </a:p>
                  </a:txBody>
                  <a:tcPr marL="47625" marR="47625" marT="14288" marB="14288" anchor="ctr">
                    <a:solidFill>
                      <a:srgbClr val="FFFFFF"/>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Austin</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brAA(sf)</a:t>
                      </a:r>
                    </a:p>
                  </a:txBody>
                  <a:tcPr marL="47625" marR="47625" marT="14288" marB="14288" anchor="ctr">
                    <a:solidFill>
                      <a:srgbClr val="FFFFFF"/>
                    </a:solidFill>
                  </a:tcPr>
                </a:tc>
              </a:tr>
              <a:tr h="257810">
                <a:tc>
                  <a:txBody>
                    <a:bodyPr wrap="square" anchor="ctr">
                      <a:normAutofit/>
                    </a:bodyPr>
                    <a:lstStyle/>
                    <a:p>
                      <a:pPr algn="r"/>
                      <a:r>
                        <a:rPr sz="458">
                          <a:solidFill>
                            <a:srgbClr val="30353A"/>
                          </a:solidFill>
                          <a:latin typeface="Arial"/>
                          <a:ea typeface="Arial"/>
                          <a:cs typeface="Arial"/>
                        </a:rPr>
                        <a:t>14</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CW Big Pic. I</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CloudWalk</a:t>
                      </a:r>
                    </a:p>
                  </a:txBody>
                  <a:tcPr marL="47625" marR="47625" marT="14288" marB="14288" anchor="ctr">
                    <a:solidFill>
                      <a:srgbClr val="F5F6F7"/>
                    </a:solidFill>
                  </a:tcPr>
                </a:tc>
                <a:tc>
                  <a:txBody>
                    <a:bodyPr wrap="square" anchor="ctr">
                      <a:normAutofit/>
                    </a:bodyPr>
                    <a:lstStyle/>
                    <a:p>
                      <a:pPr algn="r"/>
                      <a:r>
                        <a:rPr sz="458">
                          <a:solidFill>
                            <a:srgbClr val="30353A"/>
                          </a:solidFill>
                          <a:latin typeface="Arial"/>
                          <a:ea typeface="Arial"/>
                          <a:cs typeface="Arial"/>
                        </a:rPr>
                        <a:t>0,88</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Itaú BBA</a:t>
                      </a:r>
                    </a:p>
                  </a:txBody>
                  <a:tcPr marL="47625" marR="47625" marT="14288" marB="14288" anchor="ctr">
                    <a:solidFill>
                      <a:srgbClr val="F5F6F7"/>
                    </a:solidFill>
                  </a:tcPr>
                </a:tc>
                <a:tc>
                  <a:txBody>
                    <a:bodyPr wrap="square" anchor="ctr">
                      <a:normAutofit/>
                    </a:bodyPr>
                    <a:lstStyle/>
                    <a:p>
                      <a:pPr algn="ctr"/>
                      <a:r>
                        <a:rPr sz="458">
                          <a:solidFill>
                            <a:srgbClr val="30353A"/>
                          </a:solidFill>
                          <a:latin typeface="Arial"/>
                          <a:ea typeface="Arial"/>
                          <a:cs typeface="Arial"/>
                        </a:rPr>
                        <a:t>Sim</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Moody's</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AAA.br(sf)</a:t>
                      </a:r>
                    </a:p>
                  </a:txBody>
                  <a:tcPr marL="47625" marR="47625" marT="14288" marB="14288" anchor="ctr">
                    <a:solidFill>
                      <a:srgbClr val="F5F6F7"/>
                    </a:solidFill>
                  </a:tcPr>
                </a:tc>
              </a:tr>
              <a:tr h="257810">
                <a:tc>
                  <a:txBody>
                    <a:bodyPr wrap="square" anchor="ctr">
                      <a:normAutofit/>
                    </a:bodyPr>
                    <a:lstStyle/>
                    <a:p>
                      <a:pPr algn="r"/>
                      <a:r>
                        <a:rPr sz="458">
                          <a:solidFill>
                            <a:srgbClr val="30353A"/>
                          </a:solidFill>
                          <a:latin typeface="Arial"/>
                          <a:ea typeface="Arial"/>
                          <a:cs typeface="Arial"/>
                        </a:rPr>
                        <a:t>15</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Estrat. Vinc. II</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458">
                          <a:solidFill>
                            <a:srgbClr val="30353A"/>
                          </a:solidFill>
                          <a:latin typeface="Arial"/>
                          <a:ea typeface="Arial"/>
                          <a:cs typeface="Arial"/>
                        </a:rPr>
                        <a:t>0,85</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Itaú BBA</a:t>
                      </a:r>
                    </a:p>
                  </a:txBody>
                  <a:tcPr marL="47625" marR="47625" marT="14288" marB="14288" anchor="ctr">
                    <a:solidFill>
                      <a:srgbClr val="FFFFFF"/>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1ACE9CC6-A649-4464-A4EB-0744E6C3A627}"/>
              </a:ext>
            </a:extLst>
          </p:cNvPr>
          <p:cNvSpPr>
            <a:spLocks xmlns:a="http://schemas.openxmlformats.org/drawingml/2006/main" noGrp="1"/>
          </p:cNvSpPr>
          <p:nvPr/>
        </p:nvSpPr>
        <p:spPr>
          <a:xfrm xmlns:a="http://schemas.openxmlformats.org/drawingml/2006/main">
            <a:off x="571500" y="5905500"/>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690" b="1">
                <a:solidFill>
                  <a:srgbClr val="30353A"/>
                </a:solidFill>
                <a:latin typeface="Arial"/>
                <a:ea typeface="Arial"/>
                <a:cs typeface="Arial"/>
              </a:defRPr>
            </a:pPr>
            <a:r>
              <a:rPr sz="690" b="1">
                <a:solidFill>
                  <a:srgbClr val="30353A"/>
                </a:solidFill>
                <a:latin typeface="Arial"/>
                <a:ea typeface="Arial"/>
                <a:cs typeface="Arial"/>
              </a:rPr>
              <a:t>Subtotal: R$ 28,93 bi · 30,3% do período</a:t>
            </a:r>
          </a:p>
        </p:txBody>
      </p:sp>
      <p:sp>
        <p:nvSpPr>
          <p:cNvPr id="11" name="">
            <a:extLst xmlns:a="http://schemas.openxmlformats.org/drawingml/2006/main">
              <a:ext uri="{FF2B5EF4-FFF2-40B4-BE49-F238E27FC236}">
                <a16:creationId xmlns:a16="http://schemas.microsoft.com/office/drawing/2014/main" id="{9D54C079-3AD6-401E-BCC6-A8BB87DCD00C}"/>
              </a:ext>
            </a:extLst>
          </p:cNvPr>
          <p:cNvSpPr>
            <a:spLocks xmlns:a="http://schemas.openxmlformats.org/drawingml/2006/main" noGrp="1"/>
          </p:cNvSpPr>
          <p:nvPr/>
        </p:nvSpPr>
        <p:spPr>
          <a:xfrm xmlns:a="http://schemas.openxmlformats.org/drawingml/2006/main">
            <a:off x="6286500" y="13144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2023FY · TOP 15</a:t>
            </a:r>
          </a:p>
        </p:txBody>
      </p:sp>
      <p:sp>
        <p:nvSpPr>
          <p:cNvPr id="12" name="">
            <a:extLst xmlns:a="http://schemas.openxmlformats.org/drawingml/2006/main">
              <a:ext uri="{FF2B5EF4-FFF2-40B4-BE49-F238E27FC236}">
                <a16:creationId xmlns:a16="http://schemas.microsoft.com/office/drawing/2014/main" id="{CF0E6B85-DB0C-415D-B75D-F1D016F51638}"/>
              </a:ext>
            </a:extLst>
          </p:cNvPr>
          <p:cNvSpPr>
            <a:spLocks xmlns:a="http://schemas.openxmlformats.org/drawingml/2006/main" noGrp="1"/>
          </p:cNvSpPr>
          <p:nvPr/>
        </p:nvSpPr>
        <p:spPr>
          <a:xfrm xmlns:a="http://schemas.openxmlformats.org/drawingml/2006/main">
            <a:off x="6286500" y="1581150"/>
            <a:ext cx="5334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8" name=""/>
          <p:cNvGraphicFramePr/>
          <p:nvPr/>
        </p:nvGraphicFramePr>
        <p:xfrm>
          <a:off xmlns:a="http://schemas.openxmlformats.org/drawingml/2006/main" x="6286500" y="1657350"/>
          <a:ext xmlns:a="http://schemas.openxmlformats.org/drawingml/2006/main" cx="5334000" cy="4191000"/>
        </p:xfrm>
        <a:graphic xmlns:a="http://schemas.openxmlformats.org/drawingml/2006/main">
          <a:graphicData uri="http://schemas.openxmlformats.org/drawingml/2006/table">
            <a:tbl>
              <a:tblPr firstRow="0" firstCol="0" lastRow="0" lastCol="0" bandRow="0" bandCol="0"/>
              <a:tblGrid>
                <a:gridCol w="228600"/>
                <a:gridCol w="1190625"/>
                <a:gridCol w="704850"/>
                <a:gridCol w="447675"/>
                <a:gridCol w="647700"/>
                <a:gridCol w="304800"/>
                <a:gridCol w="457200"/>
                <a:gridCol w="590550"/>
                <a:gridCol w="762000"/>
              </a:tblGrid>
              <a:tr h="323850">
                <a:tc>
                  <a:txBody>
                    <a:bodyPr wrap="square" anchor="ctr">
                      <a:normAutofit/>
                    </a:bodyPr>
                    <a:lstStyle/>
                    <a:p>
                      <a:pPr algn="r"/>
                      <a:r>
                        <a:rPr sz="443" b="1">
                          <a:solidFill>
                            <a:srgbClr val="FFFFFF"/>
                          </a:solidFill>
                          <a:latin typeface="Arial"/>
                          <a:ea typeface="Arial"/>
                          <a:cs typeface="Arial"/>
                        </a:rPr>
                        <a:t>#</a:t>
                      </a:r>
                    </a:p>
                  </a:txBody>
                  <a:tcPr marL="47625" marR="47625" marT="19050" marB="19050" anchor="ctr">
                    <a:solidFill>
                      <a:srgbClr val="151515"/>
                    </a:solidFill>
                  </a:tcPr>
                </a:tc>
                <a:tc>
                  <a:txBody>
                    <a:bodyPr wrap="square" anchor="ctr">
                      <a:normAutofit/>
                    </a:bodyPr>
                    <a:lstStyle/>
                    <a:p>
                      <a:pPr algn="l"/>
                      <a:r>
                        <a:rPr sz="443" b="1">
                          <a:solidFill>
                            <a:srgbClr val="FFFFFF"/>
                          </a:solidFill>
                          <a:latin typeface="Arial"/>
                          <a:ea typeface="Arial"/>
                          <a:cs typeface="Arial"/>
                        </a:rPr>
                        <a:t>FIDC</a:t>
                      </a:r>
                    </a:p>
                  </a:txBody>
                  <a:tcPr marL="47625" marR="47625" marT="19050" marB="19050" anchor="ctr">
                    <a:solidFill>
                      <a:srgbClr val="151515"/>
                    </a:solidFill>
                  </a:tcPr>
                </a:tc>
                <a:tc>
                  <a:txBody>
                    <a:bodyPr wrap="square" anchor="ctr">
                      <a:normAutofit/>
                    </a:bodyPr>
                    <a:lstStyle/>
                    <a:p>
                      <a:pPr algn="l"/>
                      <a:r>
                        <a:rPr sz="443" b="1">
                          <a:solidFill>
                            <a:srgbClr val="FFFFFF"/>
                          </a:solidFill>
                          <a:latin typeface="Arial"/>
                          <a:ea typeface="Arial"/>
                          <a:cs typeface="Arial"/>
                        </a:rPr>
                        <a:t>Originador</a:t>
                      </a:r>
                    </a:p>
                  </a:txBody>
                  <a:tcPr marL="47625" marR="47625" marT="19050" marB="19050" anchor="ctr">
                    <a:solidFill>
                      <a:srgbClr val="151515"/>
                    </a:solidFill>
                  </a:tcPr>
                </a:tc>
                <a:tc>
                  <a:txBody>
                    <a:bodyPr wrap="square" anchor="ctr">
                      <a:normAutofit/>
                    </a:bodyPr>
                    <a:lstStyle/>
                    <a:p>
                      <a:pPr algn="r"/>
                      <a:r>
                        <a:rPr sz="443" b="1">
                          <a:solidFill>
                            <a:srgbClr val="FFFFFF"/>
                          </a:solidFill>
                          <a:latin typeface="Arial"/>
                          <a:ea typeface="Arial"/>
                          <a:cs typeface="Arial"/>
                        </a:rPr>
                        <a:t>R$ bi</a:t>
                      </a:r>
                    </a:p>
                  </a:txBody>
                  <a:tcPr marL="47625" marR="47625" marT="19050" marB="19050" anchor="ctr">
                    <a:solidFill>
                      <a:srgbClr val="151515"/>
                    </a:solidFill>
                  </a:tcPr>
                </a:tc>
                <a:tc>
                  <a:txBody>
                    <a:bodyPr wrap="square" anchor="ctr">
                      <a:normAutofit/>
                    </a:bodyPr>
                    <a:lstStyle/>
                    <a:p>
                      <a:pPr algn="l"/>
                      <a:r>
                        <a:rPr sz="443" b="1">
                          <a:solidFill>
                            <a:srgbClr val="FFFFFF"/>
                          </a:solidFill>
                          <a:latin typeface="Arial"/>
                          <a:ea typeface="Arial"/>
                          <a:cs typeface="Arial"/>
                        </a:rPr>
                        <a:t>Coord.</a:t>
                      </a:r>
                    </a:p>
                  </a:txBody>
                  <a:tcPr marL="47625" marR="47625" marT="19050" marB="19050" anchor="ctr">
                    <a:solidFill>
                      <a:srgbClr val="151515"/>
                    </a:solidFill>
                  </a:tcPr>
                </a:tc>
                <a:tc>
                  <a:txBody>
                    <a:bodyPr wrap="square" anchor="ctr">
                      <a:normAutofit/>
                    </a:bodyPr>
                    <a:lstStyle/>
                    <a:p>
                      <a:pPr algn="ctr"/>
                      <a:r>
                        <a:rPr sz="443" b="1">
                          <a:solidFill>
                            <a:srgbClr val="FFFFFF"/>
                          </a:solidFill>
                          <a:latin typeface="Arial"/>
                          <a:ea typeface="Arial"/>
                          <a:cs typeface="Arial"/>
                        </a:rPr>
                        <a:t>GF</a:t>
                      </a:r>
                    </a:p>
                  </a:txBody>
                  <a:tcPr marL="47625" marR="47625" marT="19050" marB="19050" anchor="ctr">
                    <a:solidFill>
                      <a:srgbClr val="151515"/>
                    </a:solidFill>
                  </a:tcPr>
                </a:tc>
                <a:tc>
                  <a:txBody>
                    <a:bodyPr wrap="square" anchor="ctr">
                      <a:normAutofit/>
                    </a:bodyPr>
                    <a:lstStyle/>
                    <a:p>
                      <a:pPr algn="l"/>
                      <a:r>
                        <a:rPr sz="443" b="1">
                          <a:solidFill>
                            <a:srgbClr val="FFFFFF"/>
                          </a:solidFill>
                          <a:latin typeface="Arial"/>
                          <a:ea typeface="Arial"/>
                          <a:cs typeface="Arial"/>
                        </a:rPr>
                        <a:t>Público</a:t>
                      </a:r>
                    </a:p>
                  </a:txBody>
                  <a:tcPr marL="47625" marR="47625" marT="19050" marB="19050" anchor="ctr">
                    <a:solidFill>
                      <a:srgbClr val="151515"/>
                    </a:solidFill>
                  </a:tcPr>
                </a:tc>
                <a:tc>
                  <a:txBody>
                    <a:bodyPr wrap="square" anchor="ctr">
                      <a:normAutofit/>
                    </a:bodyPr>
                    <a:lstStyle/>
                    <a:p>
                      <a:pPr algn="l"/>
                      <a:r>
                        <a:rPr sz="443" b="1">
                          <a:solidFill>
                            <a:srgbClr val="FFFFFF"/>
                          </a:solidFill>
                          <a:latin typeface="Arial"/>
                          <a:ea typeface="Arial"/>
                          <a:cs typeface="Arial"/>
                        </a:rPr>
                        <a:t>Agência</a:t>
                      </a:r>
                    </a:p>
                  </a:txBody>
                  <a:tcPr marL="47625" marR="47625" marT="19050" marB="19050" anchor="ctr">
                    <a:solidFill>
                      <a:srgbClr val="151515"/>
                    </a:solidFill>
                  </a:tcPr>
                </a:tc>
                <a:tc>
                  <a:txBody>
                    <a:bodyPr wrap="square" anchor="ctr">
                      <a:normAutofit/>
                    </a:bodyPr>
                    <a:lstStyle/>
                    <a:p>
                      <a:pPr algn="l"/>
                      <a:r>
                        <a:rPr sz="443" b="1">
                          <a:solidFill>
                            <a:srgbClr val="FFFFFF"/>
                          </a:solidFill>
                          <a:latin typeface="Arial"/>
                          <a:ea typeface="Arial"/>
                          <a:cs typeface="Arial"/>
                        </a:rPr>
                        <a:t>Rating</a:t>
                      </a:r>
                    </a:p>
                  </a:txBody>
                  <a:tcPr marL="47625" marR="47625" marT="19050" marB="19050" anchor="ctr">
                    <a:solidFill>
                      <a:srgbClr val="151515"/>
                    </a:solidFill>
                  </a:tcPr>
                </a:tc>
              </a:tr>
              <a:tr h="257810">
                <a:tc>
                  <a:txBody>
                    <a:bodyPr wrap="square" anchor="ctr">
                      <a:normAutofit/>
                    </a:bodyPr>
                    <a:lstStyle/>
                    <a:p>
                      <a:pPr algn="r"/>
                      <a:r>
                        <a:rPr sz="458">
                          <a:solidFill>
                            <a:srgbClr val="30353A"/>
                          </a:solidFill>
                          <a:latin typeface="Arial"/>
                          <a:ea typeface="Arial"/>
                          <a:cs typeface="Arial"/>
                        </a:rPr>
                        <a:t>1</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SELLER</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458">
                          <a:solidFill>
                            <a:srgbClr val="30353A"/>
                          </a:solidFill>
                          <a:latin typeface="Arial"/>
                          <a:ea typeface="Arial"/>
                          <a:cs typeface="Arial"/>
                        </a:rPr>
                        <a:t>1,50</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Itaú BBA</a:t>
                      </a:r>
                    </a:p>
                  </a:txBody>
                  <a:tcPr marL="47625" marR="47625" marT="14288" marB="14288" anchor="ctr">
                    <a:solidFill>
                      <a:srgbClr val="FFFFFF"/>
                    </a:solidFill>
                  </a:tcPr>
                </a:tc>
                <a:tc>
                  <a:txBody>
                    <a:bodyPr wrap="square" anchor="ctr">
                      <a:normAutofit/>
                    </a:bodyPr>
                    <a:lstStyle/>
                    <a:p>
                      <a:pPr algn="ctr"/>
                      <a:r>
                        <a:rPr sz="458">
                          <a:solidFill>
                            <a:srgbClr val="30353A"/>
                          </a:solidFill>
                          <a:latin typeface="Arial"/>
                          <a:ea typeface="Arial"/>
                          <a:cs typeface="Arial"/>
                        </a:rPr>
                        <a:t>Sim</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58">
                          <a:solidFill>
                            <a:srgbClr val="30353A"/>
                          </a:solidFill>
                          <a:latin typeface="Arial"/>
                          <a:ea typeface="Arial"/>
                          <a:cs typeface="Arial"/>
                        </a:rPr>
                        <a:t>2</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ACR IV</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5F6F7"/>
                    </a:solidFill>
                  </a:tcPr>
                </a:tc>
                <a:tc>
                  <a:txBody>
                    <a:bodyPr wrap="square" anchor="ctr">
                      <a:normAutofit/>
                    </a:bodyPr>
                    <a:lstStyle/>
                    <a:p>
                      <a:pPr algn="r"/>
                      <a:r>
                        <a:rPr sz="458">
                          <a:solidFill>
                            <a:srgbClr val="30353A"/>
                          </a:solidFill>
                          <a:latin typeface="Arial"/>
                          <a:ea typeface="Arial"/>
                          <a:cs typeface="Arial"/>
                        </a:rPr>
                        <a:t>1,03</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CAIXA ECONOMICA</a:t>
                      </a:r>
                    </a:p>
                  </a:txBody>
                  <a:tcPr marL="47625" marR="47625" marT="14288" marB="14288" anchor="ctr">
                    <a:solidFill>
                      <a:srgbClr val="F5F6F7"/>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S&amp;P</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brAAA (sf)</a:t>
                      </a:r>
                    </a:p>
                  </a:txBody>
                  <a:tcPr marL="47625" marR="47625" marT="14288" marB="14288" anchor="ctr">
                    <a:solidFill>
                      <a:srgbClr val="F5F6F7"/>
                    </a:solidFill>
                  </a:tcPr>
                </a:tc>
              </a:tr>
              <a:tr h="257810">
                <a:tc>
                  <a:txBody>
                    <a:bodyPr wrap="square" anchor="ctr">
                      <a:normAutofit/>
                    </a:bodyPr>
                    <a:lstStyle/>
                    <a:p>
                      <a:pPr algn="r"/>
                      <a:r>
                        <a:rPr sz="458">
                          <a:solidFill>
                            <a:srgbClr val="30353A"/>
                          </a:solidFill>
                          <a:latin typeface="Arial"/>
                          <a:ea typeface="Arial"/>
                          <a:cs typeface="Arial"/>
                        </a:rPr>
                        <a:t>3</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PÁTRIA INFRA CRÉDITO I</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458">
                          <a:solidFill>
                            <a:srgbClr val="30353A"/>
                          </a:solidFill>
                          <a:latin typeface="Arial"/>
                          <a:ea typeface="Arial"/>
                          <a:cs typeface="Arial"/>
                        </a:rPr>
                        <a:t>0,98</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PÁTRIA</a:t>
                      </a:r>
                    </a:p>
                  </a:txBody>
                  <a:tcPr marL="47625" marR="47625" marT="14288" marB="14288" anchor="ctr">
                    <a:solidFill>
                      <a:srgbClr val="FFFFFF"/>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58">
                          <a:solidFill>
                            <a:srgbClr val="30353A"/>
                          </a:solidFill>
                          <a:latin typeface="Arial"/>
                          <a:ea typeface="Arial"/>
                          <a:cs typeface="Arial"/>
                        </a:rPr>
                        <a:t>4</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CLIENTES BRF II</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5F6F7"/>
                    </a:solidFill>
                  </a:tcPr>
                </a:tc>
                <a:tc>
                  <a:txBody>
                    <a:bodyPr wrap="square" anchor="ctr">
                      <a:normAutofit/>
                    </a:bodyPr>
                    <a:lstStyle/>
                    <a:p>
                      <a:pPr algn="r"/>
                      <a:r>
                        <a:rPr sz="458">
                          <a:solidFill>
                            <a:srgbClr val="30353A"/>
                          </a:solidFill>
                          <a:latin typeface="Arial"/>
                          <a:ea typeface="Arial"/>
                          <a:cs typeface="Arial"/>
                        </a:rPr>
                        <a:t>0,94</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UBS BRASIL</a:t>
                      </a:r>
                    </a:p>
                  </a:txBody>
                  <a:tcPr marL="47625" marR="47625" marT="14288" marB="14288" anchor="ctr">
                    <a:solidFill>
                      <a:srgbClr val="F5F6F7"/>
                    </a:solidFill>
                  </a:tcPr>
                </a:tc>
                <a:tc>
                  <a:txBody>
                    <a:bodyPr wrap="square" anchor="ctr">
                      <a:normAutofit/>
                    </a:bodyPr>
                    <a:lstStyle/>
                    <a:p>
                      <a:pPr algn="ctr"/>
                      <a:r>
                        <a:rPr sz="458">
                          <a:solidFill>
                            <a:srgbClr val="30353A"/>
                          </a:solidFill>
                          <a:latin typeface="Arial"/>
                          <a:ea typeface="Arial"/>
                          <a:cs typeface="Arial"/>
                        </a:rPr>
                        <a:t>Sim</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5F6F7"/>
                    </a:solidFill>
                  </a:tcPr>
                </a:tc>
              </a:tr>
              <a:tr h="257810">
                <a:tc>
                  <a:txBody>
                    <a:bodyPr wrap="square" anchor="ctr">
                      <a:normAutofit/>
                    </a:bodyPr>
                    <a:lstStyle/>
                    <a:p>
                      <a:pPr algn="r"/>
                      <a:r>
                        <a:rPr sz="458">
                          <a:solidFill>
                            <a:srgbClr val="30353A"/>
                          </a:solidFill>
                          <a:latin typeface="Arial"/>
                          <a:ea typeface="Arial"/>
                          <a:cs typeface="Arial"/>
                        </a:rPr>
                        <a:t>5</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DRIVER BRASIL SIX BANCO VOLKSWAGEN FINANCIAMENTO VEÍCULOS</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458">
                          <a:solidFill>
                            <a:srgbClr val="30353A"/>
                          </a:solidFill>
                          <a:latin typeface="Arial"/>
                          <a:ea typeface="Arial"/>
                          <a:cs typeface="Arial"/>
                        </a:rPr>
                        <a:t>0,70</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Itaú BBA</a:t>
                      </a:r>
                    </a:p>
                  </a:txBody>
                  <a:tcPr marL="47625" marR="47625" marT="14288" marB="14288" anchor="ctr">
                    <a:solidFill>
                      <a:srgbClr val="FFFFFF"/>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58">
                          <a:solidFill>
                            <a:srgbClr val="30353A"/>
                          </a:solidFill>
                          <a:latin typeface="Arial"/>
                          <a:ea typeface="Arial"/>
                          <a:cs typeface="Arial"/>
                        </a:rPr>
                        <a:t>6</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Angá FGTS I</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5F6F7"/>
                    </a:solidFill>
                  </a:tcPr>
                </a:tc>
                <a:tc>
                  <a:txBody>
                    <a:bodyPr wrap="square" anchor="ctr">
                      <a:normAutofit/>
                    </a:bodyPr>
                    <a:lstStyle/>
                    <a:p>
                      <a:pPr algn="r"/>
                      <a:r>
                        <a:rPr sz="458">
                          <a:solidFill>
                            <a:srgbClr val="30353A"/>
                          </a:solidFill>
                          <a:latin typeface="Arial"/>
                          <a:ea typeface="Arial"/>
                          <a:cs typeface="Arial"/>
                        </a:rPr>
                        <a:t>0,61</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Votorantim</a:t>
                      </a:r>
                    </a:p>
                  </a:txBody>
                  <a:tcPr marL="47625" marR="47625" marT="14288" marB="14288" anchor="ctr">
                    <a:solidFill>
                      <a:srgbClr val="F5F6F7"/>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Austin</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brAA+(sf)</a:t>
                      </a:r>
                    </a:p>
                    <a:p>
                      <a:pPr algn="l"/>
                      <a:r>
                        <a:rPr sz="458">
                          <a:solidFill>
                            <a:srgbClr val="30353A"/>
                          </a:solidFill>
                          <a:latin typeface="Arial"/>
                          <a:ea typeface="Arial"/>
                          <a:cs typeface="Arial"/>
                        </a:rPr>
                        <a:t>brA(sf)</a:t>
                      </a:r>
                    </a:p>
                    <a:p>
                      <a:pPr algn="l"/>
                      <a:r>
                        <a:rPr sz="458">
                          <a:solidFill>
                            <a:srgbClr val="30353A"/>
                          </a:solidFill>
                          <a:latin typeface="Arial"/>
                          <a:ea typeface="Arial"/>
                          <a:cs typeface="Arial"/>
                        </a:rPr>
                        <a:t>brBBB-(sf)</a:t>
                      </a:r>
                    </a:p>
                  </a:txBody>
                  <a:tcPr marL="47625" marR="47625" marT="14288" marB="14288" anchor="ctr">
                    <a:solidFill>
                      <a:srgbClr val="F5F6F7"/>
                    </a:solidFill>
                  </a:tcPr>
                </a:tc>
              </a:tr>
              <a:tr h="257810">
                <a:tc>
                  <a:txBody>
                    <a:bodyPr wrap="square" anchor="ctr">
                      <a:normAutofit/>
                    </a:bodyPr>
                    <a:lstStyle/>
                    <a:p>
                      <a:pPr algn="r"/>
                      <a:r>
                        <a:rPr sz="458">
                          <a:solidFill>
                            <a:srgbClr val="30353A"/>
                          </a:solidFill>
                          <a:latin typeface="Arial"/>
                          <a:ea typeface="Arial"/>
                          <a:cs typeface="Arial"/>
                        </a:rPr>
                        <a:t>7</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TERRAMAR</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458">
                          <a:solidFill>
                            <a:srgbClr val="30353A"/>
                          </a:solidFill>
                          <a:latin typeface="Arial"/>
                          <a:ea typeface="Arial"/>
                          <a:cs typeface="Arial"/>
                        </a:rPr>
                        <a:t>0,51</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BTG PACTUAL</a:t>
                      </a:r>
                    </a:p>
                  </a:txBody>
                  <a:tcPr marL="47625" marR="47625" marT="14288" marB="14288" anchor="ctr">
                    <a:solidFill>
                      <a:srgbClr val="FFFFFF"/>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58">
                          <a:solidFill>
                            <a:srgbClr val="30353A"/>
                          </a:solidFill>
                          <a:latin typeface="Arial"/>
                          <a:ea typeface="Arial"/>
                          <a:cs typeface="Arial"/>
                        </a:rPr>
                        <a:t>8</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OPEA AGRO INSUMOS</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5F6F7"/>
                    </a:solidFill>
                  </a:tcPr>
                </a:tc>
                <a:tc>
                  <a:txBody>
                    <a:bodyPr wrap="square" anchor="ctr">
                      <a:normAutofit/>
                    </a:bodyPr>
                    <a:lstStyle/>
                    <a:p>
                      <a:pPr algn="r"/>
                      <a:r>
                        <a:rPr sz="458">
                          <a:solidFill>
                            <a:srgbClr val="30353A"/>
                          </a:solidFill>
                          <a:latin typeface="Arial"/>
                          <a:ea typeface="Arial"/>
                          <a:cs typeface="Arial"/>
                        </a:rPr>
                        <a:t>0,50</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Itaú BBA</a:t>
                      </a:r>
                    </a:p>
                  </a:txBody>
                  <a:tcPr marL="47625" marR="47625" marT="14288" marB="14288" anchor="ctr">
                    <a:solidFill>
                      <a:srgbClr val="F5F6F7"/>
                    </a:solidFill>
                  </a:tcPr>
                </a:tc>
                <a:tc>
                  <a:txBody>
                    <a:bodyPr wrap="square" anchor="ctr">
                      <a:normAutofit/>
                    </a:bodyPr>
                    <a:lstStyle/>
                    <a:p>
                      <a:pPr algn="ctr"/>
                      <a:r>
                        <a:rPr sz="458">
                          <a:solidFill>
                            <a:srgbClr val="30353A"/>
                          </a:solidFill>
                          <a:latin typeface="Arial"/>
                          <a:ea typeface="Arial"/>
                          <a:cs typeface="Arial"/>
                        </a:rPr>
                        <a:t>Sim</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5F6F7"/>
                    </a:solidFill>
                  </a:tcPr>
                </a:tc>
              </a:tr>
              <a:tr h="257810">
                <a:tc>
                  <a:txBody>
                    <a:bodyPr wrap="square" anchor="ctr">
                      <a:normAutofit/>
                    </a:bodyPr>
                    <a:lstStyle/>
                    <a:p>
                      <a:pPr algn="r"/>
                      <a:r>
                        <a:rPr sz="458">
                          <a:solidFill>
                            <a:srgbClr val="30353A"/>
                          </a:solidFill>
                          <a:latin typeface="Arial"/>
                          <a:ea typeface="Arial"/>
                          <a:cs typeface="Arial"/>
                        </a:rPr>
                        <a:t>9</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SUMUP I MEIOS PAGAMENTO</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458">
                          <a:solidFill>
                            <a:srgbClr val="30353A"/>
                          </a:solidFill>
                          <a:latin typeface="Arial"/>
                          <a:ea typeface="Arial"/>
                          <a:cs typeface="Arial"/>
                        </a:rPr>
                        <a:t>0,50</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BANCO BRADESCO BBI</a:t>
                      </a:r>
                    </a:p>
                  </a:txBody>
                  <a:tcPr marL="47625" marR="47625" marT="14288" marB="14288" anchor="ctr">
                    <a:solidFill>
                      <a:srgbClr val="FFFFFF"/>
                    </a:solidFill>
                  </a:tcPr>
                </a:tc>
                <a:tc>
                  <a:txBody>
                    <a:bodyPr wrap="square" anchor="ctr">
                      <a:normAutofit/>
                    </a:bodyPr>
                    <a:lstStyle/>
                    <a:p>
                      <a:pPr algn="ctr"/>
                      <a:r>
                        <a:rPr sz="458">
                          <a:solidFill>
                            <a:srgbClr val="30353A"/>
                          </a:solidFill>
                          <a:latin typeface="Arial"/>
                          <a:ea typeface="Arial"/>
                          <a:cs typeface="Arial"/>
                        </a:rPr>
                        <a:t>Sim</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S&amp;P</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brAAA (sf)</a:t>
                      </a:r>
                    </a:p>
                  </a:txBody>
                  <a:tcPr marL="47625" marR="47625" marT="14288" marB="14288" anchor="ctr">
                    <a:solidFill>
                      <a:srgbClr val="FFFFFF"/>
                    </a:solidFill>
                  </a:tcPr>
                </a:tc>
              </a:tr>
              <a:tr h="257810">
                <a:tc>
                  <a:txBody>
                    <a:bodyPr wrap="square" anchor="ctr">
                      <a:normAutofit/>
                    </a:bodyPr>
                    <a:lstStyle/>
                    <a:p>
                      <a:pPr algn="r"/>
                      <a:r>
                        <a:rPr sz="458">
                          <a:solidFill>
                            <a:srgbClr val="30353A"/>
                          </a:solidFill>
                          <a:latin typeface="Arial"/>
                          <a:ea typeface="Arial"/>
                          <a:cs typeface="Arial"/>
                        </a:rPr>
                        <a:t>10</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GREEN SOLFÁCIL III</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5F6F7"/>
                    </a:solidFill>
                  </a:tcPr>
                </a:tc>
                <a:tc>
                  <a:txBody>
                    <a:bodyPr wrap="square" anchor="ctr">
                      <a:normAutofit/>
                    </a:bodyPr>
                    <a:lstStyle/>
                    <a:p>
                      <a:pPr algn="r"/>
                      <a:r>
                        <a:rPr sz="458">
                          <a:solidFill>
                            <a:srgbClr val="30353A"/>
                          </a:solidFill>
                          <a:latin typeface="Arial"/>
                          <a:ea typeface="Arial"/>
                          <a:cs typeface="Arial"/>
                        </a:rPr>
                        <a:t>0,48</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Itaú BBA</a:t>
                      </a:r>
                    </a:p>
                  </a:txBody>
                  <a:tcPr marL="47625" marR="47625" marT="14288" marB="14288" anchor="ctr">
                    <a:solidFill>
                      <a:srgbClr val="F5F6F7"/>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Fitch</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AA+sf(bra)</a:t>
                      </a:r>
                    </a:p>
                    <a:p>
                      <a:pPr algn="l"/>
                      <a:r>
                        <a:rPr sz="458">
                          <a:solidFill>
                            <a:srgbClr val="30353A"/>
                          </a:solidFill>
                          <a:latin typeface="Arial"/>
                          <a:ea typeface="Arial"/>
                          <a:cs typeface="Arial"/>
                        </a:rPr>
                        <a:t>BBBsf(bra)</a:t>
                      </a:r>
                    </a:p>
                  </a:txBody>
                  <a:tcPr marL="47625" marR="47625" marT="14288" marB="14288" anchor="ctr">
                    <a:solidFill>
                      <a:srgbClr val="F5F6F7"/>
                    </a:solidFill>
                  </a:tcPr>
                </a:tc>
              </a:tr>
              <a:tr h="257810">
                <a:tc>
                  <a:txBody>
                    <a:bodyPr wrap="square" anchor="ctr">
                      <a:normAutofit/>
                    </a:bodyPr>
                    <a:lstStyle/>
                    <a:p>
                      <a:pPr algn="r"/>
                      <a:r>
                        <a:rPr sz="458">
                          <a:solidFill>
                            <a:srgbClr val="30353A"/>
                          </a:solidFill>
                          <a:latin typeface="Arial"/>
                          <a:ea typeface="Arial"/>
                          <a:cs typeface="Arial"/>
                        </a:rPr>
                        <a:t>11</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CHEMICAL XIII - - INDÚSTRIA PETROQUÍMICA</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458">
                          <a:solidFill>
                            <a:srgbClr val="30353A"/>
                          </a:solidFill>
                          <a:latin typeface="Arial"/>
                          <a:ea typeface="Arial"/>
                          <a:cs typeface="Arial"/>
                        </a:rPr>
                        <a:t>0,44</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Itaú BBA</a:t>
                      </a:r>
                    </a:p>
                  </a:txBody>
                  <a:tcPr marL="47625" marR="47625" marT="14288" marB="14288" anchor="ctr">
                    <a:solidFill>
                      <a:srgbClr val="FFFFFF"/>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58">
                          <a:solidFill>
                            <a:srgbClr val="30353A"/>
                          </a:solidFill>
                          <a:latin typeface="Arial"/>
                          <a:ea typeface="Arial"/>
                          <a:cs typeface="Arial"/>
                        </a:rPr>
                        <a:t>12</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CREDZ</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5F6F7"/>
                    </a:solidFill>
                  </a:tcPr>
                </a:tc>
                <a:tc>
                  <a:txBody>
                    <a:bodyPr wrap="square" anchor="ctr">
                      <a:normAutofit/>
                    </a:bodyPr>
                    <a:lstStyle/>
                    <a:p>
                      <a:pPr algn="r"/>
                      <a:r>
                        <a:rPr sz="458">
                          <a:solidFill>
                            <a:srgbClr val="30353A"/>
                          </a:solidFill>
                          <a:latin typeface="Arial"/>
                          <a:ea typeface="Arial"/>
                          <a:cs typeface="Arial"/>
                        </a:rPr>
                        <a:t>0,40</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XP INVESTIMENTOS</a:t>
                      </a:r>
                    </a:p>
                  </a:txBody>
                  <a:tcPr marL="47625" marR="47625" marT="14288" marB="14288" anchor="ctr">
                    <a:solidFill>
                      <a:srgbClr val="F5F6F7"/>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5F6F7"/>
                    </a:solidFill>
                  </a:tcPr>
                </a:tc>
              </a:tr>
              <a:tr h="257810">
                <a:tc>
                  <a:txBody>
                    <a:bodyPr wrap="square" anchor="ctr">
                      <a:normAutofit/>
                    </a:bodyPr>
                    <a:lstStyle/>
                    <a:p>
                      <a:pPr algn="r"/>
                      <a:r>
                        <a:rPr sz="458">
                          <a:solidFill>
                            <a:srgbClr val="30353A"/>
                          </a:solidFill>
                          <a:latin typeface="Arial"/>
                          <a:ea typeface="Arial"/>
                          <a:cs typeface="Arial"/>
                        </a:rPr>
                        <a:t>13</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SUPPLIER</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458">
                          <a:solidFill>
                            <a:srgbClr val="30353A"/>
                          </a:solidFill>
                          <a:latin typeface="Arial"/>
                          <a:ea typeface="Arial"/>
                          <a:cs typeface="Arial"/>
                        </a:rPr>
                        <a:t>0,40</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Itaú BBA</a:t>
                      </a:r>
                    </a:p>
                  </a:txBody>
                  <a:tcPr marL="47625" marR="47625" marT="14288" marB="14288" anchor="ctr">
                    <a:solidFill>
                      <a:srgbClr val="FFFFFF"/>
                    </a:solidFill>
                  </a:tcPr>
                </a:tc>
                <a:tc>
                  <a:txBody>
                    <a:bodyPr wrap="square" anchor="ctr">
                      <a:normAutofit/>
                    </a:bodyPr>
                    <a:lstStyle/>
                    <a:p>
                      <a:pPr algn="ctr"/>
                      <a:r>
                        <a:rPr sz="458">
                          <a:solidFill>
                            <a:srgbClr val="30353A"/>
                          </a:solidFill>
                          <a:latin typeface="Arial"/>
                          <a:ea typeface="Arial"/>
                          <a:cs typeface="Arial"/>
                        </a:rPr>
                        <a:t>Sim</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r>
              <a:tr h="257810">
                <a:tc>
                  <a:txBody>
                    <a:bodyPr wrap="square" anchor="ctr">
                      <a:normAutofit/>
                    </a:bodyPr>
                    <a:lstStyle/>
                    <a:p>
                      <a:pPr algn="r"/>
                      <a:r>
                        <a:rPr sz="458">
                          <a:solidFill>
                            <a:srgbClr val="30353A"/>
                          </a:solidFill>
                          <a:latin typeface="Arial"/>
                          <a:ea typeface="Arial"/>
                          <a:cs typeface="Arial"/>
                        </a:rPr>
                        <a:t>14</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PLATINUM NÃO-PADRONIZADOS</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5F6F7"/>
                    </a:solidFill>
                  </a:tcPr>
                </a:tc>
                <a:tc>
                  <a:txBody>
                    <a:bodyPr wrap="square" anchor="ctr">
                      <a:normAutofit/>
                    </a:bodyPr>
                    <a:lstStyle/>
                    <a:p>
                      <a:pPr algn="r"/>
                      <a:r>
                        <a:rPr sz="458">
                          <a:solidFill>
                            <a:srgbClr val="30353A"/>
                          </a:solidFill>
                          <a:latin typeface="Arial"/>
                          <a:ea typeface="Arial"/>
                          <a:cs typeface="Arial"/>
                        </a:rPr>
                        <a:t>0,36</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TRUSTEE</a:t>
                      </a:r>
                    </a:p>
                  </a:txBody>
                  <a:tcPr marL="47625" marR="47625" marT="14288" marB="14288" anchor="ctr">
                    <a:solidFill>
                      <a:srgbClr val="F5F6F7"/>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5F6F7"/>
                    </a:solidFill>
                  </a:tcPr>
                </a:tc>
              </a:tr>
              <a:tr h="257810">
                <a:tc>
                  <a:txBody>
                    <a:bodyPr wrap="square" anchor="ctr">
                      <a:normAutofit/>
                    </a:bodyPr>
                    <a:lstStyle/>
                    <a:p>
                      <a:pPr algn="r"/>
                      <a:r>
                        <a:rPr sz="458">
                          <a:solidFill>
                            <a:srgbClr val="30353A"/>
                          </a:solidFill>
                          <a:latin typeface="Arial"/>
                          <a:ea typeface="Arial"/>
                          <a:cs typeface="Arial"/>
                        </a:rPr>
                        <a:t>15</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ATRANI NÃO-PADRONIZADOS</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458">
                          <a:solidFill>
                            <a:srgbClr val="30353A"/>
                          </a:solidFill>
                          <a:latin typeface="Arial"/>
                          <a:ea typeface="Arial"/>
                          <a:cs typeface="Arial"/>
                        </a:rPr>
                        <a:t>0,30</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TRUSTEE</a:t>
                      </a:r>
                    </a:p>
                  </a:txBody>
                  <a:tcPr marL="47625" marR="47625" marT="14288" marB="14288" anchor="ctr">
                    <a:solidFill>
                      <a:srgbClr val="FFFFFF"/>
                    </a:solidFill>
                  </a:tcPr>
                </a:tc>
                <a:tc>
                  <a:txBody>
                    <a:bodyPr wrap="square" anchor="ctr">
                      <a:normAutofit/>
                    </a:bodyPr>
                    <a:lstStyle/>
                    <a:p>
                      <a:pPr algn="ctr"/>
                      <a:r>
                        <a:rPr sz="458">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Prof.</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458">
                          <a:solidFill>
                            <a:srgbClr val="30353A"/>
                          </a:solidFill>
                          <a:latin typeface="Arial"/>
                          <a:ea typeface="Arial"/>
                          <a:cs typeface="Arial"/>
                        </a:rPr>
                        <a:t>N/D</a:t>
                      </a:r>
                    </a:p>
                  </a:txBody>
                  <a:tcPr marL="47625" marR="47625" marT="14288" marB="14288" anchor="ctr">
                    <a:solidFill>
                      <a:srgbClr val="FFFFFF"/>
                    </a:solidFill>
                  </a:tcPr>
                </a:tc>
              </a:tr>
            </a:tbl>
          </a:graphicData>
        </a:graphic>
      </p:graphicFrame>
      <p:sp>
        <p:nvSpPr>
          <p:cNvPr id="14" name="">
            <a:extLst xmlns:a="http://schemas.openxmlformats.org/drawingml/2006/main">
              <a:ext uri="{FF2B5EF4-FFF2-40B4-BE49-F238E27FC236}">
                <a16:creationId xmlns:a16="http://schemas.microsoft.com/office/drawing/2014/main" id="{339F8321-595C-4182-BB00-4A780EF4CDF7}"/>
              </a:ext>
            </a:extLst>
          </p:cNvPr>
          <p:cNvSpPr>
            <a:spLocks xmlns:a="http://schemas.openxmlformats.org/drawingml/2006/main" noGrp="1"/>
          </p:cNvSpPr>
          <p:nvPr/>
        </p:nvSpPr>
        <p:spPr>
          <a:xfrm xmlns:a="http://schemas.openxmlformats.org/drawingml/2006/main">
            <a:off x="6286500" y="5905500"/>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690" b="1">
                <a:solidFill>
                  <a:srgbClr val="30353A"/>
                </a:solidFill>
                <a:latin typeface="Arial"/>
                <a:ea typeface="Arial"/>
                <a:cs typeface="Arial"/>
              </a:defRPr>
            </a:pPr>
            <a:r>
              <a:rPr sz="690" b="1">
                <a:solidFill>
                  <a:srgbClr val="30353A"/>
                </a:solidFill>
                <a:latin typeface="Arial"/>
                <a:ea typeface="Arial"/>
                <a:cs typeface="Arial"/>
              </a:rPr>
              <a:t>Subtotal: R$ 9,65 bi · 36,5% do período</a:t>
            </a:r>
          </a:p>
        </p:txBody>
      </p:sp>
      <p:sp>
        <p:nvSpPr>
          <p:cNvPr id="15" name="">
            <a:extLst xmlns:a="http://schemas.openxmlformats.org/drawingml/2006/main">
              <a:ext uri="{FF2B5EF4-FFF2-40B4-BE49-F238E27FC236}">
                <a16:creationId xmlns:a16="http://schemas.microsoft.com/office/drawing/2014/main" id="{1359611C-CE26-4EE9-9062-EBDDB1FB1830}"/>
              </a:ext>
            </a:extLst>
          </p:cNvPr>
          <p:cNvSpPr>
            <a:spLocks xmlns:a="http://schemas.openxmlformats.org/drawingml/2006/main" noGrp="1"/>
          </p:cNvSpPr>
          <p:nvPr/>
        </p:nvSpPr>
        <p:spPr>
          <a:xfrm xmlns:a="http://schemas.openxmlformats.org/drawingml/2006/main">
            <a:off x="571500" y="6105525"/>
            <a:ext cx="1104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607" b="0">
                <a:solidFill>
                  <a:srgbClr val="8D9399"/>
                </a:solidFill>
                <a:latin typeface="Arial"/>
                <a:ea typeface="Arial"/>
                <a:cs typeface="Arial"/>
              </a:defRPr>
            </a:pPr>
            <a:r>
              <a:rPr sz="607" b="0">
                <a:solidFill>
                  <a:srgbClr val="8D9399"/>
                </a:solidFill>
                <a:latin typeface="Arial"/>
                <a:ea typeface="Arial"/>
                <a:cs typeface="Arial"/>
              </a:rPr>
              <a:t>GF = garantia firme. Agência e rating são publicados somente quando há documento público verificável conciliado com a emissão; ausência de documento ou vínculo exato = N/D.</a:t>
            </a:r>
          </a:p>
        </p:txBody>
      </p:sp>
    </p:spTree>
    <p:extLst>
      <p:ext uri="{BB962C8B-B14F-4D97-AF65-F5344CB8AC3E}">
        <p14:creationId xmlns:p14="http://schemas.microsoft.com/office/powerpoint/2010/main" val="15244376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18514FC-B9AB-4223-A1DF-F888FBD1B59C}"/>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TOP 15 · 2022 PARCIAL</a:t>
            </a:r>
          </a:p>
        </p:txBody>
      </p:sp>
      <p:sp>
        <p:nvSpPr>
          <p:cNvPr id="2" name="">
            <a:extLst xmlns:a="http://schemas.openxmlformats.org/drawingml/2006/main">
              <a:ext uri="{FF2B5EF4-FFF2-40B4-BE49-F238E27FC236}">
                <a16:creationId xmlns:a16="http://schemas.microsoft.com/office/drawing/2014/main" id="{3678F09B-085E-4F57-979E-0006B3C5F51D}"/>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98525"/>
          </a:bodyPr>
          <a:lstStyle xmlns:a="http://schemas.openxmlformats.org/drawingml/2006/main"/>
          <a:p xmlns:a="http://schemas.openxmlformats.org/drawingml/2006/main">
            <a:pPr algn="l">
              <a:lnSpc>
                <a:spcPct val="100000"/>
              </a:lnSpc>
              <a:buNone/>
              <a:defRPr sz="1950" b="1">
                <a:solidFill>
                  <a:srgbClr val="151515"/>
                </a:solidFill>
                <a:latin typeface="Arial"/>
                <a:ea typeface="Arial"/>
                <a:cs typeface="Arial"/>
              </a:defRPr>
            </a:pPr>
            <a:r>
              <a:rPr sz="1950" b="1">
                <a:solidFill>
                  <a:srgbClr val="151515"/>
                </a:solidFill>
                <a:latin typeface="Arial"/>
                <a:ea typeface="Arial"/>
                <a:cs typeface="Arial"/>
              </a:rPr>
              <a:t>A base pública recuperada contém 7 ofertas legadas; o período não forma um Top 15 completo</a:t>
            </a:r>
          </a:p>
        </p:txBody>
      </p:sp>
      <p:sp>
        <p:nvSpPr>
          <p:cNvPr id="3" name="">
            <a:extLst xmlns:a="http://schemas.openxmlformats.org/drawingml/2006/main">
              <a:ext uri="{FF2B5EF4-FFF2-40B4-BE49-F238E27FC236}">
                <a16:creationId xmlns:a16="http://schemas.microsoft.com/office/drawing/2014/main" id="{0EDC5E44-DB3D-48B7-8CB6-281CEF7FDC5D}"/>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F5EE5B8-9405-494B-ABE4-5EDED6A4DEB3}"/>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3E58F2C-8977-4B2C-863B-5485A9322DF6}"/>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CVM/SRE, base de distribuição dos ritos ordinário e legado, e FundosNet. Registros encerrados em 2022; cobertura parcial.</a:t>
            </a:r>
          </a:p>
        </p:txBody>
      </p:sp>
      <p:sp>
        <p:nvSpPr>
          <p:cNvPr id="6" name="">
            <a:extLst xmlns:a="http://schemas.openxmlformats.org/drawingml/2006/main">
              <a:ext uri="{FF2B5EF4-FFF2-40B4-BE49-F238E27FC236}">
                <a16:creationId xmlns:a16="http://schemas.microsoft.com/office/drawing/2014/main" id="{0CC6AFA4-CEB7-42B3-9114-EDABB6DCD74A}"/>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31</a:t>
            </a:r>
          </a:p>
        </p:txBody>
      </p:sp>
      <p:graphicFrame>
        <p:nvGraphicFramePr>
          <p:cNvPr id="16" name=""/>
          <p:cNvGraphicFramePr/>
          <p:nvPr/>
        </p:nvGraphicFramePr>
        <p:xfrm>
          <a:off xmlns:a="http://schemas.openxmlformats.org/drawingml/2006/main" x="571500" y="1476375"/>
          <a:ext xmlns:a="http://schemas.openxmlformats.org/drawingml/2006/main" cx="11049000" cy="3333750"/>
        </p:xfrm>
        <a:graphic xmlns:a="http://schemas.openxmlformats.org/drawingml/2006/main">
          <a:graphicData uri="http://schemas.openxmlformats.org/drawingml/2006/table">
            <a:tbl>
              <a:tblPr firstRow="0" firstCol="0" lastRow="0" lastCol="0" bandRow="0" bandCol="0"/>
              <a:tblGrid>
                <a:gridCol w="428625"/>
                <a:gridCol w="2476500"/>
                <a:gridCol w="1524000"/>
                <a:gridCol w="857250"/>
                <a:gridCol w="1619250"/>
                <a:gridCol w="619125"/>
                <a:gridCol w="904875"/>
                <a:gridCol w="1143000"/>
                <a:gridCol w="1476375"/>
              </a:tblGrid>
              <a:tr h="323850">
                <a:tc>
                  <a:txBody>
                    <a:bodyPr wrap="square" anchor="ctr">
                      <a:normAutofit/>
                    </a:bodyPr>
                    <a:lstStyle/>
                    <a:p>
                      <a:pPr algn="r"/>
                      <a:r>
                        <a:rPr sz="615" b="1">
                          <a:solidFill>
                            <a:srgbClr val="FFFFFF"/>
                          </a:solidFill>
                          <a:latin typeface="Arial"/>
                          <a:ea typeface="Arial"/>
                          <a:cs typeface="Arial"/>
                        </a:rPr>
                        <a:t>#</a:t>
                      </a:r>
                    </a:p>
                  </a:txBody>
                  <a:tcPr marL="47625" marR="47625" marT="19050" marB="19050" anchor="ctr">
                    <a:solidFill>
                      <a:srgbClr val="151515"/>
                    </a:solidFill>
                  </a:tcPr>
                </a:tc>
                <a:tc>
                  <a:txBody>
                    <a:bodyPr wrap="square" anchor="ctr">
                      <a:normAutofit/>
                    </a:bodyPr>
                    <a:lstStyle/>
                    <a:p>
                      <a:pPr algn="l"/>
                      <a:r>
                        <a:rPr sz="615" b="1">
                          <a:solidFill>
                            <a:srgbClr val="FFFFFF"/>
                          </a:solidFill>
                          <a:latin typeface="Arial"/>
                          <a:ea typeface="Arial"/>
                          <a:cs typeface="Arial"/>
                        </a:rPr>
                        <a:t>FIDC</a:t>
                      </a:r>
                    </a:p>
                  </a:txBody>
                  <a:tcPr marL="47625" marR="47625" marT="19050" marB="19050" anchor="ctr">
                    <a:solidFill>
                      <a:srgbClr val="151515"/>
                    </a:solidFill>
                  </a:tcPr>
                </a:tc>
                <a:tc>
                  <a:txBody>
                    <a:bodyPr wrap="square" anchor="ctr">
                      <a:normAutofit/>
                    </a:bodyPr>
                    <a:lstStyle/>
                    <a:p>
                      <a:pPr algn="l"/>
                      <a:r>
                        <a:rPr sz="615" b="1">
                          <a:solidFill>
                            <a:srgbClr val="FFFFFF"/>
                          </a:solidFill>
                          <a:latin typeface="Arial"/>
                          <a:ea typeface="Arial"/>
                          <a:cs typeface="Arial"/>
                        </a:rPr>
                        <a:t>Originador</a:t>
                      </a:r>
                    </a:p>
                  </a:txBody>
                  <a:tcPr marL="47625" marR="47625" marT="19050" marB="19050" anchor="ctr">
                    <a:solidFill>
                      <a:srgbClr val="151515"/>
                    </a:solidFill>
                  </a:tcPr>
                </a:tc>
                <a:tc>
                  <a:txBody>
                    <a:bodyPr wrap="square" anchor="ctr">
                      <a:normAutofit/>
                    </a:bodyPr>
                    <a:lstStyle/>
                    <a:p>
                      <a:pPr algn="r"/>
                      <a:r>
                        <a:rPr sz="615" b="1">
                          <a:solidFill>
                            <a:srgbClr val="FFFFFF"/>
                          </a:solidFill>
                          <a:latin typeface="Arial"/>
                          <a:ea typeface="Arial"/>
                          <a:cs typeface="Arial"/>
                        </a:rPr>
                        <a:t>R$ bi</a:t>
                      </a:r>
                    </a:p>
                  </a:txBody>
                  <a:tcPr marL="47625" marR="47625" marT="19050" marB="19050" anchor="ctr">
                    <a:solidFill>
                      <a:srgbClr val="151515"/>
                    </a:solidFill>
                  </a:tcPr>
                </a:tc>
                <a:tc>
                  <a:txBody>
                    <a:bodyPr wrap="square" anchor="ctr">
                      <a:normAutofit/>
                    </a:bodyPr>
                    <a:lstStyle/>
                    <a:p>
                      <a:pPr algn="l"/>
                      <a:r>
                        <a:rPr sz="615" b="1">
                          <a:solidFill>
                            <a:srgbClr val="FFFFFF"/>
                          </a:solidFill>
                          <a:latin typeface="Arial"/>
                          <a:ea typeface="Arial"/>
                          <a:cs typeface="Arial"/>
                        </a:rPr>
                        <a:t>Coordenador líder</a:t>
                      </a:r>
                    </a:p>
                  </a:txBody>
                  <a:tcPr marL="47625" marR="47625" marT="19050" marB="19050" anchor="ctr">
                    <a:solidFill>
                      <a:srgbClr val="151515"/>
                    </a:solidFill>
                  </a:tcPr>
                </a:tc>
                <a:tc>
                  <a:txBody>
                    <a:bodyPr wrap="square" anchor="ctr">
                      <a:normAutofit/>
                    </a:bodyPr>
                    <a:lstStyle/>
                    <a:p>
                      <a:pPr algn="ctr"/>
                      <a:r>
                        <a:rPr sz="615" b="1">
                          <a:solidFill>
                            <a:srgbClr val="FFFFFF"/>
                          </a:solidFill>
                          <a:latin typeface="Arial"/>
                          <a:ea typeface="Arial"/>
                          <a:cs typeface="Arial"/>
                        </a:rPr>
                        <a:t>GF</a:t>
                      </a:r>
                    </a:p>
                  </a:txBody>
                  <a:tcPr marL="47625" marR="47625" marT="19050" marB="19050" anchor="ctr">
                    <a:solidFill>
                      <a:srgbClr val="151515"/>
                    </a:solidFill>
                  </a:tcPr>
                </a:tc>
                <a:tc>
                  <a:txBody>
                    <a:bodyPr wrap="square" anchor="ctr">
                      <a:normAutofit/>
                    </a:bodyPr>
                    <a:lstStyle/>
                    <a:p>
                      <a:pPr algn="l"/>
                      <a:r>
                        <a:rPr sz="615" b="1">
                          <a:solidFill>
                            <a:srgbClr val="FFFFFF"/>
                          </a:solidFill>
                          <a:latin typeface="Arial"/>
                          <a:ea typeface="Arial"/>
                          <a:cs typeface="Arial"/>
                        </a:rPr>
                        <a:t>Público</a:t>
                      </a:r>
                    </a:p>
                  </a:txBody>
                  <a:tcPr marL="47625" marR="47625" marT="19050" marB="19050" anchor="ctr">
                    <a:solidFill>
                      <a:srgbClr val="151515"/>
                    </a:solidFill>
                  </a:tcPr>
                </a:tc>
                <a:tc>
                  <a:txBody>
                    <a:bodyPr wrap="square" anchor="ctr">
                      <a:normAutofit/>
                    </a:bodyPr>
                    <a:lstStyle/>
                    <a:p>
                      <a:pPr algn="l"/>
                      <a:r>
                        <a:rPr sz="615" b="1">
                          <a:solidFill>
                            <a:srgbClr val="FFFFFF"/>
                          </a:solidFill>
                          <a:latin typeface="Arial"/>
                          <a:ea typeface="Arial"/>
                          <a:cs typeface="Arial"/>
                        </a:rPr>
                        <a:t>Agência</a:t>
                      </a:r>
                    </a:p>
                  </a:txBody>
                  <a:tcPr marL="47625" marR="47625" marT="19050" marB="19050" anchor="ctr">
                    <a:solidFill>
                      <a:srgbClr val="151515"/>
                    </a:solidFill>
                  </a:tcPr>
                </a:tc>
                <a:tc>
                  <a:txBody>
                    <a:bodyPr wrap="square" anchor="ctr">
                      <a:normAutofit/>
                    </a:bodyPr>
                    <a:lstStyle/>
                    <a:p>
                      <a:pPr algn="l"/>
                      <a:r>
                        <a:rPr sz="615" b="1">
                          <a:solidFill>
                            <a:srgbClr val="FFFFFF"/>
                          </a:solidFill>
                          <a:latin typeface="Arial"/>
                          <a:ea typeface="Arial"/>
                          <a:cs typeface="Arial"/>
                        </a:rPr>
                        <a:t>Rating</a:t>
                      </a:r>
                    </a:p>
                  </a:txBody>
                  <a:tcPr marL="47625" marR="47625" marT="19050" marB="19050" anchor="ctr">
                    <a:solidFill>
                      <a:srgbClr val="151515"/>
                    </a:solidFill>
                  </a:tcPr>
                </a:tc>
              </a:tr>
              <a:tr h="429986">
                <a:tc>
                  <a:txBody>
                    <a:bodyPr wrap="square" anchor="ctr">
                      <a:normAutofit/>
                    </a:bodyPr>
                    <a:lstStyle/>
                    <a:p>
                      <a:pPr algn="r"/>
                      <a:r>
                        <a:rPr sz="638">
                          <a:solidFill>
                            <a:srgbClr val="30353A"/>
                          </a:solidFill>
                          <a:latin typeface="Arial"/>
                          <a:ea typeface="Arial"/>
                          <a:cs typeface="Arial"/>
                        </a:rPr>
                        <a:t>1</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Supplier I</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638">
                          <a:solidFill>
                            <a:srgbClr val="30353A"/>
                          </a:solidFill>
                          <a:latin typeface="Arial"/>
                          <a:ea typeface="Arial"/>
                          <a:cs typeface="Arial"/>
                        </a:rPr>
                        <a:t>1,68</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BANCO BTG PACTUAL</a:t>
                      </a:r>
                    </a:p>
                  </a:txBody>
                  <a:tcPr marL="47625" marR="47625" marT="14288" marB="14288" anchor="ctr">
                    <a:solidFill>
                      <a:srgbClr val="FFFFFF"/>
                    </a:solidFill>
                  </a:tcPr>
                </a:tc>
                <a:tc>
                  <a:txBody>
                    <a:bodyPr wrap="square" anchor="ctr">
                      <a:normAutofit/>
                    </a:bodyPr>
                    <a:lstStyle/>
                    <a:p>
                      <a:pPr algn="ctr"/>
                      <a:r>
                        <a:rPr sz="638">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FFFFF"/>
                    </a:solidFill>
                  </a:tcPr>
                </a:tc>
              </a:tr>
              <a:tr h="429986">
                <a:tc>
                  <a:txBody>
                    <a:bodyPr wrap="square" anchor="ctr">
                      <a:normAutofit/>
                    </a:bodyPr>
                    <a:lstStyle/>
                    <a:p>
                      <a:pPr algn="r"/>
                      <a:r>
                        <a:rPr sz="638">
                          <a:solidFill>
                            <a:srgbClr val="30353A"/>
                          </a:solidFill>
                          <a:latin typeface="Arial"/>
                          <a:ea typeface="Arial"/>
                          <a:cs typeface="Arial"/>
                        </a:rPr>
                        <a:t>2</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BTG PACTUAL CRÉDITO AGRÍCOLA COTAS FIAGRO</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Não identificado</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0,30</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BANCO BTG PACTUAL</a:t>
                      </a:r>
                    </a:p>
                  </a:txBody>
                  <a:tcPr marL="47625" marR="47625" marT="14288" marB="14288" anchor="ctr">
                    <a:solidFill>
                      <a:srgbClr val="F5F6F7"/>
                    </a:solidFill>
                  </a:tcPr>
                </a:tc>
                <a:tc>
                  <a:txBody>
                    <a:bodyPr wrap="square" anchor="ctr">
                      <a:normAutofit/>
                    </a:bodyPr>
                    <a:lstStyle/>
                    <a:p>
                      <a:pPr algn="ctr"/>
                      <a:r>
                        <a:rPr sz="638">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5F6F7"/>
                    </a:solidFill>
                  </a:tcPr>
                </a:tc>
              </a:tr>
              <a:tr h="429986">
                <a:tc>
                  <a:txBody>
                    <a:bodyPr wrap="square" anchor="ctr">
                      <a:normAutofit/>
                    </a:bodyPr>
                    <a:lstStyle/>
                    <a:p>
                      <a:pPr algn="r"/>
                      <a:r>
                        <a:rPr sz="638">
                          <a:solidFill>
                            <a:srgbClr val="30353A"/>
                          </a:solidFill>
                          <a:latin typeface="Arial"/>
                          <a:ea typeface="Arial"/>
                          <a:cs typeface="Arial"/>
                        </a:rPr>
                        <a:t>3</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CREDITAS AUTO VIII</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638">
                          <a:solidFill>
                            <a:srgbClr val="30353A"/>
                          </a:solidFill>
                          <a:latin typeface="Arial"/>
                          <a:ea typeface="Arial"/>
                          <a:cs typeface="Arial"/>
                        </a:rPr>
                        <a:t>0,21</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XP INVESTIMENTOS</a:t>
                      </a:r>
                    </a:p>
                  </a:txBody>
                  <a:tcPr marL="47625" marR="47625" marT="14288" marB="14288" anchor="ctr">
                    <a:solidFill>
                      <a:srgbClr val="FFFFFF"/>
                    </a:solidFill>
                  </a:tcPr>
                </a:tc>
                <a:tc>
                  <a:txBody>
                    <a:bodyPr wrap="square" anchor="ctr">
                      <a:normAutofit/>
                    </a:bodyPr>
                    <a:lstStyle/>
                    <a:p>
                      <a:pPr algn="ctr"/>
                      <a:r>
                        <a:rPr sz="638">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FFFFF"/>
                    </a:solidFill>
                  </a:tcPr>
                </a:tc>
              </a:tr>
              <a:tr h="429986">
                <a:tc>
                  <a:txBody>
                    <a:bodyPr wrap="square" anchor="ctr">
                      <a:normAutofit/>
                    </a:bodyPr>
                    <a:lstStyle/>
                    <a:p>
                      <a:pPr algn="r"/>
                      <a:r>
                        <a:rPr sz="638">
                          <a:solidFill>
                            <a:srgbClr val="30353A"/>
                          </a:solidFill>
                          <a:latin typeface="Arial"/>
                          <a:ea typeface="Arial"/>
                          <a:cs typeface="Arial"/>
                        </a:rPr>
                        <a:t>4</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Supplier I</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Não identificado</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0,20</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BANCO BTG PACTUAL</a:t>
                      </a:r>
                    </a:p>
                  </a:txBody>
                  <a:tcPr marL="47625" marR="47625" marT="14288" marB="14288" anchor="ctr">
                    <a:solidFill>
                      <a:srgbClr val="F5F6F7"/>
                    </a:solidFill>
                  </a:tcPr>
                </a:tc>
                <a:tc>
                  <a:txBody>
                    <a:bodyPr wrap="square" anchor="ctr">
                      <a:normAutofit/>
                    </a:bodyPr>
                    <a:lstStyle/>
                    <a:p>
                      <a:pPr algn="ctr"/>
                      <a:r>
                        <a:rPr sz="638">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5F6F7"/>
                    </a:solidFill>
                  </a:tcPr>
                </a:tc>
              </a:tr>
              <a:tr h="429986">
                <a:tc>
                  <a:txBody>
                    <a:bodyPr wrap="square" anchor="ctr">
                      <a:normAutofit/>
                    </a:bodyPr>
                    <a:lstStyle/>
                    <a:p>
                      <a:pPr algn="r"/>
                      <a:r>
                        <a:rPr sz="638">
                          <a:solidFill>
                            <a:srgbClr val="30353A"/>
                          </a:solidFill>
                          <a:latin typeface="Arial"/>
                          <a:ea typeface="Arial"/>
                          <a:cs typeface="Arial"/>
                        </a:rPr>
                        <a:t>5</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CREDITAS AUTO VIII</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638">
                          <a:solidFill>
                            <a:srgbClr val="30353A"/>
                          </a:solidFill>
                          <a:latin typeface="Arial"/>
                          <a:ea typeface="Arial"/>
                          <a:cs typeface="Arial"/>
                        </a:rPr>
                        <a:t>0,15</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XP INVESTIMENTOS</a:t>
                      </a:r>
                    </a:p>
                  </a:txBody>
                  <a:tcPr marL="47625" marR="47625" marT="14288" marB="14288" anchor="ctr">
                    <a:solidFill>
                      <a:srgbClr val="FFFFFF"/>
                    </a:solidFill>
                  </a:tcPr>
                </a:tc>
                <a:tc>
                  <a:txBody>
                    <a:bodyPr wrap="square" anchor="ctr">
                      <a:normAutofit/>
                    </a:bodyPr>
                    <a:lstStyle/>
                    <a:p>
                      <a:pPr algn="ctr"/>
                      <a:r>
                        <a:rPr sz="638">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FFFFF"/>
                    </a:solidFill>
                  </a:tcPr>
                </a:tc>
              </a:tr>
              <a:tr h="429986">
                <a:tc>
                  <a:txBody>
                    <a:bodyPr wrap="square" anchor="ctr">
                      <a:normAutofit/>
                    </a:bodyPr>
                    <a:lstStyle/>
                    <a:p>
                      <a:pPr algn="r"/>
                      <a:r>
                        <a:rPr sz="638">
                          <a:solidFill>
                            <a:srgbClr val="30353A"/>
                          </a:solidFill>
                          <a:latin typeface="Arial"/>
                          <a:ea typeface="Arial"/>
                          <a:cs typeface="Arial"/>
                        </a:rPr>
                        <a:t>6</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Supplier I</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Não identificado</a:t>
                      </a:r>
                    </a:p>
                  </a:txBody>
                  <a:tcPr marL="47625" marR="47625" marT="14288" marB="14288" anchor="ctr">
                    <a:solidFill>
                      <a:srgbClr val="F5F6F7"/>
                    </a:solidFill>
                  </a:tcPr>
                </a:tc>
                <a:tc>
                  <a:txBody>
                    <a:bodyPr wrap="square" anchor="ctr">
                      <a:normAutofit/>
                    </a:bodyPr>
                    <a:lstStyle/>
                    <a:p>
                      <a:pPr algn="r"/>
                      <a:r>
                        <a:rPr sz="638">
                          <a:solidFill>
                            <a:srgbClr val="30353A"/>
                          </a:solidFill>
                          <a:latin typeface="Arial"/>
                          <a:ea typeface="Arial"/>
                          <a:cs typeface="Arial"/>
                        </a:rPr>
                        <a:t>0,12</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BANCO BTG PACTUAL</a:t>
                      </a:r>
                    </a:p>
                  </a:txBody>
                  <a:tcPr marL="47625" marR="47625" marT="14288" marB="14288" anchor="ctr">
                    <a:solidFill>
                      <a:srgbClr val="F5F6F7"/>
                    </a:solidFill>
                  </a:tcPr>
                </a:tc>
                <a:tc>
                  <a:txBody>
                    <a:bodyPr wrap="square" anchor="ctr">
                      <a:normAutofit/>
                    </a:bodyPr>
                    <a:lstStyle/>
                    <a:p>
                      <a:pPr algn="ctr"/>
                      <a:r>
                        <a:rPr sz="638">
                          <a:solidFill>
                            <a:srgbClr val="30353A"/>
                          </a:solidFill>
                          <a:latin typeface="Arial"/>
                          <a:ea typeface="Arial"/>
                          <a:cs typeface="Arial"/>
                        </a:rPr>
                        <a:t>Não</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5F6F7"/>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5F6F7"/>
                    </a:solidFill>
                  </a:tcPr>
                </a:tc>
              </a:tr>
              <a:tr h="429986">
                <a:tc>
                  <a:txBody>
                    <a:bodyPr wrap="square" anchor="ctr">
                      <a:normAutofit/>
                    </a:bodyPr>
                    <a:lstStyle/>
                    <a:p>
                      <a:pPr algn="r"/>
                      <a:r>
                        <a:rPr sz="638">
                          <a:solidFill>
                            <a:srgbClr val="30353A"/>
                          </a:solidFill>
                          <a:latin typeface="Arial"/>
                          <a:ea typeface="Arial"/>
                          <a:cs typeface="Arial"/>
                        </a:rPr>
                        <a:t>7</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CREDITAS AUTO VIII</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Não identificado</a:t>
                      </a:r>
                    </a:p>
                  </a:txBody>
                  <a:tcPr marL="47625" marR="47625" marT="14288" marB="14288" anchor="ctr">
                    <a:solidFill>
                      <a:srgbClr val="FFFFFF"/>
                    </a:solidFill>
                  </a:tcPr>
                </a:tc>
                <a:tc>
                  <a:txBody>
                    <a:bodyPr wrap="square" anchor="ctr">
                      <a:normAutofit/>
                    </a:bodyPr>
                    <a:lstStyle/>
                    <a:p>
                      <a:pPr algn="r"/>
                      <a:r>
                        <a:rPr sz="638">
                          <a:solidFill>
                            <a:srgbClr val="30353A"/>
                          </a:solidFill>
                          <a:latin typeface="Arial"/>
                          <a:ea typeface="Arial"/>
                          <a:cs typeface="Arial"/>
                        </a:rPr>
                        <a:t>0,09</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XP INVESTIMENTOS</a:t>
                      </a:r>
                    </a:p>
                  </a:txBody>
                  <a:tcPr marL="47625" marR="47625" marT="14288" marB="14288" anchor="ctr">
                    <a:solidFill>
                      <a:srgbClr val="FFFFFF"/>
                    </a:solidFill>
                  </a:tcPr>
                </a:tc>
                <a:tc>
                  <a:txBody>
                    <a:bodyPr wrap="square" anchor="ctr">
                      <a:normAutofit/>
                    </a:bodyPr>
                    <a:lstStyle/>
                    <a:p>
                      <a:pPr algn="ctr"/>
                      <a:r>
                        <a:rPr sz="638">
                          <a:solidFill>
                            <a:srgbClr val="30353A"/>
                          </a:solidFill>
                          <a:latin typeface="Arial"/>
                          <a:ea typeface="Arial"/>
                          <a:cs typeface="Arial"/>
                        </a:rPr>
                        <a:t>Não</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FFFFF"/>
                    </a:solidFill>
                  </a:tcPr>
                </a:tc>
                <a:tc>
                  <a:txBody>
                    <a:bodyPr wrap="square" anchor="ctr">
                      <a:normAutofit/>
                    </a:bodyPr>
                    <a:lstStyle/>
                    <a:p>
                      <a:pPr algn="l"/>
                      <a:r>
                        <a:rPr sz="638">
                          <a:solidFill>
                            <a:srgbClr val="30353A"/>
                          </a:solidFill>
                          <a:latin typeface="Arial"/>
                          <a:ea typeface="Arial"/>
                          <a:cs typeface="Arial"/>
                        </a:rPr>
                        <a:t>N/D</a:t>
                      </a:r>
                    </a:p>
                  </a:txBody>
                  <a:tcPr marL="47625" marR="47625" marT="14288" marB="14288" anchor="ctr">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CF0D312E-A2C3-445E-B9F0-460B213E15E7}"/>
              </a:ext>
            </a:extLst>
          </p:cNvPr>
          <p:cNvSpPr>
            <a:spLocks xmlns:a="http://schemas.openxmlformats.org/drawingml/2006/main" noGrp="1"/>
          </p:cNvSpPr>
          <p:nvPr/>
        </p:nvSpPr>
        <p:spPr>
          <a:xfrm xmlns:a="http://schemas.openxmlformats.org/drawingml/2006/main">
            <a:off x="571500" y="5095875"/>
            <a:ext cx="1104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825" b="1">
                <a:solidFill>
                  <a:srgbClr val="30353A"/>
                </a:solidFill>
                <a:latin typeface="Arial"/>
                <a:ea typeface="Arial"/>
                <a:cs typeface="Arial"/>
              </a:defRPr>
            </a:pPr>
            <a:r>
              <a:rPr sz="825" b="1">
                <a:solidFill>
                  <a:srgbClr val="30353A"/>
                </a:solidFill>
                <a:latin typeface="Arial"/>
                <a:ea typeface="Arial"/>
                <a:cs typeface="Arial"/>
              </a:rPr>
              <a:t>Subtotal observado: R$ 2,75 bi. Limitação: sete linhas legadas não sustentam comparação anual nem inferência sobre o ranking integral de 2022.</a:t>
            </a:r>
          </a:p>
        </p:txBody>
      </p:sp>
      <p:sp>
        <p:nvSpPr>
          <p:cNvPr id="9" name="">
            <a:extLst xmlns:a="http://schemas.openxmlformats.org/drawingml/2006/main">
              <a:ext uri="{FF2B5EF4-FFF2-40B4-BE49-F238E27FC236}">
                <a16:creationId xmlns:a16="http://schemas.microsoft.com/office/drawing/2014/main" id="{5A340318-DD9B-4FAF-B407-4BF6423CB66B}"/>
              </a:ext>
            </a:extLst>
          </p:cNvPr>
          <p:cNvSpPr>
            <a:spLocks xmlns:a="http://schemas.openxmlformats.org/drawingml/2006/main" noGrp="1"/>
          </p:cNvSpPr>
          <p:nvPr/>
        </p:nvSpPr>
        <p:spPr>
          <a:xfrm xmlns:a="http://schemas.openxmlformats.org/drawingml/2006/main">
            <a:off x="571500" y="5619750"/>
            <a:ext cx="1104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750" b="0">
                <a:solidFill>
                  <a:srgbClr val="8D9399"/>
                </a:solidFill>
                <a:latin typeface="Arial"/>
                <a:ea typeface="Arial"/>
                <a:cs typeface="Arial"/>
              </a:defRPr>
            </a:pPr>
            <a:r>
              <a:rPr sz="750" b="0">
                <a:solidFill>
                  <a:srgbClr val="8D9399"/>
                </a:solidFill>
                <a:latin typeface="Arial"/>
                <a:ea typeface="Arial"/>
                <a:cs typeface="Arial"/>
              </a:rPr>
              <a:t>Agência e rating são mantidos como N/D quando não há documento público aplicável conciliado com a oferta, emissão, série ou subclasse.</a:t>
            </a:r>
          </a:p>
        </p:txBody>
      </p:sp>
    </p:spTree>
    <p:extLst>
      <p:ext uri="{BB962C8B-B14F-4D97-AF65-F5344CB8AC3E}">
        <p14:creationId xmlns:p14="http://schemas.microsoft.com/office/powerpoint/2010/main" val="70576634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1B88ABBD-A222-4B8A-B84A-960018CE0709}"/>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PRINCIPAIS CONCLUSÕES</a:t>
            </a:r>
          </a:p>
        </p:txBody>
      </p:sp>
      <p:sp>
        <p:nvSpPr>
          <p:cNvPr id="2" name="">
            <a:extLst xmlns:a="http://schemas.openxmlformats.org/drawingml/2006/main">
              <a:ext uri="{FF2B5EF4-FFF2-40B4-BE49-F238E27FC236}">
                <a16:creationId xmlns:a16="http://schemas.microsoft.com/office/drawing/2014/main" id="{B6BEE968-0B2D-4F2D-B190-215AE588B594}"/>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Distribuição, prestadores, migração e ofertas</a:t>
            </a:r>
          </a:p>
        </p:txBody>
      </p:sp>
      <p:sp>
        <p:nvSpPr>
          <p:cNvPr id="3" name="">
            <a:extLst xmlns:a="http://schemas.openxmlformats.org/drawingml/2006/main">
              <a:ext uri="{FF2B5EF4-FFF2-40B4-BE49-F238E27FC236}">
                <a16:creationId xmlns:a16="http://schemas.microsoft.com/office/drawing/2014/main" id="{ECBB5BF4-F216-42C4-83A2-D94911D0D5AD}"/>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8F310AD-A59A-4B94-B18C-445BCD4A72FB}"/>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837DE39-75BE-4F9C-A5C5-9CB7FD80FED4}"/>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69865"/>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ANBIMA e BCB; coorte bancária curada a partir dos conglomerados prudenciais. PF: proxy com 97,3% de cobertura; contas não equivalem a investidores únicos. Verticalização inclui FIC-FIDC; Top 10 ex-Petrobras/TAPSO. BTG: 30/32 raízes observadas; ofertas CVM até 30/jun/26 e ANBIMA até 31/mai/26.</a:t>
            </a:r>
          </a:p>
        </p:txBody>
      </p:sp>
      <p:sp>
        <p:nvSpPr>
          <p:cNvPr id="6" name="">
            <a:extLst xmlns:a="http://schemas.openxmlformats.org/drawingml/2006/main">
              <a:ext uri="{FF2B5EF4-FFF2-40B4-BE49-F238E27FC236}">
                <a16:creationId xmlns:a16="http://schemas.microsoft.com/office/drawing/2014/main" id="{BFF9FB58-3CBA-4A3D-8925-71D79B94A57E}"/>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32</a:t>
            </a:r>
          </a:p>
        </p:txBody>
      </p:sp>
      <p:sp>
        <p:nvSpPr>
          <p:cNvPr id="7" name="">
            <a:extLst xmlns:a="http://schemas.openxmlformats.org/drawingml/2006/main">
              <a:ext uri="{FF2B5EF4-FFF2-40B4-BE49-F238E27FC236}">
                <a16:creationId xmlns:a16="http://schemas.microsoft.com/office/drawing/2014/main" id="{53859CAB-CB87-4F2E-8BB0-EE0EA0AB73F4}"/>
              </a:ext>
            </a:extLst>
          </p:cNvPr>
          <p:cNvSpPr>
            <a:spLocks xmlns:a="http://schemas.openxmlformats.org/drawingml/2006/main" noGrp="1"/>
          </p:cNvSpPr>
          <p:nvPr/>
        </p:nvSpPr>
        <p:spPr>
          <a:xfrm xmlns:a="http://schemas.openxmlformats.org/drawingml/2006/main">
            <a:off x="571500" y="1257300"/>
            <a:ext cx="514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01 · DISTRIBUIÇÃO APÓS A RCVM 175 SEGUE INSTITUCIONAL E CONCENTRADA</a:t>
            </a:r>
          </a:p>
        </p:txBody>
      </p:sp>
      <p:sp>
        <p:nvSpPr>
          <p:cNvPr id="8" name="">
            <a:extLst xmlns:a="http://schemas.openxmlformats.org/drawingml/2006/main">
              <a:ext uri="{FF2B5EF4-FFF2-40B4-BE49-F238E27FC236}">
                <a16:creationId xmlns:a16="http://schemas.microsoft.com/office/drawing/2014/main" id="{10FAEDFC-6213-4054-8A7C-695F46057AD7}"/>
              </a:ext>
            </a:extLst>
          </p:cNvPr>
          <p:cNvSpPr>
            <a:spLocks xmlns:a="http://schemas.openxmlformats.org/drawingml/2006/main" noGrp="1"/>
          </p:cNvSpPr>
          <p:nvPr/>
        </p:nvSpPr>
        <p:spPr>
          <a:xfrm xmlns:a="http://schemas.openxmlformats.org/drawingml/2006/main">
            <a:off x="571500" y="1495425"/>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55" b="0">
                <a:solidFill>
                  <a:srgbClr val="30353A"/>
                </a:solidFill>
                <a:latin typeface="Arial"/>
                <a:ea typeface="Arial"/>
                <a:cs typeface="Arial"/>
              </a:defRPr>
            </a:pPr>
            <a:r>
              <a:rPr sz="855" b="0">
                <a:solidFill>
                  <a:srgbClr val="30353A"/>
                </a:solidFill>
                <a:latin typeface="Arial"/>
                <a:ea typeface="Arial"/>
                <a:cs typeface="Arial"/>
              </a:rPr>
              <a:t>• A mediana foi de R$ 22,5 mi, apenas 26% do ticket médio de R$ 84,9 mi; 22 ofertas de R$ 500 mi ou mais — 2,9% do total — concentraram 42,2% do volume.</a:t>
            </a:r>
          </a:p>
          <a:p xmlns:a="http://schemas.openxmlformats.org/drawingml/2006/main">
            <a:pPr algn="l">
              <a:lnSpc>
                <a:spcPct val="102000"/>
              </a:lnSpc>
              <a:buNone/>
              <a:defRPr sz="855" b="0">
                <a:solidFill>
                  <a:srgbClr val="30353A"/>
                </a:solidFill>
                <a:latin typeface="Arial"/>
                <a:ea typeface="Arial"/>
                <a:cs typeface="Arial"/>
              </a:defRPr>
            </a:pPr>
            <a:r>
              <a:rPr sz="855" b="0">
                <a:solidFill>
                  <a:srgbClr val="30353A"/>
                </a:solidFill>
                <a:latin typeface="Arial"/>
                <a:ea typeface="Arial"/>
                <a:cs typeface="Arial"/>
              </a:rPr>
              <a:t>• Pessoas físicas responderam por apenas 4,0% do volume colocado estimado; entre os fundos com PL ≥ R$ 200 mi, 58,4% têm até dez contas.</a:t>
            </a:r>
          </a:p>
        </p:txBody>
      </p:sp>
      <p:sp>
        <p:nvSpPr>
          <p:cNvPr id="9" name="">
            <a:extLst xmlns:a="http://schemas.openxmlformats.org/drawingml/2006/main">
              <a:ext uri="{FF2B5EF4-FFF2-40B4-BE49-F238E27FC236}">
                <a16:creationId xmlns:a16="http://schemas.microsoft.com/office/drawing/2014/main" id="{226B5663-C4D9-4F7B-8DFE-67F2B2D47462}"/>
              </a:ext>
            </a:extLst>
          </p:cNvPr>
          <p:cNvSpPr>
            <a:spLocks xmlns:a="http://schemas.openxmlformats.org/drawingml/2006/main" noGrp="1"/>
          </p:cNvSpPr>
          <p:nvPr/>
        </p:nvSpPr>
        <p:spPr>
          <a:xfrm xmlns:a="http://schemas.openxmlformats.org/drawingml/2006/main">
            <a:off x="571500" y="2371725"/>
            <a:ext cx="5143500" cy="6668"/>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C67BB15-9B26-4E44-B55C-A4C28805C0B4}"/>
              </a:ext>
            </a:extLst>
          </p:cNvPr>
          <p:cNvSpPr>
            <a:spLocks xmlns:a="http://schemas.openxmlformats.org/drawingml/2006/main" noGrp="1"/>
          </p:cNvSpPr>
          <p:nvPr/>
        </p:nvSpPr>
        <p:spPr>
          <a:xfrm xmlns:a="http://schemas.openxmlformats.org/drawingml/2006/main">
            <a:off x="6286500" y="1257300"/>
            <a:ext cx="514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02 · VERTICALIZAÇÃO DEFINE O MODELO OPERACIONAL DA INDÚSTRIA</a:t>
            </a:r>
          </a:p>
        </p:txBody>
      </p:sp>
      <p:sp>
        <p:nvSpPr>
          <p:cNvPr id="11" name="">
            <a:extLst xmlns:a="http://schemas.openxmlformats.org/drawingml/2006/main">
              <a:ext uri="{FF2B5EF4-FFF2-40B4-BE49-F238E27FC236}">
                <a16:creationId xmlns:a16="http://schemas.microsoft.com/office/drawing/2014/main" id="{F72C559A-9AD0-4E2C-A589-BA77F6BCED71}"/>
              </a:ext>
            </a:extLst>
          </p:cNvPr>
          <p:cNvSpPr>
            <a:spLocks xmlns:a="http://schemas.openxmlformats.org/drawingml/2006/main" noGrp="1"/>
          </p:cNvSpPr>
          <p:nvPr/>
        </p:nvSpPr>
        <p:spPr>
          <a:xfrm xmlns:a="http://schemas.openxmlformats.org/drawingml/2006/main">
            <a:off x="6286500" y="1495425"/>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55" b="0">
                <a:solidFill>
                  <a:srgbClr val="30353A"/>
                </a:solidFill>
                <a:latin typeface="Arial"/>
                <a:ea typeface="Arial"/>
                <a:cs typeface="Arial"/>
              </a:defRPr>
            </a:pPr>
            <a:r>
              <a:rPr sz="855" b="0">
                <a:solidFill>
                  <a:srgbClr val="30353A"/>
                </a:solidFill>
                <a:latin typeface="Arial"/>
                <a:ea typeface="Arial"/>
                <a:cs typeface="Arial"/>
              </a:rPr>
              <a:t>• Administração e custódia estão no mesmo conglomerado em 90,3% do PL: nove em cada dez reais da indústria.</a:t>
            </a:r>
          </a:p>
          <a:p xmlns:a="http://schemas.openxmlformats.org/drawingml/2006/main">
            <a:pPr algn="l">
              <a:lnSpc>
                <a:spcPct val="102000"/>
              </a:lnSpc>
              <a:buNone/>
              <a:defRPr sz="855" b="0">
                <a:solidFill>
                  <a:srgbClr val="30353A"/>
                </a:solidFill>
                <a:latin typeface="Arial"/>
                <a:ea typeface="Arial"/>
                <a:cs typeface="Arial"/>
              </a:defRPr>
            </a:pPr>
            <a:r>
              <a:rPr sz="855" b="0">
                <a:solidFill>
                  <a:srgbClr val="30353A"/>
                </a:solidFill>
                <a:latin typeface="Arial"/>
                <a:ea typeface="Arial"/>
                <a:cs typeface="Arial"/>
              </a:rPr>
              <a:t>• Monoestruturas, com as três funções no mesmo grupo, já concentram 35,7% do PL.</a:t>
            </a:r>
          </a:p>
        </p:txBody>
      </p:sp>
      <p:sp>
        <p:nvSpPr>
          <p:cNvPr id="12" name="">
            <a:extLst xmlns:a="http://schemas.openxmlformats.org/drawingml/2006/main">
              <a:ext uri="{FF2B5EF4-FFF2-40B4-BE49-F238E27FC236}">
                <a16:creationId xmlns:a16="http://schemas.microsoft.com/office/drawing/2014/main" id="{B3DC67E1-72EC-4CFD-88A9-901CF7F1AC6E}"/>
              </a:ext>
            </a:extLst>
          </p:cNvPr>
          <p:cNvSpPr>
            <a:spLocks xmlns:a="http://schemas.openxmlformats.org/drawingml/2006/main" noGrp="1"/>
          </p:cNvSpPr>
          <p:nvPr/>
        </p:nvSpPr>
        <p:spPr>
          <a:xfrm xmlns:a="http://schemas.openxmlformats.org/drawingml/2006/main">
            <a:off x="6286500" y="2371725"/>
            <a:ext cx="5143500" cy="6668"/>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092CD40-7281-46DD-B1CA-D6D3C2D6016D}"/>
              </a:ext>
            </a:extLst>
          </p:cNvPr>
          <p:cNvSpPr>
            <a:spLocks xmlns:a="http://schemas.openxmlformats.org/drawingml/2006/main" noGrp="1"/>
          </p:cNvSpPr>
          <p:nvPr/>
        </p:nvSpPr>
        <p:spPr>
          <a:xfrm xmlns:a="http://schemas.openxmlformats.org/drawingml/2006/main">
            <a:off x="571500" y="2476500"/>
            <a:ext cx="514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03 · ESCALA INDEPENDENTE ESTÁ CONCENTRADA EM POUCAS PLATAFORMAS</a:t>
            </a:r>
          </a:p>
        </p:txBody>
      </p:sp>
      <p:sp>
        <p:nvSpPr>
          <p:cNvPr id="14" name="">
            <a:extLst xmlns:a="http://schemas.openxmlformats.org/drawingml/2006/main">
              <a:ext uri="{FF2B5EF4-FFF2-40B4-BE49-F238E27FC236}">
                <a16:creationId xmlns:a16="http://schemas.microsoft.com/office/drawing/2014/main" id="{D534B3E5-7EF8-4850-B0A3-24638F0F9E2F}"/>
              </a:ext>
            </a:extLst>
          </p:cNvPr>
          <p:cNvSpPr>
            <a:spLocks xmlns:a="http://schemas.openxmlformats.org/drawingml/2006/main" noGrp="1"/>
          </p:cNvSpPr>
          <p:nvPr/>
        </p:nvSpPr>
        <p:spPr>
          <a:xfrm xmlns:a="http://schemas.openxmlformats.org/drawingml/2006/main">
            <a:off x="571500" y="2714625"/>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55" b="0">
                <a:solidFill>
                  <a:srgbClr val="30353A"/>
                </a:solidFill>
                <a:latin typeface="Arial"/>
                <a:ea typeface="Arial"/>
                <a:cs typeface="Arial"/>
              </a:defRPr>
            </a:pPr>
            <a:r>
              <a:rPr sz="855" b="0">
                <a:solidFill>
                  <a:srgbClr val="30353A"/>
                </a:solidFill>
                <a:latin typeface="Arial"/>
                <a:ea typeface="Arial"/>
                <a:cs typeface="Arial"/>
              </a:rPr>
              <a:t>• QI Tech lidera administração e está em empate técnico com o BTG em custódia; 96% de sua base administrativa em dez/24 veio do legado Singulare.</a:t>
            </a:r>
          </a:p>
          <a:p xmlns:a="http://schemas.openxmlformats.org/drawingml/2006/main">
            <a:pPr algn="l">
              <a:lnSpc>
                <a:spcPct val="102000"/>
              </a:lnSpc>
              <a:buNone/>
              <a:defRPr sz="855" b="0">
                <a:solidFill>
                  <a:srgbClr val="30353A"/>
                </a:solidFill>
                <a:latin typeface="Arial"/>
                <a:ea typeface="Arial"/>
                <a:cs typeface="Arial"/>
              </a:defRPr>
            </a:pPr>
            <a:r>
              <a:rPr sz="855" b="0">
                <a:solidFill>
                  <a:srgbClr val="30353A"/>
                </a:solidFill>
                <a:latin typeface="Arial"/>
                <a:ea typeface="Arial"/>
                <a:cs typeface="Arial"/>
              </a:rPr>
              <a:t>• Oliveira Trust é a terceira maior gestora, com R$ 35,0 bi; na coorte CBSF/Reag, 35,0% do PL continuante já havia migrado de administrador até jun/26.</a:t>
            </a:r>
          </a:p>
        </p:txBody>
      </p:sp>
      <p:sp>
        <p:nvSpPr>
          <p:cNvPr id="15" name="">
            <a:extLst xmlns:a="http://schemas.openxmlformats.org/drawingml/2006/main">
              <a:ext uri="{FF2B5EF4-FFF2-40B4-BE49-F238E27FC236}">
                <a16:creationId xmlns:a16="http://schemas.microsoft.com/office/drawing/2014/main" id="{AB360CDC-DB1B-484C-AF95-D3FC8DF92E20}"/>
              </a:ext>
            </a:extLst>
          </p:cNvPr>
          <p:cNvSpPr>
            <a:spLocks xmlns:a="http://schemas.openxmlformats.org/drawingml/2006/main" noGrp="1"/>
          </p:cNvSpPr>
          <p:nvPr/>
        </p:nvSpPr>
        <p:spPr>
          <a:xfrm xmlns:a="http://schemas.openxmlformats.org/drawingml/2006/main">
            <a:off x="571500" y="3590925"/>
            <a:ext cx="5143500" cy="6668"/>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2D313D8-3388-4CD2-8073-6A32792E5657}"/>
              </a:ext>
            </a:extLst>
          </p:cNvPr>
          <p:cNvSpPr>
            <a:spLocks xmlns:a="http://schemas.openxmlformats.org/drawingml/2006/main" noGrp="1"/>
          </p:cNvSpPr>
          <p:nvPr/>
        </p:nvSpPr>
        <p:spPr>
          <a:xfrm xmlns:a="http://schemas.openxmlformats.org/drawingml/2006/main">
            <a:off x="6286500" y="2476500"/>
            <a:ext cx="514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04 · MOVIMENTAÇÃO DE ADMINISTRADORES FOI BAIXA E CONCENTRADA</a:t>
            </a:r>
          </a:p>
        </p:txBody>
      </p:sp>
      <p:sp>
        <p:nvSpPr>
          <p:cNvPr id="17" name="">
            <a:extLst xmlns:a="http://schemas.openxmlformats.org/drawingml/2006/main">
              <a:ext uri="{FF2B5EF4-FFF2-40B4-BE49-F238E27FC236}">
                <a16:creationId xmlns:a16="http://schemas.microsoft.com/office/drawing/2014/main" id="{43A6D211-6D45-4D38-96A9-B9F03F4B5153}"/>
              </a:ext>
            </a:extLst>
          </p:cNvPr>
          <p:cNvSpPr>
            <a:spLocks xmlns:a="http://schemas.openxmlformats.org/drawingml/2006/main" noGrp="1"/>
          </p:cNvSpPr>
          <p:nvPr/>
        </p:nvSpPr>
        <p:spPr>
          <a:xfrm xmlns:a="http://schemas.openxmlformats.org/drawingml/2006/main">
            <a:off x="6286500" y="2714625"/>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55" b="0">
                <a:solidFill>
                  <a:srgbClr val="30353A"/>
                </a:solidFill>
                <a:latin typeface="Arial"/>
                <a:ea typeface="Arial"/>
                <a:cs typeface="Arial"/>
              </a:defRPr>
            </a:pPr>
            <a:r>
              <a:rPr sz="855" b="0">
                <a:solidFill>
                  <a:srgbClr val="30353A"/>
                </a:solidFill>
                <a:latin typeface="Arial"/>
                <a:ea typeface="Arial"/>
                <a:cs typeface="Arial"/>
              </a:rPr>
              <a:t>• Apenas 7,2% do PL comparável trocou de administrador entre dez/24 e dez/25: R$ 33,0 bi em 257 fundos.</a:t>
            </a:r>
          </a:p>
          <a:p xmlns:a="http://schemas.openxmlformats.org/drawingml/2006/main">
            <a:pPr algn="l">
              <a:lnSpc>
                <a:spcPct val="102000"/>
              </a:lnSpc>
              <a:buNone/>
              <a:defRPr sz="855" b="0">
                <a:solidFill>
                  <a:srgbClr val="30353A"/>
                </a:solidFill>
                <a:latin typeface="Arial"/>
                <a:ea typeface="Arial"/>
                <a:cs typeface="Arial"/>
              </a:defRPr>
            </a:pPr>
            <a:r>
              <a:rPr sz="855" b="0">
                <a:solidFill>
                  <a:srgbClr val="30353A"/>
                </a:solidFill>
                <a:latin typeface="Arial"/>
                <a:ea typeface="Arial"/>
                <a:cs typeface="Arial"/>
              </a:rPr>
              <a:t>• Os dois FIDCs Cielo responderam sozinhos por 27% do volume migrado, com R$ 8,9 bi transferidos de Oliveira Trust para Bradesco.</a:t>
            </a:r>
          </a:p>
        </p:txBody>
      </p:sp>
      <p:sp>
        <p:nvSpPr>
          <p:cNvPr id="18" name="">
            <a:extLst xmlns:a="http://schemas.openxmlformats.org/drawingml/2006/main">
              <a:ext uri="{FF2B5EF4-FFF2-40B4-BE49-F238E27FC236}">
                <a16:creationId xmlns:a16="http://schemas.microsoft.com/office/drawing/2014/main" id="{A1BDBB65-F47B-496A-ADDE-0D854AA4CA46}"/>
              </a:ext>
            </a:extLst>
          </p:cNvPr>
          <p:cNvSpPr>
            <a:spLocks xmlns:a="http://schemas.openxmlformats.org/drawingml/2006/main" noGrp="1"/>
          </p:cNvSpPr>
          <p:nvPr/>
        </p:nvSpPr>
        <p:spPr>
          <a:xfrm xmlns:a="http://schemas.openxmlformats.org/drawingml/2006/main">
            <a:off x="6286500" y="3590925"/>
            <a:ext cx="5143500" cy="6668"/>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D18657C-388C-454E-B5FC-F6B4DFBD5DDA}"/>
              </a:ext>
            </a:extLst>
          </p:cNvPr>
          <p:cNvSpPr>
            <a:spLocks xmlns:a="http://schemas.openxmlformats.org/drawingml/2006/main" noGrp="1"/>
          </p:cNvSpPr>
          <p:nvPr/>
        </p:nvSpPr>
        <p:spPr>
          <a:xfrm xmlns:a="http://schemas.openxmlformats.org/drawingml/2006/main">
            <a:off x="571500" y="3695700"/>
            <a:ext cx="514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05 · GESTÃO É A FUNÇÃO MAIS PULVERIZADA</a:t>
            </a:r>
          </a:p>
        </p:txBody>
      </p:sp>
      <p:sp>
        <p:nvSpPr>
          <p:cNvPr id="20" name="">
            <a:extLst xmlns:a="http://schemas.openxmlformats.org/drawingml/2006/main">
              <a:ext uri="{FF2B5EF4-FFF2-40B4-BE49-F238E27FC236}">
                <a16:creationId xmlns:a16="http://schemas.microsoft.com/office/drawing/2014/main" id="{C1F1758D-2DDF-4D6E-9524-E88374A420A8}"/>
              </a:ext>
            </a:extLst>
          </p:cNvPr>
          <p:cNvSpPr>
            <a:spLocks xmlns:a="http://schemas.openxmlformats.org/drawingml/2006/main" noGrp="1"/>
          </p:cNvSpPr>
          <p:nvPr/>
        </p:nvSpPr>
        <p:spPr>
          <a:xfrm xmlns:a="http://schemas.openxmlformats.org/drawingml/2006/main">
            <a:off x="571500" y="3933825"/>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55" b="0">
                <a:solidFill>
                  <a:srgbClr val="30353A"/>
                </a:solidFill>
                <a:latin typeface="Arial"/>
                <a:ea typeface="Arial"/>
                <a:cs typeface="Arial"/>
              </a:defRPr>
            </a:pPr>
            <a:r>
              <a:rPr sz="855" b="0">
                <a:solidFill>
                  <a:srgbClr val="30353A"/>
                </a:solidFill>
                <a:latin typeface="Arial"/>
                <a:ea typeface="Arial"/>
                <a:cs typeface="Arial"/>
              </a:rPr>
              <a:t>• As dez maiores gestoras reúnem apenas 36,4% do PL ex-FIC; a líder, BTG, tem 10,2%.</a:t>
            </a:r>
          </a:p>
          <a:p xmlns:a="http://schemas.openxmlformats.org/drawingml/2006/main">
            <a:pPr algn="l">
              <a:lnSpc>
                <a:spcPct val="102000"/>
              </a:lnSpc>
              <a:buNone/>
              <a:defRPr sz="855" b="0">
                <a:solidFill>
                  <a:srgbClr val="30353A"/>
                </a:solidFill>
                <a:latin typeface="Arial"/>
                <a:ea typeface="Arial"/>
                <a:cs typeface="Arial"/>
              </a:defRPr>
            </a:pPr>
            <a:r>
              <a:rPr sz="855" b="0">
                <a:solidFill>
                  <a:srgbClr val="30353A"/>
                </a:solidFill>
                <a:latin typeface="Arial"/>
                <a:ea typeface="Arial"/>
                <a:cs typeface="Arial"/>
              </a:rPr>
              <a:t>• Administração e custódia têm, respectivamente, 71,8% e 72,8% do PL nos dez maiores grupos, praticamente o dobro da concentração em gestão.</a:t>
            </a:r>
          </a:p>
        </p:txBody>
      </p:sp>
      <p:sp>
        <p:nvSpPr>
          <p:cNvPr id="21" name="">
            <a:extLst xmlns:a="http://schemas.openxmlformats.org/drawingml/2006/main">
              <a:ext uri="{FF2B5EF4-FFF2-40B4-BE49-F238E27FC236}">
                <a16:creationId xmlns:a16="http://schemas.microsoft.com/office/drawing/2014/main" id="{FFE53AF0-3EF9-4205-B046-5877E28ADF41}"/>
              </a:ext>
            </a:extLst>
          </p:cNvPr>
          <p:cNvSpPr>
            <a:spLocks xmlns:a="http://schemas.openxmlformats.org/drawingml/2006/main" noGrp="1"/>
          </p:cNvSpPr>
          <p:nvPr/>
        </p:nvSpPr>
        <p:spPr>
          <a:xfrm xmlns:a="http://schemas.openxmlformats.org/drawingml/2006/main">
            <a:off x="571500" y="4810125"/>
            <a:ext cx="5143500" cy="6668"/>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0165667-405D-4E64-8A80-9E1D7EFFCCD7}"/>
              </a:ext>
            </a:extLst>
          </p:cNvPr>
          <p:cNvSpPr>
            <a:spLocks xmlns:a="http://schemas.openxmlformats.org/drawingml/2006/main" noGrp="1"/>
          </p:cNvSpPr>
          <p:nvPr/>
        </p:nvSpPr>
        <p:spPr>
          <a:xfrm xmlns:a="http://schemas.openxmlformats.org/drawingml/2006/main">
            <a:off x="6286500" y="3695700"/>
            <a:ext cx="514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06 · COORTE BANCÁRIA EXPLICA DOIS TERÇOS DO COMBO COMPLETO DO BTG</a:t>
            </a:r>
          </a:p>
        </p:txBody>
      </p:sp>
      <p:sp>
        <p:nvSpPr>
          <p:cNvPr id="23" name="">
            <a:extLst xmlns:a="http://schemas.openxmlformats.org/drawingml/2006/main">
              <a:ext uri="{FF2B5EF4-FFF2-40B4-BE49-F238E27FC236}">
                <a16:creationId xmlns:a16="http://schemas.microsoft.com/office/drawing/2014/main" id="{6D158FA8-34C2-4696-899A-AFFFEE692390}"/>
              </a:ext>
            </a:extLst>
          </p:cNvPr>
          <p:cNvSpPr>
            <a:spLocks xmlns:a="http://schemas.openxmlformats.org/drawingml/2006/main" noGrp="1"/>
          </p:cNvSpPr>
          <p:nvPr/>
        </p:nvSpPr>
        <p:spPr>
          <a:xfrm xmlns:a="http://schemas.openxmlformats.org/drawingml/2006/main">
            <a:off x="6286500" y="3933825"/>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55" b="0">
                <a:solidFill>
                  <a:srgbClr val="30353A"/>
                </a:solidFill>
                <a:latin typeface="Arial"/>
                <a:ea typeface="Arial"/>
                <a:cs typeface="Arial"/>
              </a:defRPr>
            </a:pPr>
            <a:r>
              <a:rPr sz="855" b="0">
                <a:solidFill>
                  <a:srgbClr val="30353A"/>
                </a:solidFill>
                <a:latin typeface="Arial"/>
                <a:ea typeface="Arial"/>
                <a:cs typeface="Arial"/>
              </a:rPr>
              <a:t>• Dos 30 FIDCs observados na coorte BTG, 22 concentram as três funções no grupo e representam 98% do PL da coorte — R$ 51,3 bi.</a:t>
            </a:r>
          </a:p>
          <a:p xmlns:a="http://schemas.openxmlformats.org/drawingml/2006/main">
            <a:pPr algn="l">
              <a:lnSpc>
                <a:spcPct val="102000"/>
              </a:lnSpc>
              <a:buNone/>
              <a:defRPr sz="855" b="0">
                <a:solidFill>
                  <a:srgbClr val="30353A"/>
                </a:solidFill>
                <a:latin typeface="Arial"/>
                <a:ea typeface="Arial"/>
                <a:cs typeface="Arial"/>
              </a:defRPr>
            </a:pPr>
            <a:r>
              <a:rPr sz="855" b="0">
                <a:solidFill>
                  <a:srgbClr val="30353A"/>
                </a:solidFill>
                <a:latin typeface="Arial"/>
                <a:ea typeface="Arial"/>
                <a:cs typeface="Arial"/>
              </a:rPr>
              <a:t>• Os R$ 51,3 bi da coorte equivalem a 65,7% dos R$ 78,1 bi de PL ex-FIC atendidos pelo BTG nas três funções.</a:t>
            </a:r>
          </a:p>
        </p:txBody>
      </p:sp>
      <p:sp>
        <p:nvSpPr>
          <p:cNvPr id="24" name="">
            <a:extLst xmlns:a="http://schemas.openxmlformats.org/drawingml/2006/main">
              <a:ext uri="{FF2B5EF4-FFF2-40B4-BE49-F238E27FC236}">
                <a16:creationId xmlns:a16="http://schemas.microsoft.com/office/drawing/2014/main" id="{512AEE3C-CE8F-42FF-8838-A618A765977E}"/>
              </a:ext>
            </a:extLst>
          </p:cNvPr>
          <p:cNvSpPr>
            <a:spLocks xmlns:a="http://schemas.openxmlformats.org/drawingml/2006/main" noGrp="1"/>
          </p:cNvSpPr>
          <p:nvPr/>
        </p:nvSpPr>
        <p:spPr>
          <a:xfrm xmlns:a="http://schemas.openxmlformats.org/drawingml/2006/main">
            <a:off x="6286500" y="4810125"/>
            <a:ext cx="5143500" cy="6668"/>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1736F66-5248-48C2-90FF-CF3F6F791524}"/>
              </a:ext>
            </a:extLst>
          </p:cNvPr>
          <p:cNvSpPr>
            <a:spLocks xmlns:a="http://schemas.openxmlformats.org/drawingml/2006/main" noGrp="1"/>
          </p:cNvSpPr>
          <p:nvPr/>
        </p:nvSpPr>
        <p:spPr>
          <a:xfrm xmlns:a="http://schemas.openxmlformats.org/drawingml/2006/main">
            <a:off x="571500" y="4914900"/>
            <a:ext cx="514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07 · EMISSÕES ACELERARAM; A MAIOR OFERTA EXPLICA DOIS TERÇOS DO AVANÇO</a:t>
            </a:r>
          </a:p>
        </p:txBody>
      </p:sp>
      <p:sp>
        <p:nvSpPr>
          <p:cNvPr id="26" name="">
            <a:extLst xmlns:a="http://schemas.openxmlformats.org/drawingml/2006/main">
              <a:ext uri="{FF2B5EF4-FFF2-40B4-BE49-F238E27FC236}">
                <a16:creationId xmlns:a16="http://schemas.microsoft.com/office/drawing/2014/main" id="{C60D58F2-382B-438D-8670-4C77173F94FA}"/>
              </a:ext>
            </a:extLst>
          </p:cNvPr>
          <p:cNvSpPr>
            <a:spLocks xmlns:a="http://schemas.openxmlformats.org/drawingml/2006/main" noGrp="1"/>
          </p:cNvSpPr>
          <p:nvPr/>
        </p:nvSpPr>
        <p:spPr>
          <a:xfrm xmlns:a="http://schemas.openxmlformats.org/drawingml/2006/main">
            <a:off x="571500" y="5153025"/>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55" b="0">
                <a:solidFill>
                  <a:srgbClr val="30353A"/>
                </a:solidFill>
                <a:latin typeface="Arial"/>
                <a:ea typeface="Arial"/>
                <a:cs typeface="Arial"/>
              </a:defRPr>
            </a:pPr>
            <a:r>
              <a:rPr sz="855" b="0">
                <a:solidFill>
                  <a:srgbClr val="30353A"/>
                </a:solidFill>
                <a:latin typeface="Arial"/>
                <a:ea typeface="Arial"/>
                <a:cs typeface="Arial"/>
              </a:rPr>
              <a:t>• As 771 ofertas encerradas em jan–jun/26 somaram R$ 65,5 bi, avanço de 15% sobre jan–jun/25 e 60% sobre jan–jun/24.</a:t>
            </a:r>
          </a:p>
          <a:p xmlns:a="http://schemas.openxmlformats.org/drawingml/2006/main">
            <a:pPr algn="l">
              <a:lnSpc>
                <a:spcPct val="102000"/>
              </a:lnSpc>
              <a:buNone/>
              <a:defRPr sz="855" b="0">
                <a:solidFill>
                  <a:srgbClr val="30353A"/>
                </a:solidFill>
                <a:latin typeface="Arial"/>
                <a:ea typeface="Arial"/>
                <a:cs typeface="Arial"/>
              </a:defRPr>
            </a:pPr>
            <a:r>
              <a:rPr sz="855" b="0">
                <a:solidFill>
                  <a:srgbClr val="30353A"/>
                </a:solidFill>
                <a:latin typeface="Arial"/>
                <a:ea typeface="Arial"/>
                <a:cs typeface="Arial"/>
              </a:rPr>
              <a:t>• A oferta CloudWalk Bela, de R$ 5,5 bi, representou 8,4% do volume e 66,0% do crescimento sobre jan–jun/25; na sensibilidade sem essa oferta, o mercado teria avançado 5,0%.</a:t>
            </a:r>
          </a:p>
        </p:txBody>
      </p:sp>
      <p:sp>
        <p:nvSpPr>
          <p:cNvPr id="27" name="">
            <a:extLst xmlns:a="http://schemas.openxmlformats.org/drawingml/2006/main">
              <a:ext uri="{FF2B5EF4-FFF2-40B4-BE49-F238E27FC236}">
                <a16:creationId xmlns:a16="http://schemas.microsoft.com/office/drawing/2014/main" id="{C8019276-6568-4342-BB90-AEC1E31AD181}"/>
              </a:ext>
            </a:extLst>
          </p:cNvPr>
          <p:cNvSpPr>
            <a:spLocks xmlns:a="http://schemas.openxmlformats.org/drawingml/2006/main" noGrp="1"/>
          </p:cNvSpPr>
          <p:nvPr/>
        </p:nvSpPr>
        <p:spPr>
          <a:xfrm xmlns:a="http://schemas.openxmlformats.org/drawingml/2006/main">
            <a:off x="571500" y="6029325"/>
            <a:ext cx="5143500" cy="6668"/>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Tree>
    <p:extLst>
      <p:ext uri="{BB962C8B-B14F-4D97-AF65-F5344CB8AC3E}">
        <p14:creationId xmlns:p14="http://schemas.microsoft.com/office/powerpoint/2010/main" val="186021109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52F2CCBF-E701-4594-999D-F7F631356DFB}"/>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ESCOPO E FONTES</a:t>
            </a:r>
          </a:p>
        </p:txBody>
      </p:sp>
      <p:sp>
        <p:nvSpPr>
          <p:cNvPr id="2" name="">
            <a:extLst xmlns:a="http://schemas.openxmlformats.org/drawingml/2006/main">
              <a:ext uri="{FF2B5EF4-FFF2-40B4-BE49-F238E27FC236}">
                <a16:creationId xmlns:a16="http://schemas.microsoft.com/office/drawing/2014/main" id="{3E5F74E5-BD1F-4586-9F9A-634B34B125F1}"/>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Escopo, fontes e limitações</a:t>
            </a:r>
          </a:p>
        </p:txBody>
      </p:sp>
      <p:sp>
        <p:nvSpPr>
          <p:cNvPr id="3" name="">
            <a:extLst xmlns:a="http://schemas.openxmlformats.org/drawingml/2006/main">
              <a:ext uri="{FF2B5EF4-FFF2-40B4-BE49-F238E27FC236}">
                <a16:creationId xmlns:a16="http://schemas.microsoft.com/office/drawing/2014/main" id="{D1AD8D51-50AB-4519-ABD9-87A13FA6286F}"/>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D867B0A-C3CE-4A22-80FF-2FBCA760BADC}"/>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7EB17A8-9E11-4FDD-8A29-DAF3AE5AF432}"/>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 CVM, ANBIMA Data e FundosNet.  Ofertas consultadas em 24/jul/26.</a:t>
            </a:r>
          </a:p>
        </p:txBody>
      </p:sp>
      <p:sp>
        <p:nvSpPr>
          <p:cNvPr id="6" name="">
            <a:extLst xmlns:a="http://schemas.openxmlformats.org/drawingml/2006/main">
              <a:ext uri="{FF2B5EF4-FFF2-40B4-BE49-F238E27FC236}">
                <a16:creationId xmlns:a16="http://schemas.microsoft.com/office/drawing/2014/main" id="{6779A199-FBB1-4E3F-9960-B156CD6D2C64}"/>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33</a:t>
            </a:r>
          </a:p>
        </p:txBody>
      </p:sp>
      <p:sp>
        <p:nvSpPr>
          <p:cNvPr id="7" name="">
            <a:extLst xmlns:a="http://schemas.openxmlformats.org/drawingml/2006/main">
              <a:ext uri="{FF2B5EF4-FFF2-40B4-BE49-F238E27FC236}">
                <a16:creationId xmlns:a16="http://schemas.microsoft.com/office/drawing/2014/main" id="{A9451195-C3B3-4AFC-AEAF-5DEC2DB08B3A}"/>
              </a:ext>
            </a:extLst>
          </p:cNvPr>
          <p:cNvSpPr>
            <a:spLocks xmlns:a="http://schemas.openxmlformats.org/drawingml/2006/main" noGrp="1"/>
          </p:cNvSpPr>
          <p:nvPr/>
        </p:nvSpPr>
        <p:spPr>
          <a:xfrm xmlns:a="http://schemas.openxmlformats.org/drawingml/2006/main">
            <a:off x="571500" y="1381125"/>
            <a:ext cx="11049000" cy="323850"/>
          </a:xfrm>
          <a:prstGeom xmlns:a="http://schemas.openxmlformats.org/drawingml/2006/main" prst="rect">
            <a:avLst/>
          </a:prstGeom>
          <a:solidFill xmlns:a="http://schemas.openxmlformats.org/drawingml/2006/main">
            <a:srgbClr val="15151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955328A-529A-480E-8F89-C6EB210AED17}"/>
              </a:ext>
            </a:extLst>
          </p:cNvPr>
          <p:cNvSpPr>
            <a:spLocks xmlns:a="http://schemas.openxmlformats.org/drawingml/2006/main" noGrp="1"/>
          </p:cNvSpPr>
          <p:nvPr/>
        </p:nvSpPr>
        <p:spPr>
          <a:xfrm xmlns:a="http://schemas.openxmlformats.org/drawingml/2006/main">
            <a:off x="628650" y="1409700"/>
            <a:ext cx="1695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863" b="1">
                <a:solidFill>
                  <a:srgbClr val="FFFFFF"/>
                </a:solidFill>
                <a:latin typeface="Arial"/>
                <a:ea typeface="Arial"/>
                <a:cs typeface="Arial"/>
              </a:defRPr>
            </a:pPr>
            <a:r>
              <a:rPr sz="863" b="1">
                <a:solidFill>
                  <a:srgbClr val="FFFFFF"/>
                </a:solidFill>
                <a:latin typeface="Arial"/>
                <a:ea typeface="Arial"/>
                <a:cs typeface="Arial"/>
              </a:rPr>
              <a:t>Tema</a:t>
            </a:r>
          </a:p>
        </p:txBody>
      </p:sp>
      <p:sp>
        <p:nvSpPr>
          <p:cNvPr id="9" name="">
            <a:extLst xmlns:a="http://schemas.openxmlformats.org/drawingml/2006/main">
              <a:ext uri="{FF2B5EF4-FFF2-40B4-BE49-F238E27FC236}">
                <a16:creationId xmlns:a16="http://schemas.microsoft.com/office/drawing/2014/main" id="{C5EC8FB8-A864-41BF-AA88-6AC4DA400E23}"/>
              </a:ext>
            </a:extLst>
          </p:cNvPr>
          <p:cNvSpPr>
            <a:spLocks xmlns:a="http://schemas.openxmlformats.org/drawingml/2006/main" noGrp="1"/>
          </p:cNvSpPr>
          <p:nvPr/>
        </p:nvSpPr>
        <p:spPr>
          <a:xfrm xmlns:a="http://schemas.openxmlformats.org/drawingml/2006/main">
            <a:off x="2438400" y="1409700"/>
            <a:ext cx="3124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863" b="1">
                <a:solidFill>
                  <a:srgbClr val="FFFFFF"/>
                </a:solidFill>
                <a:latin typeface="Arial"/>
                <a:ea typeface="Arial"/>
                <a:cs typeface="Arial"/>
              </a:defRPr>
            </a:pPr>
            <a:r>
              <a:rPr sz="863" b="1">
                <a:solidFill>
                  <a:srgbClr val="FFFFFF"/>
                </a:solidFill>
                <a:latin typeface="Arial"/>
                <a:ea typeface="Arial"/>
                <a:cs typeface="Arial"/>
              </a:rPr>
              <a:t>Universo / data</a:t>
            </a:r>
          </a:p>
        </p:txBody>
      </p:sp>
      <p:sp>
        <p:nvSpPr>
          <p:cNvPr id="10" name="">
            <a:extLst xmlns:a="http://schemas.openxmlformats.org/drawingml/2006/main">
              <a:ext uri="{FF2B5EF4-FFF2-40B4-BE49-F238E27FC236}">
                <a16:creationId xmlns:a16="http://schemas.microsoft.com/office/drawing/2014/main" id="{F1AC03C2-5E88-4BED-B4E8-608038EC9AA4}"/>
              </a:ext>
            </a:extLst>
          </p:cNvPr>
          <p:cNvSpPr>
            <a:spLocks xmlns:a="http://schemas.openxmlformats.org/drawingml/2006/main" noGrp="1"/>
          </p:cNvSpPr>
          <p:nvPr/>
        </p:nvSpPr>
        <p:spPr>
          <a:xfrm xmlns:a="http://schemas.openxmlformats.org/drawingml/2006/main">
            <a:off x="5676900" y="1409700"/>
            <a:ext cx="588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863" b="1">
                <a:solidFill>
                  <a:srgbClr val="FFFFFF"/>
                </a:solidFill>
                <a:latin typeface="Arial"/>
                <a:ea typeface="Arial"/>
                <a:cs typeface="Arial"/>
              </a:defRPr>
            </a:pPr>
            <a:r>
              <a:rPr sz="863" b="1">
                <a:solidFill>
                  <a:srgbClr val="FFFFFF"/>
                </a:solidFill>
                <a:latin typeface="Arial"/>
                <a:ea typeface="Arial"/>
                <a:cs typeface="Arial"/>
              </a:rPr>
              <a:t>Definição e limitação</a:t>
            </a:r>
          </a:p>
        </p:txBody>
      </p:sp>
      <p:sp>
        <p:nvSpPr>
          <p:cNvPr id="11" name="">
            <a:extLst xmlns:a="http://schemas.openxmlformats.org/drawingml/2006/main">
              <a:ext uri="{FF2B5EF4-FFF2-40B4-BE49-F238E27FC236}">
                <a16:creationId xmlns:a16="http://schemas.microsoft.com/office/drawing/2014/main" id="{5E65181C-3406-425D-B415-60D49611ADD2}"/>
              </a:ext>
            </a:extLst>
          </p:cNvPr>
          <p:cNvSpPr>
            <a:spLocks xmlns:a="http://schemas.openxmlformats.org/drawingml/2006/main" noGrp="1"/>
          </p:cNvSpPr>
          <p:nvPr/>
        </p:nvSpPr>
        <p:spPr>
          <a:xfrm xmlns:a="http://schemas.openxmlformats.org/drawingml/2006/main">
            <a:off x="571500" y="1704975"/>
            <a:ext cx="11049000" cy="6096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19090AB-C9F2-41CF-A6DB-610F70EA7585}"/>
              </a:ext>
            </a:extLst>
          </p:cNvPr>
          <p:cNvSpPr>
            <a:spLocks xmlns:a="http://schemas.openxmlformats.org/drawingml/2006/main" noGrp="1"/>
          </p:cNvSpPr>
          <p:nvPr/>
        </p:nvSpPr>
        <p:spPr>
          <a:xfrm xmlns:a="http://schemas.openxmlformats.org/drawingml/2006/main">
            <a:off x="571500" y="2305050"/>
            <a:ext cx="11049000"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0D2E1E8-D863-42F0-BF31-B52482F9EE72}"/>
              </a:ext>
            </a:extLst>
          </p:cNvPr>
          <p:cNvSpPr>
            <a:spLocks xmlns:a="http://schemas.openxmlformats.org/drawingml/2006/main" noGrp="1"/>
          </p:cNvSpPr>
          <p:nvPr/>
        </p:nvSpPr>
        <p:spPr>
          <a:xfrm xmlns:a="http://schemas.openxmlformats.org/drawingml/2006/main">
            <a:off x="628650" y="1733550"/>
            <a:ext cx="1695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PL e base investidora</a:t>
            </a:r>
          </a:p>
        </p:txBody>
      </p:sp>
      <p:sp>
        <p:nvSpPr>
          <p:cNvPr id="14" name="">
            <a:extLst xmlns:a="http://schemas.openxmlformats.org/drawingml/2006/main">
              <a:ext uri="{FF2B5EF4-FFF2-40B4-BE49-F238E27FC236}">
                <a16:creationId xmlns:a16="http://schemas.microsoft.com/office/drawing/2014/main" id="{EE954F67-40F0-480C-A930-C324F710CCDD}"/>
              </a:ext>
            </a:extLst>
          </p:cNvPr>
          <p:cNvSpPr>
            <a:spLocks xmlns:a="http://schemas.openxmlformats.org/drawingml/2006/main" noGrp="1"/>
          </p:cNvSpPr>
          <p:nvPr/>
        </p:nvSpPr>
        <p:spPr>
          <a:xfrm xmlns:a="http://schemas.openxmlformats.org/drawingml/2006/main">
            <a:off x="2438400" y="1733550"/>
            <a:ext cx="312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4.252 veículos; 4.247 fundos; 30 de junho de 2026</a:t>
            </a:r>
          </a:p>
        </p:txBody>
      </p:sp>
      <p:sp>
        <p:nvSpPr>
          <p:cNvPr id="15" name="">
            <a:extLst xmlns:a="http://schemas.openxmlformats.org/drawingml/2006/main">
              <a:ext uri="{FF2B5EF4-FFF2-40B4-BE49-F238E27FC236}">
                <a16:creationId xmlns:a16="http://schemas.microsoft.com/office/drawing/2014/main" id="{64009542-44F1-459F-AC5F-8B165564E9A5}"/>
              </a:ext>
            </a:extLst>
          </p:cNvPr>
          <p:cNvSpPr>
            <a:spLocks xmlns:a="http://schemas.openxmlformats.org/drawingml/2006/main" noGrp="1"/>
          </p:cNvSpPr>
          <p:nvPr/>
        </p:nvSpPr>
        <p:spPr>
          <a:xfrm xmlns:a="http://schemas.openxmlformats.org/drawingml/2006/main">
            <a:off x="5676900" y="1733550"/>
            <a:ext cx="5886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PL bruto, ex-FIC e FIC-FIDC reconciliados. Contas se repetem por classe/série e não equivalem a investidores únicos.</a:t>
            </a:r>
          </a:p>
        </p:txBody>
      </p:sp>
      <p:sp>
        <p:nvSpPr>
          <p:cNvPr id="16" name="">
            <a:extLst xmlns:a="http://schemas.openxmlformats.org/drawingml/2006/main">
              <a:ext uri="{FF2B5EF4-FFF2-40B4-BE49-F238E27FC236}">
                <a16:creationId xmlns:a16="http://schemas.microsoft.com/office/drawing/2014/main" id="{AF000FE7-EB15-4446-B409-3BB65FC52E3D}"/>
              </a:ext>
            </a:extLst>
          </p:cNvPr>
          <p:cNvSpPr>
            <a:spLocks xmlns:a="http://schemas.openxmlformats.org/drawingml/2006/main" noGrp="1"/>
          </p:cNvSpPr>
          <p:nvPr/>
        </p:nvSpPr>
        <p:spPr>
          <a:xfrm xmlns:a="http://schemas.openxmlformats.org/drawingml/2006/main">
            <a:off x="571500" y="2314575"/>
            <a:ext cx="11049000" cy="609600"/>
          </a:xfrm>
          <a:prstGeom xmlns:a="http://schemas.openxmlformats.org/drawingml/2006/main" prst="rect">
            <a:avLst/>
          </a:prstGeom>
          <a:solidFill xmlns:a="http://schemas.openxmlformats.org/drawingml/2006/main">
            <a:srgbClr val="F5F6F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357AB1D-740B-496F-A501-29495E4C8516}"/>
              </a:ext>
            </a:extLst>
          </p:cNvPr>
          <p:cNvSpPr>
            <a:spLocks xmlns:a="http://schemas.openxmlformats.org/drawingml/2006/main" noGrp="1"/>
          </p:cNvSpPr>
          <p:nvPr/>
        </p:nvSpPr>
        <p:spPr>
          <a:xfrm xmlns:a="http://schemas.openxmlformats.org/drawingml/2006/main">
            <a:off x="571500" y="2914650"/>
            <a:ext cx="11049000"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7095A1C-ACCF-4E5E-95CF-15403659938B}"/>
              </a:ext>
            </a:extLst>
          </p:cNvPr>
          <p:cNvSpPr>
            <a:spLocks xmlns:a="http://schemas.openxmlformats.org/drawingml/2006/main" noGrp="1"/>
          </p:cNvSpPr>
          <p:nvPr/>
        </p:nvSpPr>
        <p:spPr>
          <a:xfrm xmlns:a="http://schemas.openxmlformats.org/drawingml/2006/main">
            <a:off x="628650" y="2343150"/>
            <a:ext cx="1695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Tipo e Foco ANBIMA</a:t>
            </a:r>
          </a:p>
        </p:txBody>
      </p:sp>
      <p:sp>
        <p:nvSpPr>
          <p:cNvPr id="19" name="">
            <a:extLst xmlns:a="http://schemas.openxmlformats.org/drawingml/2006/main">
              <a:ext uri="{FF2B5EF4-FFF2-40B4-BE49-F238E27FC236}">
                <a16:creationId xmlns:a16="http://schemas.microsoft.com/office/drawing/2014/main" id="{BAA64DDB-A329-4E4F-B16F-32161C3199B9}"/>
              </a:ext>
            </a:extLst>
          </p:cNvPr>
          <p:cNvSpPr>
            <a:spLocks xmlns:a="http://schemas.openxmlformats.org/drawingml/2006/main" noGrp="1"/>
          </p:cNvSpPr>
          <p:nvPr/>
        </p:nvSpPr>
        <p:spPr>
          <a:xfrm xmlns:a="http://schemas.openxmlformats.org/drawingml/2006/main">
            <a:off x="2438400" y="2343150"/>
            <a:ext cx="312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89,85% oficial; 1,07% evidência; 7,89% proxy; 1,19% N/D</a:t>
            </a:r>
          </a:p>
        </p:txBody>
      </p:sp>
      <p:sp>
        <p:nvSpPr>
          <p:cNvPr id="20" name="">
            <a:extLst xmlns:a="http://schemas.openxmlformats.org/drawingml/2006/main">
              <a:ext uri="{FF2B5EF4-FFF2-40B4-BE49-F238E27FC236}">
                <a16:creationId xmlns:a16="http://schemas.microsoft.com/office/drawing/2014/main" id="{08111561-2820-42C1-A339-599D2844003C}"/>
              </a:ext>
            </a:extLst>
          </p:cNvPr>
          <p:cNvSpPr>
            <a:spLocks xmlns:a="http://schemas.openxmlformats.org/drawingml/2006/main" noGrp="1"/>
          </p:cNvSpPr>
          <p:nvPr/>
        </p:nvSpPr>
        <p:spPr>
          <a:xfrm xmlns:a="http://schemas.openxmlformats.org/drawingml/2006/main">
            <a:off x="5676900" y="2343150"/>
            <a:ext cx="5886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Tipo, Foco, origem e data permanecem separados. Gestor e custodiante históricos usam o cadastro vigente; a base não observa a troca ao longo do tempo.</a:t>
            </a:r>
          </a:p>
        </p:txBody>
      </p:sp>
      <p:sp>
        <p:nvSpPr>
          <p:cNvPr id="21" name="">
            <a:extLst xmlns:a="http://schemas.openxmlformats.org/drawingml/2006/main">
              <a:ext uri="{FF2B5EF4-FFF2-40B4-BE49-F238E27FC236}">
                <a16:creationId xmlns:a16="http://schemas.microsoft.com/office/drawing/2014/main" id="{E85621EE-96F5-466D-8D8F-1E98DA358DDE}"/>
              </a:ext>
            </a:extLst>
          </p:cNvPr>
          <p:cNvSpPr>
            <a:spLocks xmlns:a="http://schemas.openxmlformats.org/drawingml/2006/main" noGrp="1"/>
          </p:cNvSpPr>
          <p:nvPr/>
        </p:nvSpPr>
        <p:spPr>
          <a:xfrm xmlns:a="http://schemas.openxmlformats.org/drawingml/2006/main">
            <a:off x="571500" y="2924175"/>
            <a:ext cx="11049000" cy="6096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B9E0D23-79CB-46B6-9A3C-E67B68894D65}"/>
              </a:ext>
            </a:extLst>
          </p:cNvPr>
          <p:cNvSpPr>
            <a:spLocks xmlns:a="http://schemas.openxmlformats.org/drawingml/2006/main" noGrp="1"/>
          </p:cNvSpPr>
          <p:nvPr/>
        </p:nvSpPr>
        <p:spPr>
          <a:xfrm xmlns:a="http://schemas.openxmlformats.org/drawingml/2006/main">
            <a:off x="571500" y="3524250"/>
            <a:ext cx="11049000"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D366C56-586E-434D-B47D-7839242F1561}"/>
              </a:ext>
            </a:extLst>
          </p:cNvPr>
          <p:cNvSpPr>
            <a:spLocks xmlns:a="http://schemas.openxmlformats.org/drawingml/2006/main" noGrp="1"/>
          </p:cNvSpPr>
          <p:nvPr/>
        </p:nvSpPr>
        <p:spPr>
          <a:xfrm xmlns:a="http://schemas.openxmlformats.org/drawingml/2006/main">
            <a:off x="628650" y="2952750"/>
            <a:ext cx="1695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Inadimplência</a:t>
            </a:r>
          </a:p>
        </p:txBody>
      </p:sp>
      <p:sp>
        <p:nvSpPr>
          <p:cNvPr id="24" name="">
            <a:extLst xmlns:a="http://schemas.openxmlformats.org/drawingml/2006/main">
              <a:ext uri="{FF2B5EF4-FFF2-40B4-BE49-F238E27FC236}">
                <a16:creationId xmlns:a16="http://schemas.microsoft.com/office/drawing/2014/main" id="{4F97E64C-BB5E-4188-8A4E-0A18BF8AB326}"/>
              </a:ext>
            </a:extLst>
          </p:cNvPr>
          <p:cNvSpPr>
            <a:spLocks xmlns:a="http://schemas.openxmlformats.org/drawingml/2006/main" noGrp="1"/>
          </p:cNvSpPr>
          <p:nvPr/>
        </p:nvSpPr>
        <p:spPr>
          <a:xfrm xmlns:a="http://schemas.openxmlformats.org/drawingml/2006/main">
            <a:off x="2438400" y="2952750"/>
            <a:ext cx="312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4.252 veículos; jun/26</a:t>
            </a:r>
          </a:p>
        </p:txBody>
      </p:sp>
      <p:sp>
        <p:nvSpPr>
          <p:cNvPr id="25" name="">
            <a:extLst xmlns:a="http://schemas.openxmlformats.org/drawingml/2006/main">
              <a:ext uri="{FF2B5EF4-FFF2-40B4-BE49-F238E27FC236}">
                <a16:creationId xmlns:a16="http://schemas.microsoft.com/office/drawing/2014/main" id="{C80CB000-2CCB-4630-BB19-4D27D6685D5E}"/>
              </a:ext>
            </a:extLst>
          </p:cNvPr>
          <p:cNvSpPr>
            <a:spLocks xmlns:a="http://schemas.openxmlformats.org/drawingml/2006/main" noGrp="1"/>
          </p:cNvSpPr>
          <p:nvPr/>
        </p:nvSpPr>
        <p:spPr>
          <a:xfrm xmlns:a="http://schemas.openxmlformats.org/drawingml/2006/main">
            <a:off x="5676900" y="2952750"/>
            <a:ext cx="5886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Cap por veículo; vazio = ausência de reporte. Aging reconciliado à Tabela I completa; ex-360 ajustada = 4,9%.</a:t>
            </a:r>
          </a:p>
        </p:txBody>
      </p:sp>
      <p:sp>
        <p:nvSpPr>
          <p:cNvPr id="26" name="">
            <a:extLst xmlns:a="http://schemas.openxmlformats.org/drawingml/2006/main">
              <a:ext uri="{FF2B5EF4-FFF2-40B4-BE49-F238E27FC236}">
                <a16:creationId xmlns:a16="http://schemas.microsoft.com/office/drawing/2014/main" id="{115012E3-1C67-4C8A-9112-E2AE8016B0CC}"/>
              </a:ext>
            </a:extLst>
          </p:cNvPr>
          <p:cNvSpPr>
            <a:spLocks xmlns:a="http://schemas.openxmlformats.org/drawingml/2006/main" noGrp="1"/>
          </p:cNvSpPr>
          <p:nvPr/>
        </p:nvSpPr>
        <p:spPr>
          <a:xfrm xmlns:a="http://schemas.openxmlformats.org/drawingml/2006/main">
            <a:off x="571500" y="3533775"/>
            <a:ext cx="11049000" cy="609600"/>
          </a:xfrm>
          <a:prstGeom xmlns:a="http://schemas.openxmlformats.org/drawingml/2006/main" prst="rect">
            <a:avLst/>
          </a:prstGeom>
          <a:solidFill xmlns:a="http://schemas.openxmlformats.org/drawingml/2006/main">
            <a:srgbClr val="F5F6F7"/>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5267ECC-A26A-4CAB-B7F6-0FF3CE582089}"/>
              </a:ext>
            </a:extLst>
          </p:cNvPr>
          <p:cNvSpPr>
            <a:spLocks xmlns:a="http://schemas.openxmlformats.org/drawingml/2006/main" noGrp="1"/>
          </p:cNvSpPr>
          <p:nvPr/>
        </p:nvSpPr>
        <p:spPr>
          <a:xfrm xmlns:a="http://schemas.openxmlformats.org/drawingml/2006/main">
            <a:off x="571500" y="4133850"/>
            <a:ext cx="11049000"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B2DE742-116D-4B6A-8420-926624B3FFA5}"/>
              </a:ext>
            </a:extLst>
          </p:cNvPr>
          <p:cNvSpPr>
            <a:spLocks xmlns:a="http://schemas.openxmlformats.org/drawingml/2006/main" noGrp="1"/>
          </p:cNvSpPr>
          <p:nvPr/>
        </p:nvSpPr>
        <p:spPr>
          <a:xfrm xmlns:a="http://schemas.openxmlformats.org/drawingml/2006/main">
            <a:off x="628650" y="3562350"/>
            <a:ext cx="1695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Market share</a:t>
            </a:r>
          </a:p>
        </p:txBody>
      </p:sp>
      <p:sp>
        <p:nvSpPr>
          <p:cNvPr id="29" name="">
            <a:extLst xmlns:a="http://schemas.openxmlformats.org/drawingml/2006/main">
              <a:ext uri="{FF2B5EF4-FFF2-40B4-BE49-F238E27FC236}">
                <a16:creationId xmlns:a16="http://schemas.microsoft.com/office/drawing/2014/main" id="{68D9AD43-4ADE-411A-8220-29D3B69AC35F}"/>
              </a:ext>
            </a:extLst>
          </p:cNvPr>
          <p:cNvSpPr>
            <a:spLocks xmlns:a="http://schemas.openxmlformats.org/drawingml/2006/main" noGrp="1"/>
          </p:cNvSpPr>
          <p:nvPr/>
        </p:nvSpPr>
        <p:spPr>
          <a:xfrm xmlns:a="http://schemas.openxmlformats.org/drawingml/2006/main">
            <a:off x="2438400" y="3562350"/>
            <a:ext cx="312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14 focos; 3 funções; jun/26</a:t>
            </a:r>
          </a:p>
        </p:txBody>
      </p:sp>
      <p:sp>
        <p:nvSpPr>
          <p:cNvPr id="30" name="">
            <a:extLst xmlns:a="http://schemas.openxmlformats.org/drawingml/2006/main">
              <a:ext uri="{FF2B5EF4-FFF2-40B4-BE49-F238E27FC236}">
                <a16:creationId xmlns:a16="http://schemas.microsoft.com/office/drawing/2014/main" id="{1497260F-BE78-46A7-8C90-7588589E1306}"/>
              </a:ext>
            </a:extLst>
          </p:cNvPr>
          <p:cNvSpPr>
            <a:spLocks xmlns:a="http://schemas.openxmlformats.org/drawingml/2006/main" noGrp="1"/>
          </p:cNvSpPr>
          <p:nvPr/>
        </p:nvSpPr>
        <p:spPr>
          <a:xfrm xmlns:a="http://schemas.openxmlformats.org/drawingml/2006/main">
            <a:off x="5676900" y="3562350"/>
            <a:ext cx="5886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Denominador = PL do subtipo; cobertura de classificação Tipo+Foco por PL é reportada em cada slide. Top 10 fixo por função; Outros identificados e prestador não informado separados.</a:t>
            </a:r>
          </a:p>
        </p:txBody>
      </p:sp>
      <p:sp>
        <p:nvSpPr>
          <p:cNvPr id="31" name="">
            <a:extLst xmlns:a="http://schemas.openxmlformats.org/drawingml/2006/main">
              <a:ext uri="{FF2B5EF4-FFF2-40B4-BE49-F238E27FC236}">
                <a16:creationId xmlns:a16="http://schemas.microsoft.com/office/drawing/2014/main" id="{8BFBFE04-923C-41E0-9A99-401BDD09386D}"/>
              </a:ext>
            </a:extLst>
          </p:cNvPr>
          <p:cNvSpPr>
            <a:spLocks xmlns:a="http://schemas.openxmlformats.org/drawingml/2006/main" noGrp="1"/>
          </p:cNvSpPr>
          <p:nvPr/>
        </p:nvSpPr>
        <p:spPr>
          <a:xfrm xmlns:a="http://schemas.openxmlformats.org/drawingml/2006/main">
            <a:off x="571500" y="4143375"/>
            <a:ext cx="11049000" cy="6096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7D1D8E22-F70A-4368-B99E-B1E194F233F0}"/>
              </a:ext>
            </a:extLst>
          </p:cNvPr>
          <p:cNvSpPr>
            <a:spLocks xmlns:a="http://schemas.openxmlformats.org/drawingml/2006/main" noGrp="1"/>
          </p:cNvSpPr>
          <p:nvPr/>
        </p:nvSpPr>
        <p:spPr>
          <a:xfrm xmlns:a="http://schemas.openxmlformats.org/drawingml/2006/main">
            <a:off x="571500" y="4743450"/>
            <a:ext cx="11049000"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8CE57529-9424-4FE6-B317-E2B3E47419D1}"/>
              </a:ext>
            </a:extLst>
          </p:cNvPr>
          <p:cNvSpPr>
            <a:spLocks xmlns:a="http://schemas.openxmlformats.org/drawingml/2006/main" noGrp="1"/>
          </p:cNvSpPr>
          <p:nvPr/>
        </p:nvSpPr>
        <p:spPr>
          <a:xfrm xmlns:a="http://schemas.openxmlformats.org/drawingml/2006/main">
            <a:off x="628650" y="4171950"/>
            <a:ext cx="1695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Monoestrutura</a:t>
            </a:r>
          </a:p>
        </p:txBody>
      </p:sp>
      <p:sp>
        <p:nvSpPr>
          <p:cNvPr id="34" name="">
            <a:extLst xmlns:a="http://schemas.openxmlformats.org/drawingml/2006/main">
              <a:ext uri="{FF2B5EF4-FFF2-40B4-BE49-F238E27FC236}">
                <a16:creationId xmlns:a16="http://schemas.microsoft.com/office/drawing/2014/main" id="{28B0C54C-709E-41D7-9DAF-A0148AA1C1E2}"/>
              </a:ext>
            </a:extLst>
          </p:cNvPr>
          <p:cNvSpPr>
            <a:spLocks xmlns:a="http://schemas.openxmlformats.org/drawingml/2006/main" noGrp="1"/>
          </p:cNvSpPr>
          <p:nvPr/>
        </p:nvSpPr>
        <p:spPr>
          <a:xfrm xmlns:a="http://schemas.openxmlformats.org/drawingml/2006/main">
            <a:off x="2438400" y="4171950"/>
            <a:ext cx="312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4.247 fundos; jun/26</a:t>
            </a:r>
          </a:p>
        </p:txBody>
      </p:sp>
      <p:sp>
        <p:nvSpPr>
          <p:cNvPr id="35" name="">
            <a:extLst xmlns:a="http://schemas.openxmlformats.org/drawingml/2006/main">
              <a:ext uri="{FF2B5EF4-FFF2-40B4-BE49-F238E27FC236}">
                <a16:creationId xmlns:a16="http://schemas.microsoft.com/office/drawing/2014/main" id="{8E742E6B-882E-4F93-A06A-2106384870EC}"/>
              </a:ext>
            </a:extLst>
          </p:cNvPr>
          <p:cNvSpPr>
            <a:spLocks xmlns:a="http://schemas.openxmlformats.org/drawingml/2006/main" noGrp="1"/>
          </p:cNvSpPr>
          <p:nvPr/>
        </p:nvSpPr>
        <p:spPr>
          <a:xfrm xmlns:a="http://schemas.openxmlformats.org/drawingml/2006/main">
            <a:off x="5676900" y="4171950"/>
            <a:ext cx="5886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PL bruto, inclui FIC-FIDC. Mesmo conglomerado nas três funções; Kanastra permanece separada do Itaú e CBSF da REAG. Afiliação Kanastra→Itaú só no ranking de independentes.</a:t>
            </a:r>
          </a:p>
        </p:txBody>
      </p:sp>
      <p:sp>
        <p:nvSpPr>
          <p:cNvPr id="36" name="">
            <a:extLst xmlns:a="http://schemas.openxmlformats.org/drawingml/2006/main">
              <a:ext uri="{FF2B5EF4-FFF2-40B4-BE49-F238E27FC236}">
                <a16:creationId xmlns:a16="http://schemas.microsoft.com/office/drawing/2014/main" id="{3AE7E36F-B196-413B-985C-5015A2CE0AF6}"/>
              </a:ext>
            </a:extLst>
          </p:cNvPr>
          <p:cNvSpPr>
            <a:spLocks xmlns:a="http://schemas.openxmlformats.org/drawingml/2006/main" noGrp="1"/>
          </p:cNvSpPr>
          <p:nvPr/>
        </p:nvSpPr>
        <p:spPr>
          <a:xfrm xmlns:a="http://schemas.openxmlformats.org/drawingml/2006/main">
            <a:off x="571500" y="4752975"/>
            <a:ext cx="11049000" cy="609600"/>
          </a:xfrm>
          <a:prstGeom xmlns:a="http://schemas.openxmlformats.org/drawingml/2006/main" prst="rect">
            <a:avLst/>
          </a:prstGeom>
          <a:solidFill xmlns:a="http://schemas.openxmlformats.org/drawingml/2006/main">
            <a:srgbClr val="F5F6F7"/>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E9674345-14DE-44AC-8AAD-97B65BDC77E0}"/>
              </a:ext>
            </a:extLst>
          </p:cNvPr>
          <p:cNvSpPr>
            <a:spLocks xmlns:a="http://schemas.openxmlformats.org/drawingml/2006/main" noGrp="1"/>
          </p:cNvSpPr>
          <p:nvPr/>
        </p:nvSpPr>
        <p:spPr>
          <a:xfrm xmlns:a="http://schemas.openxmlformats.org/drawingml/2006/main">
            <a:off x="571500" y="5353050"/>
            <a:ext cx="11049000"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8B3E6252-890D-452B-B2BC-219593A22B17}"/>
              </a:ext>
            </a:extLst>
          </p:cNvPr>
          <p:cNvSpPr>
            <a:spLocks xmlns:a="http://schemas.openxmlformats.org/drawingml/2006/main" noGrp="1"/>
          </p:cNvSpPr>
          <p:nvPr/>
        </p:nvSpPr>
        <p:spPr>
          <a:xfrm xmlns:a="http://schemas.openxmlformats.org/drawingml/2006/main">
            <a:off x="628650" y="4781550"/>
            <a:ext cx="1695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Comparativo por instrumento</a:t>
            </a:r>
          </a:p>
        </p:txBody>
      </p:sp>
      <p:sp>
        <p:nvSpPr>
          <p:cNvPr id="39" name="">
            <a:extLst xmlns:a="http://schemas.openxmlformats.org/drawingml/2006/main">
              <a:ext uri="{FF2B5EF4-FFF2-40B4-BE49-F238E27FC236}">
                <a16:creationId xmlns:a16="http://schemas.microsoft.com/office/drawing/2014/main" id="{A70613CB-E340-4214-B44F-728F2567C8B3}"/>
              </a:ext>
            </a:extLst>
          </p:cNvPr>
          <p:cNvSpPr>
            <a:spLocks xmlns:a="http://schemas.openxmlformats.org/drawingml/2006/main" noGrp="1"/>
          </p:cNvSpPr>
          <p:nvPr/>
        </p:nvSpPr>
        <p:spPr>
          <a:xfrm xmlns:a="http://schemas.openxmlformats.org/drawingml/2006/main">
            <a:off x="2438400" y="4781550"/>
            <a:ext cx="312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2023–2025 FY; 2026 jan–mai</a:t>
            </a:r>
          </a:p>
        </p:txBody>
      </p:sp>
      <p:sp>
        <p:nvSpPr>
          <p:cNvPr id="40" name="">
            <a:extLst xmlns:a="http://schemas.openxmlformats.org/drawingml/2006/main">
              <a:ext uri="{FF2B5EF4-FFF2-40B4-BE49-F238E27FC236}">
                <a16:creationId xmlns:a16="http://schemas.microsoft.com/office/drawing/2014/main" id="{2F545705-6B85-488F-A922-88964AB6B1EE}"/>
              </a:ext>
            </a:extLst>
          </p:cNvPr>
          <p:cNvSpPr>
            <a:spLocks xmlns:a="http://schemas.openxmlformats.org/drawingml/2006/main" noGrp="1"/>
          </p:cNvSpPr>
          <p:nvPr/>
        </p:nvSpPr>
        <p:spPr>
          <a:xfrm xmlns:a="http://schemas.openxmlformats.org/drawingml/2006/main">
            <a:off x="5676900" y="4781550"/>
            <a:ext cx="5886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ANBIMA Data, Valor Encerrado por data de encerramento das ofertas públicas. Debêntures incluem debêntures de securitização. O anexo não segrega sistematicamente primárias e secundárias.</a:t>
            </a:r>
          </a:p>
        </p:txBody>
      </p:sp>
      <p:sp>
        <p:nvSpPr>
          <p:cNvPr id="41" name="">
            <a:extLst xmlns:a="http://schemas.openxmlformats.org/drawingml/2006/main">
              <a:ext uri="{FF2B5EF4-FFF2-40B4-BE49-F238E27FC236}">
                <a16:creationId xmlns:a16="http://schemas.microsoft.com/office/drawing/2014/main" id="{351649FB-D8D9-4DAE-8DE0-4186856E6ADB}"/>
              </a:ext>
            </a:extLst>
          </p:cNvPr>
          <p:cNvSpPr>
            <a:spLocks xmlns:a="http://schemas.openxmlformats.org/drawingml/2006/main" noGrp="1"/>
          </p:cNvSpPr>
          <p:nvPr/>
        </p:nvSpPr>
        <p:spPr>
          <a:xfrm xmlns:a="http://schemas.openxmlformats.org/drawingml/2006/main">
            <a:off x="571500" y="5362575"/>
            <a:ext cx="11049000" cy="6096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2" name="">
            <a:extLst xmlns:a="http://schemas.openxmlformats.org/drawingml/2006/main">
              <a:ext uri="{FF2B5EF4-FFF2-40B4-BE49-F238E27FC236}">
                <a16:creationId xmlns:a16="http://schemas.microsoft.com/office/drawing/2014/main" id="{56AAAEA6-E700-449B-B048-DC574B874737}"/>
              </a:ext>
            </a:extLst>
          </p:cNvPr>
          <p:cNvSpPr>
            <a:spLocks xmlns:a="http://schemas.openxmlformats.org/drawingml/2006/main" noGrp="1"/>
          </p:cNvSpPr>
          <p:nvPr/>
        </p:nvSpPr>
        <p:spPr>
          <a:xfrm xmlns:a="http://schemas.openxmlformats.org/drawingml/2006/main">
            <a:off x="571500" y="5962650"/>
            <a:ext cx="11049000"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F72CFF43-950B-4C94-9F1E-CA852189C8A3}"/>
              </a:ext>
            </a:extLst>
          </p:cNvPr>
          <p:cNvSpPr>
            <a:spLocks xmlns:a="http://schemas.openxmlformats.org/drawingml/2006/main" noGrp="1"/>
          </p:cNvSpPr>
          <p:nvPr/>
        </p:nvSpPr>
        <p:spPr>
          <a:xfrm xmlns:a="http://schemas.openxmlformats.org/drawingml/2006/main">
            <a:off x="628650" y="5391150"/>
            <a:ext cx="1695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Análises granulares de ofertas</a:t>
            </a:r>
          </a:p>
        </p:txBody>
      </p:sp>
      <p:sp>
        <p:nvSpPr>
          <p:cNvPr id="44" name="">
            <a:extLst xmlns:a="http://schemas.openxmlformats.org/drawingml/2006/main">
              <a:ext uri="{FF2B5EF4-FFF2-40B4-BE49-F238E27FC236}">
                <a16:creationId xmlns:a16="http://schemas.microsoft.com/office/drawing/2014/main" id="{53A1C8C3-7248-4391-9B80-3D1558850232}"/>
              </a:ext>
            </a:extLst>
          </p:cNvPr>
          <p:cNvSpPr>
            <a:spLocks xmlns:a="http://schemas.openxmlformats.org/drawingml/2006/main" noGrp="1"/>
          </p:cNvSpPr>
          <p:nvPr/>
        </p:nvSpPr>
        <p:spPr>
          <a:xfrm xmlns:a="http://schemas.openxmlformats.org/drawingml/2006/main">
            <a:off x="2438400" y="5391150"/>
            <a:ext cx="312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2022 parcial; 2023–2025 FY; 2026 jan–jun</a:t>
            </a:r>
          </a:p>
        </p:txBody>
      </p:sp>
      <p:sp>
        <p:nvSpPr>
          <p:cNvPr id="45" name="">
            <a:extLst xmlns:a="http://schemas.openxmlformats.org/drawingml/2006/main">
              <a:ext uri="{FF2B5EF4-FFF2-40B4-BE49-F238E27FC236}">
                <a16:creationId xmlns:a16="http://schemas.microsoft.com/office/drawing/2014/main" id="{359BCA3D-5153-4B57-885A-0D840E91F315}"/>
              </a:ext>
            </a:extLst>
          </p:cNvPr>
          <p:cNvSpPr>
            <a:spLocks xmlns:a="http://schemas.openxmlformats.org/drawingml/2006/main" noGrp="1"/>
          </p:cNvSpPr>
          <p:nvPr/>
        </p:nvSpPr>
        <p:spPr>
          <a:xfrm xmlns:a="http://schemas.openxmlformats.org/drawingml/2006/main">
            <a:off x="5676900" y="5391150"/>
            <a:ext cx="5886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923" b="0">
                <a:solidFill>
                  <a:srgbClr val="30353A"/>
                </a:solidFill>
                <a:latin typeface="Arial"/>
                <a:ea typeface="Arial"/>
                <a:cs typeface="Arial"/>
              </a:defRPr>
            </a:pPr>
            <a:r>
              <a:rPr sz="923" b="0">
                <a:solidFill>
                  <a:srgbClr val="30353A"/>
                </a:solidFill>
                <a:latin typeface="Arial"/>
                <a:ea typeface="Arial"/>
                <a:cs typeface="Arial"/>
              </a:rPr>
              <a:t>CVM/SRE, Cotas de FIDC, ofertas públicas primárias encerradas, todos os ritos disponíveis e valor registrado positivo. Automático: requerimento; ordinário/legado: registro + emissor + data + instrumento.</a:t>
            </a:r>
          </a:p>
        </p:txBody>
      </p:sp>
    </p:spTree>
    <p:extLst>
      <p:ext uri="{BB962C8B-B14F-4D97-AF65-F5344CB8AC3E}">
        <p14:creationId xmlns:p14="http://schemas.microsoft.com/office/powerpoint/2010/main" val="138150686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D7DC4B7E-6BDB-4AAB-9DDF-5432FA033907}"/>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B75C6D01-A559-488C-8C63-B021C0954A0A}"/>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#1 FIDC Sistema Petrobras — R$ 61,3 bi e 7,0% do PL ex-FIC</a:t>
            </a:r>
          </a:p>
        </p:txBody>
      </p:sp>
      <p:sp>
        <p:nvSpPr>
          <p:cNvPr id="3" name="">
            <a:extLst xmlns:a="http://schemas.openxmlformats.org/drawingml/2006/main">
              <a:ext uri="{FF2B5EF4-FFF2-40B4-BE49-F238E27FC236}">
                <a16:creationId xmlns:a16="http://schemas.microsoft.com/office/drawing/2014/main" id="{A93920A8-BC33-4BEE-A566-FE5FAC2A5613}"/>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0F73C14-700F-431B-8784-F05E7A282577}"/>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429B8AD-E1CC-4C7B-BF90-D2D8BF18FCEB}"/>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2026-07-16</a:t>
            </a:r>
          </a:p>
        </p:txBody>
      </p:sp>
      <p:sp>
        <p:nvSpPr>
          <p:cNvPr id="6" name="">
            <a:extLst xmlns:a="http://schemas.openxmlformats.org/drawingml/2006/main">
              <a:ext uri="{FF2B5EF4-FFF2-40B4-BE49-F238E27FC236}">
                <a16:creationId xmlns:a16="http://schemas.microsoft.com/office/drawing/2014/main" id="{ABDE9F6E-7191-4BD4-A6CA-141FA4D06D2E}"/>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34</a:t>
            </a:r>
          </a:p>
        </p:txBody>
      </p:sp>
      <p:sp>
        <p:nvSpPr>
          <p:cNvPr id="7" name="">
            <a:extLst xmlns:a="http://schemas.openxmlformats.org/drawingml/2006/main">
              <a:ext uri="{FF2B5EF4-FFF2-40B4-BE49-F238E27FC236}">
                <a16:creationId xmlns:a16="http://schemas.microsoft.com/office/drawing/2014/main" id="{6B451E9F-FFB2-4C3D-AF03-A26AF14ECA4E}"/>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09.195.235/0001-50 · FIDC DO SISTEMA PETROBRAS</a:t>
            </a:r>
          </a:p>
        </p:txBody>
      </p:sp>
      <p:sp>
        <p:nvSpPr>
          <p:cNvPr id="8" name="">
            <a:extLst xmlns:a="http://schemas.openxmlformats.org/drawingml/2006/main">
              <a:ext uri="{FF2B5EF4-FFF2-40B4-BE49-F238E27FC236}">
                <a16:creationId xmlns:a16="http://schemas.microsoft.com/office/drawing/2014/main" id="{F37FA402-C91A-4729-AAAA-2835250BCE61}"/>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2823B1FE-75FB-433A-AB01-D485AC594402}"/>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37C0115-A9D8-4CCB-AA83-5DF4956FDAAB}"/>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CC498F79-0FFE-4625-A5CC-DC5F289D2B92}"/>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Empresas integrantes do Sistema Petrobras que cedam direitos ao fundo; o regulamento não traz lista fechada de cedentes.</a:t>
            </a:r>
          </a:p>
        </p:txBody>
      </p:sp>
      <p:sp>
        <p:nvSpPr>
          <p:cNvPr id="12" name="">
            <a:extLst xmlns:a="http://schemas.openxmlformats.org/drawingml/2006/main">
              <a:ext uri="{FF2B5EF4-FFF2-40B4-BE49-F238E27FC236}">
                <a16:creationId xmlns:a16="http://schemas.microsoft.com/office/drawing/2014/main" id="{E7E12114-3BA8-434F-B306-B651E793E680}"/>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0541ED0D-6CBF-45B9-8F41-3ED1F0536051}"/>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Pessoas jurídicas às quais as cedentes prestam serviços ou alienam bens.</a:t>
            </a:r>
          </a:p>
        </p:txBody>
      </p:sp>
      <p:sp>
        <p:nvSpPr>
          <p:cNvPr id="14" name="">
            <a:extLst xmlns:a="http://schemas.openxmlformats.org/drawingml/2006/main">
              <a:ext uri="{FF2B5EF4-FFF2-40B4-BE49-F238E27FC236}">
                <a16:creationId xmlns:a16="http://schemas.microsoft.com/office/drawing/2014/main" id="{023251DF-CDBF-42D1-AC55-4534F41A4748}"/>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FD659459-E87A-4D58-8D70-D9E576C76AFB}"/>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Direitos originados em operações industriais, comerciais e de prestação de serviços das empresas do Sistema Petrobras.</a:t>
            </a:r>
          </a:p>
        </p:txBody>
      </p:sp>
      <p:sp>
        <p:nvSpPr>
          <p:cNvPr id="16" name="">
            <a:extLst xmlns:a="http://schemas.openxmlformats.org/drawingml/2006/main">
              <a:ext uri="{FF2B5EF4-FFF2-40B4-BE49-F238E27FC236}">
                <a16:creationId xmlns:a16="http://schemas.microsoft.com/office/drawing/2014/main" id="{EF426103-262E-4599-9A5F-8187A919C076}"/>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A0A18BCF-5E17-4415-BF1E-01EADB1E8058}"/>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As empresas do Sistema Petrobras cedem os recebíveis ao fundo. O pagamento dos devedores passa por conta escrow no Banco do Brasil; as cedentes podem atuar na cobrança dos créditos inadimplidos.</a:t>
            </a:r>
          </a:p>
        </p:txBody>
      </p:sp>
      <p:sp>
        <p:nvSpPr>
          <p:cNvPr id="18" name="">
            <a:extLst xmlns:a="http://schemas.openxmlformats.org/drawingml/2006/main">
              <a:ext uri="{FF2B5EF4-FFF2-40B4-BE49-F238E27FC236}">
                <a16:creationId xmlns:a16="http://schemas.microsoft.com/office/drawing/2014/main" id="{B90B3844-4C51-47F2-B5F5-F4E6C279FE74}"/>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F1B68C9F-46C9-4057-90FD-290C3357B3F1}"/>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241E7C9-512F-4932-B6EA-AE9DBDBA8B60}"/>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720357F8-1A24-404F-9079-D9179AA71A47}"/>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Emissões relevantes não localizadas nas fontes consultadas.</a:t>
            </a:r>
          </a:p>
        </p:txBody>
      </p:sp>
      <p:sp>
        <p:nvSpPr>
          <p:cNvPr id="22" name="">
            <a:extLst xmlns:a="http://schemas.openxmlformats.org/drawingml/2006/main">
              <a:ext uri="{FF2B5EF4-FFF2-40B4-BE49-F238E27FC236}">
                <a16:creationId xmlns:a16="http://schemas.microsoft.com/office/drawing/2014/main" id="{1ACAB6DF-F93F-46A7-8EEE-2A0CE73FA84C}"/>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7F276430-E7EA-4FB9-A387-67DEA47E7D8C}"/>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Subclasses sênior e subordinada. Enquanto houver cota sênior em circulação, deve existir ao menos uma cota subordinada; o regulamento não fixa razão percentual adicional. Garantias: Garantia específica dos recebíveis não identificada no regulamento consultado; o investimento não conta com garantia geral do administrador, gestor ou FGC.</a:t>
            </a:r>
          </a:p>
        </p:txBody>
      </p:sp>
      <p:sp>
        <p:nvSpPr>
          <p:cNvPr id="24" name="">
            <a:extLst xmlns:a="http://schemas.openxmlformats.org/drawingml/2006/main">
              <a:ext uri="{FF2B5EF4-FFF2-40B4-BE49-F238E27FC236}">
                <a16:creationId xmlns:a16="http://schemas.microsoft.com/office/drawing/2014/main" id="{7DF582D7-CCB9-4CD1-8A08-309E803AD29D}"/>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8861EAFD-B957-4D37-8195-645B3DB750C6}"/>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BB GESTAO DE RECURSOS DTVM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BB GESTAO DE RECURSOS DTVM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BANCO DO BRASIL S.A.</a:t>
            </a:r>
          </a:p>
        </p:txBody>
      </p:sp>
      <p:sp>
        <p:nvSpPr>
          <p:cNvPr id="26" name="">
            <a:extLst xmlns:a="http://schemas.openxmlformats.org/drawingml/2006/main">
              <a:ext uri="{FF2B5EF4-FFF2-40B4-BE49-F238E27FC236}">
                <a16:creationId xmlns:a16="http://schemas.microsoft.com/office/drawing/2014/main" id="{9BC9F903-AEED-4260-82F8-62E49603C94A}"/>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1AED6F02-8AC3-4AF9-828B-E4E51D540A1C}"/>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Agro, Indústria e Comércio · Recebíveis Comerciais</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4E833A62-5F2D-4323-80AC-521F89D21B09}"/>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AF6C9B1-D655-4C03-B3C1-23A881AC1CB1}"/>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5/6 campos documentais preenchidos. Fonte: https://fnet.bmfbovespa.com.br/fnet/publico/abrirGerenciadorDocumentosCVM?cnpjFundo=09195235000150. Evidência: A leitura documental é compatível com o Tipo/Foco oficial ANBIMA.</a:t>
            </a:r>
          </a:p>
        </p:txBody>
      </p:sp>
    </p:spTree>
    <p:extLst>
      <p:ext uri="{BB962C8B-B14F-4D97-AF65-F5344CB8AC3E}">
        <p14:creationId xmlns:p14="http://schemas.microsoft.com/office/powerpoint/2010/main" val="55872594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0EF3C5A9-BC39-4077-ABD1-E3D5764CA445}"/>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8E32F47F-6E71-4958-865C-2255FC1F1479}"/>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#2 TAPSO — R$ 41,5 bi e 4,7% do PL ex-FIC</a:t>
            </a:r>
          </a:p>
        </p:txBody>
      </p:sp>
      <p:sp>
        <p:nvSpPr>
          <p:cNvPr id="3" name="">
            <a:extLst xmlns:a="http://schemas.openxmlformats.org/drawingml/2006/main">
              <a:ext uri="{FF2B5EF4-FFF2-40B4-BE49-F238E27FC236}">
                <a16:creationId xmlns:a16="http://schemas.microsoft.com/office/drawing/2014/main" id="{BBDEF9B9-9877-4A31-8B30-B9AAC3541F8E}"/>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B81A2AB-47F5-46A7-A024-78E743CAEA59}"/>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677326C-A7C7-40A4-B5D3-48CD1542C672}"/>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2026-07-16</a:t>
            </a:r>
          </a:p>
        </p:txBody>
      </p:sp>
      <p:sp>
        <p:nvSpPr>
          <p:cNvPr id="6" name="">
            <a:extLst xmlns:a="http://schemas.openxmlformats.org/drawingml/2006/main">
              <a:ext uri="{FF2B5EF4-FFF2-40B4-BE49-F238E27FC236}">
                <a16:creationId xmlns:a16="http://schemas.microsoft.com/office/drawing/2014/main" id="{A444787B-AA2A-4D82-9E88-14BC007E3ED6}"/>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35</a:t>
            </a:r>
          </a:p>
        </p:txBody>
      </p:sp>
      <p:sp>
        <p:nvSpPr>
          <p:cNvPr id="7" name="">
            <a:extLst xmlns:a="http://schemas.openxmlformats.org/drawingml/2006/main">
              <a:ext uri="{FF2B5EF4-FFF2-40B4-BE49-F238E27FC236}">
                <a16:creationId xmlns:a16="http://schemas.microsoft.com/office/drawing/2014/main" id="{373ADB4D-4F6C-4400-8923-221B13DF0849}"/>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26.287.464/0001-14 · TAPSO FUNDO DE INVESTIMENTO EM DIREITOS CREDITÓRIOS RESPONSABILIDADE LIMITADA</a:t>
            </a:r>
          </a:p>
        </p:txBody>
      </p:sp>
      <p:sp>
        <p:nvSpPr>
          <p:cNvPr id="8" name="">
            <a:extLst xmlns:a="http://schemas.openxmlformats.org/drawingml/2006/main">
              <a:ext uri="{FF2B5EF4-FFF2-40B4-BE49-F238E27FC236}">
                <a16:creationId xmlns:a16="http://schemas.microsoft.com/office/drawing/2014/main" id="{A929E7A2-6006-4CC2-8014-EF60BC8E10A3}"/>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37D0C884-D63F-463E-BB52-78AA2D871B8A}"/>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5DC8755-F3D7-4D33-B523-D4AD3F33AA4B}"/>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B7BA96BE-CDCF-41B8-9316-8734C0ADDA4D}"/>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749"/>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Estabelecimentos credenciados, representados por Stone/Pagar.me ou adquirente autorizada, e instituições financeiras parceiras; o regulamento cita a Stone Sociedade de Crédito Direto no fluxo de sub-rogação.</a:t>
            </a:r>
          </a:p>
        </p:txBody>
      </p:sp>
      <p:sp>
        <p:nvSpPr>
          <p:cNvPr id="12" name="">
            <a:extLst xmlns:a="http://schemas.openxmlformats.org/drawingml/2006/main">
              <a:ext uri="{FF2B5EF4-FFF2-40B4-BE49-F238E27FC236}">
                <a16:creationId xmlns:a16="http://schemas.microsoft.com/office/drawing/2014/main" id="{4632F5A4-4F90-44A4-BBE6-98AB308A1B7D}"/>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D6389792-E454-4A07-A339-EE220B57F165}"/>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Stone, Pagar.me e demais adquirentes/subadquirentes autorizadas nos contratos da operação.</a:t>
            </a:r>
          </a:p>
        </p:txBody>
      </p:sp>
      <p:sp>
        <p:nvSpPr>
          <p:cNvPr id="14" name="">
            <a:extLst xmlns:a="http://schemas.openxmlformats.org/drawingml/2006/main">
              <a:ext uri="{FF2B5EF4-FFF2-40B4-BE49-F238E27FC236}">
                <a16:creationId xmlns:a16="http://schemas.microsoft.com/office/drawing/2014/main" id="{93C172EF-4E4F-41B9-B090-03BCD76A5EB5}"/>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909026FE-F4C8-4D7C-B92D-A037EF6D05FD}"/>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Unidades/recebíveis de transações de pagamento e créditos sub-rogados de instituições financeiras parceiras.</a:t>
            </a:r>
          </a:p>
        </p:txBody>
      </p:sp>
      <p:sp>
        <p:nvSpPr>
          <p:cNvPr id="16" name="">
            <a:extLst xmlns:a="http://schemas.openxmlformats.org/drawingml/2006/main">
              <a:ext uri="{FF2B5EF4-FFF2-40B4-BE49-F238E27FC236}">
                <a16:creationId xmlns:a16="http://schemas.microsoft.com/office/drawing/2014/main" id="{EFA8A4DC-14EC-40E4-9E61-CC398EB5BA65}"/>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7516D37C-A5B2-44BE-8F0A-8C2F6C242168}"/>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A classe adquire recebíveis dos estabelecimentos e direitos sub-rogados de parceiros financeiros, com revolvência e pagamento pelos participantes do arranjo de pagamento.</a:t>
            </a:r>
          </a:p>
        </p:txBody>
      </p:sp>
      <p:sp>
        <p:nvSpPr>
          <p:cNvPr id="18" name="">
            <a:extLst xmlns:a="http://schemas.openxmlformats.org/drawingml/2006/main">
              <a:ext uri="{FF2B5EF4-FFF2-40B4-BE49-F238E27FC236}">
                <a16:creationId xmlns:a16="http://schemas.microsoft.com/office/drawing/2014/main" id="{D33B4D9E-8FBB-48BB-8670-5BB3B8C2A46F}"/>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F5C50F8F-E56C-4E4B-B766-991A94A8BCF6}"/>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5013EF9-3583-4243-A24C-FF81F48D2013}"/>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139EFB0F-ADF5-4413-814C-0266D1D4F67C}"/>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Emissões relevantes não localizadas nas fontes consultadas.</a:t>
            </a:r>
          </a:p>
        </p:txBody>
      </p:sp>
      <p:sp>
        <p:nvSpPr>
          <p:cNvPr id="22" name="">
            <a:extLst xmlns:a="http://schemas.openxmlformats.org/drawingml/2006/main">
              <a:ext uri="{FF2B5EF4-FFF2-40B4-BE49-F238E27FC236}">
                <a16:creationId xmlns:a16="http://schemas.microsoft.com/office/drawing/2014/main" id="{0E3E18D2-9354-43FC-A4F3-72056EB4B320}"/>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8718AED6-1A41-4516-A55B-BB11259E2786}"/>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Cotas sênior, mezanino A, mezanino B e subordinada; razão total mínima de subordinação de 20% do PL da classe. Garantias: O regulamento admite cessão fiduciária para assegurar promessa de cessão; não há garantia geral de prestadores ou FGC.</a:t>
            </a:r>
          </a:p>
        </p:txBody>
      </p:sp>
      <p:sp>
        <p:nvSpPr>
          <p:cNvPr id="24" name="">
            <a:extLst xmlns:a="http://schemas.openxmlformats.org/drawingml/2006/main">
              <a:ext uri="{FF2B5EF4-FFF2-40B4-BE49-F238E27FC236}">
                <a16:creationId xmlns:a16="http://schemas.microsoft.com/office/drawing/2014/main" id="{756F3956-CE9E-4E50-B28F-BE1A37F61C8B}"/>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2EF925A7-ADFA-4463-88B3-D0625BED4FF8}"/>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OLIVEIRA TRUST DTVM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OLIVEIRA TRUST SERVICER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OLIVEIRA TRUST DTVM S.A.</a:t>
            </a:r>
          </a:p>
        </p:txBody>
      </p:sp>
      <p:sp>
        <p:nvSpPr>
          <p:cNvPr id="26" name="">
            <a:extLst xmlns:a="http://schemas.openxmlformats.org/drawingml/2006/main">
              <a:ext uri="{FF2B5EF4-FFF2-40B4-BE49-F238E27FC236}">
                <a16:creationId xmlns:a16="http://schemas.microsoft.com/office/drawing/2014/main" id="{A54FBA40-AC65-4499-8C60-0B4B1254C37D}"/>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3F218EF3-13A6-4937-AE4B-1D767E96766F}"/>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Financeiro · Crédito Pessoal</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443328CA-738F-4F5C-94BF-96E64F7F2B76}"/>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D9DAA9A-6D94-443B-81C6-35C390C96E44}"/>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5/6 campos documentais preenchidos. Fonte: https://fnet.bmfbovespa.com.br/fnet/publico/abrirGerenciadorDocumentosCVM?cnpjFundo=26287464000114. Evidência: O cadastro ANBIMA traz Financeiro/Crédito Pessoal; o regulamento consultado descreve predominantemente recebíveis de meios de pagamento. Manter as duas leituras separadas.</a:t>
            </a:r>
          </a:p>
        </p:txBody>
      </p:sp>
    </p:spTree>
    <p:extLst>
      <p:ext uri="{BB962C8B-B14F-4D97-AF65-F5344CB8AC3E}">
        <p14:creationId xmlns:p14="http://schemas.microsoft.com/office/powerpoint/2010/main" val="186213663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DB1A645-4443-43A1-9346-EF792D1AF912}"/>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110BC4CD-8A6A-413D-B48E-70CC9753E4A5}"/>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#3 PAN Auto — R$ 18,0 bi e 2,0% do PL ex-FIC</a:t>
            </a:r>
          </a:p>
        </p:txBody>
      </p:sp>
      <p:sp>
        <p:nvSpPr>
          <p:cNvPr id="3" name="">
            <a:extLst xmlns:a="http://schemas.openxmlformats.org/drawingml/2006/main">
              <a:ext uri="{FF2B5EF4-FFF2-40B4-BE49-F238E27FC236}">
                <a16:creationId xmlns:a16="http://schemas.microsoft.com/office/drawing/2014/main" id="{D80C1397-727F-4DB3-8708-A56336DA7BC9}"/>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7C07174-0492-4F2A-A4B7-D966E87DEA91}"/>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3C30DC8-2278-4C17-B71D-D39B290C358E}"/>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2026-07-16</a:t>
            </a:r>
          </a:p>
        </p:txBody>
      </p:sp>
      <p:sp>
        <p:nvSpPr>
          <p:cNvPr id="6" name="">
            <a:extLst xmlns:a="http://schemas.openxmlformats.org/drawingml/2006/main">
              <a:ext uri="{FF2B5EF4-FFF2-40B4-BE49-F238E27FC236}">
                <a16:creationId xmlns:a16="http://schemas.microsoft.com/office/drawing/2014/main" id="{1BFB9F11-2599-4875-B8EC-B3DCEDEB9C68}"/>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36</a:t>
            </a:r>
          </a:p>
        </p:txBody>
      </p:sp>
      <p:sp>
        <p:nvSpPr>
          <p:cNvPr id="7" name="">
            <a:extLst xmlns:a="http://schemas.openxmlformats.org/drawingml/2006/main">
              <a:ext uri="{FF2B5EF4-FFF2-40B4-BE49-F238E27FC236}">
                <a16:creationId xmlns:a16="http://schemas.microsoft.com/office/drawing/2014/main" id="{CBCC90D2-F52C-4C2B-AFAF-0C6B8EFB1776}"/>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65.473.848/0001-83 · PAN AUTO FUNDO DE INVESTIMENTO EM DIREITOS CREDITÓRIOS RESPONSABILIDADE LIMITADA</a:t>
            </a:r>
          </a:p>
        </p:txBody>
      </p:sp>
      <p:sp>
        <p:nvSpPr>
          <p:cNvPr id="8" name="">
            <a:extLst xmlns:a="http://schemas.openxmlformats.org/drawingml/2006/main">
              <a:ext uri="{FF2B5EF4-FFF2-40B4-BE49-F238E27FC236}">
                <a16:creationId xmlns:a16="http://schemas.microsoft.com/office/drawing/2014/main" id="{4D43F277-3455-42D9-858D-1E4159E3D2D8}"/>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FAF9FEF6-B2B2-49FD-A264-3C9BC6F82D05}"/>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7372FCE-3035-48FD-B2AD-3274E11947A7}"/>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AA5689FB-3324-4392-8F81-B971950A3242}"/>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Cedente/originador não localizado nas fontes consultadas.</a:t>
            </a:r>
          </a:p>
        </p:txBody>
      </p:sp>
      <p:sp>
        <p:nvSpPr>
          <p:cNvPr id="12" name="">
            <a:extLst xmlns:a="http://schemas.openxmlformats.org/drawingml/2006/main">
              <a:ext uri="{FF2B5EF4-FFF2-40B4-BE49-F238E27FC236}">
                <a16:creationId xmlns:a16="http://schemas.microsoft.com/office/drawing/2014/main" id="{81DA1E2B-22E6-4F13-81A9-5F36AA2CF2E9}"/>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3F032150-83F9-4713-9B2E-9F45A65C5713}"/>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Entes públicos responsáveis pelos precatórios federais adquiridos no 1T26; nomes não identificados.</a:t>
            </a:r>
          </a:p>
        </p:txBody>
      </p:sp>
      <p:sp>
        <p:nvSpPr>
          <p:cNvPr id="14" name="">
            <a:extLst xmlns:a="http://schemas.openxmlformats.org/drawingml/2006/main">
              <a:ext uri="{FF2B5EF4-FFF2-40B4-BE49-F238E27FC236}">
                <a16:creationId xmlns:a16="http://schemas.microsoft.com/office/drawing/2014/main" id="{626E6C03-95FC-4CFA-B881-303AC4E8D3F2}"/>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9DE1B14D-7314-44C4-A097-1F0A853A01CC}"/>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O relatório trimestral confirma que a exposição incluiu precatórios federais no 1T26. O documento não demonstra que toda a carteira era de precatórios e não há evidência primária suficiente para classificá-la como financiamento de veículos.</a:t>
            </a:r>
          </a:p>
        </p:txBody>
      </p:sp>
      <p:sp>
        <p:nvSpPr>
          <p:cNvPr id="16" name="">
            <a:extLst xmlns:a="http://schemas.openxmlformats.org/drawingml/2006/main">
              <a:ext uri="{FF2B5EF4-FFF2-40B4-BE49-F238E27FC236}">
                <a16:creationId xmlns:a16="http://schemas.microsoft.com/office/drawing/2014/main" id="{582A97C4-0471-48E9-A076-2E159F9A5F5E}"/>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87E433D9-574C-4E3A-9BA5-CD51B6ED50B9}"/>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A classe recebeu parcela cindida da Classe Única do BTG Empresas em março de 2026. No 1T26 houve novas cessões definitivas, alterações de garantias, pré-pagamentos e alienação parcial de direitos.</a:t>
            </a:r>
          </a:p>
        </p:txBody>
      </p:sp>
      <p:sp>
        <p:nvSpPr>
          <p:cNvPr id="18" name="">
            <a:extLst xmlns:a="http://schemas.openxmlformats.org/drawingml/2006/main">
              <a:ext uri="{FF2B5EF4-FFF2-40B4-BE49-F238E27FC236}">
                <a16:creationId xmlns:a16="http://schemas.microsoft.com/office/drawing/2014/main" id="{BFA678AB-49CA-4620-A97B-79FC888723F0}"/>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8CFC7C1B-B38A-449A-8B03-8538485FDCA0}"/>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7B79780-42E7-478F-A72C-8D9700B3B6C1}"/>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76DB1B08-1069-4349-A502-3C2FF3F6270E}"/>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2026-03-18 | incorporação de parcela cindida da Classe Única do BTG Empresas | montante não identificado | doc. 1142758; Evento societário/patrimonial; não é oferta pública.</a:t>
            </a:r>
          </a:p>
        </p:txBody>
      </p:sp>
      <p:sp>
        <p:nvSpPr>
          <p:cNvPr id="22" name="">
            <a:extLst xmlns:a="http://schemas.openxmlformats.org/drawingml/2006/main">
              <a:ext uri="{FF2B5EF4-FFF2-40B4-BE49-F238E27FC236}">
                <a16:creationId xmlns:a16="http://schemas.microsoft.com/office/drawing/2014/main" id="{E5D2C42C-3CEE-42C5-8901-4AA601E2859D}"/>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929F58B6-B0D5-4E04-BB02-B76CE9091BA7}"/>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Garantias: O relatório confirma alteração de garantias no trimestre, mas não descreve seu conteúdo.</a:t>
            </a:r>
          </a:p>
        </p:txBody>
      </p:sp>
      <p:sp>
        <p:nvSpPr>
          <p:cNvPr id="24" name="">
            <a:extLst xmlns:a="http://schemas.openxmlformats.org/drawingml/2006/main">
              <a:ext uri="{FF2B5EF4-FFF2-40B4-BE49-F238E27FC236}">
                <a16:creationId xmlns:a16="http://schemas.microsoft.com/office/drawing/2014/main" id="{C0585D3E-9EEA-466C-B132-42221DC778F2}"/>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8590A122-76D6-4701-AD4A-B8B1DE657AD9}"/>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BTG PACTUAL SERVIÇOS FINANCEIROS S/A DTVM</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BTG PACTUAL GESTORA DE INVESTIMENTOS ALTERNATIVOS LTDA.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BANCO BTG PACTUAL S/A</a:t>
            </a:r>
          </a:p>
        </p:txBody>
      </p:sp>
      <p:sp>
        <p:nvSpPr>
          <p:cNvPr id="26" name="">
            <a:extLst xmlns:a="http://schemas.openxmlformats.org/drawingml/2006/main">
              <a:ext uri="{FF2B5EF4-FFF2-40B4-BE49-F238E27FC236}">
                <a16:creationId xmlns:a16="http://schemas.microsoft.com/office/drawing/2014/main" id="{EA755879-A5BC-4FD4-86C3-614D75D65675}"/>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A31261DE-2F65-425E-A365-F44583BCC802}"/>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Agro, Indústria e Comércio · Recebíveis Comerciais</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Proxy CVM; validar</a:t>
            </a:r>
          </a:p>
        </p:txBody>
      </p:sp>
      <p:sp>
        <p:nvSpPr>
          <p:cNvPr id="28" name="">
            <a:extLst xmlns:a="http://schemas.openxmlformats.org/drawingml/2006/main">
              <a:ext uri="{FF2B5EF4-FFF2-40B4-BE49-F238E27FC236}">
                <a16:creationId xmlns:a16="http://schemas.microsoft.com/office/drawing/2014/main" id="{960FEEB6-C03B-4676-A2D7-FE2B95D4D373}"/>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84E2636-329B-4DE7-B070-A13404C70498}"/>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5/6 campos documentais preenchidos. Fonte: https://fnet.bmfbovespa.com.br/fnet/publico/abrirGerenciadorDocumentosCVM?cnpjFundo=65473848000183. Evidência: O nome PAN AUTO não é evidência de crédito automotivo. O classificador local baseado no nome deve ser descartado; a única evidência econômica primária localizada foi a aquisição de precatórios federais no 1T26.</a:t>
            </a:r>
          </a:p>
        </p:txBody>
      </p:sp>
    </p:spTree>
    <p:extLst>
      <p:ext uri="{BB962C8B-B14F-4D97-AF65-F5344CB8AC3E}">
        <p14:creationId xmlns:p14="http://schemas.microsoft.com/office/powerpoint/2010/main" val="138783237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FFCADC72-633B-4268-BD76-B67FECB69D49}"/>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21E081E4-449D-4586-8268-64930E140804}"/>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#4 CloudWalk Bela — R$ 10,0 bi e 1,1% do PL ex-FIC</a:t>
            </a:r>
          </a:p>
        </p:txBody>
      </p:sp>
      <p:sp>
        <p:nvSpPr>
          <p:cNvPr id="3" name="">
            <a:extLst xmlns:a="http://schemas.openxmlformats.org/drawingml/2006/main">
              <a:ext uri="{FF2B5EF4-FFF2-40B4-BE49-F238E27FC236}">
                <a16:creationId xmlns:a16="http://schemas.microsoft.com/office/drawing/2014/main" id="{1FDBFA51-74D3-4DC0-8689-058BD1DFD223}"/>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1A36337-1F39-404D-9879-8E61012949B4}"/>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3A4F91A-C50F-4CDF-8979-56980AA736B8}"/>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2026-07-16</a:t>
            </a:r>
          </a:p>
        </p:txBody>
      </p:sp>
      <p:sp>
        <p:nvSpPr>
          <p:cNvPr id="6" name="">
            <a:extLst xmlns:a="http://schemas.openxmlformats.org/drawingml/2006/main">
              <a:ext uri="{FF2B5EF4-FFF2-40B4-BE49-F238E27FC236}">
                <a16:creationId xmlns:a16="http://schemas.microsoft.com/office/drawing/2014/main" id="{83F3587A-8AE1-4C89-AD64-1286EEB41FB6}"/>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37</a:t>
            </a:r>
          </a:p>
        </p:txBody>
      </p:sp>
      <p:sp>
        <p:nvSpPr>
          <p:cNvPr id="7" name="">
            <a:extLst xmlns:a="http://schemas.openxmlformats.org/drawingml/2006/main">
              <a:ext uri="{FF2B5EF4-FFF2-40B4-BE49-F238E27FC236}">
                <a16:creationId xmlns:a16="http://schemas.microsoft.com/office/drawing/2014/main" id="{4945CDCB-8FA6-47AD-A125-730350115BCE}"/>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62.393.679/0001-83 · CLOUDWALK BELA FUNDO DE INVESTIMENTO EM DIREITOS CREDITÓRIOS SEGMENTO MEIOS DE PAGAMENTO</a:t>
            </a:r>
          </a:p>
        </p:txBody>
      </p:sp>
      <p:sp>
        <p:nvSpPr>
          <p:cNvPr id="8" name="">
            <a:extLst xmlns:a="http://schemas.openxmlformats.org/drawingml/2006/main">
              <a:ext uri="{FF2B5EF4-FFF2-40B4-BE49-F238E27FC236}">
                <a16:creationId xmlns:a16="http://schemas.microsoft.com/office/drawing/2014/main" id="{2D6798B0-4FFE-4E43-A40A-E50C543525E4}"/>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E983B663-5E5F-463F-84D6-35DACC8F4E53}"/>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2C829F6-5B9C-44CD-A5BE-8D29D83A0C60}"/>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4745DDA8-45C5-47E5-BF4B-684CB5B76ECA}"/>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CloudWalk Instituição de Pagamento.</a:t>
            </a:r>
          </a:p>
        </p:txBody>
      </p:sp>
      <p:sp>
        <p:nvSpPr>
          <p:cNvPr id="12" name="">
            <a:extLst xmlns:a="http://schemas.openxmlformats.org/drawingml/2006/main">
              <a:ext uri="{FF2B5EF4-FFF2-40B4-BE49-F238E27FC236}">
                <a16:creationId xmlns:a16="http://schemas.microsoft.com/office/drawing/2014/main" id="{41A2199B-400F-40D9-985C-2A20A3BF44B2}"/>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C8837004-953D-4D36-94CB-5BF478164535}"/>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Emissores e instituições de pagamento responsáveis pela liquidação das transações capturadas no sistema CloudWalk.</a:t>
            </a:r>
          </a:p>
        </p:txBody>
      </p:sp>
      <p:sp>
        <p:nvSpPr>
          <p:cNvPr id="14" name="">
            <a:extLst xmlns:a="http://schemas.openxmlformats.org/drawingml/2006/main">
              <a:ext uri="{FF2B5EF4-FFF2-40B4-BE49-F238E27FC236}">
                <a16:creationId xmlns:a16="http://schemas.microsoft.com/office/drawing/2014/main" id="{F6EA137F-A720-49CB-8033-FAC4B22E910C}"/>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126CF68A-20A8-4519-8C87-8CAAC1AC872F}"/>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Valores devidos pelos emissores à CloudWalk, como credenciadora, decorrentes de transações de cartão realizadas por estabelecimentos.</a:t>
            </a:r>
          </a:p>
        </p:txBody>
      </p:sp>
      <p:sp>
        <p:nvSpPr>
          <p:cNvPr id="16" name="">
            <a:extLst xmlns:a="http://schemas.openxmlformats.org/drawingml/2006/main">
              <a:ext uri="{FF2B5EF4-FFF2-40B4-BE49-F238E27FC236}">
                <a16:creationId xmlns:a16="http://schemas.microsoft.com/office/drawing/2014/main" id="{10053E02-16E1-4201-B325-574ABE3CB47D}"/>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8BD6FB28-674C-47E8-BE62-BFF42B51A9CF}"/>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A CloudWalk cede à classe recebíveis de liquidação de transações de pagamento; os fluxos dos emissores alimentam o pagamento das cotas.</a:t>
            </a:r>
          </a:p>
        </p:txBody>
      </p:sp>
      <p:sp>
        <p:nvSpPr>
          <p:cNvPr id="18" name="">
            <a:extLst xmlns:a="http://schemas.openxmlformats.org/drawingml/2006/main">
              <a:ext uri="{FF2B5EF4-FFF2-40B4-BE49-F238E27FC236}">
                <a16:creationId xmlns:a16="http://schemas.microsoft.com/office/drawing/2014/main" id="{3A74E8AF-ACC8-4B09-9E11-DFBDA0E7C36B}"/>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D9B80054-FF79-458D-9021-0585C3D98CE7}"/>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B519B4F-4E6D-4723-B65D-CC80539105F4}"/>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D53440EB-44CB-47E4-A5F5-4B25131D43BB}"/>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2026-04-20 | encerramento de oferta primária da 2ª série | R$ 5,5 bi | doc. 1166893 || 2025-09-16 | encerramento de oferta secundária da 1ª série | R$ 4,2 bi | doc. 993253; Oferta secundária; não representa captação nova da classe.</a:t>
            </a:r>
          </a:p>
        </p:txBody>
      </p:sp>
      <p:sp>
        <p:nvSpPr>
          <p:cNvPr id="22" name="">
            <a:extLst xmlns:a="http://schemas.openxmlformats.org/drawingml/2006/main">
              <a:ext uri="{FF2B5EF4-FFF2-40B4-BE49-F238E27FC236}">
                <a16:creationId xmlns:a16="http://schemas.microsoft.com/office/drawing/2014/main" id="{DBBA46CF-BACA-4F4D-9B29-04E6F3C20574}"/>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9E14DD10-4D54-45B9-A524-93F72E410AB3}"/>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Sênior, mezanino A, mezanino B e júnior. O regulamento contém índices de subordinação por fase e marcos ligados à oferta da 2ª série; a fase aplicável em mai/26 não foi reconciliada e não deve ser resumida como percentual único. Garantias: Subordinação por subclasses; garantia específica adicional não identificada nos documentos selecionados.</a:t>
            </a:r>
          </a:p>
        </p:txBody>
      </p:sp>
      <p:sp>
        <p:nvSpPr>
          <p:cNvPr id="24" name="">
            <a:extLst xmlns:a="http://schemas.openxmlformats.org/drawingml/2006/main">
              <a:ext uri="{FF2B5EF4-FFF2-40B4-BE49-F238E27FC236}">
                <a16:creationId xmlns:a16="http://schemas.microsoft.com/office/drawing/2014/main" id="{EF28952B-F391-4095-BF94-3A7C8BA3B4F8}"/>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08FE3D80-0860-4CE9-978D-1D78AAABD408}"/>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BEM - DISTRIBUIDORA DE TITULOS E VALORES MOBILIARIOS LTDA.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BANCO BRADESCO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BANCO BRADESCO S.A.</a:t>
            </a:r>
          </a:p>
        </p:txBody>
      </p:sp>
      <p:sp>
        <p:nvSpPr>
          <p:cNvPr id="26" name="">
            <a:extLst xmlns:a="http://schemas.openxmlformats.org/drawingml/2006/main">
              <a:ext uri="{FF2B5EF4-FFF2-40B4-BE49-F238E27FC236}">
                <a16:creationId xmlns:a16="http://schemas.microsoft.com/office/drawing/2014/main" id="{27B94C6D-B0B2-4A15-B953-A799456E9CA6}"/>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64965B61-743C-432A-9296-20D26F27EACC}"/>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Outros · Multicarteira Outros</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588DBA4A-394A-4706-91F0-9605BDD94B12}"/>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0FF2644E-ED22-4B1E-A145-2503747B5781}"/>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6/6 campos documentais preenchidos. Fonte: https://fnet.bmfbovespa.com.br/fnet/publico/abrirGerenciadorDocumentosCVM?cnpjFundo=62393679000183. Evidência: O cadastro ANBIMA traz Outros/Multicarteira Outros; a estrutura econômica documental é de meios de pagamento.</a:t>
            </a:r>
          </a:p>
        </p:txBody>
      </p:sp>
    </p:spTree>
    <p:extLst>
      <p:ext uri="{BB962C8B-B14F-4D97-AF65-F5344CB8AC3E}">
        <p14:creationId xmlns:p14="http://schemas.microsoft.com/office/powerpoint/2010/main" val="91158657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41B28129-FFC9-4120-BF75-784CCD51C770}"/>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F6772815-C1F0-48EC-957E-F264996A342D}"/>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#5 MT Global · Consignado Privado — R$ 9,4 bi e 1,1% do PL ex-FIC</a:t>
            </a:r>
          </a:p>
        </p:txBody>
      </p:sp>
      <p:sp>
        <p:nvSpPr>
          <p:cNvPr id="3" name="">
            <a:extLst xmlns:a="http://schemas.openxmlformats.org/drawingml/2006/main">
              <a:ext uri="{FF2B5EF4-FFF2-40B4-BE49-F238E27FC236}">
                <a16:creationId xmlns:a16="http://schemas.microsoft.com/office/drawing/2014/main" id="{19406AED-49C3-4159-BEA1-1B7EEFF6E34F}"/>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8060D5-5A2C-4EB0-A044-5D6EF39391D0}"/>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AF394F6-2087-440A-9113-C1DFA48DAA73}"/>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2026-07-24</a:t>
            </a:r>
          </a:p>
        </p:txBody>
      </p:sp>
      <p:sp>
        <p:nvSpPr>
          <p:cNvPr id="6" name="">
            <a:extLst xmlns:a="http://schemas.openxmlformats.org/drawingml/2006/main">
              <a:ext uri="{FF2B5EF4-FFF2-40B4-BE49-F238E27FC236}">
                <a16:creationId xmlns:a16="http://schemas.microsoft.com/office/drawing/2014/main" id="{E3432036-BF50-45D0-93FD-81B11BFD4633}"/>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38</a:t>
            </a:r>
          </a:p>
        </p:txBody>
      </p:sp>
      <p:sp>
        <p:nvSpPr>
          <p:cNvPr id="7" name="">
            <a:extLst xmlns:a="http://schemas.openxmlformats.org/drawingml/2006/main">
              <a:ext uri="{FF2B5EF4-FFF2-40B4-BE49-F238E27FC236}">
                <a16:creationId xmlns:a16="http://schemas.microsoft.com/office/drawing/2014/main" id="{D0288CAD-925A-47DE-AD4E-A864452FE464}"/>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63.953.619/0001-30 · CLASSE CONSIGNADO PRIVADO DO MT GLOBAL FUNDO DE INVESTIMENTO EM DIREITOS CREDITÓRIOS RESP LIMITADA</a:t>
            </a:r>
          </a:p>
        </p:txBody>
      </p:sp>
      <p:sp>
        <p:nvSpPr>
          <p:cNvPr id="8" name="">
            <a:extLst xmlns:a="http://schemas.openxmlformats.org/drawingml/2006/main">
              <a:ext uri="{FF2B5EF4-FFF2-40B4-BE49-F238E27FC236}">
                <a16:creationId xmlns:a16="http://schemas.microsoft.com/office/drawing/2014/main" id="{F9B58590-9285-47B9-8270-0DF853014EA9}"/>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73BBD1F5-C072-4C80-843B-C79B4DD5B981}"/>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23CB91E-3602-4D8A-A678-3C5173E5E2C9}"/>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4BBBC685-4BD8-4326-8EE7-EC173827B51D}"/>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Parati Crédito, Financiamento e Investimento S.A., como originadora e endossante das CCBs.</a:t>
            </a:r>
          </a:p>
        </p:txBody>
      </p:sp>
      <p:sp>
        <p:nvSpPr>
          <p:cNvPr id="12" name="">
            <a:extLst xmlns:a="http://schemas.openxmlformats.org/drawingml/2006/main">
              <a:ext uri="{FF2B5EF4-FFF2-40B4-BE49-F238E27FC236}">
                <a16:creationId xmlns:a16="http://schemas.microsoft.com/office/drawing/2014/main" id="{253BB810-EDCC-47CD-A769-C7952BDD4BE4}"/>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C0D42FDD-9AF1-40CA-B6C3-E1DB394BCD11}"/>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Pessoas físicas empregadas por empresas privadas, devedoras dos empréstimos consignados.</a:t>
            </a:r>
          </a:p>
        </p:txBody>
      </p:sp>
      <p:sp>
        <p:nvSpPr>
          <p:cNvPr id="14" name="">
            <a:extLst xmlns:a="http://schemas.openxmlformats.org/drawingml/2006/main">
              <a:ext uri="{FF2B5EF4-FFF2-40B4-BE49-F238E27FC236}">
                <a16:creationId xmlns:a16="http://schemas.microsoft.com/office/drawing/2014/main" id="{8E856431-5BAB-47CE-BC1E-1B4E3B0C5B18}"/>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76F21C0F-D9C7-46D4-9C3F-F86813ED7F42}"/>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Parcelas de CCBs de empréstimo consignado privado, processadas na infraestrutura Dataprev e Caixa prevista no regulamento.</a:t>
            </a:r>
          </a:p>
        </p:txBody>
      </p:sp>
      <p:sp>
        <p:nvSpPr>
          <p:cNvPr id="16" name="">
            <a:extLst xmlns:a="http://schemas.openxmlformats.org/drawingml/2006/main">
              <a:ext uri="{FF2B5EF4-FFF2-40B4-BE49-F238E27FC236}">
                <a16:creationId xmlns:a16="http://schemas.microsoft.com/office/drawing/2014/main" id="{01AC52E0-DE27-4A83-8853-78868B6B52DA}"/>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C9879252-64CF-4271-8518-4535B3303AB0}"/>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A Parati origina e endossa as CCBs à classe; o desconto em folha direciona o pagamento das parcelas.</a:t>
            </a:r>
          </a:p>
        </p:txBody>
      </p:sp>
      <p:sp>
        <p:nvSpPr>
          <p:cNvPr id="18" name="">
            <a:extLst xmlns:a="http://schemas.openxmlformats.org/drawingml/2006/main">
              <a:ext uri="{FF2B5EF4-FFF2-40B4-BE49-F238E27FC236}">
                <a16:creationId xmlns:a16="http://schemas.microsoft.com/office/drawing/2014/main" id="{C7263DD0-F960-459B-9E83-DE00D7495E2D}"/>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473EC73A-2C3A-45A6-9E80-11CBEA4A71EF}"/>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AE2E7D0-9A15-4FDE-8BCD-DBC29D58E5C7}"/>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2224FEC0-40DD-4D7B-91F8-74E0057FA822}"/>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Em 08/01/2026, aprovação de colocação privada de cotas sênior em vasos comunicantes, com limite agregado de R$ 15 bi, e R$ 7 mi de cotas subordinadas; aprovação não comprova colocação integral.</a:t>
            </a:r>
          </a:p>
        </p:txBody>
      </p:sp>
      <p:sp>
        <p:nvSpPr>
          <p:cNvPr id="22" name="">
            <a:extLst xmlns:a="http://schemas.openxmlformats.org/drawingml/2006/main">
              <a:ext uri="{FF2B5EF4-FFF2-40B4-BE49-F238E27FC236}">
                <a16:creationId xmlns:a16="http://schemas.microsoft.com/office/drawing/2014/main" id="{80874A40-EF69-4CD3-9EC1-C2618BBFA0B2}"/>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7E284D97-4FEE-4A32-8C25-DBDE21EF8C20}"/>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Cotas sênior e subordinada; índice mínimo de subordinação de 1% do PL e índice-alvo de 10%. Garantias: Desconto consignado em folha; cessão ou endosso definitivo, sem coobrigação geral da Parati.</a:t>
            </a:r>
          </a:p>
        </p:txBody>
      </p:sp>
      <p:sp>
        <p:nvSpPr>
          <p:cNvPr id="24" name="">
            <a:extLst xmlns:a="http://schemas.openxmlformats.org/drawingml/2006/main">
              <a:ext uri="{FF2B5EF4-FFF2-40B4-BE49-F238E27FC236}">
                <a16:creationId xmlns:a16="http://schemas.microsoft.com/office/drawing/2014/main" id="{F60C87B9-2248-4E30-9066-C9C6740022AE}"/>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5CC468C5-C188-4D17-AA55-4CED60B372C0}"/>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BTG PACTUAL SERVIÇOS FINANCEIROS S/A DTVM</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BTG PACTUAL ASSET MANAGEMENT S/A DTVM</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BANCO BTG PACTUAL S/A</a:t>
            </a:r>
          </a:p>
        </p:txBody>
      </p:sp>
      <p:sp>
        <p:nvSpPr>
          <p:cNvPr id="26" name="">
            <a:extLst xmlns:a="http://schemas.openxmlformats.org/drawingml/2006/main">
              <a:ext uri="{FF2B5EF4-FFF2-40B4-BE49-F238E27FC236}">
                <a16:creationId xmlns:a16="http://schemas.microsoft.com/office/drawing/2014/main" id="{DE50F582-5A20-4173-AFEE-52819AC4BCD5}"/>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B39E74F4-D4AD-4AF1-ACAD-E886DF767B3A}"/>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Financeiro · Crédito Consignado</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Evidência documental primária</a:t>
            </a:r>
          </a:p>
        </p:txBody>
      </p:sp>
      <p:sp>
        <p:nvSpPr>
          <p:cNvPr id="28" name="">
            <a:extLst xmlns:a="http://schemas.openxmlformats.org/drawingml/2006/main">
              <a:ext uri="{FF2B5EF4-FFF2-40B4-BE49-F238E27FC236}">
                <a16:creationId xmlns:a16="http://schemas.microsoft.com/office/drawing/2014/main" id="{2B3C1E99-DE26-4824-BA29-FA53AAFBBC14}"/>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87AF573-67EE-4EB1-9D5D-E65501D1132F}"/>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6/6 campos documentais preenchidos. Fonte: FundosNet, Regulamento id 1222855 de 02/06/2026, páginas 3 e 15; deliberação id 1087883 de 08/01/2026. Evidência: O regulamento declara Tipo Financeiro e Foco Créditos Consignados para a Classe Consignado Privado.</a:t>
            </a:r>
          </a:p>
        </p:txBody>
      </p:sp>
    </p:spTree>
    <p:extLst>
      <p:ext uri="{BB962C8B-B14F-4D97-AF65-F5344CB8AC3E}">
        <p14:creationId xmlns:p14="http://schemas.microsoft.com/office/powerpoint/2010/main" val="141798384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35788A41-EDC7-47C1-9421-FB1E6B2DC60A}"/>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EF04A40C-7914-481E-A9F3-CA20728A4815}"/>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#6 Itaú Crédito Privado — R$ 8,7 bi e 1,0% do PL ex-FIC</a:t>
            </a:r>
          </a:p>
        </p:txBody>
      </p:sp>
      <p:sp>
        <p:nvSpPr>
          <p:cNvPr id="3" name="">
            <a:extLst xmlns:a="http://schemas.openxmlformats.org/drawingml/2006/main">
              <a:ext uri="{FF2B5EF4-FFF2-40B4-BE49-F238E27FC236}">
                <a16:creationId xmlns:a16="http://schemas.microsoft.com/office/drawing/2014/main" id="{D95CDDCE-D4E9-4C7E-8334-AF5ACFE4381C}"/>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08D7D1B-CFC8-451D-9A67-EDC133595641}"/>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0BC970E-B024-4CD4-A148-BF484D32F9E2}"/>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2026-07-16</a:t>
            </a:r>
          </a:p>
        </p:txBody>
      </p:sp>
      <p:sp>
        <p:nvSpPr>
          <p:cNvPr id="6" name="">
            <a:extLst xmlns:a="http://schemas.openxmlformats.org/drawingml/2006/main">
              <a:ext uri="{FF2B5EF4-FFF2-40B4-BE49-F238E27FC236}">
                <a16:creationId xmlns:a16="http://schemas.microsoft.com/office/drawing/2014/main" id="{C3E98DC0-2B56-434E-AE3E-4C7FA66B61CF}"/>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39</a:t>
            </a:r>
          </a:p>
        </p:txBody>
      </p:sp>
      <p:sp>
        <p:nvSpPr>
          <p:cNvPr id="7" name="">
            <a:extLst xmlns:a="http://schemas.openxmlformats.org/drawingml/2006/main">
              <a:ext uri="{FF2B5EF4-FFF2-40B4-BE49-F238E27FC236}">
                <a16:creationId xmlns:a16="http://schemas.microsoft.com/office/drawing/2014/main" id="{230A1E4A-4DE1-4D16-A666-BC5D74EC16EC}"/>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53.286.499/0001-01 · ITAÚ CRÉDITO PRIVADO FUNDO DE INVESTIMENTO EM DIREITOS CREDITÓRIOS - RESPONSABILIDADE LIMITADA</a:t>
            </a:r>
          </a:p>
        </p:txBody>
      </p:sp>
      <p:sp>
        <p:nvSpPr>
          <p:cNvPr id="8" name="">
            <a:extLst xmlns:a="http://schemas.openxmlformats.org/drawingml/2006/main">
              <a:ext uri="{FF2B5EF4-FFF2-40B4-BE49-F238E27FC236}">
                <a16:creationId xmlns:a16="http://schemas.microsoft.com/office/drawing/2014/main" id="{0CDAE418-9446-4F22-9D24-2C0F50854424}"/>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650A2484-1898-4B92-9ACF-289A027B80C7}"/>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2D73E48-695A-45AA-98C4-2CCA474F2CED}"/>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CF3F7069-D429-4B8B-A904-08684FDD0B3B}"/>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Os documentos não apontam uma entidade cedente única; os instrumentos podem ser adquiridos de emissores ou no mercado, conforme seleção do gestor.</a:t>
            </a:r>
          </a:p>
        </p:txBody>
      </p:sp>
      <p:sp>
        <p:nvSpPr>
          <p:cNvPr id="12" name="">
            <a:extLst xmlns:a="http://schemas.openxmlformats.org/drawingml/2006/main">
              <a:ext uri="{FF2B5EF4-FFF2-40B4-BE49-F238E27FC236}">
                <a16:creationId xmlns:a16="http://schemas.microsoft.com/office/drawing/2014/main" id="{719252D7-A906-41EC-8E10-421EAC360CF3}"/>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8DB5F024-8EE6-4E15-A6F7-0CE105084B26}"/>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Emissores, devedores, coobrigados ou garantidores dos instrumentos de crédito da carteira.</a:t>
            </a:r>
          </a:p>
        </p:txBody>
      </p:sp>
      <p:sp>
        <p:nvSpPr>
          <p:cNvPr id="14" name="">
            <a:extLst xmlns:a="http://schemas.openxmlformats.org/drawingml/2006/main">
              <a:ext uri="{FF2B5EF4-FFF2-40B4-BE49-F238E27FC236}">
                <a16:creationId xmlns:a16="http://schemas.microsoft.com/office/drawing/2014/main" id="{58FB77AF-C781-4068-95B4-CF2D0CB5DBBE}"/>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82859EC0-3FCD-4FDD-B063-6F4B611E39FC}"/>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Debêntures, CRI, CRA, notas comerciais, letras financeiras, LCI, LCA, CDB, CCB, CDCA, cotas de FIDC e outros direitos de crédito previstos no regulamento.</a:t>
            </a:r>
          </a:p>
        </p:txBody>
      </p:sp>
      <p:sp>
        <p:nvSpPr>
          <p:cNvPr id="16" name="">
            <a:extLst xmlns:a="http://schemas.openxmlformats.org/drawingml/2006/main">
              <a:ext uri="{FF2B5EF4-FFF2-40B4-BE49-F238E27FC236}">
                <a16:creationId xmlns:a16="http://schemas.microsoft.com/office/drawing/2014/main" id="{3B9A536A-E0BE-4C73-9438-DFA1BEF2FCC4}"/>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8AFC205D-DD7B-4C59-A6FE-E10FD3E5ED28}"/>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Carteira discricionária de crédito privado, sem um único cedente ou fluxo operacional padronizado identificado no regulamento.</a:t>
            </a:r>
          </a:p>
        </p:txBody>
      </p:sp>
      <p:sp>
        <p:nvSpPr>
          <p:cNvPr id="18" name="">
            <a:extLst xmlns:a="http://schemas.openxmlformats.org/drawingml/2006/main">
              <a:ext uri="{FF2B5EF4-FFF2-40B4-BE49-F238E27FC236}">
                <a16:creationId xmlns:a16="http://schemas.microsoft.com/office/drawing/2014/main" id="{3BDC9D01-093D-4714-B8B3-1DB447888182}"/>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3A0879E4-AF0E-445D-A5C8-9F3A45A38BE3}"/>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325CF4D-15C4-437D-8B9D-1E95209F0093}"/>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F67C7EB0-2F29-476D-BB61-80D30CF305D5}"/>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Emissões relevantes não localizadas nas fontes consultadas.</a:t>
            </a:r>
          </a:p>
        </p:txBody>
      </p:sp>
      <p:sp>
        <p:nvSpPr>
          <p:cNvPr id="22" name="">
            <a:extLst xmlns:a="http://schemas.openxmlformats.org/drawingml/2006/main">
              <a:ext uri="{FF2B5EF4-FFF2-40B4-BE49-F238E27FC236}">
                <a16:creationId xmlns:a16="http://schemas.microsoft.com/office/drawing/2014/main" id="{3108F689-2B5C-4AD2-BD0E-7C1603B9E6B0}"/>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515D9A31-8B5D-4998-86BC-3C1285F41041}"/>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Classe e subclasse únicas, sem cotas subordinadas no regulamento consultado. Garantias: Variam por instrumento; não há pacote único de garantias descrito para toda a carteira.</a:t>
            </a:r>
          </a:p>
        </p:txBody>
      </p:sp>
      <p:sp>
        <p:nvSpPr>
          <p:cNvPr id="24" name="">
            <a:extLst xmlns:a="http://schemas.openxmlformats.org/drawingml/2006/main">
              <a:ext uri="{FF2B5EF4-FFF2-40B4-BE49-F238E27FC236}">
                <a16:creationId xmlns:a16="http://schemas.microsoft.com/office/drawing/2014/main" id="{39FCC82A-CE44-4A9C-88FA-AEBE8B17E92F}"/>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EEC9CB6C-78A2-4534-9F7A-80B4117E8BC8}"/>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INTRAG DTVM LTDA.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ITAU UNIBANCO ASSET MANAGEMENT LTDA.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ITAU UNIBANCO S.A.</a:t>
            </a:r>
          </a:p>
        </p:txBody>
      </p:sp>
      <p:sp>
        <p:nvSpPr>
          <p:cNvPr id="26" name="">
            <a:extLst xmlns:a="http://schemas.openxmlformats.org/drawingml/2006/main">
              <a:ext uri="{FF2B5EF4-FFF2-40B4-BE49-F238E27FC236}">
                <a16:creationId xmlns:a16="http://schemas.microsoft.com/office/drawing/2014/main" id="{43A7883E-71BE-470F-8274-00452A9F769F}"/>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B7CB2838-B6C7-47B9-B32E-6068E5FB43B4}"/>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Outros · Multicarteira Outros</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5AB4E017-A028-47CB-88AB-847D5BECCC31}"/>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C6BC27E-8D44-48C3-99FC-588DBAC7D01D}"/>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5/6 campos documentais preenchidos. Fonte: https://fnet.bmfbovespa.com.br/fnet/publico/abrirGerenciadorDocumentosCVM?cnpjFundo=53286499000101. Evidência: A leitura documental é compatível com Outros/Multicarteira Outros.</a:t>
            </a:r>
          </a:p>
        </p:txBody>
      </p:sp>
    </p:spTree>
    <p:extLst>
      <p:ext uri="{BB962C8B-B14F-4D97-AF65-F5344CB8AC3E}">
        <p14:creationId xmlns:p14="http://schemas.microsoft.com/office/powerpoint/2010/main" val="84201052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970D771A-2925-4330-85D1-F8996E613E47}"/>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B66CE269-0DF8-4B6C-9622-421114880B3E}"/>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#7 BTG Consignados II — R$ 8,0 bi e 0,9% do PL ex-FIC</a:t>
            </a:r>
          </a:p>
        </p:txBody>
      </p:sp>
      <p:sp>
        <p:nvSpPr>
          <p:cNvPr id="3" name="">
            <a:extLst xmlns:a="http://schemas.openxmlformats.org/drawingml/2006/main">
              <a:ext uri="{FF2B5EF4-FFF2-40B4-BE49-F238E27FC236}">
                <a16:creationId xmlns:a16="http://schemas.microsoft.com/office/drawing/2014/main" id="{52056246-6F12-4F64-9DBB-B7EAE640D182}"/>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4BE7E1D-D0B7-47F7-BA65-8C2D75CABF6E}"/>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4D25004-743A-4D7F-8A63-E58248BB2E89}"/>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2026-07-16</a:t>
            </a:r>
          </a:p>
        </p:txBody>
      </p:sp>
      <p:sp>
        <p:nvSpPr>
          <p:cNvPr id="6" name="">
            <a:extLst xmlns:a="http://schemas.openxmlformats.org/drawingml/2006/main">
              <a:ext uri="{FF2B5EF4-FFF2-40B4-BE49-F238E27FC236}">
                <a16:creationId xmlns:a16="http://schemas.microsoft.com/office/drawing/2014/main" id="{FB98A639-0497-48F7-9A81-221868F87AEF}"/>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40</a:t>
            </a:r>
          </a:p>
        </p:txBody>
      </p:sp>
      <p:sp>
        <p:nvSpPr>
          <p:cNvPr id="7" name="">
            <a:extLst xmlns:a="http://schemas.openxmlformats.org/drawingml/2006/main">
              <a:ext uri="{FF2B5EF4-FFF2-40B4-BE49-F238E27FC236}">
                <a16:creationId xmlns:a16="http://schemas.microsoft.com/office/drawing/2014/main" id="{68A5C29A-2C19-4345-B2B7-6A5F83E0F7AA}"/>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52.242.420/0001-88 · BTG PACTUAL CONSIGNADOS II FUNDO DE INVESTIMENTO EM DIREITOS CREDITÓRIOS</a:t>
            </a:r>
          </a:p>
        </p:txBody>
      </p:sp>
      <p:sp>
        <p:nvSpPr>
          <p:cNvPr id="8" name="">
            <a:extLst xmlns:a="http://schemas.openxmlformats.org/drawingml/2006/main">
              <a:ext uri="{FF2B5EF4-FFF2-40B4-BE49-F238E27FC236}">
                <a16:creationId xmlns:a16="http://schemas.microsoft.com/office/drawing/2014/main" id="{30AB1B2F-0B5D-421C-859F-E8C9FF686541}"/>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CE5228C2-3031-4AC2-AC5C-C2C9CE924440}"/>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3B9F75A-B489-49A3-B400-BE3FDE2189FF}"/>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509842CA-326C-401B-BF19-05386A1E4785}"/>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Instituições financeiras que concedam as CCBs; nomes individuais não identificados no regulamento selecionado.</a:t>
            </a:r>
          </a:p>
        </p:txBody>
      </p:sp>
      <p:sp>
        <p:nvSpPr>
          <p:cNvPr id="12" name="">
            <a:extLst xmlns:a="http://schemas.openxmlformats.org/drawingml/2006/main">
              <a:ext uri="{FF2B5EF4-FFF2-40B4-BE49-F238E27FC236}">
                <a16:creationId xmlns:a16="http://schemas.microsoft.com/office/drawing/2014/main" id="{B2EAFCCB-2198-48F7-A20F-6FAE5385C1E3}"/>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69419B1C-AA52-429B-B2ED-6C19EF92F346}"/>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Pessoas físicas, incluindo beneficiários de INSS/Auxílio Brasil e trabalhadores com saldo de FGTS, conforme a modalidade da CCB.</a:t>
            </a:r>
          </a:p>
        </p:txBody>
      </p:sp>
      <p:sp>
        <p:nvSpPr>
          <p:cNvPr id="14" name="">
            <a:extLst xmlns:a="http://schemas.openxmlformats.org/drawingml/2006/main">
              <a:ext uri="{FF2B5EF4-FFF2-40B4-BE49-F238E27FC236}">
                <a16:creationId xmlns:a16="http://schemas.microsoft.com/office/drawing/2014/main" id="{5E30754E-5884-48D1-9273-6662D4146BA9}"/>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D02EC795-4017-4964-AA56-65789852DE9E}"/>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Parcelas vincendas de CCB de empréstimo pessoal com cessão fiduciária do saque-aniversário FGTS ou consignação operacionalizada pela Dataprev.</a:t>
            </a:r>
          </a:p>
        </p:txBody>
      </p:sp>
      <p:sp>
        <p:nvSpPr>
          <p:cNvPr id="16" name="">
            <a:extLst xmlns:a="http://schemas.openxmlformats.org/drawingml/2006/main">
              <a:ext uri="{FF2B5EF4-FFF2-40B4-BE49-F238E27FC236}">
                <a16:creationId xmlns:a16="http://schemas.microsoft.com/office/drawing/2014/main" id="{22CA8C65-3BD7-4948-B120-7DB6E9045A42}"/>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F394E601-1643-4569-B998-26A377BEF0E0}"/>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A classe adquire ou recebe por endosso parcelas de CCB; o pagamento ocorre pelo fluxo do FGTS/CEF ou por consignação processada pela Dataprev.</a:t>
            </a:r>
          </a:p>
        </p:txBody>
      </p:sp>
      <p:sp>
        <p:nvSpPr>
          <p:cNvPr id="18" name="">
            <a:extLst xmlns:a="http://schemas.openxmlformats.org/drawingml/2006/main">
              <a:ext uri="{FF2B5EF4-FFF2-40B4-BE49-F238E27FC236}">
                <a16:creationId xmlns:a16="http://schemas.microsoft.com/office/drawing/2014/main" id="{33D29B72-0A76-4F9F-A966-DE53B2F8F512}"/>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F4E4D088-8667-49FF-97E2-BAE9E7220752}"/>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99EB18D-1E78-4D7C-B447-00D0C83A52CA}"/>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9C30CE1D-E682-43CA-915E-DE9393A93E94}"/>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2023-09-19 | aprovação de primeira emissão privada | R$ 2,5 bi | doc. 523931; Valor máximo aprovado; o documento não comprova colocação integral.</a:t>
            </a:r>
          </a:p>
        </p:txBody>
      </p:sp>
      <p:sp>
        <p:nvSpPr>
          <p:cNvPr id="22" name="">
            <a:extLst xmlns:a="http://schemas.openxmlformats.org/drawingml/2006/main">
              <a:ext uri="{FF2B5EF4-FFF2-40B4-BE49-F238E27FC236}">
                <a16:creationId xmlns:a16="http://schemas.microsoft.com/office/drawing/2014/main" id="{0F09DBF2-40A6-4EAA-9313-96D3BC545EDF}"/>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24A498C5-9B9F-40A0-AE59-110AFDB77BC7}"/>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Classe única com cotas pari passu no regulamento atual; não há índice de subordinação. Garantias: Cessão fiduciária do saque-aniversário nas CCB de FGTS; nas demais modalidades, consignação conforme convênio aplicável.</a:t>
            </a:r>
          </a:p>
        </p:txBody>
      </p:sp>
      <p:sp>
        <p:nvSpPr>
          <p:cNvPr id="24" name="">
            <a:extLst xmlns:a="http://schemas.openxmlformats.org/drawingml/2006/main">
              <a:ext uri="{FF2B5EF4-FFF2-40B4-BE49-F238E27FC236}">
                <a16:creationId xmlns:a16="http://schemas.microsoft.com/office/drawing/2014/main" id="{B7806258-3B83-431D-A9DF-22C923F724B6}"/>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EBFA39E5-A6D4-4789-A6DC-CB83206E45C6}"/>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BTG PACTUAL SERVIÇOS FINANCEIROS S/A DTVM</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BANCO BTG PACTUAL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BANCO BTG PACTUAL S/A</a:t>
            </a:r>
          </a:p>
        </p:txBody>
      </p:sp>
      <p:sp>
        <p:nvSpPr>
          <p:cNvPr id="26" name="">
            <a:extLst xmlns:a="http://schemas.openxmlformats.org/drawingml/2006/main">
              <a:ext uri="{FF2B5EF4-FFF2-40B4-BE49-F238E27FC236}">
                <a16:creationId xmlns:a16="http://schemas.microsoft.com/office/drawing/2014/main" id="{3B944A93-FF5B-4C85-8C06-A1AF6226EEB1}"/>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22BDEF20-A0C9-4347-B9F0-BD6FCB9B40E8}"/>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Financeiro · Crédito Pessoal</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6EC2BCF6-EA53-42FF-8B6F-6B937784B875}"/>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0956601-F5E5-4E5E-9680-E6DD908CF620}"/>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6/6 campos documentais preenchidos. Fonte: https://fnet.bmfbovespa.com.br/fnet/publico/abrirGerenciadorDocumentosCVM?cnpjFundo=52242420000188. Evidência: A leitura documental é compatível com Financeiro/Crédito Pessoal do snapshot, embora o foco contratual seja mais específico.</a:t>
            </a:r>
          </a:p>
        </p:txBody>
      </p:sp>
    </p:spTree>
    <p:extLst>
      <p:ext uri="{BB962C8B-B14F-4D97-AF65-F5344CB8AC3E}">
        <p14:creationId xmlns:p14="http://schemas.microsoft.com/office/powerpoint/2010/main" val="165889818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92CF1E60-96EE-4536-9F71-B242BA38C90F}"/>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58EF2DBA-3C42-4ED0-B498-AFB9EB7F3CE0}"/>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#8 Aetos Energia — R$ 7,4 bi e 0,8% do PL ex-FIC</a:t>
            </a:r>
          </a:p>
        </p:txBody>
      </p:sp>
      <p:sp>
        <p:nvSpPr>
          <p:cNvPr id="3" name="">
            <a:extLst xmlns:a="http://schemas.openxmlformats.org/drawingml/2006/main">
              <a:ext uri="{FF2B5EF4-FFF2-40B4-BE49-F238E27FC236}">
                <a16:creationId xmlns:a16="http://schemas.microsoft.com/office/drawing/2014/main" id="{1ED12E76-3197-4F58-9D16-DEA1C967A59A}"/>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37C706A-6DA6-4766-B0BF-BCE75E456D7A}"/>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CC897DC-4F5B-4AAC-BBE4-A5EAB789B164}"/>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2026-07-16</a:t>
            </a:r>
          </a:p>
        </p:txBody>
      </p:sp>
      <p:sp>
        <p:nvSpPr>
          <p:cNvPr id="6" name="">
            <a:extLst xmlns:a="http://schemas.openxmlformats.org/drawingml/2006/main">
              <a:ext uri="{FF2B5EF4-FFF2-40B4-BE49-F238E27FC236}">
                <a16:creationId xmlns:a16="http://schemas.microsoft.com/office/drawing/2014/main" id="{A8B4D281-BB52-43A2-8529-F180787F3021}"/>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41</a:t>
            </a:r>
          </a:p>
        </p:txBody>
      </p:sp>
      <p:sp>
        <p:nvSpPr>
          <p:cNvPr id="7" name="">
            <a:extLst xmlns:a="http://schemas.openxmlformats.org/drawingml/2006/main">
              <a:ext uri="{FF2B5EF4-FFF2-40B4-BE49-F238E27FC236}">
                <a16:creationId xmlns:a16="http://schemas.microsoft.com/office/drawing/2014/main" id="{118165FE-B2B3-471E-A4C0-7480B5243799}"/>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52.610.624/0001-24 · AETOS ENERGIA FUNDO DE INVESTIMENTO EM DIREITOS CREDITÓRIOS</a:t>
            </a:r>
          </a:p>
        </p:txBody>
      </p:sp>
      <p:sp>
        <p:nvSpPr>
          <p:cNvPr id="8" name="">
            <a:extLst xmlns:a="http://schemas.openxmlformats.org/drawingml/2006/main">
              <a:ext uri="{FF2B5EF4-FFF2-40B4-BE49-F238E27FC236}">
                <a16:creationId xmlns:a16="http://schemas.microsoft.com/office/drawing/2014/main" id="{73CDAFB8-A70E-460A-923A-C9ED93D1DC28}"/>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DDFFFA6A-88BB-4A2C-9144-E724320C252B}"/>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E59FC6A-CEC2-4D95-BC50-4DA24300C7C6}"/>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A400AF69-DE0A-4140-8CFC-AF988D2E5A45}"/>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XP Comercializadora de Energia S.A. — CNPJ 34.475.373/0001-30.</a:t>
            </a:r>
          </a:p>
        </p:txBody>
      </p:sp>
      <p:sp>
        <p:nvSpPr>
          <p:cNvPr id="12" name="">
            <a:extLst xmlns:a="http://schemas.openxmlformats.org/drawingml/2006/main">
              <a:ext uri="{FF2B5EF4-FFF2-40B4-BE49-F238E27FC236}">
                <a16:creationId xmlns:a16="http://schemas.microsoft.com/office/drawing/2014/main" id="{F01E140A-0FF1-455B-B464-E59452383B45}"/>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EEB97611-8296-4FBC-B7ED-3E06C9AA5CA9}"/>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Contrapartes compradoras nos contratos de compra e venda de energia elétrica.</a:t>
            </a:r>
          </a:p>
        </p:txBody>
      </p:sp>
      <p:sp>
        <p:nvSpPr>
          <p:cNvPr id="14" name="">
            <a:extLst xmlns:a="http://schemas.openxmlformats.org/drawingml/2006/main">
              <a:ext uri="{FF2B5EF4-FFF2-40B4-BE49-F238E27FC236}">
                <a16:creationId xmlns:a16="http://schemas.microsoft.com/office/drawing/2014/main" id="{42688EFD-BDE8-4606-9A1F-3521E6AB40B7}"/>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AE57F7A5-34C8-4532-B775-0494B1B4BD77}"/>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Fluxos presentes e futuros decorrentes de contratos de comercialização de energia elétrica.</a:t>
            </a:r>
          </a:p>
        </p:txBody>
      </p:sp>
      <p:sp>
        <p:nvSpPr>
          <p:cNvPr id="16" name="">
            <a:extLst xmlns:a="http://schemas.openxmlformats.org/drawingml/2006/main">
              <a:ext uri="{FF2B5EF4-FFF2-40B4-BE49-F238E27FC236}">
                <a16:creationId xmlns:a16="http://schemas.microsoft.com/office/drawing/2014/main" id="{E28F05A6-6687-4D07-BBB3-7D1EC14D2FA6}"/>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11ACE78E-6477-4973-A9A1-1C6F5B94F7CB}"/>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A XP Comercializadora cede os recebíveis de contratos de energia; os pagamentos dos devedores transitam por conta escrow da operação.</a:t>
            </a:r>
          </a:p>
        </p:txBody>
      </p:sp>
      <p:sp>
        <p:nvSpPr>
          <p:cNvPr id="18" name="">
            <a:extLst xmlns:a="http://schemas.openxmlformats.org/drawingml/2006/main">
              <a:ext uri="{FF2B5EF4-FFF2-40B4-BE49-F238E27FC236}">
                <a16:creationId xmlns:a16="http://schemas.microsoft.com/office/drawing/2014/main" id="{728FB5B2-AFC0-4EDE-9ED6-81F10D51E212}"/>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1B15F3A4-7674-4C66-A580-8CD0347B2E42}"/>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F2D0C22-6561-40AB-84B9-DDD8BED749D3}"/>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C6ABF37E-7386-4BD1-AB3F-C25D56CD818B}"/>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Emissões relevantes não localizadas nas fontes consultadas.</a:t>
            </a:r>
          </a:p>
        </p:txBody>
      </p:sp>
      <p:sp>
        <p:nvSpPr>
          <p:cNvPr id="22" name="">
            <a:extLst xmlns:a="http://schemas.openxmlformats.org/drawingml/2006/main">
              <a:ext uri="{FF2B5EF4-FFF2-40B4-BE49-F238E27FC236}">
                <a16:creationId xmlns:a16="http://schemas.microsoft.com/office/drawing/2014/main" id="{09F3C74D-6518-4390-A84F-8F2987C0F998}"/>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7559802E-5626-45C7-8BF8-CD358B45D9FD}"/>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Cotas sênior e subordinada. O regulamento vigente em 21/11/2024 fixa índice mínimo de 10% do PL; o instrumento de constituição de 19/10/2023 trazia 15%, indicando alteração contratual entre as versões. Garantias: O regulamento admite acessórios e garantias dos contratos, sem garantia geral de prestadores/FGC.</a:t>
            </a:r>
          </a:p>
        </p:txBody>
      </p:sp>
      <p:sp>
        <p:nvSpPr>
          <p:cNvPr id="24" name="">
            <a:extLst xmlns:a="http://schemas.openxmlformats.org/drawingml/2006/main">
              <a:ext uri="{FF2B5EF4-FFF2-40B4-BE49-F238E27FC236}">
                <a16:creationId xmlns:a16="http://schemas.microsoft.com/office/drawing/2014/main" id="{3B99AA34-548C-478C-AFAF-460DD6874945}"/>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D4DC9286-13AD-4251-AEEA-DC85AA7A1025}"/>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XP INVESTIMENTOS CCTVM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XP INVESTIMENTOS CCTVM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OLIVEIRA TRUST DTVM S.A.</a:t>
            </a:r>
          </a:p>
        </p:txBody>
      </p:sp>
      <p:sp>
        <p:nvSpPr>
          <p:cNvPr id="26" name="">
            <a:extLst xmlns:a="http://schemas.openxmlformats.org/drawingml/2006/main">
              <a:ext uri="{FF2B5EF4-FFF2-40B4-BE49-F238E27FC236}">
                <a16:creationId xmlns:a16="http://schemas.microsoft.com/office/drawing/2014/main" id="{60D7F950-1520-4EBD-980A-A5E1D3197AF1}"/>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E9BDB8FB-2FEB-4614-925A-DB67EE133BE6}"/>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Agro, Indústria e Comércio · Recebíveis Comerciais</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B2D15FB7-A192-4048-A3C1-4D0177016168}"/>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88A2920-3109-4436-B516-09BC2349404A}"/>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5/6 campos documentais preenchidos. Fonte: https://fnet.bmfbovespa.com.br/fnet/publico/abrirGerenciadorDocumentosCVM?cnpjFundo=52610624000124. Evidência: A leitura documental é compatível com Agro, Indústria e Comércio/Recebíveis Comerciais.</a:t>
            </a:r>
          </a:p>
        </p:txBody>
      </p:sp>
    </p:spTree>
    <p:extLst>
      <p:ext uri="{BB962C8B-B14F-4D97-AF65-F5344CB8AC3E}">
        <p14:creationId xmlns:p14="http://schemas.microsoft.com/office/powerpoint/2010/main" val="1663082087"/>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90D1B4B7-3891-45E3-9774-F3B68FE89306}"/>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A1E8ACE3-07FB-4813-87D7-DF5B58223C3C}"/>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#9 Cielo — R$ 6,5 bi e 0,7% do PL ex-FIC</a:t>
            </a:r>
          </a:p>
        </p:txBody>
      </p:sp>
      <p:sp>
        <p:nvSpPr>
          <p:cNvPr id="3" name="">
            <a:extLst xmlns:a="http://schemas.openxmlformats.org/drawingml/2006/main">
              <a:ext uri="{FF2B5EF4-FFF2-40B4-BE49-F238E27FC236}">
                <a16:creationId xmlns:a16="http://schemas.microsoft.com/office/drawing/2014/main" id="{365C61A5-8957-49B7-96D5-B57E6DFD9264}"/>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AC23A4C-E384-4F01-8B9A-0A8987CF63C9}"/>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595CFB4-25DB-4F1D-819C-82480DCB2E10}"/>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2026-07-16</a:t>
            </a:r>
          </a:p>
        </p:txBody>
      </p:sp>
      <p:sp>
        <p:nvSpPr>
          <p:cNvPr id="6" name="">
            <a:extLst xmlns:a="http://schemas.openxmlformats.org/drawingml/2006/main">
              <a:ext uri="{FF2B5EF4-FFF2-40B4-BE49-F238E27FC236}">
                <a16:creationId xmlns:a16="http://schemas.microsoft.com/office/drawing/2014/main" id="{FACBC05A-0B93-45F3-83B0-06113DCF511F}"/>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42</a:t>
            </a:r>
          </a:p>
        </p:txBody>
      </p:sp>
      <p:sp>
        <p:nvSpPr>
          <p:cNvPr id="7" name="">
            <a:extLst xmlns:a="http://schemas.openxmlformats.org/drawingml/2006/main">
              <a:ext uri="{FF2B5EF4-FFF2-40B4-BE49-F238E27FC236}">
                <a16:creationId xmlns:a16="http://schemas.microsoft.com/office/drawing/2014/main" id="{2EB51A0F-91B4-4BFF-8B59-9F1A0C407D53}"/>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26.286.939/0001-58 · CIELO FUNDO DE INVESTIMENTO EM DIREITOS CREDITÓRIOS</a:t>
            </a:r>
          </a:p>
        </p:txBody>
      </p:sp>
      <p:sp>
        <p:nvSpPr>
          <p:cNvPr id="8" name="">
            <a:extLst xmlns:a="http://schemas.openxmlformats.org/drawingml/2006/main">
              <a:ext uri="{FF2B5EF4-FFF2-40B4-BE49-F238E27FC236}">
                <a16:creationId xmlns:a16="http://schemas.microsoft.com/office/drawing/2014/main" id="{174F0EDD-05A6-42FB-B7E2-0B901D2E8BD1}"/>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680FD4CA-3971-4C18-ACDD-B4E3FD936C42}"/>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1955E3A-B4CF-4D50-98EC-2C1F7A5A73CC}"/>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FEFDE706-E3BC-4650-B49D-30EC554AC5CC}"/>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Estabelecimentos credenciados à Cielo.</a:t>
            </a:r>
          </a:p>
        </p:txBody>
      </p:sp>
      <p:sp>
        <p:nvSpPr>
          <p:cNvPr id="12" name="">
            <a:extLst xmlns:a="http://schemas.openxmlformats.org/drawingml/2006/main">
              <a:ext uri="{FF2B5EF4-FFF2-40B4-BE49-F238E27FC236}">
                <a16:creationId xmlns:a16="http://schemas.microsoft.com/office/drawing/2014/main" id="{2CBF262C-09D4-44BD-B784-F6B6C48084EA}"/>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BD1BED44-7537-4288-B607-FE294EB5626F}"/>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Cielo, como adquirente e devedora dos recebíveis cedidos pelos estabelecimentos.</a:t>
            </a:r>
          </a:p>
        </p:txBody>
      </p:sp>
      <p:sp>
        <p:nvSpPr>
          <p:cNvPr id="14" name="">
            <a:extLst xmlns:a="http://schemas.openxmlformats.org/drawingml/2006/main">
              <a:ext uri="{FF2B5EF4-FFF2-40B4-BE49-F238E27FC236}">
                <a16:creationId xmlns:a16="http://schemas.microsoft.com/office/drawing/2014/main" id="{DFFE94CF-044F-4D3E-B7F0-3C0BF9995B21}"/>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82672AF6-71E3-4B70-9CEC-D56CE721A822}"/>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Valores de liquidação de transações de pagamento/unidades de recebíveis processadas no Sistema Cielo.</a:t>
            </a:r>
          </a:p>
        </p:txBody>
      </p:sp>
      <p:sp>
        <p:nvSpPr>
          <p:cNvPr id="16" name="">
            <a:extLst xmlns:a="http://schemas.openxmlformats.org/drawingml/2006/main">
              <a:ext uri="{FF2B5EF4-FFF2-40B4-BE49-F238E27FC236}">
                <a16:creationId xmlns:a16="http://schemas.microsoft.com/office/drawing/2014/main" id="{FC29F26A-C964-4D13-BF68-753866273E2B}"/>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5BF29A12-04DB-4080-A584-9C384DEC91D8}"/>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Os estabelecimentos cedem recebíveis contra a Cielo; a Cielo liquida os créditos para a classe conforme os registros da operação.</a:t>
            </a:r>
          </a:p>
        </p:txBody>
      </p:sp>
      <p:sp>
        <p:nvSpPr>
          <p:cNvPr id="18" name="">
            <a:extLst xmlns:a="http://schemas.openxmlformats.org/drawingml/2006/main">
              <a:ext uri="{FF2B5EF4-FFF2-40B4-BE49-F238E27FC236}">
                <a16:creationId xmlns:a16="http://schemas.microsoft.com/office/drawing/2014/main" id="{B7F49C7F-973C-46B1-B141-A18341349A04}"/>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92239F31-6AC0-49F7-9A5A-5592007A4F50}"/>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CF81E3A-6764-4A42-9278-F51333E6C507}"/>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3DD52B97-0EF3-48D6-9A0F-EA7765A9A8FA}"/>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2025-11-03 | encerramento da oferta da 4ª série sênior | R$ 1,0 bi | doc. 1026980</a:t>
            </a:r>
          </a:p>
        </p:txBody>
      </p:sp>
      <p:sp>
        <p:nvSpPr>
          <p:cNvPr id="22" name="">
            <a:extLst xmlns:a="http://schemas.openxmlformats.org/drawingml/2006/main">
              <a:ext uri="{FF2B5EF4-FFF2-40B4-BE49-F238E27FC236}">
                <a16:creationId xmlns:a16="http://schemas.microsoft.com/office/drawing/2014/main" id="{50A0CCD5-E883-4E62-878F-A903DDBC041B}"/>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30219212-1C30-4B47-95F4-FF6404B21036}"/>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Cotas sênior, mezanino e subordinada; mezanino mais subordinada devem somar ao menos 20% do PL. Garantias: Reforço estrutural por subordinação; garantia adicional uniforme não identificada.</a:t>
            </a:r>
          </a:p>
        </p:txBody>
      </p:sp>
      <p:sp>
        <p:nvSpPr>
          <p:cNvPr id="24" name="">
            <a:extLst xmlns:a="http://schemas.openxmlformats.org/drawingml/2006/main">
              <a:ext uri="{FF2B5EF4-FFF2-40B4-BE49-F238E27FC236}">
                <a16:creationId xmlns:a16="http://schemas.microsoft.com/office/drawing/2014/main" id="{24F1D824-6E54-484B-B1DA-7B2C6A45D593}"/>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18E7A95F-D7A7-4FAA-A4F9-ED2BB364BD74}"/>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BEM - DISTRIBUIDORA DE TITULOS E VALORES MOBILIARIOS LTDA.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BANCO BRADESCO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BANCO BRADESCO S.A.</a:t>
            </a:r>
          </a:p>
        </p:txBody>
      </p:sp>
      <p:sp>
        <p:nvSpPr>
          <p:cNvPr id="26" name="">
            <a:extLst xmlns:a="http://schemas.openxmlformats.org/drawingml/2006/main">
              <a:ext uri="{FF2B5EF4-FFF2-40B4-BE49-F238E27FC236}">
                <a16:creationId xmlns:a16="http://schemas.microsoft.com/office/drawing/2014/main" id="{3540107D-78B5-4C2B-9500-E1059698A71A}"/>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48B52FD2-861A-46BF-AF96-30291FAF9115}"/>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Financeiro · Multicarteira Financeiro</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0A07FD41-2371-4B8F-A26A-9F66AEE98BE9}"/>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E803383-06D9-4930-83A0-1273782FF8D8}"/>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6/6 campos documentais preenchidos. Fonte: https://fnet.bmfbovespa.com.br/fnet/publico/abrirGerenciadorDocumentosCVM?cnpjFundo=26286939000158. Evidência: O cadastro ANBIMA traz Financeiro/Multicarteira Financeiro; a estrutura documental é de meios de pagamento.</a:t>
            </a:r>
          </a:p>
        </p:txBody>
      </p:sp>
    </p:spTree>
    <p:extLst>
      <p:ext uri="{BB962C8B-B14F-4D97-AF65-F5344CB8AC3E}">
        <p14:creationId xmlns:p14="http://schemas.microsoft.com/office/powerpoint/2010/main" val="123104398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019FE09A-5153-491E-9391-704B8BEB3FEC}"/>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EB527BF9-229F-4882-AC17-0E5A3DD43199}"/>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#10 Rio Vermelho NP — R$ 6,4 bi e 0,7% do PL ex-FIC</a:t>
            </a:r>
          </a:p>
        </p:txBody>
      </p:sp>
      <p:sp>
        <p:nvSpPr>
          <p:cNvPr id="3" name="">
            <a:extLst xmlns:a="http://schemas.openxmlformats.org/drawingml/2006/main">
              <a:ext uri="{FF2B5EF4-FFF2-40B4-BE49-F238E27FC236}">
                <a16:creationId xmlns:a16="http://schemas.microsoft.com/office/drawing/2014/main" id="{3B441B1E-1219-4E0E-BC45-279404F4C1E3}"/>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D803972-0665-4B05-B42A-B467990E80ED}"/>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D37BF2B-6D4D-4957-B7B8-D7FFF76199DD}"/>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2026-07-16</a:t>
            </a:r>
          </a:p>
        </p:txBody>
      </p:sp>
      <p:sp>
        <p:nvSpPr>
          <p:cNvPr id="6" name="">
            <a:extLst xmlns:a="http://schemas.openxmlformats.org/drawingml/2006/main">
              <a:ext uri="{FF2B5EF4-FFF2-40B4-BE49-F238E27FC236}">
                <a16:creationId xmlns:a16="http://schemas.microsoft.com/office/drawing/2014/main" id="{8D4449EB-F794-4E1D-9AC3-E28B9A087A32}"/>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43</a:t>
            </a:r>
          </a:p>
        </p:txBody>
      </p:sp>
      <p:sp>
        <p:nvSpPr>
          <p:cNvPr id="7" name="">
            <a:extLst xmlns:a="http://schemas.openxmlformats.org/drawingml/2006/main">
              <a:ext uri="{FF2B5EF4-FFF2-40B4-BE49-F238E27FC236}">
                <a16:creationId xmlns:a16="http://schemas.microsoft.com/office/drawing/2014/main" id="{70506716-6BAB-4A19-B550-676B6A62BAF1}"/>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53.216.449/0001-58 · RIO VERMELHO FUNDO DE INVESTIMENTO EM DIREITOS CREDITÓRIOS NÃO PADRONIZADO</a:t>
            </a:r>
          </a:p>
        </p:txBody>
      </p:sp>
      <p:sp>
        <p:nvSpPr>
          <p:cNvPr id="8" name="">
            <a:extLst xmlns:a="http://schemas.openxmlformats.org/drawingml/2006/main">
              <a:ext uri="{FF2B5EF4-FFF2-40B4-BE49-F238E27FC236}">
                <a16:creationId xmlns:a16="http://schemas.microsoft.com/office/drawing/2014/main" id="{8A88FAC6-0C4F-4D5E-852B-484A5E2E045C}"/>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0BA37D55-6890-4703-AB4A-EE51CF5B5A4F}"/>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2A49E73-B193-4C83-881A-7A9223AEE68A}"/>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B8BDD959-4641-4E24-B05C-04DF22AE1603}"/>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Pessoas físicas, jurídicas ou fundos que transfiram os direitos; nomes não identificados no regulamento.</a:t>
            </a:r>
          </a:p>
        </p:txBody>
      </p:sp>
      <p:sp>
        <p:nvSpPr>
          <p:cNvPr id="12" name="">
            <a:extLst xmlns:a="http://schemas.openxmlformats.org/drawingml/2006/main">
              <a:ext uri="{FF2B5EF4-FFF2-40B4-BE49-F238E27FC236}">
                <a16:creationId xmlns:a16="http://schemas.microsoft.com/office/drawing/2014/main" id="{F1B9D4B9-DBDA-4447-99E1-3C9BE46D5006}"/>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CF4FBAD2-20A6-4594-ADEE-737CE79E05D8}"/>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Entes públicos e demais pessoas físicas/jurídicas devedoras dos direitos adquiridos.</a:t>
            </a:r>
          </a:p>
        </p:txBody>
      </p:sp>
      <p:sp>
        <p:nvSpPr>
          <p:cNvPr id="14" name="">
            <a:extLst xmlns:a="http://schemas.openxmlformats.org/drawingml/2006/main">
              <a:ext uri="{FF2B5EF4-FFF2-40B4-BE49-F238E27FC236}">
                <a16:creationId xmlns:a16="http://schemas.microsoft.com/office/drawing/2014/main" id="{35049597-2EC9-4BBB-9EF0-FAC9D705DCB7}"/>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EDCB2686-82C9-490F-A258-F75CD7386C2C}"/>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Precatórios e créditos públicos; créditos vencidos; direitos litigiosos, penhorados, futuros e outros não padronizados permitidos.</a:t>
            </a:r>
          </a:p>
        </p:txBody>
      </p:sp>
      <p:sp>
        <p:nvSpPr>
          <p:cNvPr id="16" name="">
            <a:extLst xmlns:a="http://schemas.openxmlformats.org/drawingml/2006/main">
              <a:ext uri="{FF2B5EF4-FFF2-40B4-BE49-F238E27FC236}">
                <a16:creationId xmlns:a16="http://schemas.microsoft.com/office/drawing/2014/main" id="{46C30D14-9BCE-4015-A393-D86260164E67}"/>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120406C0-926F-4A51-BC18-3F2A9866CC65}"/>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A classe adquire carteiras de NPL/direitos judiciais com ou sem coobrigação, segundo seleção do gestor.</a:t>
            </a:r>
          </a:p>
        </p:txBody>
      </p:sp>
      <p:sp>
        <p:nvSpPr>
          <p:cNvPr id="18" name="">
            <a:extLst xmlns:a="http://schemas.openxmlformats.org/drawingml/2006/main">
              <a:ext uri="{FF2B5EF4-FFF2-40B4-BE49-F238E27FC236}">
                <a16:creationId xmlns:a16="http://schemas.microsoft.com/office/drawing/2014/main" id="{24D700C0-4CE2-4204-A7CF-A6DE94BE0CAE}"/>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88784071-31EC-42F8-BD84-486B4996C540}"/>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426B3EB-D1AC-43DD-A1F4-1F84FB26F682}"/>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F0E98136-572D-4C3D-B6CF-7BD8D94E5890}"/>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Emissões relevantes não localizadas nas fontes consultadas.</a:t>
            </a:r>
          </a:p>
        </p:txBody>
      </p:sp>
      <p:sp>
        <p:nvSpPr>
          <p:cNvPr id="22" name="">
            <a:extLst xmlns:a="http://schemas.openxmlformats.org/drawingml/2006/main">
              <a:ext uri="{FF2B5EF4-FFF2-40B4-BE49-F238E27FC236}">
                <a16:creationId xmlns:a16="http://schemas.microsoft.com/office/drawing/2014/main" id="{CCED345F-5DED-412D-A706-55237749FE7A}"/>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02537F15-663A-46E9-88CA-7940F5ED9960}"/>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Cotas em séries pari passu; o regulamento consultado declara ausência de preferência, prioridade ou subordinação entre titulares. Garantias: Variam conforme cada direito; não há garantia uniforme de carteira.</a:t>
            </a:r>
          </a:p>
        </p:txBody>
      </p:sp>
      <p:sp>
        <p:nvSpPr>
          <p:cNvPr id="24" name="">
            <a:extLst xmlns:a="http://schemas.openxmlformats.org/drawingml/2006/main">
              <a:ext uri="{FF2B5EF4-FFF2-40B4-BE49-F238E27FC236}">
                <a16:creationId xmlns:a16="http://schemas.microsoft.com/office/drawing/2014/main" id="{B929780C-8482-4A13-AF79-1784AD2BD4AB}"/>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EEFF9F4F-A00F-4C5B-80F7-6C5CB149EA04}"/>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CBSF DISTRIBUIDORA DE TÍTULOS E VALORES MOBILIÁRIOS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CBSF TRUST ADMINISTRADORA DE RECURSOS LTDA.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REAG TRUST DISTRIBUIDORA DE TITULOS E VALORES MOBILIARIOS S.A.</a:t>
            </a:r>
          </a:p>
        </p:txBody>
      </p:sp>
      <p:sp>
        <p:nvSpPr>
          <p:cNvPr id="26" name="">
            <a:extLst xmlns:a="http://schemas.openxmlformats.org/drawingml/2006/main">
              <a:ext uri="{FF2B5EF4-FFF2-40B4-BE49-F238E27FC236}">
                <a16:creationId xmlns:a16="http://schemas.microsoft.com/office/drawing/2014/main" id="{EB62A1D4-43B7-4219-B687-DE618A331620}"/>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E844F968-79E5-4CA3-BB6E-29B0F0EBB98E}"/>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Outros · Multicarteira Outros</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62D4344F-B061-491F-92C5-FDA176908467}"/>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A5B8A74-8DEB-4D9C-9044-0D44061F9D3C}"/>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5/6 campos documentais preenchidos. Fonte: https://fnet.bmfbovespa.com.br/fnet/publico/abrirGerenciadorDocumentosCVM?cnpjFundo=53216449000158. Evidência: O cadastro ANBIMA traz Outros/Multicarteira Outros; a política documental permite NPL e precatórios.</a:t>
            </a:r>
          </a:p>
        </p:txBody>
      </p:sp>
    </p:spTree>
    <p:extLst>
      <p:ext uri="{BB962C8B-B14F-4D97-AF65-F5344CB8AC3E}">
        <p14:creationId xmlns:p14="http://schemas.microsoft.com/office/powerpoint/2010/main" val="149691466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095A063D-6D78-476C-ACA9-873CB21B31B0}"/>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01C805A1-51A1-432D-950E-9524A9EC1AC4}"/>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#11 PagSeguro I — R$ 6,2 bi e 0,7% do PL ex-FIC</a:t>
            </a:r>
          </a:p>
        </p:txBody>
      </p:sp>
      <p:sp>
        <p:nvSpPr>
          <p:cNvPr id="3" name="">
            <a:extLst xmlns:a="http://schemas.openxmlformats.org/drawingml/2006/main">
              <a:ext uri="{FF2B5EF4-FFF2-40B4-BE49-F238E27FC236}">
                <a16:creationId xmlns:a16="http://schemas.microsoft.com/office/drawing/2014/main" id="{17A41192-E096-4632-8EB9-8FBEB84098ED}"/>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B42DE42-775B-4C96-A661-D24426556E68}"/>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EFBA03B-9387-4BED-A106-A80AA434E181}"/>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2026-07-16</a:t>
            </a:r>
          </a:p>
        </p:txBody>
      </p:sp>
      <p:sp>
        <p:nvSpPr>
          <p:cNvPr id="6" name="">
            <a:extLst xmlns:a="http://schemas.openxmlformats.org/drawingml/2006/main">
              <a:ext uri="{FF2B5EF4-FFF2-40B4-BE49-F238E27FC236}">
                <a16:creationId xmlns:a16="http://schemas.microsoft.com/office/drawing/2014/main" id="{83D72DFF-73E6-4B52-BB64-573478AA29AE}"/>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44</a:t>
            </a:r>
          </a:p>
        </p:txBody>
      </p:sp>
      <p:sp>
        <p:nvSpPr>
          <p:cNvPr id="7" name="">
            <a:extLst xmlns:a="http://schemas.openxmlformats.org/drawingml/2006/main">
              <a:ext uri="{FF2B5EF4-FFF2-40B4-BE49-F238E27FC236}">
                <a16:creationId xmlns:a16="http://schemas.microsoft.com/office/drawing/2014/main" id="{5BDF6C4E-5B4F-4176-BDB9-89F7A607B092}"/>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28.169.275/0001-72 · FUNDO DE INVESTIMENTO EM DIREITOS CREDITÓRIOS PAGSEGURO I</a:t>
            </a:r>
          </a:p>
        </p:txBody>
      </p:sp>
      <p:sp>
        <p:nvSpPr>
          <p:cNvPr id="8" name="">
            <a:extLst xmlns:a="http://schemas.openxmlformats.org/drawingml/2006/main">
              <a:ext uri="{FF2B5EF4-FFF2-40B4-BE49-F238E27FC236}">
                <a16:creationId xmlns:a16="http://schemas.microsoft.com/office/drawing/2014/main" id="{B6C8F1D2-70C5-414A-A67C-6F07B03518A9}"/>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F156546C-04C8-41D0-BA43-E084BD2078F2}"/>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6E2D958-FBB4-4796-AD0E-686DDF4FC05B}"/>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F221B4BE-4C62-4106-859F-1A6673F935CD}"/>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Estabelecimentos credenciados ao sistema PagSeguro.</a:t>
            </a:r>
          </a:p>
        </p:txBody>
      </p:sp>
      <p:sp>
        <p:nvSpPr>
          <p:cNvPr id="12" name="">
            <a:extLst xmlns:a="http://schemas.openxmlformats.org/drawingml/2006/main">
              <a:ext uri="{FF2B5EF4-FFF2-40B4-BE49-F238E27FC236}">
                <a16:creationId xmlns:a16="http://schemas.microsoft.com/office/drawing/2014/main" id="{07A35BA3-5609-4FE9-B596-CFB80EF4582C}"/>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D4C3726B-0F58-4E9B-8238-5C952345BC3E}"/>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PagSeguro, como devedor dos valores de liquidação devidos aos estabelecimentos.</a:t>
            </a:r>
          </a:p>
        </p:txBody>
      </p:sp>
      <p:sp>
        <p:nvSpPr>
          <p:cNvPr id="14" name="">
            <a:extLst xmlns:a="http://schemas.openxmlformats.org/drawingml/2006/main">
              <a:ext uri="{FF2B5EF4-FFF2-40B4-BE49-F238E27FC236}">
                <a16:creationId xmlns:a16="http://schemas.microsoft.com/office/drawing/2014/main" id="{008300C2-17C8-4F2E-B1FA-CB7561592F00}"/>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294978A5-6CE2-4628-9952-0C391515C194}"/>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Unidades/recebíveis de transações de pagamento a débito e crédito, à vista ou parceladas, capturadas e liquidadas pelo sistema PagSeguro.</a:t>
            </a:r>
          </a:p>
        </p:txBody>
      </p:sp>
      <p:sp>
        <p:nvSpPr>
          <p:cNvPr id="16" name="">
            <a:extLst xmlns:a="http://schemas.openxmlformats.org/drawingml/2006/main">
              <a:ext uri="{FF2B5EF4-FFF2-40B4-BE49-F238E27FC236}">
                <a16:creationId xmlns:a16="http://schemas.microsoft.com/office/drawing/2014/main" id="{60901B9E-A001-49B4-A2D5-6C942F290594}"/>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FCA1895A-BC29-4085-B3B6-47B5F5758865}"/>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Os estabelecimentos cedem à classe seus recebíveis contra PagSeguro; a liquidação das transações alimenta o caixa da classe.</a:t>
            </a:r>
          </a:p>
        </p:txBody>
      </p:sp>
      <p:sp>
        <p:nvSpPr>
          <p:cNvPr id="18" name="">
            <a:extLst xmlns:a="http://schemas.openxmlformats.org/drawingml/2006/main">
              <a:ext uri="{FF2B5EF4-FFF2-40B4-BE49-F238E27FC236}">
                <a16:creationId xmlns:a16="http://schemas.microsoft.com/office/drawing/2014/main" id="{4ABCF936-9543-49B9-B1BA-3910B93CF93E}"/>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5F22D9F7-E71D-45D0-AF91-20A5EED4A174}"/>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E3B7417-D01D-4124-B95B-7246864BCF2C}"/>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3FB98FEA-DDF3-496F-8236-2E6FF260DBE9}"/>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2026-03-30 | início de oferta da 4ª série sênior | R$ 1,0 bi | doc. 1148251; Valor ofertado; o anúncio de início não comprova colocação. || 2024-11-06 | encerramento da oferta da 3ª série sênior | R$ 1,0 bi | doc. 773514; Documento informa 1.000.000 de cotas subscritas e integralizadas.</a:t>
            </a:r>
          </a:p>
        </p:txBody>
      </p:sp>
      <p:sp>
        <p:nvSpPr>
          <p:cNvPr id="22" name="">
            <a:extLst xmlns:a="http://schemas.openxmlformats.org/drawingml/2006/main">
              <a:ext uri="{FF2B5EF4-FFF2-40B4-BE49-F238E27FC236}">
                <a16:creationId xmlns:a16="http://schemas.microsoft.com/office/drawing/2014/main" id="{FC6665DA-0B33-43DF-AA73-48232ABCD27A}"/>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E4A83CD6-3D11-45F7-96BF-215B8B5F632C}"/>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Cotas sênior, mezanino e subordinada; razão mínima de cotas subordinadas de 50% do PL da classe. Garantias: Reforço estrutural pela subordinação; garantia adicional uniforme não identificada.</a:t>
            </a:r>
          </a:p>
        </p:txBody>
      </p:sp>
      <p:sp>
        <p:nvSpPr>
          <p:cNvPr id="24" name="">
            <a:extLst xmlns:a="http://schemas.openxmlformats.org/drawingml/2006/main">
              <a:ext uri="{FF2B5EF4-FFF2-40B4-BE49-F238E27FC236}">
                <a16:creationId xmlns:a16="http://schemas.microsoft.com/office/drawing/2014/main" id="{8F4B1C10-2639-4DC2-8E7A-0182A24A44BC}"/>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05CC2A6D-AB1C-4D75-82C1-8BDA4A86F507}"/>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GENIAL INVESTIMENTOS CORRETORA DE VALORES MOBILIÁRIOS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GENIAL GESTÃO LTDA.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BANCO GENIAL S.A.</a:t>
            </a:r>
          </a:p>
        </p:txBody>
      </p:sp>
      <p:sp>
        <p:nvSpPr>
          <p:cNvPr id="26" name="">
            <a:extLst xmlns:a="http://schemas.openxmlformats.org/drawingml/2006/main">
              <a:ext uri="{FF2B5EF4-FFF2-40B4-BE49-F238E27FC236}">
                <a16:creationId xmlns:a16="http://schemas.microsoft.com/office/drawing/2014/main" id="{2E48D4EA-97C7-4DCC-8E67-C84C4EA9A25F}"/>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1BAFA02E-10F4-45EA-A106-E0A18305B58E}"/>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Outros · Multicarteira Outros</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A6E0C669-8D4B-4E4C-915A-6E08E41226D6}"/>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1ADD70A-6286-49B8-8652-7A0DEDCDC540}"/>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6/6 campos documentais preenchidos. Fonte: https://fnet.bmfbovespa.com.br/fnet/publico/abrirGerenciadorDocumentosCVM?cnpjFundo=28169275000172. Evidência: O cadastro ANBIMA traz Outros/Multicarteira Outros; a estrutura econômica documental é de meios de pagamento.</a:t>
            </a:r>
          </a:p>
        </p:txBody>
      </p:sp>
    </p:spTree>
    <p:extLst>
      <p:ext uri="{BB962C8B-B14F-4D97-AF65-F5344CB8AC3E}">
        <p14:creationId xmlns:p14="http://schemas.microsoft.com/office/powerpoint/2010/main" val="66395121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BD9B184-9C3B-43AC-9CD5-B1FA3E190D1B}"/>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4F80D801-A6BC-4445-9441-193924ED1B14}"/>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#12 BTG Consignados — R$ 6,0 bi e 0,7% do PL ex-FIC</a:t>
            </a:r>
          </a:p>
        </p:txBody>
      </p:sp>
      <p:sp>
        <p:nvSpPr>
          <p:cNvPr id="3" name="">
            <a:extLst xmlns:a="http://schemas.openxmlformats.org/drawingml/2006/main">
              <a:ext uri="{FF2B5EF4-FFF2-40B4-BE49-F238E27FC236}">
                <a16:creationId xmlns:a16="http://schemas.microsoft.com/office/drawing/2014/main" id="{C7BED98E-CBAB-48B9-B3BC-04177B08A18F}"/>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8DDAC21-557C-4F17-B20E-4A1A4A582F41}"/>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CD423E3-266F-43AF-A98F-1BCC67143C1C}"/>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2026-07-16</a:t>
            </a:r>
          </a:p>
        </p:txBody>
      </p:sp>
      <p:sp>
        <p:nvSpPr>
          <p:cNvPr id="6" name="">
            <a:extLst xmlns:a="http://schemas.openxmlformats.org/drawingml/2006/main">
              <a:ext uri="{FF2B5EF4-FFF2-40B4-BE49-F238E27FC236}">
                <a16:creationId xmlns:a16="http://schemas.microsoft.com/office/drawing/2014/main" id="{EDCC5375-C114-412A-8B5F-17B9BE1272D8}"/>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45</a:t>
            </a:r>
          </a:p>
        </p:txBody>
      </p:sp>
      <p:sp>
        <p:nvSpPr>
          <p:cNvPr id="7" name="">
            <a:extLst xmlns:a="http://schemas.openxmlformats.org/drawingml/2006/main">
              <a:ext uri="{FF2B5EF4-FFF2-40B4-BE49-F238E27FC236}">
                <a16:creationId xmlns:a16="http://schemas.microsoft.com/office/drawing/2014/main" id="{F9AF4223-0CB5-462E-8273-B10C7D560F7E}"/>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50.906.397/0001-53 · BTG PACTUAL CONSIGNADOS FUNDO DE INVESTIMENTO EM DIREITOS CREDITÓRIOS</a:t>
            </a:r>
          </a:p>
        </p:txBody>
      </p:sp>
      <p:sp>
        <p:nvSpPr>
          <p:cNvPr id="8" name="">
            <a:extLst xmlns:a="http://schemas.openxmlformats.org/drawingml/2006/main">
              <a:ext uri="{FF2B5EF4-FFF2-40B4-BE49-F238E27FC236}">
                <a16:creationId xmlns:a16="http://schemas.microsoft.com/office/drawing/2014/main" id="{AB272982-9A9D-4302-BB42-5DB5CDB34264}"/>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DE39A2BD-FD80-46C5-A3CB-25FA5EBAFD17}"/>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11C9DCB-B13F-4342-8F47-2E2D9E2F9CD1}"/>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386C25AA-7EAD-4840-9FDB-D386D8AAAE97}"/>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Instituições financeiras que concedam as CCB; nomes individuais não identificados no regulamento.</a:t>
            </a:r>
          </a:p>
        </p:txBody>
      </p:sp>
      <p:sp>
        <p:nvSpPr>
          <p:cNvPr id="12" name="">
            <a:extLst xmlns:a="http://schemas.openxmlformats.org/drawingml/2006/main">
              <a:ext uri="{FF2B5EF4-FFF2-40B4-BE49-F238E27FC236}">
                <a16:creationId xmlns:a16="http://schemas.microsoft.com/office/drawing/2014/main" id="{1CCEE332-DD44-48AF-B216-028AA7E3DDD4}"/>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27F22468-2768-45E1-865B-3B3FC8C1F260}"/>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Pessoas físicas, incluindo beneficiários de INSS e trabalhadores com saldo de FGTS.</a:t>
            </a:r>
          </a:p>
        </p:txBody>
      </p:sp>
      <p:sp>
        <p:nvSpPr>
          <p:cNvPr id="14" name="">
            <a:extLst xmlns:a="http://schemas.openxmlformats.org/drawingml/2006/main">
              <a:ext uri="{FF2B5EF4-FFF2-40B4-BE49-F238E27FC236}">
                <a16:creationId xmlns:a16="http://schemas.microsoft.com/office/drawing/2014/main" id="{3CE784BF-D64C-433C-8517-1CC2D739B95D}"/>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2EF6FE5E-99F9-4DCC-90DB-F02D0A11718A}"/>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Parcelas vincendas de CCB de empréstimo pessoal com garantia do saque-aniversário FGTS ou consignação processada pela Dataprev.</a:t>
            </a:r>
          </a:p>
        </p:txBody>
      </p:sp>
      <p:sp>
        <p:nvSpPr>
          <p:cNvPr id="16" name="">
            <a:extLst xmlns:a="http://schemas.openxmlformats.org/drawingml/2006/main">
              <a:ext uri="{FF2B5EF4-FFF2-40B4-BE49-F238E27FC236}">
                <a16:creationId xmlns:a16="http://schemas.microsoft.com/office/drawing/2014/main" id="{7A73BFCE-C5F1-4A3B-9923-3F0E8D6B5DF2}"/>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8FA45EFB-3B62-4216-9867-D8FDF11B0AB7}"/>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A classe adquire CCB/parcelas por cessão ou endosso; CEF/FGTS e Dataprev processam os fluxos conforme a modalidade.</a:t>
            </a:r>
          </a:p>
        </p:txBody>
      </p:sp>
      <p:sp>
        <p:nvSpPr>
          <p:cNvPr id="18" name="">
            <a:extLst xmlns:a="http://schemas.openxmlformats.org/drawingml/2006/main">
              <a:ext uri="{FF2B5EF4-FFF2-40B4-BE49-F238E27FC236}">
                <a16:creationId xmlns:a16="http://schemas.microsoft.com/office/drawing/2014/main" id="{093E83FD-67BC-4766-9F7A-DD47F6A3C8E1}"/>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DAC99916-DD3E-4B24-89F3-287C5D06B7DB}"/>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BBA0BEA-4FDB-4197-945B-8F4BFC807643}"/>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EEC68F21-C0C1-4963-8574-6C5E30D0BCD4}"/>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2023-06-01 | aprovação de primeira emissão privada | R$ 11,0 bi | doc. 483282; Valor máximo aprovado; o documento não comprova colocação integral.</a:t>
            </a:r>
          </a:p>
        </p:txBody>
      </p:sp>
      <p:sp>
        <p:nvSpPr>
          <p:cNvPr id="22" name="">
            <a:extLst xmlns:a="http://schemas.openxmlformats.org/drawingml/2006/main">
              <a:ext uri="{FF2B5EF4-FFF2-40B4-BE49-F238E27FC236}">
                <a16:creationId xmlns:a16="http://schemas.microsoft.com/office/drawing/2014/main" id="{339D2C81-2D8F-44B5-9F59-30075FF01D76}"/>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10E09421-C40D-4675-AC7F-AF649B12A935}"/>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Subclasse única de cotas no regulamento consolidado; não há índice de subordinação entre subclasses. Garantias: Cessão fiduciária do saque-aniversário nas operações FGTS; consignação nas demais modalidades.</a:t>
            </a:r>
          </a:p>
        </p:txBody>
      </p:sp>
      <p:sp>
        <p:nvSpPr>
          <p:cNvPr id="24" name="">
            <a:extLst xmlns:a="http://schemas.openxmlformats.org/drawingml/2006/main">
              <a:ext uri="{FF2B5EF4-FFF2-40B4-BE49-F238E27FC236}">
                <a16:creationId xmlns:a16="http://schemas.microsoft.com/office/drawing/2014/main" id="{BF50A8D1-93CD-470D-A34A-22F20F58926C}"/>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6AEF360A-CEAB-4C66-918D-0C07BB43157E}"/>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BTG PACTUAL SERVIÇOS FINANCEIROS S/A DTVM</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BANCO BTG PACTUAL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BANCO BTG PACTUAL S/A</a:t>
            </a:r>
          </a:p>
        </p:txBody>
      </p:sp>
      <p:sp>
        <p:nvSpPr>
          <p:cNvPr id="26" name="">
            <a:extLst xmlns:a="http://schemas.openxmlformats.org/drawingml/2006/main">
              <a:ext uri="{FF2B5EF4-FFF2-40B4-BE49-F238E27FC236}">
                <a16:creationId xmlns:a16="http://schemas.microsoft.com/office/drawing/2014/main" id="{F1E2054A-4B3A-46CC-9275-A2CCCECA1B1C}"/>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223783DF-DBD5-4E67-87A0-3A6CBD06EB73}"/>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Financeiro · Crédito Pessoal</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C3AD2BC4-EF0B-450A-BB0F-FA0AAF48FCE4}"/>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05771194-1BD2-42DF-9DC4-5CA877599994}"/>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6/6 campos documentais preenchidos. Fonte: https://fnet.bmfbovespa.com.br/fnet/publico/abrirGerenciadorDocumentosCVM?cnpjFundo=50906397000153. Evidência: A leitura documental é compatível com Financeiro/Crédito Pessoal, com foco contratual mais específico.</a:t>
            </a:r>
          </a:p>
        </p:txBody>
      </p:sp>
    </p:spTree>
    <p:extLst>
      <p:ext uri="{BB962C8B-B14F-4D97-AF65-F5344CB8AC3E}">
        <p14:creationId xmlns:p14="http://schemas.microsoft.com/office/powerpoint/2010/main" val="136903510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44CBA25A-AA89-4624-82CF-72521332A4DC}"/>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66FA5290-BBEC-491A-924F-69FC24481CBF}"/>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#13 Alternative Assets III — R$ 5,9 bi e 0,7% do PL ex-FIC</a:t>
            </a:r>
          </a:p>
        </p:txBody>
      </p:sp>
      <p:sp>
        <p:nvSpPr>
          <p:cNvPr id="3" name="">
            <a:extLst xmlns:a="http://schemas.openxmlformats.org/drawingml/2006/main">
              <a:ext uri="{FF2B5EF4-FFF2-40B4-BE49-F238E27FC236}">
                <a16:creationId xmlns:a16="http://schemas.microsoft.com/office/drawing/2014/main" id="{8F1ED0CF-176E-442A-8CD8-BCCDF8F1208D}"/>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CBB0878-F7DD-4C75-B059-1CC2E2AFFC52}"/>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146EE54-9CC7-40DD-BE73-ECED28261559}"/>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2026-07-16</a:t>
            </a:r>
          </a:p>
        </p:txBody>
      </p:sp>
      <p:sp>
        <p:nvSpPr>
          <p:cNvPr id="6" name="">
            <a:extLst xmlns:a="http://schemas.openxmlformats.org/drawingml/2006/main">
              <a:ext uri="{FF2B5EF4-FFF2-40B4-BE49-F238E27FC236}">
                <a16:creationId xmlns:a16="http://schemas.microsoft.com/office/drawing/2014/main" id="{666C57C1-B112-4159-87E0-81FBDA1B11D5}"/>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46</a:t>
            </a:r>
          </a:p>
        </p:txBody>
      </p:sp>
      <p:sp>
        <p:nvSpPr>
          <p:cNvPr id="7" name="">
            <a:extLst xmlns:a="http://schemas.openxmlformats.org/drawingml/2006/main">
              <a:ext uri="{FF2B5EF4-FFF2-40B4-BE49-F238E27FC236}">
                <a16:creationId xmlns:a16="http://schemas.microsoft.com/office/drawing/2014/main" id="{B4016A89-5BEB-4ED0-9AD3-734300805A51}"/>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29.225.241/0001-10 · FUNDO DE INVESTIMENTO EM DIREITOS CREDITÓRIOS ALTERNATIVE ASSETS III RESPONSABILIDADE LIMITADA</a:t>
            </a:r>
          </a:p>
        </p:txBody>
      </p:sp>
      <p:sp>
        <p:nvSpPr>
          <p:cNvPr id="8" name="">
            <a:extLst xmlns:a="http://schemas.openxmlformats.org/drawingml/2006/main">
              <a:ext uri="{FF2B5EF4-FFF2-40B4-BE49-F238E27FC236}">
                <a16:creationId xmlns:a16="http://schemas.microsoft.com/office/drawing/2014/main" id="{3012FBD5-3C1C-4C26-A841-D3071D8CB3ED}"/>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865D7FB5-91FC-40CE-BF3B-F906B7FA8738}"/>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AB6D7AD-4A6E-46AF-A55E-BE6A30EFBAB2}"/>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55958555-87D9-40D9-8CA6-8204E4FAAB88}"/>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Pessoas jurídicas ou fundos que transfiram os direitos; nomes não identificados no regulamento.</a:t>
            </a:r>
          </a:p>
        </p:txBody>
      </p:sp>
      <p:sp>
        <p:nvSpPr>
          <p:cNvPr id="12" name="">
            <a:extLst xmlns:a="http://schemas.openxmlformats.org/drawingml/2006/main">
              <a:ext uri="{FF2B5EF4-FFF2-40B4-BE49-F238E27FC236}">
                <a16:creationId xmlns:a16="http://schemas.microsoft.com/office/drawing/2014/main" id="{17983D33-FAB2-4FE7-ADE9-9078E3B00AB3}"/>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7EFB37CB-EA72-4DE7-92E3-87E357DC321A}"/>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Pessoas físicas ou jurídicas, privadas ou públicas, obrigadas nos direitos adquiridos.</a:t>
            </a:r>
          </a:p>
        </p:txBody>
      </p:sp>
      <p:sp>
        <p:nvSpPr>
          <p:cNvPr id="14" name="">
            <a:extLst xmlns:a="http://schemas.openxmlformats.org/drawingml/2006/main">
              <a:ext uri="{FF2B5EF4-FFF2-40B4-BE49-F238E27FC236}">
                <a16:creationId xmlns:a16="http://schemas.microsoft.com/office/drawing/2014/main" id="{AC431E42-666D-4F39-BB7D-364CE4D9E7B0}"/>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03DD22D7-10C4-4BD6-AB0D-CE75805304B4}"/>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Créditos em litígio, precatórios e direitos vencidos/inadimplidos já performados.</a:t>
            </a:r>
          </a:p>
        </p:txBody>
      </p:sp>
      <p:sp>
        <p:nvSpPr>
          <p:cNvPr id="16" name="">
            <a:extLst xmlns:a="http://schemas.openxmlformats.org/drawingml/2006/main">
              <a:ext uri="{FF2B5EF4-FFF2-40B4-BE49-F238E27FC236}">
                <a16:creationId xmlns:a16="http://schemas.microsoft.com/office/drawing/2014/main" id="{D2B391D3-5B0E-4FD9-935D-F204F5C0EB28}"/>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6BA61F78-F838-4663-A83C-659BD342ACA4}"/>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A política permite comprar direitos judiciais/NPL integral ou parcialmente; o regulamento não comprova que esses ativos compunham a carteira em mai/26.</a:t>
            </a:r>
          </a:p>
        </p:txBody>
      </p:sp>
      <p:sp>
        <p:nvSpPr>
          <p:cNvPr id="18" name="">
            <a:extLst xmlns:a="http://schemas.openxmlformats.org/drawingml/2006/main">
              <a:ext uri="{FF2B5EF4-FFF2-40B4-BE49-F238E27FC236}">
                <a16:creationId xmlns:a16="http://schemas.microsoft.com/office/drawing/2014/main" id="{C646230A-96CB-4385-9C77-F2CAE129DD5A}"/>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83C675A8-3CD3-42BF-8E0B-F9207F724DB8}"/>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7991249-ADE5-45A1-8757-21725E74845D}"/>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CFE0D4A0-B964-4665-A3ED-CDBA1516FBE3}"/>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Emissões relevantes não localizadas nas fontes consultadas.</a:t>
            </a:r>
          </a:p>
        </p:txBody>
      </p:sp>
      <p:sp>
        <p:nvSpPr>
          <p:cNvPr id="22" name="">
            <a:extLst xmlns:a="http://schemas.openxmlformats.org/drawingml/2006/main">
              <a:ext uri="{FF2B5EF4-FFF2-40B4-BE49-F238E27FC236}">
                <a16:creationId xmlns:a16="http://schemas.microsoft.com/office/drawing/2014/main" id="{93FAE2D7-1DE3-47D9-9AE6-FB69A5B866F7}"/>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08D8BB4D-1FA1-465F-A43C-3E360D685102}"/>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Única subclasse de cotas pari passu; sem preferência, prioridade ou subordinação entre titulares. Garantias: Variam por direito; não há garantia uniforme da carteira nem garantia geral de prestadores/FGC.</a:t>
            </a:r>
          </a:p>
        </p:txBody>
      </p:sp>
      <p:sp>
        <p:nvSpPr>
          <p:cNvPr id="24" name="">
            <a:extLst xmlns:a="http://schemas.openxmlformats.org/drawingml/2006/main">
              <a:ext uri="{FF2B5EF4-FFF2-40B4-BE49-F238E27FC236}">
                <a16:creationId xmlns:a16="http://schemas.microsoft.com/office/drawing/2014/main" id="{794649CA-E16D-4793-8F90-18220F6CCB97}"/>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C87E628F-7B90-4032-9310-68C96B7CDC78}"/>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BTG PACTUAL SERVIÇOS FINANCEIROS S/A DTVM</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BANCO BTG PACTUAL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BANCO BTG PACTUAL S/A</a:t>
            </a:r>
          </a:p>
        </p:txBody>
      </p:sp>
      <p:sp>
        <p:nvSpPr>
          <p:cNvPr id="26" name="">
            <a:extLst xmlns:a="http://schemas.openxmlformats.org/drawingml/2006/main">
              <a:ext uri="{FF2B5EF4-FFF2-40B4-BE49-F238E27FC236}">
                <a16:creationId xmlns:a16="http://schemas.microsoft.com/office/drawing/2014/main" id="{236FF7F7-D51E-46C7-A007-182C4A220097}"/>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60921B57-06E5-4918-B2A8-F0B8EAE5D340}"/>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Outros · Multicarteira Outros</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085047A4-5401-4508-952E-4BE250BD3C8F}"/>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9247F14-36E9-4A56-92CD-C39B7F400B96}"/>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5/6 campos documentais preenchidos. Fonte: https://fnet.bmfbovespa.com.br/fnet/publico/abrirGerenciadorDocumentosCVM?cnpjFundo=29225241000110. Evidência: O cadastro ANBIMA traz Outros/Multicarteira Outros; a política documental é de NPL/direitos judiciais.</a:t>
            </a:r>
          </a:p>
        </p:txBody>
      </p:sp>
    </p:spTree>
    <p:extLst>
      <p:ext uri="{BB962C8B-B14F-4D97-AF65-F5344CB8AC3E}">
        <p14:creationId xmlns:p14="http://schemas.microsoft.com/office/powerpoint/2010/main" val="980612248"/>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05FF5CA6-EC3A-410A-95E2-FB8A97547FD5}"/>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F8C027A5-03A9-486F-8FC4-D22821D26177}"/>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#14 Monee I — R$ 5,8 bi e 0,7% do PL ex-FIC</a:t>
            </a:r>
          </a:p>
        </p:txBody>
      </p:sp>
      <p:sp>
        <p:nvSpPr>
          <p:cNvPr id="3" name="">
            <a:extLst xmlns:a="http://schemas.openxmlformats.org/drawingml/2006/main">
              <a:ext uri="{FF2B5EF4-FFF2-40B4-BE49-F238E27FC236}">
                <a16:creationId xmlns:a16="http://schemas.microsoft.com/office/drawing/2014/main" id="{939D9064-4CEF-4CA1-BD7E-F867D6449B9C}"/>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9537566-6C9A-4EB9-9C31-89195BE9A29B}"/>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5773594-E805-4D20-A6D3-A2BD52E99B51}"/>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2026-07-16</a:t>
            </a:r>
          </a:p>
        </p:txBody>
      </p:sp>
      <p:sp>
        <p:nvSpPr>
          <p:cNvPr id="6" name="">
            <a:extLst xmlns:a="http://schemas.openxmlformats.org/drawingml/2006/main">
              <a:ext uri="{FF2B5EF4-FFF2-40B4-BE49-F238E27FC236}">
                <a16:creationId xmlns:a16="http://schemas.microsoft.com/office/drawing/2014/main" id="{AD746923-E0FF-4BA6-8C20-C8A9CB6E6A32}"/>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47</a:t>
            </a:r>
          </a:p>
        </p:txBody>
      </p:sp>
      <p:sp>
        <p:nvSpPr>
          <p:cNvPr id="7" name="">
            <a:extLst xmlns:a="http://schemas.openxmlformats.org/drawingml/2006/main">
              <a:ext uri="{FF2B5EF4-FFF2-40B4-BE49-F238E27FC236}">
                <a16:creationId xmlns:a16="http://schemas.microsoft.com/office/drawing/2014/main" id="{7154C0EE-294E-4C11-A079-0F3EFF327F75}"/>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42.922.136/0001-07 · FUNDO DE INVESTIMENTO EM DIREITOS CREDITÓRIOS MONEE I DE RESPONSABILIDADE LIMITADA</a:t>
            </a:r>
          </a:p>
        </p:txBody>
      </p:sp>
      <p:sp>
        <p:nvSpPr>
          <p:cNvPr id="8" name="">
            <a:extLst xmlns:a="http://schemas.openxmlformats.org/drawingml/2006/main">
              <a:ext uri="{FF2B5EF4-FFF2-40B4-BE49-F238E27FC236}">
                <a16:creationId xmlns:a16="http://schemas.microsoft.com/office/drawing/2014/main" id="{05F92A5E-21E9-4528-9418-0F646C9E9C39}"/>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04CA4428-5D6D-42D1-A481-119FEEC88287}"/>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816A95A-CDEF-49B0-A8BF-A56D423EB2AB}"/>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6E450F6F-6301-4AAD-BE6E-3DCEC4DD56D5}"/>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749"/>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SHPP Brasil Instituição de Pagamento e Serviços de Pagamentos Ltda. — CNPJ 38.372.267/0001-82 — atua como originadora/correspondente; CCB são endossadas por instituições financeiras parceiras e recebíveis de pagamento são cedidos por estabelecimentos.</a:t>
            </a:r>
          </a:p>
        </p:txBody>
      </p:sp>
      <p:sp>
        <p:nvSpPr>
          <p:cNvPr id="12" name="">
            <a:extLst xmlns:a="http://schemas.openxmlformats.org/drawingml/2006/main">
              <a:ext uri="{FF2B5EF4-FFF2-40B4-BE49-F238E27FC236}">
                <a16:creationId xmlns:a16="http://schemas.microsoft.com/office/drawing/2014/main" id="{BAD65946-B81B-4170-8438-FC2E40ABF10E}"/>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F2907993-333D-4C77-B716-F7B927856D25}"/>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Pessoas físicas ou jurídicas tomadoras dos empréstimos e participantes das operações de pagamento, conforme o ativo.</a:t>
            </a:r>
          </a:p>
        </p:txBody>
      </p:sp>
      <p:sp>
        <p:nvSpPr>
          <p:cNvPr id="14" name="">
            <a:extLst xmlns:a="http://schemas.openxmlformats.org/drawingml/2006/main">
              <a:ext uri="{FF2B5EF4-FFF2-40B4-BE49-F238E27FC236}">
                <a16:creationId xmlns:a16="http://schemas.microsoft.com/office/drawing/2014/main" id="{C48FBB14-603C-4C0E-A3E3-2B509AEC2D81}"/>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F4492E3E-0BC9-44C9-979A-85317F11C6F6}"/>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CCB de empréstimos e unidades de recebíveis de transações de cartão realizadas em estabelecimentos.</a:t>
            </a:r>
          </a:p>
        </p:txBody>
      </p:sp>
      <p:sp>
        <p:nvSpPr>
          <p:cNvPr id="16" name="">
            <a:extLst xmlns:a="http://schemas.openxmlformats.org/drawingml/2006/main">
              <a:ext uri="{FF2B5EF4-FFF2-40B4-BE49-F238E27FC236}">
                <a16:creationId xmlns:a16="http://schemas.microsoft.com/office/drawing/2014/main" id="{A3366C9C-648F-4408-AEB9-1ACDB3DCA7DD}"/>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870A110D-47D4-4B67-B41B-38C1ED07A637}"/>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A SHPP capta e analisa clientes como correspondente dos endossantes; a classe adquire CCB por endosso e recebíveis de pagamento por cessão.</a:t>
            </a:r>
          </a:p>
        </p:txBody>
      </p:sp>
      <p:sp>
        <p:nvSpPr>
          <p:cNvPr id="18" name="">
            <a:extLst xmlns:a="http://schemas.openxmlformats.org/drawingml/2006/main">
              <a:ext uri="{FF2B5EF4-FFF2-40B4-BE49-F238E27FC236}">
                <a16:creationId xmlns:a16="http://schemas.microsoft.com/office/drawing/2014/main" id="{5FD00C36-183A-46EF-974C-5A362B84CA44}"/>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410FCA24-BF69-4513-B972-8020D7B614C9}"/>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B0BBF87-A137-4839-A681-7F8323D4F3EA}"/>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26083AAB-9B1E-4BF9-BA16-56CD2FB02221}"/>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Emissões relevantes não localizadas nas fontes consultadas.</a:t>
            </a:r>
          </a:p>
        </p:txBody>
      </p:sp>
      <p:sp>
        <p:nvSpPr>
          <p:cNvPr id="22" name="">
            <a:extLst xmlns:a="http://schemas.openxmlformats.org/drawingml/2006/main">
              <a:ext uri="{FF2B5EF4-FFF2-40B4-BE49-F238E27FC236}">
                <a16:creationId xmlns:a16="http://schemas.microsoft.com/office/drawing/2014/main" id="{C50F800C-153F-4B51-990F-FC8C68ADF7C9}"/>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7F607263-0219-4686-BC17-F6EF7746E3CE}"/>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Cotas pari passu; o regulamento consultado declara ausência de preferência, prioridade ou subordinação. Garantias: Não há garantia uniforme identificada; a transferência é sem coobrigação geral nos contratos descritos.</a:t>
            </a:r>
          </a:p>
        </p:txBody>
      </p:sp>
      <p:sp>
        <p:nvSpPr>
          <p:cNvPr id="24" name="">
            <a:extLst xmlns:a="http://schemas.openxmlformats.org/drawingml/2006/main">
              <a:ext uri="{FF2B5EF4-FFF2-40B4-BE49-F238E27FC236}">
                <a16:creationId xmlns:a16="http://schemas.microsoft.com/office/drawing/2014/main" id="{24132823-06C2-48FE-BB60-FB0176E22EEF}"/>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BC540384-9481-489C-B77D-850790518860}"/>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QI CORRETORA DE TÍTULOS E VALORES MOBILIÁRIOS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VALORA RENDA FIXA LTDA.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QI CORRETORA DE TÍTULOS E VALORES MOBILIÁRIOS S.A.</a:t>
            </a:r>
          </a:p>
        </p:txBody>
      </p:sp>
      <p:sp>
        <p:nvSpPr>
          <p:cNvPr id="26" name="">
            <a:extLst xmlns:a="http://schemas.openxmlformats.org/drawingml/2006/main">
              <a:ext uri="{FF2B5EF4-FFF2-40B4-BE49-F238E27FC236}">
                <a16:creationId xmlns:a16="http://schemas.microsoft.com/office/drawing/2014/main" id="{AAC0E2FF-B6F6-4F6E-BE40-C030272E530F}"/>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BA89F46B-2DC0-4922-B13F-F3324BF87BD6}"/>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Outros · Multicarteira Outros</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9C754668-E7CF-4AD0-B8E2-D0933DDA5FDB}"/>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7062D73-7D2C-4AC0-9F99-7F036308A895}"/>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5/6 campos documentais preenchidos. Fonte: https://fnet.bmfbovespa.com.br/fnet/publico/abrirGerenciadorDocumentosCVM?cnpjFundo=42922136000107. Evidência: O cadastro ANBIMA traz Outros/Multicarteira Outros; a política documental combina crédito pessoal e meios de pagamento.</a:t>
            </a:r>
          </a:p>
        </p:txBody>
      </p:sp>
    </p:spTree>
    <p:extLst>
      <p:ext uri="{BB962C8B-B14F-4D97-AF65-F5344CB8AC3E}">
        <p14:creationId xmlns:p14="http://schemas.microsoft.com/office/powerpoint/2010/main" val="356011005"/>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48F688E6-3362-4B32-A52A-59510A0A4C2E}"/>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E5793E7F-85B3-406D-A750-268E2308A45C}"/>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#15 PicPay I — R$ 4,8 bi e 0,5% do PL ex-FIC</a:t>
            </a:r>
          </a:p>
        </p:txBody>
      </p:sp>
      <p:sp>
        <p:nvSpPr>
          <p:cNvPr id="3" name="">
            <a:extLst xmlns:a="http://schemas.openxmlformats.org/drawingml/2006/main">
              <a:ext uri="{FF2B5EF4-FFF2-40B4-BE49-F238E27FC236}">
                <a16:creationId xmlns:a16="http://schemas.microsoft.com/office/drawing/2014/main" id="{D29A4FF9-68C5-4E06-8248-59BE0AB49290}"/>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D8245B6-1D49-4F27-82DB-A4BF28440D0B}"/>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F924F36-6FE5-42CF-B41C-C476B50E4732}"/>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2026-07-16</a:t>
            </a:r>
          </a:p>
        </p:txBody>
      </p:sp>
      <p:sp>
        <p:nvSpPr>
          <p:cNvPr id="6" name="">
            <a:extLst xmlns:a="http://schemas.openxmlformats.org/drawingml/2006/main">
              <a:ext uri="{FF2B5EF4-FFF2-40B4-BE49-F238E27FC236}">
                <a16:creationId xmlns:a16="http://schemas.microsoft.com/office/drawing/2014/main" id="{12E6A516-AB24-4EE4-8FCC-D6FF7E8A4FAD}"/>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48</a:t>
            </a:r>
          </a:p>
        </p:txBody>
      </p:sp>
      <p:sp>
        <p:nvSpPr>
          <p:cNvPr id="7" name="">
            <a:extLst xmlns:a="http://schemas.openxmlformats.org/drawingml/2006/main">
              <a:ext uri="{FF2B5EF4-FFF2-40B4-BE49-F238E27FC236}">
                <a16:creationId xmlns:a16="http://schemas.microsoft.com/office/drawing/2014/main" id="{5586F786-1603-4421-9C2E-D778E8A3CED6}"/>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32.527.650/0001-86 · FUNDO DE INVESTIMENTO EM DIREITOS CREDITÓRIOS PICPAY I</a:t>
            </a:r>
          </a:p>
        </p:txBody>
      </p:sp>
      <p:sp>
        <p:nvSpPr>
          <p:cNvPr id="8" name="">
            <a:extLst xmlns:a="http://schemas.openxmlformats.org/drawingml/2006/main">
              <a:ext uri="{FF2B5EF4-FFF2-40B4-BE49-F238E27FC236}">
                <a16:creationId xmlns:a16="http://schemas.microsoft.com/office/drawing/2014/main" id="{C4A35419-ED01-410D-A699-411E607066A6}"/>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FCEF1079-5749-4B7C-869D-D132192106EE}"/>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510D516-D8A5-4851-B880-E9C9C6CFE3F0}"/>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C94B49B7-5CBF-43A4-ADA7-4749574A9C51}"/>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Usuários finais do PicPay que transferem seus recebíveis à classe por mandato previsto no regulamento.</a:t>
            </a:r>
          </a:p>
        </p:txBody>
      </p:sp>
      <p:sp>
        <p:nvSpPr>
          <p:cNvPr id="12" name="">
            <a:extLst xmlns:a="http://schemas.openxmlformats.org/drawingml/2006/main">
              <a:ext uri="{FF2B5EF4-FFF2-40B4-BE49-F238E27FC236}">
                <a16:creationId xmlns:a16="http://schemas.microsoft.com/office/drawing/2014/main" id="{F88AD9D3-FF5F-4EC4-9676-D4A2F61716D4}"/>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0F32C60D-2C7C-44CF-8987-658F2722E2FD}"/>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PicPay, responsável pelos pagamentos devidos aos cedentes nas transações abrangidas.</a:t>
            </a:r>
          </a:p>
        </p:txBody>
      </p:sp>
      <p:sp>
        <p:nvSpPr>
          <p:cNvPr id="14" name="">
            <a:extLst xmlns:a="http://schemas.openxmlformats.org/drawingml/2006/main">
              <a:ext uri="{FF2B5EF4-FFF2-40B4-BE49-F238E27FC236}">
                <a16:creationId xmlns:a16="http://schemas.microsoft.com/office/drawing/2014/main" id="{F597716B-A8A1-4970-912C-2E1BB06B8ADD}"/>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6719572D-F53E-4E67-9E12-C4187431D658}"/>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Valores de transações de pagamento, cash-in e moeda eletrônica processados no sistema PicPay.</a:t>
            </a:r>
          </a:p>
        </p:txBody>
      </p:sp>
      <p:sp>
        <p:nvSpPr>
          <p:cNvPr id="16" name="">
            <a:extLst xmlns:a="http://schemas.openxmlformats.org/drawingml/2006/main">
              <a:ext uri="{FF2B5EF4-FFF2-40B4-BE49-F238E27FC236}">
                <a16:creationId xmlns:a16="http://schemas.microsoft.com/office/drawing/2014/main" id="{58E94E2A-BBE0-439A-B2C6-B8F1BE2BAC09}"/>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78B0C78D-07FF-4D5E-B882-34DC2A70E773}"/>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Usuários cedem à classe os direitos contra o PicPay; o PicPay efetua os pagamentos que alimentam o caixa da classe.</a:t>
            </a:r>
          </a:p>
        </p:txBody>
      </p:sp>
      <p:sp>
        <p:nvSpPr>
          <p:cNvPr id="18" name="">
            <a:extLst xmlns:a="http://schemas.openxmlformats.org/drawingml/2006/main">
              <a:ext uri="{FF2B5EF4-FFF2-40B4-BE49-F238E27FC236}">
                <a16:creationId xmlns:a16="http://schemas.microsoft.com/office/drawing/2014/main" id="{99DCC4F5-A1EA-425B-B92F-A6C095D4DEAE}"/>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F866E1F8-A641-4DD3-953B-C75650272F24}"/>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D433342-5AB5-4988-AFDE-2E3A0EACD789}"/>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56B50431-2693-41F5-B784-215FDD16B1D9}"/>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Emissões relevantes não localizadas nas fontes consultadas.</a:t>
            </a:r>
          </a:p>
        </p:txBody>
      </p:sp>
      <p:sp>
        <p:nvSpPr>
          <p:cNvPr id="22" name="">
            <a:extLst xmlns:a="http://schemas.openxmlformats.org/drawingml/2006/main">
              <a:ext uri="{FF2B5EF4-FFF2-40B4-BE49-F238E27FC236}">
                <a16:creationId xmlns:a16="http://schemas.microsoft.com/office/drawing/2014/main" id="{4DB76C32-F8C6-4DA2-8C19-08FD9D6B3479}"/>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C1A45AAA-EAB7-445A-BC53-1EC6D6D6992B}"/>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Cotas sênior e subordinadas júnior; razão mínima de subordinação júnior de 10% do PL. Garantias: Reforço estrutural por subordinação; garantia adicional uniforme não identificada.</a:t>
            </a:r>
          </a:p>
        </p:txBody>
      </p:sp>
      <p:sp>
        <p:nvSpPr>
          <p:cNvPr id="24" name="">
            <a:extLst xmlns:a="http://schemas.openxmlformats.org/drawingml/2006/main">
              <a:ext uri="{FF2B5EF4-FFF2-40B4-BE49-F238E27FC236}">
                <a16:creationId xmlns:a16="http://schemas.microsoft.com/office/drawing/2014/main" id="{38B70793-63F6-49FA-8FF1-E80BD4210F57}"/>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BDEECEE1-3486-451D-9B19-C0077682DC2B}"/>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GENIAL INVESTIMENTOS CORRETORA DE VALORES MOBILIÁRIOS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GENIAL GESTÃO LTDA.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BANCO GENIAL S.A.</a:t>
            </a:r>
          </a:p>
        </p:txBody>
      </p:sp>
      <p:sp>
        <p:nvSpPr>
          <p:cNvPr id="26" name="">
            <a:extLst xmlns:a="http://schemas.openxmlformats.org/drawingml/2006/main">
              <a:ext uri="{FF2B5EF4-FFF2-40B4-BE49-F238E27FC236}">
                <a16:creationId xmlns:a16="http://schemas.microsoft.com/office/drawing/2014/main" id="{BBD5163C-9395-49EA-8C32-C543312EBDF2}"/>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02B574F2-4ABC-4F84-81DC-4302DC808822}"/>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Financeiro · Multicarteira Financeiro</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C81AD253-3EEF-4651-B84B-E58BB7116CD7}"/>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6BEAFCFC-426A-4E19-9089-7C064DA686D5}"/>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5/6 campos documentais preenchidos. Fonte: https://fnet.bmfbovespa.com.br/fnet/publico/abrirGerenciadorDocumentosCVM?cnpjFundo=32527650000186. Evidência: O cadastro ANBIMA traz Financeiro/Multicarteira Financeiro; a estrutura documental é de meios de pagamento.</a:t>
            </a:r>
          </a:p>
        </p:txBody>
      </p:sp>
    </p:spTree>
    <p:extLst>
      <p:ext uri="{BB962C8B-B14F-4D97-AF65-F5344CB8AC3E}">
        <p14:creationId xmlns:p14="http://schemas.microsoft.com/office/powerpoint/2010/main" val="173980942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4DA4880D-C947-4349-A896-D13D7396A13F}"/>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DAD07DF5-FA0D-4758-8127-D9EACCBF9F31}"/>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#16 Artesanal Master — R$ 4,5 bi e 0,5% do PL ex-FIC</a:t>
            </a:r>
          </a:p>
        </p:txBody>
      </p:sp>
      <p:sp>
        <p:nvSpPr>
          <p:cNvPr id="3" name="">
            <a:extLst xmlns:a="http://schemas.openxmlformats.org/drawingml/2006/main">
              <a:ext uri="{FF2B5EF4-FFF2-40B4-BE49-F238E27FC236}">
                <a16:creationId xmlns:a16="http://schemas.microsoft.com/office/drawing/2014/main" id="{688A1321-8F5C-4D1B-843A-C567885337D6}"/>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F78369A-9F01-40A2-BCB8-E79C0CDB7464}"/>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434AB25-5418-4B18-BA1B-BD0DD51543D6}"/>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2026-07-16</a:t>
            </a:r>
          </a:p>
        </p:txBody>
      </p:sp>
      <p:sp>
        <p:nvSpPr>
          <p:cNvPr id="6" name="">
            <a:extLst xmlns:a="http://schemas.openxmlformats.org/drawingml/2006/main">
              <a:ext uri="{FF2B5EF4-FFF2-40B4-BE49-F238E27FC236}">
                <a16:creationId xmlns:a16="http://schemas.microsoft.com/office/drawing/2014/main" id="{ECFBD49F-E7D4-4AA2-94B9-38A81739C1FB}"/>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49</a:t>
            </a:r>
          </a:p>
        </p:txBody>
      </p:sp>
      <p:sp>
        <p:nvSpPr>
          <p:cNvPr id="7" name="">
            <a:extLst xmlns:a="http://schemas.openxmlformats.org/drawingml/2006/main">
              <a:ext uri="{FF2B5EF4-FFF2-40B4-BE49-F238E27FC236}">
                <a16:creationId xmlns:a16="http://schemas.microsoft.com/office/drawing/2014/main" id="{0A730579-DA40-46C5-BF10-485C35BC58B6}"/>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30.576.260/0001-70 · ARTESANAL MASTER FUNDO DE INVESTIMENTO EM DIREITOS CREDITÓRIOS</a:t>
            </a:r>
          </a:p>
        </p:txBody>
      </p:sp>
      <p:sp>
        <p:nvSpPr>
          <p:cNvPr id="8" name="">
            <a:extLst xmlns:a="http://schemas.openxmlformats.org/drawingml/2006/main">
              <a:ext uri="{FF2B5EF4-FFF2-40B4-BE49-F238E27FC236}">
                <a16:creationId xmlns:a16="http://schemas.microsoft.com/office/drawing/2014/main" id="{80CD875D-94DE-4148-A52D-8B6807FA3528}"/>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524B83B3-DBEC-4CB2-B292-8DCA3D16FBD7}"/>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28944C2-595F-4C2B-A7E7-584D4F0FCFAD}"/>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014050F3-6295-492D-A546-A7D20F1E92AC}"/>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Pessoas físicas ou jurídicas titulares dos instrumentos elegíveis; nenhuma entidade única foi identificada.</a:t>
            </a:r>
          </a:p>
        </p:txBody>
      </p:sp>
      <p:sp>
        <p:nvSpPr>
          <p:cNvPr id="12" name="">
            <a:extLst xmlns:a="http://schemas.openxmlformats.org/drawingml/2006/main">
              <a:ext uri="{FF2B5EF4-FFF2-40B4-BE49-F238E27FC236}">
                <a16:creationId xmlns:a16="http://schemas.microsoft.com/office/drawing/2014/main" id="{9E97439E-BE59-44E7-A237-5B05FEE5CDE7}"/>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FC9A78F6-68C9-4FD6-834C-F99BA6449341}"/>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Emissores/devedores dos instrumentos adquiridos; nomes não identificados no regulamento.</a:t>
            </a:r>
          </a:p>
        </p:txBody>
      </p:sp>
      <p:sp>
        <p:nvSpPr>
          <p:cNvPr id="14" name="">
            <a:extLst xmlns:a="http://schemas.openxmlformats.org/drawingml/2006/main">
              <a:ext uri="{FF2B5EF4-FFF2-40B4-BE49-F238E27FC236}">
                <a16:creationId xmlns:a16="http://schemas.microsoft.com/office/drawing/2014/main" id="{422452D1-2F78-4071-A285-7065626171B0}"/>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6E4683CE-92C0-4722-AA7B-92087E793032}"/>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Direitos e títulos de crédito, valores mobiliários de crédito, instrumentos de securitização e cotas de FIDC previstos na política ampla.</a:t>
            </a:r>
          </a:p>
        </p:txBody>
      </p:sp>
      <p:sp>
        <p:nvSpPr>
          <p:cNvPr id="16" name="">
            <a:extLst xmlns:a="http://schemas.openxmlformats.org/drawingml/2006/main">
              <a:ext uri="{FF2B5EF4-FFF2-40B4-BE49-F238E27FC236}">
                <a16:creationId xmlns:a16="http://schemas.microsoft.com/office/drawing/2014/main" id="{B4D6203D-6139-4BF1-B8D0-5B07C68C053E}"/>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C742E27D-6130-49BC-9A96-6EFA5BD7C49F}"/>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O veículo era FIC-FIDC e foi transformado em FIDC direto com vigência em 23/07/2024; desde então a política permite aquisição direta de instrumentos de crédito.</a:t>
            </a:r>
          </a:p>
        </p:txBody>
      </p:sp>
      <p:sp>
        <p:nvSpPr>
          <p:cNvPr id="18" name="">
            <a:extLst xmlns:a="http://schemas.openxmlformats.org/drawingml/2006/main">
              <a:ext uri="{FF2B5EF4-FFF2-40B4-BE49-F238E27FC236}">
                <a16:creationId xmlns:a16="http://schemas.microsoft.com/office/drawing/2014/main" id="{F2591260-4BBA-49C5-A8E8-67B9E205CA0B}"/>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9325D1EA-6D69-44FC-8B7F-F18C5B232DA3}"/>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1AB7CDD-5F93-4C56-9548-A6E7999F91FF}"/>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2D7E3669-FD78-489E-9F87-383090ABC8CC}"/>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Emissões relevantes não localizadas nas fontes consultadas.</a:t>
            </a:r>
          </a:p>
        </p:txBody>
      </p:sp>
      <p:sp>
        <p:nvSpPr>
          <p:cNvPr id="22" name="">
            <a:extLst xmlns:a="http://schemas.openxmlformats.org/drawingml/2006/main">
              <a:ext uri="{FF2B5EF4-FFF2-40B4-BE49-F238E27FC236}">
                <a16:creationId xmlns:a16="http://schemas.microsoft.com/office/drawing/2014/main" id="{E497AE1C-B240-4D32-A6A3-0D124EF9A10F}"/>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F42F4E9A-156F-4178-926A-3079236D3642}"/>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Cotas sem preferência, prioridade ou subordinação entre os titulares. Garantias: Variam por instrumento; não há pacote uniforme de garantias.</a:t>
            </a:r>
          </a:p>
        </p:txBody>
      </p:sp>
      <p:sp>
        <p:nvSpPr>
          <p:cNvPr id="24" name="">
            <a:extLst xmlns:a="http://schemas.openxmlformats.org/drawingml/2006/main">
              <a:ext uri="{FF2B5EF4-FFF2-40B4-BE49-F238E27FC236}">
                <a16:creationId xmlns:a16="http://schemas.microsoft.com/office/drawing/2014/main" id="{3B828FDC-3969-43F3-82C2-385E1F0F1183}"/>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B04BA8EE-35BD-40F1-A1DA-24400B4D3714}"/>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BANCO GENIAL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ARTESANAL INVESTIMENTOS LTDA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BANCO B3 S.A.</a:t>
            </a:r>
          </a:p>
        </p:txBody>
      </p:sp>
      <p:sp>
        <p:nvSpPr>
          <p:cNvPr id="26" name="">
            <a:extLst xmlns:a="http://schemas.openxmlformats.org/drawingml/2006/main">
              <a:ext uri="{FF2B5EF4-FFF2-40B4-BE49-F238E27FC236}">
                <a16:creationId xmlns:a16="http://schemas.microsoft.com/office/drawing/2014/main" id="{E6E30FC5-62D7-4A20-8BA4-3A78DC7D368F}"/>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D75F76EE-71FE-4672-AA46-974AEF820263}"/>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Financeiro · Crédito Pessoal</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01B66E8D-E9D3-455F-95C5-3C0759A9CADB}"/>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936721A-342E-4EB6-8724-4DA038038044}"/>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5/6 campos documentais preenchidos. Fonte: https://fnet.bmfbovespa.com.br/fnet/publico/abrirGerenciadorDocumentosCVM?cnpjFundo=30576260000170. Evidência: O cadastro ANBIMA traz Financeiro/Crédito Pessoal; a política documental atual é ampla. A quebra histórica FIC→FIDC em julho de 2024 deve ser tratada explicitamente.</a:t>
            </a:r>
          </a:p>
        </p:txBody>
      </p:sp>
    </p:spTree>
    <p:extLst>
      <p:ext uri="{BB962C8B-B14F-4D97-AF65-F5344CB8AC3E}">
        <p14:creationId xmlns:p14="http://schemas.microsoft.com/office/powerpoint/2010/main" val="26829669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3601AD16-00B8-4D3F-A832-C154ED12A432}"/>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858E09BF-9CEC-4956-8528-1A2CA9D69AD1}"/>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#17 Marobá — R$ 4,5 bi e 0,5% do PL ex-FIC</a:t>
            </a:r>
          </a:p>
        </p:txBody>
      </p:sp>
      <p:sp>
        <p:nvSpPr>
          <p:cNvPr id="3" name="">
            <a:extLst xmlns:a="http://schemas.openxmlformats.org/drawingml/2006/main">
              <a:ext uri="{FF2B5EF4-FFF2-40B4-BE49-F238E27FC236}">
                <a16:creationId xmlns:a16="http://schemas.microsoft.com/office/drawing/2014/main" id="{879E5129-5A6F-4610-905C-968A0097EF48}"/>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1873B9C-45D8-45EF-A560-52B0C8A8E4B5}"/>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39ECF7A-7D8C-46C7-AFDB-D2851A7F9321}"/>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2026-07-24</a:t>
            </a:r>
          </a:p>
        </p:txBody>
      </p:sp>
      <p:sp>
        <p:nvSpPr>
          <p:cNvPr id="6" name="">
            <a:extLst xmlns:a="http://schemas.openxmlformats.org/drawingml/2006/main">
              <a:ext uri="{FF2B5EF4-FFF2-40B4-BE49-F238E27FC236}">
                <a16:creationId xmlns:a16="http://schemas.microsoft.com/office/drawing/2014/main" id="{3EAE6CF4-E957-4F15-A24E-3830D144A650}"/>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50</a:t>
            </a:r>
          </a:p>
        </p:txBody>
      </p:sp>
      <p:sp>
        <p:nvSpPr>
          <p:cNvPr id="7" name="">
            <a:extLst xmlns:a="http://schemas.openxmlformats.org/drawingml/2006/main">
              <a:ext uri="{FF2B5EF4-FFF2-40B4-BE49-F238E27FC236}">
                <a16:creationId xmlns:a16="http://schemas.microsoft.com/office/drawing/2014/main" id="{407BB7DD-E7F8-47E5-A255-160E0607325A}"/>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61.285.603/0001-71 · MAROBÁ FUNDO DE INVESTMENTO EM DIREITOS CREDITÓRIOS RESPONSABILIDADE LIMITADA</a:t>
            </a:r>
          </a:p>
        </p:txBody>
      </p:sp>
      <p:sp>
        <p:nvSpPr>
          <p:cNvPr id="8" name="">
            <a:extLst xmlns:a="http://schemas.openxmlformats.org/drawingml/2006/main">
              <a:ext uri="{FF2B5EF4-FFF2-40B4-BE49-F238E27FC236}">
                <a16:creationId xmlns:a16="http://schemas.microsoft.com/office/drawing/2014/main" id="{633E7877-B767-4E5C-A5FB-A09AB225E58A}"/>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F74D1B28-7FB7-4849-8E09-33A8BD84AA17}"/>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0E843D2-8CB1-4E83-B142-7D4F4E179CED}"/>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F68EA452-9523-4603-806C-0CFFBF10A2D9}"/>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Cedente/originador não localizado nas fontes consultadas.</a:t>
            </a:r>
          </a:p>
        </p:txBody>
      </p:sp>
      <p:sp>
        <p:nvSpPr>
          <p:cNvPr id="12" name="">
            <a:extLst xmlns:a="http://schemas.openxmlformats.org/drawingml/2006/main">
              <a:ext uri="{FF2B5EF4-FFF2-40B4-BE49-F238E27FC236}">
                <a16:creationId xmlns:a16="http://schemas.microsoft.com/office/drawing/2014/main" id="{996D610B-41F9-4B4B-9988-ACAD4ED409BE}"/>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8A4D8E17-8CC0-4659-8542-D3F78369E6DF}"/>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Sacado ou perfil de devedores não localizado nas fontes consultadas.</a:t>
            </a:r>
          </a:p>
        </p:txBody>
      </p:sp>
      <p:sp>
        <p:nvSpPr>
          <p:cNvPr id="14" name="">
            <a:extLst xmlns:a="http://schemas.openxmlformats.org/drawingml/2006/main">
              <a:ext uri="{FF2B5EF4-FFF2-40B4-BE49-F238E27FC236}">
                <a16:creationId xmlns:a16="http://schemas.microsoft.com/office/drawing/2014/main" id="{92663708-C38C-4D00-87E0-EF0B5824D0F7}"/>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C63A0CCD-685D-4273-AFA2-05ADCCDE80FE}"/>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Natureza dos recebíveis não localizada nas fontes consultadas.</a:t>
            </a:r>
          </a:p>
        </p:txBody>
      </p:sp>
      <p:sp>
        <p:nvSpPr>
          <p:cNvPr id="16" name="">
            <a:extLst xmlns:a="http://schemas.openxmlformats.org/drawingml/2006/main">
              <a:ext uri="{FF2B5EF4-FFF2-40B4-BE49-F238E27FC236}">
                <a16:creationId xmlns:a16="http://schemas.microsoft.com/office/drawing/2014/main" id="{A41C0ABE-F84F-4AAE-BB09-DD07F673C2DA}"/>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0FD66378-570A-4A47-A8D9-ED0BE56CF2E4}"/>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Mecânica econômica não localizada nas fontes consultadas.</a:t>
            </a:r>
          </a:p>
        </p:txBody>
      </p:sp>
      <p:sp>
        <p:nvSpPr>
          <p:cNvPr id="18" name="">
            <a:extLst xmlns:a="http://schemas.openxmlformats.org/drawingml/2006/main">
              <a:ext uri="{FF2B5EF4-FFF2-40B4-BE49-F238E27FC236}">
                <a16:creationId xmlns:a16="http://schemas.microsoft.com/office/drawing/2014/main" id="{D27FA3EC-8204-41F1-9717-4E8394DB7C39}"/>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73D881E8-5D62-4077-81B5-C939E0EEB092}"/>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3F2D6ED-B6A9-4F88-AD59-1004942200E9}"/>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BA5F7240-B5B3-4110-B089-ED0C1BF187AD}"/>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Emissões relevantes não localizadas nas fontes consultadas.</a:t>
            </a:r>
          </a:p>
        </p:txBody>
      </p:sp>
      <p:sp>
        <p:nvSpPr>
          <p:cNvPr id="22" name="">
            <a:extLst xmlns:a="http://schemas.openxmlformats.org/drawingml/2006/main">
              <a:ext uri="{FF2B5EF4-FFF2-40B4-BE49-F238E27FC236}">
                <a16:creationId xmlns:a16="http://schemas.microsoft.com/office/drawing/2014/main" id="{E7B1D706-E727-4CD6-A22A-1792EAB5E153}"/>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D593BBF9-F6EB-43BB-9B58-C98467BC6A02}"/>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Classes e subordinação não localizadas nas fontes consultadas. Garantias: Garantias não localizadas nas fontes consultadas.</a:t>
            </a:r>
          </a:p>
        </p:txBody>
      </p:sp>
      <p:sp>
        <p:nvSpPr>
          <p:cNvPr id="24" name="">
            <a:extLst xmlns:a="http://schemas.openxmlformats.org/drawingml/2006/main">
              <a:ext uri="{FF2B5EF4-FFF2-40B4-BE49-F238E27FC236}">
                <a16:creationId xmlns:a16="http://schemas.microsoft.com/office/drawing/2014/main" id="{C2208BE5-07C3-4CB2-B778-CD8508702473}"/>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25460947-695A-4DD9-A32E-97EAF24F1683}"/>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INTRAG DTVM LTDA.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KANASTRA ADMINISTRAÇÃO DE RECURSOS LTDA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LIMINE TRUST DISTRIBUIDORA DE TITULOS E VALORES MOBILIARIOS LTDA.</a:t>
            </a:r>
          </a:p>
        </p:txBody>
      </p:sp>
      <p:sp>
        <p:nvSpPr>
          <p:cNvPr id="26" name="">
            <a:extLst xmlns:a="http://schemas.openxmlformats.org/drawingml/2006/main">
              <a:ext uri="{FF2B5EF4-FFF2-40B4-BE49-F238E27FC236}">
                <a16:creationId xmlns:a16="http://schemas.microsoft.com/office/drawing/2014/main" id="{309DB97B-9443-4789-8603-DCA9B9E57C07}"/>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330CD15E-877B-493E-B61C-F2C2A0664063}"/>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Outros · Multicarteira Outros</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CA67EAC0-C68D-4083-838C-D83A3DA63248}"/>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B36AF2F-5781-44E8-8FBF-FAF8CD5F8E6E}"/>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0/6 campos documentais preenchidos; cadastro e prestadores disponíveis. Fonte: FundosNet e CVM SRE consultados em 24/07/2026; regulamento, suplemento e informe de encerramento não foram localizados no corpus acessível. Evidência: Classificação cadastral ANBIMA disponível; documentação primária da operação não localizada.</a:t>
            </a:r>
          </a:p>
        </p:txBody>
      </p:sp>
    </p:spTree>
    <p:extLst>
      <p:ext uri="{BB962C8B-B14F-4D97-AF65-F5344CB8AC3E}">
        <p14:creationId xmlns:p14="http://schemas.microsoft.com/office/powerpoint/2010/main" val="1750696703"/>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963AFF92-A57D-42A3-BB47-E4617B3884DA}"/>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4369D8DC-899B-4826-B9F9-DAD02F20A833}"/>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#18 Venda de Veículos — R$ 4,2 bi e 0,5% do PL ex-FIC</a:t>
            </a:r>
          </a:p>
        </p:txBody>
      </p:sp>
      <p:sp>
        <p:nvSpPr>
          <p:cNvPr id="3" name="">
            <a:extLst xmlns:a="http://schemas.openxmlformats.org/drawingml/2006/main">
              <a:ext uri="{FF2B5EF4-FFF2-40B4-BE49-F238E27FC236}">
                <a16:creationId xmlns:a16="http://schemas.microsoft.com/office/drawing/2014/main" id="{E8558A16-106D-497A-B11C-175102DFB7DE}"/>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03BD85A-8A87-40EE-8392-2A7EA2F10263}"/>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EBF50EC-9B95-4858-939D-0542EE1299AD}"/>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2026-07-24</a:t>
            </a:r>
          </a:p>
        </p:txBody>
      </p:sp>
      <p:sp>
        <p:nvSpPr>
          <p:cNvPr id="6" name="">
            <a:extLst xmlns:a="http://schemas.openxmlformats.org/drawingml/2006/main">
              <a:ext uri="{FF2B5EF4-FFF2-40B4-BE49-F238E27FC236}">
                <a16:creationId xmlns:a16="http://schemas.microsoft.com/office/drawing/2014/main" id="{E2B37223-CA4D-45A9-8C71-3503D4EF2E88}"/>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51</a:t>
            </a:r>
          </a:p>
        </p:txBody>
      </p:sp>
      <p:sp>
        <p:nvSpPr>
          <p:cNvPr id="7" name="">
            <a:extLst xmlns:a="http://schemas.openxmlformats.org/drawingml/2006/main">
              <a:ext uri="{FF2B5EF4-FFF2-40B4-BE49-F238E27FC236}">
                <a16:creationId xmlns:a16="http://schemas.microsoft.com/office/drawing/2014/main" id="{18C39076-F366-4715-9413-6704EBB5F925}"/>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21.126.275/0001-46 · VENDA DE VEÍCULOS FUNDO DE INVESTIMENTO EM DIREITOS CREDITÓRIOS</a:t>
            </a:r>
          </a:p>
        </p:txBody>
      </p:sp>
      <p:sp>
        <p:nvSpPr>
          <p:cNvPr id="8" name="">
            <a:extLst xmlns:a="http://schemas.openxmlformats.org/drawingml/2006/main">
              <a:ext uri="{FF2B5EF4-FFF2-40B4-BE49-F238E27FC236}">
                <a16:creationId xmlns:a16="http://schemas.microsoft.com/office/drawing/2014/main" id="{5D2FCF4E-741D-4CCF-9917-1775E54C94F4}"/>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829D4B14-1A72-48DF-BA30-F687DAFDC62E}"/>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E9E55-B782-420D-B066-CFC60D2760C8}"/>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A59D0461-EF07-402B-87FD-7780F5B075C9}"/>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Nissan do Brasil Automóveis Ltda. e Renault do Brasil Ltda.</a:t>
            </a:r>
          </a:p>
        </p:txBody>
      </p:sp>
      <p:sp>
        <p:nvSpPr>
          <p:cNvPr id="12" name="">
            <a:extLst xmlns:a="http://schemas.openxmlformats.org/drawingml/2006/main">
              <a:ext uri="{FF2B5EF4-FFF2-40B4-BE49-F238E27FC236}">
                <a16:creationId xmlns:a16="http://schemas.microsoft.com/office/drawing/2014/main" id="{18AE84C7-4DF9-4C3A-8140-A0C1BC0C694E}"/>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F9867714-5089-49B3-B8CF-3F7622D8989A}"/>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Locadoras de veículos e concessionárias que compram veículos novos com pagamento diferido.</a:t>
            </a:r>
          </a:p>
        </p:txBody>
      </p:sp>
      <p:sp>
        <p:nvSpPr>
          <p:cNvPr id="14" name="">
            <a:extLst xmlns:a="http://schemas.openxmlformats.org/drawingml/2006/main">
              <a:ext uri="{FF2B5EF4-FFF2-40B4-BE49-F238E27FC236}">
                <a16:creationId xmlns:a16="http://schemas.microsoft.com/office/drawing/2014/main" id="{4EE481C7-5499-423F-8558-1F93EF534FA5}"/>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350C3D2B-2A8E-48C9-AA15-73FB587EB56E}"/>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Direitos creditórios decorrentes da venda direta e da venda a prazo de veículos novos.</a:t>
            </a:r>
          </a:p>
        </p:txBody>
      </p:sp>
      <p:sp>
        <p:nvSpPr>
          <p:cNvPr id="16" name="">
            <a:extLst xmlns:a="http://schemas.openxmlformats.org/drawingml/2006/main">
              <a:ext uri="{FF2B5EF4-FFF2-40B4-BE49-F238E27FC236}">
                <a16:creationId xmlns:a16="http://schemas.microsoft.com/office/drawing/2014/main" id="{4C9CA495-CD23-4B49-AEB6-560F9565AA65}"/>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95C0A819-3143-4A23-9D9B-B0B90E5D60D1}"/>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Nissan e Renault cedem ao fundo créditos contra locadoras e concessionárias; a liquidação segue as condições comerciais e garantias previstas no regulamento.</a:t>
            </a:r>
          </a:p>
        </p:txBody>
      </p:sp>
      <p:sp>
        <p:nvSpPr>
          <p:cNvPr id="18" name="">
            <a:extLst xmlns:a="http://schemas.openxmlformats.org/drawingml/2006/main">
              <a:ext uri="{FF2B5EF4-FFF2-40B4-BE49-F238E27FC236}">
                <a16:creationId xmlns:a16="http://schemas.microsoft.com/office/drawing/2014/main" id="{68CCEF8E-CE1C-4AE6-83AE-1E947DE3697D}"/>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BE3171E7-8ED7-4926-AF29-86048F13B2DE}"/>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F3896D6-3F0D-4DF8-A96C-8A8231A8E881}"/>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E078200F-5F0D-4F6F-9336-B30C06DAF68F}"/>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Oferta ou informe de encerramento não localizado no corpus consultado.</a:t>
            </a:r>
          </a:p>
        </p:txBody>
      </p:sp>
      <p:sp>
        <p:nvSpPr>
          <p:cNvPr id="22" name="">
            <a:extLst xmlns:a="http://schemas.openxmlformats.org/drawingml/2006/main">
              <a:ext uri="{FF2B5EF4-FFF2-40B4-BE49-F238E27FC236}">
                <a16:creationId xmlns:a16="http://schemas.microsoft.com/office/drawing/2014/main" id="{15E21DDA-AF83-4C2B-BC6B-9A0E5B9AED2B}"/>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48224105-1BFE-4905-9F24-6133DC4FDB5D}"/>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Cotas sênior e subordinadas; o regulamento disciplina índices de subordinação e eventos de avaliação. Garantias: Seguro de crédito, penhor de estoque, cessão fiduciária de recebíveis e garantias bancárias ou fidejussórias, conforme a operação.</a:t>
            </a:r>
          </a:p>
        </p:txBody>
      </p:sp>
      <p:sp>
        <p:nvSpPr>
          <p:cNvPr id="24" name="">
            <a:extLst xmlns:a="http://schemas.openxmlformats.org/drawingml/2006/main">
              <a:ext uri="{FF2B5EF4-FFF2-40B4-BE49-F238E27FC236}">
                <a16:creationId xmlns:a16="http://schemas.microsoft.com/office/drawing/2014/main" id="{52B2C2E2-71F7-4053-A282-9E78FAA3CB93}"/>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D2186466-5785-475D-96C3-BB3ED7CDFC10}"/>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558"/>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S3 CACEIS BRASIL DISTRIBUIDORA DE TITULOS E VALORES MOBILIARIOS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INTEGRAL INVESTIMENTOS LTDA.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S3 CACEIS BRASIL DISTRIBUIDORA DE TITULOS E VALORES MOBILIARIOS S.A</a:t>
            </a:r>
          </a:p>
        </p:txBody>
      </p:sp>
      <p:sp>
        <p:nvSpPr>
          <p:cNvPr id="26" name="">
            <a:extLst xmlns:a="http://schemas.openxmlformats.org/drawingml/2006/main">
              <a:ext uri="{FF2B5EF4-FFF2-40B4-BE49-F238E27FC236}">
                <a16:creationId xmlns:a16="http://schemas.microsoft.com/office/drawing/2014/main" id="{B0A768FD-1342-4A8B-91E4-D6A4265E6B70}"/>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1AE66592-92E8-46B4-8A53-0FE4018ABB5E}"/>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Financeiro · Financiamento de Veículos</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7F628FDA-15F1-4E34-A1C8-3ADB14CEFF46}"/>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7F197BB-6B22-4D7F-A6A7-E569F7F3C59E}"/>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5/6 campos documentais preenchidos; emissão não localizada. Fonte: FundosNet, Regulamento id 1230588, 26/06/2026. Evidência: O regulamento identifica cedentes, devedores, natureza econômica e garantias da carteira.</a:t>
            </a:r>
          </a:p>
        </p:txBody>
      </p:sp>
    </p:spTree>
    <p:extLst>
      <p:ext uri="{BB962C8B-B14F-4D97-AF65-F5344CB8AC3E}">
        <p14:creationId xmlns:p14="http://schemas.microsoft.com/office/powerpoint/2010/main" val="1406281832"/>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949C87C8-28BC-4DDA-8F48-655C62C3D1BF}"/>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0309A2DE-BF1E-4F9A-B649-1CF2DB2A5133}"/>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#19 Day Maxx 2 — R$ 4,0 bi e 0,5% do PL ex-FIC</a:t>
            </a:r>
          </a:p>
        </p:txBody>
      </p:sp>
      <p:sp>
        <p:nvSpPr>
          <p:cNvPr id="3" name="">
            <a:extLst xmlns:a="http://schemas.openxmlformats.org/drawingml/2006/main">
              <a:ext uri="{FF2B5EF4-FFF2-40B4-BE49-F238E27FC236}">
                <a16:creationId xmlns:a16="http://schemas.microsoft.com/office/drawing/2014/main" id="{B5759D54-52E2-48F1-9F2A-53C84AE78638}"/>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5F7B70B-ED98-4204-A869-A58111E1D69D}"/>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4CB2D14-F0D4-4CC3-9455-C28C9BBDA124}"/>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2026-07-16</a:t>
            </a:r>
          </a:p>
        </p:txBody>
      </p:sp>
      <p:sp>
        <p:nvSpPr>
          <p:cNvPr id="6" name="">
            <a:extLst xmlns:a="http://schemas.openxmlformats.org/drawingml/2006/main">
              <a:ext uri="{FF2B5EF4-FFF2-40B4-BE49-F238E27FC236}">
                <a16:creationId xmlns:a16="http://schemas.microsoft.com/office/drawing/2014/main" id="{C3E303C5-E53F-4AC8-A0B3-C548FED54739}"/>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52</a:t>
            </a:r>
          </a:p>
        </p:txBody>
      </p:sp>
      <p:sp>
        <p:nvSpPr>
          <p:cNvPr id="7" name="">
            <a:extLst xmlns:a="http://schemas.openxmlformats.org/drawingml/2006/main">
              <a:ext uri="{FF2B5EF4-FFF2-40B4-BE49-F238E27FC236}">
                <a16:creationId xmlns:a16="http://schemas.microsoft.com/office/drawing/2014/main" id="{27B4B153-7DE2-4320-982B-0D48960CBDD1}"/>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34.197.588/0001-37 · DAY MAXX 2 FUNDO DE INVESTIMENTO EM DIREITOS CREDITÓRIOS DE RESPONSABILIDADE LIMITADA</a:t>
            </a:r>
          </a:p>
        </p:txBody>
      </p:sp>
      <p:sp>
        <p:nvSpPr>
          <p:cNvPr id="8" name="">
            <a:extLst xmlns:a="http://schemas.openxmlformats.org/drawingml/2006/main">
              <a:ext uri="{FF2B5EF4-FFF2-40B4-BE49-F238E27FC236}">
                <a16:creationId xmlns:a16="http://schemas.microsoft.com/office/drawing/2014/main" id="{52B19E35-CD4F-428C-976C-CE7406188CEF}"/>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980A4D31-FC8E-4725-B2F1-E0C647808EE9}"/>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F846496-5DB9-4727-9D86-03D84D268A01}"/>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349DA2B4-BD8D-4283-AEE4-643438E43345}"/>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Pessoas físicas ou jurídicas que cedam os direitos; nomes não identificados no regulamento.</a:t>
            </a:r>
          </a:p>
        </p:txBody>
      </p:sp>
      <p:sp>
        <p:nvSpPr>
          <p:cNvPr id="12" name="">
            <a:extLst xmlns:a="http://schemas.openxmlformats.org/drawingml/2006/main">
              <a:ext uri="{FF2B5EF4-FFF2-40B4-BE49-F238E27FC236}">
                <a16:creationId xmlns:a16="http://schemas.microsoft.com/office/drawing/2014/main" id="{1D3633FB-D437-42CD-8A33-31A8DC47ED88}"/>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B1D6A69D-DBCC-465C-8E0E-0031EC232FCF}"/>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Pessoas físicas, jurídicas e entes públicos, conforme os direitos adquiridos.</a:t>
            </a:r>
          </a:p>
        </p:txBody>
      </p:sp>
      <p:sp>
        <p:nvSpPr>
          <p:cNvPr id="14" name="">
            <a:extLst xmlns:a="http://schemas.openxmlformats.org/drawingml/2006/main">
              <a:ext uri="{FF2B5EF4-FFF2-40B4-BE49-F238E27FC236}">
                <a16:creationId xmlns:a16="http://schemas.microsoft.com/office/drawing/2014/main" id="{279B8000-6BDF-4204-A48A-15053DC51897}"/>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5E80CA9D-8542-443F-80D7-0D4FDB272E81}"/>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408"/>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A política permite títulos de crédito; recebíveis mercantis, de transporte, industriais e de serviços; contratos futuros; precatórios federais; direitos não padronizados; créditos de cedentes em recuperação judicial; e até 100% do PL em cotas de outros FIDC, inclusive mezanino/júnior.</a:t>
            </a:r>
          </a:p>
        </p:txBody>
      </p:sp>
      <p:sp>
        <p:nvSpPr>
          <p:cNvPr id="16" name="">
            <a:extLst xmlns:a="http://schemas.openxmlformats.org/drawingml/2006/main">
              <a:ext uri="{FF2B5EF4-FFF2-40B4-BE49-F238E27FC236}">
                <a16:creationId xmlns:a16="http://schemas.microsoft.com/office/drawing/2014/main" id="{405B29D7-895B-4185-B868-7F79B44D99AE}"/>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DEA6F9AC-E30A-4A4F-8777-A8790A5366BD}"/>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A política permite exposição direta a recebíveis/NPL e indireta via cotas de FIDC; o regulamento não comprova a composição efetiva em mai/26.</a:t>
            </a:r>
          </a:p>
        </p:txBody>
      </p:sp>
      <p:sp>
        <p:nvSpPr>
          <p:cNvPr id="18" name="">
            <a:extLst xmlns:a="http://schemas.openxmlformats.org/drawingml/2006/main">
              <a:ext uri="{FF2B5EF4-FFF2-40B4-BE49-F238E27FC236}">
                <a16:creationId xmlns:a16="http://schemas.microsoft.com/office/drawing/2014/main" id="{E69813EF-31F7-4986-9110-7543A721B85F}"/>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3DD807B8-6A3E-4049-A19D-F5737CE0889A}"/>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97C666B-8C2A-4338-BAB4-8FF22825F318}"/>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D8530E9D-43D7-4A78-B121-C618AA87F55D}"/>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Emissões relevantes não localizadas nas fontes consultadas.</a:t>
            </a:r>
          </a:p>
        </p:txBody>
      </p:sp>
      <p:sp>
        <p:nvSpPr>
          <p:cNvPr id="22" name="">
            <a:extLst xmlns:a="http://schemas.openxmlformats.org/drawingml/2006/main">
              <a:ext uri="{FF2B5EF4-FFF2-40B4-BE49-F238E27FC236}">
                <a16:creationId xmlns:a16="http://schemas.microsoft.com/office/drawing/2014/main" id="{046471C7-51D6-42FB-9934-4D9F2FE1362D}"/>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25ABD62E-1D4C-44BB-9552-066DB67E4A80}"/>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Cotas sênior, mezanino e júnior; índice mínimo de cotas subordinadas de 25% do PL. A amortização antecipada exige subordinação mínima de 30%. Garantias: Variam por direito; não há garantia uniforme da carteira.</a:t>
            </a:r>
          </a:p>
        </p:txBody>
      </p:sp>
      <p:sp>
        <p:nvSpPr>
          <p:cNvPr id="24" name="">
            <a:extLst xmlns:a="http://schemas.openxmlformats.org/drawingml/2006/main">
              <a:ext uri="{FF2B5EF4-FFF2-40B4-BE49-F238E27FC236}">
                <a16:creationId xmlns:a16="http://schemas.microsoft.com/office/drawing/2014/main" id="{EC96CA9D-4FD7-4C46-9616-24BD205512B7}"/>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4129B9BB-398F-48A3-8B69-2683FA1CE914}"/>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BANCO DAYCOVAL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DAYCOVAL ASSET MANAGEMENT ADMINISTRACAO DE RECURSOS LTDA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BANCO DAYCOVAL S.A.</a:t>
            </a:r>
          </a:p>
        </p:txBody>
      </p:sp>
      <p:sp>
        <p:nvSpPr>
          <p:cNvPr id="26" name="">
            <a:extLst xmlns:a="http://schemas.openxmlformats.org/drawingml/2006/main">
              <a:ext uri="{FF2B5EF4-FFF2-40B4-BE49-F238E27FC236}">
                <a16:creationId xmlns:a16="http://schemas.microsoft.com/office/drawing/2014/main" id="{13C3889F-D9AF-4B6E-A136-C13C6DB404DC}"/>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2AAA6178-2DFC-423B-A709-1E059B3036C8}"/>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Outros · Multicarteira Outros</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527B0720-04B7-4E69-9301-75FEA700DD47}"/>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441318BA-E256-45C3-82EF-66D06D018CF9}"/>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5/6 campos documentais preenchidos. Fonte: https://fnet.bmfbovespa.com.br/fnet/publico/abrirGerenciadorDocumentosCVM?cnpjFundo=34197588000137. Evidência: O cadastro ANBIMA traz Outros/Multicarteira Outros; a política documental é ampla e inclui NPL/precatórios.</a:t>
            </a:r>
          </a:p>
        </p:txBody>
      </p:sp>
    </p:spTree>
    <p:extLst>
      <p:ext uri="{BB962C8B-B14F-4D97-AF65-F5344CB8AC3E}">
        <p14:creationId xmlns:p14="http://schemas.microsoft.com/office/powerpoint/2010/main" val="145286370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0C4B6E35-471B-412B-A7D3-ABE6B191731D}"/>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CURADORIA TOP 20</a:t>
            </a:r>
          </a:p>
        </p:txBody>
      </p:sp>
      <p:sp>
        <p:nvSpPr>
          <p:cNvPr id="2" name="">
            <a:extLst xmlns:a="http://schemas.openxmlformats.org/drawingml/2006/main">
              <a:ext uri="{FF2B5EF4-FFF2-40B4-BE49-F238E27FC236}">
                <a16:creationId xmlns:a16="http://schemas.microsoft.com/office/drawing/2014/main" id="{B09B64AC-4F15-44B0-AAAD-9840BD0ED581}"/>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#20 ACR BEM — R$ 3,7 bi e 0,4% do PL ex-FIC</a:t>
            </a:r>
          </a:p>
        </p:txBody>
      </p:sp>
      <p:sp>
        <p:nvSpPr>
          <p:cNvPr id="3" name="">
            <a:extLst xmlns:a="http://schemas.openxmlformats.org/drawingml/2006/main">
              <a:ext uri="{FF2B5EF4-FFF2-40B4-BE49-F238E27FC236}">
                <a16:creationId xmlns:a16="http://schemas.microsoft.com/office/drawing/2014/main" id="{521CAED0-8770-4DC8-914B-50B4B74FE7CC}"/>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62F92E2-E33E-4289-A1EF-4C68563EBC3F}"/>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A76A67B-9DF6-49A0-A901-4B0738756B85}"/>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FundosNet, regulamento e documentos da oferta · consulta 2026-07-24</a:t>
            </a:r>
          </a:p>
        </p:txBody>
      </p:sp>
      <p:sp>
        <p:nvSpPr>
          <p:cNvPr id="6" name="">
            <a:extLst xmlns:a="http://schemas.openxmlformats.org/drawingml/2006/main">
              <a:ext uri="{FF2B5EF4-FFF2-40B4-BE49-F238E27FC236}">
                <a16:creationId xmlns:a16="http://schemas.microsoft.com/office/drawing/2014/main" id="{C192EC52-1005-42D4-B55C-03C730A8E5AB}"/>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53</a:t>
            </a:r>
          </a:p>
        </p:txBody>
      </p:sp>
      <p:sp>
        <p:nvSpPr>
          <p:cNvPr id="7" name="">
            <a:extLst xmlns:a="http://schemas.openxmlformats.org/drawingml/2006/main">
              <a:ext uri="{FF2B5EF4-FFF2-40B4-BE49-F238E27FC236}">
                <a16:creationId xmlns:a16="http://schemas.microsoft.com/office/drawing/2014/main" id="{A21B8CE9-23AD-40A4-9A93-127D6269828B}"/>
              </a:ext>
            </a:extLst>
          </p:cNvPr>
          <p:cNvSpPr>
            <a:spLocks xmlns:a="http://schemas.openxmlformats.org/drawingml/2006/main" noGrp="1"/>
          </p:cNvSpPr>
          <p:nvPr/>
        </p:nvSpPr>
        <p:spPr>
          <a:xfrm xmlns:a="http://schemas.openxmlformats.org/drawingml/2006/main">
            <a:off x="571500" y="12001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0">
                <a:solidFill>
                  <a:srgbClr val="8D9399"/>
                </a:solidFill>
                <a:latin typeface="Arial"/>
                <a:ea typeface="Arial"/>
                <a:cs typeface="Arial"/>
              </a:defRPr>
            </a:pPr>
            <a:r>
              <a:rPr sz="938" b="0">
                <a:solidFill>
                  <a:srgbClr val="8D9399"/>
                </a:solidFill>
                <a:latin typeface="Arial"/>
                <a:ea typeface="Arial"/>
                <a:cs typeface="Arial"/>
              </a:rPr>
              <a:t>54.979.779/0001-68 · FIDC ACR BEM BANCOS EMISSORES DE CARTÃO DE CRÉDITO - RESPONSABILIDADE LIMITADA</a:t>
            </a:r>
          </a:p>
        </p:txBody>
      </p:sp>
      <p:sp>
        <p:nvSpPr>
          <p:cNvPr id="8" name="">
            <a:extLst xmlns:a="http://schemas.openxmlformats.org/drawingml/2006/main">
              <a:ext uri="{FF2B5EF4-FFF2-40B4-BE49-F238E27FC236}">
                <a16:creationId xmlns:a16="http://schemas.microsoft.com/office/drawing/2014/main" id="{976CA345-0F72-4A3F-8A15-2797679AA201}"/>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MECÂNICA DO FUNDO</a:t>
            </a:r>
          </a:p>
        </p:txBody>
      </p:sp>
      <p:sp>
        <p:nvSpPr>
          <p:cNvPr id="9" name="">
            <a:extLst xmlns:a="http://schemas.openxmlformats.org/drawingml/2006/main">
              <a:ext uri="{FF2B5EF4-FFF2-40B4-BE49-F238E27FC236}">
                <a16:creationId xmlns:a16="http://schemas.microsoft.com/office/drawing/2014/main" id="{03BEAF8C-5094-4366-B68B-EEA91A003677}"/>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867308D-FC41-4C90-9B0C-BBAE53FFBFB7}"/>
              </a:ext>
            </a:extLst>
          </p:cNvPr>
          <p:cNvSpPr>
            <a:spLocks xmlns:a="http://schemas.openxmlformats.org/drawingml/2006/main" noGrp="1"/>
          </p:cNvSpPr>
          <p:nvPr/>
        </p:nvSpPr>
        <p:spPr>
          <a:xfrm xmlns:a="http://schemas.openxmlformats.org/drawingml/2006/main">
            <a:off x="571500"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CEDENTE / ORIGINADOR</a:t>
            </a:r>
          </a:p>
        </p:txBody>
      </p:sp>
      <p:sp>
        <p:nvSpPr>
          <p:cNvPr id="11" name="">
            <a:extLst xmlns:a="http://schemas.openxmlformats.org/drawingml/2006/main">
              <a:ext uri="{FF2B5EF4-FFF2-40B4-BE49-F238E27FC236}">
                <a16:creationId xmlns:a16="http://schemas.microsoft.com/office/drawing/2014/main" id="{ECBA86A9-894C-420F-BCB9-A19A09861F68}"/>
              </a:ext>
            </a:extLst>
          </p:cNvPr>
          <p:cNvSpPr>
            <a:spLocks xmlns:a="http://schemas.openxmlformats.org/drawingml/2006/main" noGrp="1"/>
          </p:cNvSpPr>
          <p:nvPr/>
        </p:nvSpPr>
        <p:spPr>
          <a:xfrm xmlns:a="http://schemas.openxmlformats.org/drawingml/2006/main">
            <a:off x="571500" y="22669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Stone Instituição de Pagamento S.A., como originadora e cedente dos recebíveis.</a:t>
            </a:r>
          </a:p>
        </p:txBody>
      </p:sp>
      <p:sp>
        <p:nvSpPr>
          <p:cNvPr id="12" name="">
            <a:extLst xmlns:a="http://schemas.openxmlformats.org/drawingml/2006/main">
              <a:ext uri="{FF2B5EF4-FFF2-40B4-BE49-F238E27FC236}">
                <a16:creationId xmlns:a16="http://schemas.microsoft.com/office/drawing/2014/main" id="{89F06C2A-724F-49D3-B7A6-3647B97F477C}"/>
              </a:ext>
            </a:extLst>
          </p:cNvPr>
          <p:cNvSpPr>
            <a:spLocks xmlns:a="http://schemas.openxmlformats.org/drawingml/2006/main" noGrp="1"/>
          </p:cNvSpPr>
          <p:nvPr/>
        </p:nvSpPr>
        <p:spPr>
          <a:xfrm xmlns:a="http://schemas.openxmlformats.org/drawingml/2006/main">
            <a:off x="571500" y="2781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SACADO / PERFIL DE DEVEDORES</a:t>
            </a:r>
          </a:p>
        </p:txBody>
      </p:sp>
      <p:sp>
        <p:nvSpPr>
          <p:cNvPr id="13" name="">
            <a:extLst xmlns:a="http://schemas.openxmlformats.org/drawingml/2006/main">
              <a:ext uri="{FF2B5EF4-FFF2-40B4-BE49-F238E27FC236}">
                <a16:creationId xmlns:a16="http://schemas.microsoft.com/office/drawing/2014/main" id="{1406A4A8-C7B0-4736-BF36-A9BED1F009CC}"/>
              </a:ext>
            </a:extLst>
          </p:cNvPr>
          <p:cNvSpPr>
            <a:spLocks xmlns:a="http://schemas.openxmlformats.org/drawingml/2006/main" noGrp="1"/>
          </p:cNvSpPr>
          <p:nvPr/>
        </p:nvSpPr>
        <p:spPr>
          <a:xfrm xmlns:a="http://schemas.openxmlformats.org/drawingml/2006/main">
            <a:off x="571500" y="2990850"/>
            <a:ext cx="5286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Emissores de cartões e demais instituições financeiras responsáveis pela liquidação das transações.</a:t>
            </a:r>
          </a:p>
        </p:txBody>
      </p:sp>
      <p:sp>
        <p:nvSpPr>
          <p:cNvPr id="14" name="">
            <a:extLst xmlns:a="http://schemas.openxmlformats.org/drawingml/2006/main">
              <a:ext uri="{FF2B5EF4-FFF2-40B4-BE49-F238E27FC236}">
                <a16:creationId xmlns:a16="http://schemas.microsoft.com/office/drawing/2014/main" id="{03F9C1CC-DB10-4E27-9D8B-176D463B6748}"/>
              </a:ext>
            </a:extLst>
          </p:cNvPr>
          <p:cNvSpPr>
            <a:spLocks xmlns:a="http://schemas.openxmlformats.org/drawingml/2006/main" noGrp="1"/>
          </p:cNvSpPr>
          <p:nvPr/>
        </p:nvSpPr>
        <p:spPr>
          <a:xfrm xmlns:a="http://schemas.openxmlformats.org/drawingml/2006/main">
            <a:off x="571500" y="3505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NATUREZA DOS RECEBÍVEIS</a:t>
            </a:r>
          </a:p>
        </p:txBody>
      </p:sp>
      <p:sp>
        <p:nvSpPr>
          <p:cNvPr id="15" name="">
            <a:extLst xmlns:a="http://schemas.openxmlformats.org/drawingml/2006/main">
              <a:ext uri="{FF2B5EF4-FFF2-40B4-BE49-F238E27FC236}">
                <a16:creationId xmlns:a16="http://schemas.microsoft.com/office/drawing/2014/main" id="{BAE3886A-8917-4E1D-9F83-C50AED141113}"/>
              </a:ext>
            </a:extLst>
          </p:cNvPr>
          <p:cNvSpPr>
            <a:spLocks xmlns:a="http://schemas.openxmlformats.org/drawingml/2006/main" noGrp="1"/>
          </p:cNvSpPr>
          <p:nvPr/>
        </p:nvSpPr>
        <p:spPr>
          <a:xfrm xmlns:a="http://schemas.openxmlformats.org/drawingml/2006/main">
            <a:off x="571500" y="3714750"/>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Direitos creditórios oriundos de transações de pagamento processadas no sistema Stone.</a:t>
            </a:r>
          </a:p>
        </p:txBody>
      </p:sp>
      <p:sp>
        <p:nvSpPr>
          <p:cNvPr id="16" name="">
            <a:extLst xmlns:a="http://schemas.openxmlformats.org/drawingml/2006/main">
              <a:ext uri="{FF2B5EF4-FFF2-40B4-BE49-F238E27FC236}">
                <a16:creationId xmlns:a16="http://schemas.microsoft.com/office/drawing/2014/main" id="{ADB1FB94-73C1-43A9-99F9-50E8A046BE26}"/>
              </a:ext>
            </a:extLst>
          </p:cNvPr>
          <p:cNvSpPr>
            <a:spLocks xmlns:a="http://schemas.openxmlformats.org/drawingml/2006/main" noGrp="1"/>
          </p:cNvSpPr>
          <p:nvPr/>
        </p:nvSpPr>
        <p:spPr>
          <a:xfrm xmlns:a="http://schemas.openxmlformats.org/drawingml/2006/main">
            <a:off x="571500" y="43053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FUNCIONAMENTO ECONÔMICO</a:t>
            </a:r>
          </a:p>
        </p:txBody>
      </p:sp>
      <p:sp>
        <p:nvSpPr>
          <p:cNvPr id="17" name="">
            <a:extLst xmlns:a="http://schemas.openxmlformats.org/drawingml/2006/main">
              <a:ext uri="{FF2B5EF4-FFF2-40B4-BE49-F238E27FC236}">
                <a16:creationId xmlns:a16="http://schemas.microsoft.com/office/drawing/2014/main" id="{4A83038A-8ABB-4F63-93BB-A5A4F8D2F13E}"/>
              </a:ext>
            </a:extLst>
          </p:cNvPr>
          <p:cNvSpPr>
            <a:spLocks xmlns:a="http://schemas.openxmlformats.org/drawingml/2006/main" noGrp="1"/>
          </p:cNvSpPr>
          <p:nvPr/>
        </p:nvSpPr>
        <p:spPr>
          <a:xfrm xmlns:a="http://schemas.openxmlformats.org/drawingml/2006/main">
            <a:off x="571500" y="4514850"/>
            <a:ext cx="52863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13" b="0">
                <a:solidFill>
                  <a:srgbClr val="30353A"/>
                </a:solidFill>
                <a:latin typeface="Arial"/>
                <a:ea typeface="Arial"/>
                <a:cs typeface="Arial"/>
              </a:defRPr>
            </a:pPr>
            <a:r>
              <a:rPr sz="1013" b="0">
                <a:solidFill>
                  <a:srgbClr val="30353A"/>
                </a:solidFill>
                <a:latin typeface="Arial"/>
                <a:ea typeface="Arial"/>
                <a:cs typeface="Arial"/>
              </a:rPr>
              <a:t>A Stone cede ao fundo recebíveis de liquidação de transações de pagamento; os devedores são os bancos emissores dos cartões.</a:t>
            </a:r>
          </a:p>
        </p:txBody>
      </p:sp>
      <p:sp>
        <p:nvSpPr>
          <p:cNvPr id="18" name="">
            <a:extLst xmlns:a="http://schemas.openxmlformats.org/drawingml/2006/main">
              <a:ext uri="{FF2B5EF4-FFF2-40B4-BE49-F238E27FC236}">
                <a16:creationId xmlns:a16="http://schemas.microsoft.com/office/drawing/2014/main" id="{661FF192-FC69-42DC-8550-A668A2B59427}"/>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CAPITAL, EMISSÕES E GOVERNANÇA</a:t>
            </a:r>
          </a:p>
        </p:txBody>
      </p:sp>
      <p:sp>
        <p:nvSpPr>
          <p:cNvPr id="19" name="">
            <a:extLst xmlns:a="http://schemas.openxmlformats.org/drawingml/2006/main">
              <a:ext uri="{FF2B5EF4-FFF2-40B4-BE49-F238E27FC236}">
                <a16:creationId xmlns:a16="http://schemas.microsoft.com/office/drawing/2014/main" id="{DDD606D9-A047-46D1-87C4-3B6221DC7D1C}"/>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C6FA40E-9BCD-4AD2-A4F2-9791DE1B6C33}"/>
              </a:ext>
            </a:extLst>
          </p:cNvPr>
          <p:cNvSpPr>
            <a:spLocks xmlns:a="http://schemas.openxmlformats.org/drawingml/2006/main" noGrp="1"/>
          </p:cNvSpPr>
          <p:nvPr/>
        </p:nvSpPr>
        <p:spPr>
          <a:xfrm xmlns:a="http://schemas.openxmlformats.org/drawingml/2006/main">
            <a:off x="6334125" y="20574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EMISSÕES / EVENTOS RELEVANTES</a:t>
            </a:r>
          </a:p>
        </p:txBody>
      </p:sp>
      <p:sp>
        <p:nvSpPr>
          <p:cNvPr id="21" name="">
            <a:extLst xmlns:a="http://schemas.openxmlformats.org/drawingml/2006/main">
              <a:ext uri="{FF2B5EF4-FFF2-40B4-BE49-F238E27FC236}">
                <a16:creationId xmlns:a16="http://schemas.microsoft.com/office/drawing/2014/main" id="{66D3CDBB-A604-47E3-95CD-89E94A655A54}"/>
              </a:ext>
            </a:extLst>
          </p:cNvPr>
          <p:cNvSpPr>
            <a:spLocks xmlns:a="http://schemas.openxmlformats.org/drawingml/2006/main" noGrp="1"/>
          </p:cNvSpPr>
          <p:nvPr/>
        </p:nvSpPr>
        <p:spPr>
          <a:xfrm xmlns:a="http://schemas.openxmlformats.org/drawingml/2006/main">
            <a:off x="6334125" y="2266950"/>
            <a:ext cx="5286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Em 2024, duas ofertas encerradas: R$ 3,5 bi em garantia firme e R$ 108,25 mi em melhores esforços; coordenador líder Bradesco BBI.</a:t>
            </a:r>
          </a:p>
        </p:txBody>
      </p:sp>
      <p:sp>
        <p:nvSpPr>
          <p:cNvPr id="22" name="">
            <a:extLst xmlns:a="http://schemas.openxmlformats.org/drawingml/2006/main">
              <a:ext uri="{FF2B5EF4-FFF2-40B4-BE49-F238E27FC236}">
                <a16:creationId xmlns:a16="http://schemas.microsoft.com/office/drawing/2014/main" id="{0BF0C71F-FC70-419D-8F5E-F9C252F56BCD}"/>
              </a:ext>
            </a:extLst>
          </p:cNvPr>
          <p:cNvSpPr>
            <a:spLocks xmlns:a="http://schemas.openxmlformats.org/drawingml/2006/main" noGrp="1"/>
          </p:cNvSpPr>
          <p:nvPr/>
        </p:nvSpPr>
        <p:spPr>
          <a:xfrm xmlns:a="http://schemas.openxmlformats.org/drawingml/2006/main">
            <a:off x="6334125" y="3048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CLASSES, SUBORDINAÇÃO E GARANTIAS</a:t>
            </a:r>
          </a:p>
        </p:txBody>
      </p:sp>
      <p:sp>
        <p:nvSpPr>
          <p:cNvPr id="23" name="">
            <a:extLst xmlns:a="http://schemas.openxmlformats.org/drawingml/2006/main">
              <a:ext uri="{FF2B5EF4-FFF2-40B4-BE49-F238E27FC236}">
                <a16:creationId xmlns:a16="http://schemas.microsoft.com/office/drawing/2014/main" id="{DFDD612F-A325-400D-91E0-E5899D3264F0}"/>
              </a:ext>
            </a:extLst>
          </p:cNvPr>
          <p:cNvSpPr>
            <a:spLocks xmlns:a="http://schemas.openxmlformats.org/drawingml/2006/main" noGrp="1"/>
          </p:cNvSpPr>
          <p:nvPr/>
        </p:nvSpPr>
        <p:spPr>
          <a:xfrm xmlns:a="http://schemas.openxmlformats.org/drawingml/2006/main">
            <a:off x="6334125" y="32575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Cotas sênior e subordinadas; regras de subordinação e eventos constam do regulamento. Garantias: Mecanismos de elegibilidade, concentração e subordinação previstos no regulamento; garantia uniforme adicional não identificada.</a:t>
            </a:r>
          </a:p>
        </p:txBody>
      </p:sp>
      <p:sp>
        <p:nvSpPr>
          <p:cNvPr id="24" name="">
            <a:extLst xmlns:a="http://schemas.openxmlformats.org/drawingml/2006/main">
              <a:ext uri="{FF2B5EF4-FFF2-40B4-BE49-F238E27FC236}">
                <a16:creationId xmlns:a16="http://schemas.microsoft.com/office/drawing/2014/main" id="{96B87388-F80C-4EAC-BCCF-02A1A7C4A732}"/>
              </a:ext>
            </a:extLst>
          </p:cNvPr>
          <p:cNvSpPr>
            <a:spLocks xmlns:a="http://schemas.openxmlformats.org/drawingml/2006/main" noGrp="1"/>
          </p:cNvSpPr>
          <p:nvPr/>
        </p:nvSpPr>
        <p:spPr>
          <a:xfrm xmlns:a="http://schemas.openxmlformats.org/drawingml/2006/main">
            <a:off x="6334125" y="40005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PRESTADORES</a:t>
            </a:r>
          </a:p>
        </p:txBody>
      </p:sp>
      <p:sp>
        <p:nvSpPr>
          <p:cNvPr id="25" name="">
            <a:extLst xmlns:a="http://schemas.openxmlformats.org/drawingml/2006/main">
              <a:ext uri="{FF2B5EF4-FFF2-40B4-BE49-F238E27FC236}">
                <a16:creationId xmlns:a16="http://schemas.microsoft.com/office/drawing/2014/main" id="{813B89C8-28B3-49C1-B1D6-7041BE54744E}"/>
              </a:ext>
            </a:extLst>
          </p:cNvPr>
          <p:cNvSpPr>
            <a:spLocks xmlns:a="http://schemas.openxmlformats.org/drawingml/2006/main" noGrp="1"/>
          </p:cNvSpPr>
          <p:nvPr/>
        </p:nvSpPr>
        <p:spPr>
          <a:xfrm xmlns:a="http://schemas.openxmlformats.org/drawingml/2006/main">
            <a:off x="6334125" y="4210050"/>
            <a:ext cx="5286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Administrador: BEM - DISTRIBUIDORA DE TITULOS E VALORES MOBILIARIOS LTDA.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Gestor: BANCO BRADESCO S.A.</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Custodiante: BANCO BRADESCO S.A.</a:t>
            </a:r>
          </a:p>
        </p:txBody>
      </p:sp>
      <p:sp>
        <p:nvSpPr>
          <p:cNvPr id="26" name="">
            <a:extLst xmlns:a="http://schemas.openxmlformats.org/drawingml/2006/main">
              <a:ext uri="{FF2B5EF4-FFF2-40B4-BE49-F238E27FC236}">
                <a16:creationId xmlns:a16="http://schemas.microsoft.com/office/drawing/2014/main" id="{E2C41957-D50B-403D-96AE-5F42CA173554}"/>
              </a:ext>
            </a:extLst>
          </p:cNvPr>
          <p:cNvSpPr>
            <a:spLocks xmlns:a="http://schemas.openxmlformats.org/drawingml/2006/main" noGrp="1"/>
          </p:cNvSpPr>
          <p:nvPr/>
        </p:nvSpPr>
        <p:spPr>
          <a:xfrm xmlns:a="http://schemas.openxmlformats.org/drawingml/2006/main">
            <a:off x="6334125" y="49530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788" b="1">
                <a:solidFill>
                  <a:srgbClr val="EC7000"/>
                </a:solidFill>
                <a:latin typeface="Arial"/>
                <a:ea typeface="Arial"/>
                <a:cs typeface="Arial"/>
              </a:defRPr>
            </a:pPr>
            <a:r>
              <a:rPr sz="788" b="1">
                <a:solidFill>
                  <a:srgbClr val="EC7000"/>
                </a:solidFill>
                <a:latin typeface="Arial"/>
                <a:ea typeface="Arial"/>
                <a:cs typeface="Arial"/>
              </a:rPr>
              <a:t>TIPO / FOCO ANBIMA</a:t>
            </a:r>
          </a:p>
        </p:txBody>
      </p:sp>
      <p:sp>
        <p:nvSpPr>
          <p:cNvPr id="27" name="">
            <a:extLst xmlns:a="http://schemas.openxmlformats.org/drawingml/2006/main">
              <a:ext uri="{FF2B5EF4-FFF2-40B4-BE49-F238E27FC236}">
                <a16:creationId xmlns:a16="http://schemas.microsoft.com/office/drawing/2014/main" id="{01F9DA25-9A42-4346-8D08-BC078CE2AF0D}"/>
              </a:ext>
            </a:extLst>
          </p:cNvPr>
          <p:cNvSpPr>
            <a:spLocks xmlns:a="http://schemas.openxmlformats.org/drawingml/2006/main" noGrp="1"/>
          </p:cNvSpPr>
          <p:nvPr/>
        </p:nvSpPr>
        <p:spPr>
          <a:xfrm xmlns:a="http://schemas.openxmlformats.org/drawingml/2006/main">
            <a:off x="6334125" y="5162550"/>
            <a:ext cx="5286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Financeiro · Multicarteira Financeiro</a:t>
            </a:r>
          </a:p>
          <a:p xmlns:a="http://schemas.openxmlformats.org/drawingml/2006/main">
            <a:pPr algn="l">
              <a:lnSpc>
                <a:spcPct val="101000"/>
              </a:lnSpc>
              <a:buNone/>
              <a:defRPr sz="975" b="0">
                <a:solidFill>
                  <a:srgbClr val="30353A"/>
                </a:solidFill>
                <a:latin typeface="Arial"/>
                <a:ea typeface="Arial"/>
                <a:cs typeface="Arial"/>
              </a:defRPr>
            </a:pPr>
            <a:r>
              <a:rPr sz="975" b="0">
                <a:solidFill>
                  <a:srgbClr val="30353A"/>
                </a:solidFill>
                <a:latin typeface="Arial"/>
                <a:ea typeface="Arial"/>
                <a:cs typeface="Arial"/>
              </a:rPr>
              <a:t>Origem: Classificação oficial ANBIMA por CNPJ da classe</a:t>
            </a:r>
          </a:p>
        </p:txBody>
      </p:sp>
      <p:sp>
        <p:nvSpPr>
          <p:cNvPr id="28" name="">
            <a:extLst xmlns:a="http://schemas.openxmlformats.org/drawingml/2006/main">
              <a:ext uri="{FF2B5EF4-FFF2-40B4-BE49-F238E27FC236}">
                <a16:creationId xmlns:a16="http://schemas.microsoft.com/office/drawing/2014/main" id="{8DB8EA17-D0F4-4F5A-B3C7-8EB395DC2F56}"/>
              </a:ext>
            </a:extLst>
          </p:cNvPr>
          <p:cNvSpPr>
            <a:spLocks xmlns:a="http://schemas.openxmlformats.org/drawingml/2006/main" noGrp="1"/>
          </p:cNvSpPr>
          <p:nvPr/>
        </p:nvSpPr>
        <p:spPr>
          <a:xfrm xmlns:a="http://schemas.openxmlformats.org/drawingml/2006/main">
            <a:off x="571500" y="57721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357634F-62BE-468F-8BF0-45DA13B222D9}"/>
              </a:ext>
            </a:extLst>
          </p:cNvPr>
          <p:cNvSpPr>
            <a:spLocks xmlns:a="http://schemas.openxmlformats.org/drawingml/2006/main" noGrp="1"/>
          </p:cNvSpPr>
          <p:nvPr/>
        </p:nvSpPr>
        <p:spPr>
          <a:xfrm xmlns:a="http://schemas.openxmlformats.org/drawingml/2006/main">
            <a:off x="571500" y="5848350"/>
            <a:ext cx="1104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660" b="0">
                <a:solidFill>
                  <a:srgbClr val="8D9399"/>
                </a:solidFill>
                <a:latin typeface="Arial"/>
                <a:ea typeface="Arial"/>
                <a:cs typeface="Arial"/>
              </a:defRPr>
            </a:pPr>
            <a:r>
              <a:rPr sz="660" b="0">
                <a:solidFill>
                  <a:srgbClr val="8D9399"/>
                </a:solidFill>
                <a:latin typeface="Arial"/>
                <a:ea typeface="Arial"/>
                <a:cs typeface="Arial"/>
              </a:rPr>
              <a:t>Cobertura documental: 6/6 campos documentais preenchidos. Fonte: FundosNet, Regulamento id 656484 de 09/05/2024 e Informe de Encerramento id 664301 de 15/05/2024. Evidência: A documentação identifica a cadeia de pagamentos, os emissores de cartão como devedores e as ofertas encerradas.</a:t>
            </a:r>
          </a:p>
        </p:txBody>
      </p:sp>
    </p:spTree>
    <p:extLst>
      <p:ext uri="{BB962C8B-B14F-4D97-AF65-F5344CB8AC3E}">
        <p14:creationId xmlns:p14="http://schemas.microsoft.com/office/powerpoint/2010/main" val="142903593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6A46D36B-AEB2-400F-92BD-1BD92AC9F018}"/>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PRESTADORES · EVOLUÇÃO E RANKING</a:t>
            </a:r>
          </a:p>
        </p:txBody>
      </p:sp>
      <p:sp>
        <p:nvSpPr>
          <p:cNvPr id="2" name="">
            <a:extLst xmlns:a="http://schemas.openxmlformats.org/drawingml/2006/main">
              <a:ext uri="{FF2B5EF4-FFF2-40B4-BE49-F238E27FC236}">
                <a16:creationId xmlns:a16="http://schemas.microsoft.com/office/drawing/2014/main" id="{3713015F-A9B3-4CFC-98A4-5D5C722AF3C1}"/>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QI lidera administração; BTG lidera gestão e custódia no ranking geral de jun/26</a:t>
            </a:r>
          </a:p>
        </p:txBody>
      </p:sp>
      <p:sp>
        <p:nvSpPr>
          <p:cNvPr id="3" name="">
            <a:extLst xmlns:a="http://schemas.openxmlformats.org/drawingml/2006/main">
              <a:ext uri="{FF2B5EF4-FFF2-40B4-BE49-F238E27FC236}">
                <a16:creationId xmlns:a16="http://schemas.microsoft.com/office/drawing/2014/main" id="{5E32EE18-6917-4A1E-B0C1-ACDCA47CFC64}"/>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DEBCF60-EA85-43BB-8600-80F131CECFC9}"/>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3EE5191-BC7A-4AF6-9C4A-76B014F173C1}"/>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 Informe Mensal e cadastro de prestadores, jun/26. Exclui Sistema Petrobras e TAPSO. *Independentes: grupos sem controlador bancário na curadoria; Singulare consolidada em QI Tech e Kanastra no Itaú.</a:t>
            </a:r>
          </a:p>
        </p:txBody>
      </p:sp>
      <p:sp>
        <p:nvSpPr>
          <p:cNvPr id="6" name="">
            <a:extLst xmlns:a="http://schemas.openxmlformats.org/drawingml/2006/main">
              <a:ext uri="{FF2B5EF4-FFF2-40B4-BE49-F238E27FC236}">
                <a16:creationId xmlns:a16="http://schemas.microsoft.com/office/drawing/2014/main" id="{21AA9461-0171-418A-AD36-39695E888BE7}"/>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54</a:t>
            </a:r>
          </a:p>
        </p:txBody>
      </p:sp>
      <p:graphicFrame>
        <p:nvGraphicFramePr>
          <p:cNvPr id="28" name="Chart"/>
          <p:cNvGraphicFramePr/>
          <p:nvPr/>
        </p:nvGraphicFramePr>
        <p:xfrm>
          <a:off xmlns:a="http://schemas.openxmlformats.org/drawingml/2006/main" x="1524000" y="1133475"/>
          <a:ext xmlns:a="http://schemas.openxmlformats.org/drawingml/2006/main" cx="9144000" cy="209550"/>
        </p:xfrm>
        <a:graphic xmlns:a="http://schemas.openxmlformats.org/drawingml/2006/main">
          <a:graphicData uri="http://schemas.openxmlformats.org/drawingml/2006/chart">
            <c:chart xmlns:r="http://schemas.openxmlformats.org/officeDocument/2006/relationships" xmlns:c="http://schemas.openxmlformats.org/drawingml/2006/chart" r:id="Rd7606383a91b4db0"/>
          </a:graphicData>
        </a:graphic>
      </p:graphicFrame>
      <p:sp>
        <p:nvSpPr>
          <p:cNvPr id="8" name="">
            <a:extLst xmlns:a="http://schemas.openxmlformats.org/drawingml/2006/main">
              <a:ext uri="{FF2B5EF4-FFF2-40B4-BE49-F238E27FC236}">
                <a16:creationId xmlns:a16="http://schemas.microsoft.com/office/drawing/2014/main" id="{5FB85E54-EEB1-4963-8614-63961E4A6DF0}"/>
              </a:ext>
            </a:extLst>
          </p:cNvPr>
          <p:cNvSpPr>
            <a:spLocks xmlns:a="http://schemas.openxmlformats.org/drawingml/2006/main" noGrp="1"/>
          </p:cNvSpPr>
          <p:nvPr/>
        </p:nvSpPr>
        <p:spPr>
          <a:xfrm xmlns:a="http://schemas.openxmlformats.org/drawingml/2006/main">
            <a:off x="571500" y="1362075"/>
            <a:ext cx="5286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38" b="1">
                <a:solidFill>
                  <a:srgbClr val="30353A"/>
                </a:solidFill>
                <a:latin typeface="Arial"/>
                <a:ea typeface="Arial"/>
                <a:cs typeface="Arial"/>
              </a:defRPr>
            </a:pPr>
            <a:r>
              <a:rPr sz="938" b="1">
                <a:solidFill>
                  <a:srgbClr val="30353A"/>
                </a:solidFill>
                <a:latin typeface="Arial"/>
                <a:ea typeface="Arial"/>
                <a:cs typeface="Arial"/>
              </a:rPr>
              <a:t>TODOS OS PRESTADORES</a:t>
            </a:r>
          </a:p>
        </p:txBody>
      </p:sp>
      <p:sp>
        <p:nvSpPr>
          <p:cNvPr id="9" name="">
            <a:extLst xmlns:a="http://schemas.openxmlformats.org/drawingml/2006/main">
              <a:ext uri="{FF2B5EF4-FFF2-40B4-BE49-F238E27FC236}">
                <a16:creationId xmlns:a16="http://schemas.microsoft.com/office/drawing/2014/main" id="{8179598B-B007-4D56-BCE5-0BD934D79D94}"/>
              </a:ext>
            </a:extLst>
          </p:cNvPr>
          <p:cNvSpPr>
            <a:spLocks xmlns:a="http://schemas.openxmlformats.org/drawingml/2006/main" noGrp="1"/>
          </p:cNvSpPr>
          <p:nvPr/>
        </p:nvSpPr>
        <p:spPr>
          <a:xfrm xmlns:a="http://schemas.openxmlformats.org/drawingml/2006/main">
            <a:off x="6334125" y="1362075"/>
            <a:ext cx="5286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38" b="1">
                <a:solidFill>
                  <a:srgbClr val="30353A"/>
                </a:solidFill>
                <a:latin typeface="Arial"/>
                <a:ea typeface="Arial"/>
                <a:cs typeface="Arial"/>
              </a:defRPr>
            </a:pPr>
            <a:r>
              <a:rPr sz="938" b="1">
                <a:solidFill>
                  <a:srgbClr val="30353A"/>
                </a:solidFill>
                <a:latin typeface="Arial"/>
                <a:ea typeface="Arial"/>
                <a:cs typeface="Arial"/>
              </a:rPr>
              <a:t>INDEPENDENTES*</a:t>
            </a:r>
          </a:p>
        </p:txBody>
      </p:sp>
      <p:sp>
        <p:nvSpPr>
          <p:cNvPr id="10" name="">
            <a:extLst xmlns:a="http://schemas.openxmlformats.org/drawingml/2006/main">
              <a:ext uri="{FF2B5EF4-FFF2-40B4-BE49-F238E27FC236}">
                <a16:creationId xmlns:a16="http://schemas.microsoft.com/office/drawing/2014/main" id="{3CC8709E-976E-4E96-83A4-2E8B5FD80450}"/>
              </a:ext>
            </a:extLst>
          </p:cNvPr>
          <p:cNvSpPr>
            <a:spLocks xmlns:a="http://schemas.openxmlformats.org/drawingml/2006/main" noGrp="1"/>
          </p:cNvSpPr>
          <p:nvPr/>
        </p:nvSpPr>
        <p:spPr>
          <a:xfrm xmlns:a="http://schemas.openxmlformats.org/drawingml/2006/main">
            <a:off x="571500" y="158115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788" b="1">
                <a:solidFill>
                  <a:srgbClr val="8D9399"/>
                </a:solidFill>
                <a:latin typeface="Arial"/>
                <a:ea typeface="Arial"/>
                <a:cs typeface="Arial"/>
              </a:defRPr>
            </a:pPr>
            <a:r>
              <a:rPr sz="788" b="1">
                <a:solidFill>
                  <a:srgbClr val="8D9399"/>
                </a:solidFill>
                <a:latin typeface="Arial"/>
                <a:ea typeface="Arial"/>
                <a:cs typeface="Arial"/>
              </a:rPr>
              <a:t>ADMINISTRAÇÃO · RANKING GERAL</a:t>
            </a:r>
          </a:p>
        </p:txBody>
      </p:sp>
      <p:graphicFrame>
        <p:nvGraphicFramePr>
          <p:cNvPr id="32" name="Chart"/>
          <p:cNvGraphicFramePr/>
          <p:nvPr/>
        </p:nvGraphicFramePr>
        <p:xfrm>
          <a:off xmlns:a="http://schemas.openxmlformats.org/drawingml/2006/main" x="571500" y="1752600"/>
          <a:ext xmlns:a="http://schemas.openxmlformats.org/drawingml/2006/main" cx="5286375" cy="1333500"/>
        </p:xfrm>
        <a:graphic xmlns:a="http://schemas.openxmlformats.org/drawingml/2006/main">
          <a:graphicData uri="http://schemas.openxmlformats.org/drawingml/2006/chart">
            <c:chart xmlns:r="http://schemas.openxmlformats.org/officeDocument/2006/relationships" xmlns:c="http://schemas.openxmlformats.org/drawingml/2006/chart" r:id="Rc4ae9021733f47d9"/>
          </a:graphicData>
        </a:graphic>
      </p:graphicFrame>
      <p:sp>
        <p:nvSpPr>
          <p:cNvPr id="12" name="">
            <a:extLst xmlns:a="http://schemas.openxmlformats.org/drawingml/2006/main">
              <a:ext uri="{FF2B5EF4-FFF2-40B4-BE49-F238E27FC236}">
                <a16:creationId xmlns:a16="http://schemas.microsoft.com/office/drawing/2014/main" id="{1A961099-A1B8-439C-8047-E06EFE8E18CB}"/>
              </a:ext>
            </a:extLst>
          </p:cNvPr>
          <p:cNvSpPr>
            <a:spLocks xmlns:a="http://schemas.openxmlformats.org/drawingml/2006/main" noGrp="1"/>
          </p:cNvSpPr>
          <p:nvPr/>
        </p:nvSpPr>
        <p:spPr>
          <a:xfrm xmlns:a="http://schemas.openxmlformats.org/drawingml/2006/main">
            <a:off x="6334125" y="158115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788" b="1">
                <a:solidFill>
                  <a:srgbClr val="8D9399"/>
                </a:solidFill>
                <a:latin typeface="Arial"/>
                <a:ea typeface="Arial"/>
                <a:cs typeface="Arial"/>
              </a:defRPr>
            </a:pPr>
            <a:r>
              <a:rPr sz="788" b="1">
                <a:solidFill>
                  <a:srgbClr val="8D9399"/>
                </a:solidFill>
                <a:latin typeface="Arial"/>
                <a:ea typeface="Arial"/>
                <a:cs typeface="Arial"/>
              </a:rPr>
              <a:t>ADMINISTRAÇÃO · RANKING INDEPENDENTE</a:t>
            </a:r>
          </a:p>
        </p:txBody>
      </p:sp>
      <p:graphicFrame>
        <p:nvGraphicFramePr>
          <p:cNvPr id="34" name="Chart"/>
          <p:cNvGraphicFramePr/>
          <p:nvPr/>
        </p:nvGraphicFramePr>
        <p:xfrm>
          <a:off xmlns:a="http://schemas.openxmlformats.org/drawingml/2006/main" x="6334125" y="1752600"/>
          <a:ext xmlns:a="http://schemas.openxmlformats.org/drawingml/2006/main" cx="5286375" cy="1333500"/>
        </p:xfrm>
        <a:graphic xmlns:a="http://schemas.openxmlformats.org/drawingml/2006/main">
          <a:graphicData uri="http://schemas.openxmlformats.org/drawingml/2006/chart">
            <c:chart xmlns:r="http://schemas.openxmlformats.org/officeDocument/2006/relationships" xmlns:c="http://schemas.openxmlformats.org/drawingml/2006/chart" r:id="R0fb029ada5df4d8a"/>
          </a:graphicData>
        </a:graphic>
      </p:graphicFrame>
      <p:sp>
        <p:nvSpPr>
          <p:cNvPr id="14" name="">
            <a:extLst xmlns:a="http://schemas.openxmlformats.org/drawingml/2006/main">
              <a:ext uri="{FF2B5EF4-FFF2-40B4-BE49-F238E27FC236}">
                <a16:creationId xmlns:a16="http://schemas.microsoft.com/office/drawing/2014/main" id="{86A55237-BBD7-4971-A4AD-C7189768F1BF}"/>
              </a:ext>
            </a:extLst>
          </p:cNvPr>
          <p:cNvSpPr>
            <a:spLocks xmlns:a="http://schemas.openxmlformats.org/drawingml/2006/main" noGrp="1"/>
          </p:cNvSpPr>
          <p:nvPr/>
        </p:nvSpPr>
        <p:spPr>
          <a:xfrm xmlns:a="http://schemas.openxmlformats.org/drawingml/2006/main">
            <a:off x="571500" y="3114675"/>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788" b="1">
                <a:solidFill>
                  <a:srgbClr val="8D9399"/>
                </a:solidFill>
                <a:latin typeface="Arial"/>
                <a:ea typeface="Arial"/>
                <a:cs typeface="Arial"/>
              </a:defRPr>
            </a:pPr>
            <a:r>
              <a:rPr sz="788" b="1">
                <a:solidFill>
                  <a:srgbClr val="8D9399"/>
                </a:solidFill>
                <a:latin typeface="Arial"/>
                <a:ea typeface="Arial"/>
                <a:cs typeface="Arial"/>
              </a:rPr>
              <a:t>GESTÃO · RANKING GERAL</a:t>
            </a:r>
          </a:p>
        </p:txBody>
      </p:sp>
      <p:graphicFrame>
        <p:nvGraphicFramePr>
          <p:cNvPr id="36" name="Chart"/>
          <p:cNvGraphicFramePr/>
          <p:nvPr/>
        </p:nvGraphicFramePr>
        <p:xfrm>
          <a:off xmlns:a="http://schemas.openxmlformats.org/drawingml/2006/main" x="571500" y="3286125"/>
          <a:ext xmlns:a="http://schemas.openxmlformats.org/drawingml/2006/main" cx="5286375" cy="1333500"/>
        </p:xfrm>
        <a:graphic xmlns:a="http://schemas.openxmlformats.org/drawingml/2006/main">
          <a:graphicData uri="http://schemas.openxmlformats.org/drawingml/2006/chart">
            <c:chart xmlns:r="http://schemas.openxmlformats.org/officeDocument/2006/relationships" xmlns:c="http://schemas.openxmlformats.org/drawingml/2006/chart" r:id="Rf3307e24eea64030"/>
          </a:graphicData>
        </a:graphic>
      </p:graphicFrame>
      <p:sp>
        <p:nvSpPr>
          <p:cNvPr id="16" name="">
            <a:extLst xmlns:a="http://schemas.openxmlformats.org/drawingml/2006/main">
              <a:ext uri="{FF2B5EF4-FFF2-40B4-BE49-F238E27FC236}">
                <a16:creationId xmlns:a16="http://schemas.microsoft.com/office/drawing/2014/main" id="{2FEA7959-650F-41B9-8603-18EFB1D0FF08}"/>
              </a:ext>
            </a:extLst>
          </p:cNvPr>
          <p:cNvSpPr>
            <a:spLocks xmlns:a="http://schemas.openxmlformats.org/drawingml/2006/main" noGrp="1"/>
          </p:cNvSpPr>
          <p:nvPr/>
        </p:nvSpPr>
        <p:spPr>
          <a:xfrm xmlns:a="http://schemas.openxmlformats.org/drawingml/2006/main">
            <a:off x="6334125" y="3114675"/>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788" b="1">
                <a:solidFill>
                  <a:srgbClr val="8D9399"/>
                </a:solidFill>
                <a:latin typeface="Arial"/>
                <a:ea typeface="Arial"/>
                <a:cs typeface="Arial"/>
              </a:defRPr>
            </a:pPr>
            <a:r>
              <a:rPr sz="788" b="1">
                <a:solidFill>
                  <a:srgbClr val="8D9399"/>
                </a:solidFill>
                <a:latin typeface="Arial"/>
                <a:ea typeface="Arial"/>
                <a:cs typeface="Arial"/>
              </a:rPr>
              <a:t>GESTÃO · RANKING INDEPENDENTE</a:t>
            </a:r>
          </a:p>
        </p:txBody>
      </p:sp>
      <p:graphicFrame>
        <p:nvGraphicFramePr>
          <p:cNvPr id="38" name="Chart"/>
          <p:cNvGraphicFramePr/>
          <p:nvPr/>
        </p:nvGraphicFramePr>
        <p:xfrm>
          <a:off xmlns:a="http://schemas.openxmlformats.org/drawingml/2006/main" x="6334125" y="3286125"/>
          <a:ext xmlns:a="http://schemas.openxmlformats.org/drawingml/2006/main" cx="5286375" cy="1333500"/>
        </p:xfrm>
        <a:graphic xmlns:a="http://schemas.openxmlformats.org/drawingml/2006/main">
          <a:graphicData uri="http://schemas.openxmlformats.org/drawingml/2006/chart">
            <c:chart xmlns:r="http://schemas.openxmlformats.org/officeDocument/2006/relationships" xmlns:c="http://schemas.openxmlformats.org/drawingml/2006/chart" r:id="Rf138ee75210a4048"/>
          </a:graphicData>
        </a:graphic>
      </p:graphicFrame>
      <p:sp>
        <p:nvSpPr>
          <p:cNvPr id="18" name="">
            <a:extLst xmlns:a="http://schemas.openxmlformats.org/drawingml/2006/main">
              <a:ext uri="{FF2B5EF4-FFF2-40B4-BE49-F238E27FC236}">
                <a16:creationId xmlns:a16="http://schemas.microsoft.com/office/drawing/2014/main" id="{1220A67F-5BA3-4F69-8764-7587096F15DD}"/>
              </a:ext>
            </a:extLst>
          </p:cNvPr>
          <p:cNvSpPr>
            <a:spLocks xmlns:a="http://schemas.openxmlformats.org/drawingml/2006/main" noGrp="1"/>
          </p:cNvSpPr>
          <p:nvPr/>
        </p:nvSpPr>
        <p:spPr>
          <a:xfrm xmlns:a="http://schemas.openxmlformats.org/drawingml/2006/main">
            <a:off x="571500" y="4648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788" b="1">
                <a:solidFill>
                  <a:srgbClr val="8D9399"/>
                </a:solidFill>
                <a:latin typeface="Arial"/>
                <a:ea typeface="Arial"/>
                <a:cs typeface="Arial"/>
              </a:defRPr>
            </a:pPr>
            <a:r>
              <a:rPr sz="788" b="1">
                <a:solidFill>
                  <a:srgbClr val="8D9399"/>
                </a:solidFill>
                <a:latin typeface="Arial"/>
                <a:ea typeface="Arial"/>
                <a:cs typeface="Arial"/>
              </a:rPr>
              <a:t>CUSTÓDIA · RANKING GERAL</a:t>
            </a:r>
          </a:p>
        </p:txBody>
      </p:sp>
      <p:graphicFrame>
        <p:nvGraphicFramePr>
          <p:cNvPr id="40" name="Chart"/>
          <p:cNvGraphicFramePr/>
          <p:nvPr/>
        </p:nvGraphicFramePr>
        <p:xfrm>
          <a:off xmlns:a="http://schemas.openxmlformats.org/drawingml/2006/main" x="571500" y="4819650"/>
          <a:ext xmlns:a="http://schemas.openxmlformats.org/drawingml/2006/main" cx="5286375" cy="1333500"/>
        </p:xfrm>
        <a:graphic xmlns:a="http://schemas.openxmlformats.org/drawingml/2006/main">
          <a:graphicData uri="http://schemas.openxmlformats.org/drawingml/2006/chart">
            <c:chart xmlns:r="http://schemas.openxmlformats.org/officeDocument/2006/relationships" xmlns:c="http://schemas.openxmlformats.org/drawingml/2006/chart" r:id="Rf0295060ff2f40a5"/>
          </a:graphicData>
        </a:graphic>
      </p:graphicFrame>
      <p:sp>
        <p:nvSpPr>
          <p:cNvPr id="20" name="">
            <a:extLst xmlns:a="http://schemas.openxmlformats.org/drawingml/2006/main">
              <a:ext uri="{FF2B5EF4-FFF2-40B4-BE49-F238E27FC236}">
                <a16:creationId xmlns:a16="http://schemas.microsoft.com/office/drawing/2014/main" id="{CF2B6FCB-0488-4CC4-AFCC-AA4747FE6C05}"/>
              </a:ext>
            </a:extLst>
          </p:cNvPr>
          <p:cNvSpPr>
            <a:spLocks xmlns:a="http://schemas.openxmlformats.org/drawingml/2006/main" noGrp="1"/>
          </p:cNvSpPr>
          <p:nvPr/>
        </p:nvSpPr>
        <p:spPr>
          <a:xfrm xmlns:a="http://schemas.openxmlformats.org/drawingml/2006/main">
            <a:off x="6334125" y="4648200"/>
            <a:ext cx="5286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788" b="1">
                <a:solidFill>
                  <a:srgbClr val="8D9399"/>
                </a:solidFill>
                <a:latin typeface="Arial"/>
                <a:ea typeface="Arial"/>
                <a:cs typeface="Arial"/>
              </a:defRPr>
            </a:pPr>
            <a:r>
              <a:rPr sz="788" b="1">
                <a:solidFill>
                  <a:srgbClr val="8D9399"/>
                </a:solidFill>
                <a:latin typeface="Arial"/>
                <a:ea typeface="Arial"/>
                <a:cs typeface="Arial"/>
              </a:rPr>
              <a:t>CUSTÓDIA · RANKING INDEPENDENTE</a:t>
            </a:r>
          </a:p>
        </p:txBody>
      </p:sp>
      <p:graphicFrame>
        <p:nvGraphicFramePr>
          <p:cNvPr id="42" name="Chart"/>
          <p:cNvGraphicFramePr/>
          <p:nvPr/>
        </p:nvGraphicFramePr>
        <p:xfrm>
          <a:off xmlns:a="http://schemas.openxmlformats.org/drawingml/2006/main" x="6334125" y="4819650"/>
          <a:ext xmlns:a="http://schemas.openxmlformats.org/drawingml/2006/main" cx="5286375" cy="1333500"/>
        </p:xfrm>
        <a:graphic xmlns:a="http://schemas.openxmlformats.org/drawingml/2006/main">
          <a:graphicData uri="http://schemas.openxmlformats.org/drawingml/2006/chart">
            <c:chart xmlns:r="http://schemas.openxmlformats.org/officeDocument/2006/relationships" xmlns:c="http://schemas.openxmlformats.org/drawingml/2006/chart" r:id="Re1a3b1d2e3264964"/>
          </a:graphicData>
        </a:graphic>
      </p:graphicFrame>
    </p:spTree>
    <p:extLst>
      <p:ext uri="{BB962C8B-B14F-4D97-AF65-F5344CB8AC3E}">
        <p14:creationId xmlns:p14="http://schemas.microsoft.com/office/powerpoint/2010/main" val="762325853"/>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709A85A-D3DD-40A4-ABEE-02DBEF385684}"/>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FIDCs DOS CINCO BANCOS · COORTE ATUAL</a:t>
            </a:r>
          </a:p>
        </p:txBody>
      </p:sp>
      <p:sp>
        <p:nvSpPr>
          <p:cNvPr id="2" name="">
            <a:extLst xmlns:a="http://schemas.openxmlformats.org/drawingml/2006/main">
              <a:ext uri="{FF2B5EF4-FFF2-40B4-BE49-F238E27FC236}">
                <a16:creationId xmlns:a16="http://schemas.microsoft.com/office/drawing/2014/main" id="{DD5F6E83-FBB3-42D9-881B-B5D302A09054}"/>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BTG soma R$ 52,2 bi em jun/26; Consignados I adiciona R$ 7,9 bi ao PL de dez/25*</a:t>
            </a:r>
          </a:p>
        </p:txBody>
      </p:sp>
      <p:sp>
        <p:nvSpPr>
          <p:cNvPr id="3" name="">
            <a:extLst xmlns:a="http://schemas.openxmlformats.org/drawingml/2006/main">
              <a:ext uri="{FF2B5EF4-FFF2-40B4-BE49-F238E27FC236}">
                <a16:creationId xmlns:a16="http://schemas.microsoft.com/office/drawing/2014/main" id="{B4AF0E07-616A-4466-9342-040973E7392E}"/>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4866EB8-C4F5-4FCB-839E-B46126C19180}"/>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8AB2EB3-8999-4038-960F-F3B175D87178}"/>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 FundosNet e conglomerados prudenciais do BCB consultados em jul/26. Coorte fixa das raízes hoje listadas; PL bruto. O histórico não recupera fundos que saíram do conglomerado atual.</a:t>
            </a:r>
          </a:p>
        </p:txBody>
      </p:sp>
      <p:sp>
        <p:nvSpPr>
          <p:cNvPr id="6" name="">
            <a:extLst xmlns:a="http://schemas.openxmlformats.org/drawingml/2006/main">
              <a:ext uri="{FF2B5EF4-FFF2-40B4-BE49-F238E27FC236}">
                <a16:creationId xmlns:a16="http://schemas.microsoft.com/office/drawing/2014/main" id="{A0EF5DE3-6995-4C2B-BF63-026172424B10}"/>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55</a:t>
            </a:r>
          </a:p>
        </p:txBody>
      </p:sp>
      <p:sp>
        <p:nvSpPr>
          <p:cNvPr id="7" name="">
            <a:extLst xmlns:a="http://schemas.openxmlformats.org/drawingml/2006/main">
              <a:ext uri="{FF2B5EF4-FFF2-40B4-BE49-F238E27FC236}">
                <a16:creationId xmlns:a16="http://schemas.microsoft.com/office/drawing/2014/main" id="{1674CB30-190E-423B-924E-50B1D97D52EF}"/>
              </a:ext>
            </a:extLst>
          </p:cNvPr>
          <p:cNvSpPr>
            <a:spLocks xmlns:a="http://schemas.openxmlformats.org/drawingml/2006/main" noGrp="1"/>
          </p:cNvSpPr>
          <p:nvPr/>
        </p:nvSpPr>
        <p:spPr>
          <a:xfrm xmlns:a="http://schemas.openxmlformats.org/drawingml/2006/main">
            <a:off x="571500" y="1381125"/>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PL BRUTO DA COORTE FIXA · R$ BI</a:t>
            </a:r>
          </a:p>
        </p:txBody>
      </p:sp>
      <p:sp>
        <p:nvSpPr>
          <p:cNvPr id="8" name="">
            <a:extLst xmlns:a="http://schemas.openxmlformats.org/drawingml/2006/main">
              <a:ext uri="{FF2B5EF4-FFF2-40B4-BE49-F238E27FC236}">
                <a16:creationId xmlns:a16="http://schemas.microsoft.com/office/drawing/2014/main" id="{E65E8AA0-2910-4F19-ABD8-802B492854AE}"/>
              </a:ext>
            </a:extLst>
          </p:cNvPr>
          <p:cNvSpPr>
            <a:spLocks xmlns:a="http://schemas.openxmlformats.org/drawingml/2006/main" noGrp="1"/>
          </p:cNvSpPr>
          <p:nvPr/>
        </p:nvSpPr>
        <p:spPr>
          <a:xfrm xmlns:a="http://schemas.openxmlformats.org/drawingml/2006/main">
            <a:off x="571500" y="1647825"/>
            <a:ext cx="6858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3" name="Chart"/>
          <p:cNvGraphicFramePr/>
          <p:nvPr/>
        </p:nvGraphicFramePr>
        <p:xfrm>
          <a:off xmlns:a="http://schemas.openxmlformats.org/drawingml/2006/main" x="571500" y="1762125"/>
          <a:ext xmlns:a="http://schemas.openxmlformats.org/drawingml/2006/main" cx="6858000" cy="3667125"/>
        </p:xfrm>
        <a:graphic xmlns:a="http://schemas.openxmlformats.org/drawingml/2006/main">
          <a:graphicData uri="http://schemas.openxmlformats.org/drawingml/2006/chart">
            <c:chart xmlns:r="http://schemas.openxmlformats.org/officeDocument/2006/relationships" xmlns:c="http://schemas.openxmlformats.org/drawingml/2006/chart" r:id="R1f8ed4482b4b45f9"/>
          </a:graphicData>
        </a:graphic>
      </p:graphicFrame>
      <p:sp>
        <p:nvSpPr>
          <p:cNvPr id="10" name="">
            <a:extLst xmlns:a="http://schemas.openxmlformats.org/drawingml/2006/main">
              <a:ext uri="{FF2B5EF4-FFF2-40B4-BE49-F238E27FC236}">
                <a16:creationId xmlns:a16="http://schemas.microsoft.com/office/drawing/2014/main" id="{39664F6D-39F9-47E6-8A10-71DC50E749B7}"/>
              </a:ext>
            </a:extLst>
          </p:cNvPr>
          <p:cNvSpPr>
            <a:spLocks xmlns:a="http://schemas.openxmlformats.org/drawingml/2006/main" noGrp="1"/>
          </p:cNvSpPr>
          <p:nvPr/>
        </p:nvSpPr>
        <p:spPr>
          <a:xfrm xmlns:a="http://schemas.openxmlformats.org/drawingml/2006/main">
            <a:off x="7858125" y="1381125"/>
            <a:ext cx="3762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BTG · CINCO MAIORES EM JUN/26</a:t>
            </a:r>
          </a:p>
        </p:txBody>
      </p:sp>
      <p:sp>
        <p:nvSpPr>
          <p:cNvPr id="11" name="">
            <a:extLst xmlns:a="http://schemas.openxmlformats.org/drawingml/2006/main">
              <a:ext uri="{FF2B5EF4-FFF2-40B4-BE49-F238E27FC236}">
                <a16:creationId xmlns:a16="http://schemas.microsoft.com/office/drawing/2014/main" id="{6B6BAE0F-C3AD-4269-BA08-9AFEACCC59A1}"/>
              </a:ext>
            </a:extLst>
          </p:cNvPr>
          <p:cNvSpPr>
            <a:spLocks xmlns:a="http://schemas.openxmlformats.org/drawingml/2006/main" noGrp="1"/>
          </p:cNvSpPr>
          <p:nvPr/>
        </p:nvSpPr>
        <p:spPr>
          <a:xfrm xmlns:a="http://schemas.openxmlformats.org/drawingml/2006/main">
            <a:off x="7858125" y="1647825"/>
            <a:ext cx="3762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6" name=""/>
          <p:cNvGraphicFramePr/>
          <p:nvPr/>
        </p:nvGraphicFramePr>
        <p:xfrm>
          <a:off xmlns:a="http://schemas.openxmlformats.org/drawingml/2006/main" x="7858125" y="1762125"/>
          <a:ext xmlns:a="http://schemas.openxmlformats.org/drawingml/2006/main" cx="3762375" cy="2762250"/>
        </p:xfrm>
        <a:graphic xmlns:a="http://schemas.openxmlformats.org/drawingml/2006/main">
          <a:graphicData uri="http://schemas.openxmlformats.org/drawingml/2006/table">
            <a:tbl>
              <a:tblPr firstRow="0" firstCol="0" lastRow="0" lastCol="0" bandRow="0" bandCol="0"/>
              <a:tblGrid>
                <a:gridCol w="523875"/>
                <a:gridCol w="2333625"/>
                <a:gridCol w="904875"/>
              </a:tblGrid>
              <a:tr h="209550">
                <a:tc>
                  <a:txBody>
                    <a:bodyPr wrap="square" anchor="ctr">
                      <a:normAutofit/>
                    </a:bodyPr>
                    <a:lstStyle/>
                    <a:p>
                      <a:pPr algn="l"/>
                      <a:r>
                        <a:rPr sz="660" b="1">
                          <a:solidFill>
                            <a:srgbClr val="FFFFFF"/>
                          </a:solidFill>
                          <a:latin typeface="Arial"/>
                          <a:ea typeface="Arial"/>
                          <a:cs typeface="Arial"/>
                        </a:rPr>
                        <a:t>Banco</a:t>
                      </a:r>
                    </a:p>
                  </a:txBody>
                  <a:tcPr marL="47625" marR="47625" marT="19050" marB="19050" anchor="ctr">
                    <a:solidFill>
                      <a:srgbClr val="151515"/>
                    </a:solidFill>
                  </a:tcPr>
                </a:tc>
                <a:tc>
                  <a:txBody>
                    <a:bodyPr wrap="square" anchor="ctr">
                      <a:normAutofit/>
                    </a:bodyPr>
                    <a:lstStyle/>
                    <a:p>
                      <a:pPr algn="l"/>
                      <a:r>
                        <a:rPr sz="660" b="1">
                          <a:solidFill>
                            <a:srgbClr val="FFFFFF"/>
                          </a:solidFill>
                          <a:latin typeface="Arial"/>
                          <a:ea typeface="Arial"/>
                          <a:cs typeface="Arial"/>
                        </a:rPr>
                        <a:t>FIDC</a:t>
                      </a:r>
                    </a:p>
                  </a:txBody>
                  <a:tcPr marL="47625" marR="47625" marT="19050" marB="19050" anchor="ctr">
                    <a:solidFill>
                      <a:srgbClr val="151515"/>
                    </a:solidFill>
                  </a:tcPr>
                </a:tc>
                <a:tc>
                  <a:txBody>
                    <a:bodyPr wrap="square" anchor="ctr">
                      <a:normAutofit/>
                    </a:bodyPr>
                    <a:lstStyle/>
                    <a:p>
                      <a:pPr algn="r"/>
                      <a:r>
                        <a:rPr sz="660" b="1">
                          <a:solidFill>
                            <a:srgbClr val="FFFFFF"/>
                          </a:solidFill>
                          <a:latin typeface="Arial"/>
                          <a:ea typeface="Arial"/>
                          <a:cs typeface="Arial"/>
                        </a:rPr>
                        <a:t>PL · R$ mi</a:t>
                      </a:r>
                    </a:p>
                  </a:txBody>
                  <a:tcPr marL="47625" marR="47625" marT="19050" marB="19050" anchor="ctr">
                    <a:solidFill>
                      <a:srgbClr val="151515"/>
                    </a:solidFill>
                  </a:tcPr>
                </a:tc>
              </a:tr>
              <a:tr h="510540">
                <a:tc>
                  <a:txBody>
                    <a:bodyPr wrap="square" anchor="ctr">
                      <a:normAutofit/>
                    </a:bodyPr>
                    <a:lstStyle/>
                    <a:p>
                      <a:pPr algn="l"/>
                      <a:r>
                        <a:rPr sz="690">
                          <a:solidFill>
                            <a:srgbClr val="30353A"/>
                          </a:solidFill>
                          <a:latin typeface="Arial"/>
                          <a:ea typeface="Arial"/>
                          <a:cs typeface="Arial"/>
                        </a:rPr>
                        <a:t>BTG</a:t>
                      </a:r>
                    </a:p>
                  </a:txBody>
                  <a:tcPr marL="47625" marR="47625" marT="14288" marB="14288" anchor="ctr">
                    <a:solidFill>
                      <a:srgbClr val="FFF1E6"/>
                    </a:solidFill>
                  </a:tcPr>
                </a:tc>
                <a:tc>
                  <a:txBody>
                    <a:bodyPr wrap="square" anchor="ctr">
                      <a:normAutofit/>
                    </a:bodyPr>
                    <a:lstStyle/>
                    <a:p>
                      <a:pPr algn="l"/>
                      <a:r>
                        <a:rPr sz="690">
                          <a:solidFill>
                            <a:srgbClr val="30353A"/>
                          </a:solidFill>
                          <a:latin typeface="Arial"/>
                          <a:ea typeface="Arial"/>
                          <a:cs typeface="Arial"/>
                        </a:rPr>
                        <a:t>PAN Auto</a:t>
                      </a:r>
                    </a:p>
                  </a:txBody>
                  <a:tcPr marL="47625" marR="47625" marT="14288" marB="14288" anchor="ctr">
                    <a:solidFill>
                      <a:srgbClr val="FFF1E6"/>
                    </a:solidFill>
                  </a:tcPr>
                </a:tc>
                <a:tc>
                  <a:txBody>
                    <a:bodyPr wrap="square" anchor="ctr">
                      <a:normAutofit/>
                    </a:bodyPr>
                    <a:lstStyle/>
                    <a:p>
                      <a:pPr algn="r"/>
                      <a:r>
                        <a:rPr sz="690">
                          <a:solidFill>
                            <a:srgbClr val="30353A"/>
                          </a:solidFill>
                          <a:latin typeface="Arial"/>
                          <a:ea typeface="Arial"/>
                          <a:cs typeface="Arial"/>
                        </a:rPr>
                        <a:t>17.972</a:t>
                      </a:r>
                    </a:p>
                  </a:txBody>
                  <a:tcPr marL="47625" marR="47625" marT="14288" marB="14288" anchor="ctr">
                    <a:solidFill>
                      <a:srgbClr val="FFF1E6"/>
                    </a:solidFill>
                  </a:tcPr>
                </a:tc>
              </a:tr>
              <a:tr h="510540">
                <a:tc>
                  <a:txBody>
                    <a:bodyPr wrap="square" anchor="ctr">
                      <a:normAutofit/>
                    </a:bodyPr>
                    <a:lstStyle/>
                    <a:p>
                      <a:pPr algn="l"/>
                      <a:r>
                        <a:rPr sz="690">
                          <a:solidFill>
                            <a:srgbClr val="30353A"/>
                          </a:solidFill>
                          <a:latin typeface="Arial"/>
                          <a:ea typeface="Arial"/>
                          <a:cs typeface="Arial"/>
                        </a:rPr>
                        <a:t>BTG</a:t>
                      </a:r>
                    </a:p>
                  </a:txBody>
                  <a:tcPr marL="47625" marR="47625" marT="14288" marB="14288" anchor="ctr">
                    <a:solidFill>
                      <a:srgbClr val="F5F6F7"/>
                    </a:solidFill>
                  </a:tcPr>
                </a:tc>
                <a:tc>
                  <a:txBody>
                    <a:bodyPr wrap="square" anchor="ctr">
                      <a:normAutofit/>
                    </a:bodyPr>
                    <a:lstStyle/>
                    <a:p>
                      <a:pPr algn="l"/>
                      <a:r>
                        <a:rPr sz="690">
                          <a:solidFill>
                            <a:srgbClr val="30353A"/>
                          </a:solidFill>
                          <a:latin typeface="Arial"/>
                          <a:ea typeface="Arial"/>
                          <a:cs typeface="Arial"/>
                        </a:rPr>
                        <a:t>BTG Consignados II</a:t>
                      </a:r>
                    </a:p>
                  </a:txBody>
                  <a:tcPr marL="47625" marR="47625" marT="14288" marB="14288" anchor="ctr">
                    <a:solidFill>
                      <a:srgbClr val="F5F6F7"/>
                    </a:solidFill>
                  </a:tcPr>
                </a:tc>
                <a:tc>
                  <a:txBody>
                    <a:bodyPr wrap="square" anchor="ctr">
                      <a:normAutofit/>
                    </a:bodyPr>
                    <a:lstStyle/>
                    <a:p>
                      <a:pPr algn="r"/>
                      <a:r>
                        <a:rPr sz="690">
                          <a:solidFill>
                            <a:srgbClr val="30353A"/>
                          </a:solidFill>
                          <a:latin typeface="Arial"/>
                          <a:ea typeface="Arial"/>
                          <a:cs typeface="Arial"/>
                        </a:rPr>
                        <a:t>8.032</a:t>
                      </a:r>
                    </a:p>
                  </a:txBody>
                  <a:tcPr marL="47625" marR="47625" marT="14288" marB="14288" anchor="ctr">
                    <a:solidFill>
                      <a:srgbClr val="F5F6F7"/>
                    </a:solidFill>
                  </a:tcPr>
                </a:tc>
              </a:tr>
              <a:tr h="510540">
                <a:tc>
                  <a:txBody>
                    <a:bodyPr wrap="square" anchor="ctr">
                      <a:normAutofit/>
                    </a:bodyPr>
                    <a:lstStyle/>
                    <a:p>
                      <a:pPr algn="l"/>
                      <a:r>
                        <a:rPr sz="690">
                          <a:solidFill>
                            <a:srgbClr val="30353A"/>
                          </a:solidFill>
                          <a:latin typeface="Arial"/>
                          <a:ea typeface="Arial"/>
                          <a:cs typeface="Arial"/>
                        </a:rPr>
                        <a:t>BTG</a:t>
                      </a:r>
                    </a:p>
                  </a:txBody>
                  <a:tcPr marL="47625" marR="47625" marT="14288" marB="14288" anchor="ctr">
                    <a:solidFill>
                      <a:srgbClr val="FFFFFF"/>
                    </a:solidFill>
                  </a:tcPr>
                </a:tc>
                <a:tc>
                  <a:txBody>
                    <a:bodyPr wrap="square" anchor="ctr">
                      <a:normAutofit/>
                    </a:bodyPr>
                    <a:lstStyle/>
                    <a:p>
                      <a:pPr algn="l"/>
                      <a:r>
                        <a:rPr sz="690">
                          <a:solidFill>
                            <a:srgbClr val="30353A"/>
                          </a:solidFill>
                          <a:latin typeface="Arial"/>
                          <a:ea typeface="Arial"/>
                          <a:cs typeface="Arial"/>
                        </a:rPr>
                        <a:t>BTG Consignados</a:t>
                      </a:r>
                    </a:p>
                  </a:txBody>
                  <a:tcPr marL="47625" marR="47625" marT="14288" marB="14288" anchor="ctr">
                    <a:solidFill>
                      <a:srgbClr val="FFFFFF"/>
                    </a:solidFill>
                  </a:tcPr>
                </a:tc>
                <a:tc>
                  <a:txBody>
                    <a:bodyPr wrap="square" anchor="ctr">
                      <a:normAutofit/>
                    </a:bodyPr>
                    <a:lstStyle/>
                    <a:p>
                      <a:pPr algn="r"/>
                      <a:r>
                        <a:rPr sz="690">
                          <a:solidFill>
                            <a:srgbClr val="30353A"/>
                          </a:solidFill>
                          <a:latin typeface="Arial"/>
                          <a:ea typeface="Arial"/>
                          <a:cs typeface="Arial"/>
                        </a:rPr>
                        <a:t>6.007</a:t>
                      </a:r>
                    </a:p>
                  </a:txBody>
                  <a:tcPr marL="47625" marR="47625" marT="14288" marB="14288" anchor="ctr">
                    <a:solidFill>
                      <a:srgbClr val="FFFFFF"/>
                    </a:solidFill>
                  </a:tcPr>
                </a:tc>
              </a:tr>
              <a:tr h="510540">
                <a:tc>
                  <a:txBody>
                    <a:bodyPr wrap="square" anchor="ctr">
                      <a:normAutofit/>
                    </a:bodyPr>
                    <a:lstStyle/>
                    <a:p>
                      <a:pPr algn="l"/>
                      <a:r>
                        <a:rPr sz="690">
                          <a:solidFill>
                            <a:srgbClr val="30353A"/>
                          </a:solidFill>
                          <a:latin typeface="Arial"/>
                          <a:ea typeface="Arial"/>
                          <a:cs typeface="Arial"/>
                        </a:rPr>
                        <a:t>BTG</a:t>
                      </a:r>
                    </a:p>
                  </a:txBody>
                  <a:tcPr marL="47625" marR="47625" marT="14288" marB="14288" anchor="ctr">
                    <a:solidFill>
                      <a:srgbClr val="F5F6F7"/>
                    </a:solidFill>
                  </a:tcPr>
                </a:tc>
                <a:tc>
                  <a:txBody>
                    <a:bodyPr wrap="square" anchor="ctr">
                      <a:normAutofit/>
                    </a:bodyPr>
                    <a:lstStyle/>
                    <a:p>
                      <a:pPr algn="l"/>
                      <a:r>
                        <a:rPr sz="690">
                          <a:solidFill>
                            <a:srgbClr val="30353A"/>
                          </a:solidFill>
                          <a:latin typeface="Arial"/>
                          <a:ea typeface="Arial"/>
                          <a:cs typeface="Arial"/>
                        </a:rPr>
                        <a:t>Alternative Assets III</a:t>
                      </a:r>
                    </a:p>
                  </a:txBody>
                  <a:tcPr marL="47625" marR="47625" marT="14288" marB="14288" anchor="ctr">
                    <a:solidFill>
                      <a:srgbClr val="F5F6F7"/>
                    </a:solidFill>
                  </a:tcPr>
                </a:tc>
                <a:tc>
                  <a:txBody>
                    <a:bodyPr wrap="square" anchor="ctr">
                      <a:normAutofit/>
                    </a:bodyPr>
                    <a:lstStyle/>
                    <a:p>
                      <a:pPr algn="r"/>
                      <a:r>
                        <a:rPr sz="690">
                          <a:solidFill>
                            <a:srgbClr val="30353A"/>
                          </a:solidFill>
                          <a:latin typeface="Arial"/>
                          <a:ea typeface="Arial"/>
                          <a:cs typeface="Arial"/>
                        </a:rPr>
                        <a:t>5.861</a:t>
                      </a:r>
                    </a:p>
                  </a:txBody>
                  <a:tcPr marL="47625" marR="47625" marT="14288" marB="14288" anchor="ctr">
                    <a:solidFill>
                      <a:srgbClr val="F5F6F7"/>
                    </a:solidFill>
                  </a:tcPr>
                </a:tc>
              </a:tr>
              <a:tr h="510540">
                <a:tc>
                  <a:txBody>
                    <a:bodyPr wrap="square" anchor="ctr">
                      <a:normAutofit/>
                    </a:bodyPr>
                    <a:lstStyle/>
                    <a:p>
                      <a:pPr algn="l"/>
                      <a:r>
                        <a:rPr sz="690">
                          <a:solidFill>
                            <a:srgbClr val="30353A"/>
                          </a:solidFill>
                          <a:latin typeface="Arial"/>
                          <a:ea typeface="Arial"/>
                          <a:cs typeface="Arial"/>
                        </a:rPr>
                        <a:t>BTG</a:t>
                      </a:r>
                    </a:p>
                  </a:txBody>
                  <a:tcPr marL="47625" marR="47625" marT="14288" marB="14288" anchor="ctr">
                    <a:solidFill>
                      <a:srgbClr val="FFFFFF"/>
                    </a:solidFill>
                  </a:tcPr>
                </a:tc>
                <a:tc>
                  <a:txBody>
                    <a:bodyPr wrap="square" anchor="ctr">
                      <a:normAutofit/>
                    </a:bodyPr>
                    <a:lstStyle/>
                    <a:p>
                      <a:pPr algn="l"/>
                      <a:r>
                        <a:rPr sz="690">
                          <a:solidFill>
                            <a:srgbClr val="30353A"/>
                          </a:solidFill>
                          <a:latin typeface="Arial"/>
                          <a:ea typeface="Arial"/>
                          <a:cs typeface="Arial"/>
                        </a:rPr>
                        <a:t>ALTERNATIVE ASSETS I</a:t>
                      </a:r>
                    </a:p>
                  </a:txBody>
                  <a:tcPr marL="47625" marR="47625" marT="14288" marB="14288" anchor="ctr">
                    <a:solidFill>
                      <a:srgbClr val="FFFFFF"/>
                    </a:solidFill>
                  </a:tcPr>
                </a:tc>
                <a:tc>
                  <a:txBody>
                    <a:bodyPr wrap="square" anchor="ctr">
                      <a:normAutofit/>
                    </a:bodyPr>
                    <a:lstStyle/>
                    <a:p>
                      <a:pPr algn="r"/>
                      <a:r>
                        <a:rPr sz="690">
                          <a:solidFill>
                            <a:srgbClr val="30353A"/>
                          </a:solidFill>
                          <a:latin typeface="Arial"/>
                          <a:ea typeface="Arial"/>
                          <a:cs typeface="Arial"/>
                        </a:rPr>
                        <a:t>3.031</a:t>
                      </a:r>
                    </a:p>
                  </a:txBody>
                  <a:tcPr marL="47625" marR="47625" marT="14288" marB="14288" anchor="ctr">
                    <a:solidFill>
                      <a:srgbClr val="FFFFFF"/>
                    </a:solidFill>
                  </a:tcPr>
                </a:tc>
              </a:tr>
            </a:tbl>
          </a:graphicData>
        </a:graphic>
      </p:graphicFrame>
      <p:sp>
        <p:nvSpPr>
          <p:cNvPr id="13" name="">
            <a:extLst xmlns:a="http://schemas.openxmlformats.org/drawingml/2006/main">
              <a:ext uri="{FF2B5EF4-FFF2-40B4-BE49-F238E27FC236}">
                <a16:creationId xmlns:a16="http://schemas.microsoft.com/office/drawing/2014/main" id="{F8C142AA-5528-4252-8D11-805858FE4BD7}"/>
              </a:ext>
            </a:extLst>
          </p:cNvPr>
          <p:cNvSpPr>
            <a:spLocks xmlns:a="http://schemas.openxmlformats.org/drawingml/2006/main" noGrp="1"/>
          </p:cNvSpPr>
          <p:nvPr/>
        </p:nvSpPr>
        <p:spPr>
          <a:xfrm xmlns:a="http://schemas.openxmlformats.org/drawingml/2006/main">
            <a:off x="8048625" y="4762500"/>
            <a:ext cx="3381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100" b="1">
                <a:solidFill>
                  <a:srgbClr val="EC7000"/>
                </a:solidFill>
                <a:latin typeface="Arial"/>
                <a:ea typeface="Arial"/>
                <a:cs typeface="Arial"/>
              </a:defRPr>
            </a:pPr>
            <a:r>
              <a:rPr sz="2100" b="1">
                <a:solidFill>
                  <a:srgbClr val="EC7000"/>
                </a:solidFill>
                <a:latin typeface="Arial"/>
                <a:ea typeface="Arial"/>
                <a:cs typeface="Arial"/>
              </a:rPr>
              <a:t>79,7 bi</a:t>
            </a:r>
          </a:p>
        </p:txBody>
      </p:sp>
      <p:sp>
        <p:nvSpPr>
          <p:cNvPr id="14" name="">
            <a:extLst xmlns:a="http://schemas.openxmlformats.org/drawingml/2006/main">
              <a:ext uri="{FF2B5EF4-FFF2-40B4-BE49-F238E27FC236}">
                <a16:creationId xmlns:a16="http://schemas.microsoft.com/office/drawing/2014/main" id="{FBAD6970-6E44-472A-9D4F-EFA6C474C160}"/>
              </a:ext>
            </a:extLst>
          </p:cNvPr>
          <p:cNvSpPr>
            <a:spLocks xmlns:a="http://schemas.openxmlformats.org/drawingml/2006/main" noGrp="1"/>
          </p:cNvSpPr>
          <p:nvPr/>
        </p:nvSpPr>
        <p:spPr>
          <a:xfrm xmlns:a="http://schemas.openxmlformats.org/drawingml/2006/main">
            <a:off x="8048625" y="5219700"/>
            <a:ext cx="3381375"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55" b="0">
                <a:solidFill>
                  <a:srgbClr val="73787D"/>
                </a:solidFill>
                <a:latin typeface="Arial"/>
                <a:ea typeface="Arial"/>
                <a:cs typeface="Arial"/>
              </a:defRPr>
            </a:pPr>
            <a:r>
              <a:rPr sz="855" b="0">
                <a:solidFill>
                  <a:srgbClr val="73787D"/>
                </a:solidFill>
                <a:latin typeface="Arial"/>
                <a:ea typeface="Arial"/>
                <a:cs typeface="Arial"/>
              </a:rPr>
              <a:t>PL bruto da coorte dos cinco bancos em jun/26. * Dez/25 usa R$ 7,9 bi do IME v2 Fundos.NET 1100733, confirmado pela DF auditada 1150673; o XML traz competência interna divergente e o parser havia lido zero.</a:t>
            </a:r>
          </a:p>
        </p:txBody>
      </p:sp>
    </p:spTree>
    <p:extLst>
      <p:ext uri="{BB962C8B-B14F-4D97-AF65-F5344CB8AC3E}">
        <p14:creationId xmlns:p14="http://schemas.microsoft.com/office/powerpoint/2010/main" val="319782870"/>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C1B0F8F-E94A-4F13-BD2E-A96FD17EE1FE}"/>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PRESTADORES · LIDERANÇA EXPLICADA</a:t>
            </a:r>
          </a:p>
        </p:txBody>
      </p:sp>
      <p:sp>
        <p:nvSpPr>
          <p:cNvPr id="2" name="">
            <a:extLst xmlns:a="http://schemas.openxmlformats.org/drawingml/2006/main">
              <a:ext uri="{FF2B5EF4-FFF2-40B4-BE49-F238E27FC236}">
                <a16:creationId xmlns:a16="http://schemas.microsoft.com/office/drawing/2014/main" id="{C9EBE4A4-21FA-421D-9B7C-CDDA90614B52}"/>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Singulare sustenta a escala da QI; sem a coorte bancária, o BTG fica em #3 na gestão</a:t>
            </a:r>
          </a:p>
        </p:txBody>
      </p:sp>
      <p:sp>
        <p:nvSpPr>
          <p:cNvPr id="3" name="">
            <a:extLst xmlns:a="http://schemas.openxmlformats.org/drawingml/2006/main">
              <a:ext uri="{FF2B5EF4-FFF2-40B4-BE49-F238E27FC236}">
                <a16:creationId xmlns:a16="http://schemas.microsoft.com/office/drawing/2014/main" id="{B13448E5-5008-47A4-87D2-66EBB6345464}"/>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230AE9E-1C80-4182-9526-AA32A123C164}"/>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3F27324-7108-4CDC-82E5-58460533BD98}"/>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BCB, alterações societárias nov/24–nov/25; coorte bancária curada a partir dos conglomerados prudenciais. PL ex-FIC, sem Sistema Petrobras/TAPSO.</a:t>
            </a:r>
          </a:p>
        </p:txBody>
      </p:sp>
      <p:sp>
        <p:nvSpPr>
          <p:cNvPr id="6" name="">
            <a:extLst xmlns:a="http://schemas.openxmlformats.org/drawingml/2006/main">
              <a:ext uri="{FF2B5EF4-FFF2-40B4-BE49-F238E27FC236}">
                <a16:creationId xmlns:a16="http://schemas.microsoft.com/office/drawing/2014/main" id="{FE163E9D-0C17-4D80-93AF-666A619775F0}"/>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56</a:t>
            </a:r>
          </a:p>
        </p:txBody>
      </p:sp>
      <p:sp>
        <p:nvSpPr>
          <p:cNvPr id="7" name="">
            <a:extLst xmlns:a="http://schemas.openxmlformats.org/drawingml/2006/main">
              <a:ext uri="{FF2B5EF4-FFF2-40B4-BE49-F238E27FC236}">
                <a16:creationId xmlns:a16="http://schemas.microsoft.com/office/drawing/2014/main" id="{7A2FD23F-6BB3-4181-B1DA-2354FCFFD848}"/>
              </a:ext>
            </a:extLst>
          </p:cNvPr>
          <p:cNvSpPr>
            <a:spLocks xmlns:a="http://schemas.openxmlformats.org/drawingml/2006/main" noGrp="1"/>
          </p:cNvSpPr>
          <p:nvPr/>
        </p:nvSpPr>
        <p:spPr>
          <a:xfrm xmlns:a="http://schemas.openxmlformats.org/drawingml/2006/main">
            <a:off x="571500" y="1381125"/>
            <a:ext cx="5095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QI TECH · ADMINISTRAÇÃO EM DEZ/24</a:t>
            </a:r>
          </a:p>
        </p:txBody>
      </p:sp>
      <p:sp>
        <p:nvSpPr>
          <p:cNvPr id="8" name="">
            <a:extLst xmlns:a="http://schemas.openxmlformats.org/drawingml/2006/main">
              <a:ext uri="{FF2B5EF4-FFF2-40B4-BE49-F238E27FC236}">
                <a16:creationId xmlns:a16="http://schemas.microsoft.com/office/drawing/2014/main" id="{214BF1AC-DFB4-4381-900A-68B065FC1F6F}"/>
              </a:ext>
            </a:extLst>
          </p:cNvPr>
          <p:cNvSpPr>
            <a:spLocks xmlns:a="http://schemas.openxmlformats.org/drawingml/2006/main" noGrp="1"/>
          </p:cNvSpPr>
          <p:nvPr/>
        </p:nvSpPr>
        <p:spPr>
          <a:xfrm xmlns:a="http://schemas.openxmlformats.org/drawingml/2006/main">
            <a:off x="571500" y="1647825"/>
            <a:ext cx="50958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6" name="Chart"/>
          <p:cNvGraphicFramePr/>
          <p:nvPr/>
        </p:nvGraphicFramePr>
        <p:xfrm>
          <a:off xmlns:a="http://schemas.openxmlformats.org/drawingml/2006/main" x="571500" y="1809750"/>
          <a:ext xmlns:a="http://schemas.openxmlformats.org/drawingml/2006/main" cx="5095875" cy="2190750"/>
        </p:xfrm>
        <a:graphic xmlns:a="http://schemas.openxmlformats.org/drawingml/2006/main">
          <a:graphicData uri="http://schemas.openxmlformats.org/drawingml/2006/chart">
            <c:chart xmlns:r="http://schemas.openxmlformats.org/officeDocument/2006/relationships" xmlns:c="http://schemas.openxmlformats.org/drawingml/2006/chart" r:id="Racc4823a6f6e4a8a"/>
          </a:graphicData>
        </a:graphic>
      </p:graphicFrame>
      <p:sp>
        <p:nvSpPr>
          <p:cNvPr id="10" name="">
            <a:extLst xmlns:a="http://schemas.openxmlformats.org/drawingml/2006/main">
              <a:ext uri="{FF2B5EF4-FFF2-40B4-BE49-F238E27FC236}">
                <a16:creationId xmlns:a16="http://schemas.microsoft.com/office/drawing/2014/main" id="{E049B596-8444-4A20-8119-1362AB8D6E9E}"/>
              </a:ext>
            </a:extLst>
          </p:cNvPr>
          <p:cNvSpPr>
            <a:spLocks xmlns:a="http://schemas.openxmlformats.org/drawingml/2006/main" noGrp="1"/>
          </p:cNvSpPr>
          <p:nvPr/>
        </p:nvSpPr>
        <p:spPr>
          <a:xfrm xmlns:a="http://schemas.openxmlformats.org/drawingml/2006/main">
            <a:off x="762000" y="4286250"/>
            <a:ext cx="47148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250" b="1">
                <a:solidFill>
                  <a:srgbClr val="EC7000"/>
                </a:solidFill>
                <a:latin typeface="Arial"/>
                <a:ea typeface="Arial"/>
                <a:cs typeface="Arial"/>
              </a:defRPr>
            </a:pPr>
            <a:r>
              <a:rPr sz="2250" b="1">
                <a:solidFill>
                  <a:srgbClr val="EC7000"/>
                </a:solidFill>
                <a:latin typeface="Arial"/>
                <a:ea typeface="Arial"/>
                <a:cs typeface="Arial"/>
              </a:rPr>
              <a:t>95,9%</a:t>
            </a:r>
          </a:p>
        </p:txBody>
      </p:sp>
      <p:sp>
        <p:nvSpPr>
          <p:cNvPr id="11" name="">
            <a:extLst xmlns:a="http://schemas.openxmlformats.org/drawingml/2006/main">
              <a:ext uri="{FF2B5EF4-FFF2-40B4-BE49-F238E27FC236}">
                <a16:creationId xmlns:a16="http://schemas.microsoft.com/office/drawing/2014/main" id="{037C23AC-BEEE-47CE-B67E-30E931799C26}"/>
              </a:ext>
            </a:extLst>
          </p:cNvPr>
          <p:cNvSpPr>
            <a:spLocks xmlns:a="http://schemas.openxmlformats.org/drawingml/2006/main" noGrp="1"/>
          </p:cNvSpPr>
          <p:nvPr/>
        </p:nvSpPr>
        <p:spPr>
          <a:xfrm xmlns:a="http://schemas.openxmlformats.org/drawingml/2006/main">
            <a:off x="762000" y="4705350"/>
            <a:ext cx="4714875"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a:solidFill>
                  <a:srgbClr val="73787D"/>
                </a:solidFill>
                <a:latin typeface="Arial"/>
                <a:ea typeface="Arial"/>
                <a:cs typeface="Arial"/>
              </a:defRPr>
            </a:pPr>
            <a:r>
              <a:rPr sz="1050" b="0">
                <a:solidFill>
                  <a:srgbClr val="73787D"/>
                </a:solidFill>
                <a:latin typeface="Arial"/>
                <a:ea typeface="Arial"/>
                <a:cs typeface="Arial"/>
              </a:rPr>
              <a:t>do PL administrado do grupo em dez/24 estava no CNPJ legado da Singulare. O controle mudou em nov/24; em nov/25, esse CNPJ incorporou a QI DTVM e passou a QI Corretora.</a:t>
            </a:r>
          </a:p>
        </p:txBody>
      </p:sp>
      <p:sp>
        <p:nvSpPr>
          <p:cNvPr id="12" name="">
            <a:extLst xmlns:a="http://schemas.openxmlformats.org/drawingml/2006/main">
              <a:ext uri="{FF2B5EF4-FFF2-40B4-BE49-F238E27FC236}">
                <a16:creationId xmlns:a16="http://schemas.microsoft.com/office/drawing/2014/main" id="{CE0A9BCE-5552-469D-91F8-90833F247906}"/>
              </a:ext>
            </a:extLst>
          </p:cNvPr>
          <p:cNvSpPr>
            <a:spLocks xmlns:a="http://schemas.openxmlformats.org/drawingml/2006/main" noGrp="1"/>
          </p:cNvSpPr>
          <p:nvPr/>
        </p:nvSpPr>
        <p:spPr>
          <a:xfrm xmlns:a="http://schemas.openxmlformats.org/drawingml/2006/main">
            <a:off x="6334125" y="1381125"/>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BTG PACTUAL · GESTÃO EM JUN/26</a:t>
            </a:r>
          </a:p>
        </p:txBody>
      </p:sp>
      <p:sp>
        <p:nvSpPr>
          <p:cNvPr id="13" name="">
            <a:extLst xmlns:a="http://schemas.openxmlformats.org/drawingml/2006/main">
              <a:ext uri="{FF2B5EF4-FFF2-40B4-BE49-F238E27FC236}">
                <a16:creationId xmlns:a16="http://schemas.microsoft.com/office/drawing/2014/main" id="{04818654-0C45-4A11-88C8-FFB18EBECCF0}"/>
              </a:ext>
            </a:extLst>
          </p:cNvPr>
          <p:cNvSpPr>
            <a:spLocks xmlns:a="http://schemas.openxmlformats.org/drawingml/2006/main" noGrp="1"/>
          </p:cNvSpPr>
          <p:nvPr/>
        </p:nvSpPr>
        <p:spPr>
          <a:xfrm xmlns:a="http://schemas.openxmlformats.org/drawingml/2006/main">
            <a:off x="6334125" y="1647825"/>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31" name="Chart"/>
          <p:cNvGraphicFramePr/>
          <p:nvPr/>
        </p:nvGraphicFramePr>
        <p:xfrm>
          <a:off xmlns:a="http://schemas.openxmlformats.org/drawingml/2006/main" x="6334125" y="1809750"/>
          <a:ext xmlns:a="http://schemas.openxmlformats.org/drawingml/2006/main" cx="5286375" cy="2190750"/>
        </p:xfrm>
        <a:graphic xmlns:a="http://schemas.openxmlformats.org/drawingml/2006/main">
          <a:graphicData uri="http://schemas.openxmlformats.org/drawingml/2006/chart">
            <c:chart xmlns:r="http://schemas.openxmlformats.org/officeDocument/2006/relationships" xmlns:c="http://schemas.openxmlformats.org/drawingml/2006/chart" r:id="R9841acc5685e426e"/>
          </a:graphicData>
        </a:graphic>
      </p:graphicFrame>
      <p:sp>
        <p:nvSpPr>
          <p:cNvPr id="15" name="">
            <a:extLst xmlns:a="http://schemas.openxmlformats.org/drawingml/2006/main">
              <a:ext uri="{FF2B5EF4-FFF2-40B4-BE49-F238E27FC236}">
                <a16:creationId xmlns:a16="http://schemas.microsoft.com/office/drawing/2014/main" id="{0077A545-C168-41A5-83D7-CF4C8DC21999}"/>
              </a:ext>
            </a:extLst>
          </p:cNvPr>
          <p:cNvSpPr>
            <a:spLocks xmlns:a="http://schemas.openxmlformats.org/drawingml/2006/main" noGrp="1"/>
          </p:cNvSpPr>
          <p:nvPr/>
        </p:nvSpPr>
        <p:spPr>
          <a:xfrm xmlns:a="http://schemas.openxmlformats.org/drawingml/2006/main">
            <a:off x="6524625" y="4286250"/>
            <a:ext cx="4905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250" b="1">
                <a:solidFill>
                  <a:srgbClr val="EC7000"/>
                </a:solidFill>
                <a:latin typeface="Arial"/>
                <a:ea typeface="Arial"/>
                <a:cs typeface="Arial"/>
              </a:defRPr>
            </a:pPr>
            <a:r>
              <a:rPr sz="2250" b="1">
                <a:solidFill>
                  <a:srgbClr val="EC7000"/>
                </a:solidFill>
                <a:latin typeface="Arial"/>
                <a:ea typeface="Arial"/>
                <a:cs typeface="Arial"/>
              </a:rPr>
              <a:t>R$ 51,3 bi</a:t>
            </a:r>
          </a:p>
        </p:txBody>
      </p:sp>
      <p:sp>
        <p:nvSpPr>
          <p:cNvPr id="16" name="">
            <a:extLst xmlns:a="http://schemas.openxmlformats.org/drawingml/2006/main">
              <a:ext uri="{FF2B5EF4-FFF2-40B4-BE49-F238E27FC236}">
                <a16:creationId xmlns:a16="http://schemas.microsoft.com/office/drawing/2014/main" id="{A2E14653-FAE8-49D4-9A47-9BC1E036794F}"/>
              </a:ext>
            </a:extLst>
          </p:cNvPr>
          <p:cNvSpPr>
            <a:spLocks xmlns:a="http://schemas.openxmlformats.org/drawingml/2006/main" noGrp="1"/>
          </p:cNvSpPr>
          <p:nvPr/>
        </p:nvSpPr>
        <p:spPr>
          <a:xfrm xmlns:a="http://schemas.openxmlformats.org/drawingml/2006/main">
            <a:off x="6524625" y="4705350"/>
            <a:ext cx="4905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a:solidFill>
                  <a:srgbClr val="73787D"/>
                </a:solidFill>
                <a:latin typeface="Arial"/>
                <a:ea typeface="Arial"/>
                <a:cs typeface="Arial"/>
              </a:defRPr>
            </a:pPr>
            <a:r>
              <a:rPr sz="1050" b="0">
                <a:solidFill>
                  <a:srgbClr val="73787D"/>
                </a:solidFill>
                <a:latin typeface="Arial"/>
                <a:ea typeface="Arial"/>
                <a:cs typeface="Arial"/>
              </a:rPr>
              <a:t>64,8% do PL gerido pelo BTG está nos 22 FIDCs da coorte com o BTG como gestor. A exclusão leva o banco de #1 a #3.</a:t>
            </a:r>
          </a:p>
        </p:txBody>
      </p:sp>
      <p:sp>
        <p:nvSpPr>
          <p:cNvPr id="17" name="">
            <a:extLst xmlns:a="http://schemas.openxmlformats.org/drawingml/2006/main">
              <a:ext uri="{FF2B5EF4-FFF2-40B4-BE49-F238E27FC236}">
                <a16:creationId xmlns:a16="http://schemas.microsoft.com/office/drawing/2014/main" id="{F3997C5E-D32A-4FB1-A8B9-2376D1FD0EC7}"/>
              </a:ext>
            </a:extLst>
          </p:cNvPr>
          <p:cNvSpPr>
            <a:spLocks xmlns:a="http://schemas.openxmlformats.org/drawingml/2006/main" noGrp="1"/>
          </p:cNvSpPr>
          <p:nvPr/>
        </p:nvSpPr>
        <p:spPr>
          <a:xfrm xmlns:a="http://schemas.openxmlformats.org/drawingml/2006/main">
            <a:off x="6524625" y="5476875"/>
            <a:ext cx="490537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1000"/>
              </a:lnSpc>
              <a:buNone/>
              <a:defRPr sz="795" b="0">
                <a:solidFill>
                  <a:srgbClr val="73787D"/>
                </a:solidFill>
                <a:latin typeface="Arial"/>
                <a:ea typeface="Arial"/>
                <a:cs typeface="Arial"/>
              </a:defRPr>
            </a:pPr>
            <a:r>
              <a:rPr sz="795" b="0">
                <a:solidFill>
                  <a:srgbClr val="73787D"/>
                </a:solidFill>
                <a:latin typeface="Arial"/>
                <a:ea typeface="Arial"/>
                <a:cs typeface="Arial"/>
              </a:rPr>
              <a:t>A coorte bancária curada lista 32 raízes do BTG; 30 tinham PL observado em jun/26, somando R$ 52,2 bi. O recorte não atribui controle societário sem evidência documental.</a:t>
            </a:r>
          </a:p>
        </p:txBody>
      </p:sp>
    </p:spTree>
    <p:extLst>
      <p:ext uri="{BB962C8B-B14F-4D97-AF65-F5344CB8AC3E}">
        <p14:creationId xmlns:p14="http://schemas.microsoft.com/office/powerpoint/2010/main" val="1634646717"/>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7E285F6-3EA8-4E5C-B1E2-1A474750E1CB}"/>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MARKET SHARE · ADMINISTRAÇÃO</a:t>
            </a:r>
          </a:p>
        </p:txBody>
      </p:sp>
      <p:sp>
        <p:nvSpPr>
          <p:cNvPr id="2" name="">
            <a:extLst xmlns:a="http://schemas.openxmlformats.org/drawingml/2006/main">
              <a:ext uri="{FF2B5EF4-FFF2-40B4-BE49-F238E27FC236}">
                <a16:creationId xmlns:a16="http://schemas.microsoft.com/office/drawing/2014/main" id="{075F4C2B-DA66-4B9C-9597-5401438C28A7}"/>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Bradesco e BTG lideram Recebíveis Comerciais após as exclusões</a:t>
            </a:r>
          </a:p>
        </p:txBody>
      </p:sp>
      <p:sp>
        <p:nvSpPr>
          <p:cNvPr id="3" name="">
            <a:extLst xmlns:a="http://schemas.openxmlformats.org/drawingml/2006/main">
              <a:ext uri="{FF2B5EF4-FFF2-40B4-BE49-F238E27FC236}">
                <a16:creationId xmlns:a16="http://schemas.microsoft.com/office/drawing/2014/main" id="{FC011801-5EE1-4AE1-92D2-B56C0D1D84BB}"/>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7311246-F03E-4D8D-B663-96DA82FA347C}"/>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664C3D1-8C80-4EC2-B78A-DF471254F7CE}"/>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95544"/>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CVM/ANBIMA, jun/26. Subtipo = Tipo+Foco ANBIMA (cadastro dez/25, evidência e proxy determinístico da Tabela II). PL ex-FIC sem Sistema Petrobras/TAPSO; cobertura de classificação por Tipo+Foco (PL): 98,6%; fora: 1,4%.</a:t>
            </a:r>
          </a:p>
        </p:txBody>
      </p:sp>
      <p:sp>
        <p:nvSpPr>
          <p:cNvPr id="6" name="">
            <a:extLst xmlns:a="http://schemas.openxmlformats.org/drawingml/2006/main">
              <a:ext uri="{FF2B5EF4-FFF2-40B4-BE49-F238E27FC236}">
                <a16:creationId xmlns:a16="http://schemas.microsoft.com/office/drawing/2014/main" id="{348ECA80-896C-4D2C-B0A8-A16514A43ABA}"/>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57</a:t>
            </a:r>
          </a:p>
        </p:txBody>
      </p:sp>
      <p:graphicFrame>
        <p:nvGraphicFramePr>
          <p:cNvPr id="15" name="Chart"/>
          <p:cNvGraphicFramePr/>
          <p:nvPr/>
        </p:nvGraphicFramePr>
        <p:xfrm>
          <a:off xmlns:a="http://schemas.openxmlformats.org/drawingml/2006/main" x="609600" y="1381125"/>
          <a:ext xmlns:a="http://schemas.openxmlformats.org/drawingml/2006/main" cx="10953750" cy="4333875"/>
        </p:xfrm>
        <a:graphic xmlns:a="http://schemas.openxmlformats.org/drawingml/2006/main">
          <a:graphicData uri="http://schemas.openxmlformats.org/drawingml/2006/chart">
            <c:chart xmlns:r="http://schemas.openxmlformats.org/officeDocument/2006/relationships" xmlns:c="http://schemas.openxmlformats.org/drawingml/2006/chart" r:id="R4dafbd520ac54158"/>
          </a:graphicData>
        </a:graphic>
      </p:graphicFrame>
      <p:sp>
        <p:nvSpPr>
          <p:cNvPr id="8" name="">
            <a:extLst xmlns:a="http://schemas.openxmlformats.org/drawingml/2006/main">
              <a:ext uri="{FF2B5EF4-FFF2-40B4-BE49-F238E27FC236}">
                <a16:creationId xmlns:a16="http://schemas.microsoft.com/office/drawing/2014/main" id="{A74D5C13-4DAA-48D3-8279-25ECBB32451F}"/>
              </a:ext>
            </a:extLst>
          </p:cNvPr>
          <p:cNvSpPr>
            <a:spLocks xmlns:a="http://schemas.openxmlformats.org/drawingml/2006/main" noGrp="1"/>
          </p:cNvSpPr>
          <p:nvPr/>
        </p:nvSpPr>
        <p:spPr>
          <a:xfrm xmlns:a="http://schemas.openxmlformats.org/drawingml/2006/main">
            <a:off x="685800" y="6076950"/>
            <a:ext cx="10763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Corpo principal: 6 focos, 85,3% do PL classificado. Fora do gráfico: 8 focos e R$ 112,6 bi.</a:t>
            </a:r>
          </a:p>
        </p:txBody>
      </p:sp>
    </p:spTree>
    <p:extLst>
      <p:ext uri="{BB962C8B-B14F-4D97-AF65-F5344CB8AC3E}">
        <p14:creationId xmlns:p14="http://schemas.microsoft.com/office/powerpoint/2010/main" val="2112608542"/>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052BAE-884B-4A32-A262-A19FC487506C}"/>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MARKET SHARE · GESTÃO</a:t>
            </a:r>
          </a:p>
        </p:txBody>
      </p:sp>
      <p:sp>
        <p:nvSpPr>
          <p:cNvPr id="2" name="">
            <a:extLst xmlns:a="http://schemas.openxmlformats.org/drawingml/2006/main">
              <a:ext uri="{FF2B5EF4-FFF2-40B4-BE49-F238E27FC236}">
                <a16:creationId xmlns:a16="http://schemas.microsoft.com/office/drawing/2014/main" id="{6C646196-91A5-466F-A69A-2702F9B140D8}"/>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BTG lidera Crédito Pessoal; Top 10 soma 52% em Recebíveis Comerciais</a:t>
            </a:r>
          </a:p>
        </p:txBody>
      </p:sp>
      <p:sp>
        <p:nvSpPr>
          <p:cNvPr id="3" name="">
            <a:extLst xmlns:a="http://schemas.openxmlformats.org/drawingml/2006/main">
              <a:ext uri="{FF2B5EF4-FFF2-40B4-BE49-F238E27FC236}">
                <a16:creationId xmlns:a16="http://schemas.microsoft.com/office/drawing/2014/main" id="{4C697FE3-B63C-45D6-B3ED-781A64AF37FC}"/>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6706D26-F790-4D86-AC06-C366AC66A17A}"/>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A6BCC95-F2AA-44B9-82E6-9F886A14EA0A}"/>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95544"/>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CVM/ANBIMA, jun/26. Subtipo = Tipo+Foco ANBIMA (cadastro dez/25, evidência e proxy determinístico da Tabela II). PL ex-FIC sem Sistema Petrobras/TAPSO; cobertura de classificação por Tipo+Foco (PL): 98,6%; fora: 1,4%.</a:t>
            </a:r>
          </a:p>
        </p:txBody>
      </p:sp>
      <p:sp>
        <p:nvSpPr>
          <p:cNvPr id="6" name="">
            <a:extLst xmlns:a="http://schemas.openxmlformats.org/drawingml/2006/main">
              <a:ext uri="{FF2B5EF4-FFF2-40B4-BE49-F238E27FC236}">
                <a16:creationId xmlns:a16="http://schemas.microsoft.com/office/drawing/2014/main" id="{9426268E-1B1F-4941-BF68-A5DD88507019}"/>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58</a:t>
            </a:r>
          </a:p>
        </p:txBody>
      </p:sp>
      <p:graphicFrame>
        <p:nvGraphicFramePr>
          <p:cNvPr id="15" name="Chart"/>
          <p:cNvGraphicFramePr/>
          <p:nvPr/>
        </p:nvGraphicFramePr>
        <p:xfrm>
          <a:off xmlns:a="http://schemas.openxmlformats.org/drawingml/2006/main" x="609600" y="1381125"/>
          <a:ext xmlns:a="http://schemas.openxmlformats.org/drawingml/2006/main" cx="10953750" cy="4333875"/>
        </p:xfrm>
        <a:graphic xmlns:a="http://schemas.openxmlformats.org/drawingml/2006/main">
          <a:graphicData uri="http://schemas.openxmlformats.org/drawingml/2006/chart">
            <c:chart xmlns:r="http://schemas.openxmlformats.org/officeDocument/2006/relationships" xmlns:c="http://schemas.openxmlformats.org/drawingml/2006/chart" r:id="Rf27696f27cd44add"/>
          </a:graphicData>
        </a:graphic>
      </p:graphicFrame>
      <p:sp>
        <p:nvSpPr>
          <p:cNvPr id="8" name="">
            <a:extLst xmlns:a="http://schemas.openxmlformats.org/drawingml/2006/main">
              <a:ext uri="{FF2B5EF4-FFF2-40B4-BE49-F238E27FC236}">
                <a16:creationId xmlns:a16="http://schemas.microsoft.com/office/drawing/2014/main" id="{CBEA203F-8C79-4ED9-802D-2E0C96EF3F1E}"/>
              </a:ext>
            </a:extLst>
          </p:cNvPr>
          <p:cNvSpPr>
            <a:spLocks xmlns:a="http://schemas.openxmlformats.org/drawingml/2006/main" noGrp="1"/>
          </p:cNvSpPr>
          <p:nvPr/>
        </p:nvSpPr>
        <p:spPr>
          <a:xfrm xmlns:a="http://schemas.openxmlformats.org/drawingml/2006/main">
            <a:off x="685800" y="6076950"/>
            <a:ext cx="10763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Corpo principal: 6 focos, 85,3% do PL classificado. Fora do gráfico: 8 focos e R$ 112,6 bi.</a:t>
            </a:r>
          </a:p>
        </p:txBody>
      </p:sp>
    </p:spTree>
    <p:extLst>
      <p:ext uri="{BB962C8B-B14F-4D97-AF65-F5344CB8AC3E}">
        <p14:creationId xmlns:p14="http://schemas.microsoft.com/office/powerpoint/2010/main" val="1154719152"/>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3D784D-5DA3-4833-9D33-D2AB66CFEC0F}"/>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MARKET SHARE · CUSTÓDIA</a:t>
            </a:r>
          </a:p>
        </p:txBody>
      </p:sp>
      <p:sp>
        <p:nvSpPr>
          <p:cNvPr id="2" name="">
            <a:extLst xmlns:a="http://schemas.openxmlformats.org/drawingml/2006/main">
              <a:ext uri="{FF2B5EF4-FFF2-40B4-BE49-F238E27FC236}">
                <a16:creationId xmlns:a16="http://schemas.microsoft.com/office/drawing/2014/main" id="{2E264075-245F-4979-B8AE-C32CEF9D2B32}"/>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BTG e Oliveira Trust somam 54% de Crédito Pessoal</a:t>
            </a:r>
          </a:p>
        </p:txBody>
      </p:sp>
      <p:sp>
        <p:nvSpPr>
          <p:cNvPr id="3" name="">
            <a:extLst xmlns:a="http://schemas.openxmlformats.org/drawingml/2006/main">
              <a:ext uri="{FF2B5EF4-FFF2-40B4-BE49-F238E27FC236}">
                <a16:creationId xmlns:a16="http://schemas.microsoft.com/office/drawing/2014/main" id="{3A001834-85DE-4C68-8CE4-57B701F898D6}"/>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22D8034-BF77-44A3-8475-60F6EA550F92}"/>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1265FBB-858E-42DD-A116-69AF6B4DEA83}"/>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95544"/>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CVM/ANBIMA, jun/26. Subtipo = Tipo+Foco ANBIMA (cadastro dez/25, evidência e proxy determinístico da Tabela II). PL ex-FIC sem Sistema Petrobras/TAPSO; cobertura de classificação por Tipo+Foco (PL): 98,6%; fora: 1,4%.</a:t>
            </a:r>
          </a:p>
        </p:txBody>
      </p:sp>
      <p:sp>
        <p:nvSpPr>
          <p:cNvPr id="6" name="">
            <a:extLst xmlns:a="http://schemas.openxmlformats.org/drawingml/2006/main">
              <a:ext uri="{FF2B5EF4-FFF2-40B4-BE49-F238E27FC236}">
                <a16:creationId xmlns:a16="http://schemas.microsoft.com/office/drawing/2014/main" id="{44253FB1-F574-4B09-A311-E563FCECA3A5}"/>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59</a:t>
            </a:r>
          </a:p>
        </p:txBody>
      </p:sp>
      <p:graphicFrame>
        <p:nvGraphicFramePr>
          <p:cNvPr id="15" name="Chart"/>
          <p:cNvGraphicFramePr/>
          <p:nvPr/>
        </p:nvGraphicFramePr>
        <p:xfrm>
          <a:off xmlns:a="http://schemas.openxmlformats.org/drawingml/2006/main" x="609600" y="1381125"/>
          <a:ext xmlns:a="http://schemas.openxmlformats.org/drawingml/2006/main" cx="10953750" cy="4333875"/>
        </p:xfrm>
        <a:graphic xmlns:a="http://schemas.openxmlformats.org/drawingml/2006/main">
          <a:graphicData uri="http://schemas.openxmlformats.org/drawingml/2006/chart">
            <c:chart xmlns:r="http://schemas.openxmlformats.org/officeDocument/2006/relationships" xmlns:c="http://schemas.openxmlformats.org/drawingml/2006/chart" r:id="Reda9448f8be9410b"/>
          </a:graphicData>
        </a:graphic>
      </p:graphicFrame>
      <p:sp>
        <p:nvSpPr>
          <p:cNvPr id="8" name="">
            <a:extLst xmlns:a="http://schemas.openxmlformats.org/drawingml/2006/main">
              <a:ext uri="{FF2B5EF4-FFF2-40B4-BE49-F238E27FC236}">
                <a16:creationId xmlns:a16="http://schemas.microsoft.com/office/drawing/2014/main" id="{B02369C9-3B57-4D3A-8AD2-D6B34D7A0264}"/>
              </a:ext>
            </a:extLst>
          </p:cNvPr>
          <p:cNvSpPr>
            <a:spLocks xmlns:a="http://schemas.openxmlformats.org/drawingml/2006/main" noGrp="1"/>
          </p:cNvSpPr>
          <p:nvPr/>
        </p:nvSpPr>
        <p:spPr>
          <a:xfrm xmlns:a="http://schemas.openxmlformats.org/drawingml/2006/main">
            <a:off x="685800" y="6076950"/>
            <a:ext cx="10763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Corpo principal: 6 focos, 85,3% do PL classificado. Fora do gráfico: 8 focos e R$ 112,6 bi.</a:t>
            </a:r>
          </a:p>
        </p:txBody>
      </p:sp>
    </p:spTree>
    <p:extLst>
      <p:ext uri="{BB962C8B-B14F-4D97-AF65-F5344CB8AC3E}">
        <p14:creationId xmlns:p14="http://schemas.microsoft.com/office/powerpoint/2010/main" val="788117039"/>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567D182-A7E1-4A00-AA21-7D3F04ADF5EE}"/>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PRESTADORES · EVIDÊNCIAS DE MIGRAÇÃO</a:t>
            </a:r>
          </a:p>
        </p:txBody>
      </p:sp>
      <p:sp>
        <p:nvSpPr>
          <p:cNvPr id="2" name="">
            <a:extLst xmlns:a="http://schemas.openxmlformats.org/drawingml/2006/main">
              <a:ext uri="{FF2B5EF4-FFF2-40B4-BE49-F238E27FC236}">
                <a16:creationId xmlns:a16="http://schemas.microsoft.com/office/drawing/2014/main" id="{5291D949-BCBF-4EC1-9130-D9A1EF956FEC}"/>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88306"/>
          </a:bodyPr>
          <a:lstStyle xmlns:a="http://schemas.openxmlformats.org/drawingml/2006/main"/>
          <a:p xmlns:a="http://schemas.openxmlformats.org/drawingml/2006/main">
            <a:pPr algn="l">
              <a:lnSpc>
                <a:spcPct val="100000"/>
              </a:lnSpc>
              <a:buNone/>
              <a:defRPr sz="1950" b="1">
                <a:solidFill>
                  <a:srgbClr val="151515"/>
                </a:solidFill>
                <a:latin typeface="Arial"/>
                <a:ea typeface="Arial"/>
                <a:cs typeface="Arial"/>
              </a:defRPr>
            </a:pPr>
            <a:r>
              <a:rPr sz="1950" b="1">
                <a:solidFill>
                  <a:srgbClr val="151515"/>
                </a:solidFill>
                <a:latin typeface="Arial"/>
                <a:ea typeface="Arial"/>
                <a:cs typeface="Arial"/>
              </a:rPr>
              <a:t>7,2% do PL comparável mudou em 2025; 35,0% do PL continuante da coorte CBSF/Reag migrou até jun/26</a:t>
            </a:r>
          </a:p>
        </p:txBody>
      </p:sp>
      <p:sp>
        <p:nvSpPr>
          <p:cNvPr id="3" name="">
            <a:extLst xmlns:a="http://schemas.openxmlformats.org/drawingml/2006/main">
              <a:ext uri="{FF2B5EF4-FFF2-40B4-BE49-F238E27FC236}">
                <a16:creationId xmlns:a16="http://schemas.microsoft.com/office/drawing/2014/main" id="{D0840A63-7362-4917-B859-E874EAD9D08E}"/>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C8D01FC-4594-452B-8344-FB1E04EFC0E2}"/>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995A15D-AEB4-4D03-B46E-DDA074BAE5DE}"/>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 Informe Mensal. Métricas por CNPJ legal, ex-FIC-FIDC e sem Sistema Petrobras/TAPSO; PL positivo e administrador informado nos períodos comparáveis.</a:t>
            </a:r>
          </a:p>
        </p:txBody>
      </p:sp>
      <p:sp>
        <p:nvSpPr>
          <p:cNvPr id="6" name="">
            <a:extLst xmlns:a="http://schemas.openxmlformats.org/drawingml/2006/main">
              <a:ext uri="{FF2B5EF4-FFF2-40B4-BE49-F238E27FC236}">
                <a16:creationId xmlns:a16="http://schemas.microsoft.com/office/drawing/2014/main" id="{391AF758-E0D3-42E3-9930-ED1682F0FDF2}"/>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60</a:t>
            </a:r>
          </a:p>
        </p:txBody>
      </p:sp>
      <p:sp>
        <p:nvSpPr>
          <p:cNvPr id="7" name="">
            <a:extLst xmlns:a="http://schemas.openxmlformats.org/drawingml/2006/main">
              <a:ext uri="{FF2B5EF4-FFF2-40B4-BE49-F238E27FC236}">
                <a16:creationId xmlns:a16="http://schemas.microsoft.com/office/drawing/2014/main" id="{B1398E8F-D108-40FD-95FF-0C3159232477}"/>
              </a:ext>
            </a:extLst>
          </p:cNvPr>
          <p:cNvSpPr>
            <a:spLocks xmlns:a="http://schemas.openxmlformats.org/drawingml/2006/main" noGrp="1"/>
          </p:cNvSpPr>
          <p:nvPr/>
        </p:nvSpPr>
        <p:spPr>
          <a:xfrm xmlns:a="http://schemas.openxmlformats.org/drawingml/2006/main">
            <a:off x="571500" y="1381125"/>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INDÚSTRIA · DEZ/24 → DEZ/25</a:t>
            </a:r>
          </a:p>
        </p:txBody>
      </p:sp>
      <p:sp>
        <p:nvSpPr>
          <p:cNvPr id="8" name="">
            <a:extLst xmlns:a="http://schemas.openxmlformats.org/drawingml/2006/main">
              <a:ext uri="{FF2B5EF4-FFF2-40B4-BE49-F238E27FC236}">
                <a16:creationId xmlns:a16="http://schemas.microsoft.com/office/drawing/2014/main" id="{B4E5A824-B7D4-486D-9E7E-CCB867A5FEEB}"/>
              </a:ext>
            </a:extLst>
          </p:cNvPr>
          <p:cNvSpPr>
            <a:spLocks xmlns:a="http://schemas.openxmlformats.org/drawingml/2006/main" noGrp="1"/>
          </p:cNvSpPr>
          <p:nvPr/>
        </p:nvSpPr>
        <p:spPr>
          <a:xfrm xmlns:a="http://schemas.openxmlformats.org/drawingml/2006/main">
            <a:off x="571500" y="1647825"/>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4" name=""/>
          <p:cNvGraphicFramePr/>
          <p:nvPr/>
        </p:nvGraphicFramePr>
        <p:xfrm>
          <a:off xmlns:a="http://schemas.openxmlformats.org/drawingml/2006/main" x="571500" y="1714500"/>
          <a:ext xmlns:a="http://schemas.openxmlformats.org/drawingml/2006/main" cx="5286375" cy="2952750"/>
        </p:xfrm>
        <a:graphic xmlns:a="http://schemas.openxmlformats.org/drawingml/2006/main">
          <a:graphicData uri="http://schemas.openxmlformats.org/drawingml/2006/table">
            <a:tbl>
              <a:tblPr firstRow="0" firstCol="0" lastRow="0" lastCol="0" bandRow="0" bandCol="0"/>
              <a:tblGrid>
                <a:gridCol w="2857500"/>
                <a:gridCol w="2428875"/>
              </a:tblGrid>
              <a:tr h="209550">
                <a:tc>
                  <a:txBody>
                    <a:bodyPr wrap="square" anchor="ctr">
                      <a:normAutofit/>
                    </a:bodyPr>
                    <a:lstStyle/>
                    <a:p>
                      <a:pPr algn="l"/>
                      <a:r>
                        <a:rPr sz="750" b="1">
                          <a:solidFill>
                            <a:srgbClr val="FFFFFF"/>
                          </a:solidFill>
                          <a:latin typeface="Arial"/>
                          <a:ea typeface="Arial"/>
                          <a:cs typeface="Arial"/>
                        </a:rPr>
                        <a:t>Métrica</a:t>
                      </a:r>
                    </a:p>
                  </a:txBody>
                  <a:tcPr marL="47625" marR="47625" marT="19050" marB="19050" anchor="ctr">
                    <a:solidFill>
                      <a:srgbClr val="151515"/>
                    </a:solidFill>
                  </a:tcPr>
                </a:tc>
                <a:tc>
                  <a:txBody>
                    <a:bodyPr wrap="square" anchor="ctr">
                      <a:normAutofit/>
                    </a:bodyPr>
                    <a:lstStyle/>
                    <a:p>
                      <a:pPr algn="r"/>
                      <a:r>
                        <a:rPr sz="750" b="1">
                          <a:solidFill>
                            <a:srgbClr val="FFFFFF"/>
                          </a:solidFill>
                          <a:latin typeface="Arial"/>
                          <a:ea typeface="Arial"/>
                          <a:cs typeface="Arial"/>
                        </a:rPr>
                        <a:t>Resultado</a:t>
                      </a:r>
                    </a:p>
                  </a:txBody>
                  <a:tcPr marL="47625" marR="47625" marT="19050" marB="19050" anchor="ctr">
                    <a:solidFill>
                      <a:srgbClr val="151515"/>
                    </a:solidFill>
                  </a:tcPr>
                </a:tc>
              </a:tr>
              <a:tr h="457200">
                <a:tc>
                  <a:txBody>
                    <a:bodyPr wrap="square" anchor="ctr">
                      <a:normAutofit/>
                    </a:bodyPr>
                    <a:lstStyle/>
                    <a:p>
                      <a:pPr algn="l"/>
                      <a:r>
                        <a:rPr sz="840">
                          <a:solidFill>
                            <a:srgbClr val="30353A"/>
                          </a:solidFill>
                          <a:latin typeface="Arial"/>
                          <a:ea typeface="Arial"/>
                          <a:cs typeface="Arial"/>
                        </a:rPr>
                        <a:t>Fundos comparáveis</a:t>
                      </a:r>
                    </a:p>
                  </a:txBody>
                  <a:tcPr marL="47625" marR="47625" marT="14288" marB="14288" anchor="ctr">
                    <a:solidFill>
                      <a:srgbClr val="FFFFFF"/>
                    </a:solidFill>
                  </a:tcPr>
                </a:tc>
                <a:tc>
                  <a:txBody>
                    <a:bodyPr wrap="square" anchor="ctr">
                      <a:normAutofit/>
                    </a:bodyPr>
                    <a:lstStyle/>
                    <a:p>
                      <a:pPr algn="r"/>
                      <a:r>
                        <a:rPr sz="840">
                          <a:solidFill>
                            <a:srgbClr val="30353A"/>
                          </a:solidFill>
                          <a:latin typeface="Arial"/>
                          <a:ea typeface="Arial"/>
                          <a:cs typeface="Arial"/>
                        </a:rPr>
                        <a:t>2.477</a:t>
                      </a:r>
                    </a:p>
                  </a:txBody>
                  <a:tcPr marL="47625" marR="47625" marT="14288" marB="14288" anchor="ctr">
                    <a:solidFill>
                      <a:srgbClr val="FFFFFF"/>
                    </a:solidFill>
                  </a:tcPr>
                </a:tc>
              </a:tr>
              <a:tr h="457200">
                <a:tc>
                  <a:txBody>
                    <a:bodyPr wrap="square" anchor="ctr">
                      <a:normAutofit/>
                    </a:bodyPr>
                    <a:lstStyle/>
                    <a:p>
                      <a:pPr algn="l"/>
                      <a:r>
                        <a:rPr sz="840">
                          <a:solidFill>
                            <a:srgbClr val="30353A"/>
                          </a:solidFill>
                          <a:latin typeface="Arial"/>
                          <a:ea typeface="Arial"/>
                          <a:cs typeface="Arial"/>
                        </a:rPr>
                        <a:t>PL comparável</a:t>
                      </a:r>
                    </a:p>
                  </a:txBody>
                  <a:tcPr marL="47625" marR="47625" marT="14288" marB="14288" anchor="ctr">
                    <a:solidFill>
                      <a:srgbClr val="F5F6F7"/>
                    </a:solidFill>
                  </a:tcPr>
                </a:tc>
                <a:tc>
                  <a:txBody>
                    <a:bodyPr wrap="square" anchor="ctr">
                      <a:normAutofit/>
                    </a:bodyPr>
                    <a:lstStyle/>
                    <a:p>
                      <a:pPr algn="r"/>
                      <a:r>
                        <a:rPr sz="840">
                          <a:solidFill>
                            <a:srgbClr val="30353A"/>
                          </a:solidFill>
                          <a:latin typeface="Arial"/>
                          <a:ea typeface="Arial"/>
                          <a:cs typeface="Arial"/>
                        </a:rPr>
                        <a:t>R$ 455,9 bi</a:t>
                      </a:r>
                    </a:p>
                  </a:txBody>
                  <a:tcPr marL="47625" marR="47625" marT="14288" marB="14288" anchor="ctr">
                    <a:solidFill>
                      <a:srgbClr val="F5F6F7"/>
                    </a:solidFill>
                  </a:tcPr>
                </a:tc>
              </a:tr>
              <a:tr h="457200">
                <a:tc>
                  <a:txBody>
                    <a:bodyPr wrap="square" anchor="ctr">
                      <a:normAutofit/>
                    </a:bodyPr>
                    <a:lstStyle/>
                    <a:p>
                      <a:pPr algn="l"/>
                      <a:r>
                        <a:rPr sz="840">
                          <a:solidFill>
                            <a:srgbClr val="30353A"/>
                          </a:solidFill>
                          <a:latin typeface="Arial"/>
                          <a:ea typeface="Arial"/>
                          <a:cs typeface="Arial"/>
                        </a:rPr>
                        <a:t>Fundos que mudaram</a:t>
                      </a:r>
                    </a:p>
                  </a:txBody>
                  <a:tcPr marL="47625" marR="47625" marT="14288" marB="14288" anchor="ctr">
                    <a:solidFill>
                      <a:srgbClr val="FFFFFF"/>
                    </a:solidFill>
                  </a:tcPr>
                </a:tc>
                <a:tc>
                  <a:txBody>
                    <a:bodyPr wrap="square" anchor="ctr">
                      <a:normAutofit/>
                    </a:bodyPr>
                    <a:lstStyle/>
                    <a:p>
                      <a:pPr algn="r"/>
                      <a:r>
                        <a:rPr sz="840">
                          <a:solidFill>
                            <a:srgbClr val="30353A"/>
                          </a:solidFill>
                          <a:latin typeface="Arial"/>
                          <a:ea typeface="Arial"/>
                          <a:cs typeface="Arial"/>
                        </a:rPr>
                        <a:t>257</a:t>
                      </a:r>
                    </a:p>
                  </a:txBody>
                  <a:tcPr marL="47625" marR="47625" marT="14288" marB="14288" anchor="ctr">
                    <a:solidFill>
                      <a:srgbClr val="FFFFFF"/>
                    </a:solidFill>
                  </a:tcPr>
                </a:tc>
              </a:tr>
              <a:tr h="457200">
                <a:tc>
                  <a:txBody>
                    <a:bodyPr wrap="square" anchor="ctr">
                      <a:normAutofit/>
                    </a:bodyPr>
                    <a:lstStyle/>
                    <a:p>
                      <a:pPr algn="l"/>
                      <a:r>
                        <a:rPr sz="840">
                          <a:solidFill>
                            <a:srgbClr val="30353A"/>
                          </a:solidFill>
                          <a:latin typeface="Arial"/>
                          <a:ea typeface="Arial"/>
                          <a:cs typeface="Arial"/>
                        </a:rPr>
                        <a:t>PL que mudou</a:t>
                      </a:r>
                    </a:p>
                  </a:txBody>
                  <a:tcPr marL="47625" marR="47625" marT="14288" marB="14288" anchor="ctr">
                    <a:solidFill>
                      <a:srgbClr val="F5F6F7"/>
                    </a:solidFill>
                  </a:tcPr>
                </a:tc>
                <a:tc>
                  <a:txBody>
                    <a:bodyPr wrap="square" anchor="ctr">
                      <a:normAutofit/>
                    </a:bodyPr>
                    <a:lstStyle/>
                    <a:p>
                      <a:pPr algn="r"/>
                      <a:r>
                        <a:rPr sz="840">
                          <a:solidFill>
                            <a:srgbClr val="30353A"/>
                          </a:solidFill>
                          <a:latin typeface="Arial"/>
                          <a:ea typeface="Arial"/>
                          <a:cs typeface="Arial"/>
                        </a:rPr>
                        <a:t>R$ 33,0 bi</a:t>
                      </a:r>
                    </a:p>
                  </a:txBody>
                  <a:tcPr marL="47625" marR="47625" marT="14288" marB="14288" anchor="ctr">
                    <a:solidFill>
                      <a:srgbClr val="F5F6F7"/>
                    </a:solidFill>
                  </a:tcPr>
                </a:tc>
              </a:tr>
              <a:tr h="457200">
                <a:tc>
                  <a:txBody>
                    <a:bodyPr wrap="square" anchor="ctr">
                      <a:normAutofit/>
                    </a:bodyPr>
                    <a:lstStyle/>
                    <a:p>
                      <a:pPr algn="l"/>
                      <a:r>
                        <a:rPr sz="840">
                          <a:solidFill>
                            <a:srgbClr val="30353A"/>
                          </a:solidFill>
                          <a:latin typeface="Arial"/>
                          <a:ea typeface="Arial"/>
                          <a:cs typeface="Arial"/>
                        </a:rPr>
                        <a:t>PL que mudou / comparável</a:t>
                      </a:r>
                    </a:p>
                  </a:txBody>
                  <a:tcPr marL="47625" marR="47625" marT="14288" marB="14288" anchor="ctr">
                    <a:solidFill>
                      <a:srgbClr val="FFF1E6"/>
                    </a:solidFill>
                  </a:tcPr>
                </a:tc>
                <a:tc>
                  <a:txBody>
                    <a:bodyPr wrap="square" anchor="ctr">
                      <a:normAutofit/>
                    </a:bodyPr>
                    <a:lstStyle/>
                    <a:p>
                      <a:pPr algn="r"/>
                      <a:r>
                        <a:rPr sz="840">
                          <a:solidFill>
                            <a:srgbClr val="30353A"/>
                          </a:solidFill>
                          <a:latin typeface="Arial"/>
                          <a:ea typeface="Arial"/>
                          <a:cs typeface="Arial"/>
                        </a:rPr>
                        <a:t>7,2%</a:t>
                      </a:r>
                    </a:p>
                  </a:txBody>
                  <a:tcPr marL="47625" marR="47625" marT="14288" marB="14288" anchor="ctr">
                    <a:solidFill>
                      <a:srgbClr val="FFF1E6"/>
                    </a:solidFill>
                  </a:tcPr>
                </a:tc>
              </a:tr>
              <a:tr h="457200">
                <a:tc>
                  <a:txBody>
                    <a:bodyPr wrap="square" anchor="ctr">
                      <a:normAutofit/>
                    </a:bodyPr>
                    <a:lstStyle/>
                    <a:p>
                      <a:pPr algn="l"/>
                      <a:r>
                        <a:rPr sz="840">
                          <a:solidFill>
                            <a:srgbClr val="30353A"/>
                          </a:solidFill>
                          <a:latin typeface="Arial"/>
                          <a:ea typeface="Arial"/>
                          <a:cs typeface="Arial"/>
                        </a:rPr>
                        <a:t>Cielo · 2 FIDCs</a:t>
                      </a:r>
                    </a:p>
                  </a:txBody>
                  <a:tcPr marL="47625" marR="47625" marT="14288" marB="14288" anchor="ctr">
                    <a:solidFill>
                      <a:srgbClr val="FFF1E6"/>
                    </a:solidFill>
                  </a:tcPr>
                </a:tc>
                <a:tc>
                  <a:txBody>
                    <a:bodyPr wrap="square" anchor="ctr">
                      <a:normAutofit/>
                    </a:bodyPr>
                    <a:lstStyle/>
                    <a:p>
                      <a:pPr algn="r"/>
                      <a:r>
                        <a:rPr sz="840">
                          <a:solidFill>
                            <a:srgbClr val="30353A"/>
                          </a:solidFill>
                          <a:latin typeface="Arial"/>
                          <a:ea typeface="Arial"/>
                          <a:cs typeface="Arial"/>
                        </a:rPr>
                        <a:t>R$ 8,9 bi · 27,0% do PL migrado</a:t>
                      </a:r>
                    </a:p>
                  </a:txBody>
                  <a:tcPr marL="47625" marR="47625" marT="14288" marB="14288" anchor="ctr">
                    <a:solidFill>
                      <a:srgbClr val="FFF1E6"/>
                    </a:solidFill>
                  </a:tcPr>
                </a:tc>
              </a:tr>
            </a:tbl>
          </a:graphicData>
        </a:graphic>
      </p:graphicFrame>
      <p:sp>
        <p:nvSpPr>
          <p:cNvPr id="10" name="">
            <a:extLst xmlns:a="http://schemas.openxmlformats.org/drawingml/2006/main">
              <a:ext uri="{FF2B5EF4-FFF2-40B4-BE49-F238E27FC236}">
                <a16:creationId xmlns:a16="http://schemas.microsoft.com/office/drawing/2014/main" id="{A83C3E3F-980D-4968-8CF5-A69C57E6A429}"/>
              </a:ext>
            </a:extLst>
          </p:cNvPr>
          <p:cNvSpPr>
            <a:spLocks xmlns:a="http://schemas.openxmlformats.org/drawingml/2006/main" noGrp="1"/>
          </p:cNvSpPr>
          <p:nvPr/>
        </p:nvSpPr>
        <p:spPr>
          <a:xfrm xmlns:a="http://schemas.openxmlformats.org/drawingml/2006/main">
            <a:off x="6334125" y="1381125"/>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COORTE CBSF/REAG · DEZ/25 → JUN/26</a:t>
            </a:r>
          </a:p>
        </p:txBody>
      </p:sp>
      <p:sp>
        <p:nvSpPr>
          <p:cNvPr id="11" name="">
            <a:extLst xmlns:a="http://schemas.openxmlformats.org/drawingml/2006/main">
              <a:ext uri="{FF2B5EF4-FFF2-40B4-BE49-F238E27FC236}">
                <a16:creationId xmlns:a16="http://schemas.microsoft.com/office/drawing/2014/main" id="{D9801466-DB72-4A71-976E-9E583C459FB7}"/>
              </a:ext>
            </a:extLst>
          </p:cNvPr>
          <p:cNvSpPr>
            <a:spLocks xmlns:a="http://schemas.openxmlformats.org/drawingml/2006/main" noGrp="1"/>
          </p:cNvSpPr>
          <p:nvPr/>
        </p:nvSpPr>
        <p:spPr>
          <a:xfrm xmlns:a="http://schemas.openxmlformats.org/drawingml/2006/main">
            <a:off x="6334125" y="1647825"/>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graphicFrame>
        <p:nvGraphicFramePr>
          <p:cNvPr id="27" name=""/>
          <p:cNvGraphicFramePr/>
          <p:nvPr/>
        </p:nvGraphicFramePr>
        <p:xfrm>
          <a:off xmlns:a="http://schemas.openxmlformats.org/drawingml/2006/main" x="6334125" y="1714500"/>
          <a:ext xmlns:a="http://schemas.openxmlformats.org/drawingml/2006/main" cx="5286375" cy="2952750"/>
        </p:xfrm>
        <a:graphic xmlns:a="http://schemas.openxmlformats.org/drawingml/2006/main">
          <a:graphicData uri="http://schemas.openxmlformats.org/drawingml/2006/table">
            <a:tbl>
              <a:tblPr firstRow="0" firstCol="0" lastRow="0" lastCol="0" bandRow="0" bandCol="0"/>
              <a:tblGrid>
                <a:gridCol w="2667000"/>
                <a:gridCol w="2619375"/>
              </a:tblGrid>
              <a:tr h="209550">
                <a:tc>
                  <a:txBody>
                    <a:bodyPr wrap="square" anchor="ctr">
                      <a:normAutofit/>
                    </a:bodyPr>
                    <a:lstStyle/>
                    <a:p>
                      <a:pPr algn="l"/>
                      <a:r>
                        <a:rPr sz="750" b="1">
                          <a:solidFill>
                            <a:srgbClr val="FFFFFF"/>
                          </a:solidFill>
                          <a:latin typeface="Arial"/>
                          <a:ea typeface="Arial"/>
                          <a:cs typeface="Arial"/>
                        </a:rPr>
                        <a:t>Métrica</a:t>
                      </a:r>
                    </a:p>
                  </a:txBody>
                  <a:tcPr marL="47625" marR="47625" marT="19050" marB="19050" anchor="ctr">
                    <a:solidFill>
                      <a:srgbClr val="151515"/>
                    </a:solidFill>
                  </a:tcPr>
                </a:tc>
                <a:tc>
                  <a:txBody>
                    <a:bodyPr wrap="square" anchor="ctr">
                      <a:normAutofit/>
                    </a:bodyPr>
                    <a:lstStyle/>
                    <a:p>
                      <a:pPr algn="r"/>
                      <a:r>
                        <a:rPr sz="750" b="1">
                          <a:solidFill>
                            <a:srgbClr val="FFFFFF"/>
                          </a:solidFill>
                          <a:latin typeface="Arial"/>
                          <a:ea typeface="Arial"/>
                          <a:cs typeface="Arial"/>
                        </a:rPr>
                        <a:t>Resultado</a:t>
                      </a:r>
                    </a:p>
                  </a:txBody>
                  <a:tcPr marL="47625" marR="47625" marT="19050" marB="19050" anchor="ctr">
                    <a:solidFill>
                      <a:srgbClr val="151515"/>
                    </a:solidFill>
                  </a:tcPr>
                </a:tc>
              </a:tr>
              <a:tr h="342900">
                <a:tc>
                  <a:txBody>
                    <a:bodyPr wrap="square" anchor="ctr">
                      <a:normAutofit/>
                    </a:bodyPr>
                    <a:lstStyle/>
                    <a:p>
                      <a:pPr algn="l"/>
                      <a:r>
                        <a:rPr sz="795">
                          <a:solidFill>
                            <a:srgbClr val="30353A"/>
                          </a:solidFill>
                          <a:latin typeface="Arial"/>
                          <a:ea typeface="Arial"/>
                          <a:cs typeface="Arial"/>
                        </a:rPr>
                        <a:t>Fundos na origem</a:t>
                      </a:r>
                    </a:p>
                  </a:txBody>
                  <a:tcPr marL="47625" marR="47625" marT="14288" marB="14288" anchor="ctr">
                    <a:solidFill>
                      <a:srgbClr val="FFFFFF"/>
                    </a:solidFill>
                  </a:tcPr>
                </a:tc>
                <a:tc>
                  <a:txBody>
                    <a:bodyPr wrap="square" anchor="ctr">
                      <a:normAutofit/>
                    </a:bodyPr>
                    <a:lstStyle/>
                    <a:p>
                      <a:pPr algn="r"/>
                      <a:r>
                        <a:rPr sz="795">
                          <a:solidFill>
                            <a:srgbClr val="30353A"/>
                          </a:solidFill>
                          <a:latin typeface="Arial"/>
                          <a:ea typeface="Arial"/>
                          <a:cs typeface="Arial"/>
                        </a:rPr>
                        <a:t>131</a:t>
                      </a:r>
                    </a:p>
                  </a:txBody>
                  <a:tcPr marL="47625" marR="47625" marT="14288" marB="14288" anchor="ctr">
                    <a:solidFill>
                      <a:srgbClr val="FFFFFF"/>
                    </a:solidFill>
                  </a:tcPr>
                </a:tc>
              </a:tr>
              <a:tr h="342900">
                <a:tc>
                  <a:txBody>
                    <a:bodyPr wrap="square" anchor="ctr">
                      <a:normAutofit/>
                    </a:bodyPr>
                    <a:lstStyle/>
                    <a:p>
                      <a:pPr algn="l"/>
                      <a:r>
                        <a:rPr sz="795">
                          <a:solidFill>
                            <a:srgbClr val="30353A"/>
                          </a:solidFill>
                          <a:latin typeface="Arial"/>
                          <a:ea typeface="Arial"/>
                          <a:cs typeface="Arial"/>
                        </a:rPr>
                        <a:t>PL na origem</a:t>
                      </a:r>
                    </a:p>
                  </a:txBody>
                  <a:tcPr marL="47625" marR="47625" marT="14288" marB="14288" anchor="ctr">
                    <a:solidFill>
                      <a:srgbClr val="F5F6F7"/>
                    </a:solidFill>
                  </a:tcPr>
                </a:tc>
                <a:tc>
                  <a:txBody>
                    <a:bodyPr wrap="square" anchor="ctr">
                      <a:normAutofit/>
                    </a:bodyPr>
                    <a:lstStyle/>
                    <a:p>
                      <a:pPr algn="r"/>
                      <a:r>
                        <a:rPr sz="795">
                          <a:solidFill>
                            <a:srgbClr val="30353A"/>
                          </a:solidFill>
                          <a:latin typeface="Arial"/>
                          <a:ea typeface="Arial"/>
                          <a:cs typeface="Arial"/>
                        </a:rPr>
                        <a:t>R$ 66,3 bi</a:t>
                      </a:r>
                    </a:p>
                  </a:txBody>
                  <a:tcPr marL="47625" marR="47625" marT="14288" marB="14288" anchor="ctr">
                    <a:solidFill>
                      <a:srgbClr val="F5F6F7"/>
                    </a:solidFill>
                  </a:tcPr>
                </a:tc>
              </a:tr>
              <a:tr h="342900">
                <a:tc>
                  <a:txBody>
                    <a:bodyPr wrap="square" anchor="ctr">
                      <a:normAutofit/>
                    </a:bodyPr>
                    <a:lstStyle/>
                    <a:p>
                      <a:pPr algn="l"/>
                      <a:r>
                        <a:rPr sz="795">
                          <a:solidFill>
                            <a:srgbClr val="30353A"/>
                          </a:solidFill>
                          <a:latin typeface="Arial"/>
                          <a:ea typeface="Arial"/>
                          <a:cs typeface="Arial"/>
                        </a:rPr>
                        <a:t>Fundos continuantes</a:t>
                      </a:r>
                    </a:p>
                  </a:txBody>
                  <a:tcPr marL="47625" marR="47625" marT="14288" marB="14288" anchor="ctr">
                    <a:solidFill>
                      <a:srgbClr val="FFFFFF"/>
                    </a:solidFill>
                  </a:tcPr>
                </a:tc>
                <a:tc>
                  <a:txBody>
                    <a:bodyPr wrap="square" anchor="ctr">
                      <a:normAutofit/>
                    </a:bodyPr>
                    <a:lstStyle/>
                    <a:p>
                      <a:pPr algn="r"/>
                      <a:r>
                        <a:rPr sz="795">
                          <a:solidFill>
                            <a:srgbClr val="30353A"/>
                          </a:solidFill>
                          <a:latin typeface="Arial"/>
                          <a:ea typeface="Arial"/>
                          <a:cs typeface="Arial"/>
                        </a:rPr>
                        <a:t>94</a:t>
                      </a:r>
                    </a:p>
                  </a:txBody>
                  <a:tcPr marL="47625" marR="47625" marT="14288" marB="14288" anchor="ctr">
                    <a:solidFill>
                      <a:srgbClr val="FFFFFF"/>
                    </a:solidFill>
                  </a:tcPr>
                </a:tc>
              </a:tr>
              <a:tr h="342900">
                <a:tc>
                  <a:txBody>
                    <a:bodyPr wrap="square" anchor="ctr">
                      <a:normAutofit/>
                    </a:bodyPr>
                    <a:lstStyle/>
                    <a:p>
                      <a:pPr algn="l"/>
                      <a:r>
                        <a:rPr sz="795">
                          <a:solidFill>
                            <a:srgbClr val="30353A"/>
                          </a:solidFill>
                          <a:latin typeface="Arial"/>
                          <a:ea typeface="Arial"/>
                          <a:cs typeface="Arial"/>
                        </a:rPr>
                        <a:t>PL continuante atual</a:t>
                      </a:r>
                    </a:p>
                  </a:txBody>
                  <a:tcPr marL="47625" marR="47625" marT="14288" marB="14288" anchor="ctr">
                    <a:solidFill>
                      <a:srgbClr val="F5F6F7"/>
                    </a:solidFill>
                  </a:tcPr>
                </a:tc>
                <a:tc>
                  <a:txBody>
                    <a:bodyPr wrap="square" anchor="ctr">
                      <a:normAutofit/>
                    </a:bodyPr>
                    <a:lstStyle/>
                    <a:p>
                      <a:pPr algn="r"/>
                      <a:r>
                        <a:rPr sz="795">
                          <a:solidFill>
                            <a:srgbClr val="30353A"/>
                          </a:solidFill>
                          <a:latin typeface="Arial"/>
                          <a:ea typeface="Arial"/>
                          <a:cs typeface="Arial"/>
                        </a:rPr>
                        <a:t>R$ 28,6 bi</a:t>
                      </a:r>
                    </a:p>
                  </a:txBody>
                  <a:tcPr marL="47625" marR="47625" marT="14288" marB="14288" anchor="ctr">
                    <a:solidFill>
                      <a:srgbClr val="F5F6F7"/>
                    </a:solidFill>
                  </a:tcPr>
                </a:tc>
              </a:tr>
              <a:tr h="342900">
                <a:tc>
                  <a:txBody>
                    <a:bodyPr wrap="square" anchor="ctr">
                      <a:normAutofit/>
                    </a:bodyPr>
                    <a:lstStyle/>
                    <a:p>
                      <a:pPr algn="l"/>
                      <a:r>
                        <a:rPr sz="795">
                          <a:solidFill>
                            <a:srgbClr val="30353A"/>
                          </a:solidFill>
                          <a:latin typeface="Arial"/>
                          <a:ea typeface="Arial"/>
                          <a:cs typeface="Arial"/>
                        </a:rPr>
                        <a:t>Fundos migrados</a:t>
                      </a:r>
                    </a:p>
                  </a:txBody>
                  <a:tcPr marL="47625" marR="47625" marT="14288" marB="14288" anchor="ctr">
                    <a:solidFill>
                      <a:srgbClr val="FFFFFF"/>
                    </a:solidFill>
                  </a:tcPr>
                </a:tc>
                <a:tc>
                  <a:txBody>
                    <a:bodyPr wrap="square" anchor="ctr">
                      <a:normAutofit/>
                    </a:bodyPr>
                    <a:lstStyle/>
                    <a:p>
                      <a:pPr algn="r"/>
                      <a:r>
                        <a:rPr sz="795">
                          <a:solidFill>
                            <a:srgbClr val="30353A"/>
                          </a:solidFill>
                          <a:latin typeface="Arial"/>
                          <a:ea typeface="Arial"/>
                          <a:cs typeface="Arial"/>
                        </a:rPr>
                        <a:t>39</a:t>
                      </a:r>
                    </a:p>
                  </a:txBody>
                  <a:tcPr marL="47625" marR="47625" marT="14288" marB="14288" anchor="ctr">
                    <a:solidFill>
                      <a:srgbClr val="FFFFFF"/>
                    </a:solidFill>
                  </a:tcPr>
                </a:tc>
              </a:tr>
              <a:tr h="342900">
                <a:tc>
                  <a:txBody>
                    <a:bodyPr wrap="square" anchor="ctr">
                      <a:normAutofit/>
                    </a:bodyPr>
                    <a:lstStyle/>
                    <a:p>
                      <a:pPr algn="l"/>
                      <a:r>
                        <a:rPr sz="795">
                          <a:solidFill>
                            <a:srgbClr val="30353A"/>
                          </a:solidFill>
                          <a:latin typeface="Arial"/>
                          <a:ea typeface="Arial"/>
                          <a:cs typeface="Arial"/>
                        </a:rPr>
                        <a:t>PL migrado / continuante</a:t>
                      </a:r>
                    </a:p>
                  </a:txBody>
                  <a:tcPr marL="47625" marR="47625" marT="14288" marB="14288" anchor="ctr">
                    <a:solidFill>
                      <a:srgbClr val="FFF1E6"/>
                    </a:solidFill>
                  </a:tcPr>
                </a:tc>
                <a:tc>
                  <a:txBody>
                    <a:bodyPr wrap="square" anchor="ctr">
                      <a:normAutofit/>
                    </a:bodyPr>
                    <a:lstStyle/>
                    <a:p>
                      <a:pPr algn="r"/>
                      <a:r>
                        <a:rPr sz="795">
                          <a:solidFill>
                            <a:srgbClr val="30353A"/>
                          </a:solidFill>
                          <a:latin typeface="Arial"/>
                          <a:ea typeface="Arial"/>
                          <a:cs typeface="Arial"/>
                        </a:rPr>
                        <a:t>R$ 10,0 bi · 35,0%</a:t>
                      </a:r>
                    </a:p>
                  </a:txBody>
                  <a:tcPr marL="47625" marR="47625" marT="14288" marB="14288" anchor="ctr">
                    <a:solidFill>
                      <a:srgbClr val="FFF1E6"/>
                    </a:solidFill>
                  </a:tcPr>
                </a:tc>
              </a:tr>
              <a:tr h="342900">
                <a:tc>
                  <a:txBody>
                    <a:bodyPr wrap="square" anchor="ctr">
                      <a:normAutofit/>
                    </a:bodyPr>
                    <a:lstStyle/>
                    <a:p>
                      <a:pPr algn="l"/>
                      <a:r>
                        <a:rPr sz="795">
                          <a:solidFill>
                            <a:srgbClr val="30353A"/>
                          </a:solidFill>
                          <a:latin typeface="Arial"/>
                          <a:ea typeface="Arial"/>
                          <a:cs typeface="Arial"/>
                        </a:rPr>
                        <a:t>Master + Planner</a:t>
                      </a:r>
                    </a:p>
                  </a:txBody>
                  <a:tcPr marL="47625" marR="47625" marT="14288" marB="14288" anchor="ctr">
                    <a:solidFill>
                      <a:srgbClr val="FFF1E6"/>
                    </a:solidFill>
                  </a:tcPr>
                </a:tc>
                <a:tc>
                  <a:txBody>
                    <a:bodyPr wrap="square" anchor="ctr">
                      <a:normAutofit/>
                    </a:bodyPr>
                    <a:lstStyle/>
                    <a:p>
                      <a:pPr algn="r"/>
                      <a:r>
                        <a:rPr sz="795">
                          <a:solidFill>
                            <a:srgbClr val="30353A"/>
                          </a:solidFill>
                          <a:latin typeface="Arial"/>
                          <a:ea typeface="Arial"/>
                          <a:cs typeface="Arial"/>
                        </a:rPr>
                        <a:t>33 fundos · R$ 9,9 bi</a:t>
                      </a:r>
                    </a:p>
                  </a:txBody>
                  <a:tcPr marL="47625" marR="47625" marT="14288" marB="14288" anchor="ctr">
                    <a:solidFill>
                      <a:srgbClr val="FFF1E6"/>
                    </a:solidFill>
                  </a:tcPr>
                </a:tc>
              </a:tr>
              <a:tr h="342900">
                <a:tc>
                  <a:txBody>
                    <a:bodyPr wrap="square" anchor="ctr">
                      <a:normAutofit/>
                    </a:bodyPr>
                    <a:lstStyle/>
                    <a:p>
                      <a:pPr algn="l"/>
                      <a:r>
                        <a:rPr sz="795">
                          <a:solidFill>
                            <a:srgbClr val="30353A"/>
                          </a:solidFill>
                          <a:latin typeface="Arial"/>
                          <a:ea typeface="Arial"/>
                          <a:cs typeface="Arial"/>
                        </a:rPr>
                        <a:t>Saída / sem reporte</a:t>
                      </a:r>
                    </a:p>
                  </a:txBody>
                  <a:tcPr marL="47625" marR="47625" marT="14288" marB="14288" anchor="ctr">
                    <a:solidFill>
                      <a:srgbClr val="F5F6F7"/>
                    </a:solidFill>
                  </a:tcPr>
                </a:tc>
                <a:tc>
                  <a:txBody>
                    <a:bodyPr wrap="square" anchor="ctr">
                      <a:normAutofit/>
                    </a:bodyPr>
                    <a:lstStyle/>
                    <a:p>
                      <a:pPr algn="r"/>
                      <a:r>
                        <a:rPr sz="795">
                          <a:solidFill>
                            <a:srgbClr val="30353A"/>
                          </a:solidFill>
                          <a:latin typeface="Arial"/>
                          <a:ea typeface="Arial"/>
                          <a:cs typeface="Arial"/>
                        </a:rPr>
                        <a:t>37 fundos · R$ 37,6 bi na origem</a:t>
                      </a:r>
                    </a:p>
                  </a:txBody>
                  <a:tcPr marL="47625" marR="47625" marT="14288" marB="14288" anchor="ctr">
                    <a:solidFill>
                      <a:srgbClr val="F5F6F7"/>
                    </a:solidFill>
                  </a:tcPr>
                </a:tc>
              </a:tr>
            </a:tbl>
          </a:graphicData>
        </a:graphic>
      </p:graphicFrame>
      <p:sp>
        <p:nvSpPr>
          <p:cNvPr id="13" name="">
            <a:extLst xmlns:a="http://schemas.openxmlformats.org/drawingml/2006/main">
              <a:ext uri="{FF2B5EF4-FFF2-40B4-BE49-F238E27FC236}">
                <a16:creationId xmlns:a16="http://schemas.microsoft.com/office/drawing/2014/main" id="{D95E3F2B-EE5E-4E5C-BA5B-D922565B5AF8}"/>
              </a:ext>
            </a:extLst>
          </p:cNvPr>
          <p:cNvSpPr>
            <a:spLocks xmlns:a="http://schemas.openxmlformats.org/drawingml/2006/main" noGrp="1"/>
          </p:cNvSpPr>
          <p:nvPr/>
        </p:nvSpPr>
        <p:spPr>
          <a:xfrm xmlns:a="http://schemas.openxmlformats.org/drawingml/2006/main">
            <a:off x="571500" y="49339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A5A7C9B-E7A6-46CF-A655-FDE5C85AD5D8}"/>
              </a:ext>
            </a:extLst>
          </p:cNvPr>
          <p:cNvSpPr>
            <a:spLocks xmlns:a="http://schemas.openxmlformats.org/drawingml/2006/main" noGrp="1"/>
          </p:cNvSpPr>
          <p:nvPr/>
        </p:nvSpPr>
        <p:spPr>
          <a:xfrm xmlns:a="http://schemas.openxmlformats.org/drawingml/2006/main">
            <a:off x="571500" y="5067300"/>
            <a:ext cx="528637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757" b="0">
                <a:solidFill>
                  <a:srgbClr val="30353A"/>
                </a:solidFill>
                <a:latin typeface="Arial"/>
                <a:ea typeface="Arial"/>
                <a:cs typeface="Arial"/>
              </a:defRPr>
            </a:pPr>
            <a:r>
              <a:rPr sz="757" b="0">
                <a:solidFill>
                  <a:srgbClr val="30353A"/>
                </a:solidFill>
                <a:latin typeface="Arial"/>
                <a:ea typeface="Arial"/>
                <a:cs typeface="Arial"/>
              </a:rPr>
              <a:t>Indústria: CNPJs legais com PL positivo em dez/24 e dez/25; ex-FIC-FIDC e sem FIDC Sistema Petrobras/TAPSO; administrador informado em cada competência; PL comparável = menor PL entre as duas datas.</a:t>
            </a:r>
          </a:p>
        </p:txBody>
      </p:sp>
      <p:sp>
        <p:nvSpPr>
          <p:cNvPr id="15" name="">
            <a:extLst xmlns:a="http://schemas.openxmlformats.org/drawingml/2006/main">
              <a:ext uri="{FF2B5EF4-FFF2-40B4-BE49-F238E27FC236}">
                <a16:creationId xmlns:a16="http://schemas.microsoft.com/office/drawing/2014/main" id="{CFC7E46D-C290-4F96-A4E8-BFE609AD5A02}"/>
              </a:ext>
            </a:extLst>
          </p:cNvPr>
          <p:cNvSpPr>
            <a:spLocks xmlns:a="http://schemas.openxmlformats.org/drawingml/2006/main" noGrp="1"/>
          </p:cNvSpPr>
          <p:nvPr/>
        </p:nvSpPr>
        <p:spPr>
          <a:xfrm xmlns:a="http://schemas.openxmlformats.org/drawingml/2006/main">
            <a:off x="6334125" y="5067300"/>
            <a:ext cx="528637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757" b="0">
                <a:solidFill>
                  <a:srgbClr val="30353A"/>
                </a:solidFill>
                <a:latin typeface="Arial"/>
                <a:ea typeface="Arial"/>
                <a:cs typeface="Arial"/>
              </a:defRPr>
            </a:pPr>
            <a:r>
              <a:rPr sz="757" b="0">
                <a:solidFill>
                  <a:srgbClr val="30353A"/>
                </a:solidFill>
                <a:latin typeface="Arial"/>
                <a:ea typeface="Arial"/>
                <a:cs typeface="Arial"/>
              </a:rPr>
              <a:t>CBSF/Reag: coorte administrada pelo CNPJ 34.829.992/0001-86 em dez/25; continuante exige PL positivo em jun/26. Gestor e custodiante são fotografias atuais e não comprovam transição histórica.</a:t>
            </a:r>
          </a:p>
        </p:txBody>
      </p:sp>
    </p:spTree>
    <p:extLst>
      <p:ext uri="{BB962C8B-B14F-4D97-AF65-F5344CB8AC3E}">
        <p14:creationId xmlns:p14="http://schemas.microsoft.com/office/powerpoint/2010/main" val="1531311714"/>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49A0544-8D94-43A6-8F82-BB4422C06326}"/>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MARKET SHARE</a:t>
            </a:r>
          </a:p>
        </p:txBody>
      </p:sp>
      <p:sp>
        <p:nvSpPr>
          <p:cNvPr id="2" name="">
            <a:extLst xmlns:a="http://schemas.openxmlformats.org/drawingml/2006/main">
              <a:ext uri="{FF2B5EF4-FFF2-40B4-BE49-F238E27FC236}">
                <a16:creationId xmlns:a16="http://schemas.microsoft.com/office/drawing/2014/main" id="{DA715276-37BE-41C9-A0EE-FFEB167A5416}"/>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Administração por subtipo: universo completo dos 14 focos</a:t>
            </a:r>
          </a:p>
        </p:txBody>
      </p:sp>
      <p:sp>
        <p:nvSpPr>
          <p:cNvPr id="3" name="">
            <a:extLst xmlns:a="http://schemas.openxmlformats.org/drawingml/2006/main">
              <a:ext uri="{FF2B5EF4-FFF2-40B4-BE49-F238E27FC236}">
                <a16:creationId xmlns:a16="http://schemas.microsoft.com/office/drawing/2014/main" id="{7BF9F2A4-72FE-4539-8F7E-929071221D12}"/>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7996E1E-6E93-4EF6-9501-6FB5A0CE7AFA}"/>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B7AE2A4-5203-4268-86A2-2B8B3B16E0BD}"/>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95544"/>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CVM/ANBIMA, jun/26. Subtipo = Tipo+Foco ANBIMA (cadastro dez/25, evidência e proxy determinístico da Tabela II). PL ex-FIC sem Sistema Petrobras/TAPSO; cobertura de classificação por Tipo+Foco (PL): 98,6%; fora: 1,4%.</a:t>
            </a:r>
          </a:p>
        </p:txBody>
      </p:sp>
      <p:sp>
        <p:nvSpPr>
          <p:cNvPr id="6" name="">
            <a:extLst xmlns:a="http://schemas.openxmlformats.org/drawingml/2006/main">
              <a:ext uri="{FF2B5EF4-FFF2-40B4-BE49-F238E27FC236}">
                <a16:creationId xmlns:a16="http://schemas.microsoft.com/office/drawing/2014/main" id="{C79D11B6-8A8A-42D1-8D69-1F96C70C031E}"/>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61</a:t>
            </a:r>
          </a:p>
        </p:txBody>
      </p:sp>
      <p:graphicFrame>
        <p:nvGraphicFramePr>
          <p:cNvPr id="16" name="Chart"/>
          <p:cNvGraphicFramePr/>
          <p:nvPr/>
        </p:nvGraphicFramePr>
        <p:xfrm>
          <a:off xmlns:a="http://schemas.openxmlformats.org/drawingml/2006/main" x="609600" y="1381125"/>
          <a:ext xmlns:a="http://schemas.openxmlformats.org/drawingml/2006/main" cx="10953750" cy="4333875"/>
        </p:xfrm>
        <a:graphic xmlns:a="http://schemas.openxmlformats.org/drawingml/2006/main">
          <a:graphicData uri="http://schemas.openxmlformats.org/drawingml/2006/chart">
            <c:chart xmlns:r="http://schemas.openxmlformats.org/officeDocument/2006/relationships" xmlns:c="http://schemas.openxmlformats.org/drawingml/2006/chart" r:id="Raefa540e0f7543c4"/>
          </a:graphicData>
        </a:graphic>
      </p:graphicFrame>
      <p:sp>
        <p:nvSpPr>
          <p:cNvPr id="8" name="">
            <a:extLst xmlns:a="http://schemas.openxmlformats.org/drawingml/2006/main">
              <a:ext uri="{FF2B5EF4-FFF2-40B4-BE49-F238E27FC236}">
                <a16:creationId xmlns:a16="http://schemas.microsoft.com/office/drawing/2014/main" id="{A88DCAE2-D580-4596-9ACA-6617394E0820}"/>
              </a:ext>
            </a:extLst>
          </p:cNvPr>
          <p:cNvSpPr>
            <a:spLocks xmlns:a="http://schemas.openxmlformats.org/drawingml/2006/main" noGrp="1"/>
          </p:cNvSpPr>
          <p:nvPr/>
        </p:nvSpPr>
        <p:spPr>
          <a:xfrm xmlns:a="http://schemas.openxmlformats.org/drawingml/2006/main">
            <a:off x="685800" y="5781675"/>
            <a:ext cx="1076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698" b="0">
                <a:solidFill>
                  <a:srgbClr val="8D9399"/>
                </a:solidFill>
                <a:latin typeface="Arial"/>
                <a:ea typeface="Arial"/>
                <a:cs typeface="Arial"/>
              </a:defRPr>
            </a:pPr>
            <a:r>
              <a:rPr sz="698" b="0">
                <a:solidFill>
                  <a:srgbClr val="8D9399"/>
                </a:solidFill>
                <a:latin typeface="Arial"/>
                <a:ea typeface="Arial"/>
                <a:cs typeface="Arial"/>
              </a:rPr>
              <a:t>Proxy CVM quando ANBIMA e documentos não classificam: maior campo da Tabela II. Regras e cobertura no workbook.</a:t>
            </a:r>
          </a:p>
        </p:txBody>
      </p:sp>
      <p:sp>
        <p:nvSpPr>
          <p:cNvPr id="9" name="">
            <a:extLst xmlns:a="http://schemas.openxmlformats.org/drawingml/2006/main">
              <a:ext uri="{FF2B5EF4-FFF2-40B4-BE49-F238E27FC236}">
                <a16:creationId xmlns:a16="http://schemas.microsoft.com/office/drawing/2014/main" id="{F80B26B4-90DF-491F-8AD3-A351EA2745A4}"/>
              </a:ext>
            </a:extLst>
          </p:cNvPr>
          <p:cNvSpPr>
            <a:spLocks xmlns:a="http://schemas.openxmlformats.org/drawingml/2006/main" noGrp="1"/>
          </p:cNvSpPr>
          <p:nvPr/>
        </p:nvSpPr>
        <p:spPr>
          <a:xfrm xmlns:a="http://schemas.openxmlformats.org/drawingml/2006/main">
            <a:off x="685800" y="6048375"/>
            <a:ext cx="1076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13" b="0">
                <a:solidFill>
                  <a:srgbClr val="8D9399"/>
                </a:solidFill>
                <a:latin typeface="Arial"/>
                <a:ea typeface="Arial"/>
                <a:cs typeface="Arial"/>
              </a:defRPr>
            </a:pPr>
            <a:r>
              <a:rPr sz="713" b="0">
                <a:solidFill>
                  <a:srgbClr val="8D9399"/>
                </a:solidFill>
                <a:latin typeface="Arial"/>
                <a:ea typeface="Arial"/>
                <a:cs typeface="Arial"/>
              </a:rPr>
              <a:t>Crédito Corporativo mantém 61 fundos; Coral FIDC (-R$ 20,9 mi; gestor/custodiante N/D) fica no QA e fora da normalização. No universo da função: 27 PLs negativos (R$ 64,5 mi).</a:t>
            </a:r>
          </a:p>
        </p:txBody>
      </p:sp>
    </p:spTree>
    <p:extLst>
      <p:ext uri="{BB962C8B-B14F-4D97-AF65-F5344CB8AC3E}">
        <p14:creationId xmlns:p14="http://schemas.microsoft.com/office/powerpoint/2010/main" val="276751307"/>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C653062-C17B-410C-BF31-DDA04FBC0A27}"/>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MARKET SHARE</a:t>
            </a:r>
          </a:p>
        </p:txBody>
      </p:sp>
      <p:sp>
        <p:nvSpPr>
          <p:cNvPr id="2" name="">
            <a:extLst xmlns:a="http://schemas.openxmlformats.org/drawingml/2006/main">
              <a:ext uri="{FF2B5EF4-FFF2-40B4-BE49-F238E27FC236}">
                <a16:creationId xmlns:a16="http://schemas.microsoft.com/office/drawing/2014/main" id="{148A7FB1-0601-4B38-9478-55EA53CADDCB}"/>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Gestão por subtipo: universo completo dos 14 focos</a:t>
            </a:r>
          </a:p>
        </p:txBody>
      </p:sp>
      <p:sp>
        <p:nvSpPr>
          <p:cNvPr id="3" name="">
            <a:extLst xmlns:a="http://schemas.openxmlformats.org/drawingml/2006/main">
              <a:ext uri="{FF2B5EF4-FFF2-40B4-BE49-F238E27FC236}">
                <a16:creationId xmlns:a16="http://schemas.microsoft.com/office/drawing/2014/main" id="{033641C4-6794-457E-B4C3-86C4DD0A2F73}"/>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105BCC8-E06A-4242-8DB2-A931349A3202}"/>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02B026C-FA51-485F-8C15-0D1DFA9B8729}"/>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95544"/>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CVM/ANBIMA, jun/26. Subtipo = Tipo+Foco ANBIMA (cadastro dez/25, evidência e proxy determinístico da Tabela II). PL ex-FIC sem Sistema Petrobras/TAPSO; cobertura de classificação por Tipo+Foco (PL): 98,6%; fora: 1,4%.</a:t>
            </a:r>
          </a:p>
        </p:txBody>
      </p:sp>
      <p:sp>
        <p:nvSpPr>
          <p:cNvPr id="6" name="">
            <a:extLst xmlns:a="http://schemas.openxmlformats.org/drawingml/2006/main">
              <a:ext uri="{FF2B5EF4-FFF2-40B4-BE49-F238E27FC236}">
                <a16:creationId xmlns:a16="http://schemas.microsoft.com/office/drawing/2014/main" id="{AFADD6BA-6283-4C59-AD98-5B1B1718EFFD}"/>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62</a:t>
            </a:r>
          </a:p>
        </p:txBody>
      </p:sp>
      <p:graphicFrame>
        <p:nvGraphicFramePr>
          <p:cNvPr id="16" name="Chart"/>
          <p:cNvGraphicFramePr/>
          <p:nvPr/>
        </p:nvGraphicFramePr>
        <p:xfrm>
          <a:off xmlns:a="http://schemas.openxmlformats.org/drawingml/2006/main" x="609600" y="1381125"/>
          <a:ext xmlns:a="http://schemas.openxmlformats.org/drawingml/2006/main" cx="10953750" cy="4333875"/>
        </p:xfrm>
        <a:graphic xmlns:a="http://schemas.openxmlformats.org/drawingml/2006/main">
          <a:graphicData uri="http://schemas.openxmlformats.org/drawingml/2006/chart">
            <c:chart xmlns:r="http://schemas.openxmlformats.org/officeDocument/2006/relationships" xmlns:c="http://schemas.openxmlformats.org/drawingml/2006/chart" r:id="R53b9dcf4b28248fc"/>
          </a:graphicData>
        </a:graphic>
      </p:graphicFrame>
      <p:sp>
        <p:nvSpPr>
          <p:cNvPr id="8" name="">
            <a:extLst xmlns:a="http://schemas.openxmlformats.org/drawingml/2006/main">
              <a:ext uri="{FF2B5EF4-FFF2-40B4-BE49-F238E27FC236}">
                <a16:creationId xmlns:a16="http://schemas.microsoft.com/office/drawing/2014/main" id="{B3DB20C1-17BA-4893-A0CC-B67E0DE2EAB2}"/>
              </a:ext>
            </a:extLst>
          </p:cNvPr>
          <p:cNvSpPr>
            <a:spLocks xmlns:a="http://schemas.openxmlformats.org/drawingml/2006/main" noGrp="1"/>
          </p:cNvSpPr>
          <p:nvPr/>
        </p:nvSpPr>
        <p:spPr>
          <a:xfrm xmlns:a="http://schemas.openxmlformats.org/drawingml/2006/main">
            <a:off x="685800" y="5781675"/>
            <a:ext cx="1076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698" b="0">
                <a:solidFill>
                  <a:srgbClr val="8D9399"/>
                </a:solidFill>
                <a:latin typeface="Arial"/>
                <a:ea typeface="Arial"/>
                <a:cs typeface="Arial"/>
              </a:defRPr>
            </a:pPr>
            <a:r>
              <a:rPr sz="698" b="0">
                <a:solidFill>
                  <a:srgbClr val="8D9399"/>
                </a:solidFill>
                <a:latin typeface="Arial"/>
                <a:ea typeface="Arial"/>
                <a:cs typeface="Arial"/>
              </a:rPr>
              <a:t>Proxy CVM quando ANBIMA e documentos não classificam: maior campo da Tabela II. Regras e cobertura no workbook.</a:t>
            </a:r>
          </a:p>
        </p:txBody>
      </p:sp>
      <p:sp>
        <p:nvSpPr>
          <p:cNvPr id="9" name="">
            <a:extLst xmlns:a="http://schemas.openxmlformats.org/drawingml/2006/main">
              <a:ext uri="{FF2B5EF4-FFF2-40B4-BE49-F238E27FC236}">
                <a16:creationId xmlns:a16="http://schemas.microsoft.com/office/drawing/2014/main" id="{E9B34982-D593-4301-A092-02FB3AED1303}"/>
              </a:ext>
            </a:extLst>
          </p:cNvPr>
          <p:cNvSpPr>
            <a:spLocks xmlns:a="http://schemas.openxmlformats.org/drawingml/2006/main" noGrp="1"/>
          </p:cNvSpPr>
          <p:nvPr/>
        </p:nvSpPr>
        <p:spPr>
          <a:xfrm xmlns:a="http://schemas.openxmlformats.org/drawingml/2006/main">
            <a:off x="685800" y="6048375"/>
            <a:ext cx="1076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13" b="0">
                <a:solidFill>
                  <a:srgbClr val="8D9399"/>
                </a:solidFill>
                <a:latin typeface="Arial"/>
                <a:ea typeface="Arial"/>
                <a:cs typeface="Arial"/>
              </a:defRPr>
            </a:pPr>
            <a:r>
              <a:rPr sz="713" b="0">
                <a:solidFill>
                  <a:srgbClr val="8D9399"/>
                </a:solidFill>
                <a:latin typeface="Arial"/>
                <a:ea typeface="Arial"/>
                <a:cs typeface="Arial"/>
              </a:rPr>
              <a:t>Crédito Corporativo mantém 61 fundos; Coral FIDC (-R$ 20,9 mi; gestor/custodiante N/D) fica no QA e fora da normalização. No universo da função: 27 PLs negativos (R$ 64,5 mi).</a:t>
            </a:r>
          </a:p>
        </p:txBody>
      </p:sp>
    </p:spTree>
    <p:extLst>
      <p:ext uri="{BB962C8B-B14F-4D97-AF65-F5344CB8AC3E}">
        <p14:creationId xmlns:p14="http://schemas.microsoft.com/office/powerpoint/2010/main" val="587157971"/>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DE947C2-8D39-4787-8795-6F8A53DD9D24}"/>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MARKET SHARE</a:t>
            </a:r>
          </a:p>
        </p:txBody>
      </p:sp>
      <p:sp>
        <p:nvSpPr>
          <p:cNvPr id="2" name="">
            <a:extLst xmlns:a="http://schemas.openxmlformats.org/drawingml/2006/main">
              <a:ext uri="{FF2B5EF4-FFF2-40B4-BE49-F238E27FC236}">
                <a16:creationId xmlns:a16="http://schemas.microsoft.com/office/drawing/2014/main" id="{2C5F2FF7-2D4E-4976-A72F-972CA65DB217}"/>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Custódia por subtipo: universo completo dos 14 focos</a:t>
            </a:r>
          </a:p>
        </p:txBody>
      </p:sp>
      <p:sp>
        <p:nvSpPr>
          <p:cNvPr id="3" name="">
            <a:extLst xmlns:a="http://schemas.openxmlformats.org/drawingml/2006/main">
              <a:ext uri="{FF2B5EF4-FFF2-40B4-BE49-F238E27FC236}">
                <a16:creationId xmlns:a16="http://schemas.microsoft.com/office/drawing/2014/main" id="{B9CF8480-966D-4F0A-BE41-7CDA6D603780}"/>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3362B32-24EE-433A-AE3A-6A9615111EA9}"/>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7344D35-1A3C-42C9-97D5-183F12C97079}"/>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95544"/>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 CVM/ANBIMA, jun/26. Subtipo = Tipo+Foco ANBIMA (cadastro dez/25, evidência e proxy determinístico da Tabela II). PL ex-FIC sem Sistema Petrobras/TAPSO; cobertura de classificação por Tipo+Foco (PL): 98,6%; fora: 1,4%.</a:t>
            </a:r>
          </a:p>
        </p:txBody>
      </p:sp>
      <p:sp>
        <p:nvSpPr>
          <p:cNvPr id="6" name="">
            <a:extLst xmlns:a="http://schemas.openxmlformats.org/drawingml/2006/main">
              <a:ext uri="{FF2B5EF4-FFF2-40B4-BE49-F238E27FC236}">
                <a16:creationId xmlns:a16="http://schemas.microsoft.com/office/drawing/2014/main" id="{83A0EE69-A18F-4B3F-B41F-5CDE58016417}"/>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63</a:t>
            </a:r>
          </a:p>
        </p:txBody>
      </p:sp>
      <p:graphicFrame>
        <p:nvGraphicFramePr>
          <p:cNvPr id="16" name="Chart"/>
          <p:cNvGraphicFramePr/>
          <p:nvPr/>
        </p:nvGraphicFramePr>
        <p:xfrm>
          <a:off xmlns:a="http://schemas.openxmlformats.org/drawingml/2006/main" x="609600" y="1381125"/>
          <a:ext xmlns:a="http://schemas.openxmlformats.org/drawingml/2006/main" cx="10953750" cy="4333875"/>
        </p:xfrm>
        <a:graphic xmlns:a="http://schemas.openxmlformats.org/drawingml/2006/main">
          <a:graphicData uri="http://schemas.openxmlformats.org/drawingml/2006/chart">
            <c:chart xmlns:r="http://schemas.openxmlformats.org/officeDocument/2006/relationships" xmlns:c="http://schemas.openxmlformats.org/drawingml/2006/chart" r:id="R8ae251b48e6d4be9"/>
          </a:graphicData>
        </a:graphic>
      </p:graphicFrame>
      <p:sp>
        <p:nvSpPr>
          <p:cNvPr id="8" name="">
            <a:extLst xmlns:a="http://schemas.openxmlformats.org/drawingml/2006/main">
              <a:ext uri="{FF2B5EF4-FFF2-40B4-BE49-F238E27FC236}">
                <a16:creationId xmlns:a16="http://schemas.microsoft.com/office/drawing/2014/main" id="{99A68AA9-AA73-4354-A6BF-B3499422B4AC}"/>
              </a:ext>
            </a:extLst>
          </p:cNvPr>
          <p:cNvSpPr>
            <a:spLocks xmlns:a="http://schemas.openxmlformats.org/drawingml/2006/main" noGrp="1"/>
          </p:cNvSpPr>
          <p:nvPr/>
        </p:nvSpPr>
        <p:spPr>
          <a:xfrm xmlns:a="http://schemas.openxmlformats.org/drawingml/2006/main">
            <a:off x="685800" y="5781675"/>
            <a:ext cx="1076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698" b="0">
                <a:solidFill>
                  <a:srgbClr val="8D9399"/>
                </a:solidFill>
                <a:latin typeface="Arial"/>
                <a:ea typeface="Arial"/>
                <a:cs typeface="Arial"/>
              </a:defRPr>
            </a:pPr>
            <a:r>
              <a:rPr sz="698" b="0">
                <a:solidFill>
                  <a:srgbClr val="8D9399"/>
                </a:solidFill>
                <a:latin typeface="Arial"/>
                <a:ea typeface="Arial"/>
                <a:cs typeface="Arial"/>
              </a:rPr>
              <a:t>Proxy CVM quando ANBIMA e documentos não classificam: maior campo da Tabela II. Regras e cobertura no workbook.</a:t>
            </a:r>
          </a:p>
        </p:txBody>
      </p:sp>
      <p:sp>
        <p:nvSpPr>
          <p:cNvPr id="9" name="">
            <a:extLst xmlns:a="http://schemas.openxmlformats.org/drawingml/2006/main">
              <a:ext uri="{FF2B5EF4-FFF2-40B4-BE49-F238E27FC236}">
                <a16:creationId xmlns:a16="http://schemas.microsoft.com/office/drawing/2014/main" id="{6AF5154E-74B4-4DC5-9334-197F746734D8}"/>
              </a:ext>
            </a:extLst>
          </p:cNvPr>
          <p:cNvSpPr>
            <a:spLocks xmlns:a="http://schemas.openxmlformats.org/drawingml/2006/main" noGrp="1"/>
          </p:cNvSpPr>
          <p:nvPr/>
        </p:nvSpPr>
        <p:spPr>
          <a:xfrm xmlns:a="http://schemas.openxmlformats.org/drawingml/2006/main">
            <a:off x="685800" y="6048375"/>
            <a:ext cx="1076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13" b="0">
                <a:solidFill>
                  <a:srgbClr val="8D9399"/>
                </a:solidFill>
                <a:latin typeface="Arial"/>
                <a:ea typeface="Arial"/>
                <a:cs typeface="Arial"/>
              </a:defRPr>
            </a:pPr>
            <a:r>
              <a:rPr sz="713" b="0">
                <a:solidFill>
                  <a:srgbClr val="8D9399"/>
                </a:solidFill>
                <a:latin typeface="Arial"/>
                <a:ea typeface="Arial"/>
                <a:cs typeface="Arial"/>
              </a:rPr>
              <a:t>Crédito Corporativo mantém 61 fundos; Coral FIDC (-R$ 20,9 mi; gestor/custodiante N/D) fica no QA e fora da normalização. No universo da função: 27 PLs negativos (R$ 64,5 mi).</a:t>
            </a:r>
          </a:p>
        </p:txBody>
      </p:sp>
    </p:spTree>
    <p:extLst>
      <p:ext uri="{BB962C8B-B14F-4D97-AF65-F5344CB8AC3E}">
        <p14:creationId xmlns:p14="http://schemas.microsoft.com/office/powerpoint/2010/main" val="1573588445"/>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 name="">
            <a:extLst xmlns:a="http://schemas.openxmlformats.org/drawingml/2006/main">
              <a:ext uri="{FF2B5EF4-FFF2-40B4-BE49-F238E27FC236}">
                <a16:creationId xmlns:a16="http://schemas.microsoft.com/office/drawing/2014/main" id="{7BE43D94-494C-4AA1-B7FE-20E6D5058C0A}"/>
              </a:ext>
            </a:extLst>
          </p:cNvPr>
          <p:cNvSpPr>
            <a:spLocks xmlns:a="http://schemas.openxmlformats.org/drawingml/2006/main" noGrp="1"/>
          </p:cNvSpPr>
          <p:nvPr/>
        </p:nvSpPr>
        <p:spPr>
          <a:xfrm xmlns:a="http://schemas.openxmlformats.org/drawingml/2006/main">
            <a:off x="571500" y="257175"/>
            <a:ext cx="1104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l">
              <a:lnSpc>
                <a:spcPct val="100000"/>
              </a:lnSpc>
              <a:buNone/>
              <a:defRPr sz="900" b="1">
                <a:solidFill>
                  <a:srgbClr val="EC7000"/>
                </a:solidFill>
                <a:latin typeface="Arial"/>
                <a:ea typeface="Arial"/>
                <a:cs typeface="Arial"/>
              </a:defRPr>
            </a:pPr>
            <a:r>
              <a:rPr sz="900" b="1">
                <a:solidFill>
                  <a:srgbClr val="EC7000"/>
                </a:solidFill>
                <a:latin typeface="Arial"/>
                <a:ea typeface="Arial"/>
                <a:cs typeface="Arial"/>
              </a:rPr>
              <a:t>APÊNDICE · CASO ATLÂNTICO</a:t>
            </a:r>
          </a:p>
        </p:txBody>
      </p:sp>
      <p:sp>
        <p:nvSpPr>
          <p:cNvPr id="2" name="">
            <a:extLst xmlns:a="http://schemas.openxmlformats.org/drawingml/2006/main">
              <a:ext uri="{FF2B5EF4-FFF2-40B4-BE49-F238E27FC236}">
                <a16:creationId xmlns:a16="http://schemas.microsoft.com/office/drawing/2014/main" id="{66C080F1-6458-4F8D-8C49-766669100EE3}"/>
              </a:ext>
            </a:extLst>
          </p:cNvPr>
          <p:cNvSpPr>
            <a:spLocks xmlns:a="http://schemas.openxmlformats.org/drawingml/2006/main" noGrp="1"/>
          </p:cNvSpPr>
          <p:nvPr/>
        </p:nvSpPr>
        <p:spPr>
          <a:xfrm xmlns:a="http://schemas.openxmlformats.org/drawingml/2006/main">
            <a:off x="571500" y="504825"/>
            <a:ext cx="11049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2100" b="1">
                <a:solidFill>
                  <a:srgbClr val="151515"/>
                </a:solidFill>
                <a:latin typeface="Arial"/>
                <a:ea typeface="Arial"/>
                <a:cs typeface="Arial"/>
              </a:defRPr>
            </a:pPr>
            <a:r>
              <a:rPr sz="2100" b="1">
                <a:solidFill>
                  <a:srgbClr val="151515"/>
                </a:solidFill>
                <a:latin typeface="Arial"/>
                <a:ea typeface="Arial"/>
                <a:cs typeface="Arial"/>
              </a:rPr>
              <a:t>Atlântico compra créditos já inadimplidos; jul/24 muda a base de reporte</a:t>
            </a:r>
          </a:p>
        </p:txBody>
      </p:sp>
      <p:sp>
        <p:nvSpPr>
          <p:cNvPr id="3" name="">
            <a:extLst xmlns:a="http://schemas.openxmlformats.org/drawingml/2006/main">
              <a:ext uri="{FF2B5EF4-FFF2-40B4-BE49-F238E27FC236}">
                <a16:creationId xmlns:a16="http://schemas.microsoft.com/office/drawing/2014/main" id="{BA326304-0E9D-4C7F-936F-FA38C9B4B84D}"/>
              </a:ext>
            </a:extLst>
          </p:cNvPr>
          <p:cNvSpPr>
            <a:spLocks xmlns:a="http://schemas.openxmlformats.org/drawingml/2006/main" noGrp="1"/>
          </p:cNvSpPr>
          <p:nvPr/>
        </p:nvSpPr>
        <p:spPr>
          <a:xfrm xmlns:a="http://schemas.openxmlformats.org/drawingml/2006/main">
            <a:off x="571500" y="104775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123C520-3894-4679-A8CF-577E7462FD0B}"/>
              </a:ext>
            </a:extLst>
          </p:cNvPr>
          <p:cNvSpPr>
            <a:spLocks xmlns:a="http://schemas.openxmlformats.org/drawingml/2006/main" noGrp="1"/>
          </p:cNvSpPr>
          <p:nvPr/>
        </p:nvSpPr>
        <p:spPr>
          <a:xfrm xmlns:a="http://schemas.openxmlformats.org/drawingml/2006/main">
            <a:off x="571500" y="6353175"/>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A2BE18A-7852-40C2-94EA-ABDE42C78B5F}"/>
              </a:ext>
            </a:extLst>
          </p:cNvPr>
          <p:cNvSpPr>
            <a:spLocks xmlns:a="http://schemas.openxmlformats.org/drawingml/2006/main" noGrp="1"/>
          </p:cNvSpPr>
          <p:nvPr/>
        </p:nvSpPr>
        <p:spPr>
          <a:xfrm xmlns:a="http://schemas.openxmlformats.org/drawingml/2006/main">
            <a:off x="571500" y="6419850"/>
            <a:ext cx="1000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47625" tIns="0" rIns="0" bIns="0" anchor="ctr">
            <a:normAutofit fontScale="100000"/>
          </a:bodyPr>
          <a:lstStyle xmlns:a="http://schemas.openxmlformats.org/drawingml/2006/main"/>
          <a:p xmlns:a="http://schemas.openxmlformats.org/drawingml/2006/main">
            <a:pPr algn="l">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Fontes: CVM, regulamento de 12/11/24, AGE de 08/07/24 e DFs auditadas de 2024/25. Links completos no workbook.</a:t>
            </a:r>
          </a:p>
        </p:txBody>
      </p:sp>
      <p:sp>
        <p:nvSpPr>
          <p:cNvPr id="6" name="">
            <a:extLst xmlns:a="http://schemas.openxmlformats.org/drawingml/2006/main">
              <a:ext uri="{FF2B5EF4-FFF2-40B4-BE49-F238E27FC236}">
                <a16:creationId xmlns:a16="http://schemas.microsoft.com/office/drawing/2014/main" id="{9D483F17-1D2F-4662-88E0-79A2BBC844B2}"/>
              </a:ext>
            </a:extLst>
          </p:cNvPr>
          <p:cNvSpPr>
            <a:spLocks xmlns:a="http://schemas.openxmlformats.org/drawingml/2006/main" noGrp="1"/>
          </p:cNvSpPr>
          <p:nvPr/>
        </p:nvSpPr>
        <p:spPr>
          <a:xfrm xmlns:a="http://schemas.openxmlformats.org/drawingml/2006/main">
            <a:off x="11144250" y="6410325"/>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788" b="0">
                <a:solidFill>
                  <a:srgbClr val="8D9399"/>
                </a:solidFill>
                <a:latin typeface="Arial"/>
                <a:ea typeface="Arial"/>
                <a:cs typeface="Arial"/>
              </a:defRPr>
            </a:pPr>
            <a:r>
              <a:rPr sz="788" b="0">
                <a:solidFill>
                  <a:srgbClr val="8D9399"/>
                </a:solidFill>
                <a:latin typeface="Arial"/>
                <a:ea typeface="Arial"/>
                <a:cs typeface="Arial"/>
              </a:rPr>
              <a:t>64</a:t>
            </a:r>
          </a:p>
        </p:txBody>
      </p:sp>
      <p:sp>
        <p:nvSpPr>
          <p:cNvPr id="7" name="">
            <a:extLst xmlns:a="http://schemas.openxmlformats.org/drawingml/2006/main">
              <a:ext uri="{FF2B5EF4-FFF2-40B4-BE49-F238E27FC236}">
                <a16:creationId xmlns:a16="http://schemas.microsoft.com/office/drawing/2014/main" id="{8400E274-8679-42C1-AF65-30DA46AC6BCC}"/>
              </a:ext>
            </a:extLst>
          </p:cNvPr>
          <p:cNvSpPr>
            <a:spLocks xmlns:a="http://schemas.openxmlformats.org/drawingml/2006/main" noGrp="1"/>
          </p:cNvSpPr>
          <p:nvPr/>
        </p:nvSpPr>
        <p:spPr>
          <a:xfrm xmlns:a="http://schemas.openxmlformats.org/drawingml/2006/main">
            <a:off x="571500" y="1200150"/>
            <a:ext cx="1104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15" b="0">
                <a:solidFill>
                  <a:srgbClr val="8D9399"/>
                </a:solidFill>
                <a:latin typeface="Arial"/>
                <a:ea typeface="Arial"/>
                <a:cs typeface="Arial"/>
              </a:defRPr>
            </a:pPr>
            <a:r>
              <a:rPr sz="915" b="0">
                <a:solidFill>
                  <a:srgbClr val="8D9399"/>
                </a:solidFill>
                <a:latin typeface="Arial"/>
                <a:ea typeface="Arial"/>
                <a:cs typeface="Arial"/>
              </a:rPr>
              <a:t>09.194.841/0001-51 · ATLÂNTICO FUNDO DE INVESTIMENTO EM DIREITOS CREDITÓRIOS RESPONSABILIDADE LIMITADA</a:t>
            </a:r>
          </a:p>
        </p:txBody>
      </p:sp>
      <p:sp>
        <p:nvSpPr>
          <p:cNvPr id="8" name="">
            <a:extLst xmlns:a="http://schemas.openxmlformats.org/drawingml/2006/main">
              <a:ext uri="{FF2B5EF4-FFF2-40B4-BE49-F238E27FC236}">
                <a16:creationId xmlns:a16="http://schemas.microsoft.com/office/drawing/2014/main" id="{EE8F9399-34B7-4804-A1D9-BFFD8F083F1D}"/>
              </a:ext>
            </a:extLst>
          </p:cNvPr>
          <p:cNvSpPr>
            <a:spLocks xmlns:a="http://schemas.openxmlformats.org/drawingml/2006/main" noGrp="1"/>
          </p:cNvSpPr>
          <p:nvPr/>
        </p:nvSpPr>
        <p:spPr>
          <a:xfrm xmlns:a="http://schemas.openxmlformats.org/drawingml/2006/main">
            <a:off x="571500"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O QUE É E COMO FUNCIONA</a:t>
            </a:r>
          </a:p>
        </p:txBody>
      </p:sp>
      <p:sp>
        <p:nvSpPr>
          <p:cNvPr id="9" name="">
            <a:extLst xmlns:a="http://schemas.openxmlformats.org/drawingml/2006/main">
              <a:ext uri="{FF2B5EF4-FFF2-40B4-BE49-F238E27FC236}">
                <a16:creationId xmlns:a16="http://schemas.microsoft.com/office/drawing/2014/main" id="{6DE721A0-174C-4D86-A443-5C5562115F68}"/>
              </a:ext>
            </a:extLst>
          </p:cNvPr>
          <p:cNvSpPr>
            <a:spLocks xmlns:a="http://schemas.openxmlformats.org/drawingml/2006/main" noGrp="1"/>
          </p:cNvSpPr>
          <p:nvPr/>
        </p:nvSpPr>
        <p:spPr>
          <a:xfrm xmlns:a="http://schemas.openxmlformats.org/drawingml/2006/main">
            <a:off x="571500"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F188DE1-FE2B-48B3-B5F7-FF4948185AA4}"/>
              </a:ext>
            </a:extLst>
          </p:cNvPr>
          <p:cNvSpPr>
            <a:spLocks xmlns:a="http://schemas.openxmlformats.org/drawingml/2006/main" noGrp="1"/>
          </p:cNvSpPr>
          <p:nvPr/>
        </p:nvSpPr>
        <p:spPr>
          <a:xfrm xmlns:a="http://schemas.openxmlformats.org/drawingml/2006/main">
            <a:off x="571500" y="2019300"/>
            <a:ext cx="5286375"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85" b="0">
                <a:solidFill>
                  <a:srgbClr val="30353A"/>
                </a:solidFill>
                <a:latin typeface="Arial"/>
                <a:ea typeface="Arial"/>
                <a:cs typeface="Arial"/>
              </a:defRPr>
            </a:pPr>
            <a:r>
              <a:rPr sz="885" b="0">
                <a:solidFill>
                  <a:srgbClr val="30353A"/>
                </a:solidFill>
                <a:latin typeface="Arial"/>
                <a:ea typeface="Arial"/>
                <a:cs typeface="Arial"/>
              </a:rPr>
              <a:t>ESTRATÉGIA</a:t>
            </a:r>
          </a:p>
          <a:p xmlns:a="http://schemas.openxmlformats.org/drawingml/2006/main">
            <a:pPr algn="l">
              <a:lnSpc>
                <a:spcPct val="102000"/>
              </a:lnSpc>
              <a:buNone/>
              <a:defRPr sz="885" b="0">
                <a:solidFill>
                  <a:srgbClr val="30353A"/>
                </a:solidFill>
                <a:latin typeface="Arial"/>
                <a:ea typeface="Arial"/>
                <a:cs typeface="Arial"/>
              </a:defRPr>
            </a:pPr>
            <a:r>
              <a:rPr sz="885" b="0">
                <a:solidFill>
                  <a:srgbClr val="30353A"/>
                </a:solidFill>
                <a:latin typeface="Arial"/>
                <a:ea typeface="Arial"/>
                <a:cs typeface="Arial"/>
              </a:rPr>
              <a:t>Veículo fechado de recuperação. O regulamento descreve as carteiras, em regra, como NP, 100% inadimplidas e já baixadas pelos cedentes.</a:t>
            </a:r>
          </a:p>
          <a:p xmlns:a="http://schemas.openxmlformats.org/drawingml/2006/main">
            <a:r>
              <a:t/>
            </a:r>
          </a:p>
          <a:p xmlns:a="http://schemas.openxmlformats.org/drawingml/2006/main">
            <a:pPr algn="l">
              <a:lnSpc>
                <a:spcPct val="102000"/>
              </a:lnSpc>
              <a:buNone/>
              <a:defRPr sz="885" b="0">
                <a:solidFill>
                  <a:srgbClr val="30353A"/>
                </a:solidFill>
                <a:latin typeface="Arial"/>
                <a:ea typeface="Arial"/>
                <a:cs typeface="Arial"/>
              </a:defRPr>
            </a:pPr>
            <a:r>
              <a:rPr sz="885" b="0">
                <a:solidFill>
                  <a:srgbClr val="30353A"/>
                </a:solidFill>
                <a:latin typeface="Arial"/>
                <a:ea typeface="Arial"/>
                <a:cs typeface="Arial"/>
              </a:rPr>
              <a:t>MECÂNICA ECONÔMICA</a:t>
            </a:r>
          </a:p>
          <a:p xmlns:a="http://schemas.openxmlformats.org/drawingml/2006/main">
            <a:pPr algn="l">
              <a:lnSpc>
                <a:spcPct val="102000"/>
              </a:lnSpc>
              <a:buNone/>
              <a:defRPr sz="885" b="0">
                <a:solidFill>
                  <a:srgbClr val="30353A"/>
                </a:solidFill>
                <a:latin typeface="Arial"/>
                <a:ea typeface="Arial"/>
                <a:cs typeface="Arial"/>
              </a:defRPr>
            </a:pPr>
            <a:r>
              <a:rPr sz="885" b="0">
                <a:solidFill>
                  <a:srgbClr val="30353A"/>
                </a:solidFill>
                <a:latin typeface="Arial"/>
                <a:ea typeface="Arial"/>
                <a:cs typeface="Arial"/>
              </a:rPr>
              <a:t>Compra definitiva em BIDs, com alto deságio e sem originação pelo Fundo. O retorno depende da recuperação agregada; o saldo contábil é valor esperado descontado, não valor de face.</a:t>
            </a:r>
          </a:p>
          <a:p xmlns:a="http://schemas.openxmlformats.org/drawingml/2006/main">
            <a:r>
              <a:t/>
            </a:r>
          </a:p>
          <a:p xmlns:a="http://schemas.openxmlformats.org/drawingml/2006/main">
            <a:pPr algn="l">
              <a:lnSpc>
                <a:spcPct val="102000"/>
              </a:lnSpc>
              <a:buNone/>
              <a:defRPr sz="885" b="0">
                <a:solidFill>
                  <a:srgbClr val="30353A"/>
                </a:solidFill>
                <a:latin typeface="Arial"/>
                <a:ea typeface="Arial"/>
                <a:cs typeface="Arial"/>
              </a:defRPr>
            </a:pPr>
            <a:r>
              <a:rPr sz="885" b="0">
                <a:solidFill>
                  <a:srgbClr val="30353A"/>
                </a:solidFill>
                <a:latin typeface="Arial"/>
                <a:ea typeface="Arial"/>
                <a:cs typeface="Arial"/>
              </a:rPr>
              <a:t>CEDENTES E DEVEDORES</a:t>
            </a:r>
          </a:p>
          <a:p xmlns:a="http://schemas.openxmlformats.org/drawingml/2006/main">
            <a:pPr algn="l">
              <a:lnSpc>
                <a:spcPct val="102000"/>
              </a:lnSpc>
              <a:buNone/>
              <a:defRPr sz="885" b="0">
                <a:solidFill>
                  <a:srgbClr val="30353A"/>
                </a:solidFill>
                <a:latin typeface="Arial"/>
                <a:ea typeface="Arial"/>
                <a:cs typeface="Arial"/>
              </a:defRPr>
            </a:pPr>
            <a:r>
              <a:rPr sz="885" b="0">
                <a:solidFill>
                  <a:srgbClr val="30353A"/>
                </a:solidFill>
                <a:latin typeface="Arial"/>
                <a:ea typeface="Arial"/>
                <a:cs typeface="Arial"/>
              </a:rPr>
              <a:t>Mai/26 nomina Ativos S.A. (19%) e Carrefour Promotora, carteira legada (11%); 70% não são nominados. Devedores são sobretudo PF pulverizadas, com PJ pontuais.</a:t>
            </a:r>
          </a:p>
          <a:p xmlns:a="http://schemas.openxmlformats.org/drawingml/2006/main">
            <a:r>
              <a:t/>
            </a:r>
          </a:p>
          <a:p xmlns:a="http://schemas.openxmlformats.org/drawingml/2006/main">
            <a:pPr algn="l">
              <a:lnSpc>
                <a:spcPct val="102000"/>
              </a:lnSpc>
              <a:buNone/>
              <a:defRPr sz="885" b="0">
                <a:solidFill>
                  <a:srgbClr val="30353A"/>
                </a:solidFill>
                <a:latin typeface="Arial"/>
                <a:ea typeface="Arial"/>
                <a:cs typeface="Arial"/>
              </a:defRPr>
            </a:pPr>
            <a:r>
              <a:rPr sz="885" b="0">
                <a:solidFill>
                  <a:srgbClr val="30353A"/>
                </a:solidFill>
                <a:latin typeface="Arial"/>
                <a:ea typeface="Arial"/>
                <a:cs typeface="Arial"/>
              </a:rPr>
              <a:t>ATIVOS</a:t>
            </a:r>
          </a:p>
          <a:p xmlns:a="http://schemas.openxmlformats.org/drawingml/2006/main">
            <a:pPr algn="l">
              <a:lnSpc>
                <a:spcPct val="102000"/>
              </a:lnSpc>
              <a:buNone/>
              <a:defRPr sz="885" b="0">
                <a:solidFill>
                  <a:srgbClr val="30353A"/>
                </a:solidFill>
                <a:latin typeface="Arial"/>
                <a:ea typeface="Arial"/>
                <a:cs typeface="Arial"/>
              </a:defRPr>
            </a:pPr>
            <a:r>
              <a:rPr sz="885" b="0">
                <a:solidFill>
                  <a:srgbClr val="30353A"/>
                </a:solidFill>
                <a:latin typeface="Arial"/>
                <a:ea typeface="Arial"/>
                <a:cs typeface="Arial"/>
              </a:rPr>
              <a:t>Empréstimos, consignado, cheque especial, cartão, CDC, varejo e serviços. Garantias podem existir caso a caso, mas a carteira massificada normalmente não tem garantia real.</a:t>
            </a:r>
          </a:p>
        </p:txBody>
      </p:sp>
      <p:sp>
        <p:nvSpPr>
          <p:cNvPr id="11" name="">
            <a:extLst xmlns:a="http://schemas.openxmlformats.org/drawingml/2006/main">
              <a:ext uri="{FF2B5EF4-FFF2-40B4-BE49-F238E27FC236}">
                <a16:creationId xmlns:a16="http://schemas.microsoft.com/office/drawing/2014/main" id="{77F10DBF-1BF2-451D-8157-32EBC36ABB7B}"/>
              </a:ext>
            </a:extLst>
          </p:cNvPr>
          <p:cNvSpPr>
            <a:spLocks xmlns:a="http://schemas.openxmlformats.org/drawingml/2006/main" noGrp="1"/>
          </p:cNvSpPr>
          <p:nvPr/>
        </p:nvSpPr>
        <p:spPr>
          <a:xfrm xmlns:a="http://schemas.openxmlformats.org/drawingml/2006/main">
            <a:off x="571500" y="5000625"/>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PRESTADORES ATUAIS</a:t>
            </a:r>
          </a:p>
        </p:txBody>
      </p:sp>
      <p:sp>
        <p:nvSpPr>
          <p:cNvPr id="12" name="">
            <a:extLst xmlns:a="http://schemas.openxmlformats.org/drawingml/2006/main">
              <a:ext uri="{FF2B5EF4-FFF2-40B4-BE49-F238E27FC236}">
                <a16:creationId xmlns:a16="http://schemas.microsoft.com/office/drawing/2014/main" id="{3C1FF621-0F95-4198-98BF-A1CEE38AF92D}"/>
              </a:ext>
            </a:extLst>
          </p:cNvPr>
          <p:cNvSpPr>
            <a:spLocks xmlns:a="http://schemas.openxmlformats.org/drawingml/2006/main" noGrp="1"/>
          </p:cNvSpPr>
          <p:nvPr/>
        </p:nvSpPr>
        <p:spPr>
          <a:xfrm xmlns:a="http://schemas.openxmlformats.org/drawingml/2006/main">
            <a:off x="571500" y="5267325"/>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796D206-AF82-4157-B12B-137FCF83B97D}"/>
              </a:ext>
            </a:extLst>
          </p:cNvPr>
          <p:cNvSpPr>
            <a:spLocks xmlns:a="http://schemas.openxmlformats.org/drawingml/2006/main" noGrp="1"/>
          </p:cNvSpPr>
          <p:nvPr/>
        </p:nvSpPr>
        <p:spPr>
          <a:xfrm xmlns:a="http://schemas.openxmlformats.org/drawingml/2006/main">
            <a:off x="571500" y="5305425"/>
            <a:ext cx="5286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63" b="0">
                <a:solidFill>
                  <a:srgbClr val="73787D"/>
                </a:solidFill>
                <a:latin typeface="Arial"/>
                <a:ea typeface="Arial"/>
                <a:cs typeface="Arial"/>
              </a:defRPr>
            </a:pPr>
            <a:r>
              <a:rPr sz="863" b="0">
                <a:solidFill>
                  <a:srgbClr val="73787D"/>
                </a:solidFill>
                <a:latin typeface="Arial"/>
                <a:ea typeface="Arial"/>
                <a:cs typeface="Arial"/>
              </a:rPr>
              <a:t>Administrador e custodiante: ID S.A · Gestor: HYPERION ASSET MANAGEMENT</a:t>
            </a:r>
          </a:p>
          <a:p xmlns:a="http://schemas.openxmlformats.org/drawingml/2006/main">
            <a:pPr algn="l">
              <a:lnSpc>
                <a:spcPct val="102000"/>
              </a:lnSpc>
              <a:buNone/>
              <a:defRPr sz="863" b="0">
                <a:solidFill>
                  <a:srgbClr val="73787D"/>
                </a:solidFill>
                <a:latin typeface="Arial"/>
                <a:ea typeface="Arial"/>
                <a:cs typeface="Arial"/>
              </a:defRPr>
            </a:pPr>
            <a:r>
              <a:rPr sz="863" b="0">
                <a:solidFill>
                  <a:srgbClr val="73787D"/>
                </a:solidFill>
                <a:latin typeface="Arial"/>
                <a:ea typeface="Arial"/>
                <a:cs typeface="Arial"/>
              </a:rPr>
              <a:t>Consultoria: MGC Capital · Cobrança: Crediativos · Auditor: BDO</a:t>
            </a:r>
          </a:p>
        </p:txBody>
      </p:sp>
      <p:sp>
        <p:nvSpPr>
          <p:cNvPr id="14" name="">
            <a:extLst xmlns:a="http://schemas.openxmlformats.org/drawingml/2006/main">
              <a:ext uri="{FF2B5EF4-FFF2-40B4-BE49-F238E27FC236}">
                <a16:creationId xmlns:a16="http://schemas.microsoft.com/office/drawing/2014/main" id="{5CC43B3E-C388-463D-9D64-BA599E29959C}"/>
              </a:ext>
            </a:extLst>
          </p:cNvPr>
          <p:cNvSpPr>
            <a:spLocks xmlns:a="http://schemas.openxmlformats.org/drawingml/2006/main" noGrp="1"/>
          </p:cNvSpPr>
          <p:nvPr/>
        </p:nvSpPr>
        <p:spPr>
          <a:xfrm xmlns:a="http://schemas.openxmlformats.org/drawingml/2006/main">
            <a:off x="6334125" y="16764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POR QUE A INADIMPLÊNCIA É ALTA · JUN/26</a:t>
            </a:r>
          </a:p>
        </p:txBody>
      </p:sp>
      <p:sp>
        <p:nvSpPr>
          <p:cNvPr id="15" name="">
            <a:extLst xmlns:a="http://schemas.openxmlformats.org/drawingml/2006/main">
              <a:ext uri="{FF2B5EF4-FFF2-40B4-BE49-F238E27FC236}">
                <a16:creationId xmlns:a16="http://schemas.microsoft.com/office/drawing/2014/main" id="{497D5E67-1A11-4B9C-95E7-E9AC1FC0A8A5}"/>
              </a:ext>
            </a:extLst>
          </p:cNvPr>
          <p:cNvSpPr>
            <a:spLocks xmlns:a="http://schemas.openxmlformats.org/drawingml/2006/main" noGrp="1"/>
          </p:cNvSpPr>
          <p:nvPr/>
        </p:nvSpPr>
        <p:spPr>
          <a:xfrm xmlns:a="http://schemas.openxmlformats.org/drawingml/2006/main">
            <a:off x="6334125" y="19431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50F9F18-CFA6-4130-9C0B-9DACD75B0084}"/>
              </a:ext>
            </a:extLst>
          </p:cNvPr>
          <p:cNvSpPr>
            <a:spLocks xmlns:a="http://schemas.openxmlformats.org/drawingml/2006/main" noGrp="1"/>
          </p:cNvSpPr>
          <p:nvPr/>
        </p:nvSpPr>
        <p:spPr>
          <a:xfrm xmlns:a="http://schemas.openxmlformats.org/drawingml/2006/main">
            <a:off x="6334125" y="2076450"/>
            <a:ext cx="2801779" cy="242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1">
                <a:solidFill>
                  <a:srgbClr val="30353A"/>
                </a:solidFill>
                <a:latin typeface="Arial"/>
                <a:ea typeface="Arial"/>
                <a:cs typeface="Arial"/>
              </a:defRPr>
            </a:pPr>
            <a:r>
              <a:rPr sz="938" b="1">
                <a:solidFill>
                  <a:srgbClr val="30353A"/>
                </a:solidFill>
                <a:latin typeface="Arial"/>
                <a:ea typeface="Arial"/>
                <a:cs typeface="Arial"/>
              </a:rPr>
              <a:t>PL</a:t>
            </a:r>
          </a:p>
        </p:txBody>
      </p:sp>
      <p:sp>
        <p:nvSpPr>
          <p:cNvPr id="17" name="">
            <a:extLst xmlns:a="http://schemas.openxmlformats.org/drawingml/2006/main">
              <a:ext uri="{FF2B5EF4-FFF2-40B4-BE49-F238E27FC236}">
                <a16:creationId xmlns:a16="http://schemas.microsoft.com/office/drawing/2014/main" id="{E1805EA7-43DD-4A34-A6ED-84D336BEBFE0}"/>
              </a:ext>
            </a:extLst>
          </p:cNvPr>
          <p:cNvSpPr>
            <a:spLocks xmlns:a="http://schemas.openxmlformats.org/drawingml/2006/main" noGrp="1"/>
          </p:cNvSpPr>
          <p:nvPr/>
        </p:nvSpPr>
        <p:spPr>
          <a:xfrm xmlns:a="http://schemas.openxmlformats.org/drawingml/2006/main">
            <a:off x="9294495" y="2076450"/>
            <a:ext cx="2326005" cy="242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938" b="0">
                <a:solidFill>
                  <a:srgbClr val="151515"/>
                </a:solidFill>
                <a:latin typeface="Arial"/>
                <a:ea typeface="Arial"/>
                <a:cs typeface="Arial"/>
              </a:defRPr>
            </a:pPr>
            <a:r>
              <a:rPr sz="938" b="0">
                <a:solidFill>
                  <a:srgbClr val="151515"/>
                </a:solidFill>
                <a:latin typeface="Arial"/>
                <a:ea typeface="Arial"/>
                <a:cs typeface="Arial"/>
              </a:rPr>
              <a:t>R$ 143,6 mi</a:t>
            </a:r>
          </a:p>
        </p:txBody>
      </p:sp>
      <p:sp>
        <p:nvSpPr>
          <p:cNvPr id="18" name="">
            <a:extLst xmlns:a="http://schemas.openxmlformats.org/drawingml/2006/main">
              <a:ext uri="{FF2B5EF4-FFF2-40B4-BE49-F238E27FC236}">
                <a16:creationId xmlns:a16="http://schemas.microsoft.com/office/drawing/2014/main" id="{45F7FD15-D61D-4DA3-813C-4238A370122A}"/>
              </a:ext>
            </a:extLst>
          </p:cNvPr>
          <p:cNvSpPr>
            <a:spLocks xmlns:a="http://schemas.openxmlformats.org/drawingml/2006/main" noGrp="1"/>
          </p:cNvSpPr>
          <p:nvPr/>
        </p:nvSpPr>
        <p:spPr>
          <a:xfrm xmlns:a="http://schemas.openxmlformats.org/drawingml/2006/main">
            <a:off x="6334125" y="2376488"/>
            <a:ext cx="52863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C4A905D-3866-4B01-99E6-AD773E26B9D7}"/>
              </a:ext>
            </a:extLst>
          </p:cNvPr>
          <p:cNvSpPr>
            <a:spLocks xmlns:a="http://schemas.openxmlformats.org/drawingml/2006/main" noGrp="1"/>
          </p:cNvSpPr>
          <p:nvPr/>
        </p:nvSpPr>
        <p:spPr>
          <a:xfrm xmlns:a="http://schemas.openxmlformats.org/drawingml/2006/main">
            <a:off x="6334125" y="2433638"/>
            <a:ext cx="2801779" cy="242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1">
                <a:solidFill>
                  <a:srgbClr val="30353A"/>
                </a:solidFill>
                <a:latin typeface="Arial"/>
                <a:ea typeface="Arial"/>
                <a:cs typeface="Arial"/>
              </a:defRPr>
            </a:pPr>
            <a:r>
              <a:rPr sz="938" b="1">
                <a:solidFill>
                  <a:srgbClr val="30353A"/>
                </a:solidFill>
                <a:latin typeface="Arial"/>
                <a:ea typeface="Arial"/>
                <a:cs typeface="Arial"/>
              </a:rPr>
              <a:t>Carteira DC</a:t>
            </a:r>
          </a:p>
        </p:txBody>
      </p:sp>
      <p:sp>
        <p:nvSpPr>
          <p:cNvPr id="20" name="">
            <a:extLst xmlns:a="http://schemas.openxmlformats.org/drawingml/2006/main">
              <a:ext uri="{FF2B5EF4-FFF2-40B4-BE49-F238E27FC236}">
                <a16:creationId xmlns:a16="http://schemas.microsoft.com/office/drawing/2014/main" id="{F518B903-6938-4470-B53D-28C98DB1D387}"/>
              </a:ext>
            </a:extLst>
          </p:cNvPr>
          <p:cNvSpPr>
            <a:spLocks xmlns:a="http://schemas.openxmlformats.org/drawingml/2006/main" noGrp="1"/>
          </p:cNvSpPr>
          <p:nvPr/>
        </p:nvSpPr>
        <p:spPr>
          <a:xfrm xmlns:a="http://schemas.openxmlformats.org/drawingml/2006/main">
            <a:off x="9294495" y="2433638"/>
            <a:ext cx="2326005" cy="242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938" b="0">
                <a:solidFill>
                  <a:srgbClr val="151515"/>
                </a:solidFill>
                <a:latin typeface="Arial"/>
                <a:ea typeface="Arial"/>
                <a:cs typeface="Arial"/>
              </a:defRPr>
            </a:pPr>
            <a:r>
              <a:rPr sz="938" b="0">
                <a:solidFill>
                  <a:srgbClr val="151515"/>
                </a:solidFill>
                <a:latin typeface="Arial"/>
                <a:ea typeface="Arial"/>
                <a:cs typeface="Arial"/>
              </a:rPr>
              <a:t>R$ 155,6 mi</a:t>
            </a:r>
          </a:p>
        </p:txBody>
      </p:sp>
      <p:sp>
        <p:nvSpPr>
          <p:cNvPr id="21" name="">
            <a:extLst xmlns:a="http://schemas.openxmlformats.org/drawingml/2006/main">
              <a:ext uri="{FF2B5EF4-FFF2-40B4-BE49-F238E27FC236}">
                <a16:creationId xmlns:a16="http://schemas.microsoft.com/office/drawing/2014/main" id="{EDD23EEB-A550-43D0-A17E-20BD4815CEC6}"/>
              </a:ext>
            </a:extLst>
          </p:cNvPr>
          <p:cNvSpPr>
            <a:spLocks xmlns:a="http://schemas.openxmlformats.org/drawingml/2006/main" noGrp="1"/>
          </p:cNvSpPr>
          <p:nvPr/>
        </p:nvSpPr>
        <p:spPr>
          <a:xfrm xmlns:a="http://schemas.openxmlformats.org/drawingml/2006/main">
            <a:off x="6334125" y="2733675"/>
            <a:ext cx="52863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90F92878-F8F2-40A8-BB14-73258E53E97C}"/>
              </a:ext>
            </a:extLst>
          </p:cNvPr>
          <p:cNvSpPr>
            <a:spLocks xmlns:a="http://schemas.openxmlformats.org/drawingml/2006/main" noGrp="1"/>
          </p:cNvSpPr>
          <p:nvPr/>
        </p:nvSpPr>
        <p:spPr>
          <a:xfrm xmlns:a="http://schemas.openxmlformats.org/drawingml/2006/main">
            <a:off x="6334125" y="2790825"/>
            <a:ext cx="2801779" cy="242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1">
                <a:solidFill>
                  <a:srgbClr val="EC7000"/>
                </a:solidFill>
                <a:latin typeface="Arial"/>
                <a:ea typeface="Arial"/>
                <a:cs typeface="Arial"/>
              </a:defRPr>
            </a:pPr>
            <a:r>
              <a:rPr sz="938" b="1">
                <a:solidFill>
                  <a:srgbClr val="EC7000"/>
                </a:solidFill>
                <a:latin typeface="Arial"/>
                <a:ea typeface="Arial"/>
                <a:cs typeface="Arial"/>
              </a:rPr>
              <a:t>Inadimplência</a:t>
            </a:r>
          </a:p>
        </p:txBody>
      </p:sp>
      <p:sp>
        <p:nvSpPr>
          <p:cNvPr id="23" name="">
            <a:extLst xmlns:a="http://schemas.openxmlformats.org/drawingml/2006/main">
              <a:ext uri="{FF2B5EF4-FFF2-40B4-BE49-F238E27FC236}">
                <a16:creationId xmlns:a16="http://schemas.microsoft.com/office/drawing/2014/main" id="{CD374139-DCB9-4CAE-8E4A-B3E683A0AA12}"/>
              </a:ext>
            </a:extLst>
          </p:cNvPr>
          <p:cNvSpPr>
            <a:spLocks xmlns:a="http://schemas.openxmlformats.org/drawingml/2006/main" noGrp="1"/>
          </p:cNvSpPr>
          <p:nvPr/>
        </p:nvSpPr>
        <p:spPr>
          <a:xfrm xmlns:a="http://schemas.openxmlformats.org/drawingml/2006/main">
            <a:off x="9294495" y="2790825"/>
            <a:ext cx="2326005" cy="242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938" b="0">
                <a:solidFill>
                  <a:srgbClr val="151515"/>
                </a:solidFill>
                <a:latin typeface="Arial"/>
                <a:ea typeface="Arial"/>
                <a:cs typeface="Arial"/>
              </a:defRPr>
            </a:pPr>
            <a:r>
              <a:rPr sz="938" b="0">
                <a:solidFill>
                  <a:srgbClr val="151515"/>
                </a:solidFill>
                <a:latin typeface="Arial"/>
                <a:ea typeface="Arial"/>
                <a:cs typeface="Arial"/>
              </a:rPr>
              <a:t>R$ 153,8 mi · 98,8%</a:t>
            </a:r>
          </a:p>
        </p:txBody>
      </p:sp>
      <p:sp>
        <p:nvSpPr>
          <p:cNvPr id="24" name="">
            <a:extLst xmlns:a="http://schemas.openxmlformats.org/drawingml/2006/main">
              <a:ext uri="{FF2B5EF4-FFF2-40B4-BE49-F238E27FC236}">
                <a16:creationId xmlns:a16="http://schemas.microsoft.com/office/drawing/2014/main" id="{EF6096BF-A226-4281-8237-DE39FB2F014D}"/>
              </a:ext>
            </a:extLst>
          </p:cNvPr>
          <p:cNvSpPr>
            <a:spLocks xmlns:a="http://schemas.openxmlformats.org/drawingml/2006/main" noGrp="1"/>
          </p:cNvSpPr>
          <p:nvPr/>
        </p:nvSpPr>
        <p:spPr>
          <a:xfrm xmlns:a="http://schemas.openxmlformats.org/drawingml/2006/main">
            <a:off x="6334125" y="3090863"/>
            <a:ext cx="52863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E3C6F2B-6F41-477F-9904-2376FCC2D1F7}"/>
              </a:ext>
            </a:extLst>
          </p:cNvPr>
          <p:cNvSpPr>
            <a:spLocks xmlns:a="http://schemas.openxmlformats.org/drawingml/2006/main" noGrp="1"/>
          </p:cNvSpPr>
          <p:nvPr/>
        </p:nvSpPr>
        <p:spPr>
          <a:xfrm xmlns:a="http://schemas.openxmlformats.org/drawingml/2006/main">
            <a:off x="6334125" y="3148013"/>
            <a:ext cx="2801779" cy="242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38" b="1">
                <a:solidFill>
                  <a:srgbClr val="30353A"/>
                </a:solidFill>
                <a:latin typeface="Arial"/>
                <a:ea typeface="Arial"/>
                <a:cs typeface="Arial"/>
              </a:defRPr>
            </a:pPr>
            <a:r>
              <a:rPr sz="938" b="1">
                <a:solidFill>
                  <a:srgbClr val="30353A"/>
                </a:solidFill>
                <a:latin typeface="Arial"/>
                <a:ea typeface="Arial"/>
                <a:cs typeface="Arial"/>
              </a:rPr>
              <a:t>&gt; 1.080 dias</a:t>
            </a:r>
          </a:p>
        </p:txBody>
      </p:sp>
      <p:sp>
        <p:nvSpPr>
          <p:cNvPr id="26" name="">
            <a:extLst xmlns:a="http://schemas.openxmlformats.org/drawingml/2006/main">
              <a:ext uri="{FF2B5EF4-FFF2-40B4-BE49-F238E27FC236}">
                <a16:creationId xmlns:a16="http://schemas.microsoft.com/office/drawing/2014/main" id="{E3633DD3-5B84-46F8-89C1-49F950BB0200}"/>
              </a:ext>
            </a:extLst>
          </p:cNvPr>
          <p:cNvSpPr>
            <a:spLocks xmlns:a="http://schemas.openxmlformats.org/drawingml/2006/main" noGrp="1"/>
          </p:cNvSpPr>
          <p:nvPr/>
        </p:nvSpPr>
        <p:spPr>
          <a:xfrm xmlns:a="http://schemas.openxmlformats.org/drawingml/2006/main">
            <a:off x="9294495" y="3148013"/>
            <a:ext cx="2326005" cy="242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938" b="0">
                <a:solidFill>
                  <a:srgbClr val="151515"/>
                </a:solidFill>
                <a:latin typeface="Arial"/>
                <a:ea typeface="Arial"/>
                <a:cs typeface="Arial"/>
              </a:defRPr>
            </a:pPr>
            <a:r>
              <a:rPr sz="938" b="0">
                <a:solidFill>
                  <a:srgbClr val="151515"/>
                </a:solidFill>
                <a:latin typeface="Arial"/>
                <a:ea typeface="Arial"/>
                <a:cs typeface="Arial"/>
              </a:rPr>
              <a:t>R$ 153,8 mi · 100,00% da inad.</a:t>
            </a:r>
          </a:p>
        </p:txBody>
      </p:sp>
      <p:sp>
        <p:nvSpPr>
          <p:cNvPr id="27" name="">
            <a:extLst xmlns:a="http://schemas.openxmlformats.org/drawingml/2006/main">
              <a:ext uri="{FF2B5EF4-FFF2-40B4-BE49-F238E27FC236}">
                <a16:creationId xmlns:a16="http://schemas.microsoft.com/office/drawing/2014/main" id="{F65E5FDB-BBB2-40E7-9058-34005067E956}"/>
              </a:ext>
            </a:extLst>
          </p:cNvPr>
          <p:cNvSpPr>
            <a:spLocks xmlns:a="http://schemas.openxmlformats.org/drawingml/2006/main" noGrp="1"/>
          </p:cNvSpPr>
          <p:nvPr/>
        </p:nvSpPr>
        <p:spPr>
          <a:xfrm xmlns:a="http://schemas.openxmlformats.org/drawingml/2006/main">
            <a:off x="6334125" y="3562350"/>
            <a:ext cx="52863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3000"/>
              </a:lnSpc>
              <a:buNone/>
              <a:defRPr sz="915" b="0">
                <a:solidFill>
                  <a:srgbClr val="30353A"/>
                </a:solidFill>
                <a:latin typeface="Arial"/>
                <a:ea typeface="Arial"/>
                <a:cs typeface="Arial"/>
              </a:defRPr>
            </a:pPr>
            <a:r>
              <a:rPr sz="915" b="0">
                <a:solidFill>
                  <a:srgbClr val="30353A"/>
                </a:solidFill>
                <a:latin typeface="Arial"/>
                <a:ea typeface="Arial"/>
                <a:cs typeface="Arial"/>
              </a:rPr>
              <a:t>100,0% é coerente com a estratégia NPL: o fundo compra créditos já vencidos. Aging mede o estado jurídico do crédito; não representa perda adicional de 100% sobre o valor contábil.</a:t>
            </a:r>
          </a:p>
        </p:txBody>
      </p:sp>
      <p:sp>
        <p:nvSpPr>
          <p:cNvPr id="28" name="">
            <a:extLst xmlns:a="http://schemas.openxmlformats.org/drawingml/2006/main">
              <a:ext uri="{FF2B5EF4-FFF2-40B4-BE49-F238E27FC236}">
                <a16:creationId xmlns:a16="http://schemas.microsoft.com/office/drawing/2014/main" id="{248D2483-CB0F-43CB-B3F2-0BF4D03FC42C}"/>
              </a:ext>
            </a:extLst>
          </p:cNvPr>
          <p:cNvSpPr>
            <a:spLocks xmlns:a="http://schemas.openxmlformats.org/drawingml/2006/main" noGrp="1"/>
          </p:cNvSpPr>
          <p:nvPr/>
        </p:nvSpPr>
        <p:spPr>
          <a:xfrm xmlns:a="http://schemas.openxmlformats.org/drawingml/2006/main">
            <a:off x="6334125" y="4305300"/>
            <a:ext cx="5286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a:solidFill>
                  <a:srgbClr val="30353A"/>
                </a:solidFill>
                <a:latin typeface="Arial"/>
                <a:ea typeface="Arial"/>
                <a:cs typeface="Arial"/>
              </a:defRPr>
            </a:pPr>
            <a:r>
              <a:rPr sz="1125" b="1">
                <a:solidFill>
                  <a:srgbClr val="30353A"/>
                </a:solidFill>
                <a:latin typeface="Arial"/>
                <a:ea typeface="Arial"/>
                <a:cs typeface="Arial"/>
              </a:rPr>
              <a:t>QUEBRA JUN→JUL/24 · R$ MI</a:t>
            </a:r>
          </a:p>
        </p:txBody>
      </p:sp>
      <p:sp>
        <p:nvSpPr>
          <p:cNvPr id="29" name="">
            <a:extLst xmlns:a="http://schemas.openxmlformats.org/drawingml/2006/main">
              <a:ext uri="{FF2B5EF4-FFF2-40B4-BE49-F238E27FC236}">
                <a16:creationId xmlns:a16="http://schemas.microsoft.com/office/drawing/2014/main" id="{7A260307-233A-4783-BFA3-9B6FA07ECB2D}"/>
              </a:ext>
            </a:extLst>
          </p:cNvPr>
          <p:cNvSpPr>
            <a:spLocks xmlns:a="http://schemas.openxmlformats.org/drawingml/2006/main" noGrp="1"/>
          </p:cNvSpPr>
          <p:nvPr/>
        </p:nvSpPr>
        <p:spPr>
          <a:xfrm xmlns:a="http://schemas.openxmlformats.org/drawingml/2006/main">
            <a:off x="6334125" y="4572000"/>
            <a:ext cx="5286375"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370A6A2C-585C-4FD7-B47F-3AC5927D15FE}"/>
              </a:ext>
            </a:extLst>
          </p:cNvPr>
          <p:cNvSpPr>
            <a:spLocks xmlns:a="http://schemas.openxmlformats.org/drawingml/2006/main" noGrp="1"/>
          </p:cNvSpPr>
          <p:nvPr/>
        </p:nvSpPr>
        <p:spPr>
          <a:xfrm xmlns:a="http://schemas.openxmlformats.org/drawingml/2006/main">
            <a:off x="6334125" y="4629150"/>
            <a:ext cx="5286375" cy="323850"/>
          </a:xfrm>
          <a:prstGeom xmlns:a="http://schemas.openxmlformats.org/drawingml/2006/main" prst="rect">
            <a:avLst/>
          </a:prstGeom>
          <a:solidFill xmlns:a="http://schemas.openxmlformats.org/drawingml/2006/main">
            <a:srgbClr val="15151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7157DBA-87E0-40D5-AFC8-5DE7646D93B4}"/>
              </a:ext>
            </a:extLst>
          </p:cNvPr>
          <p:cNvSpPr>
            <a:spLocks xmlns:a="http://schemas.openxmlformats.org/drawingml/2006/main" noGrp="1"/>
          </p:cNvSpPr>
          <p:nvPr/>
        </p:nvSpPr>
        <p:spPr>
          <a:xfrm xmlns:a="http://schemas.openxmlformats.org/drawingml/2006/main">
            <a:off x="6391275" y="4657725"/>
            <a:ext cx="1885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863" b="1">
                <a:solidFill>
                  <a:srgbClr val="FFFFFF"/>
                </a:solidFill>
                <a:latin typeface="Arial"/>
                <a:ea typeface="Arial"/>
                <a:cs typeface="Arial"/>
              </a:defRPr>
            </a:pPr>
            <a:r>
              <a:rPr sz="863" b="1">
                <a:solidFill>
                  <a:srgbClr val="FFFFFF"/>
                </a:solidFill>
                <a:latin typeface="Arial"/>
                <a:ea typeface="Arial"/>
                <a:cs typeface="Arial"/>
              </a:rPr>
              <a:t>Métrica</a:t>
            </a:r>
          </a:p>
        </p:txBody>
      </p:sp>
      <p:sp>
        <p:nvSpPr>
          <p:cNvPr id="32" name="">
            <a:extLst xmlns:a="http://schemas.openxmlformats.org/drawingml/2006/main">
              <a:ext uri="{FF2B5EF4-FFF2-40B4-BE49-F238E27FC236}">
                <a16:creationId xmlns:a16="http://schemas.microsoft.com/office/drawing/2014/main" id="{6BDD7E11-9A21-449D-97CD-CC627113B947}"/>
              </a:ext>
            </a:extLst>
          </p:cNvPr>
          <p:cNvSpPr>
            <a:spLocks xmlns:a="http://schemas.openxmlformats.org/drawingml/2006/main" noGrp="1"/>
          </p:cNvSpPr>
          <p:nvPr/>
        </p:nvSpPr>
        <p:spPr>
          <a:xfrm xmlns:a="http://schemas.openxmlformats.org/drawingml/2006/main">
            <a:off x="8391525" y="465772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863" b="1">
                <a:solidFill>
                  <a:srgbClr val="FFFFFF"/>
                </a:solidFill>
                <a:latin typeface="Arial"/>
                <a:ea typeface="Arial"/>
                <a:cs typeface="Arial"/>
              </a:defRPr>
            </a:pPr>
            <a:r>
              <a:rPr sz="863" b="1">
                <a:solidFill>
                  <a:srgbClr val="FFFFFF"/>
                </a:solidFill>
                <a:latin typeface="Arial"/>
                <a:ea typeface="Arial"/>
                <a:cs typeface="Arial"/>
              </a:rPr>
              <a:t>Jun/24 · Sefer</a:t>
            </a:r>
          </a:p>
        </p:txBody>
      </p:sp>
      <p:sp>
        <p:nvSpPr>
          <p:cNvPr id="33" name="">
            <a:extLst xmlns:a="http://schemas.openxmlformats.org/drawingml/2006/main">
              <a:ext uri="{FF2B5EF4-FFF2-40B4-BE49-F238E27FC236}">
                <a16:creationId xmlns:a16="http://schemas.microsoft.com/office/drawing/2014/main" id="{683C09F1-E4C3-416F-90E5-E69EEC7EB3D4}"/>
              </a:ext>
            </a:extLst>
          </p:cNvPr>
          <p:cNvSpPr>
            <a:spLocks xmlns:a="http://schemas.openxmlformats.org/drawingml/2006/main" noGrp="1"/>
          </p:cNvSpPr>
          <p:nvPr/>
        </p:nvSpPr>
        <p:spPr>
          <a:xfrm xmlns:a="http://schemas.openxmlformats.org/drawingml/2006/main">
            <a:off x="9534525" y="4657725"/>
            <a:ext cx="933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863" b="1">
                <a:solidFill>
                  <a:srgbClr val="FFFFFF"/>
                </a:solidFill>
                <a:latin typeface="Arial"/>
                <a:ea typeface="Arial"/>
                <a:cs typeface="Arial"/>
              </a:defRPr>
            </a:pPr>
            <a:r>
              <a:rPr sz="863" b="1">
                <a:solidFill>
                  <a:srgbClr val="FFFFFF"/>
                </a:solidFill>
                <a:latin typeface="Arial"/>
                <a:ea typeface="Arial"/>
                <a:cs typeface="Arial"/>
              </a:rPr>
              <a:t>Jul/24 · ID</a:t>
            </a:r>
          </a:p>
        </p:txBody>
      </p:sp>
      <p:sp>
        <p:nvSpPr>
          <p:cNvPr id="34" name="">
            <a:extLst xmlns:a="http://schemas.openxmlformats.org/drawingml/2006/main">
              <a:ext uri="{FF2B5EF4-FFF2-40B4-BE49-F238E27FC236}">
                <a16:creationId xmlns:a16="http://schemas.microsoft.com/office/drawing/2014/main" id="{D34299FA-1870-4950-8A38-0BD89257A5DB}"/>
              </a:ext>
            </a:extLst>
          </p:cNvPr>
          <p:cNvSpPr>
            <a:spLocks xmlns:a="http://schemas.openxmlformats.org/drawingml/2006/main" noGrp="1"/>
          </p:cNvSpPr>
          <p:nvPr/>
        </p:nvSpPr>
        <p:spPr>
          <a:xfrm xmlns:a="http://schemas.openxmlformats.org/drawingml/2006/main">
            <a:off x="10582275" y="4657725"/>
            <a:ext cx="981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863" b="1">
                <a:solidFill>
                  <a:srgbClr val="FFFFFF"/>
                </a:solidFill>
                <a:latin typeface="Arial"/>
                <a:ea typeface="Arial"/>
                <a:cs typeface="Arial"/>
              </a:defRPr>
            </a:pPr>
            <a:r>
              <a:rPr sz="863" b="1">
                <a:solidFill>
                  <a:srgbClr val="FFFFFF"/>
                </a:solidFill>
                <a:latin typeface="Arial"/>
                <a:ea typeface="Arial"/>
                <a:cs typeface="Arial"/>
              </a:rPr>
              <a:t>Δ</a:t>
            </a:r>
          </a:p>
        </p:txBody>
      </p:sp>
      <p:sp>
        <p:nvSpPr>
          <p:cNvPr id="35" name="">
            <a:extLst xmlns:a="http://schemas.openxmlformats.org/drawingml/2006/main">
              <a:ext uri="{FF2B5EF4-FFF2-40B4-BE49-F238E27FC236}">
                <a16:creationId xmlns:a16="http://schemas.microsoft.com/office/drawing/2014/main" id="{53B1DBFE-9C3A-4BAD-9E3A-A8B31D56139B}"/>
              </a:ext>
            </a:extLst>
          </p:cNvPr>
          <p:cNvSpPr>
            <a:spLocks xmlns:a="http://schemas.openxmlformats.org/drawingml/2006/main" noGrp="1"/>
          </p:cNvSpPr>
          <p:nvPr/>
        </p:nvSpPr>
        <p:spPr>
          <a:xfrm xmlns:a="http://schemas.openxmlformats.org/drawingml/2006/main">
            <a:off x="6334125" y="4953000"/>
            <a:ext cx="5286375" cy="266700"/>
          </a:xfrm>
          <a:prstGeom xmlns:a="http://schemas.openxmlformats.org/drawingml/2006/main" prst="rect">
            <a:avLst/>
          </a:prstGeom>
          <a:solidFill xmlns:a="http://schemas.openxmlformats.org/drawingml/2006/main">
            <a:srgbClr val="FFF1E6"/>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AFDFAB38-06CF-4F76-9862-AD6318DCA6C0}"/>
              </a:ext>
            </a:extLst>
          </p:cNvPr>
          <p:cNvSpPr>
            <a:spLocks xmlns:a="http://schemas.openxmlformats.org/drawingml/2006/main" noGrp="1"/>
          </p:cNvSpPr>
          <p:nvPr/>
        </p:nvSpPr>
        <p:spPr>
          <a:xfrm xmlns:a="http://schemas.openxmlformats.org/drawingml/2006/main">
            <a:off x="6334125" y="5210175"/>
            <a:ext cx="52863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424AD6D3-07B3-4FEE-9176-AFF114402E72}"/>
              </a:ext>
            </a:extLst>
          </p:cNvPr>
          <p:cNvSpPr>
            <a:spLocks xmlns:a="http://schemas.openxmlformats.org/drawingml/2006/main" noGrp="1"/>
          </p:cNvSpPr>
          <p:nvPr/>
        </p:nvSpPr>
        <p:spPr>
          <a:xfrm xmlns:a="http://schemas.openxmlformats.org/drawingml/2006/main">
            <a:off x="6391275" y="498157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788" b="1">
                <a:solidFill>
                  <a:srgbClr val="EC7000"/>
                </a:solidFill>
                <a:latin typeface="Arial"/>
                <a:ea typeface="Arial"/>
                <a:cs typeface="Arial"/>
              </a:defRPr>
            </a:pPr>
            <a:r>
              <a:rPr sz="788" b="1">
                <a:solidFill>
                  <a:srgbClr val="EC7000"/>
                </a:solidFill>
                <a:latin typeface="Arial"/>
                <a:ea typeface="Arial"/>
                <a:cs typeface="Arial"/>
              </a:rPr>
              <a:t>Inadimplência bruta</a:t>
            </a:r>
          </a:p>
        </p:txBody>
      </p:sp>
      <p:sp>
        <p:nvSpPr>
          <p:cNvPr id="38" name="">
            <a:extLst xmlns:a="http://schemas.openxmlformats.org/drawingml/2006/main">
              <a:ext uri="{FF2B5EF4-FFF2-40B4-BE49-F238E27FC236}">
                <a16:creationId xmlns:a16="http://schemas.microsoft.com/office/drawing/2014/main" id="{7F597771-6F6E-4055-8914-4D1B52018759}"/>
              </a:ext>
            </a:extLst>
          </p:cNvPr>
          <p:cNvSpPr>
            <a:spLocks xmlns:a="http://schemas.openxmlformats.org/drawingml/2006/main" noGrp="1"/>
          </p:cNvSpPr>
          <p:nvPr/>
        </p:nvSpPr>
        <p:spPr>
          <a:xfrm xmlns:a="http://schemas.openxmlformats.org/drawingml/2006/main">
            <a:off x="8391525" y="4981575"/>
            <a:ext cx="1028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788" b="1">
                <a:solidFill>
                  <a:srgbClr val="EC7000"/>
                </a:solidFill>
                <a:latin typeface="Arial"/>
                <a:ea typeface="Arial"/>
                <a:cs typeface="Arial"/>
              </a:defRPr>
            </a:pPr>
            <a:r>
              <a:rPr sz="788" b="1">
                <a:solidFill>
                  <a:srgbClr val="EC7000"/>
                </a:solidFill>
                <a:latin typeface="Arial"/>
                <a:ea typeface="Arial"/>
                <a:cs typeface="Arial"/>
              </a:rPr>
              <a:t>16.722,8 mi</a:t>
            </a:r>
          </a:p>
        </p:txBody>
      </p:sp>
      <p:sp>
        <p:nvSpPr>
          <p:cNvPr id="39" name="">
            <a:extLst xmlns:a="http://schemas.openxmlformats.org/drawingml/2006/main">
              <a:ext uri="{FF2B5EF4-FFF2-40B4-BE49-F238E27FC236}">
                <a16:creationId xmlns:a16="http://schemas.microsoft.com/office/drawing/2014/main" id="{8FF7DF86-F8C2-45F1-B801-4F37261CBD6F}"/>
              </a:ext>
            </a:extLst>
          </p:cNvPr>
          <p:cNvSpPr>
            <a:spLocks xmlns:a="http://schemas.openxmlformats.org/drawingml/2006/main" noGrp="1"/>
          </p:cNvSpPr>
          <p:nvPr/>
        </p:nvSpPr>
        <p:spPr>
          <a:xfrm xmlns:a="http://schemas.openxmlformats.org/drawingml/2006/main">
            <a:off x="9534525" y="4981575"/>
            <a:ext cx="933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788" b="0">
                <a:solidFill>
                  <a:srgbClr val="30353A"/>
                </a:solidFill>
                <a:latin typeface="Arial"/>
                <a:ea typeface="Arial"/>
                <a:cs typeface="Arial"/>
              </a:defRPr>
            </a:pPr>
            <a:r>
              <a:rPr sz="788" b="0">
                <a:solidFill>
                  <a:srgbClr val="30353A"/>
                </a:solidFill>
                <a:latin typeface="Arial"/>
                <a:ea typeface="Arial"/>
                <a:cs typeface="Arial"/>
              </a:rPr>
              <a:t>103,4 mi</a:t>
            </a:r>
          </a:p>
        </p:txBody>
      </p:sp>
      <p:sp>
        <p:nvSpPr>
          <p:cNvPr id="40" name="">
            <a:extLst xmlns:a="http://schemas.openxmlformats.org/drawingml/2006/main">
              <a:ext uri="{FF2B5EF4-FFF2-40B4-BE49-F238E27FC236}">
                <a16:creationId xmlns:a16="http://schemas.microsoft.com/office/drawing/2014/main" id="{F6B6B13C-9BFC-4AF1-A132-08D3874F6480}"/>
              </a:ext>
            </a:extLst>
          </p:cNvPr>
          <p:cNvSpPr>
            <a:spLocks xmlns:a="http://schemas.openxmlformats.org/drawingml/2006/main" noGrp="1"/>
          </p:cNvSpPr>
          <p:nvPr/>
        </p:nvSpPr>
        <p:spPr>
          <a:xfrm xmlns:a="http://schemas.openxmlformats.org/drawingml/2006/main">
            <a:off x="10582275" y="4981575"/>
            <a:ext cx="9810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788" b="0">
                <a:solidFill>
                  <a:srgbClr val="30353A"/>
                </a:solidFill>
                <a:latin typeface="Arial"/>
                <a:ea typeface="Arial"/>
                <a:cs typeface="Arial"/>
              </a:defRPr>
            </a:pPr>
            <a:r>
              <a:rPr sz="788" b="0">
                <a:solidFill>
                  <a:srgbClr val="30353A"/>
                </a:solidFill>
                <a:latin typeface="Arial"/>
                <a:ea typeface="Arial"/>
                <a:cs typeface="Arial"/>
              </a:rPr>
              <a:t>-16.619,4 mi</a:t>
            </a:r>
          </a:p>
        </p:txBody>
      </p:sp>
      <p:sp>
        <p:nvSpPr>
          <p:cNvPr id="41" name="">
            <a:extLst xmlns:a="http://schemas.openxmlformats.org/drawingml/2006/main">
              <a:ext uri="{FF2B5EF4-FFF2-40B4-BE49-F238E27FC236}">
                <a16:creationId xmlns:a16="http://schemas.microsoft.com/office/drawing/2014/main" id="{D8D80A6D-5701-41BF-B766-D618A26EB339}"/>
              </a:ext>
            </a:extLst>
          </p:cNvPr>
          <p:cNvSpPr>
            <a:spLocks xmlns:a="http://schemas.openxmlformats.org/drawingml/2006/main" noGrp="1"/>
          </p:cNvSpPr>
          <p:nvPr/>
        </p:nvSpPr>
        <p:spPr>
          <a:xfrm xmlns:a="http://schemas.openxmlformats.org/drawingml/2006/main">
            <a:off x="6334125" y="5219700"/>
            <a:ext cx="5286375" cy="266700"/>
          </a:xfrm>
          <a:prstGeom xmlns:a="http://schemas.openxmlformats.org/drawingml/2006/main" prst="rect">
            <a:avLst/>
          </a:prstGeom>
          <a:solidFill xmlns:a="http://schemas.openxmlformats.org/drawingml/2006/main">
            <a:srgbClr val="F5F6F7"/>
          </a:solidFill>
          <a:ln xmlns:a="http://schemas.openxmlformats.org/drawingml/2006/main" w="0">
            <a:noFill/>
            <a:prstDash val="solid"/>
          </a:ln>
        </p:spPr>
      </p:sp>
      <p:sp>
        <p:nvSpPr>
          <p:cNvPr id="42" name="">
            <a:extLst xmlns:a="http://schemas.openxmlformats.org/drawingml/2006/main">
              <a:ext uri="{FF2B5EF4-FFF2-40B4-BE49-F238E27FC236}">
                <a16:creationId xmlns:a16="http://schemas.microsoft.com/office/drawing/2014/main" id="{75AADCFB-FDA5-42E9-BD59-BD1A07DE5718}"/>
              </a:ext>
            </a:extLst>
          </p:cNvPr>
          <p:cNvSpPr>
            <a:spLocks xmlns:a="http://schemas.openxmlformats.org/drawingml/2006/main" noGrp="1"/>
          </p:cNvSpPr>
          <p:nvPr/>
        </p:nvSpPr>
        <p:spPr>
          <a:xfrm xmlns:a="http://schemas.openxmlformats.org/drawingml/2006/main">
            <a:off x="6334125" y="5476875"/>
            <a:ext cx="52863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C5AEA9B6-D671-49E0-9244-D6967E461090}"/>
              </a:ext>
            </a:extLst>
          </p:cNvPr>
          <p:cNvSpPr>
            <a:spLocks xmlns:a="http://schemas.openxmlformats.org/drawingml/2006/main" noGrp="1"/>
          </p:cNvSpPr>
          <p:nvPr/>
        </p:nvSpPr>
        <p:spPr>
          <a:xfrm xmlns:a="http://schemas.openxmlformats.org/drawingml/2006/main">
            <a:off x="6391275" y="524827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788" b="0">
                <a:solidFill>
                  <a:srgbClr val="30353A"/>
                </a:solidFill>
                <a:latin typeface="Arial"/>
                <a:ea typeface="Arial"/>
                <a:cs typeface="Arial"/>
              </a:defRPr>
            </a:pPr>
            <a:r>
              <a:rPr sz="788" b="0">
                <a:solidFill>
                  <a:srgbClr val="30353A"/>
                </a:solidFill>
                <a:latin typeface="Arial"/>
                <a:ea typeface="Arial"/>
                <a:cs typeface="Arial"/>
              </a:rPr>
              <a:t>Carteira DC</a:t>
            </a:r>
          </a:p>
        </p:txBody>
      </p:sp>
      <p:sp>
        <p:nvSpPr>
          <p:cNvPr id="44" name="">
            <a:extLst xmlns:a="http://schemas.openxmlformats.org/drawingml/2006/main">
              <a:ext uri="{FF2B5EF4-FFF2-40B4-BE49-F238E27FC236}">
                <a16:creationId xmlns:a16="http://schemas.microsoft.com/office/drawing/2014/main" id="{9E84925F-4D20-45F5-8992-A81C0CC41E22}"/>
              </a:ext>
            </a:extLst>
          </p:cNvPr>
          <p:cNvSpPr>
            <a:spLocks xmlns:a="http://schemas.openxmlformats.org/drawingml/2006/main" noGrp="1"/>
          </p:cNvSpPr>
          <p:nvPr/>
        </p:nvSpPr>
        <p:spPr>
          <a:xfrm xmlns:a="http://schemas.openxmlformats.org/drawingml/2006/main">
            <a:off x="8391525" y="5248275"/>
            <a:ext cx="1028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788" b="0">
                <a:solidFill>
                  <a:srgbClr val="30353A"/>
                </a:solidFill>
                <a:latin typeface="Arial"/>
                <a:ea typeface="Arial"/>
                <a:cs typeface="Arial"/>
              </a:defRPr>
            </a:pPr>
            <a:r>
              <a:rPr sz="788" b="0">
                <a:solidFill>
                  <a:srgbClr val="30353A"/>
                </a:solidFill>
                <a:latin typeface="Arial"/>
                <a:ea typeface="Arial"/>
                <a:cs typeface="Arial"/>
              </a:rPr>
              <a:t>34,2 mi</a:t>
            </a:r>
          </a:p>
        </p:txBody>
      </p:sp>
      <p:sp>
        <p:nvSpPr>
          <p:cNvPr id="45" name="">
            <a:extLst xmlns:a="http://schemas.openxmlformats.org/drawingml/2006/main">
              <a:ext uri="{FF2B5EF4-FFF2-40B4-BE49-F238E27FC236}">
                <a16:creationId xmlns:a16="http://schemas.microsoft.com/office/drawing/2014/main" id="{068F6B23-35AC-475D-904A-B56EFA76A430}"/>
              </a:ext>
            </a:extLst>
          </p:cNvPr>
          <p:cNvSpPr>
            <a:spLocks xmlns:a="http://schemas.openxmlformats.org/drawingml/2006/main" noGrp="1"/>
          </p:cNvSpPr>
          <p:nvPr/>
        </p:nvSpPr>
        <p:spPr>
          <a:xfrm xmlns:a="http://schemas.openxmlformats.org/drawingml/2006/main">
            <a:off x="9534525" y="5248275"/>
            <a:ext cx="933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788" b="0">
                <a:solidFill>
                  <a:srgbClr val="30353A"/>
                </a:solidFill>
                <a:latin typeface="Arial"/>
                <a:ea typeface="Arial"/>
                <a:cs typeface="Arial"/>
              </a:defRPr>
            </a:pPr>
            <a:r>
              <a:rPr sz="788" b="0">
                <a:solidFill>
                  <a:srgbClr val="30353A"/>
                </a:solidFill>
                <a:latin typeface="Arial"/>
                <a:ea typeface="Arial"/>
                <a:cs typeface="Arial"/>
              </a:rPr>
              <a:t>114,2 mi</a:t>
            </a:r>
          </a:p>
        </p:txBody>
      </p:sp>
      <p:sp>
        <p:nvSpPr>
          <p:cNvPr id="46" name="">
            <a:extLst xmlns:a="http://schemas.openxmlformats.org/drawingml/2006/main">
              <a:ext uri="{FF2B5EF4-FFF2-40B4-BE49-F238E27FC236}">
                <a16:creationId xmlns:a16="http://schemas.microsoft.com/office/drawing/2014/main" id="{AA337606-E0FC-4BA2-9B50-B32C23C815D6}"/>
              </a:ext>
            </a:extLst>
          </p:cNvPr>
          <p:cNvSpPr>
            <a:spLocks xmlns:a="http://schemas.openxmlformats.org/drawingml/2006/main" noGrp="1"/>
          </p:cNvSpPr>
          <p:nvPr/>
        </p:nvSpPr>
        <p:spPr>
          <a:xfrm xmlns:a="http://schemas.openxmlformats.org/drawingml/2006/main">
            <a:off x="10582275" y="5248275"/>
            <a:ext cx="9810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788" b="0">
                <a:solidFill>
                  <a:srgbClr val="30353A"/>
                </a:solidFill>
                <a:latin typeface="Arial"/>
                <a:ea typeface="Arial"/>
                <a:cs typeface="Arial"/>
              </a:defRPr>
            </a:pPr>
            <a:r>
              <a:rPr sz="788" b="0">
                <a:solidFill>
                  <a:srgbClr val="30353A"/>
                </a:solidFill>
                <a:latin typeface="Arial"/>
                <a:ea typeface="Arial"/>
                <a:cs typeface="Arial"/>
              </a:rPr>
              <a:t>80,0 mi</a:t>
            </a:r>
          </a:p>
        </p:txBody>
      </p:sp>
      <p:sp>
        <p:nvSpPr>
          <p:cNvPr id="47" name="">
            <a:extLst xmlns:a="http://schemas.openxmlformats.org/drawingml/2006/main">
              <a:ext uri="{FF2B5EF4-FFF2-40B4-BE49-F238E27FC236}">
                <a16:creationId xmlns:a16="http://schemas.microsoft.com/office/drawing/2014/main" id="{8BC258DD-9E59-4531-B6BE-9C70BF9CC263}"/>
              </a:ext>
            </a:extLst>
          </p:cNvPr>
          <p:cNvSpPr>
            <a:spLocks xmlns:a="http://schemas.openxmlformats.org/drawingml/2006/main" noGrp="1"/>
          </p:cNvSpPr>
          <p:nvPr/>
        </p:nvSpPr>
        <p:spPr>
          <a:xfrm xmlns:a="http://schemas.openxmlformats.org/drawingml/2006/main">
            <a:off x="6334125" y="5486400"/>
            <a:ext cx="5286375" cy="2667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90D23A39-7D45-4A54-9AB9-D1EAA88ED0D3}"/>
              </a:ext>
            </a:extLst>
          </p:cNvPr>
          <p:cNvSpPr>
            <a:spLocks xmlns:a="http://schemas.openxmlformats.org/drawingml/2006/main" noGrp="1"/>
          </p:cNvSpPr>
          <p:nvPr/>
        </p:nvSpPr>
        <p:spPr>
          <a:xfrm xmlns:a="http://schemas.openxmlformats.org/drawingml/2006/main">
            <a:off x="6334125" y="5743575"/>
            <a:ext cx="5286375" cy="7144"/>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02B6FA94-4589-4B33-960B-441857023EEE}"/>
              </a:ext>
            </a:extLst>
          </p:cNvPr>
          <p:cNvSpPr>
            <a:spLocks xmlns:a="http://schemas.openxmlformats.org/drawingml/2006/main" noGrp="1"/>
          </p:cNvSpPr>
          <p:nvPr/>
        </p:nvSpPr>
        <p:spPr>
          <a:xfrm xmlns:a="http://schemas.openxmlformats.org/drawingml/2006/main">
            <a:off x="6391275" y="551497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788" b="0">
                <a:solidFill>
                  <a:srgbClr val="30353A"/>
                </a:solidFill>
                <a:latin typeface="Arial"/>
                <a:ea typeface="Arial"/>
                <a:cs typeface="Arial"/>
              </a:defRPr>
            </a:pPr>
            <a:r>
              <a:rPr sz="788" b="0">
                <a:solidFill>
                  <a:srgbClr val="30353A"/>
                </a:solidFill>
                <a:latin typeface="Arial"/>
                <a:ea typeface="Arial"/>
                <a:cs typeface="Arial"/>
              </a:rPr>
              <a:t>PL</a:t>
            </a:r>
          </a:p>
        </p:txBody>
      </p:sp>
      <p:sp>
        <p:nvSpPr>
          <p:cNvPr id="50" name="">
            <a:extLst xmlns:a="http://schemas.openxmlformats.org/drawingml/2006/main">
              <a:ext uri="{FF2B5EF4-FFF2-40B4-BE49-F238E27FC236}">
                <a16:creationId xmlns:a16="http://schemas.microsoft.com/office/drawing/2014/main" id="{D397C86C-9518-461B-9509-8CA664CADD71}"/>
              </a:ext>
            </a:extLst>
          </p:cNvPr>
          <p:cNvSpPr>
            <a:spLocks xmlns:a="http://schemas.openxmlformats.org/drawingml/2006/main" noGrp="1"/>
          </p:cNvSpPr>
          <p:nvPr/>
        </p:nvSpPr>
        <p:spPr>
          <a:xfrm xmlns:a="http://schemas.openxmlformats.org/drawingml/2006/main">
            <a:off x="8391525" y="5514975"/>
            <a:ext cx="1028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788" b="0">
                <a:solidFill>
                  <a:srgbClr val="30353A"/>
                </a:solidFill>
                <a:latin typeface="Arial"/>
                <a:ea typeface="Arial"/>
                <a:cs typeface="Arial"/>
              </a:defRPr>
            </a:pPr>
            <a:r>
              <a:rPr sz="788" b="0">
                <a:solidFill>
                  <a:srgbClr val="30353A"/>
                </a:solidFill>
                <a:latin typeface="Arial"/>
                <a:ea typeface="Arial"/>
                <a:cs typeface="Arial"/>
              </a:rPr>
              <a:t>111,8 mi</a:t>
            </a:r>
          </a:p>
        </p:txBody>
      </p:sp>
      <p:sp>
        <p:nvSpPr>
          <p:cNvPr id="51" name="">
            <a:extLst xmlns:a="http://schemas.openxmlformats.org/drawingml/2006/main">
              <a:ext uri="{FF2B5EF4-FFF2-40B4-BE49-F238E27FC236}">
                <a16:creationId xmlns:a16="http://schemas.microsoft.com/office/drawing/2014/main" id="{23AF99B3-30C4-42B3-A5B5-2417C33E250D}"/>
              </a:ext>
            </a:extLst>
          </p:cNvPr>
          <p:cNvSpPr>
            <a:spLocks xmlns:a="http://schemas.openxmlformats.org/drawingml/2006/main" noGrp="1"/>
          </p:cNvSpPr>
          <p:nvPr/>
        </p:nvSpPr>
        <p:spPr>
          <a:xfrm xmlns:a="http://schemas.openxmlformats.org/drawingml/2006/main">
            <a:off x="9534525" y="5514975"/>
            <a:ext cx="933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788" b="0">
                <a:solidFill>
                  <a:srgbClr val="30353A"/>
                </a:solidFill>
                <a:latin typeface="Arial"/>
                <a:ea typeface="Arial"/>
                <a:cs typeface="Arial"/>
              </a:defRPr>
            </a:pPr>
            <a:r>
              <a:rPr sz="788" b="0">
                <a:solidFill>
                  <a:srgbClr val="30353A"/>
                </a:solidFill>
                <a:latin typeface="Arial"/>
                <a:ea typeface="Arial"/>
                <a:cs typeface="Arial"/>
              </a:rPr>
              <a:t>125,6 mi</a:t>
            </a:r>
          </a:p>
        </p:txBody>
      </p:sp>
      <p:sp>
        <p:nvSpPr>
          <p:cNvPr id="52" name="">
            <a:extLst xmlns:a="http://schemas.openxmlformats.org/drawingml/2006/main">
              <a:ext uri="{FF2B5EF4-FFF2-40B4-BE49-F238E27FC236}">
                <a16:creationId xmlns:a16="http://schemas.microsoft.com/office/drawing/2014/main" id="{9842B69A-E142-4B78-82E3-4A4913A8F4C8}"/>
              </a:ext>
            </a:extLst>
          </p:cNvPr>
          <p:cNvSpPr>
            <a:spLocks xmlns:a="http://schemas.openxmlformats.org/drawingml/2006/main" noGrp="1"/>
          </p:cNvSpPr>
          <p:nvPr/>
        </p:nvSpPr>
        <p:spPr>
          <a:xfrm xmlns:a="http://schemas.openxmlformats.org/drawingml/2006/main">
            <a:off x="10582275" y="5514975"/>
            <a:ext cx="9810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95000"/>
              </a:lnSpc>
              <a:buNone/>
              <a:defRPr sz="788" b="0">
                <a:solidFill>
                  <a:srgbClr val="30353A"/>
                </a:solidFill>
                <a:latin typeface="Arial"/>
                <a:ea typeface="Arial"/>
                <a:cs typeface="Arial"/>
              </a:defRPr>
            </a:pPr>
            <a:r>
              <a:rPr sz="788" b="0">
                <a:solidFill>
                  <a:srgbClr val="30353A"/>
                </a:solidFill>
                <a:latin typeface="Arial"/>
                <a:ea typeface="Arial"/>
                <a:cs typeface="Arial"/>
              </a:rPr>
              <a:t>13,8 mi</a:t>
            </a:r>
          </a:p>
        </p:txBody>
      </p:sp>
      <p:sp>
        <p:nvSpPr>
          <p:cNvPr id="53" name="">
            <a:extLst xmlns:a="http://schemas.openxmlformats.org/drawingml/2006/main">
              <a:ext uri="{FF2B5EF4-FFF2-40B4-BE49-F238E27FC236}">
                <a16:creationId xmlns:a16="http://schemas.microsoft.com/office/drawing/2014/main" id="{A4A2D305-53A4-4D7F-9202-A3492E517864}"/>
              </a:ext>
            </a:extLst>
          </p:cNvPr>
          <p:cNvSpPr>
            <a:spLocks xmlns:a="http://schemas.openxmlformats.org/drawingml/2006/main" noGrp="1"/>
          </p:cNvSpPr>
          <p:nvPr/>
        </p:nvSpPr>
        <p:spPr>
          <a:xfrm xmlns:a="http://schemas.openxmlformats.org/drawingml/2006/main">
            <a:off x="571500" y="5905500"/>
            <a:ext cx="11049000" cy="9525"/>
          </a:xfrm>
          <a:prstGeom xmlns:a="http://schemas.openxmlformats.org/drawingml/2006/main" prst="rect">
            <a:avLst/>
          </a:prstGeom>
          <a:solidFill xmlns:a="http://schemas.openxmlformats.org/drawingml/2006/main">
            <a:srgbClr val="D7DADD"/>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FFB130CF-D65B-4351-A965-CF737674555F}"/>
              </a:ext>
            </a:extLst>
          </p:cNvPr>
          <p:cNvSpPr>
            <a:spLocks xmlns:a="http://schemas.openxmlformats.org/drawingml/2006/main" noGrp="1"/>
          </p:cNvSpPr>
          <p:nvPr/>
        </p:nvSpPr>
        <p:spPr>
          <a:xfrm xmlns:a="http://schemas.openxmlformats.org/drawingml/2006/main">
            <a:off x="571500" y="6000750"/>
            <a:ext cx="1104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8000"/>
              </a:lnSpc>
              <a:buNone/>
              <a:defRPr sz="780" b="0">
                <a:solidFill>
                  <a:srgbClr val="8D9399"/>
                </a:solidFill>
                <a:latin typeface="Arial"/>
                <a:ea typeface="Arial"/>
                <a:cs typeface="Arial"/>
              </a:defRPr>
            </a:pPr>
            <a:r>
              <a:rPr sz="780" b="0">
                <a:solidFill>
                  <a:srgbClr val="8D9399"/>
                </a:solidFill>
                <a:latin typeface="Arial"/>
                <a:ea typeface="Arial"/>
                <a:cs typeface="Arial"/>
              </a:rPr>
              <a:t>A quebra no bruto coincide com a troca de administrador, sem evidência de recuperação em caixa. As DFs têm opinião modificada para 01/01–19/07/24 por inconsistências de lastro e posição; a série usa bases de reporte distintas.</a:t>
            </a:r>
          </a:p>
        </p:txBody>
      </p:sp>
    </p:spTree>
    <p:extLst>
      <p:ext uri="{BB962C8B-B14F-4D97-AF65-F5344CB8AC3E}">
        <p14:creationId xmlns:p14="http://schemas.microsoft.com/office/powerpoint/2010/main" val="1609590080"/>
      </p:ext>
    </p:extLst>
  </p:cSld>
</p:sld>
</file>

<file path=ppt/theme/theme1.xml><?xml version="1.0" encoding="utf-8"?>
<a:theme xmlns:a="http://schemas.openxmlformats.org/drawingml/2006/main" name="ChatGPT">
  <a:themeElements>
    <a:clrScheme name="Itau BBA FIDC Editorial">
      <a:dk1>
        <a:srgbClr val="151515"/>
      </a:dk1>
      <a:lt1>
        <a:srgbClr val="FFFFFF"/>
      </a:lt1>
      <a:dk2>
        <a:srgbClr val="30353A"/>
      </a:dk2>
      <a:lt2>
        <a:srgbClr val="E7E9EB"/>
      </a:lt2>
      <a:accent1>
        <a:srgbClr val="EC7000"/>
      </a:accent1>
      <a:accent2>
        <a:srgbClr val="151515"/>
      </a:accent2>
      <a:accent3>
        <a:srgbClr val="30353A"/>
      </a:accent3>
      <a:accent4>
        <a:srgbClr val="73787D"/>
      </a:accent4>
      <a:accent5>
        <a:srgbClr val="8D9399"/>
      </a:accent5>
      <a:accent6>
        <a:srgbClr val="D7DADD"/>
      </a:accent6>
      <a:hlink>
        <a:srgbClr val="EC7000"/>
      </a:hlink>
      <a:folHlink>
        <a:srgbClr val="73787D"/>
      </a:folHlink>
    </a:clrScheme>
    <a:fontScheme name="Office">
      <a:majorFont>
        <a:latin typeface="Calibri Light"/>
        <a:ea typeface="Calibri Light"/>
        <a:cs typeface="Calibri Light"/>
      </a:majorFont>
      <a:minorFont>
        <a:latin typeface="Calibri"/>
        <a:ea typeface="Calibri"/>
        <a:cs typeface="Calibri"/>
      </a:minorFont>
    </a:fontScheme>
    <a:fmtScheme name="Itau BBA FIDC Edi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2026-07-29T04:42:04.2270000Z</dcterms:created>
  <dcterms:modified xsi:type="dcterms:W3CDTF">2026-07-29T04:42:04.2270000Z</dcterms:modified>
</coreProperties>
</file>