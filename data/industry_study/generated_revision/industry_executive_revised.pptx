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2.xml" ContentType="application/vnd.openxmlformats-officedocument.drawingml.chart+xml"/>
  <Override PartName="/ppt/slides/charts/chart3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4.xml" ContentType="application/vnd.openxmlformats-officedocument.drawingml.chart+xml"/>
  <Override PartName="/ppt/slides/charts/chart5.xml" ContentType="application/vnd.openxmlformats-officedocument.drawingml.chart+xml"/>
  <Override PartName="/ppt/slides/charts/chart6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slides/charts/chart9.xml" ContentType="application/vnd.openxmlformats-officedocument.drawingml.chart+xml"/>
  <Override PartName="/ppt/slides/charts/chart10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1.xml" ContentType="application/vnd.openxmlformats-officedocument.drawingml.chart+xml"/>
  <Override PartName="/ppt/slides/charts/chart12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3.xml" ContentType="application/vnd.openxmlformats-officedocument.drawingml.chart+xml"/>
  <Override PartName="/ppt/slides/charts/chart14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5.xml" ContentType="application/vnd.openxmlformats-officedocument.drawingml.chart+xml"/>
  <Override PartName="/ppt/slides/charts/chart16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17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18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19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20.xml" ContentType="application/vnd.openxmlformats-officedocument.drawingml.chart+xml"/>
  <Override PartName="/ppt/slides/charts/chart21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22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charts/chart23.xml" ContentType="application/vnd.openxmlformats-officedocument.drawingml.chart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slides/charts/chart24.xml" ContentType="application/vnd.openxmlformats-officedocument.drawingml.chart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charts/chart25.xml" ContentType="application/vnd.openxmlformats-officedocument.drawingml.chart+xml"/>
  <Override PartName="/ppt/slides/charts/chart26.xml" ContentType="application/vnd.openxmlformats-officedocument.drawingml.chart+xml"/>
  <Override PartName="/ppt/slides/charts/chart27.xml" ContentType="application/vnd.openxmlformats-officedocument.drawingml.chart+xml"/>
  <Override PartName="/ppt/slides/charts/chart28.xml" ContentType="application/vnd.openxmlformats-officedocument.drawingml.chart+xml"/>
  <Override PartName="/ppt/slides/charts/chart29.xml" ContentType="application/vnd.openxmlformats-officedocument.drawingml.chart+xml"/>
  <Override PartName="/ppt/slides/charts/chart30.xml" ContentType="application/vnd.openxmlformats-officedocument.drawingml.chart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slides/charts/chart31.xml" ContentType="application/vnd.openxmlformats-officedocument.drawingml.chart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slides/charts/chart32.xml" ContentType="application/vnd.openxmlformats-officedocument.drawingml.chart+xml"/>
  <Override PartName="/ppt/slides/charts/chart33.xml" ContentType="application/vnd.openxmlformats-officedocument.drawingml.chart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slides/charts/chart34.xml" ContentType="application/vnd.openxmlformats-officedocument.drawingml.chart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slides/charts/chart35.xml" ContentType="application/vnd.openxmlformats-officedocument.drawingml.chart+xml"/>
  <Override PartName="/ppt/slides/charts/chart36.xml" ContentType="application/vnd.openxmlformats-officedocument.drawingml.chart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slides/charts/chart37.xml" ContentType="application/vnd.openxmlformats-officedocument.drawingml.chart+xml"/>
  <Override PartName="/ppt/slides/charts/chart38.xml" ContentType="application/vnd.openxmlformats-officedocument.drawingml.chart+xml"/>
  <Override PartName="/ppt/slides/charts/chart39.xml" ContentType="application/vnd.openxmlformats-officedocument.drawingml.chart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slides/charts/chart40.xml" ContentType="application/vnd.openxmlformats-officedocument.drawingml.chart+xml"/>
  <Override PartName="/ppt/slides/charts/chart41.xml" ContentType="application/vnd.openxmlformats-officedocument.drawingml.chart+xml"/>
  <Override PartName="/ppt/slides/charts/chart42.xml" ContentType="application/vnd.openxmlformats-officedocument.drawingml.chart+xml"/>
  <Override PartName="/ppt/slides/charts/chart43.xml" ContentType="application/vnd.openxmlformats-officedocument.drawingml.chart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slides/charts/chart44.xml" ContentType="application/vnd.openxmlformats-officedocument.drawingml.chart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slides/charts/chart45.xml" ContentType="application/vnd.openxmlformats-officedocument.drawingml.chart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slides/charts/chart46.xml" ContentType="application/vnd.openxmlformats-officedocument.drawingml.chart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  <Override PartName="/ppt/slides/slide54.xml" ContentType="application/vnd.openxmlformats-officedocument.presentationml.slide+xml"/>
  <Override PartName="/ppt/notesSlides/notesSlide54.xml" ContentType="application/vnd.openxmlformats-officedocument.presentationml.notesSlide+xml"/>
  <Override PartName="/ppt/slides/slide55.xml" ContentType="application/vnd.openxmlformats-officedocument.presentationml.slide+xml"/>
  <Override PartName="/ppt/notesSlides/notesSlide55.xml" ContentType="application/vnd.openxmlformats-officedocument.presentationml.notesSlide+xml"/>
  <Override PartName="/ppt/slides/slide56.xml" ContentType="application/vnd.openxmlformats-officedocument.presentationml.slide+xml"/>
  <Override PartName="/ppt/notesSlides/notesSlide56.xml" ContentType="application/vnd.openxmlformats-officedocument.presentationml.notesSlide+xml"/>
  <Override PartName="/ppt/slides/slide57.xml" ContentType="application/vnd.openxmlformats-officedocument.presentationml.slide+xml"/>
  <Override PartName="/ppt/notesSlides/notesSlide5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d14159c87f54106" /><Relationship Type="http://schemas.openxmlformats.org/officeDocument/2006/relationships/extended-properties" Target="/docProps/app.xml" Id="R10edc61ccf7d438a" /><Relationship Type="http://schemas.openxmlformats.org/officeDocument/2006/relationships/officeDocument" Target="/ppt/presentation.xml" Id="R54859bb7f5444c3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51680066f414823"/>
  </p:sldMasterIdLst>
  <p:notesMasterIdLst>
    <p:notesMasterId xmlns:r="http://schemas.openxmlformats.org/officeDocument/2006/relationships" r:id="R43df278988d1436e"/>
  </p:notesMasterIdLst>
  <p:sldIdLst>
    <p:sldId xmlns:r="http://schemas.openxmlformats.org/officeDocument/2006/relationships" id="256" r:id="Re4170e5e62a04782"/>
    <p:sldId xmlns:r="http://schemas.openxmlformats.org/officeDocument/2006/relationships" id="257" r:id="R1bff58d2dddb4cbc"/>
    <p:sldId xmlns:r="http://schemas.openxmlformats.org/officeDocument/2006/relationships" id="258" r:id="Rf6c2bfb48fc64a24"/>
    <p:sldId xmlns:r="http://schemas.openxmlformats.org/officeDocument/2006/relationships" id="259" r:id="R94b71a9c3915421a"/>
    <p:sldId xmlns:r="http://schemas.openxmlformats.org/officeDocument/2006/relationships" id="260" r:id="Rbc26e73a718b44a3"/>
    <p:sldId xmlns:r="http://schemas.openxmlformats.org/officeDocument/2006/relationships" id="261" r:id="R89c425d1d5544bed"/>
    <p:sldId xmlns:r="http://schemas.openxmlformats.org/officeDocument/2006/relationships" id="262" r:id="Rc918341ab4324446"/>
    <p:sldId xmlns:r="http://schemas.openxmlformats.org/officeDocument/2006/relationships" id="263" r:id="Rc9f37a5b4a66435d"/>
    <p:sldId xmlns:r="http://schemas.openxmlformats.org/officeDocument/2006/relationships" id="264" r:id="Ra64effd862da4c0b"/>
    <p:sldId xmlns:r="http://schemas.openxmlformats.org/officeDocument/2006/relationships" id="265" r:id="R48ef7278628c4363"/>
    <p:sldId xmlns:r="http://schemas.openxmlformats.org/officeDocument/2006/relationships" id="266" r:id="Rd45e09883f3d412b"/>
    <p:sldId xmlns:r="http://schemas.openxmlformats.org/officeDocument/2006/relationships" id="267" r:id="R5a3c336b1c8e4580"/>
    <p:sldId xmlns:r="http://schemas.openxmlformats.org/officeDocument/2006/relationships" id="268" r:id="Re7f359b9a80448a9"/>
    <p:sldId xmlns:r="http://schemas.openxmlformats.org/officeDocument/2006/relationships" id="269" r:id="R08c92e27d66745eb"/>
    <p:sldId xmlns:r="http://schemas.openxmlformats.org/officeDocument/2006/relationships" id="270" r:id="R11ceff97a9bb4049"/>
    <p:sldId xmlns:r="http://schemas.openxmlformats.org/officeDocument/2006/relationships" id="271" r:id="R4a0debca163a4f1d"/>
    <p:sldId xmlns:r="http://schemas.openxmlformats.org/officeDocument/2006/relationships" id="272" r:id="R37a7a075bdac4198"/>
    <p:sldId xmlns:r="http://schemas.openxmlformats.org/officeDocument/2006/relationships" id="273" r:id="R7cfbabae40d34615"/>
    <p:sldId xmlns:r="http://schemas.openxmlformats.org/officeDocument/2006/relationships" id="274" r:id="R387ea81e52514702"/>
    <p:sldId xmlns:r="http://schemas.openxmlformats.org/officeDocument/2006/relationships" id="275" r:id="R34393d6c0b014d6b"/>
    <p:sldId xmlns:r="http://schemas.openxmlformats.org/officeDocument/2006/relationships" id="276" r:id="R9c687df6b83346b4"/>
    <p:sldId xmlns:r="http://schemas.openxmlformats.org/officeDocument/2006/relationships" id="277" r:id="R5b6d350fe96a4526"/>
    <p:sldId xmlns:r="http://schemas.openxmlformats.org/officeDocument/2006/relationships" id="278" r:id="Reea6985f0bb24025"/>
    <p:sldId xmlns:r="http://schemas.openxmlformats.org/officeDocument/2006/relationships" id="279" r:id="R29646178c2094dc0"/>
    <p:sldId xmlns:r="http://schemas.openxmlformats.org/officeDocument/2006/relationships" id="280" r:id="R6b64094f7731443d"/>
    <p:sldId xmlns:r="http://schemas.openxmlformats.org/officeDocument/2006/relationships" id="281" r:id="R9bbce2c6df09431a"/>
    <p:sldId xmlns:r="http://schemas.openxmlformats.org/officeDocument/2006/relationships" id="282" r:id="R0f59ca7943ad4a60"/>
    <p:sldId xmlns:r="http://schemas.openxmlformats.org/officeDocument/2006/relationships" id="283" r:id="R715933ee8fa64a88"/>
    <p:sldId xmlns:r="http://schemas.openxmlformats.org/officeDocument/2006/relationships" id="284" r:id="Ra18ab818d6494732"/>
    <p:sldId xmlns:r="http://schemas.openxmlformats.org/officeDocument/2006/relationships" id="285" r:id="R2572ee5e16b14850"/>
    <p:sldId xmlns:r="http://schemas.openxmlformats.org/officeDocument/2006/relationships" id="286" r:id="Rb7085d34be8e4eb1"/>
    <p:sldId xmlns:r="http://schemas.openxmlformats.org/officeDocument/2006/relationships" id="287" r:id="R4ca88e576c164b1d"/>
    <p:sldId xmlns:r="http://schemas.openxmlformats.org/officeDocument/2006/relationships" id="288" r:id="R84de34f71fae4ba5"/>
    <p:sldId xmlns:r="http://schemas.openxmlformats.org/officeDocument/2006/relationships" id="289" r:id="R4596479ac3e84166"/>
    <p:sldId xmlns:r="http://schemas.openxmlformats.org/officeDocument/2006/relationships" id="290" r:id="R13a99ada2db746fb"/>
    <p:sldId xmlns:r="http://schemas.openxmlformats.org/officeDocument/2006/relationships" id="291" r:id="R3d64dd84a55b44d6"/>
    <p:sldId xmlns:r="http://schemas.openxmlformats.org/officeDocument/2006/relationships" id="292" r:id="Rc5974f4079d14283"/>
    <p:sldId xmlns:r="http://schemas.openxmlformats.org/officeDocument/2006/relationships" id="293" r:id="R30c41c98701c455f"/>
    <p:sldId xmlns:r="http://schemas.openxmlformats.org/officeDocument/2006/relationships" id="294" r:id="Rfd06e8ed9872414e"/>
    <p:sldId xmlns:r="http://schemas.openxmlformats.org/officeDocument/2006/relationships" id="295" r:id="R8d618e05faf04526"/>
    <p:sldId xmlns:r="http://schemas.openxmlformats.org/officeDocument/2006/relationships" id="296" r:id="Rdc4fd345cebc4f7b"/>
    <p:sldId xmlns:r="http://schemas.openxmlformats.org/officeDocument/2006/relationships" id="297" r:id="R04d1a37db3104181"/>
    <p:sldId xmlns:r="http://schemas.openxmlformats.org/officeDocument/2006/relationships" id="298" r:id="Rc773d0accf0c47b5"/>
    <p:sldId xmlns:r="http://schemas.openxmlformats.org/officeDocument/2006/relationships" id="299" r:id="R5abcabaa26f54397"/>
    <p:sldId xmlns:r="http://schemas.openxmlformats.org/officeDocument/2006/relationships" id="300" r:id="Rdbc77d53221a4bbc"/>
    <p:sldId xmlns:r="http://schemas.openxmlformats.org/officeDocument/2006/relationships" id="301" r:id="R5f2ea64f0ad449fc"/>
    <p:sldId xmlns:r="http://schemas.openxmlformats.org/officeDocument/2006/relationships" id="302" r:id="R44b50929dccb4fe9"/>
    <p:sldId xmlns:r="http://schemas.openxmlformats.org/officeDocument/2006/relationships" id="303" r:id="R711305eeb4a044c4"/>
    <p:sldId xmlns:r="http://schemas.openxmlformats.org/officeDocument/2006/relationships" id="304" r:id="R305ae0de34b34c6f"/>
    <p:sldId xmlns:r="http://schemas.openxmlformats.org/officeDocument/2006/relationships" id="305" r:id="R7273d37d95dc4728"/>
    <p:sldId xmlns:r="http://schemas.openxmlformats.org/officeDocument/2006/relationships" id="306" r:id="Ra7eccb833d074c89"/>
    <p:sldId xmlns:r="http://schemas.openxmlformats.org/officeDocument/2006/relationships" id="307" r:id="Rb424a98f80934a72"/>
    <p:sldId xmlns:r="http://schemas.openxmlformats.org/officeDocument/2006/relationships" id="308" r:id="Rbf3474f43a6a4cc4"/>
    <p:sldId xmlns:r="http://schemas.openxmlformats.org/officeDocument/2006/relationships" id="309" r:id="Raf70e9f8cb414b2e"/>
    <p:sldId xmlns:r="http://schemas.openxmlformats.org/officeDocument/2006/relationships" id="310" r:id="Rb572145d42fb4de8"/>
    <p:sldId xmlns:r="http://schemas.openxmlformats.org/officeDocument/2006/relationships" id="311" r:id="Rd1d39da7936c400d"/>
    <p:sldId xmlns:r="http://schemas.openxmlformats.org/officeDocument/2006/relationships" id="312" r:id="Re546a1be513d4d3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caa88d229634219" /><Relationship Type="http://schemas.openxmlformats.org/officeDocument/2006/relationships/slideMaster" Target="/ppt/slideMasters/slideMaster1.xml" Id="Rb51680066f414823" /><Relationship Type="http://schemas.openxmlformats.org/officeDocument/2006/relationships/notesMaster" Target="/ppt/notesMasters/notesMaster1.xml" Id="R43df278988d1436e" /><Relationship Type="http://schemas.openxmlformats.org/officeDocument/2006/relationships/presProps" Target="/ppt/presProps.xml" Id="Rb2d9006cdaf34cec" /><Relationship Type="http://schemas.openxmlformats.org/officeDocument/2006/relationships/tableStyles" Target="/ppt/tableStyles.xml" Id="R5216009a67cf4846" /><Relationship Type="http://schemas.openxmlformats.org/officeDocument/2006/relationships/slide" Target="/ppt/slides/slide1.xml" Id="Re4170e5e62a04782" /><Relationship Type="http://schemas.openxmlformats.org/officeDocument/2006/relationships/slide" Target="/ppt/slides/slide2.xml" Id="R1bff58d2dddb4cbc" /><Relationship Type="http://schemas.openxmlformats.org/officeDocument/2006/relationships/slide" Target="/ppt/slides/slide3.xml" Id="Rf6c2bfb48fc64a24" /><Relationship Type="http://schemas.openxmlformats.org/officeDocument/2006/relationships/slide" Target="/ppt/slides/slide4.xml" Id="R94b71a9c3915421a" /><Relationship Type="http://schemas.openxmlformats.org/officeDocument/2006/relationships/slide" Target="/ppt/slides/slide5.xml" Id="Rbc26e73a718b44a3" /><Relationship Type="http://schemas.openxmlformats.org/officeDocument/2006/relationships/slide" Target="/ppt/slides/slide6.xml" Id="R89c425d1d5544bed" /><Relationship Type="http://schemas.openxmlformats.org/officeDocument/2006/relationships/slide" Target="/ppt/slides/slide7.xml" Id="Rc918341ab4324446" /><Relationship Type="http://schemas.openxmlformats.org/officeDocument/2006/relationships/slide" Target="/ppt/slides/slide8.xml" Id="Rc9f37a5b4a66435d" /><Relationship Type="http://schemas.openxmlformats.org/officeDocument/2006/relationships/slide" Target="/ppt/slides/slide9.xml" Id="Ra64effd862da4c0b" /><Relationship Type="http://schemas.openxmlformats.org/officeDocument/2006/relationships/slide" Target="/ppt/slides/slide10.xml" Id="R48ef7278628c4363" /><Relationship Type="http://schemas.openxmlformats.org/officeDocument/2006/relationships/slide" Target="/ppt/slides/slide11.xml" Id="Rd45e09883f3d412b" /><Relationship Type="http://schemas.openxmlformats.org/officeDocument/2006/relationships/slide" Target="/ppt/slides/slide12.xml" Id="R5a3c336b1c8e4580" /><Relationship Type="http://schemas.openxmlformats.org/officeDocument/2006/relationships/slide" Target="/ppt/slides/slide13.xml" Id="Re7f359b9a80448a9" /><Relationship Type="http://schemas.openxmlformats.org/officeDocument/2006/relationships/slide" Target="/ppt/slides/slide14.xml" Id="R08c92e27d66745eb" /><Relationship Type="http://schemas.openxmlformats.org/officeDocument/2006/relationships/slide" Target="/ppt/slides/slide15.xml" Id="R11ceff97a9bb4049" /><Relationship Type="http://schemas.openxmlformats.org/officeDocument/2006/relationships/slide" Target="/ppt/slides/slide16.xml" Id="R4a0debca163a4f1d" /><Relationship Type="http://schemas.openxmlformats.org/officeDocument/2006/relationships/slide" Target="/ppt/slides/slide17.xml" Id="R37a7a075bdac4198" /><Relationship Type="http://schemas.openxmlformats.org/officeDocument/2006/relationships/slide" Target="/ppt/slides/slide18.xml" Id="R7cfbabae40d34615" /><Relationship Type="http://schemas.openxmlformats.org/officeDocument/2006/relationships/slide" Target="/ppt/slides/slide19.xml" Id="R387ea81e52514702" /><Relationship Type="http://schemas.openxmlformats.org/officeDocument/2006/relationships/slide" Target="/ppt/slides/slide20.xml" Id="R34393d6c0b014d6b" /><Relationship Type="http://schemas.openxmlformats.org/officeDocument/2006/relationships/slide" Target="/ppt/slides/slide21.xml" Id="R9c687df6b83346b4" /><Relationship Type="http://schemas.openxmlformats.org/officeDocument/2006/relationships/slide" Target="/ppt/slides/slide22.xml" Id="R5b6d350fe96a4526" /><Relationship Type="http://schemas.openxmlformats.org/officeDocument/2006/relationships/slide" Target="/ppt/slides/slide23.xml" Id="Reea6985f0bb24025" /><Relationship Type="http://schemas.openxmlformats.org/officeDocument/2006/relationships/slide" Target="/ppt/slides/slide24.xml" Id="R29646178c2094dc0" /><Relationship Type="http://schemas.openxmlformats.org/officeDocument/2006/relationships/slide" Target="/ppt/slides/slide25.xml" Id="R6b64094f7731443d" /><Relationship Type="http://schemas.openxmlformats.org/officeDocument/2006/relationships/slide" Target="/ppt/slides/slide26.xml" Id="R9bbce2c6df09431a" /><Relationship Type="http://schemas.openxmlformats.org/officeDocument/2006/relationships/slide" Target="/ppt/slides/slide27.xml" Id="R0f59ca7943ad4a60" /><Relationship Type="http://schemas.openxmlformats.org/officeDocument/2006/relationships/slide" Target="/ppt/slides/slide28.xml" Id="R715933ee8fa64a88" /><Relationship Type="http://schemas.openxmlformats.org/officeDocument/2006/relationships/slide" Target="/ppt/slides/slide29.xml" Id="Ra18ab818d6494732" /><Relationship Type="http://schemas.openxmlformats.org/officeDocument/2006/relationships/slide" Target="/ppt/slides/slide30.xml" Id="R2572ee5e16b14850" /><Relationship Type="http://schemas.openxmlformats.org/officeDocument/2006/relationships/slide" Target="/ppt/slides/slide31.xml" Id="Rb7085d34be8e4eb1" /><Relationship Type="http://schemas.openxmlformats.org/officeDocument/2006/relationships/slide" Target="/ppt/slides/slide32.xml" Id="R4ca88e576c164b1d" /><Relationship Type="http://schemas.openxmlformats.org/officeDocument/2006/relationships/slide" Target="/ppt/slides/slide33.xml" Id="R84de34f71fae4ba5" /><Relationship Type="http://schemas.openxmlformats.org/officeDocument/2006/relationships/slide" Target="/ppt/slides/slide34.xml" Id="R4596479ac3e84166" /><Relationship Type="http://schemas.openxmlformats.org/officeDocument/2006/relationships/slide" Target="/ppt/slides/slide35.xml" Id="R13a99ada2db746fb" /><Relationship Type="http://schemas.openxmlformats.org/officeDocument/2006/relationships/slide" Target="/ppt/slides/slide36.xml" Id="R3d64dd84a55b44d6" /><Relationship Type="http://schemas.openxmlformats.org/officeDocument/2006/relationships/slide" Target="/ppt/slides/slide37.xml" Id="Rc5974f4079d14283" /><Relationship Type="http://schemas.openxmlformats.org/officeDocument/2006/relationships/slide" Target="/ppt/slides/slide38.xml" Id="R30c41c98701c455f" /><Relationship Type="http://schemas.openxmlformats.org/officeDocument/2006/relationships/slide" Target="/ppt/slides/slide39.xml" Id="Rfd06e8ed9872414e" /><Relationship Type="http://schemas.openxmlformats.org/officeDocument/2006/relationships/slide" Target="/ppt/slides/slide40.xml" Id="R8d618e05faf04526" /><Relationship Type="http://schemas.openxmlformats.org/officeDocument/2006/relationships/slide" Target="/ppt/slides/slide41.xml" Id="Rdc4fd345cebc4f7b" /><Relationship Type="http://schemas.openxmlformats.org/officeDocument/2006/relationships/slide" Target="/ppt/slides/slide42.xml" Id="R04d1a37db3104181" /><Relationship Type="http://schemas.openxmlformats.org/officeDocument/2006/relationships/slide" Target="/ppt/slides/slide43.xml" Id="Rc773d0accf0c47b5" /><Relationship Type="http://schemas.openxmlformats.org/officeDocument/2006/relationships/slide" Target="/ppt/slides/slide44.xml" Id="R5abcabaa26f54397" /><Relationship Type="http://schemas.openxmlformats.org/officeDocument/2006/relationships/slide" Target="/ppt/slides/slide45.xml" Id="Rdbc77d53221a4bbc" /><Relationship Type="http://schemas.openxmlformats.org/officeDocument/2006/relationships/slide" Target="/ppt/slides/slide46.xml" Id="R5f2ea64f0ad449fc" /><Relationship Type="http://schemas.openxmlformats.org/officeDocument/2006/relationships/slide" Target="/ppt/slides/slide47.xml" Id="R44b50929dccb4fe9" /><Relationship Type="http://schemas.openxmlformats.org/officeDocument/2006/relationships/slide" Target="/ppt/slides/slide48.xml" Id="R711305eeb4a044c4" /><Relationship Type="http://schemas.openxmlformats.org/officeDocument/2006/relationships/slide" Target="/ppt/slides/slide49.xml" Id="R305ae0de34b34c6f" /><Relationship Type="http://schemas.openxmlformats.org/officeDocument/2006/relationships/slide" Target="/ppt/slides/slide50.xml" Id="R7273d37d95dc4728" /><Relationship Type="http://schemas.openxmlformats.org/officeDocument/2006/relationships/slide" Target="/ppt/slides/slide51.xml" Id="Ra7eccb833d074c89" /><Relationship Type="http://schemas.openxmlformats.org/officeDocument/2006/relationships/slide" Target="/ppt/slides/slide52.xml" Id="Rb424a98f80934a72" /><Relationship Type="http://schemas.openxmlformats.org/officeDocument/2006/relationships/slide" Target="/ppt/slides/slide53.xml" Id="Rbf3474f43a6a4cc4" /><Relationship Type="http://schemas.openxmlformats.org/officeDocument/2006/relationships/slide" Target="/ppt/slides/slide54.xml" Id="Raf70e9f8cb414b2e" /><Relationship Type="http://schemas.openxmlformats.org/officeDocument/2006/relationships/slide" Target="/ppt/slides/slide55.xml" Id="Rb572145d42fb4de8" /><Relationship Type="http://schemas.openxmlformats.org/officeDocument/2006/relationships/slide" Target="/ppt/slides/slide56.xml" Id="Rd1d39da7936c400d" /><Relationship Type="http://schemas.openxmlformats.org/officeDocument/2006/relationships/slide" Target="/ppt/slides/slide57.xml" Id="Re546a1be513d4d3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dc11fea40d34c4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1f8f7e3a324d4888" /><Relationship Type="http://schemas.openxmlformats.org/officeDocument/2006/relationships/notesMaster" Target="/ppt/notesMasters/notesMaster1.xml" Id="R00b24f7aa24b44d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535124a208a4c11" /><Relationship Type="http://schemas.openxmlformats.org/officeDocument/2006/relationships/notesMaster" Target="/ppt/notesMasters/notesMaster1.xml" Id="Rb144c5c2909c4e5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4381d21cf604d3e" /><Relationship Type="http://schemas.openxmlformats.org/officeDocument/2006/relationships/notesMaster" Target="/ppt/notesMasters/notesMaster1.xml" Id="Rb2234402fff9448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f355afe66724cfd" /><Relationship Type="http://schemas.openxmlformats.org/officeDocument/2006/relationships/notesMaster" Target="/ppt/notesMasters/notesMaster1.xml" Id="R709cda601c9747d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6491020d3b64e75" /><Relationship Type="http://schemas.openxmlformats.org/officeDocument/2006/relationships/notesMaster" Target="/ppt/notesMasters/notesMaster1.xml" Id="Re8ce975d60954b50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2f98609fd1449bc" /><Relationship Type="http://schemas.openxmlformats.org/officeDocument/2006/relationships/notesMaster" Target="/ppt/notesMasters/notesMaster1.xml" Id="Rd7960277ecab444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994282b2cf574897" /><Relationship Type="http://schemas.openxmlformats.org/officeDocument/2006/relationships/notesMaster" Target="/ppt/notesMasters/notesMaster1.xml" Id="R987f07cb20de4cf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c3ecc0f1c48648ea" /><Relationship Type="http://schemas.openxmlformats.org/officeDocument/2006/relationships/notesMaster" Target="/ppt/notesMasters/notesMaster1.xml" Id="Rf6cf0acb2af6465e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45204ae9e4f4076" /><Relationship Type="http://schemas.openxmlformats.org/officeDocument/2006/relationships/notesMaster" Target="/ppt/notesMasters/notesMaster1.xml" Id="R8ba85c362361412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35ba4b0a0bd4c98" /><Relationship Type="http://schemas.openxmlformats.org/officeDocument/2006/relationships/notesMaster" Target="/ppt/notesMasters/notesMaster1.xml" Id="R32ea85f788994d7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68901d4aac64fa2" /><Relationship Type="http://schemas.openxmlformats.org/officeDocument/2006/relationships/notesMaster" Target="/ppt/notesMasters/notesMaster1.xml" Id="R49cbe85d882f4a39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71add72e0ac4b91" /><Relationship Type="http://schemas.openxmlformats.org/officeDocument/2006/relationships/notesMaster" Target="/ppt/notesMasters/notesMaster1.xml" Id="R77f028b3d31a4f9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c30a233dc954df7" /><Relationship Type="http://schemas.openxmlformats.org/officeDocument/2006/relationships/notesMaster" Target="/ppt/notesMasters/notesMaster1.xml" Id="Reb7209c40619484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48bbe1782ba4e3a" /><Relationship Type="http://schemas.openxmlformats.org/officeDocument/2006/relationships/notesMaster" Target="/ppt/notesMasters/notesMaster1.xml" Id="Rcfe8e0231e3d499c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fa483c7d2734c6b" /><Relationship Type="http://schemas.openxmlformats.org/officeDocument/2006/relationships/notesMaster" Target="/ppt/notesMasters/notesMaster1.xml" Id="Ra62797486fa54cc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f286a29a3014191" /><Relationship Type="http://schemas.openxmlformats.org/officeDocument/2006/relationships/notesMaster" Target="/ppt/notesMasters/notesMaster1.xml" Id="Re0cff9945e034e87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330113d8d274ff6" /><Relationship Type="http://schemas.openxmlformats.org/officeDocument/2006/relationships/notesMaster" Target="/ppt/notesMasters/notesMaster1.xml" Id="R6f15493b91aa497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d5b54699b2384bda" /><Relationship Type="http://schemas.openxmlformats.org/officeDocument/2006/relationships/notesMaster" Target="/ppt/notesMasters/notesMaster1.xml" Id="R5c5045a9b9744dd0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10c31176d3a94974" /><Relationship Type="http://schemas.openxmlformats.org/officeDocument/2006/relationships/notesMaster" Target="/ppt/notesMasters/notesMaster1.xml" Id="Rc0d1c7110bc24038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70d13be2466f416b" /><Relationship Type="http://schemas.openxmlformats.org/officeDocument/2006/relationships/notesMaster" Target="/ppt/notesMasters/notesMaster1.xml" Id="R8c5a8e850ecd4cb3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1c8144489e5d47e8" /><Relationship Type="http://schemas.openxmlformats.org/officeDocument/2006/relationships/notesMaster" Target="/ppt/notesMasters/notesMaster1.xml" Id="R40e2620f90d9438e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2e815dff8819427f" /><Relationship Type="http://schemas.openxmlformats.org/officeDocument/2006/relationships/notesMaster" Target="/ppt/notesMasters/notesMaster1.xml" Id="R152dc7ea4cef45b1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36df89642ecc4925" /><Relationship Type="http://schemas.openxmlformats.org/officeDocument/2006/relationships/notesMaster" Target="/ppt/notesMasters/notesMaster1.xml" Id="R4f7da1b5ff304c22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be2a768c1bcb4570" /><Relationship Type="http://schemas.openxmlformats.org/officeDocument/2006/relationships/notesMaster" Target="/ppt/notesMasters/notesMaster1.xml" Id="Rda254971ba0f4df6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56761c0161544553" /><Relationship Type="http://schemas.openxmlformats.org/officeDocument/2006/relationships/notesMaster" Target="/ppt/notesMasters/notesMaster1.xml" Id="R2a277d178d58433d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31890caf7ab4417e" /><Relationship Type="http://schemas.openxmlformats.org/officeDocument/2006/relationships/notesMaster" Target="/ppt/notesMasters/notesMaster1.xml" Id="R283151849945493d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28362b8a462844a1" /><Relationship Type="http://schemas.openxmlformats.org/officeDocument/2006/relationships/notesMaster" Target="/ppt/notesMasters/notesMaster1.xml" Id="R468e2b23cfd74d88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a11b9372547f4db0" /><Relationship Type="http://schemas.openxmlformats.org/officeDocument/2006/relationships/notesMaster" Target="/ppt/notesMasters/notesMaster1.xml" Id="R5ef95fbca82f443b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08c65ac5dfe34ddf" /><Relationship Type="http://schemas.openxmlformats.org/officeDocument/2006/relationships/notesMaster" Target="/ppt/notesMasters/notesMaster1.xml" Id="R37d6443121764254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af5ae9b4babf4a53" /><Relationship Type="http://schemas.openxmlformats.org/officeDocument/2006/relationships/notesMaster" Target="/ppt/notesMasters/notesMaster1.xml" Id="R3754421122c54f1e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0688a0b59d124204" /><Relationship Type="http://schemas.openxmlformats.org/officeDocument/2006/relationships/notesMaster" Target="/ppt/notesMasters/notesMaster1.xml" Id="R3b6de8aa60b04a75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770cabeea642407a" /><Relationship Type="http://schemas.openxmlformats.org/officeDocument/2006/relationships/notesMaster" Target="/ppt/notesMasters/notesMaster1.xml" Id="Rdf7929357f8b42eb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99209511b56a43ee" /><Relationship Type="http://schemas.openxmlformats.org/officeDocument/2006/relationships/notesMaster" Target="/ppt/notesMasters/notesMaster1.xml" Id="Ra5e6f5582c1a4b1a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6694527a07bc45fc" /><Relationship Type="http://schemas.openxmlformats.org/officeDocument/2006/relationships/notesMaster" Target="/ppt/notesMasters/notesMaster1.xml" Id="R640856b7f36242c3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542ca31a09274705" /><Relationship Type="http://schemas.openxmlformats.org/officeDocument/2006/relationships/notesMaster" Target="/ppt/notesMasters/notesMaster1.xml" Id="R1852748bb3dd411b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915aa62caf6d45db" /><Relationship Type="http://schemas.openxmlformats.org/officeDocument/2006/relationships/notesMaster" Target="/ppt/notesMasters/notesMaster1.xml" Id="R769448953fcf4707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088716d0c3404eb8" /><Relationship Type="http://schemas.openxmlformats.org/officeDocument/2006/relationships/notesMaster" Target="/ppt/notesMasters/notesMaster1.xml" Id="R08ca347d17cf4ce7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c480600e1eac438e" /><Relationship Type="http://schemas.openxmlformats.org/officeDocument/2006/relationships/notesMaster" Target="/ppt/notesMasters/notesMaster1.xml" Id="R9cd8cc70029348b3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2d2b805d9ffe4846" /><Relationship Type="http://schemas.openxmlformats.org/officeDocument/2006/relationships/notesMaster" Target="/ppt/notesMasters/notesMaster1.xml" Id="R2b461c95ea1445a3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d13eada383114e0b" /><Relationship Type="http://schemas.openxmlformats.org/officeDocument/2006/relationships/notesMaster" Target="/ppt/notesMasters/notesMaster1.xml" Id="R8e07ee5bdda14362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90d07c7ba44247d4" /><Relationship Type="http://schemas.openxmlformats.org/officeDocument/2006/relationships/notesMaster" Target="/ppt/notesMasters/notesMaster1.xml" Id="R9f2694738acb4cba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4c3a24168f794fd4" /><Relationship Type="http://schemas.openxmlformats.org/officeDocument/2006/relationships/notesMaster" Target="/ppt/notesMasters/notesMaster1.xml" Id="R9495edef69424933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eedb92c598574290" /><Relationship Type="http://schemas.openxmlformats.org/officeDocument/2006/relationships/notesMaster" Target="/ppt/notesMasters/notesMaster1.xml" Id="R9b3362686d27497d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af5df7d7e2174df2" /><Relationship Type="http://schemas.openxmlformats.org/officeDocument/2006/relationships/notesMaster" Target="/ppt/notesMasters/notesMaster1.xml" Id="R4a61b51214de43cb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e0674a54856d4035" /><Relationship Type="http://schemas.openxmlformats.org/officeDocument/2006/relationships/notesMaster" Target="/ppt/notesMasters/notesMaster1.xml" Id="R6126e4cf37784511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e524f8f6e7444f42" /><Relationship Type="http://schemas.openxmlformats.org/officeDocument/2006/relationships/notesMaster" Target="/ppt/notesMasters/notesMaster1.xml" Id="R5c4a376f28094030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dce2e91198534316" /><Relationship Type="http://schemas.openxmlformats.org/officeDocument/2006/relationships/notesMaster" Target="/ppt/notesMasters/notesMaster1.xml" Id="Rc99c35192cff4400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76478f44345b4cbc" /><Relationship Type="http://schemas.openxmlformats.org/officeDocument/2006/relationships/notesMaster" Target="/ppt/notesMasters/notesMaster1.xml" Id="R704ab53504e345a1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f790d134a431484a" /><Relationship Type="http://schemas.openxmlformats.org/officeDocument/2006/relationships/notesMaster" Target="/ppt/notesMasters/notesMaster1.xml" Id="R046f3e155d6e4755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b23c3087a07c45b1" /><Relationship Type="http://schemas.openxmlformats.org/officeDocument/2006/relationships/notesMaster" Target="/ppt/notesMasters/notesMaster1.xml" Id="Re10c3c6fca6f4b50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b7c111d8befb45e9" /><Relationship Type="http://schemas.openxmlformats.org/officeDocument/2006/relationships/notesMaster" Target="/ppt/notesMasters/notesMaster1.xml" Id="R1dc82aff2e604a3a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02e35be8ce9e4b29" /><Relationship Type="http://schemas.openxmlformats.org/officeDocument/2006/relationships/notesMaster" Target="/ppt/notesMasters/notesMaster1.xml" Id="Reeec3782af9a483e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ef36108143bd425d" /><Relationship Type="http://schemas.openxmlformats.org/officeDocument/2006/relationships/notesMaster" Target="/ppt/notesMasters/notesMaster1.xml" Id="Racb861fe78ae4153" /></Relationships>
</file>

<file path=ppt/notesSlides/_rels/notesSlide54.xml.rels>&#65279;<?xml version="1.0" encoding="utf-8"?><Relationships xmlns="http://schemas.openxmlformats.org/package/2006/relationships"><Relationship Type="http://schemas.openxmlformats.org/officeDocument/2006/relationships/slide" Target="/ppt/slides/slide54.xml" Id="Rfd34bcf8b5f84465" /><Relationship Type="http://schemas.openxmlformats.org/officeDocument/2006/relationships/notesMaster" Target="/ppt/notesMasters/notesMaster1.xml" Id="R1f3e6f97e4c2466d" /></Relationships>
</file>

<file path=ppt/notesSlides/_rels/notesSlide55.xml.rels>&#65279;<?xml version="1.0" encoding="utf-8"?><Relationships xmlns="http://schemas.openxmlformats.org/package/2006/relationships"><Relationship Type="http://schemas.openxmlformats.org/officeDocument/2006/relationships/slide" Target="/ppt/slides/slide55.xml" Id="Ra354860580654280" /><Relationship Type="http://schemas.openxmlformats.org/officeDocument/2006/relationships/notesMaster" Target="/ppt/notesMasters/notesMaster1.xml" Id="Rb559c6cdc3fc4d03" /></Relationships>
</file>

<file path=ppt/notesSlides/_rels/notesSlide56.xml.rels>&#65279;<?xml version="1.0" encoding="utf-8"?><Relationships xmlns="http://schemas.openxmlformats.org/package/2006/relationships"><Relationship Type="http://schemas.openxmlformats.org/officeDocument/2006/relationships/slide" Target="/ppt/slides/slide56.xml" Id="R21c81c45bb7a49b6" /><Relationship Type="http://schemas.openxmlformats.org/officeDocument/2006/relationships/notesMaster" Target="/ppt/notesMasters/notesMaster1.xml" Id="R138e3f152410448f" /></Relationships>
</file>

<file path=ppt/notesSlides/_rels/notesSlide57.xml.rels>&#65279;<?xml version="1.0" encoding="utf-8"?><Relationships xmlns="http://schemas.openxmlformats.org/package/2006/relationships"><Relationship Type="http://schemas.openxmlformats.org/officeDocument/2006/relationships/slide" Target="/ppt/slides/slide57.xml" Id="R373391bc6ed54c6c" /><Relationship Type="http://schemas.openxmlformats.org/officeDocument/2006/relationships/notesMaster" Target="/ppt/notesMasters/notesMaster1.xml" Id="R41ded5050ffd4a0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17d745cd05d4ed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723633fcdbb419b" /><Relationship Type="http://schemas.openxmlformats.org/officeDocument/2006/relationships/slideLayout" Target="/ppt/slideLayouts/slideLayout1.xml" Id="Ra231965556b6437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231965556b6437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bb2d5bb0194558" /><Relationship Type="http://schemas.openxmlformats.org/officeDocument/2006/relationships/notesSlide" Target="/ppt/notesSlides/notesSlide1.xml" Id="Rbeee84a18bdc490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71abf356194347" /><Relationship Type="http://schemas.openxmlformats.org/officeDocument/2006/relationships/notesSlide" Target="/ppt/notesSlides/notesSlide2.xml" Id="Rd4b30170c0344e4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2ab7eb7d904e93" /><Relationship Type="http://schemas.openxmlformats.org/officeDocument/2006/relationships/chart" Target="/ppt/slides/charts/chart1.xml" Id="R79326ad1a35a4e82" /><Relationship Type="http://schemas.openxmlformats.org/officeDocument/2006/relationships/notesSlide" Target="/ppt/notesSlides/notesSlide3.xml" Id="Ra61334511ec8489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184cff652045f7" /><Relationship Type="http://schemas.openxmlformats.org/officeDocument/2006/relationships/chart" Target="/ppt/slides/charts/chart2.xml" Id="R2d396a5d6b09459c" /><Relationship Type="http://schemas.openxmlformats.org/officeDocument/2006/relationships/chart" Target="/ppt/slides/charts/chart3.xml" Id="Rf156448d07294128" /><Relationship Type="http://schemas.openxmlformats.org/officeDocument/2006/relationships/notesSlide" Target="/ppt/notesSlides/notesSlide4.xml" Id="R3191f25e07d648f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5af9a340f14b94" /><Relationship Type="http://schemas.openxmlformats.org/officeDocument/2006/relationships/chart" Target="/ppt/slides/charts/chart4.xml" Id="R08ca1e4198d94672" /><Relationship Type="http://schemas.openxmlformats.org/officeDocument/2006/relationships/chart" Target="/ppt/slides/charts/chart5.xml" Id="Rda213aa76b974a3f" /><Relationship Type="http://schemas.openxmlformats.org/officeDocument/2006/relationships/chart" Target="/ppt/slides/charts/chart6.xml" Id="R3d8402d739454196" /><Relationship Type="http://schemas.openxmlformats.org/officeDocument/2006/relationships/notesSlide" Target="/ppt/notesSlides/notesSlide5.xml" Id="R502af4081c784cb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b9efd5bf4a24aa8" /><Relationship Type="http://schemas.openxmlformats.org/officeDocument/2006/relationships/chart" Target="/ppt/slides/charts/chart7.xml" Id="Rba68a36b66c54b3c" /><Relationship Type="http://schemas.openxmlformats.org/officeDocument/2006/relationships/chart" Target="/ppt/slides/charts/chart8.xml" Id="R3c197067f4784d5b" /><Relationship Type="http://schemas.openxmlformats.org/officeDocument/2006/relationships/chart" Target="/ppt/slides/charts/chart9.xml" Id="R5ee2558dd41246e1" /><Relationship Type="http://schemas.openxmlformats.org/officeDocument/2006/relationships/chart" Target="/ppt/slides/charts/chart10.xml" Id="Rf3db955b0c7d4a43" /><Relationship Type="http://schemas.openxmlformats.org/officeDocument/2006/relationships/notesSlide" Target="/ppt/notesSlides/notesSlide6.xml" Id="Rbd8beaddea4d42d1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6eb06e827e64ca1" /><Relationship Type="http://schemas.openxmlformats.org/officeDocument/2006/relationships/chart" Target="/ppt/slides/charts/chart11.xml" Id="R80a1bb599fa848c0" /><Relationship Type="http://schemas.openxmlformats.org/officeDocument/2006/relationships/chart" Target="/ppt/slides/charts/chart12.xml" Id="R259071c89fcc489b" /><Relationship Type="http://schemas.openxmlformats.org/officeDocument/2006/relationships/notesSlide" Target="/ppt/notesSlides/notesSlide7.xml" Id="R5674a230f4e449b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562cf9ede744a0" /><Relationship Type="http://schemas.openxmlformats.org/officeDocument/2006/relationships/chart" Target="/ppt/slides/charts/chart13.xml" Id="R7f9380946c9541c5" /><Relationship Type="http://schemas.openxmlformats.org/officeDocument/2006/relationships/chart" Target="/ppt/slides/charts/chart14.xml" Id="R34f3c4006f474973" /><Relationship Type="http://schemas.openxmlformats.org/officeDocument/2006/relationships/notesSlide" Target="/ppt/notesSlides/notesSlide8.xml" Id="R03c9bc39c3fd4a7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2d165e7ab443b5" /><Relationship Type="http://schemas.openxmlformats.org/officeDocument/2006/relationships/chart" Target="/ppt/slides/charts/chart15.xml" Id="Rf2136f395f754dfe" /><Relationship Type="http://schemas.openxmlformats.org/officeDocument/2006/relationships/chart" Target="/ppt/slides/charts/chart16.xml" Id="R539595831e824b57" /><Relationship Type="http://schemas.openxmlformats.org/officeDocument/2006/relationships/notesSlide" Target="/ppt/notesSlides/notesSlide9.xml" Id="Rfc9a2eea721d4dc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2ad25c1fe74ad8" /><Relationship Type="http://schemas.openxmlformats.org/officeDocument/2006/relationships/chart" Target="/ppt/slides/charts/chart17.xml" Id="R73029fa9fdb848af" /><Relationship Type="http://schemas.openxmlformats.org/officeDocument/2006/relationships/notesSlide" Target="/ppt/notesSlides/notesSlide10.xml" Id="Rad27a115334c4cf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8d42a7ea304d18" /><Relationship Type="http://schemas.openxmlformats.org/officeDocument/2006/relationships/chart" Target="/ppt/slides/charts/chart18.xml" Id="R84d8e69a9f8943f0" /><Relationship Type="http://schemas.openxmlformats.org/officeDocument/2006/relationships/notesSlide" Target="/ppt/notesSlides/notesSlide11.xml" Id="Rec28967b7f1a42a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cd2b13bfb64831" /><Relationship Type="http://schemas.openxmlformats.org/officeDocument/2006/relationships/chart" Target="/ppt/slides/charts/chart19.xml" Id="R422d8d3802d44336" /><Relationship Type="http://schemas.openxmlformats.org/officeDocument/2006/relationships/notesSlide" Target="/ppt/notesSlides/notesSlide12.xml" Id="R19ce566184b447e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a60461c6fc4320" /><Relationship Type="http://schemas.openxmlformats.org/officeDocument/2006/relationships/chart" Target="/ppt/slides/charts/chart20.xml" Id="Rd5cb8800864945ac" /><Relationship Type="http://schemas.openxmlformats.org/officeDocument/2006/relationships/chart" Target="/ppt/slides/charts/chart21.xml" Id="R95200e7ab7604adb" /><Relationship Type="http://schemas.openxmlformats.org/officeDocument/2006/relationships/notesSlide" Target="/ppt/notesSlides/notesSlide13.xml" Id="Rec5fcdfd593b48d3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3230db5ddc4f22" /><Relationship Type="http://schemas.openxmlformats.org/officeDocument/2006/relationships/chart" Target="/ppt/slides/charts/chart22.xml" Id="R6bd58097381e417a" /><Relationship Type="http://schemas.openxmlformats.org/officeDocument/2006/relationships/notesSlide" Target="/ppt/notesSlides/notesSlide14.xml" Id="Ra26574cac4154a12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7da17d03b54bb9" /><Relationship Type="http://schemas.openxmlformats.org/officeDocument/2006/relationships/chart" Target="/ppt/slides/charts/chart23.xml" Id="R86565766ab5e4ca0" /><Relationship Type="http://schemas.openxmlformats.org/officeDocument/2006/relationships/notesSlide" Target="/ppt/notesSlides/notesSlide15.xml" Id="R2c222954dd21463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aac45f287147e6" /><Relationship Type="http://schemas.openxmlformats.org/officeDocument/2006/relationships/chart" Target="/ppt/slides/charts/chart24.xml" Id="R6d440490112f42e3" /><Relationship Type="http://schemas.openxmlformats.org/officeDocument/2006/relationships/notesSlide" Target="/ppt/notesSlides/notesSlide16.xml" Id="Rdc32a7c5802e472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5344c73b514a19" /><Relationship Type="http://schemas.openxmlformats.org/officeDocument/2006/relationships/chart" Target="/ppt/slides/charts/chart25.xml" Id="R4f7b905026ac4580" /><Relationship Type="http://schemas.openxmlformats.org/officeDocument/2006/relationships/chart" Target="/ppt/slides/charts/chart26.xml" Id="Ra923aa0274ac440a" /><Relationship Type="http://schemas.openxmlformats.org/officeDocument/2006/relationships/chart" Target="/ppt/slides/charts/chart27.xml" Id="Rea18482039b04e6e" /><Relationship Type="http://schemas.openxmlformats.org/officeDocument/2006/relationships/chart" Target="/ppt/slides/charts/chart28.xml" Id="R30c80e1264aa4e9e" /><Relationship Type="http://schemas.openxmlformats.org/officeDocument/2006/relationships/chart" Target="/ppt/slides/charts/chart29.xml" Id="R95f499e9368c43b1" /><Relationship Type="http://schemas.openxmlformats.org/officeDocument/2006/relationships/chart" Target="/ppt/slides/charts/chart30.xml" Id="Rdee0f21631594efc" /><Relationship Type="http://schemas.openxmlformats.org/officeDocument/2006/relationships/notesSlide" Target="/ppt/notesSlides/notesSlide17.xml" Id="Re2f527a40fc244e5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f74c4a89f94697" /><Relationship Type="http://schemas.openxmlformats.org/officeDocument/2006/relationships/chart" Target="/ppt/slides/charts/chart31.xml" Id="R03b84bf1367e42f2" /><Relationship Type="http://schemas.openxmlformats.org/officeDocument/2006/relationships/notesSlide" Target="/ppt/notesSlides/notesSlide18.xml" Id="Rd7f7c99bbdd04d5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002e3fb0c949b0" /><Relationship Type="http://schemas.openxmlformats.org/officeDocument/2006/relationships/chart" Target="/ppt/slides/charts/chart32.xml" Id="Re7ff8d862e8d4cb7" /><Relationship Type="http://schemas.openxmlformats.org/officeDocument/2006/relationships/chart" Target="/ppt/slides/charts/chart33.xml" Id="R0df225d575fa4da8" /><Relationship Type="http://schemas.openxmlformats.org/officeDocument/2006/relationships/notesSlide" Target="/ppt/notesSlides/notesSlide19.xml" Id="R78666647e9304cab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95c48e8cad44fb" /><Relationship Type="http://schemas.openxmlformats.org/officeDocument/2006/relationships/image" Target="/ppt/media/image.png" Id="R24975348b903455c" /><Relationship Type="http://schemas.openxmlformats.org/officeDocument/2006/relationships/notesSlide" Target="/ppt/notesSlides/notesSlide20.xml" Id="R1eefddde0443497c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593c87ccab4b94" /><Relationship Type="http://schemas.openxmlformats.org/officeDocument/2006/relationships/image" Target="/ppt/media/image2.png" Id="R7882422ebb914f58" /><Relationship Type="http://schemas.openxmlformats.org/officeDocument/2006/relationships/notesSlide" Target="/ppt/notesSlides/notesSlide21.xml" Id="R6eb11e55ade84668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1807c4173e496c" /><Relationship Type="http://schemas.openxmlformats.org/officeDocument/2006/relationships/image" Target="/ppt/media/image3.png" Id="R3a20df03934d49a9" /><Relationship Type="http://schemas.openxmlformats.org/officeDocument/2006/relationships/notesSlide" Target="/ppt/notesSlides/notesSlide22.xml" Id="Ra65165798f9a444b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2333fa62db447b" /><Relationship Type="http://schemas.openxmlformats.org/officeDocument/2006/relationships/image" Target="/ppt/media/image4.png" Id="R7a5c2e1d27d94f9d" /><Relationship Type="http://schemas.openxmlformats.org/officeDocument/2006/relationships/notesSlide" Target="/ppt/notesSlides/notesSlide23.xml" Id="R3072574967474c3f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c71256fc394540" /><Relationship Type="http://schemas.openxmlformats.org/officeDocument/2006/relationships/notesSlide" Target="/ppt/notesSlides/notesSlide24.xml" Id="R3424870a22914c70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68065ad2334eb0" /><Relationship Type="http://schemas.openxmlformats.org/officeDocument/2006/relationships/notesSlide" Target="/ppt/notesSlides/notesSlide25.xml" Id="R134cfd4a6c8e4749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d466144e2b46d7" /><Relationship Type="http://schemas.openxmlformats.org/officeDocument/2006/relationships/chart" Target="/ppt/slides/charts/chart34.xml" Id="R41b1889a7f8e4e20" /><Relationship Type="http://schemas.openxmlformats.org/officeDocument/2006/relationships/notesSlide" Target="/ppt/notesSlides/notesSlide26.xml" Id="Red2e4b46877949dd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71b3ad9e4e49be" /><Relationship Type="http://schemas.openxmlformats.org/officeDocument/2006/relationships/notesSlide" Target="/ppt/notesSlides/notesSlide27.xml" Id="R8d2d6987d7cf4bc0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17519d0b1147ca" /><Relationship Type="http://schemas.openxmlformats.org/officeDocument/2006/relationships/chart" Target="/ppt/slides/charts/chart35.xml" Id="Rb41a7bfcb69d42dd" /><Relationship Type="http://schemas.openxmlformats.org/officeDocument/2006/relationships/chart" Target="/ppt/slides/charts/chart36.xml" Id="R47ff567a30594b35" /><Relationship Type="http://schemas.openxmlformats.org/officeDocument/2006/relationships/notesSlide" Target="/ppt/notesSlides/notesSlide28.xml" Id="R34bbd78921a846c6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e0b86c60364d3c" /><Relationship Type="http://schemas.openxmlformats.org/officeDocument/2006/relationships/chart" Target="/ppt/slides/charts/chart37.xml" Id="Rc7d5fc7d9e2748de" /><Relationship Type="http://schemas.openxmlformats.org/officeDocument/2006/relationships/chart" Target="/ppt/slides/charts/chart38.xml" Id="R90121bfad6b84a64" /><Relationship Type="http://schemas.openxmlformats.org/officeDocument/2006/relationships/chart" Target="/ppt/slides/charts/chart39.xml" Id="R46d97d6cffef4d60" /><Relationship Type="http://schemas.openxmlformats.org/officeDocument/2006/relationships/notesSlide" Target="/ppt/notesSlides/notesSlide29.xml" Id="Rdd09561047df440a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ad13ec8773466c" /><Relationship Type="http://schemas.openxmlformats.org/officeDocument/2006/relationships/chart" Target="/ppt/slides/charts/chart40.xml" Id="R862a2143ee7949f9" /><Relationship Type="http://schemas.openxmlformats.org/officeDocument/2006/relationships/chart" Target="/ppt/slides/charts/chart41.xml" Id="R74cfd70e3ad04ac8" /><Relationship Type="http://schemas.openxmlformats.org/officeDocument/2006/relationships/chart" Target="/ppt/slides/charts/chart42.xml" Id="Rb801e5c396734e6b" /><Relationship Type="http://schemas.openxmlformats.org/officeDocument/2006/relationships/chart" Target="/ppt/slides/charts/chart43.xml" Id="Rd608197a3a1e4a3d" /><Relationship Type="http://schemas.openxmlformats.org/officeDocument/2006/relationships/notesSlide" Target="/ppt/notesSlides/notesSlide30.xml" Id="Re3913ad9a9e5411c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a2cd914d8c1475e" /><Relationship Type="http://schemas.openxmlformats.org/officeDocument/2006/relationships/notesSlide" Target="/ppt/notesSlides/notesSlide31.xml" Id="Rc320530e8db940d2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5f8f1766d24edd" /><Relationship Type="http://schemas.openxmlformats.org/officeDocument/2006/relationships/notesSlide" Target="/ppt/notesSlides/notesSlide32.xml" Id="Rc3fb125333144a89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7418b402324876" /><Relationship Type="http://schemas.openxmlformats.org/officeDocument/2006/relationships/notesSlide" Target="/ppt/notesSlides/notesSlide33.xml" Id="R4e8f0a059d5a4d77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07ace3a89840be" /><Relationship Type="http://schemas.openxmlformats.org/officeDocument/2006/relationships/chart" Target="/ppt/slides/charts/chart44.xml" Id="R252d699e7a5f4cf1" /><Relationship Type="http://schemas.openxmlformats.org/officeDocument/2006/relationships/notesSlide" Target="/ppt/notesSlides/notesSlide34.xml" Id="R05fd13f98c3748b8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f92e3e221847fb" /><Relationship Type="http://schemas.openxmlformats.org/officeDocument/2006/relationships/chart" Target="/ppt/slides/charts/chart45.xml" Id="R9c9d0e2037a94edd" /><Relationship Type="http://schemas.openxmlformats.org/officeDocument/2006/relationships/notesSlide" Target="/ppt/notesSlides/notesSlide35.xml" Id="Rb0f26b1d9e22415f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fea844039d407c" /><Relationship Type="http://schemas.openxmlformats.org/officeDocument/2006/relationships/chart" Target="/ppt/slides/charts/chart46.xml" Id="R2fa63beead894694" /><Relationship Type="http://schemas.openxmlformats.org/officeDocument/2006/relationships/notesSlide" Target="/ppt/notesSlides/notesSlide36.xml" Id="Ra6fe5d444dbe4e76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1430ac9ed4d47fc" /><Relationship Type="http://schemas.openxmlformats.org/officeDocument/2006/relationships/notesSlide" Target="/ppt/notesSlides/notesSlide37.xml" Id="R2cd49469e1d74904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582b72122d4eb1" /><Relationship Type="http://schemas.openxmlformats.org/officeDocument/2006/relationships/notesSlide" Target="/ppt/notesSlides/notesSlide38.xml" Id="Rbc0e4a29d57d4599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4f9ee8d94704c7c" /><Relationship Type="http://schemas.openxmlformats.org/officeDocument/2006/relationships/notesSlide" Target="/ppt/notesSlides/notesSlide39.xml" Id="R2715a545d29d4548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bcd3392e2e40d2" /><Relationship Type="http://schemas.openxmlformats.org/officeDocument/2006/relationships/notesSlide" Target="/ppt/notesSlides/notesSlide40.xml" Id="Rdf21bcd7c5614604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2a7c7ffa81d43c0" /><Relationship Type="http://schemas.openxmlformats.org/officeDocument/2006/relationships/notesSlide" Target="/ppt/notesSlides/notesSlide41.xml" Id="Re6d29fd654434d4e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0248ce21544f4f" /><Relationship Type="http://schemas.openxmlformats.org/officeDocument/2006/relationships/notesSlide" Target="/ppt/notesSlides/notesSlide42.xml" Id="R10aafaaa37c54e24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0f12924adb457e" /><Relationship Type="http://schemas.openxmlformats.org/officeDocument/2006/relationships/notesSlide" Target="/ppt/notesSlides/notesSlide43.xml" Id="Rd32387b929354566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98c9b5cf230458f" /><Relationship Type="http://schemas.openxmlformats.org/officeDocument/2006/relationships/notesSlide" Target="/ppt/notesSlides/notesSlide44.xml" Id="R8e8009c0e9b947ab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b8b26246bb4230" /><Relationship Type="http://schemas.openxmlformats.org/officeDocument/2006/relationships/notesSlide" Target="/ppt/notesSlides/notesSlide45.xml" Id="R402d0133ddd14f35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ad646f3ee94820" /><Relationship Type="http://schemas.openxmlformats.org/officeDocument/2006/relationships/notesSlide" Target="/ppt/notesSlides/notesSlide46.xml" Id="R1feb5a5c889f4645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dee01fa0974d74" /><Relationship Type="http://schemas.openxmlformats.org/officeDocument/2006/relationships/notesSlide" Target="/ppt/notesSlides/notesSlide47.xml" Id="R0e9e6b67520542e5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93a05285d2d4b75" /><Relationship Type="http://schemas.openxmlformats.org/officeDocument/2006/relationships/notesSlide" Target="/ppt/notesSlides/notesSlide48.xml" Id="R9b02aabb4c694bf6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0dbb91f0264aa9" /><Relationship Type="http://schemas.openxmlformats.org/officeDocument/2006/relationships/notesSlide" Target="/ppt/notesSlides/notesSlide49.xml" Id="R3cc230a9c71a4840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f6e87f3ed44914" /><Relationship Type="http://schemas.openxmlformats.org/officeDocument/2006/relationships/notesSlide" Target="/ppt/notesSlides/notesSlide50.xml" Id="R0c2cb7e95ca041c6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3221ccad714214" /><Relationship Type="http://schemas.openxmlformats.org/officeDocument/2006/relationships/notesSlide" Target="/ppt/notesSlides/notesSlide51.xml" Id="R8fe9193dc9a4440c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d61cdda5f54f89" /><Relationship Type="http://schemas.openxmlformats.org/officeDocument/2006/relationships/notesSlide" Target="/ppt/notesSlides/notesSlide52.xml" Id="R1bb6733e07e34f9b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36ec7e1296493a" /><Relationship Type="http://schemas.openxmlformats.org/officeDocument/2006/relationships/notesSlide" Target="/ppt/notesSlides/notesSlide53.xml" Id="Rf029e8be392d4bcd" /></Relationships>
</file>

<file path=ppt/slides/_rels/slide5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f9a7914bda47ab" /><Relationship Type="http://schemas.openxmlformats.org/officeDocument/2006/relationships/notesSlide" Target="/ppt/notesSlides/notesSlide54.xml" Id="Rac6c446e8e244fda" /></Relationships>
</file>

<file path=ppt/slides/_rels/slide5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26a7bafe8c4f5f" /><Relationship Type="http://schemas.openxmlformats.org/officeDocument/2006/relationships/notesSlide" Target="/ppt/notesSlides/notesSlide55.xml" Id="R5c7e2de3358f4c8f" /></Relationships>
</file>

<file path=ppt/slides/_rels/slide5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b36135007140e5" /><Relationship Type="http://schemas.openxmlformats.org/officeDocument/2006/relationships/notesSlide" Target="/ppt/notesSlides/notesSlide56.xml" Id="R2d5a46ab455c454d" /></Relationships>
</file>

<file path=ppt/slides/_rels/slide5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2c42c0df9340c0" /><Relationship Type="http://schemas.openxmlformats.org/officeDocument/2006/relationships/notesSlide" Target="/ppt/notesSlides/notesSlide57.xml" Id="Rd4d96ba76c334534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PL ex-FIC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</c:formatCode>
              <c:ptCount val="12"/>
              <c:pt idx="0">
                <c:v>82.47394622656002</c:v>
              </c:pt>
              <c:pt idx="1">
                <c:v>91.06663976073001</c:v>
              </c:pt>
              <c:pt idx="2">
                <c:v>110.23395407848999</c:v>
              </c:pt>
              <c:pt idx="3">
                <c:v>131.21875156630003</c:v>
              </c:pt>
              <c:pt idx="4">
                <c:v>229.98374932763</c:v>
              </c:pt>
              <c:pt idx="5">
                <c:v>209.08922654930998</c:v>
              </c:pt>
              <c:pt idx="6">
                <c:v>298.49643822765995</c:v>
              </c:pt>
              <c:pt idx="7">
                <c:v>365.94088087975</c:v>
              </c:pt>
              <c:pt idx="8">
                <c:v>461.75630329412</c:v>
              </c:pt>
              <c:pt idx="9">
                <c:v>682.8970336474498</c:v>
              </c:pt>
              <c:pt idx="10">
                <c:v>833.21732156482</c:v>
              </c:pt>
              <c:pt idx="11">
                <c:v>880.3753465023101</c:v>
              </c:pt>
            </c:numLit>
          </c:val>
        </c:ser>
        <c:ser>
          <c:idx val="1"/>
          <c:order val="1"/>
          <c:tx>
            <c:v>FIC-FIDC</c:v>
          </c:tx>
          <c:spPr>
            <a:solidFill xmlns:a="http://schemas.openxmlformats.org/drawingml/2006/main">
              <a:srgbClr val="D7DADD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85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94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115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142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237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218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309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379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0">
                        <a:solidFill>
                          <a:srgbClr val="8D9399"/>
                        </a:solidFill>
                      </a:rPr>
                      <a:t>485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0">
                      <a:solidFill>
                        <a:srgbClr val="8D9399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732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919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961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inEnd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</c:formatCode>
              <c:ptCount val="12"/>
              <c:pt idx="0">
                <c:v>2.21705534786</c:v>
              </c:pt>
              <c:pt idx="1">
                <c:v>2.73660182632</c:v>
              </c:pt>
              <c:pt idx="2">
                <c:v>5.014084339129999</c:v>
              </c:pt>
              <c:pt idx="3">
                <c:v>10.35147572571</c:v>
              </c:pt>
              <c:pt idx="4">
                <c:v>7.459670380239999</c:v>
              </c:pt>
              <c:pt idx="5">
                <c:v>8.676012592049998</c:v>
              </c:pt>
              <c:pt idx="6">
                <c:v>10.4495380832</c:v>
              </c:pt>
              <c:pt idx="7">
                <c:v>12.957632591489999</c:v>
              </c:pt>
              <c:pt idx="8">
                <c:v>23.60292220748</c:v>
              </c:pt>
              <c:pt idx="9">
                <c:v>48.94008080363</c:v>
              </c:pt>
              <c:pt idx="10">
                <c:v>85.90039630022</c:v>
              </c:pt>
              <c:pt idx="11">
                <c:v>81.11069138634</c:v>
              </c:pt>
            </c:numLit>
          </c:val>
        </c:ser>
        <c:gapWidth val="5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1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1S</c:v>
              </c:pt>
            </c:strLit>
          </c:cat>
          <c:val>
            <c:numLit>
              <c:formatCode>0</c:formatCode>
              <c:ptCount val="4"/>
              <c:pt idx="0">
                <c:v>26.176286248</c:v>
              </c:pt>
              <c:pt idx="1">
                <c:v>95.41672613375</c:v>
              </c:pt>
              <c:pt idx="2">
                <c:v>116.34831905477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Demais elegíveis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1S</c:v>
              </c:pt>
            </c:strLit>
          </c:cat>
          <c:val>
            <c:numLit>
              <c:formatCode>0</c:formatCode>
              <c:ptCount val="4"/>
              <c:pt idx="0">
                <c:v>331.11742357030005</c:v>
              </c:pt>
              <c:pt idx="1">
                <c:v>628.31550625723</c:v>
              </c:pt>
              <c:pt idx="2">
                <c:v>653.75640159627</c:v>
              </c:pt>
              <c:pt idx="3">
                <c:v>246.82887238694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7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75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1S</c:v>
              </c:pt>
            </c:strLit>
          </c:cat>
          <c:val>
            <c:numLit>
              <c:formatCode>0</c:formatCode>
              <c:ptCount val="4"/>
              <c:pt idx="0">
                <c:v>26.176286248</c:v>
              </c:pt>
              <c:pt idx="1">
                <c:v>95.41672613375</c:v>
              </c:pt>
              <c:pt idx="2">
                <c:v>116.34831905477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Debêntures</c:v>
          </c:tx>
          <c:spPr>
            <a:solidFill xmlns:a="http://schemas.openxmlformats.org/drawingml/2006/main">
              <a:srgbClr val="151515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1S</c:v>
              </c:pt>
            </c:strLit>
          </c:cat>
          <c:val>
            <c:numLit>
              <c:formatCode>0</c:formatCode>
              <c:ptCount val="4"/>
              <c:pt idx="0">
                <c:v>223.051431673</c:v>
              </c:pt>
              <c:pt idx="1">
                <c:v>472.44541151018007</c:v>
              </c:pt>
              <c:pt idx="2">
                <c:v>453.66557470805</c:v>
              </c:pt>
              <c:pt idx="3">
                <c:v>148.028583447</c:v>
              </c:pt>
            </c:numLit>
          </c:val>
        </c:ser>
        <c:ser>
          <c:idx val="2"/>
          <c:order val="2"/>
          <c:tx>
            <c:v>CRI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1S</c:v>
              </c:pt>
            </c:strLit>
          </c:cat>
          <c:val>
            <c:numLit>
              <c:formatCode>0</c:formatCode>
              <c:ptCount val="4"/>
              <c:pt idx="0">
                <c:v>40.1010692706</c:v>
              </c:pt>
              <c:pt idx="1">
                <c:v>57.687766747050006</c:v>
              </c:pt>
              <c:pt idx="2">
                <c:v>54.329561267269995</c:v>
              </c:pt>
              <c:pt idx="3">
                <c:v>22.11693260334</c:v>
              </c:pt>
            </c:numLit>
          </c:val>
        </c:ser>
        <c:ser>
          <c:idx val="3"/>
          <c:order val="3"/>
          <c:tx>
            <c:v>Notas comerciais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1S</c:v>
              </c:pt>
            </c:strLit>
          </c:cat>
          <c:val>
            <c:numLit>
              <c:formatCode>0</c:formatCode>
              <c:ptCount val="4"/>
              <c:pt idx="0">
                <c:v>25.407368005</c:v>
              </c:pt>
              <c:pt idx="1">
                <c:v>45.7676395</c:v>
              </c:pt>
              <c:pt idx="2">
                <c:v>53.583946853</c:v>
              </c:pt>
              <c:pt idx="3">
                <c:v>28.60619646</c:v>
              </c:pt>
            </c:numLit>
          </c:val>
        </c:ser>
        <c:ser>
          <c:idx val="4"/>
          <c:order val="4"/>
          <c:tx>
            <c:v>CRA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1S</c:v>
              </c:pt>
            </c:strLit>
          </c:cat>
          <c:val>
            <c:numLit>
              <c:formatCode>0</c:formatCode>
              <c:ptCount val="4"/>
              <c:pt idx="0">
                <c:v>42.3037976217</c:v>
              </c:pt>
              <c:pt idx="1">
                <c:v>41.832471</c:v>
              </c:pt>
              <c:pt idx="2">
                <c:v>44.95039726695</c:v>
              </c:pt>
              <c:pt idx="3">
                <c:v>7.291704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Contas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1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5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Veículos</c:v>
          </c:tx>
          <c:spPr>
            <a:ln xmlns:a="http://schemas.openxmlformats.org/drawingml/2006/main" w="23813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</c:formatCode>
              <c:ptCount val="12"/>
              <c:pt idx="0">
                <c:v>527</c:v>
              </c:pt>
              <c:pt idx="1">
                <c:v>575</c:v>
              </c:pt>
              <c:pt idx="2">
                <c:v>750</c:v>
              </c:pt>
              <c:pt idx="3">
                <c:v>890</c:v>
              </c:pt>
              <c:pt idx="4">
                <c:v>1042</c:v>
              </c:pt>
              <c:pt idx="5">
                <c:v>1230</c:v>
              </c:pt>
              <c:pt idx="6">
                <c:v>1547</c:v>
              </c:pt>
              <c:pt idx="7">
                <c:v>1912</c:v>
              </c:pt>
              <c:pt idx="8">
                <c:v>2404</c:v>
              </c:pt>
              <c:pt idx="9">
                <c:v>3140</c:v>
              </c:pt>
              <c:pt idx="10">
                <c:v>4007</c:v>
              </c:pt>
              <c:pt idx="11">
                <c:v>4252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1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6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7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8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9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0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1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50.88905009467</c:v>
              </c:pt>
              <c:pt idx="1">
                <c:v>65.33776656658</c:v>
              </c:pt>
              <c:pt idx="2">
                <c:v>81.70753862344999</c:v>
              </c:pt>
              <c:pt idx="3">
                <c:v>86.65656370392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119.06650336766</c:v>
              </c:pt>
              <c:pt idx="1">
                <c:v>187.83835901057998</c:v>
              </c:pt>
              <c:pt idx="2">
                <c:v>166.6673864538</c:v>
              </c:pt>
              <c:pt idx="3">
                <c:v>189.2379048169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119.92760539484</c:v>
              </c:pt>
              <c:pt idx="1">
                <c:v>168.15979170238</c:v>
              </c:pt>
              <c:pt idx="2">
                <c:v>213.62236975357</c:v>
              </c:pt>
              <c:pt idx="3">
                <c:v>239.36812913753</c:v>
              </c:pt>
            </c:numLit>
          </c:val>
        </c:ser>
        <c:ser>
          <c:idx val="3"/>
          <c:order val="3"/>
          <c:tx>
            <c:v>Outros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171.87314443695</c:v>
              </c:pt>
              <c:pt idx="1">
                <c:v>261.56111636791</c:v>
              </c:pt>
              <c:pt idx="2">
                <c:v>371.220026734</c:v>
              </c:pt>
              <c:pt idx="3">
                <c:v>365.11274884396005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2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0.11020759160542684</c:v>
              </c:pt>
              <c:pt idx="1">
                <c:v>0.09567733252200807</c:v>
              </c:pt>
              <c:pt idx="2">
                <c:v>0.09806269806057262</c:v>
              </c:pt>
              <c:pt idx="3">
                <c:v>0.09843138389574681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0.25785571852133327</c:v>
              </c:pt>
              <c:pt idx="1">
                <c:v>0.2750610264146392</c:v>
              </c:pt>
              <c:pt idx="2">
                <c:v>0.2000287105659194</c:v>
              </c:pt>
              <c:pt idx="3">
                <c:v>0.21495139041402433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0.25972055939310257</c:v>
              </c:pt>
              <c:pt idx="1">
                <c:v>0.2462447241924814</c:v>
              </c:pt>
              <c:pt idx="2">
                <c:v>0.25638253577395326</c:v>
              </c:pt>
              <c:pt idx="3">
                <c:v>0.27189326698950433</c:v>
              </c:pt>
            </c:numLit>
          </c:val>
        </c:ser>
        <c:ser>
          <c:idx val="3"/>
          <c:order val="3"/>
          <c:tx>
            <c:v>Outros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0.37221613048013724</c:v>
              </c:pt>
              <c:pt idx="1">
                <c:v>0.3830169168708714</c:v>
              </c:pt>
              <c:pt idx="2">
                <c:v>0.4455260555995546</c:v>
              </c:pt>
              <c:pt idx="3">
                <c:v>0.4147239587007245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3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19.32368071792</c:v>
              </c:pt>
              <c:pt idx="5">
                <c:v>24.163748261490003</c:v>
              </c:pt>
              <c:pt idx="6">
                <c:v>25.154517560259997</c:v>
              </c:pt>
              <c:pt idx="7">
                <c:v>27.32144595605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336.84039317390994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84.83552289799</c:v>
              </c:pt>
              <c:pt idx="5">
                <c:v>57.4323241591</c:v>
              </c:pt>
              <c:pt idx="6">
                <c:v>43.107876023699994</c:v>
              </c:pt>
              <c:pt idx="7">
                <c:v>27.72682732234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0.2443576468091428</c:v>
              </c:pt>
              <c:pt idx="1">
                <c:v>0.2239249230379844</c:v>
              </c:pt>
              <c:pt idx="2">
                <c:v>0.1120133185506395</c:v>
              </c:pt>
              <c:pt idx="3">
                <c:v>0.1050330610627478</c:v>
              </c:pt>
              <c:pt idx="4">
                <c:v>0.0418482229263941</c:v>
              </c:pt>
              <c:pt idx="5">
                <c:v>0.052330088596752</c:v>
              </c:pt>
              <c:pt idx="6">
                <c:v>0.054475742682472</c:v>
              </c:pt>
              <c:pt idx="7">
                <c:v>0.0591685392514227</c:v>
              </c:pt>
              <c:pt idx="8">
                <c:v>0.0374748785753291</c:v>
              </c:pt>
              <c:pt idx="9">
                <c:v>0.0659560563556205</c:v>
              </c:pt>
              <c:pt idx="10">
                <c:v>0.0029555790750964</c:v>
              </c:pt>
              <c:pt idx="11">
                <c:v>0.0004619430763983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0.3826099793822727</c:v>
              </c:pt>
              <c:pt idx="1">
                <c:v>0.1342859349537224</c:v>
              </c:pt>
              <c:pt idx="2">
                <c:v>0.1127320768832201</c:v>
              </c:pt>
              <c:pt idx="3">
                <c:v>0.097307191075273</c:v>
              </c:pt>
              <c:pt idx="4">
                <c:v>0.0963629016135419</c:v>
              </c:pt>
              <c:pt idx="5">
                <c:v>0.0652361795310102</c:v>
              </c:pt>
              <c:pt idx="6">
                <c:v>0.0489653375630809</c:v>
              </c:pt>
              <c:pt idx="7">
                <c:v>0.0314943250427188</c:v>
              </c:pt>
              <c:pt idx="8">
                <c:v>0.0137189178295649</c:v>
              </c:pt>
              <c:pt idx="9">
                <c:v>0.0125019897184627</c:v>
              </c:pt>
              <c:pt idx="10">
                <c:v>0.0046674430987479</c:v>
              </c:pt>
              <c:pt idx="11">
                <c:v>0.000117723308384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6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7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Percentual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4"/>
              <c:pt idx="0">
                <c:v>Inadimplência bruta</c:v>
              </c:pt>
              <c:pt idx="1">
                <c:v>Ajustada pelo cap</c:v>
              </c:pt>
              <c:pt idx="2">
                <c:v>Ajustada ex-NP</c:v>
              </c:pt>
              <c:pt idx="3">
                <c:v>Excluindo casos acima da carteira</c:v>
              </c:pt>
            </c:strLit>
          </c:cat>
          <c:val>
            <c:numLit>
              <c:formatCode>0.0%</c:formatCode>
              <c:ptCount val="4"/>
              <c:pt idx="0">
                <c:v>0.0809058933465922</c:v>
              </c:pt>
              <c:pt idx="1">
                <c:v>0.0593323376099488</c:v>
              </c:pt>
              <c:pt idx="2">
                <c:v>0.0564665522840033</c:v>
              </c:pt>
              <c:pt idx="3">
                <c:v>0.0531719041163333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8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Bruta</c:v>
          </c:tx>
          <c:spPr>
            <a:ln xmlns:a="http://schemas.openxmlformats.org/drawingml/2006/main" w="23813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5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</c:numLit>
          </c:xVal>
          <c:yVal>
            <c:numLit>
              <c:formatCode>0.0%</c:formatCode>
              <c:ptCount val="15"/>
              <c:pt idx="0">
                <c:v>0.1953629837546001</c:v>
              </c:pt>
              <c:pt idx="1">
                <c:v>0.1809235440996488</c:v>
              </c:pt>
              <c:pt idx="2">
                <c:v>0.192154933474053</c:v>
              </c:pt>
              <c:pt idx="3">
                <c:v>0.1518453736285437</c:v>
              </c:pt>
              <c:pt idx="4">
                <c:v>0.1435849112425625</c:v>
              </c:pt>
              <c:pt idx="5">
                <c:v>0.1473663046832823</c:v>
              </c:pt>
              <c:pt idx="6">
                <c:v>0.0911001409180365</c:v>
              </c:pt>
              <c:pt idx="7">
                <c:v>0.0919394935790263</c:v>
              </c:pt>
              <c:pt idx="8">
                <c:v>0.0825084228403041</c:v>
              </c:pt>
              <c:pt idx="9">
                <c:v>0.078802626303978</c:v>
              </c:pt>
              <c:pt idx="10">
                <c:v>0.0820881119001283</c:v>
              </c:pt>
              <c:pt idx="11">
                <c:v>0.08378779452232</c:v>
              </c:pt>
              <c:pt idx="12">
                <c:v>0.0698478283500979</c:v>
              </c:pt>
              <c:pt idx="13">
                <c:v>0.0744516655492446</c:v>
              </c:pt>
              <c:pt idx="14">
                <c:v>0.0809058933465922</c:v>
              </c:pt>
            </c:numLit>
          </c:yVal>
        </c:ser>
        <c:ser>
          <c:idx val="1"/>
          <c:order val="1"/>
          <c:tx>
            <c:v>Ajustada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5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</c:numLit>
          </c:xVal>
          <c:yVal>
            <c:numLit>
              <c:formatCode>0.0%</c:formatCode>
              <c:ptCount val="15"/>
              <c:pt idx="0">
                <c:v>0.081130140165096</c:v>
              </c:pt>
              <c:pt idx="1">
                <c:v>0.0745232452683116</c:v>
              </c:pt>
              <c:pt idx="2">
                <c:v>0.0871059391884933</c:v>
              </c:pt>
              <c:pt idx="3">
                <c:v>0.0752028516325915</c:v>
              </c:pt>
              <c:pt idx="4">
                <c:v>0.0704152514172544</c:v>
              </c:pt>
              <c:pt idx="5">
                <c:v>0.0770053144630339</c:v>
              </c:pt>
              <c:pt idx="6">
                <c:v>0.0671417034451458</c:v>
              </c:pt>
              <c:pt idx="7">
                <c:v>0.0698999145821442</c:v>
              </c:pt>
              <c:pt idx="8">
                <c:v>0.0630090651293403</c:v>
              </c:pt>
              <c:pt idx="9">
                <c:v>0.0592500474459332</c:v>
              </c:pt>
              <c:pt idx="10">
                <c:v>0.0623234995475539</c:v>
              </c:pt>
              <c:pt idx="11">
                <c:v>0.0628881535366592</c:v>
              </c:pt>
              <c:pt idx="12">
                <c:v>0.0502587784704449</c:v>
              </c:pt>
              <c:pt idx="13">
                <c:v>0.0536913823719812</c:v>
              </c:pt>
              <c:pt idx="14">
                <c:v>0.0593323376099488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ax val="0.2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majorUnit val="0.03"/>
      </c:valAx>
      <c:valAx>
        <c:axId val="48650112"/>
        <c:scaling>
          <c:orientation val="minMax"/>
          <c:max val="14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9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Financeiro</c:v>
          </c:tx>
          <c:spPr>
            <a:ln xmlns:a="http://schemas.openxmlformats.org/drawingml/2006/main" w="19050">
              <a:solidFill>
                <a:srgbClr val="151515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0.0721933056522929</c:v>
              </c:pt>
              <c:pt idx="1">
                <c:v>0.0724527089960241</c:v>
              </c:pt>
              <c:pt idx="2">
                <c:v>0.0730804465099311</c:v>
              </c:pt>
              <c:pt idx="3">
                <c:v>0.0632503901979427</c:v>
              </c:pt>
              <c:pt idx="4">
                <c:v>0.0641912171142307</c:v>
              </c:pt>
              <c:pt idx="5">
                <c:v>0.0657546480281713</c:v>
              </c:pt>
              <c:pt idx="6">
                <c:v>0.0634494475619897</c:v>
              </c:pt>
              <c:pt idx="7">
                <c:v>0.0646543625808829</c:v>
              </c:pt>
              <c:pt idx="8">
                <c:v>0.0673111027113792</c:v>
              </c:pt>
              <c:pt idx="9">
                <c:v>0.0656328096378168</c:v>
              </c:pt>
              <c:pt idx="10">
                <c:v>0.0620757208077272</c:v>
              </c:pt>
              <c:pt idx="11">
                <c:v>0.0736017938293535</c:v>
              </c:pt>
              <c:pt idx="12">
                <c:v>0.0635557109295464</c:v>
              </c:pt>
              <c:pt idx="13">
                <c:v>0.0542417392216208</c:v>
              </c:pt>
              <c:pt idx="14">
                <c:v>0.0538538517691906</c:v>
              </c:pt>
              <c:pt idx="15">
                <c:v>0.0521482823676041</c:v>
              </c:pt>
              <c:pt idx="16">
                <c:v>0.0536968054360994</c:v>
              </c:pt>
              <c:pt idx="17">
                <c:v>0.0518963049039671</c:v>
              </c:pt>
              <c:pt idx="18">
                <c:v>0.0510546702744202</c:v>
              </c:pt>
              <c:pt idx="19">
                <c:v>0.0529196484159213</c:v>
              </c:pt>
              <c:pt idx="20">
                <c:v>0.046013836733936</c:v>
              </c:pt>
              <c:pt idx="21">
                <c:v>0.0550382677231159</c:v>
              </c:pt>
              <c:pt idx="22">
                <c:v>0.0485909630112604</c:v>
              </c:pt>
              <c:pt idx="23">
                <c:v>0.0574955025459674</c:v>
              </c:pt>
              <c:pt idx="24">
                <c:v>0.0468319400175989</c:v>
              </c:pt>
              <c:pt idx="25">
                <c:v>0.0539850839306449</c:v>
              </c:pt>
              <c:pt idx="26">
                <c:v>0.0548524033756501</c:v>
              </c:pt>
              <c:pt idx="27">
                <c:v>0.057384795173174</c:v>
              </c:pt>
              <c:pt idx="28">
                <c:v>0.0561998841914902</c:v>
              </c:pt>
              <c:pt idx="29">
                <c:v>0.0601770065333058</c:v>
              </c:pt>
              <c:pt idx="30">
                <c:v>0.0716771622807513</c:v>
              </c:pt>
            </c:numLit>
          </c:yVal>
        </c:ser>
        <c:ser>
          <c:idx val="1"/>
          <c:order val="1"/>
          <c:tx>
            <c:v>Cartão de crédito</c:v>
          </c:tx>
          <c:spPr>
            <a:ln xmlns:a="http://schemas.openxmlformats.org/drawingml/2006/main" w="19050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0.0080429968986406</c:v>
              </c:pt>
              <c:pt idx="1">
                <c:v>0.0103555534057833</c:v>
              </c:pt>
              <c:pt idx="2">
                <c:v>0.0101297396700234</c:v>
              </c:pt>
              <c:pt idx="3">
                <c:v>0.0104827854323463</c:v>
              </c:pt>
              <c:pt idx="4">
                <c:v>0.0111237663607328</c:v>
              </c:pt>
              <c:pt idx="5">
                <c:v>0.0106422727689357</c:v>
              </c:pt>
              <c:pt idx="6">
                <c:v>0.0079913813375405</c:v>
              </c:pt>
              <c:pt idx="7">
                <c:v>0.007890065967714</c:v>
              </c:pt>
              <c:pt idx="8">
                <c:v>0.0079420973656034</c:v>
              </c:pt>
              <c:pt idx="9">
                <c:v>0.0079557633987717</c:v>
              </c:pt>
              <c:pt idx="10">
                <c:v>0.0069164043062772</c:v>
              </c:pt>
              <c:pt idx="11">
                <c:v>0.0064863829417569</c:v>
              </c:pt>
              <c:pt idx="12">
                <c:v>0.0058804822095036</c:v>
              </c:pt>
              <c:pt idx="13">
                <c:v>0.0062984134661783</c:v>
              </c:pt>
              <c:pt idx="14">
                <c:v>0.0068137312399075</c:v>
              </c:pt>
              <c:pt idx="15">
                <c:v>0.0067604454995235</c:v>
              </c:pt>
              <c:pt idx="16">
                <c:v>0.0089037082329132</c:v>
              </c:pt>
              <c:pt idx="17">
                <c:v>0.0085557990476181</c:v>
              </c:pt>
              <c:pt idx="18">
                <c:v>0.0089308937706528</c:v>
              </c:pt>
              <c:pt idx="19">
                <c:v>0.0096799935000471</c:v>
              </c:pt>
              <c:pt idx="20">
                <c:v>0.0097012956016713</c:v>
              </c:pt>
              <c:pt idx="21">
                <c:v>0.0094978815130768</c:v>
              </c:pt>
              <c:pt idx="22">
                <c:v>0.009838827534266</c:v>
              </c:pt>
              <c:pt idx="23">
                <c:v>0.009638514605356</c:v>
              </c:pt>
              <c:pt idx="24">
                <c:v>0.010345169549131</c:v>
              </c:pt>
              <c:pt idx="25">
                <c:v>0.0101429214599004</c:v>
              </c:pt>
              <c:pt idx="26">
                <c:v>0.0106021535752052</c:v>
              </c:pt>
              <c:pt idx="27">
                <c:v>0.0103961681274984</c:v>
              </c:pt>
              <c:pt idx="28">
                <c:v>0.0111458074735555</c:v>
              </c:pt>
              <c:pt idx="29">
                <c:v>0.0112389411589637</c:v>
              </c:pt>
              <c:pt idx="30">
                <c:v>0.0117604400025326</c:v>
              </c:pt>
            </c:numLit>
          </c:yVal>
        </c:ser>
        <c:ser>
          <c:idx val="2"/>
          <c:order val="2"/>
          <c:tx>
            <c:v>Comercial</c:v>
          </c:tx>
          <c:spPr>
            <a:ln xmlns:a="http://schemas.openxmlformats.org/drawingml/2006/main" w="19050">
              <a:solidFill>
                <a:srgbClr val="454A4F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0.1082012781222687</c:v>
              </c:pt>
              <c:pt idx="1">
                <c:v>0.1161592735371424</c:v>
              </c:pt>
              <c:pt idx="2">
                <c:v>0.1194716541232022</c:v>
              </c:pt>
              <c:pt idx="3">
                <c:v>0.110340097661799</c:v>
              </c:pt>
              <c:pt idx="4">
                <c:v>0.1101662641871065</c:v>
              </c:pt>
              <c:pt idx="5">
                <c:v>0.1149075978008279</c:v>
              </c:pt>
              <c:pt idx="6">
                <c:v>0.1124919560057237</c:v>
              </c:pt>
              <c:pt idx="7">
                <c:v>0.098567530605085</c:v>
              </c:pt>
              <c:pt idx="8">
                <c:v>0.1000404253970929</c:v>
              </c:pt>
              <c:pt idx="9">
                <c:v>0.0874582451638325</c:v>
              </c:pt>
              <c:pt idx="10">
                <c:v>0.0856747977502285</c:v>
              </c:pt>
              <c:pt idx="11">
                <c:v>0.0877889765268387</c:v>
              </c:pt>
              <c:pt idx="12">
                <c:v>0.0885286227670983</c:v>
              </c:pt>
              <c:pt idx="13">
                <c:v>0.1431704813182423</c:v>
              </c:pt>
              <c:pt idx="14">
                <c:v>0.1427519812637698</c:v>
              </c:pt>
              <c:pt idx="15">
                <c:v>0.1104294687674457</c:v>
              </c:pt>
              <c:pt idx="16">
                <c:v>0.1092444441783367</c:v>
              </c:pt>
              <c:pt idx="17">
                <c:v>0.1020185080892119</c:v>
              </c:pt>
              <c:pt idx="18">
                <c:v>0.0819808141756463</c:v>
              </c:pt>
              <c:pt idx="19">
                <c:v>0.0739784925005875</c:v>
              </c:pt>
              <c:pt idx="20">
                <c:v>0.0776869622102317</c:v>
              </c:pt>
              <c:pt idx="21">
                <c:v>0.0812227396177681</c:v>
              </c:pt>
              <c:pt idx="22">
                <c:v>0.0778389474752357</c:v>
              </c:pt>
              <c:pt idx="23">
                <c:v>0.0619370973852018</c:v>
              </c:pt>
              <c:pt idx="24">
                <c:v>0.0638211406580486</c:v>
              </c:pt>
              <c:pt idx="25">
                <c:v>0.0615357509303453</c:v>
              </c:pt>
              <c:pt idx="26">
                <c:v>0.0511457130166931</c:v>
              </c:pt>
              <c:pt idx="27">
                <c:v>0.0505787700495826</c:v>
              </c:pt>
              <c:pt idx="28">
                <c:v>0.0485661426696369</c:v>
              </c:pt>
              <c:pt idx="29">
                <c:v>0.0473808964121762</c:v>
              </c:pt>
              <c:pt idx="30">
                <c:v>0.0383198312904363</c:v>
              </c:pt>
            </c:numLit>
          </c:yVal>
        </c:ser>
        <c:ser>
          <c:idx val="3"/>
          <c:order val="3"/>
          <c:tx>
            <c:v>Industrial</c:v>
          </c:tx>
          <c:spPr>
            <a:ln xmlns:a="http://schemas.openxmlformats.org/drawingml/2006/main" w="12859">
              <a:solidFill>
                <a:srgbClr val="5B6065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0.0025995750477537</c:v>
              </c:pt>
              <c:pt idx="1">
                <c:v>0.0027073175458643</c:v>
              </c:pt>
              <c:pt idx="2">
                <c:v>0.0032142957243589</c:v>
              </c:pt>
              <c:pt idx="3">
                <c:v>0.0034097015354183</c:v>
              </c:pt>
              <c:pt idx="4">
                <c:v>0.0021054729286722</c:v>
              </c:pt>
              <c:pt idx="5">
                <c:v>0.0047362923216476</c:v>
              </c:pt>
              <c:pt idx="6">
                <c:v>0.0055366129638028</c:v>
              </c:pt>
              <c:pt idx="7">
                <c:v>0.0024131461675404</c:v>
              </c:pt>
              <c:pt idx="8">
                <c:v>0.0019877205669721</c:v>
              </c:pt>
              <c:pt idx="9">
                <c:v>0.0046091003151197</c:v>
              </c:pt>
              <c:pt idx="10">
                <c:v>0.003757986185218</c:v>
              </c:pt>
              <c:pt idx="11">
                <c:v>0.003791079854629</c:v>
              </c:pt>
              <c:pt idx="12">
                <c:v>0.004061108957977</c:v>
              </c:pt>
              <c:pt idx="13">
                <c:v>0.0036679242090174</c:v>
              </c:pt>
              <c:pt idx="14">
                <c:v>0.0037228807818014</c:v>
              </c:pt>
              <c:pt idx="15">
                <c:v>0.0041390501391543</c:v>
              </c:pt>
              <c:pt idx="16">
                <c:v>0.0043238466007108</c:v>
              </c:pt>
              <c:pt idx="17">
                <c:v>0.0040579403197648</c:v>
              </c:pt>
              <c:pt idx="18">
                <c:v>0.0070527663617381</c:v>
              </c:pt>
              <c:pt idx="19">
                <c:v>0.0067700063530923</c:v>
              </c:pt>
              <c:pt idx="20">
                <c:v>0.0070438224934519</c:v>
              </c:pt>
              <c:pt idx="21">
                <c:v>0.0085456396251194</c:v>
              </c:pt>
              <c:pt idx="22">
                <c:v>0.0091884370424081</c:v>
              </c:pt>
              <c:pt idx="23">
                <c:v>0.0062620305712928</c:v>
              </c:pt>
              <c:pt idx="24">
                <c:v>0.0070617642492158</c:v>
              </c:pt>
              <c:pt idx="25">
                <c:v>0.0063200695172949</c:v>
              </c:pt>
              <c:pt idx="26">
                <c:v>0.0059848905077144</c:v>
              </c:pt>
              <c:pt idx="27">
                <c:v>0.0063789170386723</c:v>
              </c:pt>
              <c:pt idx="28">
                <c:v>0.006420463309229</c:v>
              </c:pt>
              <c:pt idx="29">
                <c:v>0.0096784901416031</c:v>
              </c:pt>
              <c:pt idx="30">
                <c:v>0.0106470085607881</c:v>
              </c:pt>
            </c:numLit>
          </c:yVal>
        </c:ser>
        <c:ser>
          <c:idx val="4"/>
          <c:order val="4"/>
          <c:tx>
            <c:v>Serviços</c:v>
          </c:tx>
          <c:spPr>
            <a:ln xmlns:a="http://schemas.openxmlformats.org/drawingml/2006/main" w="12859">
              <a:solidFill>
                <a:srgbClr val="73787D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0.002761753511805</c:v>
              </c:pt>
              <c:pt idx="1">
                <c:v>0.0027082086002623</c:v>
              </c:pt>
              <c:pt idx="2">
                <c:v>0.0030878238406748</c:v>
              </c:pt>
              <c:pt idx="3">
                <c:v>0.0038134279430219</c:v>
              </c:pt>
              <c:pt idx="4">
                <c:v>0.0047264073090607</c:v>
              </c:pt>
              <c:pt idx="5">
                <c:v>0.0053374101483992</c:v>
              </c:pt>
              <c:pt idx="6">
                <c:v>0.0048777594375193</c:v>
              </c:pt>
              <c:pt idx="7">
                <c:v>0.0060579729890402</c:v>
              </c:pt>
              <c:pt idx="8">
                <c:v>0.0057354615135486</c:v>
              </c:pt>
              <c:pt idx="9">
                <c:v>0.0065809960074512</c:v>
              </c:pt>
              <c:pt idx="10">
                <c:v>0.011011195532876</c:v>
              </c:pt>
              <c:pt idx="11">
                <c:v>0.011019621516894</c:v>
              </c:pt>
              <c:pt idx="12">
                <c:v>0.011761078041623</c:v>
              </c:pt>
              <c:pt idx="13">
                <c:v>0.0052755069921239</c:v>
              </c:pt>
              <c:pt idx="14">
                <c:v>0.0050888290074184</c:v>
              </c:pt>
              <c:pt idx="15">
                <c:v>0.0058759615026774</c:v>
              </c:pt>
              <c:pt idx="16">
                <c:v>0.0061558874072902</c:v>
              </c:pt>
              <c:pt idx="17">
                <c:v>0.0064786730545633</c:v>
              </c:pt>
              <c:pt idx="18">
                <c:v>0.0067141159294199</c:v>
              </c:pt>
              <c:pt idx="19">
                <c:v>0.006201689312099</c:v>
              </c:pt>
              <c:pt idx="20">
                <c:v>0.0058260498006329</c:v>
              </c:pt>
              <c:pt idx="21">
                <c:v>0.006571374774792</c:v>
              </c:pt>
              <c:pt idx="22">
                <c:v>0.0066587917472255</c:v>
              </c:pt>
              <c:pt idx="23">
                <c:v>0.0072842278339582</c:v>
              </c:pt>
              <c:pt idx="24">
                <c:v>0.0081006571546639</c:v>
              </c:pt>
              <c:pt idx="25">
                <c:v>0.0117685005784751</c:v>
              </c:pt>
              <c:pt idx="26">
                <c:v>0.0123753954145278</c:v>
              </c:pt>
              <c:pt idx="27">
                <c:v>0.0140555053054944</c:v>
              </c:pt>
              <c:pt idx="28">
                <c:v>0.0144069916246104</c:v>
              </c:pt>
              <c:pt idx="29">
                <c:v>0.0157044040571552</c:v>
              </c:pt>
              <c:pt idx="30">
                <c:v>0.0155258929379865</c:v>
              </c:pt>
            </c:numLit>
          </c:yVal>
        </c:ser>
        <c:ser>
          <c:idx val="5"/>
          <c:order val="5"/>
          <c:tx>
            <c:v>Setor público</c:v>
          </c:tx>
          <c:spPr>
            <a:ln xmlns:a="http://schemas.openxmlformats.org/drawingml/2006/main" w="12859">
              <a:solidFill>
                <a:srgbClr val="8D9399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0.1854216092153828</c:v>
              </c:pt>
              <c:pt idx="1">
                <c:v>0.1884788306642439</c:v>
              </c:pt>
              <c:pt idx="2">
                <c:v>0.1881706191809939</c:v>
              </c:pt>
              <c:pt idx="3">
                <c:v>0.0598179826329479</c:v>
              </c:pt>
              <c:pt idx="4">
                <c:v>0.2317110731792012</c:v>
              </c:pt>
              <c:pt idx="5">
                <c:v>0.2307453092491834</c:v>
              </c:pt>
              <c:pt idx="6">
                <c:v>0.231820743559852</c:v>
              </c:pt>
              <c:pt idx="7">
                <c:v>0.2276967726779469</c:v>
              </c:pt>
              <c:pt idx="8">
                <c:v>0.2228561784834045</c:v>
              </c:pt>
              <c:pt idx="9">
                <c:v>0.2601261710594481</c:v>
              </c:pt>
              <c:pt idx="10">
                <c:v>0.2226853028361558</c:v>
              </c:pt>
              <c:pt idx="11">
                <c:v>0.2187278941356636</c:v>
              </c:pt>
              <c:pt idx="12">
                <c:v>0.2021675560835505</c:v>
              </c:pt>
              <c:pt idx="13">
                <c:v>0.2127286140116034</c:v>
              </c:pt>
              <c:pt idx="14">
                <c:v>0.2136774816817553</c:v>
              </c:pt>
              <c:pt idx="15">
                <c:v>0.2116474567427985</c:v>
              </c:pt>
              <c:pt idx="16">
                <c:v>0.2182492714737423</c:v>
              </c:pt>
              <c:pt idx="17">
                <c:v>0.2305949573703942</c:v>
              </c:pt>
              <c:pt idx="18">
                <c:v>0.2170184839875787</c:v>
              </c:pt>
              <c:pt idx="19">
                <c:v>0.2066235198492703</c:v>
              </c:pt>
              <c:pt idx="20">
                <c:v>0.204642946005455</c:v>
              </c:pt>
              <c:pt idx="21">
                <c:v>0.2046761144659297</c:v>
              </c:pt>
              <c:pt idx="22">
                <c:v>0.1950570873721957</c:v>
              </c:pt>
              <c:pt idx="23">
                <c:v>0.1838076625569173</c:v>
              </c:pt>
              <c:pt idx="24">
                <c:v>0.0320722949695946</c:v>
              </c:pt>
              <c:pt idx="25">
                <c:v>0.0267519834548788</c:v>
              </c:pt>
              <c:pt idx="26">
                <c:v>0.0254709221093874</c:v>
              </c:pt>
              <c:pt idx="27">
                <c:v>0.0286391392387492</c:v>
              </c:pt>
              <c:pt idx="28">
                <c:v>0.0278719164478153</c:v>
              </c:pt>
              <c:pt idx="29">
                <c:v>0.0310941253039807</c:v>
              </c:pt>
              <c:pt idx="30">
                <c:v>0.0269677990830523</c:v>
              </c:pt>
            </c:numLit>
          </c:yVal>
        </c:ser>
        <c:ser>
          <c:idx val="6"/>
          <c:order val="6"/>
          <c:tx>
            <c:v>Ações judiciais</c:v>
          </c:tx>
          <c:spPr>
            <a:ln xmlns:a="http://schemas.openxmlformats.org/drawingml/2006/main" w="12859">
              <a:solidFill>
                <a:srgbClr val="A7ACB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0.0417142491781317</c:v>
              </c:pt>
              <c:pt idx="1">
                <c:v>0.0423201793463372</c:v>
              </c:pt>
              <c:pt idx="2">
                <c:v>0.0422821490121826</c:v>
              </c:pt>
              <c:pt idx="3">
                <c:v>0.0418197489706348</c:v>
              </c:pt>
              <c:pt idx="4">
                <c:v>0.013868015487937</c:v>
              </c:pt>
              <c:pt idx="5">
                <c:v>0.0161057915619758</c:v>
              </c:pt>
              <c:pt idx="6">
                <c:v>0.0460301180426334</c:v>
              </c:pt>
              <c:pt idx="7">
                <c:v>0.0156646355220548</c:v>
              </c:pt>
              <c:pt idx="8">
                <c:v>0.0127402436285298</c:v>
              </c:pt>
              <c:pt idx="9">
                <c:v>0.0146633705519831</c:v>
              </c:pt>
              <c:pt idx="10">
                <c:v>0.0148839095437175</c:v>
              </c:pt>
              <c:pt idx="11">
                <c:v>0.0145553054107453</c:v>
              </c:pt>
              <c:pt idx="12">
                <c:v>0.0129260058421569</c:v>
              </c:pt>
              <c:pt idx="13">
                <c:v>0.0133275954599381</c:v>
              </c:pt>
              <c:pt idx="14">
                <c:v>0.0135276953704358</c:v>
              </c:pt>
              <c:pt idx="15">
                <c:v>0.0133137511967988</c:v>
              </c:pt>
              <c:pt idx="16">
                <c:v>0.0132286727585075</c:v>
              </c:pt>
              <c:pt idx="17">
                <c:v>0.0129521393419009</c:v>
              </c:pt>
              <c:pt idx="18">
                <c:v>0.0125611054439207</c:v>
              </c:pt>
              <c:pt idx="19">
                <c:v>0.0125414517133714</c:v>
              </c:pt>
              <c:pt idx="20">
                <c:v>0.012167116656769</c:v>
              </c:pt>
              <c:pt idx="21">
                <c:v>0.0116434513520777</c:v>
              </c:pt>
              <c:pt idx="22">
                <c:v>0.0114818559290975</c:v>
              </c:pt>
              <c:pt idx="23">
                <c:v>0.0117198804644548</c:v>
              </c:pt>
              <c:pt idx="24">
                <c:v>0.0521667521091537</c:v>
              </c:pt>
              <c:pt idx="25">
                <c:v>0.0134295528242896</c:v>
              </c:pt>
              <c:pt idx="26">
                <c:v>0.0195114019773375</c:v>
              </c:pt>
              <c:pt idx="27">
                <c:v>0.0176558617875715</c:v>
              </c:pt>
              <c:pt idx="28">
                <c:v>0.0181866201777597</c:v>
              </c:pt>
              <c:pt idx="29">
                <c:v>0.0301063967497122</c:v>
              </c:pt>
              <c:pt idx="30">
                <c:v>0.0276212038505898</c:v>
              </c:pt>
            </c:numLit>
          </c:yVal>
        </c:ser>
        <c:ser>
          <c:idx val="7"/>
          <c:order val="7"/>
          <c:tx>
            <c:v>Agronegócio</c:v>
          </c:tx>
          <c:spPr>
            <a:ln xmlns:a="http://schemas.openxmlformats.org/drawingml/2006/main" w="12859">
              <a:solidFill>
                <a:srgbClr val="BEC2C5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0.0193848320803037</c:v>
              </c:pt>
              <c:pt idx="1">
                <c:v>0.0074534188133573</c:v>
              </c:pt>
              <c:pt idx="2">
                <c:v>0.0073692353757936</c:v>
              </c:pt>
              <c:pt idx="3">
                <c:v>0.0275878340521066</c:v>
              </c:pt>
              <c:pt idx="4">
                <c:v>0.0699173713403787</c:v>
              </c:pt>
              <c:pt idx="5">
                <c:v>0.1071495886627592</c:v>
              </c:pt>
              <c:pt idx="6">
                <c:v>0.081170617074055</c:v>
              </c:pt>
              <c:pt idx="7">
                <c:v>0.0592144502484672</c:v>
              </c:pt>
              <c:pt idx="8">
                <c:v>0.068794386861829</c:v>
              </c:pt>
              <c:pt idx="9">
                <c:v>0.0804965019363218</c:v>
              </c:pt>
              <c:pt idx="10">
                <c:v>0.0568105669235579</c:v>
              </c:pt>
              <c:pt idx="11">
                <c:v>0.0539414905307017</c:v>
              </c:pt>
              <c:pt idx="12">
                <c:v>0.0456547393457803</c:v>
              </c:pt>
              <c:pt idx="13">
                <c:v>0.0938023365883941</c:v>
              </c:pt>
              <c:pt idx="14">
                <c:v>0.0318554027571156</c:v>
              </c:pt>
              <c:pt idx="15">
                <c:v>0.0513104257372555</c:v>
              </c:pt>
              <c:pt idx="16">
                <c:v>0.0844147829421874</c:v>
              </c:pt>
              <c:pt idx="17">
                <c:v>0.1096583784966358</c:v>
              </c:pt>
              <c:pt idx="18">
                <c:v>0.0834970570681469</c:v>
              </c:pt>
              <c:pt idx="19">
                <c:v>0.0543135517074533</c:v>
              </c:pt>
              <c:pt idx="20">
                <c:v>0.0397669344769683</c:v>
              </c:pt>
              <c:pt idx="21">
                <c:v>0.0839122035225489</c:v>
              </c:pt>
              <c:pt idx="22">
                <c:v>0.062508468287794</c:v>
              </c:pt>
              <c:pt idx="23">
                <c:v>0.0403071668157024</c:v>
              </c:pt>
              <c:pt idx="24">
                <c:v>0.0356597059135657</c:v>
              </c:pt>
              <c:pt idx="25">
                <c:v>0.0295211680001266</c:v>
              </c:pt>
              <c:pt idx="26">
                <c:v>0.0252043134620647</c:v>
              </c:pt>
              <c:pt idx="27">
                <c:v>0.1089245109690359</c:v>
              </c:pt>
              <c:pt idx="28">
                <c:v>0.0634141693348424</c:v>
              </c:pt>
              <c:pt idx="29">
                <c:v>0.0985406452471582</c:v>
              </c:pt>
              <c:pt idx="30">
                <c:v>0.0982584113424741</c:v>
              </c:pt>
            </c:numLit>
          </c:yVal>
        </c:ser>
        <c:ser>
          <c:idx val="8"/>
          <c:order val="8"/>
          <c:tx>
            <c:v>Imobiliário</c:v>
          </c:tx>
          <c:spPr>
            <a:ln xmlns:a="http://schemas.openxmlformats.org/drawingml/2006/main" w="12859">
              <a:solidFill>
                <a:srgbClr val="676C71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0.0301544002992957</c:v>
              </c:pt>
              <c:pt idx="1">
                <c:v>0.0327276152039929</c:v>
              </c:pt>
              <c:pt idx="2">
                <c:v>0.0335433779934722</c:v>
              </c:pt>
              <c:pt idx="3">
                <c:v>0.0348421491235876</c:v>
              </c:pt>
              <c:pt idx="4">
                <c:v>0.0428001212242425</c:v>
              </c:pt>
              <c:pt idx="5">
                <c:v>0.0418805697277656</c:v>
              </c:pt>
              <c:pt idx="6">
                <c:v>0.0445162804581016</c:v>
              </c:pt>
              <c:pt idx="7">
                <c:v>0.0450750205215238</c:v>
              </c:pt>
              <c:pt idx="8">
                <c:v>0.0433137428852005</c:v>
              </c:pt>
              <c:pt idx="9">
                <c:v>0.0368120139814974</c:v>
              </c:pt>
              <c:pt idx="10">
                <c:v>0.0370727339192215</c:v>
              </c:pt>
              <c:pt idx="11">
                <c:v>0.0383168676299335</c:v>
              </c:pt>
              <c:pt idx="12">
                <c:v>0.0411647909984821</c:v>
              </c:pt>
              <c:pt idx="13">
                <c:v>0.0420544170094409</c:v>
              </c:pt>
              <c:pt idx="14">
                <c:v>0.0452665646472693</c:v>
              </c:pt>
              <c:pt idx="15">
                <c:v>0.0471589020247165</c:v>
              </c:pt>
              <c:pt idx="16">
                <c:v>0.0479186023653569</c:v>
              </c:pt>
              <c:pt idx="17">
                <c:v>0.0497283898045638</c:v>
              </c:pt>
              <c:pt idx="18">
                <c:v>0.0513562669687059</c:v>
              </c:pt>
              <c:pt idx="19">
                <c:v>0.0524041751673811</c:v>
              </c:pt>
              <c:pt idx="20">
                <c:v>0.0549718365574653</c:v>
              </c:pt>
              <c:pt idx="21">
                <c:v>0.0467619519887603</c:v>
              </c:pt>
              <c:pt idx="22">
                <c:v>0.0529296618834481</c:v>
              </c:pt>
              <c:pt idx="23">
                <c:v>0.0555227271204206</c:v>
              </c:pt>
              <c:pt idx="24">
                <c:v>0.0469577659285627</c:v>
              </c:pt>
              <c:pt idx="25">
                <c:v>0.0508181998171366</c:v>
              </c:pt>
              <c:pt idx="26">
                <c:v>0.0563587832928188</c:v>
              </c:pt>
              <c:pt idx="27">
                <c:v>0.0610793382898068</c:v>
              </c:pt>
              <c:pt idx="28">
                <c:v>0.0669949830191097</c:v>
              </c:pt>
              <c:pt idx="29">
                <c:v>0.0721630638324931</c:v>
              </c:pt>
              <c:pt idx="30">
                <c:v>0.0727874220270115</c:v>
              </c:pt>
            </c:numLit>
          </c:yVal>
        </c:ser>
        <c:ser>
          <c:idx val="9"/>
          <c:order val="9"/>
          <c:tx>
            <c:v>Factoring</c:v>
          </c:tx>
          <c:spPr>
            <a:ln xmlns:a="http://schemas.openxmlformats.org/drawingml/2006/main" w="12859">
              <a:solidFill>
                <a:srgbClr val="92979C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0.0514225192354148</c:v>
              </c:pt>
              <c:pt idx="1">
                <c:v>0.0393907988792837</c:v>
              </c:pt>
              <c:pt idx="2">
                <c:v>0.0204599118110216</c:v>
              </c:pt>
              <c:pt idx="3">
                <c:v>0.0279020955222049</c:v>
              </c:pt>
              <c:pt idx="4">
                <c:v>0.045435158542933</c:v>
              </c:pt>
              <c:pt idx="5">
                <c:v>0.0634913799648424</c:v>
              </c:pt>
              <c:pt idx="6">
                <c:v>0.1018834022199954</c:v>
              </c:pt>
              <c:pt idx="7">
                <c:v>0.053226641038248</c:v>
              </c:pt>
              <c:pt idx="8">
                <c:v>0.0409999642734494</c:v>
              </c:pt>
              <c:pt idx="9">
                <c:v>0.0221743137151051</c:v>
              </c:pt>
              <c:pt idx="10">
                <c:v>0.1189436323844374</c:v>
              </c:pt>
              <c:pt idx="11">
                <c:v>0.0430677893077643</c:v>
              </c:pt>
              <c:pt idx="12">
                <c:v>0.0533502127430201</c:v>
              </c:pt>
              <c:pt idx="13">
                <c:v>0.0375148600614609</c:v>
              </c:pt>
              <c:pt idx="14">
                <c:v>0.0437092853950481</c:v>
              </c:pt>
              <c:pt idx="15">
                <c:v>0.064103135977939</c:v>
              </c:pt>
              <c:pt idx="16">
                <c:v>0.1479488771622266</c:v>
              </c:pt>
              <c:pt idx="17">
                <c:v>0.1174497699924641</c:v>
              </c:pt>
              <c:pt idx="18">
                <c:v>0.1305527242748713</c:v>
              </c:pt>
              <c:pt idx="19">
                <c:v>0.1254080720493426</c:v>
              </c:pt>
              <c:pt idx="20">
                <c:v>0.1486477723764485</c:v>
              </c:pt>
              <c:pt idx="21">
                <c:v>0.1354996954025546</c:v>
              </c:pt>
              <c:pt idx="22">
                <c:v>0.1660000913704232</c:v>
              </c:pt>
              <c:pt idx="23">
                <c:v>0.1605724609434834</c:v>
              </c:pt>
              <c:pt idx="24">
                <c:v>0.2853726896283449</c:v>
              </c:pt>
              <c:pt idx="25">
                <c:v>0.1950978271794026</c:v>
              </c:pt>
              <c:pt idx="26">
                <c:v>0.1466190664090744</c:v>
              </c:pt>
              <c:pt idx="27">
                <c:v>0.1741072914672736</c:v>
              </c:pt>
              <c:pt idx="28">
                <c:v>0.1697199730374612</c:v>
              </c:pt>
              <c:pt idx="29">
                <c:v>0.1549286072994427</c:v>
              </c:pt>
              <c:pt idx="30">
                <c:v>0.1391390506699004</c:v>
              </c:pt>
            </c:numLit>
          </c:yVal>
        </c:ser>
        <c:ser>
          <c:idx val="10"/>
          <c:order val="10"/>
          <c:tx>
            <c:v>Consolidado ajustado</c:v>
          </c:tx>
          <c:spPr>
            <a:ln xmlns:a="http://schemas.openxmlformats.org/drawingml/2006/main" w="30480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0.0752028516325915</c:v>
              </c:pt>
              <c:pt idx="1">
                <c:v>0.0778801838724332</c:v>
              </c:pt>
              <c:pt idx="2">
                <c:v>0.0776383095992151</c:v>
              </c:pt>
              <c:pt idx="3">
                <c:v>0.0704152514172544</c:v>
              </c:pt>
              <c:pt idx="4">
                <c:v>0.0797565578705756</c:v>
              </c:pt>
              <c:pt idx="5">
                <c:v>0.0817150208465515</c:v>
              </c:pt>
              <c:pt idx="6">
                <c:v>0.0770053144630339</c:v>
              </c:pt>
              <c:pt idx="7">
                <c:v>0.0671417034451458</c:v>
              </c:pt>
              <c:pt idx="8">
                <c:v>0.0676408843500004</c:v>
              </c:pt>
              <c:pt idx="9">
                <c:v>0.0698999145821442</c:v>
              </c:pt>
              <c:pt idx="10">
                <c:v>0.0684744868137109</c:v>
              </c:pt>
              <c:pt idx="11">
                <c:v>0.0699014101098718</c:v>
              </c:pt>
              <c:pt idx="12">
                <c:v>0.0630090651293403</c:v>
              </c:pt>
              <c:pt idx="13">
                <c:v>0.0614757676630931</c:v>
              </c:pt>
              <c:pt idx="14">
                <c:v>0.0598205980738471</c:v>
              </c:pt>
              <c:pt idx="15">
                <c:v>0.0592500474459332</c:v>
              </c:pt>
              <c:pt idx="16">
                <c:v>0.0624601047334936</c:v>
              </c:pt>
              <c:pt idx="17">
                <c:v>0.0629482537447055</c:v>
              </c:pt>
              <c:pt idx="18">
                <c:v>0.0623234995475539</c:v>
              </c:pt>
              <c:pt idx="19">
                <c:v>0.0601553151901788</c:v>
              </c:pt>
              <c:pt idx="20">
                <c:v>0.0569486394732615</c:v>
              </c:pt>
              <c:pt idx="21">
                <c:v>0.0628881535366592</c:v>
              </c:pt>
              <c:pt idx="22">
                <c:v>0.0584216214864171</c:v>
              </c:pt>
              <c:pt idx="23">
                <c:v>0.0606320127168131</c:v>
              </c:pt>
              <c:pt idx="24">
                <c:v>0.0502587784704449</c:v>
              </c:pt>
              <c:pt idx="25">
                <c:v>0.0507331353304028</c:v>
              </c:pt>
              <c:pt idx="26">
                <c:v>0.0503146572806492</c:v>
              </c:pt>
              <c:pt idx="27">
                <c:v>0.0536913823719812</c:v>
              </c:pt>
              <c:pt idx="28">
                <c:v>0.0520334873726198</c:v>
              </c:pt>
              <c:pt idx="29">
                <c:v>0.0585303345939064</c:v>
              </c:pt>
              <c:pt idx="30">
                <c:v>0.0593323376099488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ax val="0.3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majorUnit val="0.05"/>
      </c:valAx>
      <c:valAx>
        <c:axId val="48650112"/>
        <c:scaling>
          <c:orientation val="minMax"/>
          <c:max val="30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0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0.7240103045302964</c:v>
              </c:pt>
              <c:pt idx="1">
                <c:v>0.33762443171818396</c:v>
              </c:pt>
              <c:pt idx="2">
                <c:v>0.7144041928735754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0.7177319262894483</c:v>
              </c:pt>
              <c:pt idx="1">
                <c:v>0.3640830858142464</c:v>
              </c:pt>
              <c:pt idx="2">
                <c:v>0.7281455649767723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0.5047535938429641</c:v>
              </c:pt>
              <c:pt idx="1">
                <c:v>0.22309371585883164</c:v>
              </c:pt>
              <c:pt idx="2">
                <c:v>0.5254792759228104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0.5320851575861103</c:v>
              </c:pt>
              <c:pt idx="1">
                <c:v>0.2617042615232217</c:v>
              </c:pt>
              <c:pt idx="2">
                <c:v>0.5578650737236776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2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0.1116763306350601</c:v>
              </c:pt>
              <c:pt idx="1">
                <c:v>0.6782283246807754</c:v>
              </c:pt>
              <c:pt idx="2">
                <c:v>0.0450938092637845</c:v>
              </c:pt>
              <c:pt idx="3">
                <c:v>0.0383225339956283</c:v>
              </c:pt>
              <c:pt idx="4">
                <c:v>0.0555263851137853</c:v>
              </c:pt>
              <c:pt idx="5">
                <c:v>0.2029820123277025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0.1390963456785791</c:v>
              </c:pt>
              <c:pt idx="1">
                <c:v>0.0085369657675623</c:v>
              </c:pt>
              <c:pt idx="2">
                <c:v>0.2571654070720304</c:v>
              </c:pt>
              <c:pt idx="3">
                <c:v>0.1107504103483613</c:v>
              </c:pt>
              <c:pt idx="4">
                <c:v>0.2863850373099147</c:v>
              </c:pt>
              <c:pt idx="5">
                <c:v>0.269028508380686</c:v>
              </c:pt>
            </c:numLit>
          </c:val>
        </c:ser>
        <c:ser>
          <c:idx val="2"/>
          <c:order val="2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0.0840999608667202</c:v>
              </c:pt>
              <c:pt idx="1">
                <c:v>0.0060998187147488</c:v>
              </c:pt>
              <c:pt idx="2">
                <c:v>0.0121996377120526</c:v>
              </c:pt>
              <c:pt idx="3">
                <c:v>0.1576375144502833</c:v>
              </c:pt>
              <c:pt idx="4">
                <c:v>0.1003776283557518</c:v>
              </c:pt>
              <c:pt idx="5">
                <c:v>0.0561734532046676</c:v>
              </c:pt>
            </c:numLit>
          </c:val>
        </c:ser>
        <c:ser>
          <c:idx val="3"/>
          <c:order val="3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0.0146265486635242</c:v>
              </c:pt>
              <c:pt idx="1">
                <c:v>0.009628795711521</c:v>
              </c:pt>
              <c:pt idx="2">
                <c:v>0.0718716845273516</c:v>
              </c:pt>
              <c:pt idx="3">
                <c:v>0.0746723052215733</c:v>
              </c:pt>
              <c:pt idx="4">
                <c:v>0.253591336198019</c:v>
              </c:pt>
              <c:pt idx="5">
                <c:v>0.0533268146890519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0373374891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0.0600546511336937</c:v>
              </c:pt>
              <c:pt idx="1">
                <c:v>0.0225383075558926</c:v>
              </c:pt>
              <c:pt idx="2">
                <c:v>0.1478667482986454</c:v>
              </c:pt>
              <c:pt idx="3">
                <c:v>0.1403255782349483</c:v>
              </c:pt>
              <c:pt idx="4">
                <c:v>0</c:v>
              </c:pt>
              <c:pt idx="5">
                <c:v>0.0089665861260677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0.0452554036899924</c:v>
              </c:pt>
              <c:pt idx="1">
                <c:v>0.0014290426740686</c:v>
              </c:pt>
              <c:pt idx="2">
                <c:v>0.0938211651306432</c:v>
              </c:pt>
              <c:pt idx="3">
                <c:v>0.1266642208703755</c:v>
              </c:pt>
              <c:pt idx="4">
                <c:v>0.2292028070380465</c:v>
              </c:pt>
              <c:pt idx="5">
                <c:v>0.0148724022126697</c:v>
              </c:pt>
            </c:numLit>
          </c:val>
        </c:ser>
        <c:ser>
          <c:idx val="6"/>
          <c:order val="6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.001549977204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0.0679529812812936</c:v>
              </c:pt>
              <c:pt idx="1">
                <c:v>0.0093365494192045</c:v>
              </c:pt>
              <c:pt idx="2">
                <c:v>0.0435322365450096</c:v>
              </c:pt>
              <c:pt idx="3">
                <c:v>0.0006615413000011</c:v>
              </c:pt>
              <c:pt idx="4">
                <c:v>0</c:v>
              </c:pt>
              <c:pt idx="5">
                <c:v>0.0195927534357799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0.0390778868680176</c:v>
              </c:pt>
              <c:pt idx="1">
                <c:v>0.0308583999379698</c:v>
              </c:pt>
              <c:pt idx="2">
                <c:v>0.0377896853506274</c:v>
              </c:pt>
              <c:pt idx="3">
                <c:v>0.0003689936710498</c:v>
              </c:pt>
              <c:pt idx="4">
                <c:v>0.0030735686210584</c:v>
              </c:pt>
              <c:pt idx="5">
                <c:v>0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0.0256229759264469</c:v>
              </c:pt>
              <c:pt idx="1">
                <c:v>0.0042743795995927</c:v>
              </c:pt>
              <c:pt idx="2">
                <c:v>0.0026200048135162</c:v>
              </c:pt>
              <c:pt idx="3">
                <c:v>0.0823562202432192</c:v>
              </c:pt>
              <c:pt idx="4">
                <c:v>0.000517442092016</c:v>
              </c:pt>
              <c:pt idx="5">
                <c:v>0.0878398045610501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0.0265752299531593</c:v>
              </c:pt>
              <c:pt idx="1">
                <c:v>0.0407324745725011</c:v>
              </c:pt>
              <c:pt idx="2">
                <c:v>0.041430326101634</c:v>
              </c:pt>
              <c:pt idx="3">
                <c:v>0.0163428047472977</c:v>
              </c:pt>
              <c:pt idx="4">
                <c:v>0.006670926137507</c:v>
              </c:pt>
              <c:pt idx="5">
                <c:v>0.0006624396052901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0.3859616853035125</c:v>
              </c:pt>
              <c:pt idx="1">
                <c:v>0.188336941366163</c:v>
              </c:pt>
              <c:pt idx="2">
                <c:v>0.2466092951847047</c:v>
              </c:pt>
              <c:pt idx="3">
                <c:v>0.2518978769172617</c:v>
              </c:pt>
              <c:pt idx="4">
                <c:v>0.0646548691339009</c:v>
              </c:pt>
              <c:pt idx="5">
                <c:v>0.286555225457034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3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19373735004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0.0500957774921574</c:v>
              </c:pt>
              <c:pt idx="1">
                <c:v>0.0012525299906187</c:v>
              </c:pt>
              <c:pt idx="2">
                <c:v>0.2535264495160129</c:v>
              </c:pt>
              <c:pt idx="3">
                <c:v>0.0462427868594103</c:v>
              </c:pt>
              <c:pt idx="4">
                <c:v>0.2758716420451991</c:v>
              </c:pt>
              <c:pt idx="5">
                <c:v>0.0726718301479003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074783162314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0.0469523725398685</c:v>
              </c:pt>
              <c:pt idx="1">
                <c:v>0.0225383075558926</c:v>
              </c:pt>
              <c:pt idx="2">
                <c:v>0.0909821352025632</c:v>
              </c:pt>
              <c:pt idx="3">
                <c:v>0.1379781899976271</c:v>
              </c:pt>
              <c:pt idx="4">
                <c:v>0</c:v>
              </c:pt>
              <c:pt idx="5">
                <c:v>0.0089665861260677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0.0019669412013587</c:v>
              </c:pt>
              <c:pt idx="1">
                <c:v>0.0007064267423984</c:v>
              </c:pt>
              <c:pt idx="2">
                <c:v>0.0510761668947442</c:v>
              </c:pt>
              <c:pt idx="3">
                <c:v>0.0481316360628852</c:v>
              </c:pt>
              <c:pt idx="4">
                <c:v>0.1937323312865176</c:v>
              </c:pt>
              <c:pt idx="5">
                <c:v>0.0319409306110538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0.0220612214253641</c:v>
              </c:pt>
              <c:pt idx="1">
                <c:v>0</c:v>
              </c:pt>
              <c:pt idx="2">
                <c:v>0.0733873168779346</c:v>
              </c:pt>
              <c:pt idx="3">
                <c:v>0.1081333878129026</c:v>
              </c:pt>
              <c:pt idx="4">
                <c:v>0.0942677758415833</c:v>
              </c:pt>
              <c:pt idx="5">
                <c:v>0.0014030424128084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0.006031214274127</c:v>
              </c:pt>
              <c:pt idx="1">
                <c:v>0.2254820036895443</c:v>
              </c:pt>
              <c:pt idx="2">
                <c:v>0.0044598510745928</c:v>
              </c:pt>
              <c:pt idx="3">
                <c:v>0.0024475116853231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5"/>
          <c:order val="5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0.0450847430474019</c:v>
              </c:pt>
              <c:pt idx="1">
                <c:v>0</c:v>
              </c:pt>
              <c:pt idx="2">
                <c:v>0.0171026340935401</c:v>
              </c:pt>
              <c:pt idx="3">
                <c:v>0</c:v>
              </c:pt>
              <c:pt idx="4">
                <c:v>0</c:v>
              </c:pt>
              <c:pt idx="5">
                <c:v>0.0258977954276094</c:v>
              </c:pt>
            </c:numLit>
          </c:val>
        </c:ser>
        <c:ser>
          <c:idx val="6"/>
          <c:order val="6"/>
          <c:tx>
            <c:v>Solis Investimentos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0.0205891110813994</c:v>
              </c:pt>
              <c:pt idx="1">
                <c:v>0.0353488694975699</c:v>
              </c:pt>
              <c:pt idx="2">
                <c:v>0.0103281819969092</c:v>
              </c:pt>
              <c:pt idx="3">
                <c:v>0.0170236300688781</c:v>
              </c:pt>
              <c:pt idx="4">
                <c:v>0.0213932153161958</c:v>
              </c:pt>
              <c:pt idx="5">
                <c:v>0.0006624396052901</c:v>
              </c:pt>
            </c:numLit>
          </c:val>
        </c:ser>
        <c:ser>
          <c:idx val="7"/>
          <c:order val="7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0.0124160176066826</c:v>
              </c:pt>
              <c:pt idx="1">
                <c:v>0</c:v>
              </c:pt>
              <c:pt idx="2">
                <c:v>0.0921407401194705</c:v>
              </c:pt>
              <c:pt idx="3">
                <c:v>0.0070214132164745</c:v>
              </c:pt>
              <c:pt idx="4">
                <c:v>0</c:v>
              </c:pt>
              <c:pt idx="5">
                <c:v>0.0642625485190267</c:v>
              </c:pt>
            </c:numLit>
          </c:val>
        </c:ser>
        <c:ser>
          <c:idx val="8"/>
          <c:order val="8"/>
          <c:tx>
            <c:v>Integral Investimentos</c:v>
          </c:tx>
          <c:spPr>
            <a:solidFill>
              <a:srgbClr val="A7ACB0"/>
            </a:solidFill>
          </c:spPr>
          <c:dLbls>
            <c:dLbl>
              <c:idx val="0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.0063792149299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0.0056678347405107</c:v>
              </c:pt>
              <c:pt idx="1">
                <c:v>0.0058311829957581</c:v>
              </c:pt>
              <c:pt idx="2">
                <c:v>0.072361729110744</c:v>
              </c:pt>
              <c:pt idx="3">
                <c:v>0.0067039718840054</c:v>
              </c:pt>
              <c:pt idx="4">
                <c:v>0.0020264986777547</c:v>
              </c:pt>
              <c:pt idx="5">
                <c:v>0</c:v>
              </c:pt>
            </c:numLit>
          </c:val>
        </c:ser>
        <c:ser>
          <c:idx val="9"/>
          <c:order val="9"/>
          <c:tx>
            <c:v>Anga Administracao De Recursos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5"/>
                  <c:y val="0.0025372364845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0.0081687112550485</c:v>
              </c:pt>
              <c:pt idx="1">
                <c:v>0.0031211412936085</c:v>
              </c:pt>
              <c:pt idx="2">
                <c:v>0.0018544989739266</c:v>
              </c:pt>
              <c:pt idx="3">
                <c:v>0.0644142962449783</c:v>
              </c:pt>
              <c:pt idx="4">
                <c:v>0.0996900292425515</c:v>
              </c:pt>
              <c:pt idx="5">
                <c:v>0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0.7803731753534665</c:v>
              </c:pt>
              <c:pt idx="1">
                <c:v>0.7049428932208924</c:v>
              </c:pt>
              <c:pt idx="2">
                <c:v>0.3287800173132373</c:v>
              </c:pt>
              <c:pt idx="3">
                <c:v>0.5619031761675151</c:v>
              </c:pt>
              <c:pt idx="4">
                <c:v>0.3130185075901977</c:v>
              </c:pt>
              <c:pt idx="5">
                <c:v>0.7941948271502433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"/>
                  <c:y val="-0.019703560008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-0.019611677493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-0.01799986058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0.0005928799826141</c:v>
              </c:pt>
              <c:pt idx="1">
                <c:v>0.0007766450137169</c:v>
              </c:pt>
              <c:pt idx="2">
                <c:v>0.0040002788263241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4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1864710861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0.1385988512304118</c:v>
              </c:pt>
              <c:pt idx="1">
                <c:v>0.0027057827718041</c:v>
              </c:pt>
              <c:pt idx="2">
                <c:v>0.2571654070720304</c:v>
              </c:pt>
              <c:pt idx="3">
                <c:v>0.1107504103483613</c:v>
              </c:pt>
              <c:pt idx="4">
                <c:v>0.2863850373099147</c:v>
              </c:pt>
              <c:pt idx="5">
                <c:v>0.269028508380686</c:v>
              </c:pt>
            </c:numLit>
          </c:val>
        </c:ser>
        <c:ser>
          <c:idx val="1"/>
          <c:order val="1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0.1110650498414056</c:v>
              </c:pt>
              <c:pt idx="1">
                <c:v>0.6759912968773222</c:v>
              </c:pt>
              <c:pt idx="2">
                <c:v>0.0451499232981444</c:v>
              </c:pt>
              <c:pt idx="3">
                <c:v>0.0382941953359548</c:v>
              </c:pt>
              <c:pt idx="4">
                <c:v>0.0500143231646444</c:v>
              </c:pt>
              <c:pt idx="5">
                <c:v>0.2029820123277025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0.0367401725104139</c:v>
              </c:pt>
              <c:pt idx="1">
                <c:v>0.0271351448333965</c:v>
              </c:pt>
              <c:pt idx="2">
                <c:v>0.1734502780656785</c:v>
              </c:pt>
              <c:pt idx="3">
                <c:v>0.0746723052215733</c:v>
              </c:pt>
              <c:pt idx="4">
                <c:v>0.254399426087156</c:v>
              </c:pt>
              <c:pt idx="5">
                <c:v>0.0285286777700744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0.0901371033135809</c:v>
              </c:pt>
              <c:pt idx="1">
                <c:v>0.0060998187147488</c:v>
              </c:pt>
              <c:pt idx="2">
                <c:v>0.0338901250913308</c:v>
              </c:pt>
              <c:pt idx="3">
                <c:v>0.1662834134085645</c:v>
              </c:pt>
              <c:pt idx="4">
                <c:v>0.1003776283557518</c:v>
              </c:pt>
              <c:pt idx="5">
                <c:v>0.0561734532046676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0.0600546511336937</c:v>
              </c:pt>
              <c:pt idx="1">
                <c:v>0.0170780158717631</c:v>
              </c:pt>
              <c:pt idx="2">
                <c:v>0.1117385096852637</c:v>
              </c:pt>
              <c:pt idx="3">
                <c:v>0.1399668200066018</c:v>
              </c:pt>
              <c:pt idx="4">
                <c:v>0</c:v>
              </c:pt>
              <c:pt idx="5">
                <c:v>0.0337647230450451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0.0341699412912885</c:v>
              </c:pt>
              <c:pt idx="1">
                <c:v>0.0014290426740686</c:v>
              </c:pt>
              <c:pt idx="2">
                <c:v>0.0924387555066889</c:v>
              </c:pt>
              <c:pt idx="3">
                <c:v>0.1266642208703755</c:v>
              </c:pt>
              <c:pt idx="4">
                <c:v>0.1377649003513394</c:v>
              </c:pt>
              <c:pt idx="5">
                <c:v>0.0148724022126697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13350666946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0.0766621333152516</c:v>
              </c:pt>
              <c:pt idx="1">
                <c:v>0.0001847303014918</c:v>
              </c:pt>
              <c:pt idx="2">
                <c:v>1.9023858238375103E-05</c:v>
              </c:pt>
              <c:pt idx="3">
                <c:v>0.0013441224672684</c:v>
              </c:pt>
              <c:pt idx="4">
                <c:v>0</c:v>
              </c:pt>
              <c:pt idx="5">
                <c:v>0.0475501029412941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0.0390778868680176</c:v>
              </c:pt>
              <c:pt idx="1">
                <c:v>0.0308583999379698</c:v>
              </c:pt>
              <c:pt idx="2">
                <c:v>0.0377896853506274</c:v>
              </c:pt>
              <c:pt idx="3">
                <c:v>0.0003689936710498</c:v>
              </c:pt>
              <c:pt idx="4">
                <c:v>0.0030735686210584</c:v>
              </c:pt>
              <c:pt idx="5">
                <c:v>0</c:v>
              </c:pt>
            </c:numLit>
          </c:val>
        </c:ser>
        <c:ser>
          <c:idx val="8"/>
          <c:order val="8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0.0529133378830142</c:v>
              </c:pt>
              <c:pt idx="1">
                <c:v>0.0093365494192045</c:v>
              </c:pt>
              <c:pt idx="2">
                <c:v>0.0171026340935401</c:v>
              </c:pt>
              <c:pt idx="3">
                <c:v>0.0006615413000011</c:v>
              </c:pt>
              <c:pt idx="4">
                <c:v>0</c:v>
              </c:pt>
              <c:pt idx="5">
                <c:v>0.0195927534357799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0.0256229759264469</c:v>
              </c:pt>
              <c:pt idx="1">
                <c:v>0.0042743795995927</c:v>
              </c:pt>
              <c:pt idx="2">
                <c:v>0.0026200048135162</c:v>
              </c:pt>
              <c:pt idx="3">
                <c:v>0.0823562202432192</c:v>
              </c:pt>
              <c:pt idx="4">
                <c:v>0.000517442092016</c:v>
              </c:pt>
              <c:pt idx="5">
                <c:v>0.0878398045610501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0.3241701231603555</c:v>
              </c:pt>
              <c:pt idx="1">
                <c:v>0.2115480334239259</c:v>
              </c:pt>
              <c:pt idx="2">
                <c:v>0.160647830710761</c:v>
              </c:pt>
              <c:pt idx="3">
                <c:v>0.2568686718762569</c:v>
              </c:pt>
              <c:pt idx="4">
                <c:v>0.1673666661701728</c:v>
              </c:pt>
              <c:pt idx="5">
                <c:v>0.2391091484443289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-0.05"/>
                  <c:y val="-0.014606113236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-0.01332059721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-0.01911545737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-0.019949496076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-0.019720793161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Outros
Poder público</c:v>
              </c:pt>
            </c:strLit>
          </c:cat>
          <c:val>
            <c:numLit>
              <c:formatCode>0.0%</c:formatCode>
              <c:ptCount val="6"/>
              <c:pt idx="0">
                <c:v>0.0107877735261191</c:v>
              </c:pt>
              <c:pt idx="1">
                <c:v>0.0133588055747116</c:v>
              </c:pt>
              <c:pt idx="2">
                <c:v>0.0679878224541797</c:v>
              </c:pt>
              <c:pt idx="3">
                <c:v>0.0017690852507729</c:v>
              </c:pt>
              <c:pt idx="4">
                <c:v>0.0001010078479461</c:v>
              </c:pt>
              <c:pt idx="5">
                <c:v>0.0005584136767011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2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6EC5E9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BEC2C5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7"/>
              <c:pt idx="0">
                <c:v>Itaú</c:v>
              </c:pt>
              <c:pt idx="1">
                <c:v>Genial</c:v>
              </c:pt>
              <c:pt idx="2">
                <c:v>Bradesco</c:v>
              </c:pt>
              <c:pt idx="3">
                <c:v>Oliveira Trust</c:v>
              </c:pt>
              <c:pt idx="4">
                <c:v>Daycoval</c:v>
              </c:pt>
              <c:pt idx="5">
                <c:v>BTG Pactual</c:v>
              </c:pt>
              <c:pt idx="6">
                <c:v>QI Tech</c:v>
              </c:pt>
            </c:strLit>
          </c:cat>
          <c:val>
            <c:numLit>
              <c:formatCode>0.0</c:formatCode>
              <c:ptCount val="7"/>
              <c:pt idx="0">
                <c:v>28.577477955880003</c:v>
              </c:pt>
              <c:pt idx="1">
                <c:v>50.543366234</c:v>
              </c:pt>
              <c:pt idx="2">
                <c:v>51.00175435107</c:v>
              </c:pt>
              <c:pt idx="3">
                <c:v>57.205822956949994</c:v>
              </c:pt>
              <c:pt idx="4">
                <c:v>58.07994111931001</c:v>
              </c:pt>
              <c:pt idx="5">
                <c:v>123.34891855075</c:v>
              </c:pt>
              <c:pt idx="6">
                <c:v>124.12592647323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13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1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6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73C6A1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454A4F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5B6065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6"/>
              <c:pt idx="0">
                <c:v>CBSF</c:v>
              </c:pt>
              <c:pt idx="1">
                <c:v>Hemera</c:v>
              </c:pt>
              <c:pt idx="2">
                <c:v>BRL Trust</c:v>
              </c:pt>
              <c:pt idx="3">
                <c:v>Finaxis</c:v>
              </c:pt>
              <c:pt idx="4">
                <c:v>Oliveira Trust</c:v>
              </c:pt>
              <c:pt idx="5">
                <c:v>QI Tech</c:v>
              </c:pt>
            </c:strLit>
          </c:cat>
          <c:val>
            <c:numLit>
              <c:formatCode>0.0</c:formatCode>
              <c:ptCount val="6"/>
              <c:pt idx="0">
                <c:v>18.69339303628</c:v>
              </c:pt>
              <c:pt idx="1">
                <c:v>21.117364064860002</c:v>
              </c:pt>
              <c:pt idx="2">
                <c:v>21.71761716544</c:v>
              </c:pt>
              <c:pt idx="3">
                <c:v>22.40761845837</c:v>
              </c:pt>
              <c:pt idx="4">
                <c:v>57.205822956949994</c:v>
              </c:pt>
              <c:pt idx="5">
                <c:v>124.12592647323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13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1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7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8D9399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6EC5E9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cat>
            <c:strLit>
              <c:ptCount val="6"/>
              <c:pt idx="0">
                <c:v>Itaú</c:v>
              </c:pt>
              <c:pt idx="1">
                <c:v>Tercon Investimentos</c:v>
              </c:pt>
              <c:pt idx="2">
                <c:v>Genial</c:v>
              </c:pt>
              <c:pt idx="3">
                <c:v>Oliveira Trust</c:v>
              </c:pt>
              <c:pt idx="4">
                <c:v>Bradesco</c:v>
              </c:pt>
              <c:pt idx="5">
                <c:v>BTG Pactual</c:v>
              </c:pt>
            </c:strLit>
          </c:cat>
          <c:val>
            <c:numLit>
              <c:formatCode>0.0</c:formatCode>
              <c:ptCount val="6"/>
              <c:pt idx="0">
                <c:v>18.875169440439997</c:v>
              </c:pt>
              <c:pt idx="1">
                <c:v>22.14586346137</c:v>
              </c:pt>
              <c:pt idx="2">
                <c:v>26.891086880550002</c:v>
              </c:pt>
              <c:pt idx="3">
                <c:v>35.02222544035998</c:v>
              </c:pt>
              <c:pt idx="4">
                <c:v>40.32919650402</c:v>
              </c:pt>
              <c:pt idx="5">
                <c:v>79.11922838494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13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1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8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73C6A1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73C6A1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A7ACB0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BEC2C5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8D9399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cat>
            <c:strLit>
              <c:ptCount val="6"/>
              <c:pt idx="0">
                <c:v>REAG</c:v>
              </c:pt>
              <c:pt idx="1">
                <c:v>CBSF</c:v>
              </c:pt>
              <c:pt idx="2">
                <c:v>Integral Investimentos</c:v>
              </c:pt>
              <c:pt idx="3">
                <c:v>Solis Investimentos</c:v>
              </c:pt>
              <c:pt idx="4">
                <c:v>Tercon Investimentos</c:v>
              </c:pt>
              <c:pt idx="5">
                <c:v>Oliveira Trust</c:v>
              </c:pt>
            </c:strLit>
          </c:cat>
          <c:val>
            <c:numLit>
              <c:formatCode>0.0</c:formatCode>
              <c:ptCount val="6"/>
              <c:pt idx="0">
                <c:v>8.217051472049999</c:v>
              </c:pt>
              <c:pt idx="1">
                <c:v>10.17441132442</c:v>
              </c:pt>
              <c:pt idx="2">
                <c:v>14.95203415536</c:v>
              </c:pt>
              <c:pt idx="3">
                <c:v>16.12591261212</c:v>
              </c:pt>
              <c:pt idx="4">
                <c:v>22.14586346137</c:v>
              </c:pt>
              <c:pt idx="5">
                <c:v>35.02222544035998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13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1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9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6EC5E9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BEC2C5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cat>
            <c:strLit>
              <c:ptCount val="7"/>
              <c:pt idx="0">
                <c:v>Itaú</c:v>
              </c:pt>
              <c:pt idx="1">
                <c:v>Genial</c:v>
              </c:pt>
              <c:pt idx="2">
                <c:v>Bradesco</c:v>
              </c:pt>
              <c:pt idx="3">
                <c:v>Daycoval</c:v>
              </c:pt>
              <c:pt idx="4">
                <c:v>Oliveira Trust</c:v>
              </c:pt>
              <c:pt idx="5">
                <c:v>QI Tech</c:v>
              </c:pt>
              <c:pt idx="6">
                <c:v>BTG Pactual</c:v>
              </c:pt>
            </c:strLit>
          </c:cat>
          <c:val>
            <c:numLit>
              <c:formatCode>0.0</c:formatCode>
              <c:ptCount val="7"/>
              <c:pt idx="0">
                <c:v>21.926715321429995</c:v>
              </c:pt>
              <c:pt idx="1">
                <c:v>41.210367862009996</c:v>
              </c:pt>
              <c:pt idx="2">
                <c:v>49.658130944339995</c:v>
              </c:pt>
              <c:pt idx="3">
                <c:v>64.38995086032001</c:v>
              </c:pt>
              <c:pt idx="4">
                <c:v>74.73806249444</c:v>
              </c:pt>
              <c:pt idx="5">
                <c:v>122.32123834260001</c:v>
              </c:pt>
              <c:pt idx="6">
                <c:v>122.70207078867999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13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1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0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454A4F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5B6065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73C6A1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6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REAG</c:v>
              </c:pt>
              <c:pt idx="4">
                <c:v>Oliveira Trust</c:v>
              </c:pt>
              <c:pt idx="5">
                <c:v>QI Tech</c:v>
              </c:pt>
            </c:strLit>
          </c:cat>
          <c:val>
            <c:numLit>
              <c:formatCode>0.0</c:formatCode>
              <c:ptCount val="6"/>
              <c:pt idx="0">
                <c:v>21.117364064860002</c:v>
              </c:pt>
              <c:pt idx="1">
                <c:v>21.72075588213</c:v>
              </c:pt>
              <c:pt idx="2">
                <c:v>22.40761845837</c:v>
              </c:pt>
              <c:pt idx="3">
                <c:v>25.148795168550002</c:v>
              </c:pt>
              <c:pt idx="4">
                <c:v>74.73806249444</c:v>
              </c:pt>
              <c:pt idx="5">
                <c:v>122.32123834260001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13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1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1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BTG Pactual</c:v>
          </c:tx>
          <c:spPr>
            <a:solidFill xmlns:a="http://schemas.openxmlformats.org/drawingml/2006/main">
              <a:srgbClr val="1D408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31.16523551990001</c:v>
              </c:pt>
              <c:pt idx="1">
                <c:v>33.64749310927</c:v>
              </c:pt>
              <c:pt idx="2">
                <c:v>34.188413197189995</c:v>
              </c:pt>
              <c:pt idx="3">
                <c:v>52.201104080029985</c:v>
              </c:pt>
            </c:numLit>
          </c:val>
        </c:ser>
        <c:ser>
          <c:idx val="1"/>
          <c:order val="1"/>
          <c:tx>
            <c:v>Itaú</c:v>
          </c:tx>
          <c:spPr>
            <a:solidFill xmlns:a="http://schemas.openxmlformats.org/drawingml/2006/main">
              <a:srgbClr val="FF55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4.3629141675</c:v>
              </c:pt>
              <c:pt idx="1">
                <c:v>4.96984899401</c:v>
              </c:pt>
              <c:pt idx="2">
                <c:v>14.07980603803</c:v>
              </c:pt>
              <c:pt idx="3">
                <c:v>11.74979193425</c:v>
              </c:pt>
            </c:numLit>
          </c:val>
        </c:ser>
        <c:ser>
          <c:idx val="2"/>
          <c:order val="2"/>
          <c:tx>
            <c:v>Santander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9.341118916700001</c:v>
              </c:pt>
              <c:pt idx="1">
                <c:v>13.862349673500002</c:v>
              </c:pt>
              <c:pt idx="2">
                <c:v>13.358226244070002</c:v>
              </c:pt>
              <c:pt idx="3">
                <c:v>13.835289126020001</c:v>
              </c:pt>
            </c:numLit>
          </c:val>
        </c:ser>
        <c:ser>
          <c:idx val="3"/>
          <c:order val="3"/>
          <c:tx>
            <c:v>Bradesco</c:v>
          </c:tx>
          <c:spPr>
            <a:solidFill xmlns:a="http://schemas.openxmlformats.org/drawingml/2006/main">
              <a:srgbClr val="454A4F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0.6403486231000001</c:v>
              </c:pt>
              <c:pt idx="1">
                <c:v>1.11949597452</c:v>
              </c:pt>
              <c:pt idx="2">
                <c:v>1.66454381844</c:v>
              </c:pt>
              <c:pt idx="3">
                <c:v>1.88389156603</c:v>
              </c:pt>
            </c:numLit>
          </c:val>
        </c:ser>
        <c:ser>
          <c:idx val="4"/>
          <c:order val="4"/>
          <c:tx>
            <c:v>Banco do Brasil</c:v>
          </c:tx>
          <c:spPr>
            <a:solidFill xmlns:a="http://schemas.openxmlformats.org/drawingml/2006/main">
              <a:srgbClr val="D6A8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0.05108505535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2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administrado</c:v>
          </c:tx>
          <c:spPr>
            <a:solidFill xmlns:a="http://schemas.openxmlformats.org/drawingml/2006/main">
              <a:srgbClr val="2456D6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2"/>
              <c:pt idx="0">
                <c:v>Singulare legado</c:v>
              </c:pt>
              <c:pt idx="1">
                <c:v>QI DTVM original</c:v>
              </c:pt>
            </c:strLit>
          </c:cat>
          <c:val>
            <c:numLit>
              <c:formatCode>0.0</c:formatCode>
              <c:ptCount val="2"/>
              <c:pt idx="0">
                <c:v>83.49494764802999</c:v>
              </c:pt>
              <c:pt idx="1">
                <c:v>3.5498953478999997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3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gerido</c:v>
          </c:tx>
          <c:spPr>
            <a:solidFill xmlns:a="http://schemas.openxmlformats.org/drawingml/2006/main">
              <a:srgbClr val="1D4080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cat>
            <c:strLit>
              <c:ptCount val="3"/>
              <c:pt idx="0">
                <c:v>BTG Pactual</c:v>
              </c:pt>
              <c:pt idx="1">
                <c:v>Bradesco</c:v>
              </c:pt>
              <c:pt idx="2">
                <c:v>BTG sem coorte bancária</c:v>
              </c:pt>
            </c:strLit>
          </c:cat>
          <c:val>
            <c:numLit>
              <c:formatCode>0.0</c:formatCode>
              <c:ptCount val="3"/>
              <c:pt idx="0">
                <c:v>79.11922838494</c:v>
              </c:pt>
              <c:pt idx="1">
                <c:v>40.32919650402</c:v>
              </c:pt>
              <c:pt idx="2">
                <c:v>27.842201097290015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% fundos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0.08029197080291971</c:v>
              </c:pt>
              <c:pt idx="1">
                <c:v>0.007770190722863198</c:v>
              </c:pt>
              <c:pt idx="2">
                <c:v>0.8102189781021898</c:v>
              </c:pt>
              <c:pt idx="3">
                <c:v>0.009182952672474688</c:v>
              </c:pt>
              <c:pt idx="4">
                <c:v>0.07558276430421473</c:v>
              </c:pt>
              <c:pt idx="5">
                <c:v>0.016953143395337884</c:v>
              </c:pt>
            </c:numLit>
          </c:val>
        </c:ser>
        <c:ser>
          <c:idx val="1"/>
          <c:order val="1"/>
          <c:tx>
            <c:v>% PL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0.3566815952743106</c:v>
              </c:pt>
              <c:pt idx="1">
                <c:v>0.025023574308591645</c:v>
              </c:pt>
              <c:pt idx="2">
                <c:v>0.5461799583736618</c:v>
              </c:pt>
              <c:pt idx="3">
                <c:v>0.008546199474819226</c:v>
              </c:pt>
              <c:pt idx="4">
                <c:v>0.051578174945170883</c:v>
              </c:pt>
              <c:pt idx="5">
                <c:v>0.011990497623445616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8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5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40,9 bi
413 · R$ 99 mi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57,2 bi
700 · R$ 82 mi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65,5 bi
771 · R$ 85 mi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numLit>
              <c:formatCode>General</c:formatCode>
              <c:ptCount val="3"/>
              <c:pt idx="0">
                <c:v>2024</c:v>
              </c:pt>
              <c:pt idx="1">
                <c:v>2025</c:v>
              </c:pt>
              <c:pt idx="2">
                <c:v>2026</c:v>
              </c:pt>
            </c:numLit>
          </c:cat>
          <c:val>
            <c:numLit>
              <c:formatCode>0.0</c:formatCode>
              <c:ptCount val="3"/>
              <c:pt idx="0">
                <c:v>40.869510061910006</c:v>
              </c:pt>
              <c:pt idx="1">
                <c:v>57.15870696836</c:v>
              </c:pt>
              <c:pt idx="2">
                <c:v>65.48811898356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6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2024</c:v>
          </c:tx>
          <c:spPr>
            <a:ln xmlns:a="http://schemas.openxmlformats.org/drawingml/2006/main"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6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</c:numLit>
          </c:xVal>
          <c:yVal>
            <c:numLit>
              <c:formatCode>0.0</c:formatCode>
              <c:ptCount val="6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</c:numLit>
          </c:yVal>
        </c:ser>
        <c:ser>
          <c:idx val="1"/>
          <c:order val="1"/>
          <c:tx>
            <c:v>2025</c:v>
          </c:tx>
          <c:spPr>
            <a:ln xmlns:a="http://schemas.openxmlformats.org/drawingml/2006/main"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6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</c:numLit>
          </c:xVal>
          <c:yVal>
            <c:numLit>
              <c:formatCode>0.0</c:formatCode>
              <c:ptCount val="6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</c:numLit>
          </c:yVal>
        </c:ser>
        <c:ser>
          <c:idx val="2"/>
          <c:order val="2"/>
          <c:tx>
            <c:v>2026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6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</c:numLit>
          </c:xVal>
          <c:yVal>
            <c:numLit>
              <c:formatCode>0.0</c:formatCode>
              <c:ptCount val="6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5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7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0.238095238095238</c:v>
              </c:pt>
              <c:pt idx="1">
                <c:v>0.254421768707483</c:v>
              </c:pt>
              <c:pt idx="2">
                <c:v>0.1632653061224489</c:v>
              </c:pt>
              <c:pt idx="3">
                <c:v>0.1578231292517006</c:v>
              </c:pt>
              <c:pt idx="4">
                <c:v>0.0952380952380952</c:v>
              </c:pt>
              <c:pt idx="5">
                <c:v>0.0666666666666666</c:v>
              </c:pt>
              <c:pt idx="6">
                <c:v>0.0244897959183673</c:v>
              </c:pt>
            </c:numLit>
          </c:val>
        </c:ser>
        <c:ser>
          <c:idx val="2"/>
          <c:order val="2"/>
          <c:tx>
            <c:v>Jan–jun/26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8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0.0103321633887131</c:v>
              </c:pt>
              <c:pt idx="1">
                <c:v>0.0361313295137315</c:v>
              </c:pt>
              <c:pt idx="2">
                <c:v>0.0618859371549046</c:v>
              </c:pt>
              <c:pt idx="3">
                <c:v>0.1088463666507672</c:v>
              </c:pt>
              <c:pt idx="4">
                <c:v>0.1257652142029994</c:v>
              </c:pt>
              <c:pt idx="5">
                <c:v>0.2452642827460449</c:v>
              </c:pt>
              <c:pt idx="6">
                <c:v>0.411774706342839</c:v>
              </c:pt>
            </c:numLit>
          </c:val>
        </c:ser>
        <c:ser>
          <c:idx val="1"/>
          <c:order val="1"/>
          <c:tx>
            <c:v>2025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0.0117887247390684</c:v>
              </c:pt>
              <c:pt idx="1">
                <c:v>0.0474678711329743</c:v>
              </c:pt>
              <c:pt idx="2">
                <c:v>0.0708186524095054</c:v>
              </c:pt>
              <c:pt idx="3">
                <c:v>0.1297476008966122</c:v>
              </c:pt>
              <c:pt idx="4">
                <c:v>0.1535056217630656</c:v>
              </c:pt>
              <c:pt idx="5">
                <c:v>0.2378348472270904</c:v>
              </c:pt>
              <c:pt idx="6">
                <c:v>0.3488366818316835</c:v>
              </c:pt>
            </c:numLit>
          </c:val>
        </c:ser>
        <c:ser>
          <c:idx val="2"/>
          <c:order val="2"/>
          <c:tx>
            <c:v>Jan–jun/26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0.0122362463084512</c:v>
              </c:pt>
              <c:pt idx="1">
                <c:v>0.0464655965907937</c:v>
              </c:pt>
              <c:pt idx="2">
                <c:v>0.0609833624673594</c:v>
              </c:pt>
              <c:pt idx="3">
                <c:v>0.1209441922159701</c:v>
              </c:pt>
              <c:pt idx="4">
                <c:v>0.1441593207615259</c:v>
              </c:pt>
              <c:pt idx="5">
                <c:v>0.1929168497919684</c:v>
              </c:pt>
              <c:pt idx="6">
                <c:v>0.4222944318639312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9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985861204.43</c:v>
              </c:pt>
              <c:pt idx="1">
                <c:v>3447533173.06</c:v>
              </c:pt>
              <c:pt idx="2">
                <c:v>5904953517.04</c:v>
              </c:pt>
              <c:pt idx="3">
                <c:v>10385763957.37</c:v>
              </c:pt>
              <c:pt idx="4">
                <c:v>12000105000.76</c:v>
              </c:pt>
              <c:pt idx="5">
                <c:v>23402314897.17</c:v>
              </c:pt>
              <c:pt idx="6">
                <c:v>39290194383.92</c:v>
              </c:pt>
            </c:numLit>
          </c:val>
        </c:ser>
        <c:ser>
          <c:idx val="1"/>
          <c:order val="1"/>
          <c:tx>
            <c:v>2025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1371598307.19</c:v>
              </c:pt>
              <c:pt idx="1">
                <c:v>5522807015.43</c:v>
              </c:pt>
              <c:pt idx="2">
                <c:v>8239631165.57</c:v>
              </c:pt>
              <c:pt idx="3">
                <c:v>15095915265.71</c:v>
              </c:pt>
              <c:pt idx="4">
                <c:v>17860121057.590004</c:v>
              </c:pt>
              <c:pt idx="5">
                <c:v>27671684687.52</c:v>
              </c:pt>
              <c:pt idx="6">
                <c:v>40586561555.76</c:v>
              </c:pt>
            </c:numLit>
          </c:val>
        </c:ser>
        <c:ser>
          <c:idx val="2"/>
          <c:order val="2"/>
          <c:tx>
            <c:v>Jan–jun/26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801328754.1599998</c:v>
              </c:pt>
              <c:pt idx="1">
                <c:v>3042944518.1800003</c:v>
              </c:pt>
              <c:pt idx="2">
                <c:v>3993685697.28</c:v>
              </c:pt>
              <c:pt idx="3">
                <c:v>7920407650.21</c:v>
              </c:pt>
              <c:pt idx="4">
                <c:v>9440722750.62</c:v>
              </c:pt>
              <c:pt idx="5">
                <c:v>12633761613.11</c:v>
              </c:pt>
              <c:pt idx="6">
                <c:v>27655268000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0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NÚMERO DE OFERTAS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8D9399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</c:formatCode>
              <c:ptCount val="3"/>
              <c:pt idx="0">
                <c:v>1009</c:v>
              </c:pt>
              <c:pt idx="1">
                <c:v>1470</c:v>
              </c:pt>
              <c:pt idx="2">
                <c:v>771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9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VOLUME REGISTRADO · R$ BI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8D9399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0.0,,,</c:formatCode>
              <c:ptCount val="3"/>
              <c:pt idx="0">
                <c:v>95416726133.75</c:v>
              </c:pt>
              <c:pt idx="1">
                <c:v>116348319054.77</c:v>
              </c:pt>
              <c:pt idx="2">
                <c:v>65488118983.56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9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2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12</c:v>
              </c:pt>
              <c:pt idx="1">
                <c:v>22</c:v>
              </c:pt>
              <c:pt idx="2">
                <c:v>737</c:v>
              </c:pt>
            </c:numLit>
          </c:val>
        </c:ser>
        <c:ser>
          <c:idx val="1"/>
          <c:order val="1"/>
          <c:tx>
            <c:v>2025FY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21</c:v>
              </c:pt>
              <c:pt idx="1">
                <c:v>50</c:v>
              </c:pt>
              <c:pt idx="2">
                <c:v>1399</c:v>
              </c:pt>
            </c:numLit>
          </c:val>
        </c:ser>
        <c:ser>
          <c:idx val="2"/>
          <c:order val="2"/>
          <c:tx>
            <c:v>2024FY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26</c:v>
              </c:pt>
              <c:pt idx="1">
                <c:v>38</c:v>
              </c:pt>
              <c:pt idx="2">
                <c:v>945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56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953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">
                <a:solidFill>
                  <a:srgbClr val="FFFFFF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3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5854000000</c:v>
              </c:pt>
              <c:pt idx="1">
                <c:v>14299992000</c:v>
              </c:pt>
              <c:pt idx="2">
                <c:v>45334126983.56</c:v>
              </c:pt>
            </c:numLit>
          </c:val>
        </c:ser>
        <c:ser>
          <c:idx val="1"/>
          <c:order val="1"/>
          <c:tx>
            <c:v>2025FY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10114776653</c:v>
              </c:pt>
              <c:pt idx="1">
                <c:v>18248092653.59</c:v>
              </c:pt>
              <c:pt idx="2">
                <c:v>87985449748.18</c:v>
              </c:pt>
            </c:numLit>
          </c:val>
        </c:ser>
        <c:ser>
          <c:idx val="2"/>
          <c:order val="2"/>
          <c:tx>
            <c:v>2024FY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12379296999.96</c:v>
              </c:pt>
              <c:pt idx="1">
                <c:v>13696583000</c:v>
              </c:pt>
              <c:pt idx="2">
                <c:v>69340846133.79001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56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b"/>
        <c:numFmt formatCode="0.0,,,"/>
        <c:majorTickMark val="none"/>
        <c:minorTickMark val="none"/>
        <c:spPr>
          <a:ln xmlns:a="http://schemas.openxmlformats.org/drawingml/2006/main" w="953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">
                <a:solidFill>
                  <a:srgbClr val="FFFFFF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4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0.6782283246807754</c:v>
              </c:pt>
              <c:pt idx="1">
                <c:v>0.2831240514453489</c:v>
              </c:pt>
              <c:pt idx="2">
                <c:v>0.147473411114316</c:v>
              </c:pt>
              <c:pt idx="3">
                <c:v>0.0555263851137853</c:v>
              </c:pt>
              <c:pt idx="4">
                <c:v>0.0691691486679832</c:v>
              </c:pt>
              <c:pt idx="5">
                <c:v>0.0383225339956283</c:v>
              </c:pt>
              <c:pt idx="6">
                <c:v>0</c:v>
              </c:pt>
              <c:pt idx="7">
                <c:v>0.0450938092637845</c:v>
              </c:pt>
              <c:pt idx="8">
                <c:v>0</c:v>
              </c:pt>
              <c:pt idx="9">
                <c:v>0.2264353570509752</c:v>
              </c:pt>
              <c:pt idx="10">
                <c:v>0.0918908689514907</c:v>
              </c:pt>
              <c:pt idx="11">
                <c:v>0.0473805402449094</c:v>
              </c:pt>
              <c:pt idx="12">
                <c:v>0.2029820123277025</c:v>
              </c:pt>
              <c:pt idx="13">
                <c:v>0.1116763306350601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8539026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6509164008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0.0085369657675623</c:v>
              </c:pt>
              <c:pt idx="1">
                <c:v>0</c:v>
              </c:pt>
              <c:pt idx="2">
                <c:v>0.1724291641953616</c:v>
              </c:pt>
              <c:pt idx="3">
                <c:v>0.2863850373099147</c:v>
              </c:pt>
              <c:pt idx="4">
                <c:v>0.0195092264928632</c:v>
              </c:pt>
              <c:pt idx="5">
                <c:v>0.1107504103483613</c:v>
              </c:pt>
              <c:pt idx="6">
                <c:v>0.0102292194766519</c:v>
              </c:pt>
              <c:pt idx="7">
                <c:v>0.2571654070720304</c:v>
              </c:pt>
              <c:pt idx="8">
                <c:v>0.0069816719837632</c:v>
              </c:pt>
              <c:pt idx="9">
                <c:v>0.0636220792622765</c:v>
              </c:pt>
              <c:pt idx="10">
                <c:v>0.0352039450932765</c:v>
              </c:pt>
              <c:pt idx="11">
                <c:v>0.0391221710404121</c:v>
              </c:pt>
              <c:pt idx="12">
                <c:v>0.269028508380686</c:v>
              </c:pt>
              <c:pt idx="13">
                <c:v>0.1390963456785791</c:v>
              </c:pt>
            </c:numLit>
          </c:val>
        </c:ser>
        <c:ser>
          <c:idx val="2"/>
          <c:order val="2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0.0060998187147488</c:v>
              </c:pt>
              <c:pt idx="1">
                <c:v>0.0314129103166631</c:v>
              </c:pt>
              <c:pt idx="2">
                <c:v>0.057791127730592</c:v>
              </c:pt>
              <c:pt idx="3">
                <c:v>0.1003776283557518</c:v>
              </c:pt>
              <c:pt idx="4">
                <c:v>0.0518572977986845</c:v>
              </c:pt>
              <c:pt idx="5">
                <c:v>0.1576375144502833</c:v>
              </c:pt>
              <c:pt idx="6">
                <c:v>0.0563502288601275</c:v>
              </c:pt>
              <c:pt idx="7">
                <c:v>0.0121996377120526</c:v>
              </c:pt>
              <c:pt idx="8">
                <c:v>0.0953592279385335</c:v>
              </c:pt>
              <c:pt idx="9">
                <c:v>0.2191987728818734</c:v>
              </c:pt>
              <c:pt idx="10">
                <c:v>0.0851975999676302</c:v>
              </c:pt>
              <c:pt idx="11">
                <c:v>0.0775017988341624</c:v>
              </c:pt>
              <c:pt idx="12">
                <c:v>0.0561734532046676</c:v>
              </c:pt>
              <c:pt idx="13">
                <c:v>0.0840999608667202</c:v>
              </c:pt>
            </c:numLit>
          </c:val>
        </c:ser>
        <c:ser>
          <c:idx val="3"/>
          <c:order val="3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0.009628795711521</c:v>
              </c:pt>
              <c:pt idx="1">
                <c:v>0.210187707644898</c:v>
              </c:pt>
              <c:pt idx="2">
                <c:v>0.3817969787486183</c:v>
              </c:pt>
              <c:pt idx="3">
                <c:v>0.253591336198019</c:v>
              </c:pt>
              <c:pt idx="4">
                <c:v>0</c:v>
              </c:pt>
              <c:pt idx="5">
                <c:v>0.0746723052215733</c:v>
              </c:pt>
              <c:pt idx="6">
                <c:v>0.2170108713330027</c:v>
              </c:pt>
              <c:pt idx="7">
                <c:v>0.0718716845273516</c:v>
              </c:pt>
              <c:pt idx="8">
                <c:v>0.3321544424965538</c:v>
              </c:pt>
              <c:pt idx="9">
                <c:v>0.0268117805118336</c:v>
              </c:pt>
              <c:pt idx="10">
                <c:v>0.1026720112420221</c:v>
              </c:pt>
              <c:pt idx="11">
                <c:v>0</c:v>
              </c:pt>
              <c:pt idx="12">
                <c:v>0.0533268146890519</c:v>
              </c:pt>
              <c:pt idx="13">
                <c:v>0.0146265486635242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-0.018"/>
                  <c:y val="0.00373374891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0.0225383075558926</c:v>
              </c:pt>
              <c:pt idx="1">
                <c:v>0</c:v>
              </c:pt>
              <c:pt idx="2">
                <c:v>6.26366904154456E-05</c:v>
              </c:pt>
              <c:pt idx="3">
                <c:v>0</c:v>
              </c:pt>
              <c:pt idx="4">
                <c:v>0.4931230015075811</c:v>
              </c:pt>
              <c:pt idx="5">
                <c:v>0.1403255782349483</c:v>
              </c:pt>
              <c:pt idx="6">
                <c:v>0</c:v>
              </c:pt>
              <c:pt idx="7">
                <c:v>0.1478667482986454</c:v>
              </c:pt>
              <c:pt idx="8">
                <c:v>0.1537184307008739</c:v>
              </c:pt>
              <c:pt idx="9">
                <c:v>0</c:v>
              </c:pt>
              <c:pt idx="10">
                <c:v>0.0295771875973997</c:v>
              </c:pt>
              <c:pt idx="11">
                <c:v>0.0012377170662472</c:v>
              </c:pt>
              <c:pt idx="12">
                <c:v>0.0089665861260677</c:v>
              </c:pt>
              <c:pt idx="13">
                <c:v>0.0600546511336937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0.0014290426740686</c:v>
              </c:pt>
              <c:pt idx="1">
                <c:v>0.0954434490174933</c:v>
              </c:pt>
              <c:pt idx="2">
                <c:v>0.0120227027155969</c:v>
              </c:pt>
              <c:pt idx="3">
                <c:v>0.2292028070380465</c:v>
              </c:pt>
              <c:pt idx="4">
                <c:v>0</c:v>
              </c:pt>
              <c:pt idx="5">
                <c:v>0.1266642208703755</c:v>
              </c:pt>
              <c:pt idx="6">
                <c:v>0.0801521194835746</c:v>
              </c:pt>
              <c:pt idx="7">
                <c:v>0.0938211651306432</c:v>
              </c:pt>
              <c:pt idx="8">
                <c:v>0.0222904487757394</c:v>
              </c:pt>
              <c:pt idx="9">
                <c:v>0.0947363671905799</c:v>
              </c:pt>
              <c:pt idx="10">
                <c:v>0.0517280519093443</c:v>
              </c:pt>
              <c:pt idx="11">
                <c:v>0.0163574722030135</c:v>
              </c:pt>
              <c:pt idx="12">
                <c:v>0.0148724022126697</c:v>
              </c:pt>
              <c:pt idx="13">
                <c:v>0.0452554036899924</c:v>
              </c:pt>
            </c:numLit>
          </c:val>
        </c:ser>
        <c:ser>
          <c:idx val="6"/>
          <c:order val="6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layout>
                <c:manualLayout>
                  <c:x val="0.018"/>
                  <c:y val="0.001549977204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0.0093365494192045</c:v>
              </c:pt>
              <c:pt idx="1">
                <c:v>0.1227393200815646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0.0006615413000011</c:v>
              </c:pt>
              <c:pt idx="6">
                <c:v>0.0810581734428378</c:v>
              </c:pt>
              <c:pt idx="7">
                <c:v>0.0435322365450096</c:v>
              </c:pt>
              <c:pt idx="8">
                <c:v>0</c:v>
              </c:pt>
              <c:pt idx="9">
                <c:v>0.1013743858313278</c:v>
              </c:pt>
              <c:pt idx="10">
                <c:v>0</c:v>
              </c:pt>
              <c:pt idx="11">
                <c:v>0</c:v>
              </c:pt>
              <c:pt idx="12">
                <c:v>0.0195927534357799</c:v>
              </c:pt>
              <c:pt idx="13">
                <c:v>0.0679529812812936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0.0308583999379698</c:v>
              </c:pt>
              <c:pt idx="1">
                <c:v>0.0011602353362383</c:v>
              </c:pt>
              <c:pt idx="2">
                <c:v>0</c:v>
              </c:pt>
              <c:pt idx="3">
                <c:v>0.0030735686210584</c:v>
              </c:pt>
              <c:pt idx="4">
                <c:v>0</c:v>
              </c:pt>
              <c:pt idx="5">
                <c:v>0.0003689936710498</c:v>
              </c:pt>
              <c:pt idx="6">
                <c:v>0</c:v>
              </c:pt>
              <c:pt idx="7">
                <c:v>0.0377896853506274</c:v>
              </c:pt>
              <c:pt idx="8">
                <c:v>0.0061406084215763</c:v>
              </c:pt>
              <c:pt idx="9">
                <c:v>0.1183666540018785</c:v>
              </c:pt>
              <c:pt idx="10">
                <c:v>0.1745723336276446</c:v>
              </c:pt>
              <c:pt idx="11">
                <c:v>0</c:v>
              </c:pt>
              <c:pt idx="12">
                <c:v>0</c:v>
              </c:pt>
              <c:pt idx="13">
                <c:v>0.0390778868680176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0.0042743795995927</c:v>
              </c:pt>
              <c:pt idx="1">
                <c:v>0.0719893561435586</c:v>
              </c:pt>
              <c:pt idx="2">
                <c:v>0.010458370410723</c:v>
              </c:pt>
              <c:pt idx="3">
                <c:v>0.000517442092016</c:v>
              </c:pt>
              <c:pt idx="4">
                <c:v>0.0013353036335097</c:v>
              </c:pt>
              <c:pt idx="5">
                <c:v>0.0823562202432192</c:v>
              </c:pt>
              <c:pt idx="6">
                <c:v>0.0729485428985306</c:v>
              </c:pt>
              <c:pt idx="7">
                <c:v>0.0026200048135162</c:v>
              </c:pt>
              <c:pt idx="8">
                <c:v>0.053110144728145</c:v>
              </c:pt>
              <c:pt idx="9">
                <c:v>0.0083461717733962</c:v>
              </c:pt>
              <c:pt idx="10">
                <c:v>0.0560386356538572</c:v>
              </c:pt>
              <c:pt idx="11">
                <c:v>0.1334325730903025</c:v>
              </c:pt>
              <c:pt idx="12">
                <c:v>0.0878398045610501</c:v>
              </c:pt>
              <c:pt idx="13">
                <c:v>0.0256229759264469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0.0407324745725011</c:v>
              </c:pt>
              <c:pt idx="1">
                <c:v>0.0052736633265841</c:v>
              </c:pt>
              <c:pt idx="2">
                <c:v>0.0672969122518684</c:v>
              </c:pt>
              <c:pt idx="3">
                <c:v>0.006670926137507</c:v>
              </c:pt>
              <c:pt idx="4">
                <c:v>0</c:v>
              </c:pt>
              <c:pt idx="5">
                <c:v>0.0163428047472977</c:v>
              </c:pt>
              <c:pt idx="6">
                <c:v>0.0026085934051519</c:v>
              </c:pt>
              <c:pt idx="7">
                <c:v>0.041430326101634</c:v>
              </c:pt>
              <c:pt idx="8">
                <c:v>0.0646612509279826</c:v>
              </c:pt>
              <c:pt idx="9">
                <c:v>0</c:v>
              </c:pt>
              <c:pt idx="10">
                <c:v>0.088274982113552</c:v>
              </c:pt>
              <c:pt idx="11">
                <c:v>0.0002506895357074</c:v>
              </c:pt>
              <c:pt idx="12">
                <c:v>0.0006624396052901</c:v>
              </c:pt>
              <c:pt idx="13">
                <c:v>0.0265752299531593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0.188336941366163</c:v>
              </c:pt>
              <c:pt idx="1">
                <c:v>0.1786693066876506</c:v>
              </c:pt>
              <c:pt idx="2">
                <c:v>0.1506686961425081</c:v>
              </c:pt>
              <c:pt idx="3">
                <c:v>0.0646548691339009</c:v>
              </c:pt>
              <c:pt idx="4">
                <c:v>0.3650060218993778</c:v>
              </c:pt>
              <c:pt idx="5">
                <c:v>0.2518978769172617</c:v>
              </c:pt>
              <c:pt idx="6">
                <c:v>0.4796422511001229</c:v>
              </c:pt>
              <c:pt idx="7">
                <c:v>0.2466092951847047</c:v>
              </c:pt>
              <c:pt idx="8">
                <c:v>0.2655837740268318</c:v>
              </c:pt>
              <c:pt idx="9">
                <c:v>0.1411084314958586</c:v>
              </c:pt>
              <c:pt idx="10">
                <c:v>0.2848443838437823</c:v>
              </c:pt>
              <c:pt idx="11">
                <c:v>0.6847170379852451</c:v>
              </c:pt>
              <c:pt idx="12">
                <c:v>0.286555225457034</c:v>
              </c:pt>
              <c:pt idx="13">
                <c:v>0.3859616853035125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5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.019373735004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.014360856910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.017553400999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0.0012525299906187</c:v>
              </c:pt>
              <c:pt idx="1">
                <c:v>0</c:v>
              </c:pt>
              <c:pt idx="2">
                <c:v>0.1625107590450419</c:v>
              </c:pt>
              <c:pt idx="3">
                <c:v>0.2758716420451991</c:v>
              </c:pt>
              <c:pt idx="4">
                <c:v>0</c:v>
              </c:pt>
              <c:pt idx="5">
                <c:v>0.0462427868594103</c:v>
              </c:pt>
              <c:pt idx="6">
                <c:v>0</c:v>
              </c:pt>
              <c:pt idx="7">
                <c:v>0.2535264495160129</c:v>
              </c:pt>
              <c:pt idx="8">
                <c:v>0.1537184307008739</c:v>
              </c:pt>
              <c:pt idx="9">
                <c:v>0.0112782861788371</c:v>
              </c:pt>
              <c:pt idx="10">
                <c:v>0.0314890119720234</c:v>
              </c:pt>
              <c:pt idx="11">
                <c:v>0.0048931980001534</c:v>
              </c:pt>
              <c:pt idx="12">
                <c:v>0.0726718301479003</c:v>
              </c:pt>
              <c:pt idx="13">
                <c:v>0.0500957774921574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.0074783162314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0.0225383075558926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0.4116196761376808</c:v>
              </c:pt>
              <c:pt idx="5">
                <c:v>0.1379781899976271</c:v>
              </c:pt>
              <c:pt idx="6">
                <c:v>0</c:v>
              </c:pt>
              <c:pt idx="7">
                <c:v>0.0909821352025632</c:v>
              </c:pt>
              <c:pt idx="8">
                <c:v>0</c:v>
              </c:pt>
              <c:pt idx="9">
                <c:v>0</c:v>
              </c:pt>
              <c:pt idx="10">
                <c:v>0.0295771875973997</c:v>
              </c:pt>
              <c:pt idx="11">
                <c:v>0</c:v>
              </c:pt>
              <c:pt idx="12">
                <c:v>0.0089665861260677</c:v>
              </c:pt>
              <c:pt idx="13">
                <c:v>0.0469523725398685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"/>
                  <c:y val="0.0072433569168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0.0007064267423984</c:v>
              </c:pt>
              <c:pt idx="1">
                <c:v>0.0399878754183617</c:v>
              </c:pt>
              <c:pt idx="2">
                <c:v>0.2787068023830595</c:v>
              </c:pt>
              <c:pt idx="3">
                <c:v>0.1937323312865176</c:v>
              </c:pt>
              <c:pt idx="4">
                <c:v>0</c:v>
              </c:pt>
              <c:pt idx="5">
                <c:v>0.0481316360628852</c:v>
              </c:pt>
              <c:pt idx="6">
                <c:v>0.126791509057339</c:v>
              </c:pt>
              <c:pt idx="7">
                <c:v>0.0510761668947442</c:v>
              </c:pt>
              <c:pt idx="8">
                <c:v>0.046663448988578</c:v>
              </c:pt>
              <c:pt idx="9">
                <c:v>0.0029567138086895</c:v>
              </c:pt>
              <c:pt idx="10">
                <c:v>0.0090278528000783</c:v>
              </c:pt>
              <c:pt idx="11">
                <c:v>0</c:v>
              </c:pt>
              <c:pt idx="12">
                <c:v>0.0319409306110538</c:v>
              </c:pt>
              <c:pt idx="13">
                <c:v>0.0019669412013587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.018"/>
                  <c:y val="0.0030398527386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0.0106586751100265</c:v>
              </c:pt>
              <c:pt idx="2">
                <c:v>0</c:v>
              </c:pt>
              <c:pt idx="3">
                <c:v>0.0942677758415833</c:v>
              </c:pt>
              <c:pt idx="4">
                <c:v>0</c:v>
              </c:pt>
              <c:pt idx="5">
                <c:v>0.1081333878129026</c:v>
              </c:pt>
              <c:pt idx="6">
                <c:v>0</c:v>
              </c:pt>
              <c:pt idx="7">
                <c:v>0.0733873168779346</c:v>
              </c:pt>
              <c:pt idx="8">
                <c:v>0.0001522837473257</c:v>
              </c:pt>
              <c:pt idx="9">
                <c:v>0.005450294547657</c:v>
              </c:pt>
              <c:pt idx="10">
                <c:v>0</c:v>
              </c:pt>
              <c:pt idx="11">
                <c:v>0</c:v>
              </c:pt>
              <c:pt idx="12">
                <c:v>0.0014030424128084</c:v>
              </c:pt>
              <c:pt idx="13">
                <c:v>0.0220612214253641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0.2254820036895443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0.0024475116853231</c:v>
              </c:pt>
              <c:pt idx="6">
                <c:v>0</c:v>
              </c:pt>
              <c:pt idx="7">
                <c:v>0.0044598510745928</c:v>
              </c:pt>
              <c:pt idx="8">
                <c:v>0.0089359813995084</c:v>
              </c:pt>
              <c:pt idx="9">
                <c:v>0</c:v>
              </c:pt>
              <c:pt idx="10">
                <c:v>0.0115869717776985</c:v>
              </c:pt>
              <c:pt idx="11">
                <c:v>0</c:v>
              </c:pt>
              <c:pt idx="12">
                <c:v>0</c:v>
              </c:pt>
              <c:pt idx="13">
                <c:v>0.006031214274127</c:v>
              </c:pt>
            </c:numLit>
          </c:val>
        </c:ser>
        <c:ser>
          <c:idx val="5"/>
          <c:order val="5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0.1028786530413462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0.0810581734428378</c:v>
              </c:pt>
              <c:pt idx="7">
                <c:v>0.0171026340935401</c:v>
              </c:pt>
              <c:pt idx="8">
                <c:v>0</c:v>
              </c:pt>
              <c:pt idx="9">
                <c:v>0.1004163448849682</c:v>
              </c:pt>
              <c:pt idx="10">
                <c:v>0</c:v>
              </c:pt>
              <c:pt idx="11">
                <c:v>0</c:v>
              </c:pt>
              <c:pt idx="12">
                <c:v>0.0258977954276094</c:v>
              </c:pt>
              <c:pt idx="13">
                <c:v>0.0450847430474019</c:v>
              </c:pt>
            </c:numLit>
          </c:val>
        </c:ser>
        <c:ser>
          <c:idx val="6"/>
          <c:order val="6"/>
          <c:tx>
            <c:v>Solis Investimentos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.014981457232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0.0353488694975699</c:v>
              </c:pt>
              <c:pt idx="1">
                <c:v>0</c:v>
              </c:pt>
              <c:pt idx="2">
                <c:v>0.0727799865103882</c:v>
              </c:pt>
              <c:pt idx="3">
                <c:v>0.0213932153161958</c:v>
              </c:pt>
              <c:pt idx="4">
                <c:v>0</c:v>
              </c:pt>
              <c:pt idx="5">
                <c:v>0.0170236300688781</c:v>
              </c:pt>
              <c:pt idx="6">
                <c:v>0</c:v>
              </c:pt>
              <c:pt idx="7">
                <c:v>0.0103281819969092</c:v>
              </c:pt>
              <c:pt idx="8">
                <c:v>0.0471192664026394</c:v>
              </c:pt>
              <c:pt idx="9">
                <c:v>0</c:v>
              </c:pt>
              <c:pt idx="10">
                <c:v>0.0047678128094529</c:v>
              </c:pt>
              <c:pt idx="11">
                <c:v>0.0002506895357074</c:v>
              </c:pt>
              <c:pt idx="12">
                <c:v>0.0006624396052901</c:v>
              </c:pt>
              <c:pt idx="13">
                <c:v>0.0205891110813994</c:v>
              </c:pt>
            </c:numLit>
          </c:val>
        </c:ser>
        <c:ser>
          <c:idx val="7"/>
          <c:order val="7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.008565772027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0.0888616776787807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0.0070214132164745</c:v>
              </c:pt>
              <c:pt idx="6">
                <c:v>0</c:v>
              </c:pt>
              <c:pt idx="7">
                <c:v>0.0921407401194705</c:v>
              </c:pt>
              <c:pt idx="8">
                <c:v>0</c:v>
              </c:pt>
              <c:pt idx="9">
                <c:v>0</c:v>
              </c:pt>
              <c:pt idx="10">
                <c:v>0.0111310339707986</c:v>
              </c:pt>
              <c:pt idx="11">
                <c:v>0</c:v>
              </c:pt>
              <c:pt idx="12">
                <c:v>0.0642625485190267</c:v>
              </c:pt>
              <c:pt idx="13">
                <c:v>0.0124160176066826</c:v>
              </c:pt>
            </c:numLit>
          </c:val>
        </c:ser>
        <c:ser>
          <c:idx val="8"/>
          <c:order val="8"/>
          <c:tx>
            <c:v>Integral Investimentos</c:v>
          </c:tx>
          <c:spPr>
            <a:solidFill>
              <a:srgbClr val="A7ACB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.0063792149299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0.0058311829957581</c:v>
              </c:pt>
              <c:pt idx="1">
                <c:v>0</c:v>
              </c:pt>
              <c:pt idx="2">
                <c:v>0.0074072330689735</c:v>
              </c:pt>
              <c:pt idx="3">
                <c:v>0.0020264986777547</c:v>
              </c:pt>
              <c:pt idx="4">
                <c:v>0.3970784801516897</c:v>
              </c:pt>
              <c:pt idx="5">
                <c:v>0.0067039718840054</c:v>
              </c:pt>
              <c:pt idx="6">
                <c:v>0</c:v>
              </c:pt>
              <c:pt idx="7">
                <c:v>0.072361729110744</c:v>
              </c:pt>
              <c:pt idx="8">
                <c:v>0.0559076995390602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0.0056678347405107</c:v>
              </c:pt>
            </c:numLit>
          </c:val>
        </c:ser>
        <c:ser>
          <c:idx val="9"/>
          <c:order val="9"/>
          <c:tx>
            <c:v>Anga Administracao De Recursos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.0025372364845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0.0031211412936085</c:v>
              </c:pt>
              <c:pt idx="1">
                <c:v>0</c:v>
              </c:pt>
              <c:pt idx="2">
                <c:v>0.0112116853396112</c:v>
              </c:pt>
              <c:pt idx="3">
                <c:v>0.0996900292425515</c:v>
              </c:pt>
              <c:pt idx="4">
                <c:v>0.0012378025558711</c:v>
              </c:pt>
              <c:pt idx="5">
                <c:v>0.0644142962449783</c:v>
              </c:pt>
              <c:pt idx="6">
                <c:v>0</c:v>
              </c:pt>
              <c:pt idx="7">
                <c:v>0.0018544989739266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0.0081687112550485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0.7049428932208924</c:v>
              </c:pt>
              <c:pt idx="1">
                <c:v>0.7576131187514845</c:v>
              </c:pt>
              <c:pt idx="2">
                <c:v>0.4673208969625101</c:v>
              </c:pt>
              <c:pt idx="3">
                <c:v>0.3130185075901977</c:v>
              </c:pt>
              <c:pt idx="4">
                <c:v>0.190064041154758</c:v>
              </c:pt>
              <c:pt idx="5">
                <c:v>0.5619031761675151</c:v>
              </c:pt>
              <c:pt idx="6">
                <c:v>0.7921503174998235</c:v>
              </c:pt>
              <c:pt idx="7">
                <c:v>0.3287800173132373</c:v>
              </c:pt>
              <c:pt idx="8">
                <c:v>0.6875028892220143</c:v>
              </c:pt>
              <c:pt idx="9">
                <c:v>0.803030339883502</c:v>
              </c:pt>
              <c:pt idx="10">
                <c:v>0.9024201290725482</c:v>
              </c:pt>
              <c:pt idx="11">
                <c:v>0.9948561124641392</c:v>
              </c:pt>
              <c:pt idx="12">
                <c:v>0.7941948271502433</c:v>
              </c:pt>
              <c:pt idx="13">
                <c:v>0.7803731753534665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.018"/>
                  <c:y val="-0.019611677493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-0.0199686816548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-0.01799986058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-0.019703560008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0.0007766450137169</c:v>
              </c:pt>
              <c:pt idx="1">
                <c:v>0</c:v>
              </c:pt>
              <c:pt idx="2">
                <c:v>6.26366904154456E-05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0.0040002788263241</c:v>
              </c:pt>
              <c:pt idx="8">
                <c:v>0</c:v>
              </c:pt>
              <c:pt idx="9">
                <c:v>0.076868020696346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0.0005928799826141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6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.01864710861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.010245386753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8539026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6509164008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0.0027057827718041</c:v>
              </c:pt>
              <c:pt idx="1">
                <c:v>0</c:v>
              </c:pt>
              <c:pt idx="2">
                <c:v>0.1724291641953616</c:v>
              </c:pt>
              <c:pt idx="3">
                <c:v>0.2863850373099147</c:v>
              </c:pt>
              <c:pt idx="4">
                <c:v>0.0195092264928632</c:v>
              </c:pt>
              <c:pt idx="5">
                <c:v>0.1107504103483613</c:v>
              </c:pt>
              <c:pt idx="6">
                <c:v>0.0102292194766519</c:v>
              </c:pt>
              <c:pt idx="7">
                <c:v>0.2571654070720304</c:v>
              </c:pt>
              <c:pt idx="8">
                <c:v>0.0069816719837632</c:v>
              </c:pt>
              <c:pt idx="9">
                <c:v>0.0636220792622765</c:v>
              </c:pt>
              <c:pt idx="10">
                <c:v>0.0352039450932765</c:v>
              </c:pt>
              <c:pt idx="11">
                <c:v>0.0391221710404121</c:v>
              </c:pt>
              <c:pt idx="12">
                <c:v>0.269028508380686</c:v>
              </c:pt>
              <c:pt idx="13">
                <c:v>0.1385988512304118</c:v>
              </c:pt>
            </c:numLit>
          </c:val>
        </c:ser>
        <c:ser>
          <c:idx val="1"/>
          <c:order val="1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0.6759912968773222</c:v>
              </c:pt>
              <c:pt idx="1">
                <c:v>0.2831240514453489</c:v>
              </c:pt>
              <c:pt idx="2">
                <c:v>0.1466552426267883</c:v>
              </c:pt>
              <c:pt idx="3">
                <c:v>0.0500143231646444</c:v>
              </c:pt>
              <c:pt idx="4">
                <c:v>0.0691691486679832</c:v>
              </c:pt>
              <c:pt idx="5">
                <c:v>0.0382941953359548</c:v>
              </c:pt>
              <c:pt idx="6">
                <c:v>0</c:v>
              </c:pt>
              <c:pt idx="7">
                <c:v>0.0451499232981444</c:v>
              </c:pt>
              <c:pt idx="8">
                <c:v>0</c:v>
              </c:pt>
              <c:pt idx="9">
                <c:v>0.1510800867413979</c:v>
              </c:pt>
              <c:pt idx="10">
                <c:v>0.0918908689514907</c:v>
              </c:pt>
              <c:pt idx="11">
                <c:v>0.0473805402449094</c:v>
              </c:pt>
              <c:pt idx="12">
                <c:v>0.2029820123277025</c:v>
              </c:pt>
              <c:pt idx="13">
                <c:v>0.1110650498414056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0.0271351448333965</c:v>
              </c:pt>
              <c:pt idx="1">
                <c:v>0.2481574168942679</c:v>
              </c:pt>
              <c:pt idx="2">
                <c:v>0.3827649209165106</c:v>
              </c:pt>
              <c:pt idx="3">
                <c:v>0.254399426087156</c:v>
              </c:pt>
              <c:pt idx="4">
                <c:v>0.014041110348548</c:v>
              </c:pt>
              <c:pt idx="5">
                <c:v>0.0746723052215733</c:v>
              </c:pt>
              <c:pt idx="6">
                <c:v>0.2448971414342989</c:v>
              </c:pt>
              <c:pt idx="7">
                <c:v>0.1734502780656785</c:v>
              </c:pt>
              <c:pt idx="8">
                <c:v>0.3321544424965538</c:v>
              </c:pt>
              <c:pt idx="9">
                <c:v>0.0268117805118336</c:v>
              </c:pt>
              <c:pt idx="10">
                <c:v>0.1026720112420221</c:v>
              </c:pt>
              <c:pt idx="11">
                <c:v>0</c:v>
              </c:pt>
              <c:pt idx="12">
                <c:v>0.0285286777700744</c:v>
              </c:pt>
              <c:pt idx="13">
                <c:v>0.0367401725104139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0.0060998187147488</c:v>
              </c:pt>
              <c:pt idx="1">
                <c:v>0.0314129103166631</c:v>
              </c:pt>
              <c:pt idx="2">
                <c:v>0.057791127730592</c:v>
              </c:pt>
              <c:pt idx="3">
                <c:v>0.1003776283557518</c:v>
              </c:pt>
              <c:pt idx="4">
                <c:v>0.0518572977986845</c:v>
              </c:pt>
              <c:pt idx="5">
                <c:v>0.1662834134085645</c:v>
              </c:pt>
              <c:pt idx="6">
                <c:v>0.0563502288601275</c:v>
              </c:pt>
              <c:pt idx="7">
                <c:v>0.0338901250913308</c:v>
              </c:pt>
              <c:pt idx="8">
                <c:v>0.0925444086270469</c:v>
              </c:pt>
              <c:pt idx="9">
                <c:v>0.2191987728818734</c:v>
              </c:pt>
              <c:pt idx="10">
                <c:v>0.1894161385363026</c:v>
              </c:pt>
              <c:pt idx="11">
                <c:v>0.0775017988341624</c:v>
              </c:pt>
              <c:pt idx="12">
                <c:v>0.0561734532046676</c:v>
              </c:pt>
              <c:pt idx="13">
                <c:v>0.0901371033135809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0.0170780158717631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0.4931230015075811</c:v>
              </c:pt>
              <c:pt idx="5">
                <c:v>0.1399668200066018</c:v>
              </c:pt>
              <c:pt idx="6">
                <c:v>0.1284482453683068</c:v>
              </c:pt>
              <c:pt idx="7">
                <c:v>0.1117385096852637</c:v>
              </c:pt>
              <c:pt idx="8">
                <c:v>0.1565332500123605</c:v>
              </c:pt>
              <c:pt idx="9">
                <c:v>0</c:v>
              </c:pt>
              <c:pt idx="10">
                <c:v>0.0295771875973997</c:v>
              </c:pt>
              <c:pt idx="11">
                <c:v>0.0012377170662472</c:v>
              </c:pt>
              <c:pt idx="12">
                <c:v>0.0337647230450451</c:v>
              </c:pt>
              <c:pt idx="13">
                <c:v>0.0600546511336937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0.0014290426740686</c:v>
              </c:pt>
              <c:pt idx="1">
                <c:v>0.0954434490174933</c:v>
              </c:pt>
              <c:pt idx="2">
                <c:v>0.0120227027155969</c:v>
              </c:pt>
              <c:pt idx="3">
                <c:v>0.1377649003513394</c:v>
              </c:pt>
              <c:pt idx="4">
                <c:v>0</c:v>
              </c:pt>
              <c:pt idx="5">
                <c:v>0.1266642208703755</c:v>
              </c:pt>
              <c:pt idx="6">
                <c:v>0.0801521194835746</c:v>
              </c:pt>
              <c:pt idx="7">
                <c:v>0.0924387555066889</c:v>
              </c:pt>
              <c:pt idx="8">
                <c:v>0.0222904487757394</c:v>
              </c:pt>
              <c:pt idx="9">
                <c:v>0.0932236168038112</c:v>
              </c:pt>
              <c:pt idx="10">
                <c:v>0.0517280519093443</c:v>
              </c:pt>
              <c:pt idx="11">
                <c:v>0.0163574722030135</c:v>
              </c:pt>
              <c:pt idx="12">
                <c:v>0.0148724022126697</c:v>
              </c:pt>
              <c:pt idx="13">
                <c:v>0.0341699412912885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layout>
                <c:manualLayout>
                  <c:x val="0"/>
                  <c:y val="0.013350666946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0.0001847303014918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0.0013441224672684</c:v>
              </c:pt>
              <c:pt idx="6">
                <c:v>0</c:v>
              </c:pt>
              <c:pt idx="7">
                <c:v>1.9023858238375103E-05</c:v>
              </c:pt>
              <c:pt idx="8">
                <c:v>0.0029359315231281</c:v>
              </c:pt>
              <c:pt idx="9">
                <c:v>0</c:v>
              </c:pt>
              <c:pt idx="10">
                <c:v>0</c:v>
              </c:pt>
              <c:pt idx="11">
                <c:v>0.0446982964925705</c:v>
              </c:pt>
              <c:pt idx="12">
                <c:v>0.0475501029412941</c:v>
              </c:pt>
              <c:pt idx="13">
                <c:v>0.0766621333152516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0.0308583999379698</c:v>
              </c:pt>
              <c:pt idx="1">
                <c:v>0.0011602353362383</c:v>
              </c:pt>
              <c:pt idx="2">
                <c:v>0</c:v>
              </c:pt>
              <c:pt idx="3">
                <c:v>0.0030735686210584</c:v>
              </c:pt>
              <c:pt idx="4">
                <c:v>0</c:v>
              </c:pt>
              <c:pt idx="5">
                <c:v>0.0003689936710498</c:v>
              </c:pt>
              <c:pt idx="6">
                <c:v>0</c:v>
              </c:pt>
              <c:pt idx="7">
                <c:v>0.0377896853506274</c:v>
              </c:pt>
              <c:pt idx="8">
                <c:v>0.0061406084215763</c:v>
              </c:pt>
              <c:pt idx="9">
                <c:v>0.1183666540018785</c:v>
              </c:pt>
              <c:pt idx="10">
                <c:v>0.1745723336276446</c:v>
              </c:pt>
              <c:pt idx="11">
                <c:v>0</c:v>
              </c:pt>
              <c:pt idx="12">
                <c:v>0</c:v>
              </c:pt>
              <c:pt idx="13">
                <c:v>0.0390778868680176</c:v>
              </c:pt>
            </c:numLit>
          </c:val>
        </c:ser>
        <c:ser>
          <c:idx val="8"/>
          <c:order val="8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0.0093365494192045</c:v>
              </c:pt>
              <c:pt idx="1">
                <c:v>0.1227393200815646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0.0006615413000011</c:v>
              </c:pt>
              <c:pt idx="6">
                <c:v>0.0810581734428378</c:v>
              </c:pt>
              <c:pt idx="7">
                <c:v>0.0171026340935401</c:v>
              </c:pt>
              <c:pt idx="8">
                <c:v>0</c:v>
              </c:pt>
              <c:pt idx="9">
                <c:v>0.1013743858313278</c:v>
              </c:pt>
              <c:pt idx="10">
                <c:v>0</c:v>
              </c:pt>
              <c:pt idx="11">
                <c:v>0</c:v>
              </c:pt>
              <c:pt idx="12">
                <c:v>0.0195927534357799</c:v>
              </c:pt>
              <c:pt idx="13">
                <c:v>0.0529133378830142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0.0042743795995927</c:v>
              </c:pt>
              <c:pt idx="1">
                <c:v>0.0724628706745208</c:v>
              </c:pt>
              <c:pt idx="2">
                <c:v>0.010458370410723</c:v>
              </c:pt>
              <c:pt idx="3">
                <c:v>0.000517442092016</c:v>
              </c:pt>
              <c:pt idx="4">
                <c:v>0.0013353036335097</c:v>
              </c:pt>
              <c:pt idx="5">
                <c:v>0.0823562202432192</c:v>
              </c:pt>
              <c:pt idx="6">
                <c:v>0.0729485428985306</c:v>
              </c:pt>
              <c:pt idx="7">
                <c:v>0.0026200048135162</c:v>
              </c:pt>
              <c:pt idx="8">
                <c:v>0.053110144728145</c:v>
              </c:pt>
              <c:pt idx="9">
                <c:v>0.0083461717733962</c:v>
              </c:pt>
              <c:pt idx="10">
                <c:v>0.0560386356538572</c:v>
              </c:pt>
              <c:pt idx="11">
                <c:v>0.1334325730903025</c:v>
              </c:pt>
              <c:pt idx="12">
                <c:v>0.0878398045610501</c:v>
              </c:pt>
              <c:pt idx="13">
                <c:v>0.0256229759264469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0.2115480334239259</c:v>
              </c:pt>
              <c:pt idx="1">
                <c:v>0.1454997462339026</c:v>
              </c:pt>
              <c:pt idx="2">
                <c:v>0.217815834714012</c:v>
              </c:pt>
              <c:pt idx="3">
                <c:v>0.1673666661701728</c:v>
              </c:pt>
              <c:pt idx="4">
                <c:v>0.3509649115508297</c:v>
              </c:pt>
              <c:pt idx="5">
                <c:v>0.2568686718762569</c:v>
              </c:pt>
              <c:pt idx="6">
                <c:v>0.3249582640332574</c:v>
              </c:pt>
              <c:pt idx="7">
                <c:v>0.160647830710761</c:v>
              </c:pt>
              <c:pt idx="8">
                <c:v>0.3273090934316863</c:v>
              </c:pt>
              <c:pt idx="9">
                <c:v>0.1411084314958586</c:v>
              </c:pt>
              <c:pt idx="10">
                <c:v>0.2666485455225821</c:v>
              </c:pt>
              <c:pt idx="11">
                <c:v>0.6402694310283819</c:v>
              </c:pt>
              <c:pt idx="12">
                <c:v>0.2391091484443289</c:v>
              </c:pt>
              <c:pt idx="13">
                <c:v>0.3241701231603555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"/>
                  <c:y val="-0.01332059721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-0.0199686816548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-0.019949496076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-0.01911545737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-0.019520967498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-0.01887385906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-0.019720793161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-0.014606113236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0.0133588055747116</c:v>
              </c:pt>
              <c:pt idx="1">
                <c:v>0</c:v>
              </c:pt>
              <c:pt idx="2">
                <c:v>6.26366904154456E-05</c:v>
              </c:pt>
              <c:pt idx="3">
                <c:v>0.0001010078479461</c:v>
              </c:pt>
              <c:pt idx="4">
                <c:v>0</c:v>
              </c:pt>
              <c:pt idx="5">
                <c:v>0.0017690852507729</c:v>
              </c:pt>
              <c:pt idx="6">
                <c:v>0.0009580650024143</c:v>
              </c:pt>
              <c:pt idx="7">
                <c:v>0.0679878224541797</c:v>
              </c:pt>
              <c:pt idx="8">
                <c:v>0</c:v>
              </c:pt>
              <c:pt idx="9">
                <c:v>0.076868020696346</c:v>
              </c:pt>
              <c:pt idx="10">
                <c:v>0.0022522818660797</c:v>
              </c:pt>
              <c:pt idx="11">
                <c:v>0</c:v>
              </c:pt>
              <c:pt idx="12">
                <c:v>0.0005584136767011</c:v>
              </c:pt>
              <c:pt idx="13">
                <c:v>0.0107877735261191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15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E9C950-DB10-4478-9C3E-C5C0EF39C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838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03C5E0-CFB6-4477-AD50-C8A6F1726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857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7FDF30-5BD9-4D77-9B39-04508B566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0300"/>
            <a:ext cx="962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Escala, qualidade do dado, prestadores e fundos que explicam a concentração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DB280E-5B8F-483B-A1E2-B16DD6D7B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4F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863C5A-4B75-4A49-9893-D550C456B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PL: 30 de junho de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9B758DA-7BE9-4802-BBE3-C56D10BAB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0225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encerradas até 30 de junho de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723B948-8C5F-476B-B5A9-DB432C2F6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57925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Junho de 2026</a:t>
            </a:r>
          </a:p>
        </p:txBody>
      </p:sp>
    </p:spTree>
    <p:extLst>
      <p:ext uri="{BB962C8B-B14F-4D97-AF65-F5344CB8AC3E}">
        <p14:creationId xmlns:p14="http://schemas.microsoft.com/office/powerpoint/2010/main" val="123462937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8DEE67C-446C-4073-936E-3CF56D0D0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GRANDES NÚMEROS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874B521-8456-41DD-B0F0-6AF7E5FD2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R$ 880 bi ex-FIC; a concentração aparece em fundos, prestadores e ajustes de qualidade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925508-B73F-4CF1-90B1-3271A3166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A066BB-37DE-43A7-81D7-3C425BAF7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013DDAB-40B7-432A-92B9-BBAD03583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 e FundosNet; jun/26, salvo ofertas até 30/jun/26.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407AF25-1BF6-4414-B1FD-0ACACBC1E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9957C9-C85A-48CB-8B93-01758B710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811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R$ 880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949AA1-2892-46FA-9C7B-7D627C5BD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4001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em jun/26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E46017-D2FF-441D-8005-E929B6B7D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7811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10,7× 2015; FIC-FIDC: R$ 81,1 bi.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D3AEBC-D07B-41A2-B104-7FA7DFF1D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717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8040CAC-6A5B-4C05-A963-CD853EE02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431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59%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B2D5C2-E61E-46DE-AEE7-5F119C434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622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dos fundos acima de R$ 200 mi têm até 10 contas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E2BDD4-0BC0-4799-9CDB-FE61474B1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9432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60,7% do PL no recorte de R$ 733,9 bi.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A2D78A4-1BB4-4A53-9635-CF7F0812A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3377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D2B1D3-22C2-4E34-8EF5-AC4F3F4C59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052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178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7C76D97-E363-4C4C-A0EA-AEB7B68EA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7242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com inadimplência acima da carteira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0917B2-575E-4FBD-8D5F-30E981C5A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052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Cap: R$ 14,6 bi; Top 10: 57,4%.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D754FBD-6FC2-4CDD-97E1-184164AEB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958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237D9F5-CE25-400B-B0F5-DACD0C59BD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672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35,7%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91F52C-B6EC-422B-A029-C86169474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8863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 PL em monoestruturas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D0163E-66AF-488C-B360-984A5C98A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673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Administração, gestão e custódia no mesmo conglomerado.</a:t>
            </a:r>
          </a:p>
        </p:txBody>
      </p:sp>
    </p:spTree>
    <p:extLst>
      <p:ext uri="{BB962C8B-B14F-4D97-AF65-F5344CB8AC3E}">
        <p14:creationId xmlns:p14="http://schemas.microsoft.com/office/powerpoint/2010/main" val="23152339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9113E09-CFA3-4ECF-994F-7BD2204A7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E91012-BB77-41BC-8C56-08418FA54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PL ex-FIC chegou a R$ 880 bi; FIC-FIDC adiciona R$ 81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AB4A4C-3113-43F4-926C-ECA891436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B78C31-DBF6-45C1-98CC-189A0CE53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214543-3C78-47D0-98B4-9C2388620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de FIDC. PL bruto = PL ex-FIC + PL de FIC-FIDC; jun/26.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322CE13-9869-4605-A5FF-90B7FD579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graphicFrame>
        <p:nvGraphicFramePr>
          <p:cNvPr id="45" name="Chart"/>
          <p:cNvGraphicFramePr/>
          <p:nvPr/>
        </p:nvGraphicFramePr>
        <p:xfrm>
          <a:off xmlns:a="http://schemas.openxmlformats.org/drawingml/2006/main" x="571500" y="1428750"/>
          <a:ext xmlns:a="http://schemas.openxmlformats.org/drawingml/2006/main" cx="7905750" cy="4429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9326ad1a35a4e82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5F5005-52CA-4CB6-862C-7D4602BE7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3" y="4787153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85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D4367B-CB7C-4D7C-BA8E-9DFE96615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2588" y="4755986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94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D0ABE8-BF2E-4159-9317-FB3764E1A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52663" y="4682637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A85F30-1C3A-4070-81CA-20233DD5B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2738" y="4592607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142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8A07F6-88B7-4D7B-86A6-A94C9A887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2813" y="4264688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237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3811F14-3C69-4159-97DD-F904CF6AE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2888" y="4331994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218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E3B9E3-1185-4BBF-AF68-301DB74F0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52963" y="4020124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8E60EC-ABDF-4030-963E-77EB73486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3038" y="3780863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379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E04A8C-90B3-4DED-B488-D62107D91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3113" y="3416731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485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6D8C7B-5A9C-4786-B959-86D72BB95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3188" y="2573693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732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6A5D934-BB37-4570-B263-01B1B8C33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3263" y="1933129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919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137AD9-FB23-4C72-8873-3EB5182F3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3338" y="1788215"/>
            <a:ext cx="457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71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961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FF4CF40-BA19-4901-9811-0F5DACCB3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3113" y="3207181"/>
            <a:ext cx="457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EA8D86E-6F06-467A-93BD-6698865CE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7863" y="2969056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28,1%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B36D644-1DC6-4150-8095-7B5990908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7863" y="3254806"/>
            <a:ext cx="6477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2023 YoY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CBCEF7D-31D8-44F5-8169-612AB3E50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3188" y="2364143"/>
            <a:ext cx="457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4B87CA8-0E44-48EC-883E-7B32365A6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938" y="2126018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50,8%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A897B88-1869-450B-8C1E-409B76EA7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7938" y="2411768"/>
            <a:ext cx="6477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2024 YoY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35FAA52-79A2-45EA-9525-2497015BB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53263" y="1809750"/>
            <a:ext cx="4572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CF4AC2C-7B7D-4FBF-8524-16A3643B4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8013" y="157162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25,6%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78489C3-15BC-41A3-B5D8-CDC2B032BF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8013" y="1857375"/>
            <a:ext cx="6477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2025 YoY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CD93009-0CB9-4361-9056-B1A20D3D66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4000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bi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DF2F3C1-03DC-48F6-8455-77164CDBB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428750"/>
            <a:ext cx="276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LEITURA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0C45C86-615D-4FF7-9C79-E269DD28A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695450"/>
            <a:ext cx="276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23D8B0C-2FC9-4F9D-9A53-7A02652B4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9526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R$ 880 bi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32E2A8A-2A6F-4E0E-9DC3-3078EBD5F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371725"/>
            <a:ext cx="276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ex-FIC em jun/26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E63AFD1-DB76-408B-96C2-AE0B35B52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0956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10,7x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9EFFF06-3B45-450C-BAB4-0C1C43945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514725"/>
            <a:ext cx="2762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crescimento sobre 2015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9C32A8B-0A96-4988-8C0F-02DE957F2B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2386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R$ 81 bi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3CD231F-9554-4865-934D-AAA85CB07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57725"/>
            <a:ext cx="2762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de FIC-FIDC, sem dupla contagem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F7D9972-132D-4ECA-AC58-FC4E161C9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572125"/>
            <a:ext cx="2762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Totais e crescimentos anuais usam o PL bruto; dezembro contra dezembro.</a:t>
            </a:r>
          </a:p>
        </p:txBody>
      </p:sp>
    </p:spTree>
    <p:extLst>
      <p:ext uri="{BB962C8B-B14F-4D97-AF65-F5344CB8AC3E}">
        <p14:creationId xmlns:p14="http://schemas.microsoft.com/office/powerpoint/2010/main" val="5968449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2AD683-D0A1-43D7-B494-05A677AD5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RENDA FIXA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976928-F80C-4155-AE33-DD17B55E7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cresceram 15% no 1S26; os demais instrumentos elegíveis recuaram 8%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777CBE-E91A-44CD-BD6F-EAC87A094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F6EEB2-5871-44EC-9FD0-1B115F549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C14923D-440B-4F46-88D9-EBF77DF00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Ofertas Públicas de Distribuição, snapshot 24/jul/26. Oferta primária, status Oferta Encerrada, Data de Encerramento e valor registrado positivo.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45A492-A2A6-44F8-B789-0A2712699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90E34C-9FA1-4153-88EB-282E5E66A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E DEMAIS INSTRUMENTOS ELEGÍVEIS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0A1CBB-1DB6-4C3A-8DC3-3BD70F910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24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71500" y="1581150"/>
          <a:ext xmlns:a="http://schemas.openxmlformats.org/drawingml/2006/main" cx="5286375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d396a5d6b09459c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99E0508-BCB4-4052-BF06-F0C465CB4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257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INSTRUMENTOS MAIS EMITIDOS EM 2025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BBE4194-3DF6-46C1-9390-41CA0555B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24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6334125" y="1581150"/>
          <a:ext xmlns:a="http://schemas.openxmlformats.org/drawingml/2006/main" cx="5286375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156448d07294128"/>
          </a:graphicData>
        </a:graphic>
      </p:graphicFrame>
      <p:graphicFrame>
        <p:nvGraphicFramePr>
          <p:cNvPr id="27" name=""/>
          <p:cNvGraphicFramePr/>
          <p:nvPr/>
        </p:nvGraphicFramePr>
        <p:xfrm>
          <a:off xmlns:a="http://schemas.openxmlformats.org/drawingml/2006/main" x="571500" y="4552950"/>
          <a:ext xmlns:a="http://schemas.openxmlformats.org/drawingml/2006/main" cx="11049000" cy="13525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3429000"/>
                <a:gridCol w="1905000"/>
                <a:gridCol w="1905000"/>
                <a:gridCol w="1905000"/>
                <a:gridCol w="19050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5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Instrumento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2023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2024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05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+264,5%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+21,9%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905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Demais elegíveis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+89,8%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+4,0%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05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Debêntures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+111,8%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-4,0%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-21,8%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05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+43,9%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-5,8%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-18,4%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05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Notas comerciais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+80,1%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+17,1%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05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N/D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+7,5%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-44,5%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D7CDD7-2FAC-43DB-A037-E9586C9B6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81700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compara jan–jun/26 com jan–jun/25. Exclui cotas de fundos, ações, Units, debêntures conversíveis e os instrumentos FIAGRO especificados.</a:t>
            </a:r>
          </a:p>
        </p:txBody>
      </p:sp>
    </p:spTree>
    <p:extLst>
      <p:ext uri="{BB962C8B-B14F-4D97-AF65-F5344CB8AC3E}">
        <p14:creationId xmlns:p14="http://schemas.microsoft.com/office/powerpoint/2010/main" val="176184417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2FF0C08-09D5-4432-A559-40540D8D2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BASE INVESTIDORA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4886DA-E94D-468B-AF0F-94EEEC14E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base atingiu 461,2 mil contas em 4.252 veículos; contas não são investidores únicos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ACC5A9-0FC1-468E-BD06-D07E2DDE4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B0AE87-4590-4E42-AD9E-14D5D5DBF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257B36-385B-4F9C-ACCD-5F099EA89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de FIDC, jun/26. Contas podem se repetir por classe ou série.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BF771E-3DFF-4B8F-8183-12895A2EE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0DA765-4FF3-40A5-959E-91CFC30BE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B6318D0-4C8C-41D2-93C2-6A743BE86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0020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666875"/>
          <a:ext xmlns:a="http://schemas.openxmlformats.org/drawingml/2006/main" cx="6572250" cy="1638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8ca1e4198d94672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CFA374-FE8B-4319-AFB8-43BE36393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C155BC8-256E-458B-B2B3-C61B33B60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495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A5DAA0-411D-4CB0-9E03-7B19B4E4E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891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F5DE32-CE77-4652-BB97-C2DA3F8A3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286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A9A5554-D847-4CE5-88D9-64BE3F615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0BAFB7-13A1-4CAD-B68F-76CAEC844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3855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REPORTANTES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5CE488-DEF4-41FF-90FF-837D632D5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3" name="Chart"/>
          <p:cNvGraphicFramePr/>
          <p:nvPr/>
        </p:nvGraphicFramePr>
        <p:xfrm>
          <a:off xmlns:a="http://schemas.openxmlformats.org/drawingml/2006/main" x="571500" y="3971925"/>
          <a:ext xmlns:a="http://schemas.openxmlformats.org/drawingml/2006/main" cx="6572250" cy="1638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a213aa76b974a3f"/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6BF534-83D1-453D-BA9F-DAF25E35D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09280E-699B-4ACB-B89A-E3FD99A44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495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86369E-AC3F-4498-ABEE-C8B0989AA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891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078CAAA-4ED8-4712-91B5-DFA2027F2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286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39FD424-68F4-491C-8D8F-EC398FF76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C0FD6FB-436B-4E53-964F-657B0D28C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333500"/>
            <a:ext cx="4048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0F554E2-5B16-4D5E-8664-27F2A7E23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600200"/>
            <a:ext cx="4048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51" name="Chart"/>
          <p:cNvGraphicFramePr/>
          <p:nvPr/>
        </p:nvGraphicFramePr>
        <p:xfrm>
          <a:off xmlns:a="http://schemas.openxmlformats.org/drawingml/2006/main" x="7524750" y="1714500"/>
          <a:ext xmlns:a="http://schemas.openxmlformats.org/drawingml/2006/main" cx="4095750" cy="3190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d8402d739454196"/>
          </a:graphicData>
        </a:graphic>
      </p:graphicFrame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8399883-0E83-4E46-BDD8-DC4931100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5095875"/>
            <a:ext cx="404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Composição reconciliada: 461.228 contas; 0 sem tipo identificado.</a:t>
            </a:r>
          </a:p>
        </p:txBody>
      </p:sp>
    </p:spTree>
    <p:extLst>
      <p:ext uri="{BB962C8B-B14F-4D97-AF65-F5344CB8AC3E}">
        <p14:creationId xmlns:p14="http://schemas.microsoft.com/office/powerpoint/2010/main" val="203188637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53DE142-2AEE-4065-85A4-78E9C40A5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810D31-28FD-4D1F-B015-BD730C76E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97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F38072A-4749-44C1-B79A-E49D2FADE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6E3130-EC56-4186-8CB4-3AB95007A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8FE315-3062-445E-947A-6FD338A96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3CAD48-1635-4E7F-9914-8E29A354C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BF3543-D7AA-4546-9A7C-EBA84D67F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EAECB4-7D88-4D1E-A3BC-3DFC2DC04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A27BFF-6CB2-486A-9133-69A1AD981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18F356-F2ED-41D7-BB8E-E8B56A88A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E04E086-C208-481C-97FD-E72F5B171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1BCAC27-905A-4177-AB7E-4924960E3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571500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a68a36b66c54b3c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EB553E4-CA58-4DAC-8FF1-74BADCC26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924FA5-F892-4422-997A-63F399272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1" name="Chart"/>
          <p:cNvGraphicFramePr/>
          <p:nvPr/>
        </p:nvGraphicFramePr>
        <p:xfrm>
          <a:off xmlns:a="http://schemas.openxmlformats.org/drawingml/2006/main" x="6334125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c197067f4784d5b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B615EC-FA42-4D4D-9606-00208B45E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84EA80B-4B38-489E-8017-B60AD26B21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4" name="Chart"/>
          <p:cNvGraphicFramePr/>
          <p:nvPr/>
        </p:nvGraphicFramePr>
        <p:xfrm>
          <a:off xmlns:a="http://schemas.openxmlformats.org/drawingml/2006/main" x="571500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ee2558dd41246e1"/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ACE6E43-1773-4CCA-A0B4-C4260096C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1DA22CD-CA04-4FC0-9D09-34CA6B4BA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3122646-A5B4-43F3-919F-4A063DE35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8" name="Chart"/>
          <p:cNvGraphicFramePr/>
          <p:nvPr/>
        </p:nvGraphicFramePr>
        <p:xfrm>
          <a:off xmlns:a="http://schemas.openxmlformats.org/drawingml/2006/main" x="6334125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3db955b0c7d4a43"/>
          </a:graphicData>
        </a:graphic>
      </p:graphicFrame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BBD99A3-978B-4647-9070-B86FDCC4C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B2531D-A1F8-4728-A850-36A1FF282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96000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p:txBody>
      </p:sp>
    </p:spTree>
    <p:extLst>
      <p:ext uri="{BB962C8B-B14F-4D97-AF65-F5344CB8AC3E}">
        <p14:creationId xmlns:p14="http://schemas.microsoft.com/office/powerpoint/2010/main" val="168417687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BFB6980-E625-49B7-91DD-56E6CB5F3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VIGENTE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206C13-5A8F-4CA4-8067-F3204383C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 Outros representam 68,7% do PL ex-FIC em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B257D1-BC12-4D18-A233-3CC05D3E95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7F4AB9-EFC0-40E9-A119-64888EB05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6353AA-3547-4E66-A7EA-C04B8ABB5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ANBIMA; PL ex-FIC em dez/23, dez/24, dez/25 e jun/26. Fotografia ANBIMA de dez/25 aplicada às competências; N/D incorporado em Outros.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BA758D-E0F6-49E6-AF88-9B2CA0731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97ABA4-FAC7-4BC6-AF5C-3F7397627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C60E31-379B-4DEB-9A08-CBC0EED8A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0a1bb599fa848c0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BCA820A-C457-4D1A-8DDB-803DB2E4D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A0E843-B22C-423A-84AB-E4D8B538A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59071c89fcc489b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3B9409-436C-4497-8E41-6744CD0B0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343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B8D9E9-747A-440D-9CDD-4497231DC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295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Fomento Mercantil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0A5570-2B4A-44BC-A391-F16973320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343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99E43D-73CE-40B8-A475-B1FB403E9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295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2395D6-6E2C-4302-A0D4-05471D3F2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343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5B4F91D-3C36-4780-8D55-6543E2E65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95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83DC75-CD89-4BD0-915F-8AA8B3351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343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941DA1-075F-4705-9487-D40DCA138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295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Outros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A45EB6-3234-4E82-B385-8511D60DD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15000"/>
            <a:ext cx="9906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Tipo e Foco ANBIMA são campos distintos. Evidência documental e proxy CVM complementam os fundos sem correspondência oficial; a origem permanece identificada por fundo.</a:t>
            </a:r>
          </a:p>
        </p:txBody>
      </p:sp>
    </p:spTree>
    <p:extLst>
      <p:ext uri="{BB962C8B-B14F-4D97-AF65-F5344CB8AC3E}">
        <p14:creationId xmlns:p14="http://schemas.microsoft.com/office/powerpoint/2010/main" val="213470841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7DA276-EA07-4A08-98AD-40A5F8C49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CVM · RECLASSIFICAÇÃO DE ADQUIRÊNCIA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B5C388-7BDE-437C-BC19-739181583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Os 33 CNPJs selecionados formam Adquirência; R$ 99,2 bi e 11,3% do PL ex-FIC em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0B811DC-F0C6-49CF-B597-A9FA3DF0E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B91764-ED5D-4189-9485-D94A017E5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6109441-B8AA-4522-88A3-EE6B9C6E0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6180B4-5EFD-48D7-900B-691CA26FA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0D04A3F-3A68-45B1-806A-5DDBD12F6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0234BC-1743-4DFC-8F7C-BB01D0FFE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f9380946c9541c5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B1C049-C61A-4438-9AE8-A5AC5B24E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A21C1E-422C-4CE6-8C75-C11706180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4f3c4006f474973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CB2CBE6-1F2F-47D5-BC5E-5900D4A01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247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9B1622-7EEA-400E-B760-70A98E619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200150"/>
            <a:ext cx="1190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86B412-ED09-4C19-8401-F487936C4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1247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2F5F5BC-4034-452C-8EF9-8F4DBAC5D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1775" y="1200150"/>
            <a:ext cx="1190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D64CF81-DD36-4959-966E-47D381B16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0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1 pendentes. Em jun/26, 31 dos 33 CNPJs selecionados têm reporte ativo; 2 não reportam.</a:t>
            </a:r>
          </a:p>
        </p:txBody>
      </p:sp>
    </p:spTree>
    <p:extLst>
      <p:ext uri="{BB962C8B-B14F-4D97-AF65-F5344CB8AC3E}">
        <p14:creationId xmlns:p14="http://schemas.microsoft.com/office/powerpoint/2010/main" val="12801900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5A5DC1F-81D7-4C8A-AB43-7967B4569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CARTEIRA POR TIPO DE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AA8800-0957-4D15-86DE-7B851EAA9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ganhou 17,5 p.p. e explicou 67% do crescimento segmentado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CCEB63-2019-4995-AE4D-3CB61A5E9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913C6C-0220-4FB9-BC71-C266F7E7F8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17455F-443B-485C-B786-D8D7CA4B0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4F288F-96C4-4269-81E8-D536EA009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58DC7C-FB8A-4038-A91A-EA26C80FF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AC19B2-0EDE-4E88-801D-7D66F8D6EB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2136f395f754dfe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E43394-BA1C-4DD3-9478-7E5E7498A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789CE8-6A05-4FEE-9658-7B55E7C27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638175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39595831e824b57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5AABCF-D39E-421F-A4AA-A09CF73AD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71500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1DD7574-9906-42DC-ACD6-81AC3B5D5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Tabela II: R$ 439,5 bi em dez/23 e R$ 737,4 bi em jun/26; diferenças para a Tabela I de R$ 51,7 bi e R$ 60,4 bi. Adquirência no slide anterior.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C79D4EE-36A8-4453-9210-87BDBADFD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D255467-2A89-495A-BD94-8D7601E1E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B1D1132-0149-41EB-9567-07A1CBC07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FAC5C4A-BF07-458D-8AEE-038669625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1FAEAE-19BE-4D94-9433-D90690423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4C413D-36DB-4C67-A21B-46FFAA511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3FAB71-C18B-4FB6-9954-8BFCCBB4A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DB36A5F-BBFF-4555-8350-8A5BD2B0A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</p:spTree>
    <p:extLst>
      <p:ext uri="{BB962C8B-B14F-4D97-AF65-F5344CB8AC3E}">
        <p14:creationId xmlns:p14="http://schemas.microsoft.com/office/powerpoint/2010/main" val="134436001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6A7E714-31F8-4CF2-B9C5-5C6118ACA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OBSERVABILIDADE DA INADIMPLÊNCIA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EA9672-47FA-4D57-9822-C9865789E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cap retira R$ 14,6 bi de 178 veículos; 10 casos explicam 57,4%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9C493D-A778-4707-89A9-4BB7E8B8C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E64A5CB-C56B-4707-B756-0BEA493A4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BCF644-F3F0-46B3-A638-175A6A0C39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Ajuste = mínimo entre inadimplência não negativa e carteira não negativa por veículo.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A1096C-0DFA-4BFE-954A-52CAD884E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16975E-FBC8-4624-B21F-05F6E554E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676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MÉTRICAS SOBRE A CARTEIRA COBERTA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109458-4A96-4301-AEF9-E030BF096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676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676275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3029fa9fdb848af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CFE907-0A44-4AF4-A44A-4108F5440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219700"/>
            <a:ext cx="533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FF48ED-885B-4D42-AD61-0286B049A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4287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UNIVERSO E COBERTURA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C934106-517A-4F97-ADBE-EEF3FCDA3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95450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2FFCE9-7EDD-4733-9F46-BB5AA2AA0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96215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/ fundos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E6C88D-7D36-46E7-9105-71D31B48A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196215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4.252 / 4.247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2A87507-3005-4B41-BA86-8C4A8090B7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0506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9100676-A32C-4652-92D0-B87D4B706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6221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positiva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F2186B-CCA3-4D29-8BC3-6A7447018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46221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3.130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31A216-B624-4D45-A60B-2ABACD7C5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05125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5A18D6-C0C6-4715-90E6-29042CCFE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62275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Campos reportados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5FAA385-8A8C-4A7F-BDCA-3BA85F050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962275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4.252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B485B1-9072-4FA9-BA08-71CFBA596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05188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A9A9201-2583-449B-9420-C7ABD26A1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62338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Cobertura por PL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11229BF-D64B-4AEF-A990-A31757FAD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462338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8D0445B-F86B-4556-A78B-9E06D4053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05250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409FE8F-82AF-49AD-8F93-7A3C7849B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6240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Casos acima da carteira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016FD74-6DE6-49E0-8CCC-CC713953C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96240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178 · 1,04% do PL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C4B7DA3-AD94-4A87-91E8-873B697DD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0531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A3E258F-7E4B-450D-9FD9-AE34B7050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6246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Excesso Top 1 / 5 / 10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1A917E3-D1BF-4C34-940F-A092D4E79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446246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14,2% / 42,0% / 57,4%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40B778F-5F0A-4353-9BF3-BA8F9975C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238750"/>
            <a:ext cx="3762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Ex-360 bloqueado: aging = 112,6% da Tabela I; diferença de R$ 6,89 bi.</a:t>
            </a:r>
          </a:p>
        </p:txBody>
      </p:sp>
    </p:spTree>
    <p:extLst>
      <p:ext uri="{BB962C8B-B14F-4D97-AF65-F5344CB8AC3E}">
        <p14:creationId xmlns:p14="http://schemas.microsoft.com/office/powerpoint/2010/main" val="159334632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A694027-0F48-4E47-B075-0BD53AC69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EVOLUÇÃO E QUEBRA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DA36A0-1C63-41B6-A070-B97B91A0C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389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monotipo cobrem 69,1% do PL; Financeiro e Agro marcam 6,5% e 6,6% de inadimplência/PL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667001-575B-4ECB-ABE8-2244CC146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32E043-4BB9-425A-A0E7-7F2AA2F46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65CC48-8E09-4059-8CCB-4E9C4EC1A6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Série com cap por veículo; quadro monotipo exclui casos acima da carteira e usa PL como denominador.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B560CD-9B66-4E3D-A0CC-A36C8F1A4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C1F5D4-16F0-4E61-B86D-BA22A64D3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85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SÉRIE AGREGADA · % DA CARTEIRA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58376F-0DA9-421B-A5C5-E920FA5E8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857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857875" cy="3048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4d8e69a9f8943f0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B73234-43DB-40A1-AA8E-ACC48D3C6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03/23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D70043-5250-43E6-9D12-4BC4D77F3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8402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EEC345-116D-4263-9DEB-533360797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270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06/24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11A85D0-C465-47B8-AD31-1DD80BCFC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6704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07/24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260C4A4-FB85-4F9B-AE49-BA94F7561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5571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BB18107-28D7-4AB5-8414-3B058FF15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3873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09/25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2CFFD2C-F661-4CD0-92F8-3160FD375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06/26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3424397-92DD-4D33-8564-34F463764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895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540D6C-470B-4DBF-85E7-D1E4396B6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848225"/>
            <a:ext cx="1000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Bruta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5076124-6B67-47AB-A251-0FC2E8CAE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4895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7DF0908-A425-431E-8E73-A8376CE14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4848225"/>
            <a:ext cx="1000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Ajustada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2B126BD-6569-4292-AB92-227CD891E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323975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COM UM ÚNICO TIPO NA TABELA II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BA7BE01-BDF1-4087-A9C2-72FCE954F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590675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9" name=""/>
          <p:cNvGraphicFramePr/>
          <p:nvPr/>
        </p:nvGraphicFramePr>
        <p:xfrm>
          <a:off xmlns:a="http://schemas.openxmlformats.org/drawingml/2006/main" x="6762750" y="1657350"/>
          <a:ext xmlns:a="http://schemas.openxmlformats.org/drawingml/2006/main" cx="4857750" cy="3429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095500"/>
                <a:gridCol w="714375"/>
                <a:gridCol w="1000125"/>
                <a:gridCol w="10477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incl.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1.215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256,2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8892B55-E961-4747-9094-86978B18E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796C80D-2E6C-4FA4-90EA-723E1B12E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1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1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Monotipo: 2.066 fundos e R$ 608,7 bi de PL. Fora: 948 multitipo, 126 acima da carteira e 486 sem tipo; PLs no workbook.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EED994A-55F7-4760-A811-5EF790C360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578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Atlântico explica R$ 16,69 bi da redução do excesso; a série ajustada não repete a queda. Caso no apêndice.</a:t>
            </a:r>
          </a:p>
        </p:txBody>
      </p:sp>
    </p:spTree>
    <p:extLst>
      <p:ext uri="{BB962C8B-B14F-4D97-AF65-F5344CB8AC3E}">
        <p14:creationId xmlns:p14="http://schemas.microsoft.com/office/powerpoint/2010/main" val="107174742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F8A9C86-36AC-4538-ACB4-0629E8FB9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COORTE ATUAL POR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BAA5576-6CF0-4299-A9AF-2265FF181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encerra jun/26 em 7,2%; a coorte fixa soma R$ 608,7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CDE28CA-F0A8-4B8B-9725-E9D6E6D18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78C197-61A8-4C70-9A55-2EF583447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D54DE8-F51A-414E-BFD6-DF64F115E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CNPJs monotipo em jun/26 aplicados ao histórico; laranja = mercado ajustado. Há viés de sobrevivência.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8CC5A8-A6CC-4AD4-AA7B-A17F0394C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79BA5B-CF28-4BC5-BB9B-E95259401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04925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 CARTEIRA · DEZ/23 → JUN/26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DAD18E-D048-4AD3-8A68-95E14DED6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742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53" name="Chart"/>
          <p:cNvGraphicFramePr/>
          <p:nvPr/>
        </p:nvGraphicFramePr>
        <p:xfrm>
          <a:off xmlns:a="http://schemas.openxmlformats.org/drawingml/2006/main" x="571500" y="1638300"/>
          <a:ext xmlns:a="http://schemas.openxmlformats.org/drawingml/2006/main" cx="7429500" cy="34956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22d8d3802d44336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A35F8C-FD6A-4340-91F1-7D5C854A5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11901E-B452-4B08-8214-8AF41CBBE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26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04/24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FDDB19-E91A-46DD-9673-DB2AA625E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842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08/24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E93410-B116-4D9F-A89E-0A4FEC04E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758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9BAC5F-408E-479C-A40C-0FE7D59AD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674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04/25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8C10B95-A7DC-481D-87C7-EF6B5DC8F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08/25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4EE177-CF5F-4041-A185-61F29F18B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506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D0D71D-70C8-4AD4-8068-C35A96A26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422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04/26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F37DC12-AE1E-4DB6-9F20-D6C661FAF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06/26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D02DC1-0E62-4AC6-9F29-A5D4EFF93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304925"/>
            <a:ext cx="3381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FOTOGRAFIA · JUN/26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0EBC2A2-D79D-41E1-9E8C-CF5CC5411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571625"/>
            <a:ext cx="3381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65" name=""/>
          <p:cNvGraphicFramePr/>
          <p:nvPr/>
        </p:nvGraphicFramePr>
        <p:xfrm>
          <a:off xmlns:a="http://schemas.openxmlformats.org/drawingml/2006/main" x="8239125" y="1638300"/>
          <a:ext xmlns:a="http://schemas.openxmlformats.org/drawingml/2006/main" cx="3381375" cy="3667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428750"/>
                <a:gridCol w="523875"/>
                <a:gridCol w="619125"/>
                <a:gridCol w="809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Tabela II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1.215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256,2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7,2%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51CC332-F394-426A-B5D4-3517013A5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94A82F9-BB72-43AF-AB8D-7F8C5F466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EFC022F-009F-44A9-BF27-839FDF4CF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30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0705911-CDBE-4969-8F4E-E924BA35C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54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Cartão de crédito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42A81A2-E523-43C9-92D1-1958E3607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4A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8515E5F-E50C-4E14-8E39-B401CB752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69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Comercial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7465C23-4A0D-48F3-BC0C-47ADBCA55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60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7FD7383-46AF-4B51-97C2-6994AF8C0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Industrial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9DE1CAF-62C6-4301-B8CB-26852998F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75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586524E-3A1D-42BC-8F28-2836DEE5A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Serviços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BE28004-EB0A-4E3B-A7D4-BE579AFAF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90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7407B27-1D87-4792-8E49-081FA7C4E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14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Setor público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248E54D-ADDA-420E-9922-6D99EF443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AC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5973CE5-E2FB-4627-9A67-CCD82A94A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Ações judiciais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32F6771-37AA-404A-B8E3-C3C9948D6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30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EC2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A5B4EE3-8AC3-4F47-AB76-457E5E858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54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Agronegócio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0CA7F86-B8CC-4A92-8289-195E3E4EC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6C7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3E35097-0D99-440D-94C7-CC7655F45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69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Imobiliário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FDE6C16-A76C-401A-9498-C0761BC8B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2979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357A84B-578D-42A4-964D-6DB7E7E6A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Factoring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4261253-2DC8-408E-BA8B-36B9C9422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75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F1B55BF0-9D40-44A7-9457-B4B79928A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Consolidado ajustado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759A4F2-356E-43CB-BAB9-DB8B5FB5A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1980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3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3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Coorte: 2.066 fundos e R$ 608,7 bi; consolidado ajustado 5,9%. Factoring e Imobiliário têm base pequena.</a:t>
            </a:r>
          </a:p>
        </p:txBody>
      </p:sp>
    </p:spTree>
    <p:extLst>
      <p:ext uri="{BB962C8B-B14F-4D97-AF65-F5344CB8AC3E}">
        <p14:creationId xmlns:p14="http://schemas.microsoft.com/office/powerpoint/2010/main" val="152056272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B5A6A72-612D-4E72-9D3A-42E619E4F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CF097A-422B-437B-B1E4-8EEECA75C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36,4%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433DB6-8835-4A43-B8C6-035D0E6FA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AA8DA8-1322-4D6A-8078-F85F02EC9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EC6B98-2E9F-4820-9538-BB667E3F0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1186F9-6671-4FE6-A581-6C3FA8589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1D8FE6-67B8-499F-9F35-675ADBD77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0C25984-5DF8-41E2-9527-9D05336DD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5cb8800864945ac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62E68D-749C-4EAF-AB4A-627BE7FBE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AF1BDD-D532-43CB-B378-A064772D0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0E7207-CC80-40AA-86B8-74856AC13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64770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5200e7ab7604adb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9BC07EA-48D7-46DB-9555-EE9D4A060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286DDE-D166-46C2-B17D-8CC02A06C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EAA5A44-C342-4C5D-B2F1-34EB94312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99,0% → 99,8%; custódia 97,7% → 98,6%.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27B3A8-1BA1-490F-B147-DAA8ED4BA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E6F46E-1D00-400D-A353-F054B6CE9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66C3312-861A-4F83-B4EE-F6926DE12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FC65706-9F06-45FD-B3EE-6C5F611EBB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</p:spTree>
    <p:extLst>
      <p:ext uri="{BB962C8B-B14F-4D97-AF65-F5344CB8AC3E}">
        <p14:creationId xmlns:p14="http://schemas.microsoft.com/office/powerpoint/2010/main" val="181712683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5CFC4F-C88E-49B3-8E22-F4C92E414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ADMINISTRAÇÃO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210517-4A92-4C8D-902B-D04EAAD1D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Bradesco e BTG lideram Recebíveis Comerciais após as exclusões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0E66A5-F1C2-4224-BD22-75293D029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C8AE52-7B65-4FD1-891D-C5195E8F1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96E5783-9D15-4DCA-8881-7D4F5E38B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97,3%, fora 2,7%.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762BF8-48ED-4B92-9D35-8DBDAF299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bd58097381e417a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8273E1-4B13-46C6-AE35-0E8CB3851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R$ 111,6 bi.</a:t>
            </a:r>
          </a:p>
        </p:txBody>
      </p:sp>
    </p:spTree>
    <p:extLst>
      <p:ext uri="{BB962C8B-B14F-4D97-AF65-F5344CB8AC3E}">
        <p14:creationId xmlns:p14="http://schemas.microsoft.com/office/powerpoint/2010/main" val="167917593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195A42F-1049-4F6D-8212-810C0FB71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GESTÃO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5478D3-B8B0-4EB1-948F-E173F3196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lidera Crédito Pessoal; Top 10 soma 52% em Recebíveis Comerciais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ADE1C9-D03A-4BB3-AAD5-D5D92959C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0FCDBD-510B-404E-B4D3-6BD6E0AB8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1A362F-CC6C-4612-B04B-D7BF449FC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97,3%, fora 2,7%.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3570C2-7F98-4BAC-B6F1-A42A0DF96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6565766ab5e4ca0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BECD32-2188-4DDC-9E65-3FF5BF5ED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R$ 111,6 bi.</a:t>
            </a:r>
          </a:p>
        </p:txBody>
      </p:sp>
    </p:spTree>
    <p:extLst>
      <p:ext uri="{BB962C8B-B14F-4D97-AF65-F5344CB8AC3E}">
        <p14:creationId xmlns:p14="http://schemas.microsoft.com/office/powerpoint/2010/main" val="111198145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CAF74B-9DD0-4978-9EF9-75CCF21B7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CUSTÓDIA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0D088A-573C-43FF-97CB-754F39C62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e Oliveira Trust somam 54% de Crédito Pessoal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714A6EE-2370-4DA6-88B1-0DFB48960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AD6DF31-5B04-4BDF-A8AC-E1B3FCF90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E7528A-4AFE-431E-A2C3-79228A34D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97,3%, fora 2,7%.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3DE9CE-2152-4346-9F1A-567B6D7BA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d440490112f42e3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37DFDA-0369-4369-BE23-BE74656A9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R$ 111,6 bi.</a:t>
            </a:r>
          </a:p>
        </p:txBody>
      </p:sp>
    </p:spTree>
    <p:extLst>
      <p:ext uri="{BB962C8B-B14F-4D97-AF65-F5344CB8AC3E}">
        <p14:creationId xmlns:p14="http://schemas.microsoft.com/office/powerpoint/2010/main" val="123340713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6E1DC04-5891-47D1-8D15-D24638A58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EVOLUÇÃO E RANKING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4DDF86-65CD-4D99-8259-8CE5C6B25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administração; BTG lidera gestão e custódia no ranking geral de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27637EA-DDB4-4ADC-B332-1B2F38CD2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F2F3E7-BF8D-404D-8AB2-4899BDB27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D37C38-AD5C-4F85-B161-5CFFCD3B3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785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PL ex-FIC, jun/26. Sistema Petrobras e TAPSO excluídos dos dois universos. * Independentes = grupos sem controlador bancário identificado na curadoria societária; QI Tech inclui Singulare, Oliveira Trust permanece independente e Kanastra está consolidada no Itaú.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4B8525-ED1D-4D87-96A8-261C3F365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90C015-FB11-4F52-AE43-842331055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18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ECEA50-3A35-4EA4-A127-06B4896BF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1133475"/>
            <a:ext cx="111578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QI Tech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59F5F9-0DE9-4F0E-BFF2-A19B21E5D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0286" y="118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08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2487B3-5E24-4B5F-AF29-B3D425CF3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2686" y="1133475"/>
            <a:ext cx="111578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2C5CC06-D0B6-4527-9CC0-1EAF289E7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6571" y="118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1F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E3F644F-79DA-4A52-989E-BEA727249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971" y="1133475"/>
            <a:ext cx="111578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43DC6DD-C777-46A6-AD72-AA63C1002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2857" y="118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5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30B55C-0574-4CF4-9C1F-025239BB3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5257" y="1133475"/>
            <a:ext cx="111578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986485E-C299-4AF0-9B62-C7DFEB2ED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9143" y="118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C5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711673-2C30-4496-8F73-17DCB81EF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1543" y="1133475"/>
            <a:ext cx="111578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A81900-AE05-49C4-B400-B24D10166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5429" y="118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C6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F4F590-A70B-458C-8677-F39645E1E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7829" y="1133475"/>
            <a:ext cx="111578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CBSF / REAG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888081D-47F2-4047-BE78-FE0295280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1714" y="118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98C7A81-A229-4F79-97A0-C1DF49B26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4114" y="1133475"/>
            <a:ext cx="111578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Demais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6416DFF-9349-4C92-879C-07BDCDAC1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5286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TODOS OS PRESTADORES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C033EA3-8FAA-4A20-B9B6-F956DA4AC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62075"/>
            <a:ext cx="5286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INDEPENDENTES*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2E31B42-B3C4-46A4-A99F-8D8C1E733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00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GERAL</a:t>
            </a:r>
          </a:p>
        </p:txBody>
      </p:sp>
      <p:graphicFrame>
        <p:nvGraphicFramePr>
          <p:cNvPr id="58" name="Chart"/>
          <p:cNvGraphicFramePr/>
          <p:nvPr/>
        </p:nvGraphicFramePr>
        <p:xfrm>
          <a:off xmlns:a="http://schemas.openxmlformats.org/drawingml/2006/main" x="571500" y="1771650"/>
          <a:ext xmlns:a="http://schemas.openxmlformats.org/drawingml/2006/main" cx="5286375" cy="1257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f7b905026ac4580"/>
          </a:graphicData>
        </a:graphic>
      </p:graphicFrame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743114A-1E26-4E76-9A59-3D5FD99A4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00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INDEPENDENTE</a:t>
            </a:r>
          </a:p>
        </p:txBody>
      </p:sp>
      <p:graphicFrame>
        <p:nvGraphicFramePr>
          <p:cNvPr id="60" name="Chart"/>
          <p:cNvGraphicFramePr/>
          <p:nvPr/>
        </p:nvGraphicFramePr>
        <p:xfrm>
          <a:off xmlns:a="http://schemas.openxmlformats.org/drawingml/2006/main" x="6334125" y="1771650"/>
          <a:ext xmlns:a="http://schemas.openxmlformats.org/drawingml/2006/main" cx="5286375" cy="1257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923aa0274ac440a"/>
          </a:graphicData>
        </a:graphic>
      </p:graphicFrame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4058AB4-CEF9-4A54-9412-116209F68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4325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GERAL</a:t>
            </a:r>
          </a:p>
        </p:txBody>
      </p:sp>
      <p:graphicFrame>
        <p:nvGraphicFramePr>
          <p:cNvPr id="62" name="Chart"/>
          <p:cNvGraphicFramePr/>
          <p:nvPr/>
        </p:nvGraphicFramePr>
        <p:xfrm>
          <a:off xmlns:a="http://schemas.openxmlformats.org/drawingml/2006/main" x="571500" y="3314700"/>
          <a:ext xmlns:a="http://schemas.openxmlformats.org/drawingml/2006/main" cx="5286375" cy="1257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a18482039b04e6e"/>
          </a:graphicData>
        </a:graphic>
      </p:graphicFrame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938D4F6-5ABC-41A0-A941-60115B08F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4325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INDEPENDENTE</a:t>
            </a:r>
          </a:p>
        </p:txBody>
      </p:sp>
      <p:graphicFrame>
        <p:nvGraphicFramePr>
          <p:cNvPr id="64" name="Chart"/>
          <p:cNvGraphicFramePr/>
          <p:nvPr/>
        </p:nvGraphicFramePr>
        <p:xfrm>
          <a:off xmlns:a="http://schemas.openxmlformats.org/drawingml/2006/main" x="6334125" y="3314700"/>
          <a:ext xmlns:a="http://schemas.openxmlformats.org/drawingml/2006/main" cx="5286375" cy="1257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0c80e1264aa4e9e"/>
          </a:graphicData>
        </a:graphic>
      </p:graphicFrame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DB9F0DC-12FF-4614-8091-4E8764807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86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GERAL</a:t>
            </a:r>
          </a:p>
        </p:txBody>
      </p:sp>
      <p:graphicFrame>
        <p:nvGraphicFramePr>
          <p:cNvPr id="66" name="Chart"/>
          <p:cNvGraphicFramePr/>
          <p:nvPr/>
        </p:nvGraphicFramePr>
        <p:xfrm>
          <a:off xmlns:a="http://schemas.openxmlformats.org/drawingml/2006/main" x="571500" y="4857750"/>
          <a:ext xmlns:a="http://schemas.openxmlformats.org/drawingml/2006/main" cx="5286375" cy="1257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5f499e9368c43b1"/>
          </a:graphicData>
        </a:graphic>
      </p:graphicFrame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B64A907-531D-4862-BB9D-7517E8514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86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INDEPENDENTE</a:t>
            </a:r>
          </a:p>
        </p:txBody>
      </p:sp>
      <p:graphicFrame>
        <p:nvGraphicFramePr>
          <p:cNvPr id="68" name="Chart"/>
          <p:cNvGraphicFramePr/>
          <p:nvPr/>
        </p:nvGraphicFramePr>
        <p:xfrm>
          <a:off xmlns:a="http://schemas.openxmlformats.org/drawingml/2006/main" x="6334125" y="4857750"/>
          <a:ext xmlns:a="http://schemas.openxmlformats.org/drawingml/2006/main" cx="5286375" cy="1257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ee0f21631594efc"/>
          </a:graphicData>
        </a:graphic>
      </p:graphicFrame>
    </p:spTree>
    <p:extLst>
      <p:ext uri="{BB962C8B-B14F-4D97-AF65-F5344CB8AC3E}">
        <p14:creationId xmlns:p14="http://schemas.microsoft.com/office/powerpoint/2010/main" val="169244897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2D2EB5-90C5-438D-ACFA-979679D2C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FIDCs DOS CINCO BANCOS · COORTE ATUAL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7129DF-CD7E-40CC-A40A-520C0B639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soma R$ 52,2 bi em jun/26; Consignados I adiciona R$ 7,9 bi ao PL de dez/25*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388B9D-4EA4-4334-B275-6B95C03DD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8C6260-9A64-44A8-AB54-DA7660107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822CDD-AC2A-4827-A293-2CE3D45E4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Fundos.NET, FIDCs.xlsx e conglomerados prudenciais BCB consultados em jul/26. Coorte fixa das raízes hoje listadas; PL bruto. O histórico não recupera fundos que saíram do conglomerado atual.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AA3F67-B176-4CD9-B86A-A0DF03A5A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336AA9-FF99-49DD-BFF6-6145F5AD8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 DA COORTE FIXA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44197D-C5C3-4823-A0E4-68CC480B9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685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68580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3b84bf1367e42f2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CBD6E9-71B8-4810-A1E1-7BB602F02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381125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· CINCO MAIORES EM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E8F710-0F10-4AFB-B35C-3982D0501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47825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"/>
          <p:cNvGraphicFramePr/>
          <p:nvPr/>
        </p:nvGraphicFramePr>
        <p:xfrm>
          <a:off xmlns:a="http://schemas.openxmlformats.org/drawingml/2006/main" x="7858125" y="1762125"/>
          <a:ext xmlns:a="http://schemas.openxmlformats.org/drawingml/2006/main" cx="3762375" cy="2762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523875"/>
                <a:gridCol w="2333625"/>
                <a:gridCol w="9048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mi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17.972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8.032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6.007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5.861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3.031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329E9D-8FE1-4043-A571-8576CCCF6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762500"/>
            <a:ext cx="3381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79,7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451610-0A33-4BA7-A904-66299FEBB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5219700"/>
            <a:ext cx="33813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5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bruto da coorte dos cinco bancos em jun/26. * Dez/25 usa R$ 7,9 bi do IME v2 Fundos.NET 1100733, confirmado pela DF auditada 1150673; o XML traz competência interna divergente e o parser havia lido zero.</a:t>
            </a:r>
          </a:p>
        </p:txBody>
      </p:sp>
    </p:spTree>
    <p:extLst>
      <p:ext uri="{BB962C8B-B14F-4D97-AF65-F5344CB8AC3E}">
        <p14:creationId xmlns:p14="http://schemas.microsoft.com/office/powerpoint/2010/main" val="1108116190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6BBADCF-D160-4C59-9B16-38936C711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LIDERANÇA EXPLICADA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FF2D9D-894E-41E1-B0CC-E80CAB905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Singulare sustenta a escala da QI; sem a coorte bancária, o BTG fica em #3 na gestão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690000-21C3-47F1-AA47-A3061C872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385EA7-D8B2-4E7F-AB16-7F99DD4D9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C2801C4-DA1D-4D58-85AF-EA2E9EED51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CVM; BCB, alterações societárias nov/24–nov/25; FIDCs.xlsx, aba BTG. PL ex-FIC, sem Sistema Petrobras/TAPSO.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9A49A6-2FD6-4568-BC4A-C974592AE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9D3B54-E91D-40C5-9075-1779D68A0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095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QI TECH · ADMINISTRAÇÃO EM DEZ/24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425E6E-049E-48F3-9EC8-70CD41065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095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809750"/>
          <a:ext xmlns:a="http://schemas.openxmlformats.org/drawingml/2006/main" cx="50958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7ff8d862e8d4cb7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7E969F-7121-4EDE-95DD-7F108A2C9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4714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95,9%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7E94FA1-20BA-4FF7-A0AC-36C4315F4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4714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do PL administrado do grupo em dez/24 estava no CNPJ legado da Singulare. O controle mudou em nov/24; em nov/25, esse CNPJ incorporou a QI DTVM e passou a QI Corretora.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F552ABB-6CD1-4CAC-AFC8-94E875939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811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 · GESTÃO EM JUN/26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DDA8CE4-886E-4316-9679-E4CF4A90A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478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6334125" y="1809750"/>
          <a:ext xmlns:a="http://schemas.openxmlformats.org/drawingml/2006/main" cx="52863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df225d575fa4da8"/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512C96F-ADBC-49C9-B530-ED03F6AA1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286250"/>
            <a:ext cx="4905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R$ 51,3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D5CB2ED-59D3-4828-A8B1-C50B960B7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705350"/>
            <a:ext cx="4905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64,8% do PL gerido pelo BTG está nos 22 FIDCs da coorte com o BTG como gestor. A exclusão leva o banco de #1 a #3.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7CE4D4-1A8C-43D8-BB4C-0A8F1EB2B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476875"/>
            <a:ext cx="4905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79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9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 aba BTG de FIDCs.xlsx lista 32 raízes; 30 tinham PL observado em jun/26, somando R$ 52,2 bi. A lista define o recorte analítico; controle societário exige evidência documental específica.</a:t>
            </a:r>
          </a:p>
        </p:txBody>
      </p:sp>
    </p:spTree>
    <p:extLst>
      <p:ext uri="{BB962C8B-B14F-4D97-AF65-F5344CB8AC3E}">
        <p14:creationId xmlns:p14="http://schemas.microsoft.com/office/powerpoint/2010/main" val="25371982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197858-81E7-4EDE-A71B-DE4F921BF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CBSF / REAG · DESTINO DOS FUNDOS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DC6FC5-6244-462D-8EA6-18E934604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Master e Planner receberam R$ 9,9 bi; 35% do PL continuante migrou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EC93EF-61C8-48AF-8E77-E62214DB8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1F71C8-7FD7-488D-98E0-FB98A3440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6B3C11-4AB5-4E36-B790-E0E7BD933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Mensal; BCB, Ato 1.375, liquidação em 15/01/26. Coorte do CNPJ 34.829.992/0001-86 em dez/25; destino em jun/26. PL ex-FIC, sem Petrobras/TAPSO.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C72BF49-9ADB-43B5-8287-1350310B9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975348b903455c"/>
          <a:stretch xmlns:a="http://schemas.openxmlformats.org/drawingml/2006/main"/>
        </p:blipFill>
        <p:spPr>
          <a:xfrm xmlns:a="http://schemas.openxmlformats.org/drawingml/2006/main">
            <a:off x="786581" y="1123950"/>
            <a:ext cx="10618839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549914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7452A2-0DF0-4876-86C0-CEEBECBFD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MIGRAÇÃO EM ADMINISTRAÇÃO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3FF082-A8EF-446B-835C-9A72DFB8D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363 FIDCs trocaram de administrador; 11,3% do estoque comparável mudou de mãos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41994E-B050-477D-BEF9-B500AD2AA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56872B-C2A2-4AA4-B2E9-DD55B1504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F71A13F-F41B-4E98-82C4-5A58E0E26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Fundos existentes em jun/26, com administrador observado em dez/24 e jun/26; largura = PL jun/26. Cobertura: 73,1% do PL da coorte. Ex-FIC e sem Sistema Petrobras/TAPSO.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B9908C-75B2-4D50-B50E-B072019EE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882422ebb914f58"/>
          <a:stretch xmlns:a="http://schemas.openxmlformats.org/drawingml/2006/main"/>
        </p:blipFill>
        <p:spPr>
          <a:xfrm xmlns:a="http://schemas.openxmlformats.org/drawingml/2006/main">
            <a:off x="786581" y="1123950"/>
            <a:ext cx="10618839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5628245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156F59-4E4A-48B5-8A1E-6790F3242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MIGRAÇÃO EM GESTÃO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8F2151E-B744-49EB-912C-793781B3D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3 FIDCs e R$ 1,28 bi mudaram de grupo na amostra observável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D66288A-615D-46E2-8BD5-D82C70337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8642D4-BA93-4C7A-9413-BAECAB517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EDBDC8-24F4-4BC5-9C49-6FA015D3A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cad_fi_hist.zip, recurso histórico identificado como ICVM 555. Coorte atual de mai/26; dez/24 → mai/26; largura = PL mai/26. Cobertura comparável: 6,40% do PL. Amostra sem extrapolação para a indústria.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FC2FA9-3C40-477D-9BAB-C9201ABF6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a20df03934d49a9"/>
          <a:stretch xmlns:a="http://schemas.openxmlformats.org/drawingml/2006/main"/>
        </p:blipFill>
        <p:spPr>
          <a:xfrm xmlns:a="http://schemas.openxmlformats.org/drawingml/2006/main">
            <a:off x="786581" y="1123950"/>
            <a:ext cx="10618839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323377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FD9F9F2-BAE2-4025-869A-8C11EF9BE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MIGRAÇÃO EM CUSTÓDIA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42F9DC-A69D-485B-81F5-03AC3AD64A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2 FIDCs e R$ 0,38 bi mudaram de grupo na amostra observável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DD0E5C-EAED-4E82-A0E1-3ACB080D4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F2B048-C78D-4066-86BF-8BEAA1137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EDAB95-1614-490D-942A-C6874984E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cad_fi_hist.zip, recurso histórico identificado como ICVM 555. Coorte atual de mai/26; dez/24 → mai/26; largura = PL mai/26. Cobertura comparável: 6,43% do PL. Amostra sem extrapolação para a indústria.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95BC3B-1927-4CE3-90DA-7A087F2E3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5c2e1d27d94f9d"/>
          <a:stretch xmlns:a="http://schemas.openxmlformats.org/drawingml/2006/main"/>
        </p:blipFill>
        <p:spPr>
          <a:xfrm xmlns:a="http://schemas.openxmlformats.org/drawingml/2006/main">
            <a:off x="786581" y="1123950"/>
            <a:ext cx="10618839" cy="514350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1625812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3053AEF5-AC02-43B7-9450-74A545F15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E3095B2-6BBD-4E9C-8368-34AC7E9BE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25,7% do PL ex-FIC; Petrobras e TAPSO são 45,3% do bloco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CF922A-D505-42AB-9CE8-9F4AB4F0A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85578C-1C02-4E58-95D0-7CA4A2E72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5E28A74-4E45-4512-AFB7-A04524C5B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ANBIMA, jun/26. Ranking derivado do universo completo ex-FIC; denominação legal completa no apêndice.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1DD283-2F96-4EE9-B821-32BB44235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AA17DBF-0559-42AC-A9BA-D33552AA8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B16F76-3B8B-49E0-B93E-C82C6B644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573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2B7AF9-6EBB-4DBB-BA38-7E465EC87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57325"/>
            <a:ext cx="1552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5E1B9B-31D2-4DA9-A770-747FE838C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14573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DD1F51-077D-4FAE-81CB-D7EFEFA01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374AB2-7383-45DA-AD76-2BDF1FCE1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457325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Tipo / Foco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B89B8B-1DBE-4ED5-A53F-F26240426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4573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3AD901-F866-4196-BF6E-A5356C234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7484D4-464A-48C0-80B0-FF346FB0C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F01C59C-2E3B-4607-BEAD-7FB4CED92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CBEB75-AE31-408E-937E-73A70493F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811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9B18A4-99DF-42D8-A95D-2F8E8324B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17811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61,3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2877848-0A01-494F-8BBA-6903DB318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38FF61-B0ED-4226-903E-E2F7CFE1A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7811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A44383-295A-46AF-812C-12E7CDA86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7811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E117B82-4E12-4B3A-9547-E86C81911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6B8AA16-4854-4080-9D4E-9A62D0F7A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AB8D62B-5D49-4474-9989-C7BB1B635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155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E9BA3C3-3E12-45BD-86AB-11A83C5E7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155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TAPSO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058D4FB-9A15-4E41-B18E-36D9C027C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2155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41,5 bi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2F6F4C7-0A06-4A13-8A2A-75FE464DF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4,7%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C934684-EBFB-453C-8C7C-BF3FC7DBC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2155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05AB8D3-0520-415D-A608-E5350A1E7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2155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193DD43-AA03-4337-ABB7-01649987F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02997F6-1BBE-446B-AAAA-6667975B0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6C7EF31-2337-4CC6-AED4-4CBFE765B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98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89E5395-7853-4BC7-BD5C-4D7A8EC04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98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PAN Auto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670B4F8-C065-45C9-B63B-C68DC946E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6498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18,0 bi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1644929-C8FE-4BA5-8C75-1F9C4F06E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2,0%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8E57AC9-5D6E-452F-AD5C-B78937A8C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6498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43F2DB1-E628-4069-8E7F-A0731054D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6498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F34A684-FFD3-4EEE-BA60-4DF9263BC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621B8730-4C65-41C2-938D-644D694CB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60EDBDA1-B1BF-475F-94E4-8102BAD6E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41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732A565-B309-49C9-BBED-6EC1F0389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841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F2AF8A0-C7F9-43CF-AA6D-6A6B8B506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0841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10,0 bi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E8C63CC9-C658-4717-8D7D-E4B87166C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1,1%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DC1D866-A3B5-4816-86D1-34725D5A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0841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CDDC0DC0-9E18-4D20-B5C0-A3FE554FB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0841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44B2197-4F4C-459A-861E-367200AD6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BC084165-71DB-4B17-ADDA-CE0635150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8C777DE2-EB31-4D4C-926C-8FEA2F200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185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F606679-9716-41A7-A853-CAB640AA1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185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MT Global · Consignado Privado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E7BF52A4-CA5B-4563-9B89-F88C7BD24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5185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9,4 bi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8CAFC39-6734-43CF-9361-E2F8134AB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1,1%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D01AEF7-AB6D-4805-B1C2-6B89B13CC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185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N/D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3454BA1-92A7-4C78-822B-8EE4F0BA3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5185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4F21658-4552-4F10-8EEC-F6F0AA1F1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E447F473-33AA-41E1-86F9-3869431E1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4E994900-349B-4F74-83F8-E1EBE53C8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B211A9C-2314-48D4-9F2A-13E7E7505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528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C660C86-5F88-456A-9F33-29FB98496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9528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8,7 bi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9618F4A2-D266-4577-9956-0D2AF4D4F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1,0%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024458E-42DD-40CB-B372-9D915C89C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9528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9C708946-CD09-46DF-BE60-71A51A12B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9528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4634C2A9-B955-4736-9F33-EFC438825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6BE704B-B937-4E75-A120-8F1B18577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A49B78D-2EBD-4CD2-ADC9-E23D010D3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72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0572DAE6-15F6-4D4F-B538-0B2ABFFDE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872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Consignados II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C17CBA95-B895-443B-967D-E9E9E3753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3872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8,0 bi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DF25F2E-0BC2-41ED-B199-399274DE2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BFE1A676-DDCB-486F-AB7C-6AA236333A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3872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DE81260-4E38-4C6E-B6C5-E2B598821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3872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29DBCD42-FD95-4381-8257-7CB8D5DBC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477197D1-298A-4E75-A71F-AD2732130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57899B3B-1749-4384-8280-42773B9C6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215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67E414B6-D2BA-4868-A0A3-C299C6CEF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215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Aetos Energia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B046D898-2991-4E5F-A312-795EA0A7E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8215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7,4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85E753A5-D1F3-44F1-B8C3-D91824DA1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0,8%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20C433DD-79BF-4A69-96E6-AA56D75BA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8215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683A8F06-69B0-48BF-BC7D-C66F7176D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8215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56233BF9-6235-4033-B34C-899DAC238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FE66EB86-3364-4652-A886-230891ED6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97F69EAF-5F29-4619-8622-FFFB890A6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58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C2B8AE81-BE83-4905-B846-9D82F7C92C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558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07E794D8-36F6-4082-88FC-7B2A6DD776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52558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6,5 bi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7C622AD7-432C-4B53-8BDE-F85C90288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B52014C7-4608-4D04-97FA-D45936708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2558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C08C9178-9AD2-42A8-BCBB-3E9CA52F1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2558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3B29A70B-C9C2-4F2A-9878-CE1384A13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5E9EB80B-390E-4B68-84F9-DF38F7538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79EEDB03-FFB6-478B-B41B-12EB43095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902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FB771499-29E6-4873-A5C0-1B1B6A1F9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902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Rio Vermelho NP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9362A961-C502-4878-BB66-730A5B3B1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56902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6,4 bi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9C0E870A-D6EC-4DE1-B9BC-C19AA45F9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38DE919C-08CE-4CA5-B1CB-C54EBE6D2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6902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FFC73A93-9B00-4BB0-A15E-B208C36E3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6902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986C164D-7A50-443B-8B68-8DD60150E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2BB21889-5059-47A9-9330-F8BECA301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573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4997C86B-96C2-4C4B-8BF1-FAEF7D3EE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457325"/>
            <a:ext cx="1552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1F730FFE-1E3E-4EA4-921C-70BD0AD2C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4573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A1D2F066-C33A-4413-BB5F-199678EE3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1809AE16-6FD0-4579-AC2C-05463AC22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457325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Tipo / Foco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D514E4A2-D311-404B-8C3F-C132AEEC3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4573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Modelo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ABF8AD98-99BA-451B-A6C9-1BC6E1915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FC219043-5BF7-41FC-ACFF-ABEA6E9FD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3528873F-C1D7-409F-A8DD-C386EF8DE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811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E0A4198F-AC98-40D2-AD2D-AFD91BB47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7811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9316D5A8-7B30-481B-B045-8C17F93B6B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7811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6,2 bi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3968A71E-4E90-40CD-ACC5-DF427510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AA697A0E-5870-4813-B71B-D1E2C8309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7811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BC1A71DF-D899-48A5-9E82-E163BF084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7811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AC82006E-7A98-4DDA-8D10-C44110A0E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B7D95548-836F-4240-B793-4CD78DA5D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45BB20A2-6A53-4137-9950-C655560A2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55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ED580358-D8AD-42C7-8EAA-2A63BB39F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2155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Consignados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9FBDAE89-FFCD-451D-ABB8-A70D9B3CC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2155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6,0 bi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36C97A33-1858-4C47-A923-4F8569C4E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EFD528D0-C742-4303-AE17-1FA208404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2155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D85A5064-EA02-4BDA-92AC-C708E3EB9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2155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61EA9C0B-D30C-4BBF-B60D-28EA8543C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2B177D4B-EEA0-4F2D-84B2-A9488E818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530B579E-C216-435C-A4FA-0D9E956C8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98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654187CD-9AD0-41FD-A829-25B56819B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6498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III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5321DC48-7AA3-4733-923B-6164E21A5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6498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5,9 bi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A7431A4A-0754-456F-A106-0ADFA65BC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F97A686E-04FA-45BF-AC0A-58594F9CD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6498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B2545F7F-80F0-4DA9-80E9-AD64DAAD9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6498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A8BE5DB6-706F-4B2D-9B43-4BFADAD1B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D98B4842-F779-4C99-9D95-263D04913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23F0750C-3655-4E60-B6B9-64229EFF2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41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FD7027D3-7C62-4A4F-A888-EB155E7FD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0841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Monee I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08C783E0-6F01-47D6-AB49-FBD6614D1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0841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5,8 bi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3B3DFB27-8B8C-4749-9E97-BC29985EC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A16A607D-409F-4E81-A370-7D2A02492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0841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B036BBA0-16D9-4FA6-A798-6DF9D697E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0841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752932E1-4B6C-46EF-9E82-C9EC764EE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CF90E9D8-F361-48CB-9075-E0429AE85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D86110FE-5016-4078-956F-639DB04CB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185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02C43BE0-5586-4B19-87FD-C0CC8A827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185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 I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B842C8A8-2830-4D10-B0D0-1552E23BD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5185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4,8 bi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7ED29E96-3C95-4F8E-90FB-DB7A8156E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0393262A-CA44-4169-A5D1-99C569492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5185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87D43B87-59CA-44AB-8D11-3336FEEC1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5185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4A018060-62BE-4179-B04F-346F65FA0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5377B6FE-4FBC-4DC1-8E3A-928C497FF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A7439F97-7391-440E-B46C-D6DF31F34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528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60632802-658B-4B13-B63D-9F9566E5B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9528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Artesanal Master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B95FCF26-39E2-4F1F-ABFE-9CB8E8552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9528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4,5 bi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3603D172-AA77-442F-B3A1-01B6A5E94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0843BE2E-A22D-43A5-9F8A-F257F30C6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9528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8FD1BADC-7709-4134-8F29-6EB03F956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9528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1813CFC9-F79C-4026-8D53-79EB9636F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340F3D5C-B38A-4CCE-BF84-49CE1F32D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4319CF29-E413-46E8-9E4D-570B1D4F4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872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E3977541-228B-4D63-98E5-8B4C3C5D1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3872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MAROBÁ INVESTMENTO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62084191-1B6C-4F9C-A330-A8BAC1D86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3872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4,5 bi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D91F7134-9C5D-45B2-9016-59E1F4078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E45FA92F-F18B-459F-859D-037824134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3872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3C8EF7C1-6DAF-47F1-903A-E60CE51D6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3872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E947B8BB-294B-46E0-8355-763775CAA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076F5F25-A562-4FC5-9FE0-088D3AC0F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38DB7480-3566-4B58-BB8A-9849AD026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215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F4F5287B-6A86-43FF-918B-7372C0AC4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8215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VENDA VEÍCULOS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385A9DB3-B94B-49B4-B4A1-CB64FA2BC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8215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4,2 bi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F287A185-B8ED-4882-ADFC-898003513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C4E65D01-46BD-423B-A287-7A59DEE62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8215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Financiamento de Veículos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1C3A7F94-6B5F-4EBB-994C-D66E6D6C6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8215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C742C800-F7D4-4836-8ABA-8DC10E58A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E179D765-9A53-4311-B690-C91ED675F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F6FE2298-5207-43D9-858D-D52217351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558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DB57A313-2B3D-43F3-9A1F-3353DF429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2558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Day Maxx 2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23DBE7B0-CE2C-4693-A562-231EBD390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52558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4,0 bi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12D187DB-D22F-4CBE-BE66-203FB165C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61D48A5F-8929-416A-9126-CDFF24C04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2558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56EF8C36-4EB9-42C9-8CF7-B3ABBC187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2558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82397759-D95D-4E1E-B398-C4E47AAAE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A8E5BDE6-30FC-43A2-9011-663471121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B967B7DF-756F-46D6-BADE-1E3977407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902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0F26454D-5EA5-4EB8-8446-0D42F9C48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6902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ACR BEM BANCOS EMISSORES CARTÃO CRÉDITO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685C7F88-596E-4BAE-852E-4BDA83A5A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56902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3,7 bi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6A63B7C7-F32B-4831-B441-406C4A83C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0,4%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E1033B7E-EFDC-4851-80F7-1A68FAC9E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6902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BA933334-D03B-41A0-970D-E16DBAEB6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6902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</p:spTree>
    <p:extLst>
      <p:ext uri="{BB962C8B-B14F-4D97-AF65-F5344CB8AC3E}">
        <p14:creationId xmlns:p14="http://schemas.microsoft.com/office/powerpoint/2010/main" val="590449102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805CB40B-DBCA-4EE0-B82B-B0DB8DA33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OUTROS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9483CF-EB98-4108-9B33-4D1D779C1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representam 26,0% de Outros; oficial, hipótese e status ficam separados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766E04-DBF7-4F58-A3C0-2EFDFE15F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80583EE-48F3-47BF-BE46-B32355251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112F565-B7D6-4F83-AEBD-C7A2FEFC2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e documentos primários locais; ranking em jun/26. Evidência e links completos constam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F42D01-6E15-4D96-8BEF-718174B39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FDA57F2-57B5-4994-BBD2-4E2DA45CE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F9427BC-29F7-43C4-9805-2E7836C49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57325"/>
            <a:ext cx="152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31445B-4D60-4033-A0FA-BFF2FF62C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57325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81544B-693E-4428-8229-4B88BC6FE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37B943-77F2-43E8-AC1A-2BCA043013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457325"/>
            <a:ext cx="790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Oficial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3C2553-526D-4A1E-B43F-8DEE9EBFF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4573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Hipótese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43D3AC-2360-4B42-A562-AE1B91C63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457325"/>
            <a:ext cx="1266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Evidência / status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6A175D8-0055-43D4-AF11-9A68DDCE8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344F6C3-2574-4B3F-B7A3-D413821B5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5D9FC52-C3D5-47D8-9BD7-6BBD25FDA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479938-A6D5-46D8-AAFC-DBC8A9200D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811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ADBB38C-98AB-45F8-8F52-E197ECD13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10,0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97B63EB-55FB-44BD-B0F1-9C23C2982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7811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C1582E-6856-48CF-B66F-D302A78C2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7811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—…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53C301-4CC2-4D5A-ABDC-96B1204FE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7811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4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TOS CREDITORIOS CEDIDOS SAO ORIUNDOS DO…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9FD803-D1C7-46CB-B179-287B2D66E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7E44C01-649C-4E54-B2C4-48528C2A5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654576D-04E7-4A0F-8D7A-6A08D3716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155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FED3087-97F0-450D-AAA9-59EC5CF59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155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40723D3-31AA-4308-AEDD-2861A2BBE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8,7 bi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310C927-2BA3-4D3B-971D-39396C464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2155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9824B9D-EA29-4C9E-8260-45F03A229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2155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PJ — Crédito privado/mercado…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FFCC2F2-8AD1-45DF-AE6F-2C712D310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2155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4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ITAU CREDITO PRIVADO FUNDO DE INVESTIMENTO EM…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CE00F8E-B965-4DD0-B9FD-1D2847A97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6373CE4-3174-4478-9FB0-BD2D52288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4F2A78A-1886-4F26-B92F-2A6614CBB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98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7FC10E6-D4F9-468E-B4BF-5D0D83E2F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98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Rio Vermelho NP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23134DEE-281F-428E-9BA5-FEDDEBB2A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6,4 bi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D469932-B89F-4440-8741-7D0D3872F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6498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205D478-2F82-4A2A-B515-782D1AB5C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6498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Judicial/Precatórios/NPL —…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7A16A58-52BB-4C7F-BBAA-C245D4991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6498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ESENTE ANEXO, A CLASSE PODERA ADQUIRIR DO S…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1D0AB40-0C91-46C4-A6AB-4090813D1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77B67C2-200B-472B-8027-E0EE70EB4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14A8CDF-6848-40C9-AF52-3A4A72099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41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E942900-526F-47F2-9C24-F62D7937C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841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C76CC9E-D887-4CFB-916C-28F0B9800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6,2 bi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47D0CA3-EA15-421D-B3E6-5E08474AB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0841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01AC0A9-F597-4C56-8E5B-84207CBDE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0841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—…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B79E944-BF60-4765-B7C4-F0A1AE11A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0841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645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TOS CREDITORIOS CEDIDOS SAO ORIUNDOS DO…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7842348-1BB7-4510-82A1-191942150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F82A5093-1F6D-4E99-A934-18526CAF8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BBFC7B7-B8D0-4AAB-A658-302B189D0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185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F6046172-E40C-4856-8BEF-4822758E5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185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III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C10ADDF4-7498-4FE8-A30A-1E55A2180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5,9 bi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128BCD5F-9B1E-4422-A208-3ABF520CF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5185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CE50C1BB-B7DF-4577-B441-98E5BE79C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5185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Judicial/Precatórios/NPL —…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1CA1DFE6-E3DD-422E-AC11-A524003E5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5185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466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SERAO ADQUIRIDOS INTEGRAL OU PARCIALMENTE,…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4787727-69EC-497C-8FA2-974ED2C98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FD0B6FA-925C-46A7-A0E5-24840CD8F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F2356224-EAEB-4AE8-9B5E-0516AFF0A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BAB822CA-0C7C-44D3-8562-9D4BF20DD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528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Monee I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2A4D95BE-C0AF-4E3D-AA02-76C19BDA8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5,8 bi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754A8E97-D6AC-410E-9400-AFC881948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9528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79623094-1DB7-4976-B728-48E2BB8AE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9528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—…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8BEE3BCD-930A-46AD-B405-E4E2736BE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9528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3879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FUNDO DE INVESTIMENTO EM DIREITOS CREDITORIOS…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—…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B6136AB-C5CA-4F1D-9E10-A96C8676D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32486F2E-54FA-43B6-AAC4-FFA0B23D8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F943D3F3-27B1-473F-B861-513306DC7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72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1278571B-4C88-4A7E-88C5-03E84365D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872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MAROBÁ INVESTMENTO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46421D20-F8DE-46F6-8647-909ECB055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4,5 bi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91CDBA1-B02A-461D-AE20-EEB0DEB33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3872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9F43A902-4FFD-45CC-BA12-A8E73D564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3872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B566F184-FBB8-4056-B95B-1206C67F3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3872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71773DC4-38C7-4149-A566-39854022F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020F8D54-8CF9-4915-AA76-617507A93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666C60B3-F1F4-4765-96DB-0D15CAA28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215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9C48D116-126E-4556-8B96-FE66C7680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215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Day Maxx 2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B6BD9D86-6970-4B72-B922-B1D1AD24B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4,0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267CBE5C-0A3C-44C3-AAEA-79AEC48D0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8215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9A25B805-78AA-4A7B-BF8A-1C8261705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8215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9A907629-AC5B-4577-9EC5-7E1874D9E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8215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413FB7C-C4FF-4A6A-A4C8-3A8A91D9B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BD35D770-8039-4F67-85C0-5E3D0688B8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0D9BE1EA-0D74-413B-916E-1DDF012C0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58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C8D81804-B3AC-40C3-80EE-0043596E1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558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HAVAN ECONÔMICO, FINANCEIRO E COMERCIAL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A1FDFE81-0DE1-4ABB-8178-A4E98F91A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3,7 bi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EF2AAF34-9E48-4260-B663-8A477D49B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2558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0F3CB51B-2821-4930-9F80-5497272B1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2558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7748176D-9DF2-4E59-AF78-124039D8A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2558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35E1D22C-30AF-4B44-A544-7D3D9F909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40E459E1-B3F9-413B-93F4-319A23E54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9D573BB1-42B1-4588-8166-B91449F578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902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711DF1DD-7B45-4326-BEE0-A6452B81B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6902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RSCRED MULTIESTRÉGIA - NÃO-PADRONIZADOS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679A5D30-8288-48EC-8C1C-4C7B1CAD6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3,6 bi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B3E13DEE-0BAF-414E-B96D-C7154ED43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6902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0B98B054-BE04-426F-A0B7-8A2C7874D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6902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885CE511-7702-48B2-9458-08AC19BD68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6902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21AF3DA2-9953-46B1-BFA2-7453BCDED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CEB44D04-A1C2-4DD0-94CA-2BA022D45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57325"/>
            <a:ext cx="152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837FFB8D-E976-44EB-940E-96F8CE37F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457325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6427C2F6-DE33-405D-A6BC-4A9B6E1E6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B98B91B2-7BCF-469E-9221-558DB5328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1457325"/>
            <a:ext cx="790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Oficial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729FB6E7-1CC9-45FB-9B99-A71408E9F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4573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Hipótese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B596A559-0C98-477A-B835-2873C2ACC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457325"/>
            <a:ext cx="1266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Evidência / status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F918EEF0-0CFC-4E68-9A3C-7FCB33734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35447CCB-5878-4C15-A254-0E1E86AF1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0F0AD877-80CA-43DF-A151-250A8236D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811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DB1A5C0D-234D-4B7C-870A-6932C18EE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7811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EXPERT III ILIMITADA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481E257C-2EB1-49CB-80BD-1F0B4896D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 bi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7E5DB4E4-FA37-4FC4-9186-A792C2DF9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17811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F82AAF0D-FE04-433F-95FD-DCC7F5ADD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7811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155BC027-D480-4AE1-89CC-781812A7D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7811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5BBB4007-E540-4510-BE7F-B46619FA8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0B8D60CF-11D0-4E84-B6F1-B2DD9202E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09CD8465-9AD1-4E31-B474-A94797C06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55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3505BE86-F765-4605-B9A1-489BC2CAD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2155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OCCAM CRÉDITO CORPORATIVO 30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7EDCE341-FEE5-445C-B77F-B6C9A3034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 bi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C6B821C0-AEAD-4EC4-A825-6D8F75FFB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2155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790A53F3-E7B9-4054-8598-7363D4B7F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2155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5E69362D-57D4-48DA-AC51-1889A77DC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22155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0C987CDD-A59F-491D-A05D-443530AD4E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63A72E78-1680-45D5-B3AC-668AB2B02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5756EAE3-3B25-4FFD-B4E4-051D0AA85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98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2EBF4D63-A32C-4837-B6C1-0A3B08FFD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498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RED REAL LP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C53E3890-46CD-4390-8FD6-F72C4AFFF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3,4 bi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257ED06B-3B8E-4478-90B1-3FB6F512C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6498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BFF8DBA9-A0FE-4453-BA00-ADD21837B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6498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7A2DCB91-BC73-4A5A-A015-9AE1E5201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26498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38728BC6-F5DA-4E86-9792-8BF6E21FE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1BB32421-0F17-4463-8908-5311F2961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23E67BF1-CEC1-44EB-950D-C4B1FC936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41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54E23A26-EC3C-4410-96E8-E6A835DC8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0841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ASA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E0ABFC55-A38B-416D-80B3-F1E2C7C97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3,4 bi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59FB8EF9-17E1-403C-9DB8-1D2D2C960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0841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F7D4AFDD-988B-4FFA-AF29-F8986FB62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0841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E973223A-3630-4A02-8A0F-9048B1C7C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0841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45F699C3-3363-4EF2-BBAC-C0256A195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BDD51F8B-68FB-4780-AFC5-658E7B24B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D0DAA663-A9CA-48A7-B1B8-4B4DEF2B2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185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0176B86B-D305-47CA-8E2E-897201CC5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185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PCG - BRASIL MULTICARTEIRA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5D741907-B453-42C6-92EA-A822C51A8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3,1 bi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8BB097C6-B21A-494A-AD35-E6BD76194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5185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88D0CD71-E2C5-4016-80D3-82A588F76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5185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6169F382-E72F-4CF1-9DBE-3ADFD4D05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5185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CA14671B-A415-4A9A-B01D-E6705D8CF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20062E53-2E39-428E-BD2C-858B91837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5959E4E6-8F85-44DD-8492-BA0D8F177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528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73ABEFAE-6F92-4ADF-B718-27577FE5B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9528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CARNIVAL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186D849D-A44E-4BFF-94A0-C693E0438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3,1 bi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73188508-0FB6-4BD2-94E2-90EA73ACC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9528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1CA630A5-964E-48B8-882E-E415B4A45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9528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AF7D876E-7088-4113-9273-5492A2CB3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9528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632CE7A9-5706-459F-B25F-7A059FA93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6538ABBE-F28D-41D8-934B-AE0820B37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4F26EDCE-EC28-41E3-8213-62D48B3DF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872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B4CD2DC9-73C0-444C-9530-FD3A3DCF4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3872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BBD8CE20-1AE0-4F0E-BB15-887C8DAC8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3,0 bi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376289B2-5D3F-48E8-B998-3058CC8C5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3872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BB3C3691-475B-415C-B538-8EF2A1207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3872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B36459EF-38FC-4F33-84EE-EE59F84DC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3872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03573D58-FB9F-4A3E-BC62-520AD395B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A6BC993F-9EEE-4042-9EBF-8B24A1802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F593BD42-C4FD-40EF-B95D-8E6DEC6CA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215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02BB7B35-8965-4A25-909A-FEBA4CC93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8215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GSR NÃO PADRONIZADOS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DE35BFD9-D523-48FE-875C-B18BE5D01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2,9 bi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D7792481-5EB9-4C0E-B6A1-08383CDD5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8215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A82F7F67-5973-4D2D-B21E-89689BF79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8215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2ED7AF4B-EDAD-4310-A5E8-7B71C425C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8215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E533C08D-5926-4C46-A851-FA34F68C5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C3453C9F-7A5C-4B0B-8FE3-082ED4B71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EFED7D80-179F-4B15-A6A1-382D825A2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558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4B2C7361-57FA-456A-846A-934FB9A20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2558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MULTISEGMENTOS NPL IPANEMA VI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C59048A2-6358-480F-AC72-86E17D54E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2,6 bi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630DDFC4-65B2-449D-9CD3-3774EA7C2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558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49041764-83B7-4954-97A3-5183D89A7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2558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89DDB4FE-7410-41F9-95B9-26A853685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52558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C04F1A50-5E6B-4D6F-A508-6BB497C9F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7093E419-8BF0-4DF2-B164-D01BE52BB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A994A290-105F-4C84-A8F6-C71A8CA63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902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AD4B4070-595E-465D-8BC0-6AC4307D0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6902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ARTESANAL CRÉDITO PRIVADO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802E14F6-4A11-4B09-B50F-EFEF90210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2,5 bi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ACAE0790-E377-45D8-9D85-5CC35BC7A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6902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15523105-563F-4D22-BC31-02C06D5EF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6902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0CEEF245-4F3B-487A-A6A7-B7D02A77C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56902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identificada nos documentos locais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</p:spTree>
    <p:extLst>
      <p:ext uri="{BB962C8B-B14F-4D97-AF65-F5344CB8AC3E}">
        <p14:creationId xmlns:p14="http://schemas.microsoft.com/office/powerpoint/2010/main" val="217559281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E36A7F7-8B89-43EC-B820-5CBF2DA43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MODELO DE PRESTAÇÃO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461E56-9FFF-4BEC-9B4D-DC5BAA458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Monoestruturas são 8,0% dos fundos e 35,7% do PL; dados incompletos cobrem 1,2%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0973D1-C5DF-46E6-91B8-58AC21937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74E19DA-FC82-400F-8757-3FB2D8541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7BD73E-12B4-4DCC-B552-B703FF4B6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cadastro vigente em jun/26. Definição mono: mesmo conglomerado normalizado em administração, gestão e custódia.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6582D9-BA60-4EE3-A62F-4BA819161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571500" y="1476375"/>
          <a:ext xmlns:a="http://schemas.openxmlformats.org/drawingml/2006/main" cx="7048500" cy="4191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1b1889a7f8e4e20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733EE1-7015-401B-ABE2-261413252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57775"/>
            <a:ext cx="600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7FAFE82-1CF0-4506-ADCF-DE75CB030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763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E QUANTIDADE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8A84168-39EA-4CB6-9BB7-826C2ECF6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43075"/>
            <a:ext cx="352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362EDC9-9A4B-49AC-8CFB-5C85DFE93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6215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D8D1E6F-88CF-4156-B468-D74B41AF5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196215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341 · R$ 342,9 bi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C5CC46-6B49-4059-A979-B5ED6500A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6856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CAF42E5-4895-48D5-9E54-5D771DEE5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2571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2C40F4C-1877-41C6-9205-17126107E0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252571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33 · R$ 24,1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87CB35D-5B41-4787-8F7A-DCD98EFDD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32125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51F43E-D323-41CB-8BEB-F94B7836F9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89275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08C936-C9A3-4941-924E-79D5D1D62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089275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3.441 · R$ 525,1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6B5EED-F39D-4731-AB20-364594FEA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95688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FCE1906-48AB-47E1-9C8D-46577872B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52838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 + Custódia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9D3C41-BC24-4DE3-94F1-16548BD36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652838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39 · R$ 8,2 bi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0DBF01D-064A-4F5F-A2AC-FE5271625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59250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9CF11AC-7293-4B16-BA27-E79AF5EC5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640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D36BB0D-3C73-4030-87CD-501963E25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21640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321 · R$ 49,6 bi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BD9C725-233F-40D6-ACF7-FF8D4B5C5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2281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BE73583-F894-4EF9-9D81-6ABF201FF6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7996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Dados incompletos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A853669-205B-4181-BB75-C87EB6F0B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77996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72 · R$ 11,5 bi</a:t>
            </a:r>
          </a:p>
        </p:txBody>
      </p:sp>
    </p:spTree>
    <p:extLst>
      <p:ext uri="{BB962C8B-B14F-4D97-AF65-F5344CB8AC3E}">
        <p14:creationId xmlns:p14="http://schemas.microsoft.com/office/powerpoint/2010/main" val="905949236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B9E5D186-7AAF-4754-982D-E544BC283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CONCENTRAÇÃO DAS MONOESTRUTURAS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A020D5-92CA-4D29-8B7E-73A91D09F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59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Sistema Petrobras é todo o PL mono do BB; TAPSO representa 54% do PL mono da Oliveira Trust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9B50BDF-5D95-4C88-9B75-49FA65F06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814246-314B-4B7B-BE2D-BC1C56938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853BF30-3D73-4750-9CA3-2BD14ED2B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A evidência mostra concentração; não permite inferir preços, propostas ou contratos.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185392-5B94-4BBC-BAAC-E689038E6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6C949A-51FA-47F2-9067-20F9D52E5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70008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FFE56D-1F57-4293-A9F3-4209D98CC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Grupo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EE70E37-997D-4BC2-AC3F-9A77F68C4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mono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FD18FD3-87F5-4107-8B49-B0516F320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504950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F5C881-10B0-4C45-A690-99821D7BE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50495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Maior fundo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158701-1FAD-453F-986B-A21B48644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E8D422-63CB-488A-A793-2E6B3607A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9D9913-FF65-4ACE-8654-9D903EAD8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HHI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DA7167-5992-4AA9-9A98-7E7220B5B3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02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5F75D8-8BFA-4A67-A166-421895A7F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3E4776-96AD-4ED6-94A4-549D5AF5B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288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8DB0E75-F635-4F57-8B87-4FF7EB94B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81,0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5DB227A-5021-4779-A230-AEB75EEC6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8288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70A38A-E0DE-4B9A-B092-FC4CCC5C3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8288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PAN AUTO FUNDO DE INVESTIMENTO…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C576B3-027D-460E-B6DA-A0B6434BF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22,2%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2C14B61-DD70-40C9-B45C-23C5163F1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43,7%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4926BA-1A29-4752-8A5E-FD4251C67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BB4662B-F0A6-407D-A46A-1F36BB4B0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288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E3530EA-381B-410E-A023-4E52314A8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C161D05-A271-4667-B1D8-08DC95232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574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1E4682C-8B7B-49FD-812E-B590D4AF94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76,7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9B27681-2A57-411C-9C07-B15216328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574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02F5C7E-7146-4604-8BF7-E85C32A71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4574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TAPSO FUNDO DE INVESTIMENTO EM…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5CABCC2-4CF2-49D5-8385-85B751B9F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54,1%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76A0A72-17E8-4249-882E-1413BABCF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62,9%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B08C748F-A453-40AD-8EE6-7B5B225F3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9C8ED89-4D95-446A-8C92-1A378A11E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75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0E2342C9-142F-42CD-8E75-3E549C0AA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766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2773A34-D74C-4484-8A6C-DDD994A19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61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0C0DFC8-42D2-43A6-8E37-4C4AF0254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61,3 bi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A75B1A6-DB37-40AC-82A3-B7D0B4617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0861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B5979CC-F375-48FF-9BE9-345EE79B4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0861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 DO SISTEMA PETROBRAS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829369D-853A-4448-8CA4-85F6845F0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C21AF65-C507-4FD7-8B25-4CEA349D8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3307C69D-B54E-4563-92F4-F760D2653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21851F8-2E68-4639-8E16-F921FBE14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861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ACF8C36-E3C2-4A95-AE24-958AD1EFF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8123864-9BA2-4D0F-9F3C-BB9E8A28C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ABFA97B-F1B3-40A5-8367-2BC6DA22E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39,3 bi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4E5F37E-9D77-4B53-B9F2-9EB7486FC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7147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4535245-0E0C-4428-9138-F9E73F710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7147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 FUNDO DE…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D1C5E11-FE4E-4E2C-AE33-2846C76B7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25,4%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50165C2-18F0-40E8-858E-D88DAE82C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51,3%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DB3A3D3C-D577-4D1F-8F11-8B5882761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E6878A0-E0FD-484B-997C-6B46A16CC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148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E7CE4F8-05B7-4C45-ACDA-5B3C8B484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339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DB13D2C7-6E01-42A1-83CD-4D500A714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434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CC9783F-2794-4AFC-B39E-C3982AC60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26,9 bi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999DE8E3-6643-4271-9798-C0589E2D3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3434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9E64BC6F-298E-4281-B30F-0D424781F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3434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FUNDO DE INVESTIMENTO EM…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E1500809-04CD-498E-8BD5-5D368BD5B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23,2%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20048E55-9BDD-4762-8473-FD81D23C9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50,1%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CBD68C6-AD9C-4C6B-9670-87EAF8C00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0954EA67-222A-41CA-A215-8A788E837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434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DFA49876-7BA9-4743-ADBC-6913F1F15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626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E5904F4-D22C-4306-BA66-DBFC6B23F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720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8A619D61-8F78-425F-AFA5-C7CF293AA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18,9 bi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8CC7588E-76FD-4721-80EF-409A827C0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9720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CACBCA1F-8D0B-4A15-8DB9-610A78C71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9720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 FUNDO DE…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1D72AF2B-1D20-4EDB-9F78-17E02FC45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46,0%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A62076AF-691A-41F9-96EC-50A980C32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57,6%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2D874A58-B070-4B2B-8D93-EF7DD4AA8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F4FED2C0-505E-4472-AA0B-1BD4E3739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476375"/>
            <a:ext cx="3571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DOIS CASOS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EF05BE37-4FFF-4372-82E9-9A9E4A253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743075"/>
            <a:ext cx="357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E2AB5923-B44C-410D-A0DB-0C789DDA1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0002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3ECBBFB5-BB25-4D02-960B-5FF1E19CF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2860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311C8E4C-967F-4CEF-98C3-60E7B3B90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6670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R$ 61,3 bi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D159335A-CE01-43D6-9892-AB299DB3F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0861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 fundo; maior ticket = 100% do PL mono.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16607A1C-EE98-43FE-800C-CFF7FD0C6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7147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5195A63B-1D9D-4005-9DCC-52637002A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0005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TAPSO FIDC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31C8517A-9196-49C4-B237-E2F9365A0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3815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R$ 41,5 bi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5E7E751F-FA34-47B0-B284-50E339948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8006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47 fundos; TAPSO = 54,1% do PL mono.</a:t>
            </a:r>
          </a:p>
        </p:txBody>
      </p:sp>
    </p:spTree>
    <p:extLst>
      <p:ext uri="{BB962C8B-B14F-4D97-AF65-F5344CB8AC3E}">
        <p14:creationId xmlns:p14="http://schemas.microsoft.com/office/powerpoint/2010/main" val="91539320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772559F-123D-4B14-84A1-3BD333AAA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VOLUME E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B19F5B-AD55-4194-85D7-23D7D2298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Jan–jun/26 somou R$ 65,5 bi em 771 ofertas, alta de 14,6% sobre 2025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5326735-7F4B-4851-AC19-A8627EF9A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2527C6-2A7B-42B0-A47D-4BA2D465E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02B07B-52C0-41F5-B23D-BA92483A3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81201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oferta_resolucao_160.csv (dados.cvm.gov.br/dataset/oferta-distrib), snapshot de 21/jul/26. Cotas de FIDC, oferta primária, status literal “Oferta Encerrada”, Data de Encerramento até 30/jun/26 e Valor Total Registrado positivo; unidade = Número do Requerimento.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B10CE0-4367-44D6-B983-2B0CB888E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C2F05A-41B1-469E-BD64-EA3E07DEB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 · VOLUME REGISTRADO E TICKET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E57FF9-71B0-499B-BABB-477EF316D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5238750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41a7bfcb69d42dd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0D158D7-CA6F-465F-8F52-00EDE4A51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JAN–JUN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993929-6E5C-46CB-B465-C4568ECFC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6381750" y="1714500"/>
          <a:ext xmlns:a="http://schemas.openxmlformats.org/drawingml/2006/main" cx="5238750" cy="21621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7ff567a30594b35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63BDCD-5206-4669-B16D-B56028B7A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Jan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108A68-3819-4F82-81A7-3FB18BF5A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094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Fev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52128D9-AFD0-454B-979E-8932F4958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153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F7DE7BD-5A06-4D63-BD54-105345A75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212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Abr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AB49E7-2D16-46EF-BA8D-24AF5476B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5271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390F6D-A5C2-47A7-8A2F-452A7FDDB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93B1407-9CCC-4121-949A-027E1845F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048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CEEC76B-04CB-430E-BF56-12531B023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000500"/>
            <a:ext cx="111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CE7D22-BA96-4932-9E2E-98A6B2D83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7000" y="4048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E4D652E-E5D3-4626-8C59-6DF76666D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9400" y="4000500"/>
            <a:ext cx="111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D1D663C-15C7-48D5-AE09-FC79C40CE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8750" y="4048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3B0D135-4434-42AE-BCE2-9CFFE25FD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1150" y="4000500"/>
            <a:ext cx="111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2026</a:t>
            </a:r>
          </a:p>
        </p:txBody>
      </p:sp>
      <p:graphicFrame>
        <p:nvGraphicFramePr>
          <p:cNvPr id="51" name=""/>
          <p:cNvGraphicFramePr/>
          <p:nvPr/>
        </p:nvGraphicFramePr>
        <p:xfrm>
          <a:off xmlns:a="http://schemas.openxmlformats.org/drawingml/2006/main" x="571500" y="4438650"/>
          <a:ext xmlns:a="http://schemas.openxmlformats.org/drawingml/2006/main" cx="11049000" cy="1428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048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349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R$ 26,2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98,0%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048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R$ 116,3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R$ 79,1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jan–jun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5A25F22-EF55-48AB-9378-31E5B9A50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6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de volume colocado; a cobertura por quantidade colocada equivale a 97,3% do valor registrado.</a:t>
            </a:r>
          </a:p>
        </p:txBody>
      </p:sp>
    </p:spTree>
    <p:extLst>
      <p:ext uri="{BB962C8B-B14F-4D97-AF65-F5344CB8AC3E}">
        <p14:creationId xmlns:p14="http://schemas.microsoft.com/office/powerpoint/2010/main" val="544395297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D23C2F6-B142-4829-A101-4967FECA9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DISTRIBUIÇÃO DO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5A1FB41-C1B9-40DF-8C67-30D2EA9CB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22 ofertas ≥ R$ 500 mi concentram 42,2% do volume em jan–jun/26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8A6F11-BD46-4ADB-BF3D-EA6F49671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5957F1-D6FC-42A3-92A2-4CDEAA9AF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86C4E5-B63D-4667-B968-49F039EB5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CVM; mesma coorte do slide anterior. 2024/2025 = ano completo; 2026 = jan–jun.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3B4293-40DC-4170-B584-37164D814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500656-6F95-438A-A389-CEC7A8E5A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054870-005E-44CB-8A6F-3861B1C8B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342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7d5fc7d9e2748de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E5E598-87EE-46F2-956F-46CA729AA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38112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65AF73-FC15-4CB8-909B-602563A99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47825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4286250" y="1743075"/>
          <a:ext xmlns:a="http://schemas.openxmlformats.org/drawingml/2006/main" cx="342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0121bfad6b84a64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493472-A008-43F6-9BE2-6D79F6AF58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381125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· R$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7EE43C-F07C-4596-8C2A-9A00C0168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647825"/>
            <a:ext cx="361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8001000" y="1743075"/>
          <a:ext xmlns:a="http://schemas.openxmlformats.org/drawingml/2006/main" cx="36195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6d97d6cffef4d60"/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14C4D6-CE67-41BE-8CF5-7D15AB9E1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5572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1B4F7BA-3608-4401-BE98-561104A0E1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5524500"/>
            <a:ext cx="117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2024FY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7F6A80-CC8B-4F72-8E9C-A761C7FA1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375" y="5572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0BABFC-1885-4811-AD98-88B51CB90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5775" y="5524500"/>
            <a:ext cx="117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0007DDA-D4A8-4A8A-9629-DB40CB0E7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8625" y="5572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C59A0A-4873-4FC5-817C-34DEA7D7D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1025" y="5524500"/>
            <a:ext cx="117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2026 jan–jun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841721C-54C3-440D-BCCD-7A08F34BF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9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9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bucket ≥ R$ 500 mi soma R$ 27,7 bi em jan–jun/26; quantidade e volume fecham 100% em cada período.</a:t>
            </a:r>
          </a:p>
        </p:txBody>
      </p:sp>
    </p:spTree>
    <p:extLst>
      <p:ext uri="{BB962C8B-B14F-4D97-AF65-F5344CB8AC3E}">
        <p14:creationId xmlns:p14="http://schemas.microsoft.com/office/powerpoint/2010/main" val="40726350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5DA2379-18F5-4F66-9CAD-B4A0994CF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VOLUME E REGIME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897A43-578C-433E-89E8-35CAF5772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Melhores esforços concentram 96% das ofertas e 69% do volume em jan–jun/26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A413C0-F1BB-46C4-A504-BC4B7767F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F26325-BD1C-4BDC-8C44-319D30D57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CB7A8C-45EE-46F3-B8AA-C183A4AE4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9262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oferta_resolucao_160.csv, snapshot 24/jul/26. Cotas de FIDC primárias e encerradas; unidade = Número do Requerimento. Regime = campo Regime_distribuicao; garantia firme consolida colocação e liquidação. Cobertura: 100%.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6E0A90-CAD4-46FD-B164-D141856F4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CD39B04-21A1-44D5-A7D2-74FDFE7F8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049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NÚMERO DE OFERTAS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C69D63-598E-45C9-B159-3FFA50558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571500" y="1628775"/>
          <a:ext xmlns:a="http://schemas.openxmlformats.org/drawingml/2006/main" cx="5286375" cy="1885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62a2143ee7949f9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763B61-A3E6-4BA7-93E3-E39242D5D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049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46EB6E-46A6-40DA-B5B4-E934ECB9A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716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6" name="Chart"/>
          <p:cNvGraphicFramePr/>
          <p:nvPr/>
        </p:nvGraphicFramePr>
        <p:xfrm>
          <a:off xmlns:a="http://schemas.openxmlformats.org/drawingml/2006/main" x="6334125" y="1628775"/>
          <a:ext xmlns:a="http://schemas.openxmlformats.org/drawingml/2006/main" cx="5286375" cy="1885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4cfd70e3ad04ac8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B5FDEB-1978-4C7D-8A09-2862CD33C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600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7522DC9-FF17-45A7-A7BD-1E28B0614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3552825"/>
            <a:ext cx="98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2024FY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C5A9FC8-C0EE-41A7-906A-179E970AF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8625" y="3600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E54ED10-50C1-4EFF-8ECA-7F23CC434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1025" y="3552825"/>
            <a:ext cx="98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F48FBD-A9E0-46FF-87BF-226424902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3375" y="3600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3C43391-7893-49CF-A3DC-8897FAF3A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5775" y="3552825"/>
            <a:ext cx="98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2026 jan–jun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2362FE9-7C4C-49A5-8047-50DDCA690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6715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NÚMERO DE OFERTAS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E1255B-C1C2-4542-BDB0-8F08B2AF0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3385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5" name="Chart"/>
          <p:cNvGraphicFramePr/>
          <p:nvPr/>
        </p:nvGraphicFramePr>
        <p:xfrm>
          <a:off xmlns:a="http://schemas.openxmlformats.org/drawingml/2006/main" x="571500" y="4171950"/>
          <a:ext xmlns:a="http://schemas.openxmlformats.org/drawingml/2006/main" cx="5286375" cy="1857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801e5c396734e6b"/>
          </a:graphicData>
        </a:graphic>
      </p:graphicFrame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F979E5-C5DD-42D0-A385-AE4E78E25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86715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VOLUME · R$ BI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45F4703-EDD0-494E-8DB9-47D6EDB3E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13385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8" name="Chart"/>
          <p:cNvGraphicFramePr/>
          <p:nvPr/>
        </p:nvGraphicFramePr>
        <p:xfrm>
          <a:off xmlns:a="http://schemas.openxmlformats.org/drawingml/2006/main" x="6334125" y="4171950"/>
          <a:ext xmlns:a="http://schemas.openxmlformats.org/drawingml/2006/main" cx="5286375" cy="1857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608197a3a1e4a3d"/>
          </a:graphicData>
        </a:graphic>
      </p:graphicFrame>
    </p:spTree>
    <p:extLst>
      <p:ext uri="{BB962C8B-B14F-4D97-AF65-F5344CB8AC3E}">
        <p14:creationId xmlns:p14="http://schemas.microsoft.com/office/powerpoint/2010/main" val="827764262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9571D8B-010A-4178-8DAD-E3194BB88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OFERTAS ENCERRADAS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287E339-75D2-4D8E-8C93-D45D9C0F5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liderou 5 das 15 maiores em jan–jun/26, somando R$ 6,6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6F6EF1-1DC7-4C27-B6FA-4C7E636147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973579-1256-4285-A93A-7E7CE2B81D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E4A3CF-2C96-4C7E-AE87-43D4CFEB3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Oferta Pública de Distribuição; Cotas de FIDC, primária, status Oferta Encerrada. Nº de Inv. = soma dos campos Num_Invest_*.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387752-6D68-40D2-AC33-D82FE4BAD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F82C88-78C1-4B50-99D2-FA8C2A66B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JAN–JUN/26 · TOP 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24DAFD-B7BF-49C0-8AE6-6A2D58FBE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334000" cy="4191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28600"/>
                <a:gridCol w="1619250"/>
                <a:gridCol w="990600"/>
                <a:gridCol w="476250"/>
                <a:gridCol w="400050"/>
                <a:gridCol w="333375"/>
                <a:gridCol w="742950"/>
                <a:gridCol w="5429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IBBA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Inv.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 BANCO VOLKSWAGEN FINANCIAMENTO VEÍCULOS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Volkswagen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67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 MEIOS PAGAMENTO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Mercado…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INVESTIMENTOS PICPAY FGTS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 INSS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JIVEMAUÁ BOSSANOVA CRÉDITO SECURITIZADO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Qualif.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5.017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 D413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 FORNECEDORES DO 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 AGRO CITI-BAYER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FC043D-599D-4170-AF3F-2287CBE40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TOP 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53494B-9DEE-4EE3-A33C-F2E2E338A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"/>
          <p:cNvGraphicFramePr/>
          <p:nvPr/>
        </p:nvGraphicFramePr>
        <p:xfrm>
          <a:off xmlns:a="http://schemas.openxmlformats.org/drawingml/2006/main" x="6286500" y="1657350"/>
          <a:ext xmlns:a="http://schemas.openxmlformats.org/drawingml/2006/main" cx="5334000" cy="4191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28600"/>
                <a:gridCol w="1619250"/>
                <a:gridCol w="990600"/>
                <a:gridCol w="476250"/>
                <a:gridCol w="400050"/>
                <a:gridCol w="333375"/>
                <a:gridCol w="742950"/>
                <a:gridCol w="5429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IBBA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Inv.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PI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SANTANDER AUTO LOANS I 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 -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LP II COTAS LIM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Qualif.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Mercado…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BV AUTO II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TERA RECEBIVEIS COMERCIAIS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BYX MOZART - CRÉDITO CONSIGNADO 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934796B-CD6D-49E4-9540-7256C0087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R$ 23,82 bi · 36,4% do período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231050-B883-41F6-921E-5E8472DF9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R$ 26,23 bi · 22,5% do período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2ECFE3A-AF10-4006-B086-0DB1B3FFB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15050"/>
            <a:ext cx="1104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Empates usam o Número do Requerimento crescente. A base pública não contém proposta, fee ou preço de coordenação.</a:t>
            </a:r>
          </a:p>
        </p:txBody>
      </p:sp>
    </p:spTree>
    <p:extLst>
      <p:ext uri="{BB962C8B-B14F-4D97-AF65-F5344CB8AC3E}">
        <p14:creationId xmlns:p14="http://schemas.microsoft.com/office/powerpoint/2010/main" val="2131818903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83CC323-183A-4955-8640-77055E465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PRINCIPAIS CONCLUSÕES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107E29-52CC-40C6-9551-AADAFEAF97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797762-6780-423F-A4A7-01C0801AE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1AD94ED-AF08-4472-8E2B-37097FD92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9F773CC-92E0-4DA4-A204-3292ED693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9404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ANBIMA, BCB e FIDCs.xlsx. PF: proxy com 97,3% de cobertura; contas não equivalem a investidores únicos. Verticalização inclui FIC-FIDC; Top 10 ex-Petrobras/TAPSO. BTG: 30/32 raízes observadas; ofertas até 30/jun/26.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BC336E-33E3-4A18-8274-85687340F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4BF64D-264F-4280-B6EC-E8C48A9A5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4783E3-6CB6-4277-AD1A-1883C7449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B6E248-A3F4-41EB-B78C-0FE6E32B2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7FA4CBD-93DC-4EDF-B262-6E4E7B49A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03137FF-266C-4F4C-A213-31FA7D16A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90,3% do PL: nove em cada dez reais da indústria.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35,7% do PL.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03B8641-4551-4FB8-AA44-D69CE2942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59F68F6-0A0B-4102-9C2F-365ACC8BA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FC57B3C-B219-4B0D-A2E2-C0680542F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35,0% do PL continuante já havia migrado de administrador até jun/26.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D8656BE-469A-4B8A-8AD8-49366EAD3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8521A27-2E80-4EF8-9B35-74BC084FB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839331-E9E5-47B1-9385-0EE6537F4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7,2% do PL comparável trocou de administrador entre dez/24 e dez/25: R$ 33,0 bi em 257 fundos.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27% do volume migrado, com R$ 8,9 bi transferidos de Oliveira Trust para Bradesco.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AA9693-14B0-4159-AFA6-797E2ED23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CFDAAA-1AFA-4D5E-B7B7-21F1AD52A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C5C1AA-745E-46C9-8FCC-016659703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36,4% do PL ex-FIC; a líder, BTG, tem 10,2%.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71,8% e 72,8% do PL nos dez maiores grupos, praticamente o dobro da concentração em gestão.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64A601D-1A9B-415F-B4D6-8337B8F2A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464B3D-7205-4CE0-8C19-9AFBDF5D9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D0514B3-24AF-41E3-83BF-D5772DC81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Essa carteira responde por 66% de todo o PL atendido pelo BTG no combo completo, indicando forte ancoragem nos veículos da coorte bancária.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223BABB-F5AE-4668-A94C-1316AD825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E298852-E720-4EC5-BA8C-E640CBDAB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149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260D192-0951-46E0-B4F7-2BE9B31822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530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2025 e 60% sobre 2024.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2025; na sensibilidade sem essa oferta, o mercado teria avançado 5,0%.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884C913-F3A8-4CC5-88F7-F76C8C798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293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114697239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C2767EB-84B8-48B1-B183-4D0CA9D6E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ESCOPO E FONTES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8FEB06-4C61-4F7C-85E1-BB51CEF53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Escopo, fontes e limitações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BC9083-A0D3-4ECB-87EA-AC25D7901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6CB8CC-61B8-4585-84CD-AEB70F408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3CC0D4E-9085-47AC-BE18-C0802E5D2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• CVM, ANBIMA Data e FundosNet.  Ofertas consultadas em 21/jul/26.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4A0825-0C8F-468F-A94C-4A8692F27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9834CA-1644-4175-92B7-84BC68674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104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71B166-CB04-4EF2-A83E-DEB6FF828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69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Tema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060589-C2C0-4900-BD76-43670DC13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4097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Universo / 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FD6483-A881-46D8-9135-725AD1EFE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409700"/>
            <a:ext cx="588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Definição e limitação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FB800B-17DB-4501-914D-BABD1A415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0497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CEAFE24-DDBE-4B2D-852A-CC89A1B35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982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B82856F-7ED2-4301-83B5-0D323C572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3355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 base investidora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F3C728-2F8E-4308-A2D4-0B0B6BD20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73355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4.252 veículos; 4.247 fundos; 30 de junho de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3B8CFB9-A5EA-4DE0-86AB-FEE8DB846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73355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bruto, ex-FIC e FIC-FIDC reconciliados. Contas se repetem por classe/série e não equivalem a investidores únicos.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229B4A-046C-4C74-97A9-517747670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A9B8767-C19F-4F4A-ABF7-A949683B7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242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7BEB1C-31B4-4C0C-8296-35CCFE775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4792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 e Foco ANBIMA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C57A0D8-497C-416F-BF9B-FA2094DC2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44792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89,85% oficial; 0,00% evidência; 7,89% proxy; 2,26% N/D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D206783-1718-49A6-B451-CF96AE741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44792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Tipo, Foco, origem e data permanecem separados. Séries históricas de gestor/custodiante usam cadastro vigente e não são like-for-like.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16BF8C0-D137-4E89-8665-432D0BB04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3372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E9D6178-A1EB-4B8F-8D56-5DAE1BAFD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3857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56EE33C-CD77-427C-B5FF-61B3A514C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6230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7A13CA1-E848-409A-9BDD-921281A8C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16230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4.252 veículos; jun/26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BDF354B-D7A8-4D33-8896-352F25A6E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16230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Cap por veículo; vazio = ausência de reporte. Ex-360 indisponível por falta de reconciliação do aging.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F362406-BDB4-4853-A97F-039EA6E5B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4810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DC191C7-051F-47C0-BFB2-640FF9B6F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529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59BB32B-BD0C-4C10-8BB3-72766CFC7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7667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Market share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05886D5-A804-415A-A4CA-F8F885E55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87667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 focos; 3 funções; jun/26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9D0465B-102C-45CC-8D33-E75DAC628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87667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Denominador = PL do subtipo. Top 10 fixo por função; Outros identificados e prestador não informado separados. PL negativo consta no QA.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94D5449-601B-4386-844B-A294CDE82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6247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E3622A8-A362-4F42-8464-3E6FC51ED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1C33BD0-1FA0-49BE-8A22-5B35B838B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9105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2990A58-42CB-454F-92D6-848BEE25E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59105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4.247 fundos; jun/26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85DC542-15F5-4DA0-B50C-9D600BF07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59105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Mesma entidade econômica normalizada nas três funções. Concentração não prova poder de preço ou condições comerciais.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F8DBEF9-3E3B-41AD-B618-2A4B627D6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7685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08BAE70-EE64-410A-9D27-6E98B046E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817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2FA3C96-344E-4BBC-9E17-731910E1E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0542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Ofertas encerradas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4011EAC-7B17-4A61-AA61-D9CA527CA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30542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2023–2025 FY; 2026 até 30/jun/26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C5585EC2-FA66-4684-B1EB-E304B1F01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530542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de FIDC, oferta primária, status Oferta Encerrada e valor registrado positivo; coorte pela Data de Encerramento; unidade = Número do Requerimento.</a:t>
            </a:r>
          </a:p>
        </p:txBody>
      </p:sp>
    </p:spTree>
    <p:extLst>
      <p:ext uri="{BB962C8B-B14F-4D97-AF65-F5344CB8AC3E}">
        <p14:creationId xmlns:p14="http://schemas.microsoft.com/office/powerpoint/2010/main" val="624067376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C8F672-2A32-499A-9CDD-E2B50E874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1D2E75-260F-4D26-A59B-825A7413E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Administração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2207B4-75E9-4EA6-9FE6-43E183568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AF26DB-F732-458F-B78D-DD7935030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AB8F4AC-6197-4947-934B-2809A5A85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97,3%, fora 2,7%.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9A7E53-A8B2-4E27-94E3-97B585588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52d699e7a5f4cf1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3B2180-5522-444F-AC9E-A42502225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383190-B556-42D4-BE59-DA5420BFF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1145911877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2F6A70E-8E56-414F-ADF1-49661EC36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775C132-2C59-40DE-A003-1EEDFA5D6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Gestão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6CC6E38-861E-402D-8878-E586B8C22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C10F8B-4CC9-4AD3-923D-562C1551A9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4F9D5D-473B-4895-945D-78B34531A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97,3%, fora 2,7%.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0EB22D-6AFE-44E7-A49C-E82C4E7F1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c9d0e2037a94edd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AC6E75-EB78-4D41-A7D9-10706ACA4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2F471E-2763-4C93-8246-8A034BB90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1342068316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86BE95-EBF4-4B5F-9767-E0654103D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FA266B-E5D3-434D-A55E-929B61E42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Custódia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6E8D46A-603C-47E9-B3A7-4ADBA1F6C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950528-A602-4C47-82DC-6FE2503BE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41401B-AC2C-4444-846A-D2723A6B4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97,3%, fora 2,7%.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F60C07-052B-4CC3-96DC-73390BACCC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fa63beead894694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6D28EA-4EB7-4DC6-B93A-F7E770708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A64C2E4-937E-4639-A23F-AECABB245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233065484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73CF95F-310F-4E9E-A3E9-0EA02D661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B3DA85-EC0F-473E-9561-CD95C5B26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 FIDC Sistema Petrobras — R$ 61,3 bi e 7,0%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1E57AA-CEFE-44E6-A008-A7D5CA0E4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C92E47-EDF0-4C07-8AD0-A12712012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7FE81B4-B7CE-4ED4-B15F-B40AEADEC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https://fnet.bmfbovespa.com.br/fnet/publico/abrirGerenciadorDocumentosCVM?cnpjFundo=09195235000150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B99333-4543-4EAD-AB1A-29439FDB5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FF2BF8B-320D-47EC-88C8-FB58A70C6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09.195.235/0001-50 · FIDC DO SISTEMA PETROBRAS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11A1DD-5E6B-41A0-87EF-F01286601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06D8F4-44C6-4307-A974-9B91D8114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53AC5B-244C-4C99-AE48-76725E978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8A4F1F8-7F2A-4E6D-A070-541C50D2C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Empresas integrantes do Sistema Petrobras que cedam direitos ao fundo; o regulamento não traz lista fechada de cedentes.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198500-BCC2-437C-9E3D-8C5F7D921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C58EBA-5582-467E-8201-0FB46146F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às quais as cedentes prestam serviços ou alienam bens.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D5704A-A2DA-4DD7-A4B5-35BFD2C10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4A1B0DE-8259-4673-8D96-E5D05CEC6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originados em operações industriais, comerciais e de prestação de serviços das empresas do Sistema Petrobras.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8F6260-2FC3-40CD-BB55-E047EF42B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A90191E-0380-4FAB-9B10-180D6838D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 empresas do Sistema Petrobras cedem os recebíveis ao fundo. O pagamento dos devedores passa por conta escrow no Banco do Brasil; as cedentes podem atuar na cobrança dos créditos inadimplidos.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8E5B9F-B8F8-49E6-B36A-A76FE842B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D9A1AA-7158-4EB5-90DF-233BA0DBA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E59B5C8-F708-4760-B78F-4C149970E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72190CB-CBEF-4834-A805-CF773F9CE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9C32652-50FE-4D8D-AB9B-104043606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3D4FCDB-B332-42C6-8EFB-F59F52CBB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Subclasses sênior e subordinada. Enquanto houver cota sênior em circulação, deve existir ao menos uma cota subordinada; o regulamento não fixa razão percentual adicional. Garantias: Garantia específica dos recebíveis não identificada no regulamento consultado; o investimento não conta com garantia geral do administrador, gestor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0F329A2-086B-4583-903B-947671692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DBF1AA-4610-4783-BDC3-57008FCEE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DO BRASIL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98F6827-283F-4158-8C6F-0179E603A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A8BF762-7287-4AE8-A552-1672927FF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2FAC5BB-B91E-4E69-BBA0-DABAB4D9F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5301DB1-3A7D-44E7-A727-2CEF0C1C8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o Tipo/Foco oficial ANBIMA.</a:t>
            </a:r>
          </a:p>
        </p:txBody>
      </p:sp>
    </p:spTree>
    <p:extLst>
      <p:ext uri="{BB962C8B-B14F-4D97-AF65-F5344CB8AC3E}">
        <p14:creationId xmlns:p14="http://schemas.microsoft.com/office/powerpoint/2010/main" val="2018951027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A5C1267-B628-48E1-9FAA-466BADC8A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3ED84C0-4BA7-4455-A6F1-82B512C52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 TAPSO — R$ 41,5 bi e 4,7%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8AE8D7-9CEB-4220-B8CF-31E866C64B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712F643-0DE2-46CC-AAC3-69AD3E542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DC1355-F1ED-49D6-8BFC-8C3104800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https://fnet.bmfbovespa.com.br/fnet/publico/abrirGerenciadorDocumentosCVM?cnpjFundo=26287464000114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B92780-C83C-4791-B301-CD4F1019B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DFF415-3547-473C-B23B-D11858AD0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26.287.464/0001-14 · TAPSO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09F5A3C-63F8-4088-AEFE-632A9F2A9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8BD7A64-CBBF-4D7C-84AA-A4CFA293F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818A47-F79F-4E2E-B6E6-A552B82A9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A1234D-B5EB-46F4-A863-0D0016460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credenciados, representados por Stone/Pagar.me ou adquirente autorizada, e instituições financeiras parceiras; o regulamento cita a Stone Sociedade de Crédito Direto no fluxo de sub-rogação.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1B1DA0-944B-4469-80E8-F7AC1EDEB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F97DE2-6F4D-4EBA-9410-0C49A237F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Stone, Pagar.me e demais adquirentes/subadquirentes autorizadas nos contratos da operação.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AB6CF8-2DE2-4664-8366-999BF8699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C2BCC4-54AA-4CFB-BD2F-05E84C297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e créditos sub-rogados de instituições financeiras parceiras.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A822AC-4424-445D-AACF-DC850E0F7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4881EC3-F05E-4440-A22E-689069FF5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recebíveis dos estabelecimentos e direitos sub-rogados de parceiros financeiros, com revolvência e pagamento pelos participantes do arranjo de pagamento.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ABF2DF-3058-4AEB-B768-ACE53C9B5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7BFED40-40E5-418C-A530-98A6C2ACA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25DF27A-F7AE-4640-9B62-8FA6FA8F4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FD56730-5839-41DD-A302-AB4663DF5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02379B-D182-4DF3-BB60-CAB3A612E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583041F-CDA3-4A1F-922A-C2D6EB561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A, mezanino B e subordinada; razão total mínima de subordinação de 20% do PL da classe. Garantias: O regulamento admite cessão fiduciária para assegurar promessa de cessão; não há garantia geral de prestadores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E844FDD-A38E-4BC9-8C97-F98E881BF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2DA99AE-FA9F-4746-994B-0A584CABC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OLIVEIRA TRUST DTVM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OLIVEIRA TRUST SERVICER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E7FD279-77C1-481C-BEC2-48CE5821C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A90B059-5F0D-457D-9626-C60B21530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BCC176B-B477-4E02-BCB3-E8F4639DF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CEE74BC-E33A-423A-B316-C3ECC5BEA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Financeiro/Crédito Pessoal; o regulamento consultado descreve predominantemente recebíveis de meios de pagamento. Manter as duas leituras separadas.</a:t>
            </a:r>
          </a:p>
        </p:txBody>
      </p:sp>
    </p:spTree>
    <p:extLst>
      <p:ext uri="{BB962C8B-B14F-4D97-AF65-F5344CB8AC3E}">
        <p14:creationId xmlns:p14="http://schemas.microsoft.com/office/powerpoint/2010/main" val="1321873526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DF63CBD-BF80-48CB-833F-8B635BC49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A4EF15-89D3-413D-81F6-5606C4D96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#3 PAN Auto — R$ 18,0 bi e 2,0%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5F6C3C4-F342-480D-AA68-EA61F33AC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192F3A-8C5B-44C9-BE2D-B51AA4745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9065C63-A90B-406D-83E1-1EFDD31B6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https://fnet.bmfbovespa.com.br/fnet/publico/abrirGerenciadorDocumentosCVM?cnpjFundo=65473848000183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00AEA6-6863-40F9-A1FF-A68E0C663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3450DC-4574-48C7-AE75-4BD4219A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65.473.848/0001-83 · PAN AUTO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E0068F-5526-43F9-A3E0-C4BA9755B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A61DE7-8F6A-419E-BEC8-11C024737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A76A44D-3FD1-40A2-A07C-21BC92017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091710-B3D7-4821-B680-BBAEB85B8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nos documentos selecionados.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C0C7EF-DE32-47AD-A7CE-2B4052283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20F74F-365F-4004-8BCA-F2CB47E47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responsáveis pelos precatórios federais adquiridos no 1T26; nomes não identificados.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E5885FA-F5B6-4620-8EE0-0FDBE1E1E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594CA5-EF45-4D20-A5B2-4D157CA93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relatório trimestral confirma que a exposição incluiu precatórios federais no 1T26. O documento não demonstra que toda a carteira era de precatórios e não há evidência primária suficiente para classificá-la como financiamento de veículos.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828B46-3B4A-4646-BE7E-3BAD71FD3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1A3A305-B97D-4AD5-8E87-A71847836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recebeu parcela cindida da Classe Única do BTG Empresas em março de 2026. No 1T26 houve novas cessões definitivas, alterações de garantias, pré-pagamentos e alienação parcial de direitos.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B768533-D2B4-4990-A4D7-A971E42D9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810AD53-2137-475A-8D61-AFFDB87C4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63F9E6B-3523-447D-9665-E31FBCFB0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C6BB8F0-518D-4AC0-B103-9BB2ECEA6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2026-03-18 | incorporação de parcela cindida da Classe Única do BTG Empresas | montante não identificado | doc. 1142758; Evento societário/patrimonial; não é oferta pública.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1D52446-0963-42DA-ACA8-E6C0588EA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CB5C74C-31A3-4B01-A394-DC4AECAF7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nos documentos selecionados. Garantias: O relatório confirma alteração de garantias no trimestre, mas não descreve seu conteúdo.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D14F5E1-A912-4D88-8DFC-4330C780F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68A2116-2CC1-40F2-B95F-4276DD9B3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GESTORA DE INVESTIMENTOS ALTERNATIVOS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817A671-1D04-4941-97B9-9555C5B0F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90B451A-E67F-4187-ABBA-5FF33A559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 não identificado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nao_identificado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244D371-74D6-4CEA-87B5-CF0390B8C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B811973-5819-4910-BB36-2C8E0E49B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nome PAN AUTO não é evidência de crédito automotivo. O classificador local baseado no nome deve ser descartado; a única evidência econômica primária localizada foi a aquisição de precatórios federais no 1T26.</a:t>
            </a:r>
          </a:p>
        </p:txBody>
      </p:sp>
    </p:spTree>
    <p:extLst>
      <p:ext uri="{BB962C8B-B14F-4D97-AF65-F5344CB8AC3E}">
        <p14:creationId xmlns:p14="http://schemas.microsoft.com/office/powerpoint/2010/main" val="490960983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B601A91-11BE-490B-8C11-D6FF2AC88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0675EE-A52F-48EB-8728-9D1DDF6FE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#4 CloudWalk Bela — R$ 10,0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537730-A7D7-4E80-9530-4C5A9B1C2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12CA9E4-DE00-4B27-B80F-BDDE880A3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051A82-A972-45D7-BA2A-351D98303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https://fnet.bmfbovespa.com.br/fnet/publico/abrirGerenciadorDocumentosCVM?cnpjFundo=62393679000183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B732FE-8F1C-412E-81D9-963B2909D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5179AC-A765-4C5E-8E71-6FF8A5A61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62.393.679/0001-83 · CLOUDWALK BELA FUNDO DE INVESTIMENTO EM DIREITOS CREDITÓRIOS SEGMENTO MEIOS DE PAGAMENTO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5DBD4B9-1332-4BDD-ABEF-9AE976C62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C7D93F-FE5E-4C83-9498-B02184715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01C3EC-29DA-43CF-8FC7-7B964D62D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1EC7060-54CA-4197-83FC-8529F3D23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Instituição de Pagamento.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759AE1-07DB-43AE-ACEF-DFA900D32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BD0ED97-E908-45CE-BED8-E6CA0F8AF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 e instituições de pagamento responsáveis pela liquidação das transações capturadas no sistema CloudWalk.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760962-9B24-4935-A222-60419BBDA5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980655-556E-4C81-AEBE-CC0CF40B0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devidos pelos emissores à CloudWalk, como credenciadora, decorrentes de transações de cartão realizadas por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26296E7-9CC7-45EE-9A16-762942579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F179E3-4D35-4088-809D-521DCE3E0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CloudWalk cede à classe recebíveis de liquidação de transações de pagamento; os fluxos dos emissores alimentam o pagamento das cotas.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C61AE8-56B5-45CF-A3BC-650F3EDB3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F5FC40-62D5-4836-9619-5BB249A3B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FAE46DC-04CD-4398-A7B3-B35990217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D0C626-3D84-45B2-AF60-4C9FCC1BF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2026-04-20 | encerramento de oferta primária da 2ª série | R$ 5.500 bi | doc. 1166893 || 2025-09-16 | encerramento de oferta secundária da 1ª série | R$ 4.200 bi | doc. 993253; Oferta secundária; não representa captação nova da classe.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A8DF66-2FE5-4570-8DA8-8FB286AC4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097999E-D0DE-4923-A793-811519EFB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Sênior, mezanino A, mezanino B e júnior. O regulamento contém índices de subordinação por fase e marcos ligados à oferta da 2ª série; a fase aplicável em mai/26 não foi reconciliada e não deve ser resumida como percentual único. Garantias: Subordinação por subclasses; garantia específica adicional não identificada nos documentos selecionados.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2F35188-1911-455C-9F7E-7244A0C094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A4FE3E7-8C6D-4DBF-9735-8AD715023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6A4CE30-53A4-4672-90A5-8FF1A49DC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729F0DD-5167-4F5F-9A2A-F05517941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2E4C8F8-A15E-4928-B5B1-9073D81CE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C53FB98-93DB-4B7B-BDF7-D49DBDBB1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313074562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F3CF5B2-52D0-4290-9A6F-BC95E40E4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62492C-A0C4-431B-AC9A-16661929F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#5 MT Global · Consignado Privado — R$ 9,4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2516EF-C4AE-44BD-9075-861A551BE1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30E6A57-3402-4838-996B-2298604A3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0C6FA59-7A3E-46C0-A29C-3CB8FFEC03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https://fnet.bmfbovespa.com.br/fnet/publico/abrirGerenciadorDocumentosCVM?cnpjFundo=63953620000165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38493D-A547-4D4E-BC93-A9FEEFEB4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ABE0FD9-FA7D-4806-AC2E-5B710CD5C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63.953.619/0001-30 · CLASSE CONSIGNADO PRIVADO DO MT GLOBAL FUNDO DE INVESTIMENTO EM DIREITOS CREDITÓRIOS RESP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5185C5-DCD9-444E-9DA2-45D227BB0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86A38B-DADA-4AA8-BAF8-563F41A7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A5715D-1AA5-4948-8522-F77B539F4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7EC6D2-CA4F-4C87-A8B1-7252017E3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Parati Crédito, Financiamento e Investimento S.A. — CNPJ 03.311.443/0001-91, como endossante das CCB.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BF3C86F-76B3-4E3C-A8B8-DE5DB52F9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C2C479-76BA-4951-927A-8D1DBBE83A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empregadas em empresas privadas, tomadoras de empréstimos consignados.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296F77-013D-4F51-B05A-A843A0107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5C29980-8E0F-43BE-AD8A-02E22387F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de CCB de empréstimo consignado privado, processadas pela infraestrutura Dataprev/CEF prevista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5BCC32-6CC6-4F89-805D-4CCF70258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45AB1A-BCC0-4C18-8982-B887B4D58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Parati origina e endossa eletronicamente as CCB à classe, sem coobrigação geral; o desconto em folha direciona o pagamento das parcelas.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C5E2A9-C22A-4C50-ABFC-54C2368CB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558338D-D3E1-43EC-82D1-717717357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1DCD6DD-BB61-4607-A7E6-35F926157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045F1C-EB20-4E03-985D-47BF69431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393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2026-01-08 | aprovação de colocação privada de cotas sênior em vasos comunicantes | R$ 15.000 bi | doc. 1087883; Valor máximo aprovado entre classes; não comprova captação nem pertence integralmente a esta classe. || 2026-01-08 | aprovação de colocação privada de cotas subordinadas da classe Consignado Privado | R$ 0.007 bi | doc. 1087883; Valor máximo aprovado;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A9F3BA0-F9B6-4B00-8651-E7A056EF0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84CAC03-6D20-4ABC-98CD-34AB259C8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Índice mínimo de 1% do PL e índice-alvo de 10%; os dois parâmetros não são equivalentes. Garantias: Desconto consignado em folha; cessão/endosso definitivo sem proteção geral contra inadimplência.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061B77F-6606-44DA-B891-BFB519878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BF410A1-886F-499C-B3D9-E11344DC4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ASSET MANAGEMENT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56157AF-4A25-4282-A8F3-7E9FB41C9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578FC08-AFBC-4AD6-BE43-2A7E5C0F9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· não identificado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nao_identificado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D3C3BBA-2B68-4B16-AFCD-B14B535BF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A85BBA8-0F00-4A42-8A7B-5DFBB1B38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Tipo/Foco não identificado no snapshot ANBIMA de 29/12/2025; o anexo documental descreve consignado privado.</a:t>
            </a:r>
          </a:p>
        </p:txBody>
      </p:sp>
    </p:spTree>
    <p:extLst>
      <p:ext uri="{BB962C8B-B14F-4D97-AF65-F5344CB8AC3E}">
        <p14:creationId xmlns:p14="http://schemas.microsoft.com/office/powerpoint/2010/main" val="519282465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476BB66-DB81-4190-9C17-E4D3E5120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5271A4-2DF1-4FCB-BA22-0FE64F7B9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#6 Itaú Crédito Privado — R$ 8,7 bi e 1,0%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F3DB6B-F54B-4CB7-81CA-E4D6F8A3A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BFB54A-78C9-40CE-9D85-AC57578F8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2E73C30-701B-499B-8E54-947648448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https://fnet.bmfbovespa.com.br/fnet/publico/abrirGerenciadorDocumentosCVM?cnpjFundo=53286499000101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B5E92DB-2929-422D-ABF3-4F6B735281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E093155-8F62-4FEB-BFE1-14EBC64E2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53.286.499/0001-01 · ITAÚ CRÉDITO PRIVADO FUNDO DE INVESTIMENTO EM DIREITOS CREDITÓRIOS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752AD5D-20A0-4D77-89F4-B2D34F2B4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AD9569-8571-430E-AAE4-7C8D64F25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C7F52F-C1FD-4DA0-8D0D-147AD16CD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E78F683-7127-4742-A8C7-305B67113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como entidade única; os instrumentos podem ser adquiridos de emissores ou no mercado, conforme seleção do gestor.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5E51BF-C815-49E4-89E3-0B5696912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D8C9FBD-2A01-4AD2-B1D4-B224BF684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Emissores, devedores, coobrigados ou garantidores dos instrumentos de crédito da carteira.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E47E98F-CACE-4D11-B04B-7079BA296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1FBEB7-EC64-4843-A0BA-CC12BC10F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Debêntures, CRI, CRA, notas comerciais, letras financeiras, LCI, LCA, CDB, CCB, CDCA, cotas de FIDC e outros direitos de crédito previstos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C92039-8715-4E22-86F0-BAD43B0F3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4447C6-2693-43CD-9997-26A8F0FAA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discricionária de crédito privado, sem um único cedente ou fluxo operacional padronizado identificado no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4C42423-A591-4B47-A9A9-B20D3397D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FC6D734-BE3E-4229-842E-48BFEF51E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1DB617-76F3-4C39-A03D-2D9799FEC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F7999D4-B177-4E72-A675-E086121C4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A159D5C-2E7C-4989-B6FD-D23CFF77D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BAFE591-D8E5-4F9A-94B9-60C7AB6D3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e subclasse únicas, sem cotas subordinadas no regulamento consultado. Garantias: Variam por instrumento; não há pacote único de garantias descrito para toda 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A9358C2-1A04-4242-82EE-F5E4BC142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711F1DE-00E0-4D10-B542-C6867C348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ITAU UNIBANCO ASSET MANAGEMENT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ITAU UNIBANCO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EAEAAA1-49B2-4DCC-B4FA-E38E15215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A0F5CE-9B79-4588-BE58-97917C094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0C91867-C5EB-42AB-B9F6-19BFAA2CE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4121AC6-F614-4B8A-A4C2-A8BD08559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Outros/Multicarteira Outros.</a:t>
            </a:r>
          </a:p>
        </p:txBody>
      </p:sp>
    </p:spTree>
    <p:extLst>
      <p:ext uri="{BB962C8B-B14F-4D97-AF65-F5344CB8AC3E}">
        <p14:creationId xmlns:p14="http://schemas.microsoft.com/office/powerpoint/2010/main" val="1513605804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80DB63B-AE3B-4EA2-8221-CB702A2AA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B6B20CA-6120-4CBC-9F35-A20C78AFD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#7 BTG Consignados II — R$ 8,0 bi e 0,9%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A6A033-FE68-4762-B317-AE5DA7318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6882D7-9951-43BB-A2DB-09FD3959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5F3913-9947-42B6-B110-D4B7A112A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https://fnet.bmfbovespa.com.br/fnet/publico/abrirGerenciadorDocumentosCVM?cnpjFundo=52242420000188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19D6E0-B60B-42AE-9DF7-31F4D4DFB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EDD467-A43F-464F-9D10-89EB48F61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52.242.420/0001-88 · BTG PACTUAL CONSIGNADOS II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112B4E-78FE-4DF0-8D9A-E51BA91E1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EEB931-C2A8-454F-A096-4B021EAAF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303446B-24D7-4DB8-B60B-6498149BB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EFFF423-DF73-4235-98D1-2210798CA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CCBs; nomes individuais não identificados no regulamento selecionado.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055EEF3-9064-4AC0-8D8D-3F5D092EB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3F6B7B-D932-4C3E-98A8-053076E79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INSS/Auxílio Brasil e trabalhadores com saldo de FGTS, conforme a modalidade da CCB.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D4FB51-5E34-486E-A5B8-DC0133838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B5BF01-A118-4B92-9372-21D56F8A5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cessão fiduciária do saque-aniversário FGTS ou consignação operacionalizada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1EA28CA-AF42-4DB4-8402-89032B6F6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F85A32-D006-4713-AE83-23BC04589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ou recebe por endosso parcelas de CCB; o pagamento ocorre pelo fluxo do FGTS/CEF ou por consignação processada pela Dataprev.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959A3DE-EEE3-42BF-9D11-953DAF193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3A09A7-7FEC-4EFD-9731-0FAB2342D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F0C2A81-6F82-4A65-BB5C-356363137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4059D82-6D61-4DF0-BF48-4E743B099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2023-09-19 | aprovação de primeira emissão privada | R$ 2.500 bi | doc. 523931;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9EF8C8B-FDC9-41A8-9876-58193CB97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631620B-5CDB-4722-A5E1-D9B7129B2D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única com cotas pari passu no regulamento atual; não há índice de subordinação. Garantias: Cessão fiduciária do saque-aniversário nas CCB de FGTS; nas demais modalidades, consignação conforme convênio aplicável.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0549CBD-56A0-4475-A557-0E2A4BB56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A6BBF9E-277C-43E7-B03E-521F355CF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D5DA26-DC64-4C09-B126-02106CA7C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2ACDFBE-5232-493F-B98A-DEAEC1C48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AFDB387-D13B-44FF-98B7-013E7517A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19280EF-48C4-4884-9593-BF1179342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Financeiro/Crédito Pessoal do snapshot, embora o foco contratual seja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1221272343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B701069-2F5D-4766-B314-2BB4EB214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E96F64-9E53-4FC4-A867-4F2BD4518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#8 Aetos Energia — R$ 7,4 bi e 0,8%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46C370-FF69-435B-BD10-34D3AD420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148208D-973B-4C47-922B-6CA65E57A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33179F-0D6B-44F1-9642-41CEE518E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https://fnet.bmfbovespa.com.br/fnet/publico/abrirGerenciadorDocumentosCVM?cnpjFundo=52610624000124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61400E-0C77-492A-B401-0A3DD858F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2CEE66-C060-471B-A6D4-B00A8CA9C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52.610.624/0001-24 · AETOS ENERGIA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C07F4D3-DE4F-4492-92FE-315C7BF3AE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8CA8960-F54F-45AC-ADCF-D05E5A1CB8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06BD93-CF10-425C-8D34-172656ECC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FFD9F3-818D-41D8-AA4A-DE4FA5894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 Comercializadora de Energia S.A. — CNPJ 34.475.373/0001-30.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61F293-9E92-4D49-BF3E-4BD755181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AC2DDA-B859-4E77-9262-F5A43EAD2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Contrapartes compradoras nos contratos de compra e venda de energia elétrica.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EFC6DC-DFB2-4D75-BEBC-ACCC6BC47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79ACE63-DAEB-425E-AA5B-E77658737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Fluxos presentes e futuros decorrentes de contratos de comercialização de energia elétrica.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0CF178-C4C7-4DED-B7BE-C42D7A7FD2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9DC7D4E-C671-4E0B-AA04-EA522BAA2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XP Comercializadora cede os recebíveis de contratos de energia; os pagamentos dos devedores transitam por conta escrow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1DFA142-069D-4DC1-844F-94E9C6BC9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A2B49A6-A2B6-4826-B1E3-332F3DCB8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4FE154-ECBD-49BC-BCA2-54A5AA381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535EB9-E17E-4B4E-B2EA-022EB73FA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286D1EF-1391-4046-AECA-FB6D64F0F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77842A-2DE0-4EB1-BE47-FF44E2E40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O regulamento vigente em 21/11/2024 fixa índice mínimo de 10% do PL; o instrumento de constituição de 19/10/2023 trazia 15%, indicando alteração contratual entre as versões. Garantias: O regulamento admite acessórios e garantias dos contratos, sem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9F3D7DE-0901-4F9E-B148-E714650BF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1634213-6DE1-48A2-965B-DC07F49AA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512E14A-D59A-4D62-9F2D-FB02852C7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CE872F6-FD7B-439D-907B-9C3079D3F2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5E13A8D-FFFA-460A-A9E7-7487ECD70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99BB980-A1D3-4D5A-88E2-EDFA11988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Agro, Indústria e Comércio/Recebíveis Comerciais.</a:t>
            </a:r>
          </a:p>
        </p:txBody>
      </p:sp>
    </p:spTree>
    <p:extLst>
      <p:ext uri="{BB962C8B-B14F-4D97-AF65-F5344CB8AC3E}">
        <p14:creationId xmlns:p14="http://schemas.microsoft.com/office/powerpoint/2010/main" val="1038554717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306CD03-797D-4E8C-9488-D63527856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AC7A00E-C4F7-4035-B483-32D1515EB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#9 Cielo — R$ 6,5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001D85B-EAB5-4FA5-B8E5-BE754997B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ACAE9E-9E4F-4012-9C9C-F15BEFB0B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05DF10-A9E0-4980-8C90-550F211BA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https://fnet.bmfbovespa.com.br/fnet/publico/abrirGerenciadorDocumentosCVM?cnpjFundo=26286939000158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334A678-9F90-42FA-A0DE-C4620BA1C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783A07-B9D1-4CA8-81C8-7883FEDAE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26.286.939/0001-58 · CIELO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BACF97-73A9-4E85-B65E-C842F6D0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F855C0-5452-4C4E-9BC4-8868FE7D0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098403-4DD3-4262-801D-E9B077132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0B3E1D-C89E-451F-9D83-44F3A730F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à Cielo.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CF1A14-3CBF-4281-AC66-B9C1AF6FE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5FC545-FC52-4E0E-BDC8-CBBA2872E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Cielo, como adquirente e devedora dos recebíveis cedidos pelos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7BDFC7-B414-44A1-86B2-F64895892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C46B4B-35BE-472A-8885-E7CF462A9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liquidação de transações de pagamento/unidades de recebíveis processadas no Sistema Cielo.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83923AD-3672-4F11-8DD7-BC38654E7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559068-1195-4445-8BEE-ECB5199DDF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recebíveis contra a Cielo; a Cielo liquida os créditos para a classe conforme os registros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3AD5CF5-66E0-4DBB-83D0-78E966877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C34DB8-B63E-4D95-975C-5C1A88E51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86EF39-6271-43AB-9C9E-32331E5D6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182C617-A21F-483E-95E8-41F72EFE5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2025-11-03 | encerramento da oferta da 4ª série sênior | R$ 1.000 bi | doc. 1026980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E716250-C268-4A69-B605-B1B0E9B6A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75E147-83E4-42B2-AA2B-69444EA76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mezanino mais subordinada devem somar ao menos 20%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3DBA05B-CCBF-4BAD-A6D9-45AC10AA4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7A4D2DD-68A6-40A0-B447-BCFA2710A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B9D72D7-A338-42E4-9216-F9E762A22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4860595-93AA-4675-B296-00631A07C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C6F5115-E66E-4AE9-A028-2DBE67E6B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D934D2F-C891-4097-93DE-7B2DDDFE0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670136485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E90823A-08BB-4B3B-B33D-4B63F2B64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AD5ECE-E237-4858-A041-F55723E3E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#10 Rio Vermelho NP — R$ 6,4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5439DAD-C1C4-4F4C-BC98-FB2671A98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BFA89A-B73E-453F-B79B-74E1EBAEA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4E6B29-0A71-4458-B946-0FD700831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https://fnet.bmfbovespa.com.br/fnet/publico/abrirGerenciadorDocumentosCVM?cnpjFundo=53216449000158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8D38D7-542D-4A90-9A0F-CEA463780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8B1AAD-7598-439E-8D55-FD1297C70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53.216.449/0001-58 · RIO VERMELHO FUNDO DE INVESTIMENTO EM DIREITOS CREDITÓRIOS NÃO PADRONIZADO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37CE12-1D34-413D-9983-68D133E6B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6A0149-89DB-40E0-B18C-795BF1558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3665FE-D83B-42E0-98AA-9820F54C2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6351F5D-47DF-4321-A3C4-36C1B9D54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DC4880-82ED-4296-82E8-DAB859FEA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DC8BDB-ACD5-4378-8477-A64C263B6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e demais pessoas físicas/jurídicas devedoras dos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AEC0C3-1D02-4E18-A098-AB5FE961B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F3A1C3-0EFB-4A53-BBD0-1B315422B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Precatórios e créditos públicos; créditos vencidos; direitos litigiosos, penhorados, futuros e outros não padronizados permitidos.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8E39564-0308-4534-A140-A0501EA08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737DAE-0477-40E1-A024-AFDC7FD0A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carteiras de NPL/direitos judiciais com ou sem coobrigação, segundo seleção do gestor.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21C6F57-0459-4EF6-9DA7-5D4EB1233A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BA2BC4-E944-40CA-B22F-3E69C614D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0BC24B-D355-4B45-900E-288716E69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6AAEC43-A0B2-46C9-A665-AA7529C91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9158C1-95B7-4726-9602-4A2C4E128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1A901AF-AFF5-40F4-9B13-D036C2A60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em séries pari passu; o regulamento consultado declara ausência de preferência, prioridade ou subordinação entre titulares. Garantias: Variam conforme cada direito; não há garantia uniforme de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6F0E206-2740-495F-AABC-08825CBBC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11C6EF1-5D78-4C51-A816-B47480F39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CBSF TRUST ADMINISTRADORA DE RECURSOS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2EBF2A4-CC0E-4977-A0A5-7262DFE6C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EAD9A7A-48CF-40D1-9AAD-62902DCA4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0EA84B6-0C92-4CA0-A2A5-6B878475D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AE4FBB2-726F-421F-A676-A43E57F67E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permite NPL e precatórios.</a:t>
            </a:r>
          </a:p>
        </p:txBody>
      </p:sp>
    </p:spTree>
    <p:extLst>
      <p:ext uri="{BB962C8B-B14F-4D97-AF65-F5344CB8AC3E}">
        <p14:creationId xmlns:p14="http://schemas.microsoft.com/office/powerpoint/2010/main" val="987231041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4682B3B-F882-4FFD-8E84-71C6C8026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89872A7-627B-42D8-BEE7-A34B47837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#11 PagSeguro I — R$ 6,2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06B63F-44A6-4993-87C8-DA3931A99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69E82D-C1BB-4F1B-813C-EB8D176F4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D79AA68-D7C0-4209-BBAC-E84873FF0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https://fnet.bmfbovespa.com.br/fnet/publico/abrirGerenciadorDocumentosCVM?cnpjFundo=28169275000172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CA8A15-FCDE-4AF6-B45F-C7870BD90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2A33FF2-687F-43EF-9270-B979E7AC65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28.169.275/0001-72 · FUNDO DE INVESTIMENTO EM DIREITOS CREDITÓRIOS PAGSEGURO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5CAC77C-0C57-4D0C-9079-B658C3036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48470DF-3848-4288-BFEC-FF5995F9E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3868F8-1E02-4E31-90D0-83CDDA54A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AF23D0-6336-4905-9AB9-76AC08A97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ao sistema PagSeguro.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7FCDF1-B8A1-47AC-BEB0-27D463C69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3C528A-963C-4669-A86E-530298199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PagSeguro, como devedor dos valores de liquidação devidos aos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B9DA6D9-BA40-444E-9CF1-BCDE0BAA6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A792582-FF93-416A-8ADE-90EE38AD2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a débito e crédito, à vista ou parceladas, capturadas e liquidadas pelo sistema PagSeguro.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4FBCB5-C913-43B4-B718-CC86C1A3E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6FD08D-380C-4EA4-BF2C-29FC94969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à classe seus recebíveis contra PagSeguro; a liquidação das transações alimenta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1CE975-3F77-436D-A595-34E239858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20B6902-E0B0-4A22-907A-3915708BC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E178A4B-EAB3-41B4-A216-70CD98F0C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C3F6387-B08F-4C4C-849F-9371CDD3C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2026-03-30 | início de oferta da 4ª série sênior | R$ 1.000 bi | doc. 1148251; Valor ofertado; o anúncio de início não comprova colocação. || 2024-11-06 | encerramento da oferta da 3ª série sênior | R$ 1.000 bi | doc. 773514; Documento informa 1.000.000 de cotas subscritas e integralizadas.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5AB03B3-9967-4B7E-9F80-9E1CBDC81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6EFFB18-B0EE-4632-964B-7C4A098824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razão mínima de cotas subordinadas de 50% do PL da classe. Garantias: Reforço estrutural pela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4729FF2-659A-466F-AD7B-59A20EA06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FF5BC9E-CA40-49D7-90E6-29ADDCD35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F27127B-2F0B-4E7B-949E-2ED470353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948DFC1-B9B0-46AD-8A4A-F9EAFBFA0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41A8DFA-4DF9-45B5-A252-5287EEAAA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72038F0-1176-4FD5-89AC-F7BB8B373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293877919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B33E5AD-C355-4CEA-B2A5-45603D4D1A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AE657F2-6BDC-45CD-858D-54B05A9FE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#12 BTG Consignados — R$ 6,0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2CF747-AE06-4AFB-A0E8-0AF2055B6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09CD205-E233-463C-B17C-8DD8C8A75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E8CB39-51AF-43C3-BC79-BE073FD53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https://fnet.bmfbovespa.com.br/fnet/publico/abrirGerenciadorDocumentosCVM?cnpjFundo=50906397000153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BD3F2F-4CE2-4D73-A9D0-A9B6F1980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7145030-09A0-4DBD-A213-0A00C2F3C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50.906.397/0001-53 · BTG PACTUAL CONSIGNADOS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89C003-2205-44AD-8389-813F2E9D9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3FA1CB-3E6E-4E92-B9C6-D8F0DF5E8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B9DA265-BCC2-427B-B158-9556E2929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7FE891-D6AB-4FFE-A121-C4A04E680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CCB; nomes individuais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454BCB0-7179-45C3-9A38-C570E064D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3DC2F4-7236-402D-90A2-963A4EACB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 e trabalhadores com saldo de FGTS.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137CD3B-4AE8-4FB7-ABC3-1D10D5D41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218B3F-841B-4B0C-B4CE-8F6E7724F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garantia do saque-aniversário FGTS ou consignação processada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56351E-2C5A-46EB-AEA5-730F8C053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1C8EDF-57F2-48D2-BF5C-F6D2C8E42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CCB/parcelas por cessão ou endosso; CEF/FGTS e Dataprev processam os fluxos conforme a modalidade.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BA7BB7-665A-487D-95AC-D796E4795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DBC565-18E7-49E3-A7E8-452C44055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CDA4666-2811-47E8-9B73-636A36490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8B7A8E-E5F3-44BF-A977-0956C674B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2023-06-01 | aprovação de primeira emissão privada | R$ 11.000 bi | doc. 483282;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D5A94E8-F53E-49E8-8B1E-D4B474ED7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4059176-F521-46B0-BF56-EE71BA57F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 única de cotas no regulamento consolidado; não há índice de subordinação entre subclasses. Garantias: Cessão fiduciária do saque-aniversário nas operações FGTS; consignação nas demais modalidades.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CB7303B-9B8E-40F1-990D-2DDC213FB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FCA429C-2D49-4549-9CDD-996CC084A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6A12AFF-509E-4A87-B3CA-A1E02A1CC0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E41EEF8-3213-4EFB-B80F-46A7E0E52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8FF050B-0E97-48BA-874D-67088D31D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C00FF58-A848-4B9E-AA22-AA84C1524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A leitura documental é compatível com Financeiro/Crédito Pessoal, com foco contratual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1011169430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DE24AA5-A72F-4691-AD7B-BA2E574256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197128-DA71-4163-9950-CC931D232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#13 Alternative Assets III — R$ 5,9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FE9AF1-6F83-40A7-B0DB-CA1F3608A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EA26EB-27AB-474E-A461-71A436D28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6B61052-E958-4300-B0C5-6D375CFA2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https://fnet.bmfbovespa.com.br/fnet/publico/abrirGerenciadorDocumentosCVM?cnpjFundo=29225241000110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D4B65C-8D2C-4488-BE0C-36B7947C21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36B2A63-49BE-4B77-9C0B-6A945C8D1D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29.225.241/0001-10 · FUNDO DE INVESTIMENTO EM DIREITOS CREDITÓRIOS ALTERNATIVE ASSETS III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72544F-B493-4F17-BEFB-1A5DE3C5E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C5AC1CB-7219-4C48-8519-8A4167429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EE087F-75D2-43D0-BD77-9F5DD842E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AA3D4E2-26D0-4972-BB76-0D1CE0079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EAFE48-72FA-4FE7-A9C3-A6D059404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738855-5A97-4870-A1A8-73663BC54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jurídicas, privadas ou públicas, obrigadas nos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BA773E-F03A-41B1-A673-552A7D018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FBF32D3-B1F7-4E50-B507-8B3FF146F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Créditos em litígio, precatórios e direitos vencidos/inadimplidos já performados.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CC4B7AD-9E95-41F9-A982-28B92C816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DC6DA2-1D07-4649-BEF7-E1FF3BDD6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comprar direitos judiciais/NPL integral ou parcialmente; o regulamento não comprova que esses ativos compunham a carteira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DF794A-C175-4214-B5C3-D57CEB327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672767-B632-4374-9600-2CA0EC4B63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340714-C3A1-4973-A9CD-F4DD610F2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7BE80E1-583A-463A-85F8-8485A69F7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7DD8DB4-C253-45B2-BEEB-68B26A702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A936C86-43E8-4748-B89C-51810D41F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Única subclasse de cotas pari passu; sem preferência, prioridade ou subordinação entre titulares. Garantias: Variam por direito; não há garantia uniforme da carteira nem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3ED558C-E50F-435E-9416-FD7E8B7D6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9E0043-1CF8-4786-9147-EB99F9243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C0E1E73-5158-47B1-BF6C-8111889E6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F40526-C6EE-47C6-8A2B-B10AB11938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E6A7310-63F5-4D9E-A47D-FB87054FC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25A38DD-2C9B-4662-9BFA-E6FADF799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é de NPL/direitos judiciais.</a:t>
            </a:r>
          </a:p>
        </p:txBody>
      </p:sp>
    </p:spTree>
    <p:extLst>
      <p:ext uri="{BB962C8B-B14F-4D97-AF65-F5344CB8AC3E}">
        <p14:creationId xmlns:p14="http://schemas.microsoft.com/office/powerpoint/2010/main" val="833639809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38E860E-5E49-4F7F-B770-02E4212F1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21EAA9-3D1D-4B0B-9D85-4D2B3F44C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#14 Monee I — R$ 5,8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65706FE-AD67-494F-B7F2-5FF3D2BEE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2E9ABC-70F8-4C46-B901-586E20EC7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F8B081-6DA1-4F32-AAF9-4B6344F18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https://fnet.bmfbovespa.com.br/fnet/publico/abrirGerenciadorDocumentosCVM?cnpjFundo=42922136000107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38D283-45B3-42F9-B5A7-FEF442BEF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C7B2F6-77B7-4789-BE48-F1019C2AC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42.922.136/0001-07 · FUNDO DE INVESTIMENTO EM DIREITOS CREDITÓRIOS MONEE I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D9E2CD-9073-4D4C-8335-6BB3E2083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F75771-AABD-4F5C-A61D-D41D17AC9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415804-120C-4BF9-8953-CE3D76BEE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B830DE-D4CC-434B-9FAC-52E25EEF0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SHPP Brasil Instituição de Pagamento e Serviços de Pagamentos Ltda. — CNPJ 38.372.267/0001-82 — atua como originadora/correspondente; CCB são endossadas por instituições financeiras parceiras e recebíveis de pagamento são cedidos por estabelecimentos.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B1B40F-621E-466F-A1D8-E84CAFDD8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4817831-5363-46DD-A54F-AF2D392DA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tomadoras dos empréstimos e participantes das operações de pagamento, conforme o ativo.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E874E99-C18A-430C-929C-A0F8F2E7A5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B0E78C3-6A78-48DC-ADD2-5B29E4D5E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CCB de empréstimos e unidades de recebíveis de transações de cartão realizadas em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90CF37-3C66-41A4-B53D-FF435FB74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F678CB-F194-4214-90CE-93ECADDEA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SHPP capta e analisa clientes como correspondente dos endossantes; a classe adquire CCB por endosso e recebíveis de pagamento por cessão.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261B48-08AA-4635-9E6D-134B4BA7E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9044735-CA69-44A1-97A6-773DE5B51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05BC281-0DE6-4176-B869-82494EA82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B5D7993-77E0-4D52-BE3B-215E0E8CC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3770927-7EFC-4D93-8A2B-6C1047C4E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0779AD1-686D-4002-B42E-D0C416035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pari passu; o regulamento consultado declara ausência de preferência, prioridade ou subordinação. Garantias: Não há garantia uniforme identificada; a transferência é sem coobrigação geral nos contratos descritos.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E3ADBBE-003D-437D-8501-4DE2B3CDC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D17B7E3-2485-40A8-884C-01AA9FD05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QI CORRETORA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VALORA RENDA FIXA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QI CORRETORA DE TÍTULOS E VALORES MOBILIÁRIOS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E25B7DD-71C0-4361-A972-BDE0FEEA7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102E9AC-A243-4171-859C-A35184A85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2DF9EA8-1680-44AB-9FC8-C595A68BC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2750D21-8DE7-4C50-A277-B42C2198B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combina crédito pessoal 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837374656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29F8AEA-BDD1-47B4-86F2-60791882E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E2E284-5893-457B-8FDA-EC8711797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#15 PicPay I — R$ 4,8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9FEC8A3-07BC-47CA-9A13-3FEF6C869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392390-C74A-446B-AF61-FAAD78D98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7F3FDA-BB5B-43C5-B83B-C68CAF3F1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https://fnet.bmfbovespa.com.br/fnet/publico/abrirGerenciadorDocumentosCVM?cnpjFundo=32527650000186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95948B7-5929-4E94-A227-D9F98D174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A64FE3-A848-47B2-AF58-A263971095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32.527.650/0001-86 · FUNDO DE INVESTIMENTO EM DIREITOS CREDITÓRIOS PICPAY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E693724-5F40-481A-A97D-F506010CC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D7BE8F5-1125-4C99-9B8E-D4C26871D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D034D0-1F92-490D-84E0-55CD4B539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3DEBB7-1B65-4530-BD3C-26A8C07A9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finais do PicPay que transferem seus recebíveis à classe por mandato previsto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91BBF1-37DA-4A72-B9A0-F6B4F6D93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BA1F38-9978-4F00-9E67-5E3D3DA4E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PicPay, responsável pelos pagamentos devidos aos cedentes nas transações abrangidas.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D92239E-22E3-4BEE-9D2A-2F87C7F4C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74D845-426F-4F2D-8E73-691F36722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transações de pagamento, cash-in e moeda eletrônica processados no sistema PicPay.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98C05FE-B7F4-4F12-83E6-FD2ACD681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15691F-20EB-4D7C-9AC5-8571BD818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cedem à classe os direitos contra o PicPay; o PicPay efetua os pagamentos que alimentam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72093F-BB71-480B-929A-BEF687616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3A33F9C-A62E-47CE-A041-27D4F4416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BFD2301-5511-4C37-A63E-CC063CCB7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63FE41D-71C5-4DF1-BEFC-72D29084E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0772A44-E626-4F6D-B074-769AA60FE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69893AD-58F0-4A61-9747-E27B50A73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 júnior; razão mínima de subordinação júnior de 10%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2D04A07-154F-42DF-A749-F6603C38D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DCF5191-43BB-434B-A859-6483526BB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24C2ACD-4D61-4230-A178-A646B796F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1D8130B-FBE6-431D-8131-D215C9C7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5D6CB4A-3C12-4066-B797-AE495332F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14F4A8C-9EE2-41B7-B8ED-10E2D9F86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649647348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230D893-BEC5-423D-BC8E-ED891B64E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579C1A8-358A-452E-8BE6-E7FE08CE0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#16 Artesanal Master — R$ 4,5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CA44E0-AB7C-4515-8CCE-6DD93D447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C559C2-2D32-418C-A217-49257C5EB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7EB98E-C2A9-46F6-8456-3B8F532629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https://fnet.bmfbovespa.com.br/fnet/publico/abrirGerenciadorDocumentosCVM?cnpjFundo=30576260000170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D19C8D-7114-4067-A4F7-704513E9F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B933E0-0998-41B7-B44C-CB4E6C29B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30.576.260/0001-70 · ARTESANAL MASTER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64EC04-A103-4124-B994-A31542277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67C556-6C29-4507-A6FE-49F11E498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D8A626-4235-45F7-95B9-F6F2DE055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C458557-9069-4C1C-B08B-96AB5484A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titulares dos instrumentos elegíveis; nenhuma entidade única foi identificada.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EE4FF5-87C9-435C-9546-7509570AA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DA02F8-C27B-469D-A48B-482FD424C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Emissores/devedores dos instrumentos adquiridos; nomes não identificados no regulamento.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EBBAEDD-C0E4-46E2-B648-3A767CAC0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1402E0-0558-417A-8F2E-CE7209A3F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e títulos de crédito, valores mobiliários de crédito, instrumentos de securitização e cotas de FIDC previstos na política ampla.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629F67-124C-4ED4-8436-1FC9613DE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7104596-89AB-4CE2-82C6-AEDC5B020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veículo era FIC-FIDC e foi transformado em FIDC direto com vigência em 23/07/2024; desde então a política permite aquisição direta de instrumentos de crédito.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10E732-1938-4CA8-AC0D-64CD8C901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84E894-4135-4F7E-9A34-C3817DA37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A0F8D23-92EF-45BF-BC90-FF949F74B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25A56B-4641-4165-9883-EC970A199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8A7D69F-6072-4D77-A817-7349A2E83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683A1E3-DD56-47DB-896C-7A42F21BD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sem preferência, prioridade ou subordinação entre os titulares. Garantias: Variam por instrumento; não há pacote uniforme de garantias.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93F6CC9-9848-4212-AB0D-218C037AF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B36EB84-463F-42CF-B282-3712A070C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GENIAL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ARTESANAL INVESTIMENTOS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B3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4880F6F-2F7F-4EE2-BA8E-2727B4791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2A88143-4216-47E6-B151-972469ED1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5F0B545-5DBC-4675-8694-FD5AAC201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006A6A2-1CA9-4AF6-978C-DE517B052A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Financeiro/Crédito Pessoal; a política documental atual é ampla. A quebra histórica FIC→FIDC em julho de 2024 deve ser tratada explicitamente.</a:t>
            </a:r>
          </a:p>
        </p:txBody>
      </p:sp>
    </p:spTree>
    <p:extLst>
      <p:ext uri="{BB962C8B-B14F-4D97-AF65-F5344CB8AC3E}">
        <p14:creationId xmlns:p14="http://schemas.microsoft.com/office/powerpoint/2010/main" val="1540725537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E9FBBA6-AC0D-48DD-AB0C-411F7C561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FCA5208-CFB3-4CC3-9744-50503D6DF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#17 MAROBÁ INVESTMENTO — R$ 4,5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A1253F9-E926-444F-9DA0-8E5912D38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02DC7E-CD58-4184-A3F0-2D3451553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4DF581-A5EB-45D2-8EE6-1A1A2846A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CVM/FundosNet consultado; campo não identificado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6C85285-DE53-4EAF-978A-034336DD7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B52306-B3A5-4199-8221-16AC8132B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61.285.603/0001-71 · MAROBÁ FUNDO DE INVESTMENTO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3F3190-A11D-4A32-92D8-11AD7BF92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F385ED3-2E2A-4345-ABDB-C44F48BBA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3B5EAB3-00B9-497A-AFB0-D35E9EF95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802975-9DE2-43A5-9E99-CDEE694BB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7A60BA-1EF2-424F-8C5E-24BBD40AA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B91BB4-D593-4667-A20E-CFEFDD40B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502341-14C1-49F4-BF3B-B6DF9A4AD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008F6A0-9BA9-49FE-86AF-44484638E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4707B6-52AC-4A52-BDDC-805C683E6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620D0D8-F6F2-446F-84BC-8B9768753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C9F2E0-26FC-4444-B9B5-FBA102DBB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7FDF9DD-61D6-4E7D-BE18-0CB09C051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2C71EF9-C94D-4BD1-BE19-BCE0AEE72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08893E0-7381-4F44-8D29-014D7F7E7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B2C57B3-54FD-4B40-86E5-C69BDBF4F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7F8C251-7848-43F1-985E-F01654010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2185E2C-1E64-408C-8E2E-170095DE2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7C13FDD-D76C-4479-BC97-25F0B10FB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KANASTRA ADMINISTRAÇÃO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LIMINE TRUST DISTRIBUIDORA DE TITULOS E VALORES MOBILIARIOS LTDA.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A9DD56A-2ADE-488A-BA7B-5A92A0A15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55D744-229A-4C08-A329-93E6F9B3C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8C7AF6D-9ECD-4D08-8339-A8B8036AE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B282048-8559-4C31-A076-04A11BF7C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campo não identificado nos documentos consultados</a:t>
            </a:r>
          </a:p>
        </p:txBody>
      </p:sp>
    </p:spTree>
    <p:extLst>
      <p:ext uri="{BB962C8B-B14F-4D97-AF65-F5344CB8AC3E}">
        <p14:creationId xmlns:p14="http://schemas.microsoft.com/office/powerpoint/2010/main" val="2126494214"/>
      </p:ext>
    </p:extLst>
  </p:cSld>
</p:sld>
</file>

<file path=ppt/slides/slide5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A91D033-8AEC-4C7C-8C89-2791F8CBC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10F3D1-5907-43CC-821A-6E551C37A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#18 VENDA VEÍCULOS — R$ 4,2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5CC7FB-BF8E-4C3D-B70C-A599A0A8AC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17E26E-7287-4F20-8BF2-6D3161AFA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FCAEFC2-768D-4F55-A173-5E53C149B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CVM/FundosNet consultado; campo não identificado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D66D5C-5F5D-4B13-98EB-858C637FB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7F2CD6-7A5F-40C5-8EDB-7C9455D18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21.126.275/0001-46 · VENDA DE VEÍCULOS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74816D3-6B99-4008-B044-DA1575102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12F987E-685B-4329-AB6B-EF42ACD2B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930708-9703-423B-BAEC-9E72980B3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93D753-5C02-4328-BDD9-6A314285A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7AAA2D3-4D0E-4A7E-8ECB-A01F314F9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CAA3DF2-952E-4C27-8947-EAB5DC762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8746DF-9FD6-4347-9981-339E22F8A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462ACAE-FD1F-4DCB-A149-501D3167D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3396F9-AA9B-47EC-BC7D-9D41CF0C5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16D48A-03AF-4045-B0FA-C12CE7B97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B8777DC-6E24-4919-AAED-8B03FD296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E9F9C1-FD95-415F-ADCF-27D87C418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2D20B3C-A34C-4DA6-A4B7-C4C3DD690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D7C8347-EF67-4B42-A25E-7F07198EF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9706596-2569-40BA-9214-544487235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A7A095E-3879-42BF-8E3B-A8D8067CC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2914919-25CA-4F05-8743-17F7FB24A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6875C74-B852-42A5-B3E3-4BDF58E43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55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S3 CACEIS BRASIL DISTRIBUIDORA DE TITULOS E VALORES MOBILIARIOS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INTEGRAL INVESTIMENTOS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S3 CACEIS BRASIL DISTRIBUIDORA DE TITULOS E VALORES MOBILIARIOS S.A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A2555B6-B5E3-4161-955B-31071E93D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0C397BB-BEA5-43BE-B5DA-A8A2E439E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Financiamento de Veículos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4584C9C-35BB-448D-A1D0-971D8809A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B01DB06-3814-4D8A-978F-78A567CB7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campo não identificado nos documentos consultados</a:t>
            </a:r>
          </a:p>
        </p:txBody>
      </p:sp>
    </p:spTree>
    <p:extLst>
      <p:ext uri="{BB962C8B-B14F-4D97-AF65-F5344CB8AC3E}">
        <p14:creationId xmlns:p14="http://schemas.microsoft.com/office/powerpoint/2010/main" val="590584332"/>
      </p:ext>
    </p:extLst>
  </p:cSld>
</p:sld>
</file>

<file path=ppt/slides/slide5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84DC6A-DBBA-458E-916C-2BE71A10E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4B4A47-C444-410F-B3D1-11DEB6EBD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#19 Day Maxx 2 — R$ 4,0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4AA760-4E88-4805-B042-4C76C7B4E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E516C15-C798-4C03-A6F6-8A41BA30B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D833A59-0CC1-44E4-BB21-C0C36CAAC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https://fnet.bmfbovespa.com.br/fnet/publico/abrirGerenciadorDocumentosCVM?cnpjFundo=34197588000137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82F81B-50BC-4DBD-86EA-787FFBBE6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B8847D2-D6FF-41D7-91C4-122261F9F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34.197.588/0001-37 · DAY MAXX 2 FUNDO DE INVESTIMENTO EM DIREITOS CREDITÓRIOS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3671B7D-7A53-4337-B6B3-88F19518A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5F49C3-1918-42D7-850A-61DEC12A4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841A58-74C7-4892-89DF-5D3B6E4B4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 / ORIGINADOR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que cedam os direitos; nomes não identificados no regulamento.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e entes públicos, conforme os direitos adquiridos.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NATUREZA DOS RECEBÍVEIS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títulos de crédito; recebíveis mercantis, de transporte, industriais e de serviços; contratos futuros; precatórios federais; direitos não padronizados; créditos de cedentes em recuperação judicial; e até 100% do PL em cotas de outros FIDC, inclusive mezanino/júnior.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FUNCIONAMENTO ECONÔMICO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93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exposição direta a recebíveis/NPL e indireta via cotas de FIDC; o regulamento não comprova a composição efetiva em mai/26.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B1C6CF-6111-4F88-8B9E-F8249B8F9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0CE2389-5650-4AE0-858B-02583B7CD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E26F67-55D0-49C1-9393-1E65E926E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3524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 no corpus primário selecionado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júnior; índice mínimo de cotas subordinadas de 25% do PL. A amortização antecipada exige subordinação mínima de 30%. Garantias: Variam por direito; não há garantia uniforme da carteira.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PRESTADORES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DAYCOVAL S.A.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DAYCOVAL ASSET MANAGEMENT ADMINISTRACAO DE RECURSOS LTDA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DAYCOVAL S.A.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 / FOCO ANBIMA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3000"/>
              </a:lnSpc>
              <a:buNone/>
              <a:defRPr sz="919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9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oficial_anbima_snapshot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8A7727-548F-4A46-979A-A612E8298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9D5A15C-4989-42B0-BEB5-E61ABBBF4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O cadastro ANBIMA traz Outros/Multicarteira Outros; a política documental é ampla e inclui NPL/precatórios.</a:t>
            </a:r>
          </a:p>
        </p:txBody>
      </p:sp>
    </p:spTree>
    <p:extLst>
      <p:ext uri="{BB962C8B-B14F-4D97-AF65-F5344CB8AC3E}">
        <p14:creationId xmlns:p14="http://schemas.microsoft.com/office/powerpoint/2010/main" val="1571376639"/>
      </p:ext>
    </p:extLst>
  </p:cSld>
</p:sld>
</file>

<file path=ppt/slides/slide5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42E6DA7-EA6A-4D00-88D6-CBC9F965F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B62A59-E1B6-4C63-BECF-08A815AE5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9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#20 ACR BEM BANCOS EMISSORES CARTÃO CRÉDITO — R$ 3,7 bi e 0,4%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E5E38B-3A19-4080-8988-CD8ED56B1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C38FB1-2998-4B1D-83B0-93FECB6DF0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C90816-5DC7-4C81-9642-87A9336A0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CVM/FundosNet consultado; campo não identificado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8F0274-FF1A-4DA0-92F6-32D9F83F2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F85325-8C1D-430D-BEB9-36C022148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54.979.779/0001-68 · FIDC ACR BEM BANCOS EMISSORES DE CARTÃO DE CRÉDITO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5A0217-6FBA-4715-9EED-5E323246B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241F54-80C5-4B70-BD4B-E19B6A80F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0443A28-E956-48A5-865D-54C30219D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4A3AE8-FD15-49C4-BF6D-5AD0B7112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698419-ABF9-4A82-887E-D70E95FF7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3623EB4-7F0C-4B44-89AD-F52383CA5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42EA514-3593-463B-A66B-9E178C6EB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EB844BC-86AD-4C5A-AC9B-3A8D3498B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A432A3C-59A1-4F15-A6ED-AEC2390B4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E0BFD6B-98F9-4843-9259-9143A2091A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393EFB-D077-40BC-88E1-760582C6D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B24BC0E-8516-4A59-818D-31BC5CB76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0CC9D2-2ACF-4C39-88F7-7B22949C3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B0A497-627A-4522-A588-59B73B679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355DFEA-D51C-47D9-B0A7-EBC618497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B01F398-48F2-4263-89A9-A41EABD61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não identificado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827C62-CD86-44F1-9DF7-B6A717CF1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05C688E-3227-4BF9-A665-C124E43EC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1DBC102-A690-405C-919A-547525102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E09A0D2-AD48-4FBB-ADA7-8B0267982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40EDB8E-CFDD-4F3E-8522-DDDB242E2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F3C1DC7-97CC-4BE6-92DF-5BBE531C5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Evidência: campo não identificado nos documentos consultados</a:t>
            </a:r>
          </a:p>
        </p:txBody>
      </p:sp>
    </p:spTree>
    <p:extLst>
      <p:ext uri="{BB962C8B-B14F-4D97-AF65-F5344CB8AC3E}">
        <p14:creationId xmlns:p14="http://schemas.microsoft.com/office/powerpoint/2010/main" val="1272643177"/>
      </p:ext>
    </p:extLst>
  </p:cSld>
</p:sld>
</file>

<file path=ppt/slides/slide5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6A25C335-CD61-43DF-B40D-173277A2D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CASO ATLÂNTICO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8DD490-04DF-4D52-9DD1-A2D82CC92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Atlântico compra créditos já inadimplidos; jul/24 muda a base de reporte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5B559F-FD16-440E-A222-6FF409834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C7393F-72C1-4E65-914D-49C01FEA3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29ADC8-D30A-45E0-8FD2-9723EE14F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regulamento de 12/11/24, AGE de 08/07/24 e DFs auditadas de 2024/25. Links completos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349712-32AE-4606-9374-DA8892DFC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D6B712C-0748-4086-AF33-9B0A9F797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09.194.841/0001-51 · ATLÂNTICO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131470-D477-4F2C-92AD-3B0B37B05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O QUE É E COMO FUNCIONA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5FDE6C8-93C8-4D34-ACC7-9A6FA530E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779EE1-E884-419D-90D5-11BFD7B65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19300"/>
            <a:ext cx="5286375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ESTRATÉGIA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 fechado de recuperação. O regulamento descreve as carteiras, em regra, como NP, 100% inadimplidas e já baixadas pelos cedentes.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Compra definitiva em BIDs, com alto deságio e sem originação pelo Fundo. O retorno depende da recuperação agregada; o saldo contábil é valor esperado descontado, não valor de face.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CEDENTES E DEVEDORES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Mai/26 nomina Ativos S.A. (19%) e Carrefour Promotora, carteira legada (11%); 70% não são nominados. Devedores são sobretudo PF pulverizadas, com PJ pontuais.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ATIVOS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Empréstimos, consignado, cheque especial, cartão, CDC, varejo e serviços. Garantias podem existir caso a caso, mas a carteira massificada normalmente não tem garantia real.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B0F7E3-E413-4669-99B7-BF59D8A46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006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PRESTADORES ATUAIS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2AE25F-393F-409C-BCB7-A70E4BC15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EC667F-CD3B-4432-BD21-2133A3809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05425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Administrador e custodiante: ID S.A · Gestor: HYPERION ASSET MANAGEMENT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Consultoria: MGC Capital · Cobrança: Crediativos · Auditor: BDO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EB047F-8D8A-401F-B6FC-D19F5EE75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POR QUE A INADIMPLÊNCIA É ALTA · JUN/26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223C07-4BC8-42AF-AB14-086D2FC89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22B3CB6-31A5-422B-A51B-D458F27B2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76450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B632C8F-2CAC-467F-994A-4580FC1DD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076450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R$ 143,6 mi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F701B79-3B42-4C14-871B-189C25326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376488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D555363-9BB8-4C32-8FB4-74D2DA76D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33638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97A83D6-1BC6-49DF-A040-2EC757E16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433638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R$ 155,6 mi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D2C09A2-DA22-40D2-ADFD-20AEA2BB6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336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58F8848-8757-474B-8C61-7A361781A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90825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C48C9F9-F78E-40A6-95A1-90987EDFF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790825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R$ 153,8 mi · 98,8%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0F8A59-D144-46AD-9914-791CEF8EF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90863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06146C9-0B6A-4FD6-B366-A92917CEF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48013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&gt; 1.080 dias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F9900D8-1BF9-4F4D-B622-2A2FB9DEE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3148013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R$ 153,8 mi · 100,00% da inad.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F809300-8ABE-4C63-9DAB-2C82E99EE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562350"/>
            <a:ext cx="5286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91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99% é coerente com a estratégia NPL: o fundo compra créditos já vencidos. Aging mede o estado jurídico do crédito; não representa perda adicional de 100% sobre o valor contábil.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3E754DE-3A25-4A78-BC76-266FBA7B5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05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QUEBRA JUN→JUL/24 · R$ 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11F5B5B-578F-4251-9C15-FBD39260B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572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EDCD85B-9B42-4E8B-9660-010446667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29150"/>
            <a:ext cx="5286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C7B5979-821F-494F-BF0F-B99ECBE07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657725"/>
            <a:ext cx="1885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Métrica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5D54F8F-DD81-4FDB-9099-30DBA11E9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65772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Jun/24 · Sefer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EB966D0-9A38-4526-AB06-30D536F2C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657725"/>
            <a:ext cx="933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Jul/24 · ID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4F25F18-BDEF-41DA-B34E-66889A595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657725"/>
            <a:ext cx="981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Δ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BA506F5-95EF-4873-9FC0-966662F0E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17BB9A0-BB53-4947-863A-9316D7B87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01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C68C865-305D-43E0-AA40-C0E567F36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9815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bruta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0A1169E-E930-4D6D-9D56-0277C89F5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9815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16.722,8 mi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0E2EBB8-44AA-42B6-94E9-F51294E97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9815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103,4 mi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90FD6453-00E2-44B7-B1F7-E97317006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9815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-16.619,4 mi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2EB29BB-BB6F-47FB-BEF3-5BB4A8115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97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E8BBF43-CEAC-4ECF-959D-65BD7E614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768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EA5DB50-2EA0-4929-91C3-444BA30E7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2482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531AA41-8690-4523-85F7-9DE6B372F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482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34,2 mi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DE57989-9B50-412E-B3B4-6E9C52E27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2482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114,2 mi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6A71CC6-C3C9-4CE3-A258-F6992BAE1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2482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80,0 mi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3BAB51A-E44F-43FC-A13F-79840AD12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864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1279B213-241A-4762-94E4-2C6752948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7435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A89977BA-A960-4426-B5B4-1EA575EBF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5149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3352834-B05A-43FF-93E7-82E9AB825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5149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111,8 mi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6D3A6BD0-62D9-47C1-BEE4-55DA7EDA8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5149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125,6 mi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3A324C72-7DE6-4E3F-89C9-4B387B2EF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5149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13,8 mi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5369C14-C546-4AAD-BBC3-B8F51FA6A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C8964CA-AAD2-4E8E-BF5A-3ACE799EE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007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quebra no bruto coincide com a troca de administrador e não indica recuperação em caixa. As DFs têm opinião modificada para 01/01–19/07/24 por inconsistências de lastro e posição; a série não é like-for-like.</a:t>
            </a:r>
          </a:p>
        </p:txBody>
      </p:sp>
    </p:spTree>
    <p:extLst>
      <p:ext uri="{BB962C8B-B14F-4D97-AF65-F5344CB8AC3E}">
        <p14:creationId xmlns:p14="http://schemas.microsoft.com/office/powerpoint/2010/main" val="283443469"/>
      </p:ext>
    </p:extLst>
  </p:cSld>
</p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2026-07-24T22:21:55.1640000Z</dcterms:created>
  <dcterms:modified xsi:type="dcterms:W3CDTF">2026-07-24T22:21:55.1640000Z</dcterms:modified>
</coreProperties>
</file>