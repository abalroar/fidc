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4e96634e9945a2" /><Relationship Type="http://schemas.openxmlformats.org/officeDocument/2006/relationships/extended-properties" Target="/docProps/app.xml" Id="Rb6bd555edfd64092" /><Relationship Type="http://schemas.openxmlformats.org/officeDocument/2006/relationships/officeDocument" Target="/ppt/presentation.xml" Id="Rff23db607f4441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58bf4118b34cfc"/>
  </p:sldMasterIdLst>
  <p:notesMasterIdLst>
    <p:notesMasterId xmlns:r="http://schemas.openxmlformats.org/officeDocument/2006/relationships" r:id="R544183e81bbc4711"/>
  </p:notesMasterIdLst>
  <p:sldIdLst>
    <p:sldId xmlns:r="http://schemas.openxmlformats.org/officeDocument/2006/relationships" id="256" r:id="Rf9c1c35a55994006"/>
    <p:sldId xmlns:r="http://schemas.openxmlformats.org/officeDocument/2006/relationships" id="257" r:id="R78ec9df043b24fd6"/>
    <p:sldId xmlns:r="http://schemas.openxmlformats.org/officeDocument/2006/relationships" id="258" r:id="Rb4ac48ed906b4f83"/>
    <p:sldId xmlns:r="http://schemas.openxmlformats.org/officeDocument/2006/relationships" id="259" r:id="R8d61b0c4313a4d90"/>
    <p:sldId xmlns:r="http://schemas.openxmlformats.org/officeDocument/2006/relationships" id="260" r:id="Rfc6579d63aab41a6"/>
    <p:sldId xmlns:r="http://schemas.openxmlformats.org/officeDocument/2006/relationships" id="261" r:id="R08aae7016fd84b76"/>
    <p:sldId xmlns:r="http://schemas.openxmlformats.org/officeDocument/2006/relationships" id="262" r:id="R99d44ea0dc814c41"/>
    <p:sldId xmlns:r="http://schemas.openxmlformats.org/officeDocument/2006/relationships" id="263" r:id="R68153c96c510463a"/>
    <p:sldId xmlns:r="http://schemas.openxmlformats.org/officeDocument/2006/relationships" id="264" r:id="Rcd0f1b2f08604128"/>
    <p:sldId xmlns:r="http://schemas.openxmlformats.org/officeDocument/2006/relationships" id="265" r:id="R5166ba63bdc24a00"/>
    <p:sldId xmlns:r="http://schemas.openxmlformats.org/officeDocument/2006/relationships" id="266" r:id="R06ceb304261247e4"/>
    <p:sldId xmlns:r="http://schemas.openxmlformats.org/officeDocument/2006/relationships" id="267" r:id="Ra3969b12451f4801"/>
    <p:sldId xmlns:r="http://schemas.openxmlformats.org/officeDocument/2006/relationships" id="268" r:id="Rf99fbf485c494e95"/>
    <p:sldId xmlns:r="http://schemas.openxmlformats.org/officeDocument/2006/relationships" id="269" r:id="R80df6afc1b244c1a"/>
    <p:sldId xmlns:r="http://schemas.openxmlformats.org/officeDocument/2006/relationships" id="270" r:id="R9a5c9c39c5b04657"/>
    <p:sldId xmlns:r="http://schemas.openxmlformats.org/officeDocument/2006/relationships" id="271" r:id="Rc455dca89a574411"/>
    <p:sldId xmlns:r="http://schemas.openxmlformats.org/officeDocument/2006/relationships" id="272" r:id="Re863e81d982740b7"/>
    <p:sldId xmlns:r="http://schemas.openxmlformats.org/officeDocument/2006/relationships" id="273" r:id="Rff5e2c95b08542b0"/>
    <p:sldId xmlns:r="http://schemas.openxmlformats.org/officeDocument/2006/relationships" id="274" r:id="Rc825c3be82304ecb"/>
    <p:sldId xmlns:r="http://schemas.openxmlformats.org/officeDocument/2006/relationships" id="275" r:id="R34c1b8d3f99648bd"/>
    <p:sldId xmlns:r="http://schemas.openxmlformats.org/officeDocument/2006/relationships" id="276" r:id="Rff56c0f3682d4f00"/>
    <p:sldId xmlns:r="http://schemas.openxmlformats.org/officeDocument/2006/relationships" id="277" r:id="Rf692f716930441b2"/>
    <p:sldId xmlns:r="http://schemas.openxmlformats.org/officeDocument/2006/relationships" id="278" r:id="R7e0ba3aad5b64f06"/>
    <p:sldId xmlns:r="http://schemas.openxmlformats.org/officeDocument/2006/relationships" id="279" r:id="R740fce9629214ac7"/>
    <p:sldId xmlns:r="http://schemas.openxmlformats.org/officeDocument/2006/relationships" id="280" r:id="R2152ad09e6ef4bbf"/>
    <p:sldId xmlns:r="http://schemas.openxmlformats.org/officeDocument/2006/relationships" id="281" r:id="Ra2bc216547cf4d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2a3343de0346af" /><Relationship Type="http://schemas.openxmlformats.org/officeDocument/2006/relationships/slideMaster" Target="/ppt/slideMasters/slideMaster1.xml" Id="Rbd58bf4118b34cfc" /><Relationship Type="http://schemas.openxmlformats.org/officeDocument/2006/relationships/notesMaster" Target="/ppt/notesMasters/notesMaster1.xml" Id="R544183e81bbc4711" /><Relationship Type="http://schemas.openxmlformats.org/officeDocument/2006/relationships/presProps" Target="/ppt/presProps.xml" Id="R76e318a0efad43a4" /><Relationship Type="http://schemas.openxmlformats.org/officeDocument/2006/relationships/tableStyles" Target="/ppt/tableStyles.xml" Id="R19e9e3110e994765" /><Relationship Type="http://schemas.openxmlformats.org/officeDocument/2006/relationships/slide" Target="/ppt/slides/slide1.xml" Id="Rf9c1c35a55994006" /><Relationship Type="http://schemas.openxmlformats.org/officeDocument/2006/relationships/slide" Target="/ppt/slides/slide2.xml" Id="R78ec9df043b24fd6" /><Relationship Type="http://schemas.openxmlformats.org/officeDocument/2006/relationships/slide" Target="/ppt/slides/slide3.xml" Id="Rb4ac48ed906b4f83" /><Relationship Type="http://schemas.openxmlformats.org/officeDocument/2006/relationships/slide" Target="/ppt/slides/slide4.xml" Id="R8d61b0c4313a4d90" /><Relationship Type="http://schemas.openxmlformats.org/officeDocument/2006/relationships/slide" Target="/ppt/slides/slide5.xml" Id="Rfc6579d63aab41a6" /><Relationship Type="http://schemas.openxmlformats.org/officeDocument/2006/relationships/slide" Target="/ppt/slides/slide6.xml" Id="R08aae7016fd84b76" /><Relationship Type="http://schemas.openxmlformats.org/officeDocument/2006/relationships/slide" Target="/ppt/slides/slide7.xml" Id="R99d44ea0dc814c41" /><Relationship Type="http://schemas.openxmlformats.org/officeDocument/2006/relationships/slide" Target="/ppt/slides/slide8.xml" Id="R68153c96c510463a" /><Relationship Type="http://schemas.openxmlformats.org/officeDocument/2006/relationships/slide" Target="/ppt/slides/slide9.xml" Id="Rcd0f1b2f08604128" /><Relationship Type="http://schemas.openxmlformats.org/officeDocument/2006/relationships/slide" Target="/ppt/slides/slide10.xml" Id="R5166ba63bdc24a00" /><Relationship Type="http://schemas.openxmlformats.org/officeDocument/2006/relationships/slide" Target="/ppt/slides/slide11.xml" Id="R06ceb304261247e4" /><Relationship Type="http://schemas.openxmlformats.org/officeDocument/2006/relationships/slide" Target="/ppt/slides/slide12.xml" Id="Ra3969b12451f4801" /><Relationship Type="http://schemas.openxmlformats.org/officeDocument/2006/relationships/slide" Target="/ppt/slides/slide13.xml" Id="Rf99fbf485c494e95" /><Relationship Type="http://schemas.openxmlformats.org/officeDocument/2006/relationships/slide" Target="/ppt/slides/slide14.xml" Id="R80df6afc1b244c1a" /><Relationship Type="http://schemas.openxmlformats.org/officeDocument/2006/relationships/slide" Target="/ppt/slides/slide15.xml" Id="R9a5c9c39c5b04657" /><Relationship Type="http://schemas.openxmlformats.org/officeDocument/2006/relationships/slide" Target="/ppt/slides/slide16.xml" Id="Rc455dca89a574411" /><Relationship Type="http://schemas.openxmlformats.org/officeDocument/2006/relationships/slide" Target="/ppt/slides/slide17.xml" Id="Re863e81d982740b7" /><Relationship Type="http://schemas.openxmlformats.org/officeDocument/2006/relationships/slide" Target="/ppt/slides/slide18.xml" Id="Rff5e2c95b08542b0" /><Relationship Type="http://schemas.openxmlformats.org/officeDocument/2006/relationships/slide" Target="/ppt/slides/slide19.xml" Id="Rc825c3be82304ecb" /><Relationship Type="http://schemas.openxmlformats.org/officeDocument/2006/relationships/slide" Target="/ppt/slides/slide20.xml" Id="R34c1b8d3f99648bd" /><Relationship Type="http://schemas.openxmlformats.org/officeDocument/2006/relationships/slide" Target="/ppt/slides/slide21.xml" Id="Rff56c0f3682d4f00" /><Relationship Type="http://schemas.openxmlformats.org/officeDocument/2006/relationships/slide" Target="/ppt/slides/slide22.xml" Id="Rf692f716930441b2" /><Relationship Type="http://schemas.openxmlformats.org/officeDocument/2006/relationships/slide" Target="/ppt/slides/slide23.xml" Id="R7e0ba3aad5b64f06" /><Relationship Type="http://schemas.openxmlformats.org/officeDocument/2006/relationships/slide" Target="/ppt/slides/slide24.xml" Id="R740fce9629214ac7" /><Relationship Type="http://schemas.openxmlformats.org/officeDocument/2006/relationships/slide" Target="/ppt/slides/slide25.xml" Id="R2152ad09e6ef4bbf" /><Relationship Type="http://schemas.openxmlformats.org/officeDocument/2006/relationships/slide" Target="/ppt/slides/slide26.xml" Id="Ra2bc216547cf4d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e314ae99394c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0376151a85489f" /><Relationship Type="http://schemas.openxmlformats.org/officeDocument/2006/relationships/notesMaster" Target="/ppt/notesMasters/notesMaster1.xml" Id="R9053abc1c6ed46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ebc69586f34b74" /><Relationship Type="http://schemas.openxmlformats.org/officeDocument/2006/relationships/notesMaster" Target="/ppt/notesMasters/notesMaster1.xml" Id="Re1d0ae207ecd47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0d37740dae49c6" /><Relationship Type="http://schemas.openxmlformats.org/officeDocument/2006/relationships/notesMaster" Target="/ppt/notesMasters/notesMaster1.xml" Id="Rbab4e13cf26c40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f8fd6c12c04920" /><Relationship Type="http://schemas.openxmlformats.org/officeDocument/2006/relationships/notesMaster" Target="/ppt/notesMasters/notesMaster1.xml" Id="Rb48183fa393a44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b763635aba4c2d" /><Relationship Type="http://schemas.openxmlformats.org/officeDocument/2006/relationships/notesMaster" Target="/ppt/notesMasters/notesMaster1.xml" Id="R0998a8ff27f44d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ae934d620849e6" /><Relationship Type="http://schemas.openxmlformats.org/officeDocument/2006/relationships/notesMaster" Target="/ppt/notesMasters/notesMaster1.xml" Id="R2d3cb2b5b0bf46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66ea2897204a2b" /><Relationship Type="http://schemas.openxmlformats.org/officeDocument/2006/relationships/notesMaster" Target="/ppt/notesMasters/notesMaster1.xml" Id="R8e9ba37efe994d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44a7f75d624487" /><Relationship Type="http://schemas.openxmlformats.org/officeDocument/2006/relationships/notesMaster" Target="/ppt/notesMasters/notesMaster1.xml" Id="R163554265f704f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eb6dbce2874de6" /><Relationship Type="http://schemas.openxmlformats.org/officeDocument/2006/relationships/notesMaster" Target="/ppt/notesMasters/notesMaster1.xml" Id="Rd68651305da340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e27768eb7d4c2c" /><Relationship Type="http://schemas.openxmlformats.org/officeDocument/2006/relationships/notesMaster" Target="/ppt/notesMasters/notesMaster1.xml" Id="R2aaf5782372a4f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501f4f61b942c0" /><Relationship Type="http://schemas.openxmlformats.org/officeDocument/2006/relationships/notesMaster" Target="/ppt/notesMasters/notesMaster1.xml" Id="Rc77f545cde4a44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ed60f490234c28" /><Relationship Type="http://schemas.openxmlformats.org/officeDocument/2006/relationships/notesMaster" Target="/ppt/notesMasters/notesMaster1.xml" Id="R2de581f37a40439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6952078ac334534" /><Relationship Type="http://schemas.openxmlformats.org/officeDocument/2006/relationships/notesMaster" Target="/ppt/notesMasters/notesMaster1.xml" Id="Raa684acdae5e48f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a780af3d454e8d" /><Relationship Type="http://schemas.openxmlformats.org/officeDocument/2006/relationships/notesMaster" Target="/ppt/notesMasters/notesMaster1.xml" Id="R36a4ae5cdd5d495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fb864fcf3349a3" /><Relationship Type="http://schemas.openxmlformats.org/officeDocument/2006/relationships/notesMaster" Target="/ppt/notesMasters/notesMaster1.xml" Id="R3f31d380133842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7148c1dafd447d9" /><Relationship Type="http://schemas.openxmlformats.org/officeDocument/2006/relationships/notesMaster" Target="/ppt/notesMasters/notesMaster1.xml" Id="R5773f56f8e1e4b9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6b49b05ced24bd7" /><Relationship Type="http://schemas.openxmlformats.org/officeDocument/2006/relationships/notesMaster" Target="/ppt/notesMasters/notesMaster1.xml" Id="R717e252f18e84f1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0fe2ab611944b49" /><Relationship Type="http://schemas.openxmlformats.org/officeDocument/2006/relationships/notesMaster" Target="/ppt/notesMasters/notesMaster1.xml" Id="R9dfbce8d0cc0427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cfd1023e6cc43eb" /><Relationship Type="http://schemas.openxmlformats.org/officeDocument/2006/relationships/notesMaster" Target="/ppt/notesMasters/notesMaster1.xml" Id="R0e7ab24e13b64cb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649f713764a400c" /><Relationship Type="http://schemas.openxmlformats.org/officeDocument/2006/relationships/notesMaster" Target="/ppt/notesMasters/notesMaster1.xml" Id="R10b1d8fecf6c435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ba739ded8404f81" /><Relationship Type="http://schemas.openxmlformats.org/officeDocument/2006/relationships/notesMaster" Target="/ppt/notesMasters/notesMaster1.xml" Id="R0732f16901d14b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8131b9aa8d141ff" /><Relationship Type="http://schemas.openxmlformats.org/officeDocument/2006/relationships/notesMaster" Target="/ppt/notesMasters/notesMaster1.xml" Id="R609c4e48ac59474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54c4e5b328a48e8" /><Relationship Type="http://schemas.openxmlformats.org/officeDocument/2006/relationships/notesMaster" Target="/ppt/notesMasters/notesMaster1.xml" Id="R6369d1d56e314f5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b690803cc744508" /><Relationship Type="http://schemas.openxmlformats.org/officeDocument/2006/relationships/notesMaster" Target="/ppt/notesMasters/notesMaster1.xml" Id="Ree8c26c5ea624e8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838bc2b25c34911" /><Relationship Type="http://schemas.openxmlformats.org/officeDocument/2006/relationships/notesMaster" Target="/ppt/notesMasters/notesMaster1.xml" Id="R3375a930fd474ca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346b33a802c44e2" /><Relationship Type="http://schemas.openxmlformats.org/officeDocument/2006/relationships/notesMaster" Target="/ppt/notesMasters/notesMaster1.xml" Id="Rba3fa77ebb6147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mai/26, aba 02-02-Vlr. Valor encerrado; 2026 = jan–mai.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 (snapshot mai/26, aba 02-02-Vlr); composição não observada escalada pela composição CVM.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O = originador; C = cedente; S = subordinação mínima; P = preço de emissão por tipo de cota. Mesma curadoria documental flagship; fontes linha a linha na aba Auditoria emissões.</a:t>
            </a:r>
          </a:p>
          <a:p xmlns:a="http://schemas.openxmlformats.org/drawingml/2006/main">
            <a:r>
              <a:t>- Campo ausente, fragmento sem nome explícito ou vínculo documental insuficiente permanece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CNPJ. A presença compara os sete tipos já usados na curadoria flagship; N/D não é convertido em zero.</a:t>
            </a:r>
          </a:p>
          <a:p xmlns:a="http://schemas.openxmlformats.org/drawingml/2006/main">
            <a:r>
              <a:t>- Mínimo estrutural inclui mínimo júnior e, com asterisco, suporte total/combinado documentado.</a:t>
            </a:r>
          </a:p>
          <a:p xmlns:a="http://schemas.openxmlformats.org/drawingml/2006/main">
            <a:r>
              <a:t>- Documento, página, fórmula, natureza e motivo de comparabilidade constam na aba Risco estrutural ativos.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Carteira I e flagships usam subordinação total atual sobre PL reconciliado por CNPJ; a comparação não mistura mínimo júnior com suporte total.</a:t>
            </a:r>
          </a:p>
          <a:p xmlns:a="http://schemas.openxmlformats.org/drawingml/2006/main">
            <a:r>
              <a:t>- Tolerância de leitura: ±2 p.p.; grupos com menos de cinco pares ficam sem posição relativa.</a:t>
            </a:r>
          </a:p>
          <a:p xmlns:a="http://schemas.openxmlformats.org/drawingml/2006/main">
            <a:r>
              <a:t>- PL pondera o tamanho do veículo. Valor encarteirado por ativo não está disponível na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Capacidade de absorção até o gatilho = (subordinação atual − mínimo) / (1 − mínimo).</a:t>
            </a:r>
          </a:p>
          <a:p xmlns:a="http://schemas.openxmlformats.org/drawingml/2006/main">
            <a:r>
              <a:t>- Realce laranja identifica situação regulatória abaixo do mínimo ou em folga estreita. A posição relativa ao mercado usa setas no slide anterior.</a:t>
            </a:r>
          </a:p>
          <a:p xmlns:a="http://schemas.openxmlformats.org/drawingml/2006/main">
            <a:r>
              <a:t>- A lista mostra até 12 casos mensuráveis; a aba Risco estrutural ativos preserva os 101 CNPJs e todas as lacunas.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f38719ccf4b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dada06215a4388" /><Relationship Type="http://schemas.openxmlformats.org/officeDocument/2006/relationships/slideLayout" Target="/ppt/slideLayouts/slideLayout1.xml" Id="R6f0d22489a604a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0d22489a604a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06aa649e74f72" /><Relationship Type="http://schemas.openxmlformats.org/officeDocument/2006/relationships/notesSlide" Target="/ppt/notesSlides/notesSlide1.xml" Id="Rb2538d638d0a4f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496a5057540f7" /><Relationship Type="http://schemas.openxmlformats.org/officeDocument/2006/relationships/chart" Target="/ppt/slides/charts/chart1.xml" Id="R9c2c23f1ae1542eb" /><Relationship Type="http://schemas.openxmlformats.org/officeDocument/2006/relationships/chart" Target="/ppt/slides/charts/chart2.xml" Id="Rca91c27f37244756" /><Relationship Type="http://schemas.openxmlformats.org/officeDocument/2006/relationships/chart" Target="/ppt/slides/charts/chart3.xml" Id="Rdecb2c338aa04bec" /><Relationship Type="http://schemas.openxmlformats.org/officeDocument/2006/relationships/notesSlide" Target="/ppt/notesSlides/notesSlide2.xml" Id="R11d45af108e447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00ada84f74a49" /><Relationship Type="http://schemas.openxmlformats.org/officeDocument/2006/relationships/chart" Target="/ppt/slides/charts/chart4.xml" Id="R6b3b456cb25a4e76" /><Relationship Type="http://schemas.openxmlformats.org/officeDocument/2006/relationships/chart" Target="/ppt/slides/charts/chart5.xml" Id="Rdedfc2e4d478459e" /><Relationship Type="http://schemas.openxmlformats.org/officeDocument/2006/relationships/notesSlide" Target="/ppt/notesSlides/notesSlide3.xml" Id="R13068f109e754a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0d95aa3bc49df" /><Relationship Type="http://schemas.openxmlformats.org/officeDocument/2006/relationships/chart" Target="/ppt/slides/charts/chart6.xml" Id="R85c1d60c087b4344" /><Relationship Type="http://schemas.openxmlformats.org/officeDocument/2006/relationships/chart" Target="/ppt/slides/charts/chart7.xml" Id="Rb0bd901cd9554ba3" /><Relationship Type="http://schemas.openxmlformats.org/officeDocument/2006/relationships/notesSlide" Target="/ppt/notesSlides/notesSlide4.xml" Id="R6292fd5bb9cd49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9f5902be2427f" /><Relationship Type="http://schemas.openxmlformats.org/officeDocument/2006/relationships/chart" Target="/ppt/slides/charts/chart8.xml" Id="R1d8daadca5ef48b6" /><Relationship Type="http://schemas.openxmlformats.org/officeDocument/2006/relationships/chart" Target="/ppt/slides/charts/chart9.xml" Id="R2b23d92663a547de" /><Relationship Type="http://schemas.openxmlformats.org/officeDocument/2006/relationships/chart" Target="/ppt/slides/charts/chart10.xml" Id="Rc390a5758871455d" /><Relationship Type="http://schemas.openxmlformats.org/officeDocument/2006/relationships/notesSlide" Target="/ppt/notesSlides/notesSlide5.xml" Id="Rbfdef3172d5744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cb61f7dc849d0" /><Relationship Type="http://schemas.openxmlformats.org/officeDocument/2006/relationships/chart" Target="/ppt/slides/charts/chart11.xml" Id="Rb1c6a82a64a14f90" /><Relationship Type="http://schemas.openxmlformats.org/officeDocument/2006/relationships/chart" Target="/ppt/slides/charts/chart12.xml" Id="R0f50b11b31b84656" /><Relationship Type="http://schemas.openxmlformats.org/officeDocument/2006/relationships/chart" Target="/ppt/slides/charts/chart13.xml" Id="R7224fa59834d455b" /><Relationship Type="http://schemas.openxmlformats.org/officeDocument/2006/relationships/notesSlide" Target="/ppt/notesSlides/notesSlide6.xml" Id="R9a89eee50f3443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45a91bf8644dc" /><Relationship Type="http://schemas.openxmlformats.org/officeDocument/2006/relationships/chart" Target="/ppt/slides/charts/chart14.xml" Id="Rd9269442fb4b4a9d" /><Relationship Type="http://schemas.openxmlformats.org/officeDocument/2006/relationships/chart" Target="/ppt/slides/charts/chart15.xml" Id="Rcc2fe1dd3f5645bc" /><Relationship Type="http://schemas.openxmlformats.org/officeDocument/2006/relationships/chart" Target="/ppt/slides/charts/chart16.xml" Id="Rac6b24440fad4324" /><Relationship Type="http://schemas.openxmlformats.org/officeDocument/2006/relationships/notesSlide" Target="/ppt/notesSlides/notesSlide7.xml" Id="Rb64acaa5691f45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b6d0591394a40" /><Relationship Type="http://schemas.openxmlformats.org/officeDocument/2006/relationships/chart" Target="/ppt/slides/charts/chart17.xml" Id="R87ccf28ee0a34c10" /><Relationship Type="http://schemas.openxmlformats.org/officeDocument/2006/relationships/chart" Target="/ppt/slides/charts/chart18.xml" Id="R0b0b7ef71fb14d76" /><Relationship Type="http://schemas.openxmlformats.org/officeDocument/2006/relationships/chart" Target="/ppt/slides/charts/chart19.xml" Id="Rdaf9e67e2aee4621" /><Relationship Type="http://schemas.openxmlformats.org/officeDocument/2006/relationships/notesSlide" Target="/ppt/notesSlides/notesSlide8.xml" Id="Rf09e3a99ab5847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0629fcaca49c8" /><Relationship Type="http://schemas.openxmlformats.org/officeDocument/2006/relationships/notesSlide" Target="/ppt/notesSlides/notesSlide9.xml" Id="Rb835f0af945e4d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7beddc572481b" /><Relationship Type="http://schemas.openxmlformats.org/officeDocument/2006/relationships/notesSlide" Target="/ppt/notesSlides/notesSlide10.xml" Id="Ra4a7d4433b1d4a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6587f2ab8421d" /><Relationship Type="http://schemas.openxmlformats.org/officeDocument/2006/relationships/notesSlide" Target="/ppt/notesSlides/notesSlide11.xml" Id="R5dcafe288f1c4c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57e308fd3492e" /><Relationship Type="http://schemas.openxmlformats.org/officeDocument/2006/relationships/notesSlide" Target="/ppt/notesSlides/notesSlide12.xml" Id="Rb9bebd0a8d7145d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e32d4895a4159" /><Relationship Type="http://schemas.openxmlformats.org/officeDocument/2006/relationships/notesSlide" Target="/ppt/notesSlides/notesSlide13.xml" Id="R28caa3be25764e0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aeb5cc32a4e5a" /><Relationship Type="http://schemas.openxmlformats.org/officeDocument/2006/relationships/notesSlide" Target="/ppt/notesSlides/notesSlide14.xml" Id="R1686e054f0344ee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0b20ed2cda43c8" /><Relationship Type="http://schemas.openxmlformats.org/officeDocument/2006/relationships/notesSlide" Target="/ppt/notesSlides/notesSlide15.xml" Id="Rf9e034e17bfd454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a442248d1401f" /><Relationship Type="http://schemas.openxmlformats.org/officeDocument/2006/relationships/notesSlide" Target="/ppt/notesSlides/notesSlide16.xml" Id="R6973930425844fc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9dc5923e346b7" /><Relationship Type="http://schemas.openxmlformats.org/officeDocument/2006/relationships/chart" Target="/ppt/slides/charts/chart20.xml" Id="R255f737b0cba40a0" /><Relationship Type="http://schemas.openxmlformats.org/officeDocument/2006/relationships/chart" Target="/ppt/slides/charts/chart21.xml" Id="R7ab989d26b73441e" /><Relationship Type="http://schemas.openxmlformats.org/officeDocument/2006/relationships/chart" Target="/ppt/slides/charts/chart22.xml" Id="R4ce9de25470a4802" /><Relationship Type="http://schemas.openxmlformats.org/officeDocument/2006/relationships/notesSlide" Target="/ppt/notesSlides/notesSlide17.xml" Id="R26a43cd86b50466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ea07133684ae5" /><Relationship Type="http://schemas.openxmlformats.org/officeDocument/2006/relationships/chart" Target="/ppt/slides/charts/chart23.xml" Id="Ra7b482c22b574b62" /><Relationship Type="http://schemas.openxmlformats.org/officeDocument/2006/relationships/chart" Target="/ppt/slides/charts/chart24.xml" Id="R06c2409b900a4ec1" /><Relationship Type="http://schemas.openxmlformats.org/officeDocument/2006/relationships/chart" Target="/ppt/slides/charts/chart25.xml" Id="R83ad5096a6ee4da4" /><Relationship Type="http://schemas.openxmlformats.org/officeDocument/2006/relationships/chart" Target="/ppt/slides/charts/chart26.xml" Id="R87ce53b4f27d4b43" /><Relationship Type="http://schemas.openxmlformats.org/officeDocument/2006/relationships/notesSlide" Target="/ppt/notesSlides/notesSlide18.xml" Id="Raf9eff90092d43d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75e45a7074a7a" /><Relationship Type="http://schemas.openxmlformats.org/officeDocument/2006/relationships/chart" Target="/ppt/slides/charts/chart27.xml" Id="R068b78eb04274eaa" /><Relationship Type="http://schemas.openxmlformats.org/officeDocument/2006/relationships/chart" Target="/ppt/slides/charts/chart28.xml" Id="R71a1dcffe510483e" /><Relationship Type="http://schemas.openxmlformats.org/officeDocument/2006/relationships/chart" Target="/ppt/slides/charts/chart29.xml" Id="R10a1a83ef45e4b0d" /><Relationship Type="http://schemas.openxmlformats.org/officeDocument/2006/relationships/chart" Target="/ppt/slides/charts/chart30.xml" Id="Raf3d534e9f6947e2" /><Relationship Type="http://schemas.openxmlformats.org/officeDocument/2006/relationships/chart" Target="/ppt/slides/charts/chart31.xml" Id="R2bc7db77892c45cd" /><Relationship Type="http://schemas.openxmlformats.org/officeDocument/2006/relationships/notesSlide" Target="/ppt/notesSlides/notesSlide19.xml" Id="Rf236d60a5b1e40a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112aac7e84ba9" /><Relationship Type="http://schemas.openxmlformats.org/officeDocument/2006/relationships/notesSlide" Target="/ppt/notesSlides/notesSlide20.xml" Id="R24191ddd9126424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941add6824615" /><Relationship Type="http://schemas.openxmlformats.org/officeDocument/2006/relationships/notesSlide" Target="/ppt/notesSlides/notesSlide21.xml" Id="R7152ad0ba080486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05bc8fc554929" /><Relationship Type="http://schemas.openxmlformats.org/officeDocument/2006/relationships/notesSlide" Target="/ppt/notesSlides/notesSlide22.xml" Id="R31bc7b4eb646403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b2aec808749bc" /><Relationship Type="http://schemas.openxmlformats.org/officeDocument/2006/relationships/chart" Target="/ppt/slides/charts/chart32.xml" Id="R3a2daf4bc03c49d9" /><Relationship Type="http://schemas.openxmlformats.org/officeDocument/2006/relationships/chart" Target="/ppt/slides/charts/chart33.xml" Id="Rc51eec91f4d84580" /><Relationship Type="http://schemas.openxmlformats.org/officeDocument/2006/relationships/chart" Target="/ppt/slides/charts/chart34.xml" Id="Rd617bab9d6b74c04" /><Relationship Type="http://schemas.openxmlformats.org/officeDocument/2006/relationships/chart" Target="/ppt/slides/charts/chart35.xml" Id="R56233b507d7e4401" /><Relationship Type="http://schemas.openxmlformats.org/officeDocument/2006/relationships/chart" Target="/ppt/slides/charts/chart36.xml" Id="Rc7e4a828e86d401d" /><Relationship Type="http://schemas.openxmlformats.org/officeDocument/2006/relationships/chart" Target="/ppt/slides/charts/chart37.xml" Id="Rd322ee5076ac4279" /><Relationship Type="http://schemas.openxmlformats.org/officeDocument/2006/relationships/chart" Target="/ppt/slides/charts/chart38.xml" Id="Reeb76cee7e754a2c" /><Relationship Type="http://schemas.openxmlformats.org/officeDocument/2006/relationships/notesSlide" Target="/ppt/notesSlides/notesSlide23.xml" Id="R8c98b7ca28c74f9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0806a76ba489b" /><Relationship Type="http://schemas.openxmlformats.org/officeDocument/2006/relationships/chart" Target="/ppt/slides/charts/chart39.xml" Id="Rf92e7375cdd74e6e" /><Relationship Type="http://schemas.openxmlformats.org/officeDocument/2006/relationships/chart" Target="/ppt/slides/charts/chart40.xml" Id="R8eccc6b4f19a41d9" /><Relationship Type="http://schemas.openxmlformats.org/officeDocument/2006/relationships/notesSlide" Target="/ppt/notesSlides/notesSlide24.xml" Id="R0b27c5395c7f4a3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58ac9c6d6434f" /><Relationship Type="http://schemas.openxmlformats.org/officeDocument/2006/relationships/chart" Target="/ppt/slides/charts/chart41.xml" Id="R99c739c68ca04300" /><Relationship Type="http://schemas.openxmlformats.org/officeDocument/2006/relationships/chart" Target="/ppt/slides/charts/chart42.xml" Id="Rf89be543df3449fb" /><Relationship Type="http://schemas.openxmlformats.org/officeDocument/2006/relationships/chart" Target="/ppt/slides/charts/chart43.xml" Id="Rfa7f6482c6c949c1" /><Relationship Type="http://schemas.openxmlformats.org/officeDocument/2006/relationships/notesSlide" Target="/ppt/notesSlides/notesSlide25.xml" Id="Rdfcb4806bc65456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d1b87f9c049da" /><Relationship Type="http://schemas.openxmlformats.org/officeDocument/2006/relationships/chart" Target="/ppt/slides/charts/chart44.xml" Id="R1df7434393cb4b40" /><Relationship Type="http://schemas.openxmlformats.org/officeDocument/2006/relationships/chart" Target="/ppt/slides/charts/chart45.xml" Id="R06dae1b717124825" /><Relationship Type="http://schemas.openxmlformats.org/officeDocument/2006/relationships/chart" Target="/ppt/slides/charts/chart46.xml" Id="R613680826d4d446e" /><Relationship Type="http://schemas.openxmlformats.org/officeDocument/2006/relationships/chart" Target="/ppt/slides/charts/chart47.xml" Id="R32d3e219ee824379" /><Relationship Type="http://schemas.openxmlformats.org/officeDocument/2006/relationships/chart" Target="/ppt/slides/charts/chart48.xml" Id="Ra54499230727429b" /><Relationship Type="http://schemas.openxmlformats.org/officeDocument/2006/relationships/notesSlide" Target="/ppt/notesSlides/notesSlide26.xml" Id="R60b3fffd06254ff1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1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txPr>
            <a:bodyPr anchorCtr="1"/>
            <a:lstStyle/>
            <a:p>
              <a:pPr>
                <a:defRPr sz="42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B5C5A3B7-FC50-437F-8316-0374DAE3F431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B628E0DD-ABF2-455E-BBBC-C43721CBA22E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D0B5076-61FC-4C45-8634-D2725CC6593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C38B337-A7C4-4FEF-A080-65B7C7F0E34C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771B46CD-1981-4946-92C0-5718E2569DF8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B380963-6623-4438-818B-B3A0D5E77E35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606499149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0" name="">
            <a:extLst>
              <a:ext uri="{FF2B5EF4-FFF2-40B4-BE49-F238E27FC236}">
                <ns2:creationId id="{3EBDDEFB-6573-4B00-AA04-7217293AF96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D5AE912-6F76-47AC-A5EA-DE2CA91282B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5CB771-E3D0-492C-A424-83E3D4A7DA6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D49620B-858D-45D4-9C82-6BA1A6162A7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7D4371D-FA6E-48DC-9F48-642BB413FD2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D9DB6D1-E15A-480A-9B9B-76D738A335F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B8E80F0-6035-4FE5-999C-8DAE73124C8D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19D071-AF7E-4145-BE53-B8D15CEE16B4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9c2c23f1ae1542e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C73F583-8876-40FF-B34A-D1011F16EFA2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EBF2C86-5A78-4447-B5DE-748E0F0179FD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0B27AC0-AE7C-4A39-BB6C-BE1C5916AEAD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a91c27f3724475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CEEF72C-4794-42E5-AB4D-3C1DEDD5ACF8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447748AD-3DDA-4B8E-85FC-D0476AED4F07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decb2c338aa04bec"/>
          </a:graphicData>
        </a:graphic>
      </ns0:graphicFrame>
      <ns0:sp>
        <ns0:nvSpPr>
          <ns0:cNvPr id="17" name="">
            <a:extLst>
              <a:ext uri="{FF2B5EF4-FFF2-40B4-BE49-F238E27FC236}">
                <ns2:creationId id="{58D7CD3E-6D20-4B16-9E52-AF0A359A8130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FB8ED12-6FDF-4274-AB3E-9B89AB8884B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2ED457E-CE77-4DA2-BFF4-F69166E70B1D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361251711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3" name="">
            <a:extLst>
              <a:ext uri="{FF2B5EF4-FFF2-40B4-BE49-F238E27FC236}">
                <ns2:creationId id="{0DAAA958-2BA5-455D-AF81-7A8F40316D5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0E97698-BD89-4312-9785-7CEFCC61BCF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Abertura por instrumento usa o valor encerrado ANBIMA; 2023 corrigido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44F191C-E2DB-421C-8577-FC78C0A9D91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33AC36D-68AF-4C49-AC7E-08899750C63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270E27-5361-487B-B639-55AC4D9FE30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snapshot 24/jul/26; ANBIMA Data, Boletim de Mercado de Capitais, snapshot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6CE4E5E-B5E0-490B-A7E4-CA20239E48F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989F21-7A45-437A-8538-FDD79CEB80CF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3D04B63-5F7D-4B9E-BD00-8DC706A3438D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1" name="Chart"/>
          <ns0:cNvGraphicFramePr/>
          <ns0:nvPr/>
        </ns0:nvGraphicFramePr>
        <ns0:xfrm>
          <a:off x="571500" y="1666875"/>
          <a:ext cx="5238750" cy="3857625"/>
        </ns0:xfrm>
        <a:graphic>
          <a:graphicData uri="http://schemas.openxmlformats.org/drawingml/2006/chart">
            <c:chart ns4:id="R6b3b456cb25a4e7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5CDC56-BF6A-45E1-9E72-64F5F0E70961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CA12F8D-4E2D-45F6-9BDB-632967BB866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6381750" y="1666875"/>
          <a:ext cx="5238750" cy="3857625"/>
        </ns0:xfrm>
        <a:graphic>
          <a:graphicData uri="http://schemas.openxmlformats.org/drawingml/2006/chart">
            <c:chart ns4:id="Rdedfc2e4d478459e"/>
          </a:graphicData>
        </a:graphic>
      </ns0:graphicFrame>
    </ns0:spTree>
    <ns0:extLst>
      <ns0:ext uri="{BB962C8B-B14F-4D97-AF65-F5344CB8AC3E}">
        <ns5:creationId val="822604935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6A46B550-27AB-4EA8-AD1A-5D7C5AB0BB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C8EE06C-73D1-4B86-A6F1-F7164AF7F52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70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lidera o 1S26; a composição mostra quais categorias explicam o aumento dos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75AC356-FDE7-456A-A46D-A18797A8530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1A46574-D05F-4177-8E11-F26A7F66551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C62E5EF-2EAC-4343-BCBF-E1775C2231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2E008F7-8432-4529-B040-CA4404884A8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7E602-18BC-43AD-A279-0E487FE3F529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C4342B3-3F86-41D6-A825-14A4C3604AB3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85c1d60c087b434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5844C543-15EF-40CC-BAF4-2C2AF6463942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19AD8AF-652C-4133-9143-F57F2016EC0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b0bd901cd9554ba3"/>
          </a:graphicData>
        </a:graphic>
      </ns0:graphicFrame>
      <ns0:sp>
        <ns0:nvSpPr>
          <ns0:cNvPr id="13" name="">
            <a:extLst>
              <a:ext uri="{FF2B5EF4-FFF2-40B4-BE49-F238E27FC236}">
                <ns2:creationId id="{FADA49AA-A7EF-4B06-9461-F5DE90ED44AE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C4546099-9A62-42FE-9647-53F0068A2D64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571500" y="3810000"/>
          <a:ext cx="11049000" cy="22383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00250"/>
                <a:gridCol w="809625"/>
                <a:gridCol w="495300"/>
                <a:gridCol w="809625"/>
                <a:gridCol w="495300"/>
                <a:gridCol w="809625"/>
                <a:gridCol w="495300"/>
                <a:gridCol w="952500"/>
                <a:gridCol w="590550"/>
                <a:gridCol w="952500"/>
                <a:gridCol w="590550"/>
              </a:tblGrid>
              <a:tr h="2857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431434994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E344EEE-0635-41FC-B37C-B545EC65B34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9F24F1D-083D-4E62-808C-B6B39439958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2C5151E-1D2D-4917-8FBB-B10F2EDD1B3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D62AC24-026D-4E2D-8235-A549EF5D29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5B3069-2D5F-4C48-BEE1-DF0361AC3BF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4D343F3-6AEE-46F8-95FA-0027C5065F6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144E227-201C-4EB7-8745-330B682AE7D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828F182-8A20-4330-B3EA-527DA9A1EB1B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1d8daadca5ef48b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F6840C0-01F1-4F3E-A101-C057D4E2F424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A9018AE-ED15-453E-AD2C-D27B5C54A2A7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2b23d92663a547de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c390a5758871455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3F1578D-C95F-4426-873E-B6AB60677426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6BB33AA-DA49-44AF-8D6F-DA513F21B0E4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N/D permanece como residual observado. Tipo/Foco oficial e evidências seguem no workbook.</a:t>
            </a:r>
          </a:p>
        </ns0:txBody>
      </ns0:sp>
    </ns0:spTree>
    <ns0:extLst>
      <ns0:ext uri="{BB962C8B-B14F-4D97-AF65-F5344CB8AC3E}">
        <ns5:creationId val="125943597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91CD8BB8-F9A2-492E-AC58-7B0A7CADDA1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A5A9F4E-F3CF-4406-BBF6-E9603E8EBA5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8A9A68E-E4BD-4511-83EB-121731F2B42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8320684-9C36-41D6-88FB-A00A7F3C668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C749701-A206-458B-A3DA-16119106CE9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7B82937-BBA5-4B0A-AD19-61F98EEE5CF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FDC0CC1-7B35-4DC3-9FA9-B0CE4A787740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4FEFC31-2DAF-4AE1-94F2-1B7B55A32428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b1c6a82a64a14f9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630BD76-EEF4-4886-ADA2-EABA63535788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56BC1FD-7DF0-46B1-A6F6-32888F568DFF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0f50b11b31b84656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7224fa59834d455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E98C87C-CEB0-4ABE-B6EF-3073D7A6F6C3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531944723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05F5B49-9CF5-4A41-A087-89991DF5478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51AE157-6356-4B6F-A703-375198C1182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8270E26-82DB-4C15-A0EC-9550B06E900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9220AA1-FE91-4D0C-A2C2-BCEF8C10EFD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EF7CB64-C5F3-442F-BFC4-BB49AD009D7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13D000E-9347-488F-A5B4-BFB2E075DD2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A427B2-A7BF-43F8-A71F-DB01B0FD9008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044EC45-9792-4BFA-9AEB-2720E4765946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d9269442fb4b4a9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92EAA3C-C13A-4442-BA31-90837FBBF653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48606A-2238-4EA4-8796-F5DEE220592F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cc2fe1dd3f5645bc"/>
          </a:graphicData>
        </a:graphic>
      </ns0:graphicFrame>
      <ns0:sp>
        <ns0:nvSpPr>
          <ns0:cNvPr id="13" name="">
            <a:extLst>
              <a:ext uri="{FF2B5EF4-FFF2-40B4-BE49-F238E27FC236}">
                <ns2:creationId id="{F3FA6070-D3FA-4744-9D76-BB448682421A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6234B07B-C33E-4708-948C-DC0AD68F2C0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ac6b24440fad4324"/>
          </a:graphicData>
        </a:graphic>
      </ns0:graphicFrame>
    </ns0:spTree>
    <ns0:extLst>
      <ns0:ext uri="{BB962C8B-B14F-4D97-AF65-F5344CB8AC3E}">
        <ns5:creationId val="1938677446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DF16BF73-C83A-4DC6-AFF9-A738C5B62F8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2778A7F-BE57-4924-9CE9-5088437FB1E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B11037E-5954-441A-B453-A6F8ED632E3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35493B2-4EF1-4680-977B-7313774C05B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9DB2211-1AFA-4E12-B684-8149E13A120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07E7BE9-C884-4534-BA33-41CB1FB2041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A2CD78C-7D89-4482-9FBD-C7AD3E2887EB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13B47D-F657-4446-8BFE-1AACDC16BF15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87ccf28ee0a34c1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3EFA8E6-9D9E-489E-A2E7-602A90991905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455E1F39-0909-400D-8981-8A8428BB078A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22F6D6E-D104-431F-A5C2-A54D704286CA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0b0b7ef71fb14d76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FE1D0BB-A1E4-4242-8140-F40858A2177D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C403A37D-CC51-4EFD-A208-F2ECD91620F9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1ACFE82F-1AC6-4CE6-B7E2-A3B506E1BF66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daf9e67e2aee4621"/>
          </a:graphicData>
        </a:graphic>
      </ns0:graphicFrame>
    </ns0:spTree>
    <ns0:extLst>
      <ns0:ext uri="{BB962C8B-B14F-4D97-AF65-F5344CB8AC3E}">
        <ns5:creationId val="25769810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794392BC-2228-4D4E-88BE-8890369B361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314EB89-007D-442C-BE2D-CCD2D9F8DB8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66665CE-EC48-41DE-A0E1-AC4E7CA58DF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D7F7FCF-8FA2-40AC-82D4-00822BEB716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1905EE-F074-4445-8D61-45349F640E0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6E8E4A1-D3A9-4D1A-A8C5-53B6DA8BE0E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666750"/>
                <a:gridCol w="619125"/>
                <a:gridCol w="1619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112779657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FC1D7232-BD69-4E41-9B21-AED4A0465C1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EBD889F-E778-4B11-86B5-77F0F7EBAD04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5D31F75-C26C-465E-96B6-793BBBE89C2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2CE6635-4384-4B60-9449-443E89CDF21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05A9E32-163D-4A37-BAA5-B030C6BABAE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F8E633-C9B9-43A2-8FD6-6908FFBEAFF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1066CB1-86BB-4539-B5F0-1880A349797D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C5447A6-B3E7-4716-A352-878C40A910EF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F1DAEA1-847D-4BCF-BD1D-2AC733AA52FE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R$ 31,9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716B294-77B4-4D2E-8EB5-7CD37585CBE2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23D359F-A414-451E-8B43-A33CD74906B0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423D50BD-D54F-4BF6-BF30-81D8461A08D6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R$ 30,4 bi</a:t>
            </a:r>
          </a:p>
        </ns0:txBody>
      </ns0:sp>
    </ns0:spTree>
    <ns0:extLst>
      <ns0:ext uri="{BB962C8B-B14F-4D97-AF65-F5344CB8AC3E}">
        <ns3:creationId val="374006697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6DCE2C63-AC95-4472-A015-84B92514645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C8C7531-1CEA-455B-8C1A-865649C79B2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3777C33-A6C2-4DAB-B228-B829AE331A3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4B4E57F-A9E6-4B48-A657-389FB01AC9C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2B4CE42-F3C2-48F8-9B0D-0B2F2A488A0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EC1F95B-E2FD-40EA-8280-2D0CFEC9C6F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9ABFDEA-705C-40B4-B718-5E7A064DD426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4D6FEE0-7535-454C-BBD6-7A209409111D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F8B73067-317A-4459-AE13-ABAF7D3DC314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R$ 112,2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6C151DC-7A91-4129-A64D-195BE0D6B37A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0ABF4F2-066B-4125-93DB-E3FA33A1998C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ÂMBAR ENERGIA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A096074C-899B-4034-B36C-9908C1DC672B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R$ 94,0 bi</a:t>
            </a:r>
          </a:p>
        </ns0:txBody>
      </ns0:sp>
    </ns0:spTree>
    <ns0:extLst>
      <ns0:ext uri="{BB962C8B-B14F-4D97-AF65-F5344CB8AC3E}">
        <ns3:creationId val="631759585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FC9E931E-02A2-49FE-8334-5F01CB472FA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C68EDF8-9F30-4466-9A40-F63F68DAE55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32B91F4-0029-4B43-86CD-DD87870BE52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313054-47B4-499B-9A44-3C3A18CAC9F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D8208BC-519D-41E3-8EC4-BFC8274738F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89C13D7-F826-4B46-8EFE-C84B209DDAF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B9B168-ADBA-4256-813F-2D7A2A2954FA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D33EAEE-6C55-4949-8BA1-158671DC77AC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5D0893C-E3B7-4ECA-920D-6AAEBD394252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R$ 121,1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A5EEEF6-880D-4BFC-86EE-A15F9C325245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F119951-A182-4030-B95B-69C0F4214950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Parati Crédito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5,0%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A20CE5A5-6512-4665-9913-69E6522ACD23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R$ 106,3 bi</a:t>
            </a:r>
          </a:p>
        </ns0:txBody>
      </ns0:sp>
    </ns0:spTree>
    <ns0:extLst>
      <ns0:ext uri="{BB962C8B-B14F-4D97-AF65-F5344CB8AC3E}">
        <ns3:creationId val="31767532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397C0D8A-C26D-4B41-A9C3-A9EDED34E38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8B48842-61BA-4CB9-AFEE-0B39BFF562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56E481F-4E16-44EA-A60D-029E54EDBC0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CAB086B-9B06-4530-B909-3ECAFC1A3FF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F6D4BFF-2204-4608-80E8-8C6190D84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A04FF79-DA8E-4857-9FCB-9E6BC318EEA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E2AFD5D-0325-457E-971E-86E387F2D554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E56CD82-0ADD-488C-AB43-1B02405D9C37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0C07FF6-8D17-4F6A-ACB9-342712B206D7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R$ 55,1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AF21720-75D2-494B-A208-C610061B4B5D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F79C050-C6F1-4E60-93C4-EA7A213B668C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428750"/>
                <a:gridCol w="1190625"/>
                <a:gridCol w="1095375"/>
                <a:gridCol w="885825"/>
                <a:gridCol w="571500"/>
              </a:tblGrid>
              <a:tr h="3143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394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08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86D7D5D9-92E0-4311-B4E3-0834A0DB792C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R$ 60,9 bi</a:t>
            </a:r>
          </a:p>
        </ns0:txBody>
      </ns0:sp>
    </ns0:spTree>
    <ns0:extLst>
      <ns0:ext uri="{BB962C8B-B14F-4D97-AF65-F5344CB8AC3E}">
        <ns3:creationId val="456994648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5" name="">
            <a:extLst>
              <a:ext uri="{FF2B5EF4-FFF2-40B4-BE49-F238E27FC236}">
                <ns2:creationId id="{897C58C6-5F1C-4187-8A60-BC68FBBDE9E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COBERTURA POR TAXONOMIA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53E327A-163B-4373-A63B-81BCC4A77A3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Veículos tem 8 pares com subordinação e permanece sem PL mensurável na Carteira 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7E8182-E1FE-4EA7-A762-7C8CDEEDC33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64825BA-51C2-4A9F-9840-EF54B7D717E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4A96F-36DE-4525-8061-33755560253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 FundosNet/B3 lidos por CNPJ. Lacunas permanecem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C2D25D3-8AA4-432A-A9C8-E38690B7BBD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4F3EDB2-1124-4436-A761-9BCE9B861A15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352425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8F77DA5A-523B-499E-85CB-5733F9591BD4}"/>
              </a:ext>
            </a:extLst>
          </ns0:cNvPr>
          <ns0:cNvSpPr>
            <a:spLocks noGrp="1"/>
          </ns0:cNvSpPr>
          <ns0:nvPr/>
        </ns0:nvSpPr>
        <ns0:spPr>
          <a:xfrm>
            <a:off x="68580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MÍNIMO JÚNIOR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DF0D6C19-8AF0-4662-BEB6-37F1A4A9F53E}"/>
              </a:ext>
            </a:extLst>
          </ns0:cNvPr>
          <ns0:cNvSpPr>
            <a:spLocks noGrp="1"/>
          </ns0:cNvSpPr>
          <ns0:nvPr/>
        </ns0:nvSpPr>
        <ns0:spPr>
          <a:xfrm>
            <a:off x="209550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83/101 · 82,2%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E34B2BD4-6F07-46BE-BDF3-7D0E996F3B19}"/>
              </a:ext>
            </a:extLst>
          </ns0:cNvPr>
          <ns0:cNvSpPr>
            <a:spLocks noGrp="1"/>
          </ns0:cNvSpPr>
          <ns0:nvPr/>
        </ns0:nvSpPr>
        <ns0:spPr>
          <a:xfrm>
            <a:off x="4286250" y="1257300"/>
            <a:ext cx="3524250" cy="5143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75AEA73D-7CE2-40AA-BE70-A0647820CD22}"/>
              </a:ext>
            </a:extLst>
          </ns0:cNvPr>
          <ns0:cNvSpPr>
            <a:spLocks noGrp="1"/>
          </ns0:cNvSpPr>
          <ns0:nvPr/>
        </ns0:nvSpPr>
        <ns0:spPr>
          <a:xfrm>
            <a:off x="440055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MÍNIMO ESTRUTURAL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FF344CF-870F-428F-8F66-AB9741666C51}"/>
              </a:ext>
            </a:extLst>
          </ns0:cNvPr>
          <ns0:cNvSpPr>
            <a:spLocks noGrp="1"/>
          </ns0:cNvSpPr>
          <ns0:nvPr/>
        </ns0:nvSpPr>
        <ns0:spPr>
          <a:xfrm>
            <a:off x="581025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99/101 · 98,0%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EBC50ACE-0CA7-40D9-B1AD-92F550AB4210}"/>
              </a:ext>
            </a:extLst>
          </ns0:cNvPr>
          <ns0:cNvSpPr>
            <a:spLocks noGrp="1"/>
          </ns0:cNvSpPr>
          <ns0:nvPr/>
        </ns0:nvSpPr>
        <ns0:spPr>
          <a:xfrm>
            <a:off x="8001000" y="1257300"/>
            <a:ext cx="3524250" cy="5143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8B5A3C36-4CC5-461D-9A75-2111B6760779}"/>
              </a:ext>
            </a:extLst>
          </ns0:cNvPr>
          <ns0:cNvSpPr>
            <a:spLocks noGrp="1"/>
          </ns0:cNvSpPr>
          <ns0:nvPr/>
        </ns0:nvSpPr>
        <ns0:spPr>
          <a:xfrm>
            <a:off x="8115300" y="1323975"/>
            <a:ext cx="142875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8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FOLGA COMPARÁVEL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6069548F-DF2F-4D18-AD40-E173D7DE5ACE}"/>
              </a:ext>
            </a:extLst>
          </ns0:cNvPr>
          <ns0:cNvSpPr>
            <a:spLocks noGrp="1"/>
          </ns0:cNvSpPr>
          <ns0:nvPr/>
        </ns0:nvSpPr>
        <ns0:spPr>
          <a:xfrm>
            <a:off x="9525000" y="13049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23/101 CNPJs</a:t>
            </a:r>
          </a:p>
        </ns0:txBody>
      </ns0:sp>
      <ns0:graphicFrame>
        <ns0:nvGraphicFramePr>
          <ns0:cNvPr id="40" name=""/>
          <ns0:cNvGraphicFramePr/>
          <ns0:nvPr/>
        </ns0:nvGraphicFramePr>
        <ns0:xfrm>
          <a:off x="619125" y="1943100"/>
          <a:ext cx="11001375" cy="3714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1190625"/>
                <a:gridCol w="1381125"/>
                <a:gridCol w="1381125"/>
                <a:gridCol w="2095500"/>
                <a:gridCol w="1571625"/>
                <a:gridCol w="1714500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 · 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dos veículos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47 flagships · 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Presença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Jr localizado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Mín. estrutural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53/54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INSS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CNPJ no escopo; PL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9393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Presente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0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23/23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7" name="">
            <a:extLst>
              <a:ext uri="{FF2B5EF4-FFF2-40B4-BE49-F238E27FC236}">
                <ns2:creationId id="{5AFAB494-75CC-4DE7-A7F4-36BAC54311A3}"/>
              </a:ext>
            </a:extLst>
          </ns0:cNvPr>
          <ns0:cNvSpPr>
            <a:spLocks noGrp="1"/>
          </ns0:cNvSpPr>
          <ns0:nvPr/>
        </ns0:nvSpPr>
        <ns0:spPr>
          <a:xfrm>
            <a:off x="571500" y="2200275"/>
            <a:ext cx="47625" cy="493939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623DC82D-0514-4586-95F5-652DC0E8197D}"/>
              </a:ext>
            </a:extLst>
          </ns0:cNvPr>
          <ns0:cNvSpPr>
            <a:spLocks noGrp="1"/>
          </ns0:cNvSpPr>
          <ns0:nvPr/>
        </ns0:nvSpPr>
        <ns0:spPr>
          <a:xfrm>
            <a:off x="571500" y="2694214"/>
            <a:ext cx="47625" cy="493939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8541AA02-1A65-434E-8156-0FF9B1D09FEA}"/>
              </a:ext>
            </a:extLst>
          </ns0:cNvPr>
          <ns0:cNvSpPr>
            <a:spLocks noGrp="1"/>
          </ns0:cNvSpPr>
          <ns0:nvPr/>
        </ns0:nvSpPr>
        <ns0:spPr>
          <a:xfrm>
            <a:off x="571500" y="3188154"/>
            <a:ext cx="47625" cy="493939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40ECD565-5F82-4733-90F9-F0E9146185F5}"/>
              </a:ext>
            </a:extLst>
          </ns0:cNvPr>
          <ns0:cNvSpPr>
            <a:spLocks noGrp="1"/>
          </ns0:cNvSpPr>
          <ns0:nvPr/>
        </ns0:nvSpPr>
        <ns0:spPr>
          <a:xfrm>
            <a:off x="571500" y="3682093"/>
            <a:ext cx="47625" cy="493939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A1F8B058-6194-4FBB-B813-BF4075FCE2DB}"/>
              </a:ext>
            </a:extLst>
          </ns0:cNvPr>
          <ns0:cNvSpPr>
            <a:spLocks noGrp="1"/>
          </ns0:cNvSpPr>
          <ns0:nvPr/>
        </ns0:nvSpPr>
        <ns0:spPr>
          <a:xfrm>
            <a:off x="571500" y="4176032"/>
            <a:ext cx="47625" cy="493939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20EE7EC5-2A19-49FE-A0D1-790314FD222C}"/>
              </a:ext>
            </a:extLst>
          </ns0:cNvPr>
          <ns0:cNvSpPr>
            <a:spLocks noGrp="1"/>
          </ns0:cNvSpPr>
          <ns0:nvPr/>
        </ns0:nvSpPr>
        <ns0:spPr>
          <a:xfrm>
            <a:off x="571500" y="4669971"/>
            <a:ext cx="47625" cy="493939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23F6BB39-3BDB-47DC-BAD6-3C49ABB0A7D4}"/>
              </a:ext>
            </a:extLst>
          </ns0:cNvPr>
          <ns0:cNvSpPr>
            <a:spLocks noGrp="1"/>
          </ns0:cNvSpPr>
          <ns0:nvPr/>
        </ns0:nvSpPr>
        <ns0:spPr>
          <a:xfrm>
            <a:off x="571500" y="5163911"/>
            <a:ext cx="47625" cy="493939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A008DDD4-E1C0-45C9-9189-7FF002F47DF5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suporte total, combinado, calculado ou ajustado; a natureza está indicada por linha. PL é o patrimônio do veículo; o valor encarteirado por ativo não está disponível nesta base.</a:t>
            </a:r>
          </a:p>
        </ns0:txBody>
      </ns0:sp>
    </ns0:spTree>
    <ns0:extLst>
      <ns0:ext uri="{BB962C8B-B14F-4D97-AF65-F5344CB8AC3E}">
        <ns3:creationId val="1913391862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98E8E188-C295-4206-ABDA-314D4A6FF04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VS. PARES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E0DBBC0-BC01-4103-A694-0442D1BBDFC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Subordinação atual da Carteira I por tipo, com referência aos 47 CNPJs flagship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8FC7F42-C9BE-4DFA-8942-F005C1D53DC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7ECAC7-CEC2-4FCC-9966-E6A448A3F04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5A3BDDA-8450-4316-AF67-3A7C1353C45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medianas usam somente CNPJs com subordinação atual calculável.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21C5E30-3DA7-4677-BFAE-49BFD8286DA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ADC9F71-65E9-4CFA-9D4F-CE6DFD9CBB8F}"/>
              </a:ext>
            </a:extLst>
          </ns0:cNvPr>
          <ns0:cNvSpPr>
            <a:spLocks noGrp="1"/>
          </ns0:cNvSpPr>
          <ns0:nvPr/>
        </ns0:nvSpPr>
        <ns0:spPr>
          <a:xfrm>
            <a:off x="571500" y="121920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seta mostra a distância para a mediana dos pares. A cor lateral identifica a taxonomia; situação regulatória é tratada no slide seguinte.</a:t>
            </a:r>
          </a:p>
        </ns0:txBody>
      </ns0:sp>
      <ns0:graphicFrame>
        <ns0:nvGraphicFramePr>
          <ns0:cNvPr id="24" name=""/>
          <ns0:cNvGraphicFramePr/>
          <ns0:nvPr/>
        </ns0:nvGraphicFramePr>
        <ns0:xfrm>
          <a:off x="619125" y="1619250"/>
          <a:ext cx="11001375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09750"/>
                <a:gridCol w="1428750"/>
                <a:gridCol w="1476375"/>
                <a:gridCol w="1524000"/>
                <a:gridCol w="1190625"/>
                <a:gridCol w="1285875"/>
                <a:gridCol w="2286000"/>
              </a:tblGrid>
              <a:tr h="2762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 ·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 · pond. 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Flagships ·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Diferença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Pares com dado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+35,8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↑ acima dos pares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INSS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-1,2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→ em linha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Consignado 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+1,2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→ em linha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456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+1,0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→ em linha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F1F5ED09-FB2C-4E79-9F6F-413E3F52B956}"/>
              </a:ext>
            </a:extLst>
          </ns0:cNvPr>
          <ns0:cNvSpPr>
            <a:spLocks noGrp="1"/>
          </ns0:cNvSpPr>
          <ns0:nvPr/>
        </ns0:nvSpPr>
        <ns0:spPr>
          <a:xfrm>
            <a:off x="571500" y="1895475"/>
            <a:ext cx="47625" cy="545646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F8762132-B6C7-48AB-92F9-67CFDC03E95F}"/>
              </a:ext>
            </a:extLst>
          </ns0:cNvPr>
          <ns0:cNvSpPr>
            <a:spLocks noGrp="1"/>
          </ns0:cNvSpPr>
          <ns0:nvPr/>
        </ns0:nvSpPr>
        <ns0:spPr>
          <a:xfrm>
            <a:off x="571500" y="2441121"/>
            <a:ext cx="47625" cy="545646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11FADC25-AE3D-4AAE-AB77-C8F642D50D07}"/>
              </a:ext>
            </a:extLst>
          </ns0:cNvPr>
          <ns0:cNvSpPr>
            <a:spLocks noGrp="1"/>
          </ns0:cNvSpPr>
          <ns0:nvPr/>
        </ns0:nvSpPr>
        <ns0:spPr>
          <a:xfrm>
            <a:off x="571500" y="2986768"/>
            <a:ext cx="47625" cy="545646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AE4FEB2E-B108-462B-94B3-0D19ACEEC01E}"/>
              </a:ext>
            </a:extLst>
          </ns0:cNvPr>
          <ns0:cNvSpPr>
            <a:spLocks noGrp="1"/>
          </ns0:cNvSpPr>
          <ns0:nvPr/>
        </ns0:nvSpPr>
        <ns0:spPr>
          <a:xfrm>
            <a:off x="571500" y="3532414"/>
            <a:ext cx="47625" cy="545646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D7A80720-B611-4A38-A11E-8B91B496AEEC}"/>
              </a:ext>
            </a:extLst>
          </ns0:cNvPr>
          <ns0:cNvSpPr>
            <a:spLocks noGrp="1"/>
          </ns0:cNvSpPr>
          <ns0:nvPr/>
        </ns0:nvSpPr>
        <ns0:spPr>
          <a:xfrm>
            <a:off x="571500" y="4078061"/>
            <a:ext cx="47625" cy="545646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D3D1CCFE-EA06-4AD0-BDC3-82E7EDAD489F}"/>
              </a:ext>
            </a:extLst>
          </ns0:cNvPr>
          <ns0:cNvSpPr>
            <a:spLocks noGrp="1"/>
          </ns0:cNvSpPr>
          <ns0:nvPr/>
        </ns0:nvSpPr>
        <ns0:spPr>
          <a:xfrm>
            <a:off x="571500" y="4623707"/>
            <a:ext cx="47625" cy="545646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A757FFE6-ACB1-4A01-AB38-2F8AF8906BFD}"/>
              </a:ext>
            </a:extLst>
          </ns0:cNvPr>
          <ns0:cNvSpPr>
            <a:spLocks noGrp="1"/>
          </ns0:cNvSpPr>
          <ns0:nvPr/>
        </ns0:nvSpPr>
        <ns0:spPr>
          <a:xfrm>
            <a:off x="571500" y="5169354"/>
            <a:ext cx="47625" cy="545646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F3FF6DC2-FB21-466A-8A0F-7A281349491E}"/>
              </a:ext>
            </a:extLst>
          </ns0:cNvPr>
          <ns0:cNvSpPr>
            <a:spLocks noGrp="1"/>
          </ns0:cNvSpPr>
          <ns0:nvPr/>
        </ns0:nvSpPr>
        <ns0:spPr>
          <a:xfrm>
            <a:off x="571500" y="58293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3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Mediana descreve o ativo típico; média ponderada pelo PL descreve onde está o patrimônio dos veículos. Grupos com menos de cinco pares ficam sem benchmark confiável.</a:t>
            </a:r>
          </a:p>
        </ns0:txBody>
      </ns0:sp>
    </ns0:spTree>
    <ns0:extLst>
      <ns0:ext uri="{BB962C8B-B14F-4D97-AF65-F5344CB8AC3E}">
        <ns3:creationId val="351186427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F2765B2F-943F-4769-BC86-9FCF5257676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ATIVOS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27B1F37-2B27-4796-99FB-D2124D78871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83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23 CNPJs têm folga calculável; a tabela prioriza menor capacidade de absorção e maior PL do veículo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9878904-5388-4FE8-A4A9-ABE7F5050C5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5A11BBA-9E7B-4D70-99EA-7232AED4016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A2C2E8F-FEFC-42E6-B76F-1A6BF754559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 FundosNet/B3. Folga e absorção ficam N/D quando a tranche ou o denominador não são comparáveis.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D7ECF37-9984-4ADB-B8A3-FDE7CB151D6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314450"/>
          <a:ext cx="11049000" cy="44958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381250"/>
                <a:gridCol w="1190625"/>
                <a:gridCol w="1047750"/>
                <a:gridCol w="1000125"/>
                <a:gridCol w="1047750"/>
                <a:gridCol w="952500"/>
                <a:gridCol w="952500"/>
                <a:gridCol w="1000125"/>
                <a:gridCol w="14763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Ativo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veículo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Mínimo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Folga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Absorção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Situação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MCPO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R$ 113,3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-20,0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SOTREQ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R$ 205,2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25,0%*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-1,4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MAQNELSON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R$ 100,0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-0,8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abaixo do mínimo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+0,5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DESBRAVA UNO ARTIGOS ESPORTIVOS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R$ 343,6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+0,4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PERNAMBUCANAS FIDC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R$ 226,6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+0,9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SOULPAY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R$ 78,4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+1,0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WORKCAP AGRO FUNDO DE INVESTIMENTO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R$ 443,2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+1,6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AKIRA I FUNDO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R$ 308,2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+2,3 p.p.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folga estreita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AGRO CAPITAL FINANCE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R$ 522,1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+2,2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acima do mínimo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NATURA PAY FUNDO DE INVESTIMENTO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25,26%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+3,1 p.p.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acima do mínimo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321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SOLO FUNDO DE INVESTIMENTO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/ Revenda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R$ 378,1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4,76%*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 calc.*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+5,4 p.p.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acima do mínimo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8" name="">
            <a:extLst>
              <a:ext uri="{FF2B5EF4-FFF2-40B4-BE49-F238E27FC236}">
                <ns2:creationId id="{A0DD36A1-E8EE-4CEE-8C22-ED207588941C}"/>
              </a:ext>
            </a:extLst>
          </ns0:cNvPr>
          <ns0:cNvSpPr>
            <a:spLocks noGrp="1"/>
          </ns0:cNvSpPr>
          <ns0:nvPr/>
        </ns0:nvSpPr>
        <ns0:spPr>
          <a:xfrm>
            <a:off x="571500" y="5886450"/>
            <a:ext cx="11049000" cy="304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suporte total, combinado, calculado ou ajustado; a natureza está indicada por linha. PL é o patrimônio do veículo; o valor encarteirado por ativo não está disponível nesta base.</a:t>
            </a:r>
          </a:p>
        </ns0:txBody>
      </ns0:sp>
    </ns0:spTree>
    <ns0:extLst>
      <ns0:ext uri="{BB962C8B-B14F-4D97-AF65-F5344CB8AC3E}">
        <ns3:creationId val="358459742"/>
      </ns0:ext>
    </ns0:extLst>
  </ns0:cSld>
</ns0:sld>
</file>

<file path=ppt/slides/slide1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6548A8C-54B6-44C3-B60F-31350949E0F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9EDF257-C07A-478A-AA7D-9F3A23F2B84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DD89151-A96D-45C2-8C45-E28D5211B1B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7E4982-E85A-43EB-B42D-CABA4BE8BBF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3D8236F-306C-4E84-B4B4-3B0EEB59FE9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53FF105-C9D5-4338-8BD0-8E55A000939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1CDA028-5307-4EF0-B5B9-58CC0E1622C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7F5F969-9835-4F31-A9D1-77492FABCA92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55f737b0cba40a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E570F3A-3203-4E95-B9BC-08FF96F77D04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54C2D19-C7CE-402E-BED6-DD2C3E2F1F7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7ab989d26b73441e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4ce9de25470a480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50F5A5A-F3A0-4C45-9B07-C50A57DDDA0D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1597BFF-1DD6-41B6-9B44-D78D116D3526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1554642582"/>
      </ns0:ext>
    </ns0:extLst>
  </ns0:cSld>
</ns0:sld>
</file>

<file path=ppt/slides/slide1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C731E3B5-4A89-4E95-8ABE-F30A79D4D67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57717B8-9C00-4265-8E88-505FE762788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75A136-CA6F-4350-AEBD-77507D8E5FA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92A8A94-DA9D-4E73-8050-D4014A40F25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2D0180F-723C-43B4-980B-C3B5649C447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4225B49-FAE7-494D-B53C-F53DDF8A3F6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67F663C-E7A8-4354-8C24-54DBBA2365FB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9E80D76-E90F-4887-BAAA-725BA65BE999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a7b482c22b574b6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772DE99-7C8F-49BE-8854-EE65BE84E7D0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3FA1353-8F76-46F9-8C15-98543686DDC7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06c2409b900a4ec1"/>
          </a:graphicData>
        </a:graphic>
      </ns0:graphicFrame>
      <ns0:sp>
        <ns0:nvSpPr>
          <ns0:cNvPr id="13" name="">
            <a:extLst>
              <a:ext uri="{FF2B5EF4-FFF2-40B4-BE49-F238E27FC236}">
                <ns2:creationId id="{50655C19-0DD0-42B5-B848-2777F1AB5F5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3737E73-B407-44AA-8132-4487E4D9FF70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83ad5096a6ee4da4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87ce53b4f27d4b43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A8DB72D-A5C7-4E84-B683-245A21A83AD4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64E025F9-1521-4FC2-BD2E-60DCE8E6A6CF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72B9F79-0200-46ED-96C1-878F754D748D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122A9B96-9005-42DD-9501-BF9BB0AD34AD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BDF8F819-CE13-422C-A235-9E0CFCA3A6C0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DA656B9-F711-4197-B8F8-CA297B050FF3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D07FAC3-20A4-4AFB-B96C-75BE0165F819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CFC92E64-E6B3-43ED-9926-FC7D8BD52C80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9B525C9-F6F1-44CC-96A4-26D4488D4306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807029315"/>
      </ns0:ext>
    </ns0:extLst>
  </ns0:cSld>
</ns0:sld>
</file>

<file path=ppt/slides/slide1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3B76905C-DB11-4CD9-8A6B-778AA21AA7C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03FACF0-95D3-42D8-B2E5-1D9C8CF0DE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25B3B23-29BB-4777-98D9-A231CBB53B6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69C7A4C-397D-4360-AA1D-53F6F4DA7EB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8DADE9C-F344-43F9-A26A-AA10876D1FB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CD904A-57B6-44AF-88F4-ACBE9C2C7CF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6935062-DF81-4389-9C10-759AD485A8A5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17A87F0-567E-424B-A0FB-B7341025CAB1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068b78eb04274eaa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1DFB5F0-37EE-44A6-B305-FA7C39D133D8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F957647-A746-431B-818F-9DDF51D76071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71a1dcffe510483e"/>
          </a:graphicData>
        </a:graphic>
      </ns0:graphicFrame>
      <ns0:graphicFrame>
        <ns0:nvGraphicFramePr>
          <ns0:cNvPr id="33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10a1a83ef45e4b0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6AE9CF6-E3FE-498E-9BE7-4FE305A1CA86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FB595DD-48FD-4290-A46B-732CEDA8679A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15FCB83-8611-46EB-B584-9CE6757C99D9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af3d534e9f6947e2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34F64E0-7CC4-43CC-8EA7-1150F9641081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53AB2AF-4FF8-4315-AC4D-F46EEFF4F4EE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2bc7db77892c45cd"/>
          </a:graphicData>
        </a:graphic>
      </ns0:graphicFrame>
    </ns0:spTree>
    <ns0:extLst>
      <ns0:ext uri="{BB962C8B-B14F-4D97-AF65-F5344CB8AC3E}">
        <ns5:creationId val="1507968733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6F86F6F2-39AB-4EFD-8BB5-F06AC6E2D55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F506D27-7CE8-4EA3-9D09-CBE9B792F7E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72D0FE8-195C-43E2-A101-BAF20A75C47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0E1F881-4FE2-4F72-B114-2EF2A77680A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90B8FD7-4921-4404-AE4B-DD9B2EC0C99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AB5C618-9EE6-4598-8E2B-804EE63C4D2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B166F20-00D1-456F-A110-9376AF7CE8F0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21F0DA2-FBF1-4009-97DB-C65D2B04D228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24947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1,0% até D+180;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22244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62.588.266/0001-54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25826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65.976.848/0001-04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24712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63.572.282/0001-11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25379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63.546.406/0001-94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1,5% inicial;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26277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65.839.682/0001-76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23614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63.733.796/0001-01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ICred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24212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64.118.207/0001-48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24371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62.393.829/0001-59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Fornecedores de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25708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24266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63.505.455/0001-89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26532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66.226.355/0001-01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23529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61.669.748/0001-76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Lavoro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23032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44.302.112/0001-72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Bayer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42DFFB9-2D45-4CAB-98FC-A5EB5D2F9990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578420A-1730-486F-82C0-6E749647DED2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17862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20185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60.356.171/0001-80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23734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63.662.224/0001-89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Santander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20351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60.528.786/0001-46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Agibank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19640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59.356.753/0001-87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56.924.942/0001-10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aplicável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18230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Carteira agro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20694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21550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60.598.366/0001-36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22987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63.321.684/0001-43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E 19298</a:t>
                      </a:r>
                    </a:p>
                    <a:p>
                      <a:pPr algn="l"/>
                      <a:r>
                        <a:rPr sz="41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58.349.979/0001-98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Volkswagen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21006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61.188.091/0001-25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Não identificado ·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61.271.872/0001-89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Pine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21208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17.250.006/0001-10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098966E9-6BC9-4204-9729-01F8D12F794C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8314CDD-F587-418D-BB0C-2EB02D54F19D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CDC0AB4-52E5-45FD-92DF-2B0583BCA728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CNPJ e emissão formam a chave de cada linha; N/D indica lacuna documental.</a:t>
            </a:r>
          </a:p>
        </ns0:txBody>
      </ns0:sp>
    </ns0:spTree>
    <ns0:extLst>
      <ns0:ext uri="{BB962C8B-B14F-4D97-AF65-F5344CB8AC3E}">
        <ns3:creationId val="1555876573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3211E92-F727-450F-AB11-1FD91A8AEFF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CCBAFA0-16E6-49D6-BB36-4E854CC3EFE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campos documentais por CNPJ e emissão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02F19B9-4706-4C4C-A9CB-795CC1F6E8F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B665492-4131-4751-8060-6A77D177838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C139D7C-A2C7-4197-BE48-D123AB0653F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7E04CA2-3D12-4BBC-B739-8339147B102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25C08C8-CB01-4982-9680-121176D8A761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DDCE3E-3242-46DF-A855-C1A1FEAD5F04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18162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57.532.556/0001-46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BV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15612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54.979.779/0001-68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3794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32.321.307/0001-80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4203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52.256.912/0001-22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17739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57.609.282/0001-46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15753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54.810.968/0001-02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15714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47.228.232/0001-65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18270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46.450.551/0001-58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D365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16416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55.471.753/0001-77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Mercado Pago /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33,3%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18027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PagSeguro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3687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46.073.195/0001-09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18122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57.028.406/0001-08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Solfácil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14966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54.218.673/0001-41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2,5%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15820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55.070.804/0001-59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D3753C19-D44C-4F7F-8373-EF19F2F779F2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6DC76BA-6CA2-4A39-8428-21D2C9E894DE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2A305459-D035-4AB9-80E9-FB42B97A1154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781050"/>
                <a:gridCol w="1066800"/>
                <a:gridCol w="1000125"/>
                <a:gridCol w="952500"/>
                <a:gridCol w="800100"/>
                <a:gridCol w="5238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Emissão / 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 / 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0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1758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50.473.039/0001-02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10,0%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3483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51.983.832/0001-06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816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48.905.593/0001-61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3468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52.720.932/0001-02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1744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50.114.948/0001-46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2925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51.957.370/0001-52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578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49.306.883/0001-51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3491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47.936.340/0001-92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3865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34.850.088/0001-52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2036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49.920.525/0001-34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2004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50.098.465/0001-03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1131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24.761.946/0001-39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3138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50.988.212/0001-05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1519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50.440.392/0001-88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 1433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35.159.296/0001-72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S: N/D</a:t>
                      </a:r>
                    </a:p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P: 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1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3B2561F3-587B-4629-8C37-9CEB2381A8E5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B6FD192-A10B-4C03-B324-35B5187EFBA7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O = originador; C = cedente; S = subordinação mínima; P = preço de emissão por tipo de cota. Cada linha usa CNPJ e emissão como chave; lacuna documental permanece N/D.</a:t>
            </a:r>
          </a:p>
        </ns0:txBody>
      </ns0:sp>
    </ns0:spTree>
    <ns0:extLst>
      <ns0:ext uri="{BB962C8B-B14F-4D97-AF65-F5344CB8AC3E}">
        <ns3:creationId val="903374688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9930660F-609B-45CD-AC7E-2CBDC51D3BE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5A15E24-6C9C-4733-85D2-976B6947D5E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B277B97-0C58-48EB-A660-9B20B2C050F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310E442-C3A4-4A0F-B1E3-13EDE85583F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236D175-D0B3-4236-8E2A-70BD8BD48A0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8D187D5-E426-4CB2-B802-3C8930B3822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916428E-E7B3-4589-A91B-5C742FBF4E69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8194BE6-3B29-47CC-AC5D-9A8D519D423F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847CED-54EF-49CB-A630-7A8C81019B91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078033BC-5044-4E4F-B122-D0833B9A2E2F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8401230-4EB6-4E66-A10F-8C37B23E0CF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BA6B507-A9C9-4820-8DC7-21C7071BE9DF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90B3764F-C6C2-45CB-BD59-BEBADA2248EF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9E3B728-DBE3-44DF-AF54-05BF1189BA87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0ED13C0-7934-4D13-9855-560F3703033B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1BCECF53-2C4B-4077-B8AC-51BAB679CA51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1FDE76-0015-45EA-8A81-64B012F6645C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F72F3F8-78D3-4D43-933A-695E427B90A1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4CB01B56-095A-4DCA-A72F-6827B21F495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A5B9A1DC-D5A5-4783-9B44-D0A3B23BEA58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40F2EDB3-E81F-41E6-859E-F6A5E297BCE3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5D47A145-41C6-47AB-890D-0466185A9FDE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578B9F7C-DB61-4303-A382-A3BCF7C68C0A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FFC7EFE-CF7E-4E1D-9F5E-0C496380A376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2C1F71E-95B1-4092-82AF-E867F283BADB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0DA6F30-F316-4ED3-9F06-07CBF627F6F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6F0647A-8042-4E52-9DD9-A3935D324E8E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848551351"/>
      </ns0:ext>
    </ns0:extLst>
  </ns0:cSld>
</ns0:sld>
</file>

<file path=ppt/slides/slide2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8D4DD703-B6AB-4DE2-9BB8-8F0C11ACA8B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F386237-C6B0-4BA6-9852-766404E6278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292BCA2-5491-4658-9F43-6A87A2A1513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B5D4260-A844-4838-809D-FABF9E1B0E2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57287C0-F228-4174-8E78-4593B6D798F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0385AEB-0E03-4241-92D5-DCAB4D0A9D7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3a2daf4bc03c49d9"/>
          </a:graphicData>
        </a:graphic>
      </ns0:graphicFrame>
      <ns0:sp>
        <ns0:nvSpPr>
          <ns0:cNvPr id="8" name="">
            <a:extLst>
              <a:ext uri="{FF2B5EF4-FFF2-40B4-BE49-F238E27FC236}">
                <ns2:creationId id="{EBB57360-F8DE-4F7A-8B59-F07280CFD49F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BDD2AB7-8453-4A8F-9564-268EDF39E567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5DA44F23-F0CD-4FFD-845F-1A54AD905F86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c51eec91f4d84580"/>
          </a:graphicData>
        </a:graphic>
      </ns0:graphicFrame>
      <ns0:sp>
        <ns0:nvSpPr>
          <ns0:cNvPr id="12" name="">
            <a:extLst>
              <a:ext uri="{FF2B5EF4-FFF2-40B4-BE49-F238E27FC236}">
                <ns2:creationId id="{F721F68D-A38E-4820-A81C-9149AB6B0446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d617bab9d6b74c04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F75AE1F-8C33-4447-94D5-93B147F21300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56233b507d7e4401"/>
          </a:graphicData>
        </a:graphic>
      </ns0:graphicFrame>
      <ns0:sp>
        <ns0:nvSpPr>
          <ns0:cNvPr id="16" name="">
            <a:extLst>
              <a:ext uri="{FF2B5EF4-FFF2-40B4-BE49-F238E27FC236}">
                <ns2:creationId id="{769AE5CD-D56F-464E-AF75-CE8C80D44223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c7e4a828e86d401d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E4BAEE-4BB4-4103-BC91-78ED5A1755FF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d322ee5076ac4279"/>
          </a:graphicData>
        </a:graphic>
      </ns0:graphicFrame>
      <ns0:sp>
        <ns0:nvSpPr>
          <ns0:cNvPr id="20" name="">
            <a:extLst>
              <a:ext uri="{FF2B5EF4-FFF2-40B4-BE49-F238E27FC236}">
                <ns2:creationId id="{98309747-C1F3-4677-A08E-F60619C2BCCF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eeb76cee7e754a2c"/>
          </a:graphicData>
        </a:graphic>
      </ns0:graphicFrame>
    </ns0:spTree>
    <ns0:extLst>
      <ns0:ext uri="{BB962C8B-B14F-4D97-AF65-F5344CB8AC3E}">
        <ns5:creationId val="641339458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4EFDADFE-2C0E-4A0A-8FB3-5CADAFEF080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liderança some quando se olha o que a sustenta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4A3100-351A-408E-A06A-C55A1C4725B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Singulare explica a escala da QI; sem a coorte bancária, BTG cai para #3 em gestão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3EF5680-267E-43CC-86AA-C1D7D251838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0E8E37E-349B-4F65-83F3-DF9972F43FC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21F534-DEA5-4D31-A972-2793D59AEF3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FBC4F0E-1AA1-4767-A0C3-D67AFFF52F3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7BD7CCA-2501-4AC9-B571-823D3DF82C5E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095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A63C270-4901-49FF-A7E5-3404C5CCF407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095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09750"/>
          <a:ext cx="5095875" cy="2190750"/>
        </ns0:xfrm>
        <a:graphic>
          <a:graphicData uri="http://schemas.openxmlformats.org/drawingml/2006/chart">
            <c:chart ns4:id="Rf92e7375cdd74e6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EB7924-D8E2-461F-B422-D5A0769C55DD}"/>
              </a:ext>
            </a:extLst>
          </ns0:cNvPr>
          <ns0:cNvSpPr>
            <a:spLocks noGrp="1"/>
          </ns0:cNvSpPr>
          <ns0:nvPr/>
        </ns0:nvSpPr>
        <ns0:spPr>
          <a:xfrm>
            <a:off x="762000" y="4286250"/>
            <a:ext cx="47148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8F67D84-2E72-4B83-961C-5EB620E2A6A8}"/>
              </a:ext>
            </a:extLst>
          </ns0:cNvPr>
          <ns0:cNvSpPr>
            <a:spLocks noGrp="1"/>
          </ns0:cNvSpPr>
          <ns0:nvPr/>
        </ns0:nvSpPr>
        <ns0:spPr>
          <a:xfrm>
            <a:off x="762000" y="4705350"/>
            <a:ext cx="47148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C95F15E-2C4A-4F5A-92A8-103271457CF5}"/>
              </a:ext>
            </a:extLst>
          </ns0:cNvPr>
          <ns0:cNvSpPr>
            <a:spLocks noGrp="1"/>
          </ns0:cNvSpPr>
          <ns0:nvPr/>
        </ns0:nvSpPr>
        <ns0:spPr>
          <a:xfrm>
            <a:off x="6334125" y="13811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31BFCE5-8777-4BA6-AAFB-923E3576CE37}"/>
              </a:ext>
            </a:extLst>
          </ns0:cNvPr>
          <ns0:cNvSpPr>
            <a:spLocks noGrp="1"/>
          </ns0:cNvSpPr>
          <ns0:nvPr/>
        </ns0:nvSpPr>
        <ns0:spPr>
          <a:xfrm>
            <a:off x="6334125" y="16478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6334125" y="1809750"/>
          <a:ext cx="5286375" cy="2190750"/>
        </ns0:xfrm>
        <a:graphic>
          <a:graphicData uri="http://schemas.openxmlformats.org/drawingml/2006/chart">
            <c:chart ns4:id="R8eccc6b4f19a41d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85DC0365-7F36-426C-880E-BFFF5239253E}"/>
              </a:ext>
            </a:extLst>
          </ns0:cNvPr>
          <ns0:cNvSpPr>
            <a:spLocks noGrp="1"/>
          </ns0:cNvSpPr>
          <ns0:nvPr/>
        </ns0:nvSpPr>
        <ns0:spPr>
          <a:xfrm>
            <a:off x="6524625" y="4286250"/>
            <a:ext cx="4905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C591F96-0592-4826-89BC-199438200123}"/>
              </a:ext>
            </a:extLst>
          </ns0:cNvPr>
          <ns0:cNvSpPr>
            <a:spLocks noGrp="1"/>
          </ns0:cNvSpPr>
          <ns0:nvPr/>
        </ns0:nvSpPr>
        <ns0:spPr>
          <a:xfrm>
            <a:off x="6524625" y="4705350"/>
            <a:ext cx="4905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8F81CFD-DBFE-4E59-B812-A0DF3A49EF54}"/>
              </a:ext>
            </a:extLst>
          </ns0:cNvPr>
          <ns0:cNvSpPr>
            <a:spLocks noGrp="1"/>
          </ns0:cNvSpPr>
          <ns0:nvPr/>
        </ns0:nvSpPr>
        <ns0:spPr>
          <a:xfrm>
            <a:off x="6524625" y="5476875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ns0:txBody>
      </ns0:sp>
    </ns0:spTree>
    <ns0:extLst>
      <ns0:ext uri="{BB962C8B-B14F-4D97-AF65-F5344CB8AC3E}">
        <ns5:creationId val="203293233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551E1E66-B49B-4452-9FEA-4E21B2FD33D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C657B73-4548-41A7-B106-688AEC1FFAF1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3DDF1FB-9E46-4108-A37C-1647E482794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B02813A-DC38-4BF6-830E-AC450BF006F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81A817-7779-405F-8232-5042DA03D6A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52FC982-4EFF-43BA-9227-26E7BF38646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F13F8FE-EC22-4962-9528-538A9983D6C3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FACFEF5-2284-468E-B937-4F18D542593A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99c739c68ca0430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9767249-F6FE-4273-9644-5A04661AB975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574C399-1644-4DF1-882D-6BBC217658CD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f89be543df3449f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E5C3DE-19F2-4FC9-9724-DD251B22D09B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434182B-840A-4798-84C5-18F87744A1CB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fa7f6482c6c949c1"/>
          </a:graphicData>
        </a:graphic>
      </ns0:graphicFrame>
      <ns0:sp>
        <ns0:nvSpPr>
          <ns0:cNvPr id="16" name="">
            <a:extLst>
              <a:ext uri="{FF2B5EF4-FFF2-40B4-BE49-F238E27FC236}">
                <ns2:creationId id="{B3FBA936-7D5F-4D3D-9E9F-8476E17293D1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995341090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EE752E8C-4340-4B62-ADD9-9F15DBFAC0F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494C4C6-D0F2-48B8-BE78-8EE5E762673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6B81EEB-3708-4E76-998C-EB6EC818CB3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EF76CBD-5195-4D25-9140-1B52AAB3672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2554964-756F-4024-8587-0977D4BE2DA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3EB19BF-1D41-406D-8683-B38A7E404A3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df7434393cb4b40"/>
          </a:graphicData>
        </a:graphic>
      </ns0:graphicFrame>
      <ns0:sp>
        <ns0:nvSpPr>
          <ns0:cNvPr id="8" name="">
            <a:extLst>
              <a:ext uri="{FF2B5EF4-FFF2-40B4-BE49-F238E27FC236}">
                <ns2:creationId id="{88EE4BF1-CD4A-4227-ABDD-76B8348057FF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0E491FA-B716-4CEC-9AA0-3D5B3DAE514E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06dae1b717124825"/>
          </a:graphicData>
        </a:graphic>
      </ns0:graphicFrame>
      <ns0:sp>
        <ns0:nvSpPr>
          <ns0:cNvPr id="11" name="">
            <a:extLst>
              <a:ext uri="{FF2B5EF4-FFF2-40B4-BE49-F238E27FC236}">
                <ns2:creationId id="{20355AC7-6D84-4F86-B1FC-09554123C024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A8C9B33-21D0-4706-BF0E-F089F07CC122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613680826d4d446e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3D65952-593A-4A61-827D-6DCFF0176AFF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F572466-C911-4C4D-9716-4AD8A867BC67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32d3e219ee824379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458C45E-73B6-4E97-9785-823C739E763A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33959776-393D-4536-AD6C-C4D79C61074B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7D454C1-0DC2-4201-BFC8-2FDB0773EE09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a54499230727429b"/>
          </a:graphicData>
        </a:graphic>
      </ns0:graphicFrame>
      <ns0:sp>
        <ns0:nvSpPr>
          <ns0:cNvPr id="21" name="">
            <a:extLst>
              <a:ext uri="{FF2B5EF4-FFF2-40B4-BE49-F238E27FC236}">
                <ns2:creationId id="{D1D2C173-AE99-4C5C-9A53-90E72334B851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B990E97-8214-4813-A3DB-8DFACC57994E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144906726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2026-08-01T15:03:28.1630000Z</dcterms:created>
  <dcterms:modified xsi:type="dcterms:W3CDTF">2026-08-01T15:03:28.1630000Z</dcterms:modified>
</coreProperties>
</file>