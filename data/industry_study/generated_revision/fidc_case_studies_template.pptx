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9a202725f4061" /><Relationship Type="http://schemas.openxmlformats.org/officeDocument/2006/relationships/extended-properties" Target="/docProps/app.xml" Id="R2ba287eb82854fee" /><Relationship Type="http://schemas.openxmlformats.org/officeDocument/2006/relationships/officeDocument" Target="/ppt/presentation.xml" Id="Re198911d64be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3c8c8348ae4f4b"/>
  </p:sldMasterIdLst>
  <p:notesMasterIdLst>
    <p:notesMasterId xmlns:r="http://schemas.openxmlformats.org/officeDocument/2006/relationships" r:id="Rec693b40157e49f9"/>
  </p:notesMasterIdLst>
  <p:sldIdLst>
    <p:sldId xmlns:r="http://schemas.openxmlformats.org/officeDocument/2006/relationships" id="256" r:id="R41bd14f63b95443a"/>
    <p:sldId xmlns:r="http://schemas.openxmlformats.org/officeDocument/2006/relationships" id="257" r:id="R2043278012f64f66"/>
    <p:sldId xmlns:r="http://schemas.openxmlformats.org/officeDocument/2006/relationships" id="258" r:id="Re2a14ce8cc8c444b"/>
    <p:sldId xmlns:r="http://schemas.openxmlformats.org/officeDocument/2006/relationships" id="259" r:id="R3c3e3fcfa745460c"/>
    <p:sldId xmlns:r="http://schemas.openxmlformats.org/officeDocument/2006/relationships" id="260" r:id="Rd167287083284c35"/>
    <p:sldId xmlns:r="http://schemas.openxmlformats.org/officeDocument/2006/relationships" id="261" r:id="Rf0033974d13e40ce"/>
    <p:sldId xmlns:r="http://schemas.openxmlformats.org/officeDocument/2006/relationships" id="262" r:id="R7e5457989ecd4e45"/>
    <p:sldId xmlns:r="http://schemas.openxmlformats.org/officeDocument/2006/relationships" id="263" r:id="R84800d72f2d84685"/>
    <p:sldId xmlns:r="http://schemas.openxmlformats.org/officeDocument/2006/relationships" id="264" r:id="R6ec9bcdbdef04de4"/>
    <p:sldId xmlns:r="http://schemas.openxmlformats.org/officeDocument/2006/relationships" id="265" r:id="R5b53cb22250b4ec9"/>
    <p:sldId xmlns:r="http://schemas.openxmlformats.org/officeDocument/2006/relationships" id="266" r:id="R24cd45022fea4367"/>
    <p:sldId xmlns:r="http://schemas.openxmlformats.org/officeDocument/2006/relationships" id="267" r:id="R9bb377ef7e5842db"/>
    <p:sldId xmlns:r="http://schemas.openxmlformats.org/officeDocument/2006/relationships" id="268" r:id="Re35516200eb74503"/>
    <p:sldId xmlns:r="http://schemas.openxmlformats.org/officeDocument/2006/relationships" id="269" r:id="R25cbe05959dc4ad5"/>
    <p:sldId xmlns:r="http://schemas.openxmlformats.org/officeDocument/2006/relationships" id="270" r:id="R103f7b6f2a414988"/>
    <p:sldId xmlns:r="http://schemas.openxmlformats.org/officeDocument/2006/relationships" id="271" r:id="R9e5cb3a484dd40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903265ed3646cf" /><Relationship Type="http://schemas.openxmlformats.org/officeDocument/2006/relationships/slideMaster" Target="/ppt/slideMasters/slideMaster1.xml" Id="R853c8c8348ae4f4b" /><Relationship Type="http://schemas.openxmlformats.org/officeDocument/2006/relationships/notesMaster" Target="/ppt/notesMasters/notesMaster1.xml" Id="Rec693b40157e49f9" /><Relationship Type="http://schemas.openxmlformats.org/officeDocument/2006/relationships/presProps" Target="/ppt/presProps.xml" Id="R41ed80841db34722" /><Relationship Type="http://schemas.openxmlformats.org/officeDocument/2006/relationships/tableStyles" Target="/ppt/tableStyles.xml" Id="R539c93ea07f446bb" /><Relationship Type="http://schemas.openxmlformats.org/officeDocument/2006/relationships/slide" Target="/ppt/slides/slide1.xml" Id="R41bd14f63b95443a" /><Relationship Type="http://schemas.openxmlformats.org/officeDocument/2006/relationships/slide" Target="/ppt/slides/slide2.xml" Id="R2043278012f64f66" /><Relationship Type="http://schemas.openxmlformats.org/officeDocument/2006/relationships/slide" Target="/ppt/slides/slide3.xml" Id="Re2a14ce8cc8c444b" /><Relationship Type="http://schemas.openxmlformats.org/officeDocument/2006/relationships/slide" Target="/ppt/slides/slide4.xml" Id="R3c3e3fcfa745460c" /><Relationship Type="http://schemas.openxmlformats.org/officeDocument/2006/relationships/slide" Target="/ppt/slides/slide5.xml" Id="Rd167287083284c35" /><Relationship Type="http://schemas.openxmlformats.org/officeDocument/2006/relationships/slide" Target="/ppt/slides/slide6.xml" Id="Rf0033974d13e40ce" /><Relationship Type="http://schemas.openxmlformats.org/officeDocument/2006/relationships/slide" Target="/ppt/slides/slide7.xml" Id="R7e5457989ecd4e45" /><Relationship Type="http://schemas.openxmlformats.org/officeDocument/2006/relationships/slide" Target="/ppt/slides/slide8.xml" Id="R84800d72f2d84685" /><Relationship Type="http://schemas.openxmlformats.org/officeDocument/2006/relationships/slide" Target="/ppt/slides/slide9.xml" Id="R6ec9bcdbdef04de4" /><Relationship Type="http://schemas.openxmlformats.org/officeDocument/2006/relationships/slide" Target="/ppt/slides/slide10.xml" Id="R5b53cb22250b4ec9" /><Relationship Type="http://schemas.openxmlformats.org/officeDocument/2006/relationships/slide" Target="/ppt/slides/slide11.xml" Id="R24cd45022fea4367" /><Relationship Type="http://schemas.openxmlformats.org/officeDocument/2006/relationships/slide" Target="/ppt/slides/slide12.xml" Id="R9bb377ef7e5842db" /><Relationship Type="http://schemas.openxmlformats.org/officeDocument/2006/relationships/slide" Target="/ppt/slides/slide13.xml" Id="Re35516200eb74503" /><Relationship Type="http://schemas.openxmlformats.org/officeDocument/2006/relationships/slide" Target="/ppt/slides/slide14.xml" Id="R25cbe05959dc4ad5" /><Relationship Type="http://schemas.openxmlformats.org/officeDocument/2006/relationships/slide" Target="/ppt/slides/slide15.xml" Id="R103f7b6f2a414988" /><Relationship Type="http://schemas.openxmlformats.org/officeDocument/2006/relationships/slide" Target="/ppt/slides/slide16.xml" Id="R9e5cb3a484dd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7a8199d98142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e1c8270c345d5" /><Relationship Type="http://schemas.openxmlformats.org/officeDocument/2006/relationships/notesMaster" Target="/ppt/notesMasters/notesMaster1.xml" Id="R499291a5b313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81e3785d0346f2" /><Relationship Type="http://schemas.openxmlformats.org/officeDocument/2006/relationships/notesMaster" Target="/ppt/notesMasters/notesMaster1.xml" Id="R6fa9adf977da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3fc4e06dd14bff" /><Relationship Type="http://schemas.openxmlformats.org/officeDocument/2006/relationships/notesMaster" Target="/ppt/notesMasters/notesMaster1.xml" Id="R5fe688fffe11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c924f7ac1a4ec4" /><Relationship Type="http://schemas.openxmlformats.org/officeDocument/2006/relationships/notesMaster" Target="/ppt/notesMasters/notesMaster1.xml" Id="R9fd6ded8565e40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019f7c1cd240c1" /><Relationship Type="http://schemas.openxmlformats.org/officeDocument/2006/relationships/notesMaster" Target="/ppt/notesMasters/notesMaster1.xml" Id="R39681c1c0202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7c4e8016b54ba9" /><Relationship Type="http://schemas.openxmlformats.org/officeDocument/2006/relationships/notesMaster" Target="/ppt/notesMasters/notesMaster1.xml" Id="Rd9562562523145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d86c987d5b4f33" /><Relationship Type="http://schemas.openxmlformats.org/officeDocument/2006/relationships/notesMaster" Target="/ppt/notesMasters/notesMaster1.xml" Id="Rb14c17b5001f46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584727b3164eb6" /><Relationship Type="http://schemas.openxmlformats.org/officeDocument/2006/relationships/notesMaster" Target="/ppt/notesMasters/notesMaster1.xml" Id="R55c77595e6c543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eda61007334f63" /><Relationship Type="http://schemas.openxmlformats.org/officeDocument/2006/relationships/notesMaster" Target="/ppt/notesMasters/notesMaster1.xml" Id="R1c1698b78e0b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c64b9bb3b64e35" /><Relationship Type="http://schemas.openxmlformats.org/officeDocument/2006/relationships/notesMaster" Target="/ppt/notesMasters/notesMaster1.xml" Id="Rd7fdc36d5ee449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8040bcd8b345f8" /><Relationship Type="http://schemas.openxmlformats.org/officeDocument/2006/relationships/notesMaster" Target="/ppt/notesMasters/notesMaster1.xml" Id="R06e5be8df8e947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fc6a78de5c40f6" /><Relationship Type="http://schemas.openxmlformats.org/officeDocument/2006/relationships/notesMaster" Target="/ppt/notesMasters/notesMaster1.xml" Id="R7adfbf09e10845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f3a084a311463a" /><Relationship Type="http://schemas.openxmlformats.org/officeDocument/2006/relationships/notesMaster" Target="/ppt/notesMasters/notesMaster1.xml" Id="R842d465628da42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d1f3d5f87947d2" /><Relationship Type="http://schemas.openxmlformats.org/officeDocument/2006/relationships/notesMaster" Target="/ppt/notesMasters/notesMaster1.xml" Id="R02e31157473345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266ad465ce4f64" /><Relationship Type="http://schemas.openxmlformats.org/officeDocument/2006/relationships/notesMaster" Target="/ppt/notesMasters/notesMaster1.xml" Id="R3a2b19e4b3e545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3d76238c7943f1" /><Relationship Type="http://schemas.openxmlformats.org/officeDocument/2006/relationships/notesMaster" Target="/ppt/notesMasters/notesMaster1.xml" Id="R518505aa9fa44c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Escopo: quatro casos emblemáticos, evolução de qualidade de informação entre maio de 2024 e agosto de 2026, instrumentos de compromisso/sanção, acordo CVM–BCB e método de mensuração de risco 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expressão 'FIDC Azul' pode apontar para outro veículo. Este slide trata do Blue II, ligado à 12ª emissão de debêntures da companhia aérea.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https://fnet.bmfbovespa.com.br/fnet/publico/downloadDocumento?id=686749</a:t>
            </a:r>
          </a:p>
          <a:p xmlns:a="http://schemas.openxmlformats.org/drawingml/2006/main">
            <a:r>
              <a:t>- https://fnet.bmfbovespa.com.br/fnet/publico/downloadDocumento?id=757175</a:t>
            </a:r>
          </a:p>
          <a:p xmlns:a="http://schemas.openxmlformats.org/drawingml/2006/main">
            <a:r>
              <a:t>- https://fnet.bmfbovespa.com.br/fnet/publico/downloadDocumento?id=810286</a:t>
            </a:r>
          </a:p>
          <a:p xmlns:a="http://schemas.openxmlformats.org/drawingml/2006/main">
            <a:r>
              <a:t>- https://fnet.bmfbovespa.com.br/fnet/publico/downloadDocumento?id=879042</a:t>
            </a:r>
          </a:p>
          <a:p xmlns:a="http://schemas.openxmlformats.org/drawingml/2006/main">
            <a:r>
              <a:t>- https://fnet.bmfbovespa.com.br/fnet/publico/downloadDocumento?id=869352</a:t>
            </a:r>
          </a:p>
          <a:p xmlns:a="http://schemas.openxmlformats.org/drawingml/2006/main">
            <a:r>
              <a:t>- https://fnet.bmfbovespa.com.br/fnet/publico/downloadDocumento?id=882655</a:t>
            </a:r>
          </a:p>
          <a:p xmlns:a="http://schemas.openxmlformats.org/drawingml/2006/main">
            <a:r>
              <a:t>- https://fnet.bmfbovespa.com.br/fnet/publico/downloadDocumento?id=949874</a:t>
            </a:r>
          </a:p>
          <a:p xmlns:a="http://schemas.openxmlformats.org/drawingml/2006/main">
            <a:r>
              <a:t>- https://fnet.bmfbovespa.com.br/fnet/publico/downloadDocumento?id=974148</a:t>
            </a:r>
          </a:p>
          <a:p xmlns:a="http://schemas.openxmlformats.org/drawingml/2006/main">
            <a:r>
              <a:t>- https://api-site.oliveiratrust.com.br/novo/fundos-captacao/63611/</a:t>
            </a:r>
          </a:p>
          <a:p xmlns:a="http://schemas.openxmlformats.org/drawingml/2006/main">
            <a:r>
              <a:t>- https://www.sec.gov/Archives/edgar/data/1432364/000129281426000452/azul20260220_6k.htm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https://fnet.bmfbovespa.com.br/fnet/publico/downloadDocumento?id=674475</a:t>
            </a:r>
          </a:p>
          <a:p xmlns:a="http://schemas.openxmlformats.org/drawingml/2006/main">
            <a:r>
              <a:t>- https://fnet.bmfbovespa.com.br/fnet/publico/downloadDocumento?id=1049185</a:t>
            </a:r>
          </a:p>
          <a:p xmlns:a="http://schemas.openxmlformats.org/drawingml/2006/main">
            <a:r>
              <a:t>- https://fnet.bmfbovespa.com.br/fnet/publico/downloadDocumento?id=849309</a:t>
            </a:r>
          </a:p>
          <a:p xmlns:a="http://schemas.openxmlformats.org/drawingml/2006/main">
            <a:r>
              <a:t>- https://fnet.bmfbovespa.com.br/fnet/publico/downloadDocumento?id=858472</a:t>
            </a:r>
          </a:p>
          <a:p xmlns:a="http://schemas.openxmlformats.org/drawingml/2006/main">
            <a:r>
              <a:t>- https://fnet.bmfbovespa.com.br/fnet/publico/downloadDocumento?id=938720</a:t>
            </a:r>
          </a:p>
          <a:p xmlns:a="http://schemas.openxmlformats.org/drawingml/2006/main">
            <a:r>
              <a:t>- https://fnet.bmfbovespa.com.br/fnet/publico/downloadDocumento?id=959256</a:t>
            </a:r>
          </a:p>
          <a:p xmlns:a="http://schemas.openxmlformats.org/drawingml/2006/main">
            <a:r>
              <a:t>- https://fnet.bmfbovespa.com.br/fnet/publico/downloadDocumento?id=994390</a:t>
            </a:r>
          </a:p>
          <a:p xmlns:a="http://schemas.openxmlformats.org/drawingml/2006/main">
            <a:r>
              <a:t>- https://fnet.bmfbovespa.com.br/fnet/publico/downloadDocumento?id=1023262</a:t>
            </a:r>
          </a:p>
          <a:p xmlns:a="http://schemas.openxmlformats.org/drawingml/2006/main">
            <a:r>
              <a:t>- https://fnet.bmfbovespa.com.br/fnet/publico/downloadDocumento?id=1296034</a:t>
            </a:r>
          </a:p>
          <a:p xmlns:a="http://schemas.openxmlformats.org/drawingml/2006/main">
            <a:r>
              <a:t>- https://api-site.oliveiratrust.com.br/novo/fundos-captacao/49871/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https://fnet.bmfbovespa.com.br/fnet/publico/downloadDocumento?id=313745</a:t>
            </a:r>
          </a:p>
          <a:p xmlns:a="http://schemas.openxmlformats.org/drawingml/2006/main">
            <a:r>
              <a:t>- https://fnet.bmfbovespa.com.br/fnet/publico/downloadDocumento?id=389549</a:t>
            </a:r>
          </a:p>
          <a:p xmlns:a="http://schemas.openxmlformats.org/drawingml/2006/main">
            <a:r>
              <a:t>- https://fnet.bmfbovespa.com.br/fnet/publico/downloadDocumento?id=854993</a:t>
            </a:r>
          </a:p>
          <a:p xmlns:a="http://schemas.openxmlformats.org/drawingml/2006/main">
            <a:r>
              <a:t>- https://fnet.bmfbovespa.com.br/fnet/publico/downloadDocumento?id=908273</a:t>
            </a:r>
          </a:p>
          <a:p xmlns:a="http://schemas.openxmlformats.org/drawingml/2006/main">
            <a:r>
              <a:t>- https://fnet.bmfbovespa.com.br/fnet/publico/downloadDocumento?id=939382</a:t>
            </a:r>
          </a:p>
          <a:p xmlns:a="http://schemas.openxmlformats.org/drawingml/2006/main">
            <a:r>
              <a:t>- https://fnet.bmfbovespa.com.br/fnet/publico/downloadDocumento?id=954015</a:t>
            </a:r>
          </a:p>
          <a:p xmlns:a="http://schemas.openxmlformats.org/drawingml/2006/main">
            <a:r>
              <a:t>- https://fnet.bmfbovespa.com.br/fnet/publico/downloadDocumento?id=974833</a:t>
            </a:r>
          </a:p>
          <a:p xmlns:a="http://schemas.openxmlformats.org/drawingml/2006/main">
            <a:r>
              <a:t>- https://fnet.bmfbovespa.com.br/fnet/publico/downloadDocumento?id=939384</a:t>
            </a:r>
          </a:p>
          <a:p xmlns:a="http://schemas.openxmlformats.org/drawingml/2006/main">
            <a:r>
              <a:t>- https://fnet.bmfbovespa.com.br/fnet/publico/downloadDocumento?id=940473</a:t>
            </a:r>
          </a:p>
          <a:p xmlns:a="http://schemas.openxmlformats.org/drawingml/2006/main">
            <a:r>
              <a:t>- https://fnet.bmfbovespa.com.br/fnet/publico/downloadDocumento?id=959331</a:t>
            </a:r>
          </a:p>
          <a:p xmlns:a="http://schemas.openxmlformats.org/drawingml/2006/main">
            <a:r>
              <a:t>- https://fnet.bmfbovespa.com.br/fnet/publico/downloadDocumento?id=974841</a:t>
            </a:r>
          </a:p>
          <a:p xmlns:a="http://schemas.openxmlformats.org/drawingml/2006/main">
            <a:r>
              <a:t>- https://www.sec.gov/Archives/edgar/data/1945711/000194571124000036/a20240731_fiagro.htm</a:t>
            </a:r>
          </a:p>
          <a:p xmlns:a="http://schemas.openxmlformats.org/drawingml/2006/main">
            <a:r>
              <a:t>- https://esaj.tjsp.jus.br/cpopg/show.do?processo.codigo=2S00212DP0000&amp;processo.foro=100&amp;processo.numero=1084141-52.2025.8.26.0100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fundo confirmado é uma exposição direta em debênture. A expressão 'caso Americanas' pode abranger outros FIDCs de fornecedores, cartões ou créditos de recuperação; esses veículos exigem mapa separado de CDA/documentos.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https://fnet.bmfbovespa.com.br/fnet/publico/downloadDocumento?id=401981</a:t>
            </a:r>
          </a:p>
          <a:p xmlns:a="http://schemas.openxmlformats.org/drawingml/2006/main">
            <a:r>
              <a:t>- https://fnet.bmfbovespa.com.br/fnet/publico/downloadDocumento?id=423157</a:t>
            </a:r>
          </a:p>
          <a:p xmlns:a="http://schemas.openxmlformats.org/drawingml/2006/main">
            <a:r>
              <a:t>- https://fnet.bmfbovespa.com.br/fnet/publico/downloadDocumento?id=825281</a:t>
            </a:r>
          </a:p>
          <a:p xmlns:a="http://schemas.openxmlformats.org/drawingml/2006/main">
            <a:r>
              <a:t>- https://fnet.bmfbovespa.com.br/fnet/publico/downloadDocumento?id=785763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- https://api-site.oliveiratrust.com.br/novo/fundos-captacao/63611/</a:t>
            </a:r>
          </a:p>
          <a:p xmlns:a="http://schemas.openxmlformats.org/drawingml/2006/main">
            <a:r>
              <a:t>- https://api-site.oliveiratrust.com.br/novo/fundos-captacao/49871/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https://www.gov.br/cvm/pt-br/assuntos/noticias/2024/nova-versao-do-informe-mensal-para-fidc-disponivel-no-sistema-fundos.net</a:t>
            </a:r>
          </a:p>
          <a:p xmlns:a="http://schemas.openxmlformats.org/drawingml/2006/main">
            <a:r>
              <a:t>- https://www.gov.br/cvm/pt-br/assuntos/noticias/2024/cvm-publica-norma-dos-fundos-de-investimento-nas-cadeias-produtivas-do-agronegocio-fiagro</a:t>
            </a:r>
          </a:p>
          <a:p xmlns:a="http://schemas.openxmlformats.org/drawingml/2006/main">
            <a:r>
              <a:t>- https://www.gov.br/cvm/pt-br/assuntos/noticias/2024/atualizacao-no-sistema-fundos-net-para-recebimento-de-informacoes-periodicas-de-classes-de-cotas-adequadas-a-resolucao-cvm-175/</a:t>
            </a:r>
          </a:p>
          <a:p xmlns:a="http://schemas.openxmlformats.org/drawingml/2006/main">
            <a:r>
              <a:t>- https://www.gov.br/cvm/pt-br/assuntos/noticias/2025/cvm-e-anbima-incluem-fidcs-em-acordo-de-cooperacao-para-aproveitamento-de-autorregulacao-da-industria-de-fundos</a:t>
            </a:r>
          </a:p>
          <a:p xmlns:a="http://schemas.openxmlformats.org/drawingml/2006/main">
            <a:r>
              <a:t>- https://www.gov.br/cvm/pt-br/assuntos/noticias/2025/portal-dados-abertos-cvm-traz-novidades-nas-informacoes-sobre-fundos-de-investimento</a:t>
            </a:r>
          </a:p>
          <a:p xmlns:a="http://schemas.openxmlformats.org/drawingml/2006/main">
            <a:r>
              <a:t>- https://www.gov.br/cvm/pt-br/assuntos/noticias/2025/cvm-e-anbima-orientam-mercado-sobre-prestacao-de-informacoes-de-desenquadramento-de-fidcs-e-preenchimento-de-informe-mensal</a:t>
            </a:r>
          </a:p>
          <a:p xmlns:a="http://schemas.openxmlformats.org/drawingml/2006/main">
            <a:r>
              <a:t>- https://www.gov.br/cvm/pt-br/assuntos/noticias/2025/area-tecnica-da-cvm-divulga-melhorias-no-informe-mensal-de-fidc-no-sistema-fundos.net</a:t>
            </a:r>
          </a:p>
          <a:p xmlns:a="http://schemas.openxmlformats.org/drawingml/2006/main">
            <a:r>
              <a:t>- https://www.gov.br/cvm/pt-br/assuntos/noticias/2026/cvm-edita-norma-com-ajustes-pontuais-no-anexo-ii-da-resolucao-175-sobre-fidc</a:t>
            </a:r>
          </a:p>
          <a:p xmlns:a="http://schemas.openxmlformats.org/drawingml/2006/main">
            <a:r>
              <a:t>- https://dados.cvm.gov.br/pages/novidades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vereditos são avaliações analíticas com base no desenho implementado e na evidência pública disponível até 19 de agosto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https://dados.cvm.gov.br/pages/novidades</a:t>
            </a:r>
          </a:p>
          <a:p xmlns:a="http://schemas.openxmlformats.org/drawingml/2006/main">
            <a:r>
              <a:t>- https://cvmweb.cvm.gov.br/SWB/Sistemas/SCW/PadroesXML/PadraoXMLMensalFIDC576.asp</a:t>
            </a:r>
          </a:p>
          <a:p xmlns:a="http://schemas.openxmlformats.org/drawingml/2006/main">
            <a:r>
              <a:t>- https://www.gov.br/cvm/pt-br/assuntos/noticias/anexos/2026/20260527-plano-emergencial-de-reestruturacao-da-atividade-fiscalizatoria-da-cvm.pdf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https://www.gov.br/cvm/pt-br/assuntos/noticias/anexos/2026/20260527-plano-emergencial-de-reestruturacao-da-atividade-fiscalizatoria-da-cvm.pdf</a:t>
            </a:r>
          </a:p>
          <a:p xmlns:a="http://schemas.openxmlformats.org/drawingml/2006/main">
            <a:r>
              <a:t>- https://portal.stf.jus.br/processos/detalhe.asp?incidente=7904777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https://www.planalto.gov.br/ccivil_03/leis/l6385.htm</a:t>
            </a:r>
          </a:p>
          <a:p xmlns:a="http://schemas.openxmlformats.org/drawingml/2006/main">
            <a:r>
              <a:t>- https://www.planalto.gov.br/ccivil_03/leis/l7347orig.htm</a:t>
            </a:r>
          </a:p>
          <a:p xmlns:a="http://schemas.openxmlformats.org/drawingml/2006/main">
            <a:r>
              <a:t>- https://www.gov.br/cvm/pt-br/assuntos/processos/termos-de-compromisso</a:t>
            </a:r>
          </a:p>
          <a:p xmlns:a="http://schemas.openxmlformats.org/drawingml/2006/main">
            <a:r>
              <a:t>- https://www.gov.br/cvm/pt-br/assuntos/processos/termos-de-compromisso/perguntas-frequentes-termo-de-compromisso/como-se-da-a-celebracao</a:t>
            </a:r>
          </a:p>
          <a:p xmlns:a="http://schemas.openxmlformats.org/drawingml/2006/main">
            <a:r>
              <a:t>- https://www.anbima.com.br/pt_br/autorregular/codigos/processos-e-penalidades.htm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contribuição de R$1,42 mi pertence ao termo da Singulare/QI. O slide omite valores não confirmados nos demais termos.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https://www.anbima.com.br/data/files/8B/45/7E/66/F67B091039E04909EA2BA2A8/TC%20-%20Singulare%20Corretora%20de%20Titulos%20e%20Valores%20Mobiliarios%20S.A.%20-%2004.07.2024%20-%20AGRT.pdf</a:t>
            </a:r>
          </a:p>
          <a:p xmlns:a="http://schemas.openxmlformats.org/drawingml/2006/main">
            <a:r>
              <a:t>- https://www.anbima.com.br/data/files/E4/55/F7/B8/F67B091039E04909EA2BA2A8/TC%20-%20BRL%20Trust%20Distribuidora%20de%20Titulos%20e%20Valores%20Mobiliarios%20S.A.%20-%2015.07.2024%20-%20AGRT.pdf</a:t>
            </a:r>
          </a:p>
          <a:p xmlns:a="http://schemas.openxmlformats.org/drawingml/2006/main">
            <a:r>
              <a:t>- https://www.anbima.com.br/data/files/DC/C2/4C/18/C00EC9100E293DC9F82BA2A8/TC_-_Finvest_Distribuidora_de_Titulos_e_Valores_Mobiliarios_Ltda__-_27_06_2024_-_AGRT_pdf</a:t>
            </a:r>
          </a:p>
          <a:p xmlns:a="http://schemas.openxmlformats.org/drawingml/2006/main">
            <a:r>
              <a:t>- https://www.anbima.com.br/data/files/9C/95/5D/34/9E23C910342903C9BA2BA2A8/TC%20_AGRT0042025_Vorx%20DTVM%20Ltda.pdf</a:t>
            </a:r>
          </a:p>
          <a:p xmlns:a="http://schemas.openxmlformats.org/drawingml/2006/main">
            <a:r>
              <a:t>- https://www.anbima.com.br/pt_br/noticias/veja-termos-de-compromisso-firmados-com-instituicoes-que-seguem-codigos-anbima.htm</a:t>
            </a:r>
          </a:p>
          <a:p xmlns:a="http://schemas.openxmlformats.org/drawingml/2006/main">
            <a:r>
              <a:t>- https://www.anbima.com.br/pt_br/noticias/confira-os-termos-de-compromisso-firmados-com-instituicoes-que-seguem-os-codigos-anbima-8A2AB2AE97EC651A01981922CDCC3732-00.htm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https://www.gov.br/cvm/pt-br/assuntos/noticias/2015/cvm-pune-administrador-e-custodiante-de-fidcs-a2fe68e49c584da6acb67577c2459864</a:t>
            </a:r>
          </a:p>
          <a:p xmlns:a="http://schemas.openxmlformats.org/drawingml/2006/main">
            <a:r>
              <a:t>- https://www.gov.br/cvm/pt-br/assuntos/noticias/2025/cvm-analisa-propostas-de-termo-de-compromisso-apresentadas-por-bem-dtvm-e-seu-diretor-responsavel-e-por-more-invest-gestora-de-recursos</a:t>
            </a:r>
          </a:p>
          <a:p xmlns:a="http://schemas.openxmlformats.org/drawingml/2006/main">
            <a:r>
              <a:t>- https://www.gov.br/cvm/pt-br/assuntos/noticias/2026/informacoes-relativas-a-grupo-master-reag-e-outras-entidades-conexas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https://conteudo.cvm.gov.br/convenios/BCB_SCR.html</a:t>
            </a:r>
          </a:p>
          <a:p xmlns:a="http://schemas.openxmlformats.org/drawingml/2006/main">
            <a:r>
              <a:t>- https://www.gov.br/cvm/pt-br/assuntos/noticias/2026/cvm-e-banco-central-fortalecem-cooperacao-para-o-aprimoramento-das-informacoes-de-credito-no-pais/</a:t>
            </a:r>
          </a:p>
          <a:p xmlns:a="http://schemas.openxmlformats.org/drawingml/2006/main">
            <a:r>
              <a:t>- https://conteudo.cvm.gov.br/export/sites/cvm/publicacao/informativos_colegiado/anexos/2026/Informativo01_RC03022026.pdf</a:t>
            </a:r>
          </a:p>
          <a:p xmlns:a="http://schemas.openxmlformats.org/drawingml/2006/main">
            <a:r>
              <a:t>- https://www.gov.br/cvm/pt-br/assuntos/noticias/anexos/2026/20260527-plano-emergencial-de-reestruturacao-da-atividade-fiscalizatoria-da-cvm.pdf</a:t>
            </a:r>
          </a:p>
          <a:p xmlns:a="http://schemas.openxmlformats.org/drawingml/2006/main">
            <a:r>
              <a:t>- https://sistemas.cvm.gov.br/aplicacoes/cap/consulta/audiencia.asp?id=31869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fórmula geométrica usa o retorno mensal reportado somente após validação de unidade, cobertura e consistência. O retorno econômico de caso específico exige fluxos por cota e datas efetivas.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https://cvmweb.cvm.gov.br/SWB/Sistemas/SCW/PadroesXML/PadraoXMLMensalFIDC576.asp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https://dados.cvm.gov.br/dataset/fidc-doc-inf_mensal</a:t>
            </a:r>
          </a:p>
          <a:p xmlns:a="http://schemas.openxmlformats.org/drawingml/2006/main">
            <a:r>
              <a:t>- https://fnet.bmfbovespa.com.br/fnet/publico/consultarDocumentosCVM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b5458eaac46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ab377f04c149d6" /><Relationship Type="http://schemas.openxmlformats.org/officeDocument/2006/relationships/slideLayout" Target="/ppt/slideLayouts/slideLayout1.xml" Id="Rbaa55a1f0c3b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55a1f0c3b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dc48507484d0d" /><Relationship Type="http://schemas.openxmlformats.org/officeDocument/2006/relationships/notesSlide" Target="/ppt/notesSlides/notesSlide1.xml" Id="R002cdf6963d3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617f5dd4240ad" /><Relationship Type="http://schemas.openxmlformats.org/officeDocument/2006/relationships/notesSlide" Target="/ppt/notesSlides/notesSlide2.xml" Id="Re72efe8483404d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1c25b61034c35" /><Relationship Type="http://schemas.openxmlformats.org/officeDocument/2006/relationships/notesSlide" Target="/ppt/notesSlides/notesSlide3.xml" Id="R01f436215092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30bea8aa74006" /><Relationship Type="http://schemas.openxmlformats.org/officeDocument/2006/relationships/notesSlide" Target="/ppt/notesSlides/notesSlide4.xml" Id="R74a1480121ba42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9ca9071cb4eb9" /><Relationship Type="http://schemas.openxmlformats.org/officeDocument/2006/relationships/notesSlide" Target="/ppt/notesSlides/notesSlide5.xml" Id="R3130d5ec65f6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7afe65e104732" /><Relationship Type="http://schemas.openxmlformats.org/officeDocument/2006/relationships/notesSlide" Target="/ppt/notesSlides/notesSlide6.xml" Id="R9d8678c1da8245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2823605764ee6" /><Relationship Type="http://schemas.openxmlformats.org/officeDocument/2006/relationships/notesSlide" Target="/ppt/notesSlides/notesSlide7.xml" Id="Rbe7b33743e5e46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5d83c94cc448c" /><Relationship Type="http://schemas.openxmlformats.org/officeDocument/2006/relationships/notesSlide" Target="/ppt/notesSlides/notesSlide8.xml" Id="Rd3b46eb4f2b6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614ff933049c0" /><Relationship Type="http://schemas.openxmlformats.org/officeDocument/2006/relationships/notesSlide" Target="/ppt/notesSlides/notesSlide9.xml" Id="R81e3ffe3849947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a9e14cf0347fa" /><Relationship Type="http://schemas.openxmlformats.org/officeDocument/2006/relationships/notesSlide" Target="/ppt/notesSlides/notesSlide10.xml" Id="R40c09e1cb6a54f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380733a2f417a" /><Relationship Type="http://schemas.openxmlformats.org/officeDocument/2006/relationships/notesSlide" Target="/ppt/notesSlides/notesSlide11.xml" Id="Re24d1284f48047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e750174ea41ff" /><Relationship Type="http://schemas.openxmlformats.org/officeDocument/2006/relationships/notesSlide" Target="/ppt/notesSlides/notesSlide12.xml" Id="R4309746c7710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28c2f8e204f9f" /><Relationship Type="http://schemas.openxmlformats.org/officeDocument/2006/relationships/notesSlide" Target="/ppt/notesSlides/notesSlide13.xml" Id="Rb143271ffcc946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4adb00cd4f2c" /><Relationship Type="http://schemas.openxmlformats.org/officeDocument/2006/relationships/notesSlide" Target="/ppt/notesSlides/notesSlide14.xml" Id="R7d1345133fe740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0a9ea203e45b9" /><Relationship Type="http://schemas.openxmlformats.org/officeDocument/2006/relationships/notesSlide" Target="/ppt/notesSlides/notesSlide15.xml" Id="Rb935f8f2182d44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3c955b49a46fa" /><Relationship Type="http://schemas.openxmlformats.org/officeDocument/2006/relationships/notesSlide" Target="/ppt/notesSlides/notesSlide16.xml" Id="R6b91293154284c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D7E0D-0D75-48EE-B8F8-3A50B96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00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Dados da Indústria · FIDCs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04EDD-1EAF-4023-881E-3C42A42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14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Casos de crédito,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regulação e mensuração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360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de risco e retorno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64539-406F-43DC-9FA8-AAA3B43B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C7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AB8AE-83FA-4BCB-9325-9AC6245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150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Blue II / Azul · MCPO / Maqcampo · Lavoro · Americanas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08F9F-984C-4697-B03F-18E5A46D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1350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Leitura documental, cronologia de gatilhos, efetividade regulatória e protocolo de rentabilidade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0157D-AF5D-419B-B41E-49BC4E8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19 de agosto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410A4-7146-4B7E-AB80-0F15D7F1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88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Material de trabalho · objetos editáveis em PowerPoint</a:t>
            </a:r>
          </a:p>
        </p:txBody>
      </p:sp>
    </p:spTree>
    <p:extLst>
      <p:ext uri="{BB962C8B-B14F-4D97-AF65-F5344CB8AC3E}">
        <p14:creationId xmlns:p14="http://schemas.microsoft.com/office/powerpoint/2010/main" val="1218118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DAE7D-E347-4139-B6A3-87BB036B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Leitura executiva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52450-010E-4EE8-B146-32C0FC87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Quatro casos com canais distintos de materialização da perda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CA0A5-F9A1-486E-B511-9617F52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110680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00250"/>
                <a:gridCol w="2476500"/>
                <a:gridCol w="2647950"/>
                <a:gridCol w="2514600"/>
              </a:tblGrid>
              <a:tr h="400050"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Ativo /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Primeiro sinal documentado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Transmissão econômica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Lição para os dados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Blue II / Azul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12ª emissão de debêntures da Azul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Waivers de covenants e disputa sobre amortização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zerada; mezaninos e sênior atingidos após Chapter 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Inadimplência aparece tarde e com campo bruto incoerente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MCPO / Maqcampo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Vendas e serviços de máquinas agrícolas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Subordinação 18,26% &lt; 20% em out/24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Aging rompe limites; liquidação antecipada; subordinadas zeram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explicam o risco meses antes do PL colapsar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Lavoro I e 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Recebíveis de insumos agrícolas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Perda, resolução e downgrade; depois recuperação da Agrovenci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Waivers, dissidência de mezanino B e assembleias sem quórum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mistura atraso, resolução e substituição; série exige reconciliação</a:t>
                      </a:r>
                    </a:p>
                  </a:txBody>
                  <a:tcPr marL="91440" marR="91440" marT="45720" marB="45720"/>
                </a:tc>
              </a:tr>
              <a:tr h="9239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Vinci Antecipe Plus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Debênture LAMEA6/LAMEAA6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Queda de preço após inconsistências contábeis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Perda diária na cota única, sem waterfall entre classes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Marcação a mercado antecede o campo de inadimplência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2E6A6-3AF9-4887-AE82-B21E7EF8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6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Leitura recomendada: evento societário → gatilho contratual → decisão de cotistas → efeito por prioridade de cota → consistência do dado regulatório.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ACB45-87B3-47F4-856A-FC85D92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746304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FEB533-95C8-4765-9D2F-BADB9A52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1 · Azul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17265-5D3C-4DBE-9842-4F450C7A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Blue II: os waivers antecederam a liquidação e a perda atravessou o waterfall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620C8-25F0-4046-86CF-086913F2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1A0C2-1F7E-4572-8E2E-8881F990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 inicial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85775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3619500"/>
              </a:tblGrid>
              <a:tr h="32385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Constituição / oferta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Jun/24; 1ª emissão para investidores profissionais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Limites e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R$180 mi CDI+3,65%; Mezanino I R$180 mi CDI+5,75%; Mezanino II R$210 mi CDI+8,89%; júnior privada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Nomes não publicados; atas revelam um titular com 56,98% da sênior e 36,30% da Mezanino I; júnior concentrada em um titular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“Dívidas Corporativas”: 12ª emissão de debêntures da Azul Linhas Aéreas; concentração permitida em 100%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F1F7D-F4A5-42F2-92F0-291E0FDE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dos gatilhos e decisões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6074E-C9F7-47FB-9E80-66225782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92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5DD87-62CD-4C02-8757-35310CE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158C5-291D-4ED6-8B26-490BA6D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Jun/24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A2B7D-6F06-43FC-BFC2-0849F55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049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Emissão e compra da debênture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3A271-17A6-4B30-849A-3748AF1B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335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Amortização pública prevista de jan/25 a jun/26.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348EE-ED8D-4F7E-BED1-EC0E8D2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81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AD453-299D-4E71-B2A3-69186DF7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Out/24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51F02-A480-4DC3-8E6E-974902AE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14575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Primeira disputa de caixa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667ED-579A-4BB5-9D17-87049E5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4317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Mudança da amortização e retirada de penalidade foram rejeitadas; grande cotista sênior/mezanino I se opôs.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902F0-FC08-41D2-98A2-296C0946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2BC76-FC7E-4F69-BD50-7168AE7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718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Dez/24–abr/25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300A3-988F-4972-862A-537057E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242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Waivers de alavancagem e liquidez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4264A-2741-41E4-9C7A-12840AD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528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Covenants foram pré-dispensados; garantia e recebíveis foram renegociados.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16277-7260-4978-A9EE-70059EA6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05927-FAFB-4CA9-8C01-AC9E2A0E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28 mai/25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A748C-27FA-4188-A149-E473A15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33825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Azul entra em Chapter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29A4EC-AEBA-4802-AF9E-8A63F6BD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6242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Evento de liquidação do fundo é reconhecido.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AB501B-5F81-4408-B505-BFC6575D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E3494-BE79-4877-9FB2-2E21DC12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910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Jun–jul/25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AD360-F1C5-4E4C-8902-24123CCA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434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Assembleias divididas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7C8E29-E41C-47F2-8815-037AE15B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9720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Sem quórum para interromper liquidação; júnior declara conflito e se abstém; contratação jurídica é aprovada pelos não conflitados.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C4BB5-B5C2-4F66-AD11-EBC8692D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Sinais, decisões e fontes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52450" y="4000500"/>
          <a:ext xmlns:a="http://schemas.openxmlformats.org/drawingml/2006/main" cx="485775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5850"/>
                <a:gridCol w="2343150"/>
                <a:gridCol w="1428750"/>
              </a:tblGrid>
              <a:tr h="285750"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 / 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Subordinação mínima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5% júnior; 40% Mezanino II + júnior; 70% total subordinado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· Fundos.NET 686749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R$ 46,1 mi em jul/25; R$ 307,5 mi em jul/24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Carteira e atraso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R$ 43,4 mi de carteira e R$ 163,2 mi de inadimplência em jul/25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em –100% desde jun/25; perdas posteriores nas camadas superiores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Página do administrador · Oliveira Trust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Assembleia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27 jun/25 sem quórum; liquidação prosseguiu. Em 24 jul, a júnior declarou conflito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· Fundos.NET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1E46-D624-4665-93F6-2A2984F4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Blue II Segmento Crédito Corporativo FIDC · CNPJ 55.374.251/0001-28 · valores da oferta são limites, não colocação efetiva</a:t>
            </a:r>
          </a:p>
        </p:txBody>
      </p:sp>
    </p:spTree>
    <p:extLst>
      <p:ext uri="{BB962C8B-B14F-4D97-AF65-F5344CB8AC3E}">
        <p14:creationId xmlns:p14="http://schemas.microsoft.com/office/powerpoint/2010/main" val="749106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83B3A-B54E-4986-8889-85719B0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2 · Maqcampo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5952F-50C1-434A-BD59-3330DEEA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MCPO: a quebra da subordinação foi seguida por aging, falta de amortização e liquidação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1DA2B-A1CF-49F3-B63D-4CF1CD4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04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85775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62050"/>
                <a:gridCol w="3695700"/>
              </a:tblGrid>
              <a:tr h="32385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 documental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1ª emissão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Fechamento 5 jun/24: sênior R$215,966 mi + júnior R$5,547 mi; valor unitário R$1 mil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Distribuição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Sênior: 2 subscritores — intermediário 192.737 cotas e instituição relacionada 23.229; júnior: 3 fundos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Emissão posterior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Mezanino privada de R$72 mi; benchmark de 50% do CDI após os 12 primeiros meses; sênior: benchmark não localizado no documento consultado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4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4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Direitos performados de vendas a prazo e serviços da Maqcampo a clientes de máquinas e implementos agrícolas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0D32E-5460-4EEA-8EE4-CDD409A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1925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CA06-01AF-4B4F-BE24-546D7B0A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465A0-F7B7-4B1C-8AC2-6096216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Out/24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30F6D-2C46-4F80-A42B-CF5CE5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049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Subordinação em 18,26%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0DCBE-7BD6-4F0C-9CEA-7E1FF5B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335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Mínimo contratual de 20%; evento reconhecido em fev/mar de 2025.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99838-458E-4D49-9E4D-073D645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9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6772-C389-4031-80A6-7D83EC6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717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Mar/25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6C4F2-6CCC-4707-B609-617454F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241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Cotistas concedem waiver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AF6C0-94CD-467C-B4EA-E1BF167D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527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Liquidação é afastada e caixa passa a priorizar a cota sênior.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2AAAA-9F54-49D4-9F26-D8FD4F85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3729A-9A76-4B35-A550-482C061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908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Mai–jun/25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49E5B-BD21-495C-BEAD-FA57EEC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432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Aging &gt; limite e amortização incompleta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5BD5-3026-4605-AEE9-857A029C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718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30–180 dias em 10,69% e saldo de R$2,51 mi da amortização sênior.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B618C6-0C3B-45CD-B911-DEC1089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DE184-5FD9-4853-AE0B-67F8118B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00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Jul/25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F4817-31C4-4B73-AEB2-9D89183C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624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Aging rompe quatro faixas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CCE23-D648-4375-9593-D49D114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1910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30–180: 12,81%; 60–180: 12,73%; 90–180: 11,89%; 120–180: 11,74%; subordinação cai a 8,30%.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576B0-D85C-4CF7-9051-0BF35CE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48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CFE147-B471-48C0-B2C0-8161C514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8291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Ago–out/25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9EDBE-31D4-4B79-BD66-292BBADD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7815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Liquidação e troca operacional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AEFC4-D180-480F-9E85-A08833C1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0101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97,95% aprovam liquidação antecipada; ABC é substituída e Angá assume a gestão integral.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5B2CB-6930-4A92-9FEE-F6F9299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 e colocação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BD87B4-FE6E-43DA-887B-05C75D96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3525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9D3E7-95C8-44FC-B12C-13459F3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Deterioração, decisão e fontes</a:t>
            </a:r>
          </a:p>
        </p:txBody>
      </p:sp>
      <p:graphicFrame>
        <p:nvGraphicFramePr>
          <p:cNvPr id="62" name=""/>
          <p:cNvGraphicFramePr/>
          <p:nvPr/>
        </p:nvGraphicFramePr>
        <p:xfrm>
          <a:off xmlns:a="http://schemas.openxmlformats.org/drawingml/2006/main" x="552450" y="4114800"/>
          <a:ext xmlns:a="http://schemas.openxmlformats.org/drawingml/2006/main" cx="485775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2400300"/>
                <a:gridCol w="1457325"/>
              </a:tblGrid>
              <a:tr h="285750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 / 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Subordinação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8,30% em jul/25, ante mínimo de 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Atas e regulamento · Fundos.NET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Inadimplência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R$ 63,7 mi em mar/25; R$ 70,0 mi sobre R$ 96,6 mi de carteira em jun/26 (72,5%)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zerada em jun/25; mezanino zerou em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Página do administrador · Oliveira Trust</a:t>
                      </a:r>
                    </a:p>
                  </a:txBody>
                  <a:tcPr marL="91440" marR="91440" marT="45720" marB="45720"/>
                </a:tc>
              </a:tr>
              <a:tr h="3714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Conflito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Em ago/26, Maqcampo declarou conflito e se absteve; demais aprovaram resolução parcelada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 · Fundos.NET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6F7F0B-498A-4481-B4C6-B12A63FB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MCPO FIDC · CNPJ 52.968.533/0001-65 · cedente Maqcampo Soluções Agrícolas S.A.</a:t>
            </a:r>
          </a:p>
        </p:txBody>
      </p:sp>
    </p:spTree>
    <p:extLst>
      <p:ext uri="{BB962C8B-B14F-4D97-AF65-F5344CB8AC3E}">
        <p14:creationId xmlns:p14="http://schemas.microsoft.com/office/powerpoint/2010/main" val="648633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FF07D6-131E-4A1C-9B45-2ABD1F8A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3 · Lavoro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915BE-9C83-40AD-8AF1-B52FED44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Lavoro: dois veículos, waivers sucessivos e conflito na decisão de liquidar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4B55C-A2F5-4412-A7EB-3FEF73C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ED12-324A-4A38-8136-4813A53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Estruturas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52450" y="1543050"/>
          <a:ext xmlns:a="http://schemas.openxmlformats.org/drawingml/2006/main" cx="1106805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857500"/>
                <a:gridCol w="2571750"/>
                <a:gridCol w="2476500"/>
                <a:gridCol w="1352550"/>
              </a:tblGrid>
              <a:tr h="323850"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Emissão e benchmark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 / colocação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Lavoro Agro FIDC I · 2022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Estrutura de até R$160 mi. Out/22: sênior R$99,8 mi a CDI+2,45%; Mezanino A R$25,1 mi a CDI+5%; Mezanino B R$33,7 mi a CDI+8%; júnior R$10,4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Cotistas nominais não publicados; coordenação Itaú BBA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Recebíveis comerciais de defensivos, fertilizantes, biofertilizantes, sementes e outros insumos do grupo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e oferta · Fundos.NET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6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Lavoro Agro II FIAGRO-FIDC · 2024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Sênior de R$248 mi em 2 ago/24, CDI+3,5% e garantia firme; subordinada privada de cerca de R$62,7 mi, CDI+0% e suporte de 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 fundos tomaram R$48 mi; intermediário tomou R$200 mi. Companhia citou Itaú BBA e Itaú Asset como principais investidores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Direitos creditórios ligados à cadeia de insumos agrícolas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6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Documentos da oferta · Fundos.NET e SEC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60143-3BEB-46F6-AAF7-C0C3D360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comum do estresse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0D006-18A3-4256-BD9A-DAEA8250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82A84-AAB4-4AF1-ABAF-D2C081A9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62B62-5F77-46E7-8C43-5433B0E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Jan–abr/25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00AF6-A050-4B44-A337-0CF4FA8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Perda, resolução e downgrade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F2A0E-EBEA-4054-AA34-3C971F2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Índices de perda/resolução e rebaixamento de rating acionam eventos; primeira proposta recebe só 3%.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6C531-17CB-474A-89C3-338B99D5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5FCCF-8308-44DB-80CF-4B72FD0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19 mai/25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FF769-F90E-4EA8-952D-BEC41E31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0338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Waivers e caixa protegido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501C0-83D2-4144-BAAA-348BA324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78% aprovam waivers retroativos, compras apenas para resolução/substituição e nova discussão sobre liquidação.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99528-26C8-434B-8844-35690A97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EBEB7-F8C0-4368-9C9E-13DD156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18 jun/25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31D6EC-C1BB-4AD9-AB8C-3AB1DD57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Recuperação da Agrovenci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6D7A9-186B-4538-ACB8-8DD06F9F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Evento de liquidação antecipada nos dois veículos; assembleias do II não alcançam quórum.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794DC-18C3-4F9C-80A5-CC2958DC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CAB82-1079-48D1-AB24-6B1ED48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463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18 jul/25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B63FB-3F43-46A3-A0A2-EF5B0D9C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713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Conflito entre classes no FIDC 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24034-067D-44FE-9412-A1B1112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Maioria afasta liquidação; Mezanino B vota pela liquidação e exerce retirada dissidente, sem caixa imediato.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0D7065-63A4-4012-97D5-F870C19F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5AA85-42BC-47C4-B899-085E71AE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147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Ago/25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ABFFA-C283-4435-98A8-9251597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3434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38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Novos pleitos fracassam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E11C3-63D7-4D98-AB90-1E558A56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705350"/>
            <a:ext cx="186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8000"/>
              </a:lnSpc>
              <a:buNone/>
              <a:def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765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Mudança da Mezanino B é rejeitada; no II, matérias ficam sem aprovação por ausência de votos.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D8AB95-C8C2-4561-9D1D-54A4C8CD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8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Informe Mensal CVM, ago/25: a inadimplência bruta reportada excede a carteira nos dois veículos. A série requer reconciliação por campo, competência, resolução e substituição de direitos.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25BDC2-A957-4FF3-A949-18DD4233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Lavoro Agro FIDC I · 44.272.584/0001-20 | Lavoro Agro II FIAGRO-FIDC · 55.476.342/0001-74</a:t>
            </a:r>
          </a:p>
        </p:txBody>
      </p:sp>
    </p:spTree>
    <p:extLst>
      <p:ext uri="{BB962C8B-B14F-4D97-AF65-F5344CB8AC3E}">
        <p14:creationId xmlns:p14="http://schemas.microsoft.com/office/powerpoint/2010/main" val="340401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0F427-28ED-489F-BE9C-24A2D75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Caso 4 · Americanas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C2003-A67E-4695-91B8-9B7C12B1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Americanas: a marcação a mercado atingiu a cota antes de surgir inadimplência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3BE5-D97F-44FF-9CA8-370D191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1402F-6970-4FCA-9BC8-E9A25998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Caso</a:t>
            </a:r>
          </a:p>
        </p:txBody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552450" y="1562100"/>
          <a:ext xmlns:a="http://schemas.openxmlformats.org/drawingml/2006/main" cx="4000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0100"/>
                <a:gridCol w="2095500"/>
                <a:gridCol w="1104900"/>
              </a:tblGrid>
              <a:tr h="32385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Leitura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Fundo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Vinci Antecipe Plus FIDC · CNPJ 35.688.072/0001-58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· Fundos.NET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Início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28 abr. 2020; condomínio aberto; prazo indeterminado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Cadastro e 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Classe única; sem waterfall, rating ou benchmark contratual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Política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Debêntures, CRI, CRA, CCB e outros direitos/títulos de crédito; cotas para qualificados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Cotistas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Nomes não publicados. Ata de 2024 registra um cotista com 100% das cotas, sem vínculo público com Americanas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Ata · Fundos.NET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Exposição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LAMEA6/LAMEAA6; marcação diária do ativo transmitiu a perda à cota única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DF auditadas e fato relevante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C8B8A-7A45-40F4-A6C1-24F0734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525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Cronologia da exposição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71CEB-E730-4C89-9401-59B63995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19250"/>
            <a:ext cx="0" cy="3409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706EB-A5BB-4A21-BEDC-91F86360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1BD40-9D60-426C-80DB-04E9B96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525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30 nov/21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7F394-04AA-47D6-B51D-5C5B99FF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504950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LAMEA6 em 28,77% do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CC8AB-3F19-4D8D-9B87-08FAC93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33550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Valor contábil aproximado de R$817 mil.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8EA45-9BE5-496B-BB1F-7977D65B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241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02595-6E64-41A3-91B7-8EB60FA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05063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30 nov/22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0994D-2BA8-4F4C-8258-CB8F9FC0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57438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Posição reduzida para 7,17% do PL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ED2FC-9BA5-4AEB-B613-68AD1600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86038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678 debêntures, R$417 mil; IPCA+7,40%, vencimento em 15 out/2030.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BFA57-60E4-4C8D-93F0-3AF6884B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76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7000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36A86-76E3-498A-8A0F-B8C9365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575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11 jan/23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6EBD26-0D89-4760-8520-370368E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209925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Americanas divulga inconsistências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ACF33-5FCC-4BE2-B8C1-F6048C35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38525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Preço indicativo da debênture cai de forma relevante.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635B0-7FFD-4515-938B-A9FFE82D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1290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D1FCE-C8EC-4191-9C24-9009F996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10038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13 jan/23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344DE-65DA-4A9F-9B4B-C73BD4A0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2413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Impacto de –5,9330% no 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C8D496-6BEB-4479-8227-DBCD6FD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291013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Fato relevante de 16 jan informa exposição de 12,7914% do PL naquele momento.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AA3AC1-ABCA-4B85-AC6D-F79CD68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C7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2A13B-1857-4036-B8D8-52908E50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625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788" b="1">
                <a:solidFill>
                  <a:srgbClr val="5B5B5B"/>
                </a:solidFill>
                <a:latin typeface="Itau Display X-Bold"/>
                <a:ea typeface="Itau Display X-Bold"/>
                <a:cs typeface="Itau Display X-Bold"/>
              </a:rPr>
              <a:t>19–25 jan/23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F3C4D-AA6C-4BB2-9AC5-7A0547AA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14900"/>
            <a:ext cx="5324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161616"/>
                </a:solidFill>
                <a:latin typeface="Itau Display X-Bold"/>
                <a:ea typeface="Itau Display X-Bold"/>
                <a:cs typeface="Itau Display X-Bold"/>
              </a:rPr>
              <a:t>RJ e proteção nos EUA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04FB4E-229C-4C73-9125-7D8E7474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143500"/>
            <a:ext cx="5324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defRPr>
            </a:pPr>
            <a:r>
              <a:rPr sz="863" b="0">
                <a:solidFill>
                  <a:srgbClr val="5B5B5B"/>
                </a:solidFill>
                <a:latin typeface="Itau Display"/>
                <a:ea typeface="Itau Display"/>
                <a:cs typeface="Itau Display"/>
              </a:rPr>
              <a:t>Ajuste ocorreu pela avaliação diária do ativo; busca documental não localizou assembleia específica ligada ao evento.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06DD3-02FB-4273-884C-2720102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Mecanismo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26A0B-0232-4024-8C68-6F8BDDFA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29250"/>
            <a:ext cx="563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88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Preço ANBIMA/fluxo descontado → redução do valor do ativo → perda na cota única. Fonte: DF auditadas e fato relevante de 16 jan. 2023.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E3926-1C2F-4E3A-B04B-FB1DCDD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Vinci Antecipe Plus FIDC · BRL Trust · valores de 2021/2022 em demonstrações auditadas; fato relevante em 16 jan. 2023</a:t>
            </a:r>
          </a:p>
        </p:txBody>
      </p:sp>
    </p:spTree>
    <p:extLst>
      <p:ext uri="{BB962C8B-B14F-4D97-AF65-F5344CB8AC3E}">
        <p14:creationId xmlns:p14="http://schemas.microsoft.com/office/powerpoint/2010/main" val="1367078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16B9F-300C-4884-9375-43E82E98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Leitura dos casos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FC433-C6C6-4167-BB3B-8675231A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Atas e regulamentos registram gatilhos antes do Informe Mensal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FB8D-2406-4999-AD10-B55CBC6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47800"/>
          <a:ext xmlns:a="http://schemas.openxmlformats.org/drawingml/2006/main" cx="1106805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143125"/>
                <a:gridCol w="2857500"/>
                <a:gridCol w="2619375"/>
                <a:gridCol w="1847850"/>
              </a:tblGrid>
              <a:tr h="3810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Sinal capturado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Exemplo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Limite analítico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Regulamento / suplemento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Lastro, benchmark, subordinação, gatilhos e waterfall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Blue II concentra em debênture Azul; MCPO exige 20%; Lavoro define índices e liquidação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Versões e apêndices mudam; exige controle por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/ B3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Ata / fato relevante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Waiver, falta de quórum, conflito, votação e medida aprovada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Júnior em conflito no Blue II; Mezanino B dissidente no Lavoro; Maqcampo abstém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Pode ser publicado após o evento econômico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/ B3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Informe Mensal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PL, carteira, aging, PDD, subordinação e retorno reportado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MCPO salta em mar/25; Blue e Lavoro reportam inadimplência acima da carteira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Perímetros podem divergir; zero e ausência exigem separação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Dados Abertos CVM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Administrador / 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Cota, amortização, ativo nominal e opinião do auditor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Americanas consta das DF; Oliveira Trust mostra –100% por 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Outliers e acesso em lote variam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Administrador / DF auditada</a:t>
                      </a:r>
                    </a:p>
                  </a:txBody>
                  <a:tcPr marL="91440" marR="91440" marT="45720" marB="45720"/>
                </a:tc>
              </a:tr>
              <a:tr h="7048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Evento externo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RJ, RE, Chapter 11, rating e mercado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Azul, Agrovenci/Lavoro e Americanas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Exige leitura de garantias, coobrigação e servicing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Judiciário, agência e companhia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CF249-A1B1-4780-8329-98DADBF9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106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12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Regra de publicação: valor literal da fonte + cálculo separado + status “N/D” para lacuna + comentário de reconciliação quando os perímetros divergem.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8875D-3E99-4F5B-9BB5-D967502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951561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419DE-E754-4B5B-94DB-CF19C3D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Evolução regulatória e informacional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4C0B1-0C84-49CD-83A0-6BC6831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De mai/24 a ago/26, as chaves melhoraram e os dados de crédito continuam parciais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88723-2079-48EA-9267-A8DB8EA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52450" y="1390650"/>
          <a:ext xmlns:a="http://schemas.openxmlformats.org/drawingml/2006/main" cx="110680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1428750"/>
                <a:gridCol w="1857375"/>
                <a:gridCol w="2714625"/>
                <a:gridCol w="2714625"/>
                <a:gridCol w="1609725"/>
              </a:tblGrid>
              <a:tr h="361950"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Mudança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Implementação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Efeito observado até 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8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Mai/24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Novo Informe Mensal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Erro de identificação de série/subclasse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Seleção prévia, replicação e reporte de séries extintas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Operação mais estável; aging/PDD continuam autorreportados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6 mai/24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Set/24–jan/25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RCVM 214 + classe/subclasse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Regime FIAGRO e migração da RCVM 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Documentos e Dados Abertos separados por fundo, classe e 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Granularidade melhor; ponte histórica ainda necessária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RCVM 214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Jan–abr/25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 CVM–ANBIMA + orientação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Supervisão fragmentada e classificação desigual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FIDCs entram no acordo; administrador comunica desenquadramento; debênture/CRI/CRA entram na Tabela 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Governança reforçada; resultado por fundo sem divulgação uniforme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Ago–dez/25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8 casas + CDA + XML v6.6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Arredondamento, exposição nominal ausente e chaves inválidas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Precisão ampliada; carteiras em Dados Abertos; identificadores e validação de CPF/CNPJ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Melhora estrutural; devedor público continua incompleto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ofícios e portal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Fev–mar/26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 de subclasse + RCVM 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Quebra de linhagem e créditos de recuperandas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ID_SUBCLASSE e regras para créditos cedidos por empresas em recuperação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Esquema melhor; interpretação econômica ainda documental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RCVM 240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Abr–mai/26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ACT CVM–BCB + plano emergencial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Cruzamento limitado de crédito 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SCR ampliado, painel de risco, amostra de lastro, alertas e metas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Em implantação; prazo principal em 31 dez/26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BCB · ACT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6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Tabela VIII em Dados Abertos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Cedentes pouco observáveis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Histórico desde 2025 disponibilizado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Cedente melhora; sacado continua ausente da base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6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Dados Abertos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21E77-C2D6-4F7C-87B3-F22507DB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728784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193B7-FB12-4D1C-A6EE-A75F3AFA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Teste de efetividade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F10C5-23E5-46FF-B493-868AC17A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As chaves avançaram; risco de crédito e retorno continuam com lacunas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5BDD-B594-45EA-89CE-DDBDC7B5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95500"/>
                <a:gridCol w="2095500"/>
                <a:gridCol w="2333625"/>
                <a:gridCol w="1428750"/>
                <a:gridCol w="1685925"/>
              </a:tblGrid>
              <a:tr h="361950"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Problema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Resposta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Evidência de melhora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Lacuna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Veredito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Identidade de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Classe/subclasse, ID único, 8 casas e validação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Chaves mais estáveis desde 2025/26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Séries antigas e transições exigem ponte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Efetivo para identidade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esquema e portal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Exposição nominal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CDA de FIDC/FIAGRO e Tabela VIII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Mais ativos e cedentes abertos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Sacado/devedor e garantias sem cobertura uniforme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Dados Abertos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Aging e 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Orientação conjunta, termos ANBIMA e plano emergencial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Métodos e controles passaram por revisão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Qualidade continua autorreportada; termos mostram divergências históricas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/ ANBIMA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Amostra estratificada e cruzamento com registradoras/SCR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Desenho fiscalizatório explícito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Métricas e resultados sem painel público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Em implantação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plano emergencial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Rentabilidade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Mais precisão e identificação de subclasse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Menos arredondamento e melhor unidade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Amortizações e anomalias exigem reconstrução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Parcial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· Informe Mensal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Supervisão integrada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Acordos CVM–ANBIMA e CVM–BCB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Canais formais e SCR ampliado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Dados protegidos não chegam ao analista público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Efetivo para supervisão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3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Acordos oficiais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F80C5-5396-42B4-9EA7-96DFE77E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6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88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Conclusão de uso: a base pública sustenta triagem, tendência e seleção de casos. A conclusão de crédito pede regulamento, ata, DF, evento externo e reconciliação de fluxos.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14856-8ABD-446B-AD5C-BB20B6E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34349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8DF3A-D2A6-46C4-B2FB-61D591C5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Plano emergencial da CVM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5FC97-33A3-44DE-8F97-B977CD4E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 plano emergencial define fiscalização por risco, cruzamento de bases e teste de lastro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B5B6C-A1C0-4C92-A4A8-9064705B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1106805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2286000"/>
                <a:gridCol w="2209800"/>
              </a:tblGrid>
              <a:tr h="323850"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Origem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Escopo e metas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Aprovado em 26 mai/26 após decisão cautelar do STF na ADI 7.791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22 medidas em quatro eixos; recursos adicionais estimados em R$560 mi; meta de reduzir 20% do estoque processual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31 dez. 2026 para as principais entregas de supervisão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 da CVM e processo STF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F8098-7219-4C9C-BBFB-F21745F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EC7000"/>
                </a:solidFill>
                <a:latin typeface="Itau Display X-Bold"/>
                <a:ea typeface="Itau Display X-Bold"/>
                <a:cs typeface="Itau Display X-Bold"/>
              </a:rPr>
              <a:t>Implementações para FIDCs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1106805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714750"/>
                <a:gridCol w="2952750"/>
                <a:gridCol w="2781300"/>
              </a:tblGrid>
              <a:tr h="3429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Medida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Implementação prevista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 tratada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Verificação pública em 19 ago/26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Painel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Mapas de relacionamento, alertas de cascata, valores inconsistentes e score algorítmico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Detecção tardia e análise isolada por fundo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Painel e relatório de resultados ainda não localizados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Seleção dirigida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Filtros por poucos cotistas, IFs/fintechs, concentração, precatórios, renegociação, opinião de auditor e 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Priorização de estruturas com maior probabilidade de falha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Critérios constam do plano; lista de fundos e métricas não publicada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Teste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Amostra estratificada e confronto com SCR, registradoras, custodiante, Receita e COAF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Lastro autodeclarado e baixa verificabilidade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Metodologia anunciada; taxa de execução não publicada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Look-through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Relações entre cotista, fundo, cedente, originador, devedor e prestadores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Conflitos, partes relacionadas e transmissão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Desenho divulgado; resultado permanece supervisório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Métricas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Bases integradas, alertas tratados, fundos classificados por risco e verificações de lastro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Ausência de medida de cobertura e resultado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Metas previstas; painel público ainda pendente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A49EF-9CD2-4596-A433-9A7A738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975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Status: o desenho é público; a execução depende dos painéis e relatórios previstos pela própria CVM.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70D25-25C1-4135-BBAA-6BF0FCC1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Plano emergencial: compromissos e metas; verificação de execução depende dos painéis/relatórios previstos pela própria CVM</a:t>
            </a:r>
          </a:p>
        </p:txBody>
      </p:sp>
    </p:spTree>
    <p:extLst>
      <p:ext uri="{BB962C8B-B14F-4D97-AF65-F5344CB8AC3E}">
        <p14:creationId xmlns:p14="http://schemas.microsoft.com/office/powerpoint/2010/main" val="4283334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E094-176D-4671-BE41-F10ABD4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Instrumentos jurídicos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A8129-AFB5-494D-9558-A3D272E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Termo da CVM, TAC e termo ANBIMA têm bases, efeitos e formas de controle distintas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8DCE2-660D-48AB-95AD-3EAB083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1952625"/>
                <a:gridCol w="2238375"/>
                <a:gridCol w="2571750"/>
                <a:gridCol w="1809750"/>
                <a:gridCol w="781050"/>
              </a:tblGrid>
              <a:tr h="400050"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Instrumento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Efeito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 e verificação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Multa / pagamento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3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de Compromisso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 6.385/76, art. 11, §5º; processo administrativo da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Suspende o processo; sem confissão; obriga cessar/corrigir e, quando cabível, compensar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Prazo no instrumento; superintendência acompanha; arquivamento depende do cumprimento; descumprimento permite retomar o processo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Pagamento é obrigação consensual; multa sancionadora exige julgamento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 e Lei 6.385/76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TAC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 7.347/85, art. 5º, §6º; órgão civil legitimado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Adequa a conduta; título executivo extrajudicial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Cláusulas definem prazo, prova, fiscalização e consequência do descumprimento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Multa decorre do descumprimento contratual ou de decisão judicial, conforme o caso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Lei 7.347/85</a:t>
                      </a:r>
                    </a:p>
                  </a:txBody>
                  <a:tcPr marL="91440" marR="91440" marT="45720" marB="45720"/>
                </a:tc>
              </a:tr>
              <a:tr h="1123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5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Autorregulação dos códigos ANBIMA; adesão privada da instituição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Suspende ou encerra o procedimento após as obrigações; sem confissão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Cronograma de manuais, atas, correções, treinamento e auditoria; ANBIMA verifica evidências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Contribuição educacional é compromisso autorregulatório; multa objetiva é categoria separada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ANBIMA · termos e códigos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A6BDD-5E5A-41A5-8694-CF8C3DFD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Transparência posterior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B6E94-E57C-41A9-8C23-35205E1A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05450"/>
            <a:ext cx="931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2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23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A CVM pode registrar cumprimento e arquivamento. A ANBIMA recebe as evidências previstas no termo. A eficácia operacional por fundo ainda não dispõe de painel público padronizado.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3B871-CF74-4203-9D15-0E440DD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994088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B06A9-4622-4F9E-8BF4-5C74BC8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Prestadores e compromissos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0910D-5D20-4136-9D5E-2E6A3C2E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Os termos autorregulatórios documentam falhas de PDD, preço, lastro e reporte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0870-058B-4403-AE14-35F1385D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390650"/>
          <a:ext xmlns:a="http://schemas.openxmlformats.org/drawingml/2006/main" cx="1106805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619375"/>
                <a:gridCol w="3000375"/>
                <a:gridCol w="2143125"/>
                <a:gridCol w="1704975"/>
              </a:tblGrid>
              <a:tr h="36195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Instituição /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Preocupação registrada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Compromissos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Prazo / prova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Singulare / QI · 4 jul/24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Supervisão de PDD; conflito em consultoria; transferência de riqueza por atraso; divergência com Informe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Consultoria externa, manual, correção histórica, controles, atas, 90% treinados, auditoria; contribuição de R$1,42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Prazos no termo; ANBIMA recebe relatórios, atas e auditoria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 ANBIMA · 4 jul/24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BRL Trust · 15 jul/24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Metodologia de PDD e possível transferência de riqueza em amortizações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Revisão de método e controles, treinamento, correção e auditoria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Comprovação documental prevista; painel público por fundo não localizado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 ANBIMA · 15 jul/24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Finvest · 27 jun/24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Governança e apuração de 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Revisão de processo, controles e auditoria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Monitoramento conforme cronograma do instrumento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 ANBIMA · 27 jun/24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Vórtx · 13 nov/25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Erro sistêmico, falta de evidência mensal, rating sem fluxo, Res. 2.682 e preços divergentes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Manuais de PDD/preço, 3 meses de atas, auditoria independente, reprecificação, correção de sistema e contribuição de R$1,109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Até 240 dias para parte das obrigações; evidências à ANBIMA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Termo ANBIMA · 13 nov/25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Outros nomes pesquisados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Oliveira Trust: carta ANBIMA 2026 sem detalhe localizado; BEM: termo CVM 2025 fora do núcleo FIDC; REAG: processos/notícias sem condenação FIDC confirmada; Intrag e “Keytec”: termo FIDC/PDD não confirmado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Busca negativa preservada com escopo e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Revalidar por CNPJ e nome societário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ANBIMA e notícias · corte 19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EC05A-43AB-43E0-A624-84C62248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95950"/>
            <a:ext cx="1106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Leitura: achados e compromissos assumidos em instrumentos consensuais, sem confissão.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4FF20-2F3A-4E79-82FE-5439F059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176993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E6745-2987-45C2-B9F4-94995BA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Sanções e fiscalização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ED08C-9435-4DB2-9A68-C9F3902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CVM aplicou multas em falhas de FIDC; termos recentes têm natureza consensual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82242-5644-4D86-8E75-C70A4F97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286000"/>
                <a:gridCol w="1190625"/>
                <a:gridCol w="3667125"/>
                <a:gridCol w="2114550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Caso / instituição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Conduta e resultado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 / fonte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Sanção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PAS RJ2013/5456 · Oliveira Trust · FIDC Union e FIDC Agro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R$ 3,0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multas de R$1,0 mi por documentação, PDD/classificação de risco e descumprimento de regulamento; diretor proibido por 2 anos e 6 meses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Decisão e notícia CVM · julgamento 2015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Sanção CVM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PAS RJ2013/5456 · Bradesco como custodiante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R$ 1,5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multas de R$500 mil por liquidação, guarda de lastro e documentação; houve absolvições em imputações específicas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Decisão e notícia CVM · julgamento 2015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Termo de Compromisso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BEM DTVM e diretor · 2025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R$ 1,0 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BEM R$750 mil e diretor R$250 mil em compromisso sobre controles de liquidez e diligência de fundo multimercado; tema fora do núcleo FIDC/PDD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Notícia e termo CVM · 2025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Pesquisa sem sanção confirmada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REAG e demais nomes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N/D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Processos e notícias em curso foram preservados como pesquisa. Até 19 ago/26, não foi localizada decisão CVM que transforme os achados dos termos ANBIMA de 2024/25 em condenação sancionadora equivalente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1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ANBIMA e notícias · corte 19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2CB98-061A-46A6-90DC-16B273A8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1068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Critério de publicação: usar “multa” somente com processo, acusado, conduta, decisão e valor confirmados.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925E3-252C-4EAA-A88F-2F8A8E75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305154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9B942-7032-42E3-AE24-6D37562B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Cooperação CVM–Banco Central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B88F4-5BE6-4FD1-8FAD-884A2D4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O acordo CVM–BCB amplia o reporte ao SCR e o uso supervisório dos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7ECB0-1C9B-4620-B031-03CF9818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2190750"/>
                <a:gridCol w="3714750"/>
                <a:gridCol w="2571750"/>
                <a:gridCol w="1495425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Ato / desdobramento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Conteúdo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Efeito e limite observado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13 abr/26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Acordo de Cooperação Técnica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Expande o convênio de 25 abr/14; prazo indeterminado; SSE responsável. Amplia intercâmbio de operações de crédito, reporte ao SCR e consulta pelos reportantes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Base supervisória e gestão das carteiras melhoram; informações do SCR permanecem protegidas por sigilo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ACT CVM–BCB e notícia oficial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Mai/26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Integração do SCR FIDC, acordos com registradoras/Receita e fórum para zonas cinzentas CVM–BCB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Compromisso operacional com prazo principal até dez/26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Plano emergencial CVM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17 jul/26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Agenda pública “SCR | FIDC”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Discussão com ANFIDC, ANBIMA, BCB e prestadores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Implementação técnica continua em discussão com o mercado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Agenda pública CVM</a:t>
                      </a:r>
                    </a:p>
                  </a:txBody>
                  <a:tcPr marL="91440" marR="91440" marT="45720" marB="45720"/>
                </a:tc>
              </a:tr>
              <a:tr h="9144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9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Ago/26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Verificação pública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Boletim técnico com campos, cobertura ou taxa de integração não foi localizado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 resultado prudencial pode existir em ambiente protegido; o efeito público ainda não é mensurável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9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Pesquisa em fontes oficiais · corte 19 ago/26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D956F-A62C-462D-A803-3DEFC36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Transparência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79071-769F-475C-910A-E8F4B346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38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O acordo amplia a supervisão e a gestão dos reportantes. A base pública continua sem identificação uniforme de devedores para o analista externo.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6C526-A165-45C7-9726-ED669AF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935341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6DBDF-0473-453A-9347-0187C18B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Risco e retorno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46E4D-0AC2-41FC-830A-127E6CF8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A mensuração combina retorno reportado, fluxo econômico e perda por subclasse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68E69-9F6D-40B7-9270-5D48349C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6805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048000"/>
                <a:gridCol w="2524125"/>
                <a:gridCol w="2428875"/>
                <a:gridCol w="1543050"/>
              </a:tblGrid>
              <a:tr h="381000"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Camada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Unidade / cálculo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Métricas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QA obrigatório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Coleta / fonte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Cobertura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Subclasse ou série × competência; separar sênior, mezanino e júnior; ativos, encerrados e zerados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N e PL cobertos; ausente separado de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Quebra de CNPJ/ID, mudança de quantidade, PL negativo e lacunas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 · Tabela X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Retorno reportado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Retorno₁₂ₘ = ∏(1 + PR_APURADAₘ/100) – 1; excesso CDI = (1+retorno)/(1+CDI) –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Mediana, P10/P90, % acima do CDI, pior mês e drawdown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Repetição de –100%, outliers, janela contínua e unidade do campo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 · PR_APURADA; CDI do BCB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Retorno econômico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(cota final + distribuições) / cota inicial – 1; com fluxos em datas distintas, XIRR/TIR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Preservação de capital, excesso CDI e severidade de perda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Conciliar aportes, amortizações, datas, reinvestimento e preço da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Fundos.NET · avisos de amortização; demonstrativo do administrador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Risco estrutural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Subordinação efetiva – mínimo contratual; aging, PDD e concentração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Folga de subordinação; inadimplência; cobertura de PDD; perdas &gt;10%, &gt;50% e próximas de 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Reconciliação de denominadores, competência e versões do regulamento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Regulamento e atas · Fundos.NET; Informe Mensal CVM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77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Reconciliado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Valor original preservado; divergência registrada em coluna própria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Distribuição setorial e coortes por prioridade de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CVM/PR_APURADA × Fundos.NET × administrador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77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Três fontes identificadas por veículo e data de consulta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1FCE2-5263-4634-AB2E-C43BD6E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1050" b="1">
                <a:solidFill>
                  <a:srgbClr val="2B2B2B"/>
                </a:solidFill>
                <a:latin typeface="Itau Display X-Bold"/>
                <a:ea typeface="Itau Display X-Bold"/>
                <a:cs typeface="Itau Display X-Bold"/>
              </a:rPr>
              <a:t>Uso recomendado: publicar “retorno reportado” e “retorno econômico” em campos distintos, com cobertura e fonte junto ao resultado.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2CB0C-F801-4C95-846F-31D709D7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Data de corte: 19 ago. 2026 | valores reportados preservam a competência e a fonte indicada</a:t>
            </a:r>
          </a:p>
        </p:txBody>
      </p:sp>
    </p:spTree>
    <p:extLst>
      <p:ext uri="{BB962C8B-B14F-4D97-AF65-F5344CB8AC3E}">
        <p14:creationId xmlns:p14="http://schemas.microsoft.com/office/powerpoint/2010/main" val="1510070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7A856-91D5-45F4-AD62-47719AC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Agenda analítica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8E033-7DA3-4C15-9985-E11B4FD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6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defRPr>
            </a:pPr>
            <a:r>
              <a:rPr sz="2250" b="1">
                <a:solidFill>
                  <a:srgbClr val="161616"/>
                </a:solidFill>
                <a:latin typeface="Itau Display Black"/>
                <a:ea typeface="Itau Display Black"/>
                <a:cs typeface="Itau Display Black"/>
              </a:rPr>
              <a:t>Quatro entregas com fonte e regra de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9177-6DAD-4E07-A0BC-A2BB86B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86525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50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16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466850"/>
          <a:ext xmlns:a="http://schemas.openxmlformats.org/drawingml/2006/main" cx="1106805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286125"/>
                <a:gridCol w="2428875"/>
                <a:gridCol w="1952625"/>
                <a:gridCol w="1638300"/>
              </a:tblGrid>
              <a:tr h="4000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Entrega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Conteúdo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Fonte principal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Saída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Validação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1 · Base de casos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CNPJ, classe, subclasse, regulamento, suplementos, atas, fatos relevantes, DF, eventos externos e hashes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Fundos.NET/B3 e documentos auditados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Timeline documental por veículo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Identidade, versão, data e página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2 · Motor de risco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Aging, PDD, concentração, subordinação efetiva, mínimo contratual, waivers e opinião de auditor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Informe Mensal CVM, regulamentos e atas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Alertas com evidência e competência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Denominador, cobertura e gatilho contratual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3 · Motor de retorno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PR_APURADA validada, benchmark, amortizações, XIRR, drawdown, preservação de capital e coortes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CVM, BCB, Fundos.NET e administrador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Distribuição por prioridade de cota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Retorno reportado separado do econômico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20" b="1">
                          <a:solidFill>
                            <a:srgbClr val="161616"/>
                          </a:solidFill>
                          <a:latin typeface="Itau Display X-Bold"/>
                          <a:ea typeface="Itau Display X-Bold"/>
                          <a:cs typeface="Itau Display X-Bold"/>
                        </a:rPr>
                        <a:t>4 · Piloto de fontes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Oliveira Trust, Vórtx, Hemera e demais portais como reconciliação do núcleo oficial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Sites de administradores e custodiante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Catálogo de cobertura e divergências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0" b="0">
                          <a:solidFill>
                            <a:srgbClr val="161616"/>
                          </a:solidFill>
                          <a:latin typeface="Itau Display"/>
                          <a:ea typeface="Itau Display"/>
                          <a:cs typeface="Itau Display"/>
                        </a:rPr>
                        <a:t>Data de consulta, acesso em lote e limite de uso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DF315-F3D8-457E-9D61-C4852306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defRPr>
            </a:pPr>
            <a:r>
              <a:rPr sz="825" b="1">
                <a:solidFill>
                  <a:srgbClr val="B85300"/>
                </a:solidFill>
                <a:latin typeface="Itau Display X-Bold"/>
                <a:ea typeface="Itau Display X-Bold"/>
                <a:cs typeface="Itau Display X-Bold"/>
              </a:rPr>
              <a:t>Publicação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1A384-C88E-44D7-9BC2-790B92B7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defRPr>
            </a:pPr>
            <a:r>
              <a:rPr sz="975" b="0">
                <a:solidFill>
                  <a:srgbClr val="2B2B2B"/>
                </a:solidFill>
                <a:latin typeface="Itau Display"/>
                <a:ea typeface="Itau Display"/>
                <a:cs typeface="Itau Display"/>
              </a:rPr>
              <a:t>Deck publicado em Dados da Indústria &gt; Exportações com o rótulo “Estudos de Caso”. O prompt de atualização fica disponível no mesmo bloco.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F715D-7E3D-4A18-A8FD-CCCA9925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952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defRPr>
            </a:pPr>
            <a:r>
              <a:rPr sz="713" b="0">
                <a:solidFill>
                  <a:srgbClr val="858585"/>
                </a:solidFill>
                <a:latin typeface="Itau Display"/>
                <a:ea typeface="Itau Display"/>
                <a:cs typeface="Itau Display"/>
              </a:rPr>
              <a:t>Próxima etapa sugerida: piloto de 20–30 FIDCs com diversidade de administradores e segmentos</a:t>
            </a:r>
          </a:p>
        </p:txBody>
      </p:sp>
    </p:spTree>
    <p:extLst>
      <p:ext uri="{BB962C8B-B14F-4D97-AF65-F5344CB8AC3E}">
        <p14:creationId xmlns:p14="http://schemas.microsoft.com/office/powerpoint/2010/main" val="984486787"/>
      </p:ext>
    </p:extLst>
  </p:cSld>
</p:sld>
</file>

<file path=ppt/theme/theme1.xml><?xml version="1.0" encoding="utf-8"?>
<a:theme xmlns:a="http://schemas.openxmlformats.org/drawingml/2006/main" name="ChatGPT">
  <a:themeElements>
    <a:clrScheme name="Itau BBA editorial">
      <a:dk1>
        <a:srgbClr val="161616"/>
      </a:dk1>
      <a:lt1>
        <a:srgbClr val="FFFFFF"/>
      </a:lt1>
      <a:dk2>
        <a:srgbClr val="2B2B2B"/>
      </a:dk2>
      <a:lt2>
        <a:srgbClr val="E6E6E6"/>
      </a:lt2>
      <a:accent1>
        <a:srgbClr val="EC7000"/>
      </a:accent1>
      <a:accent2>
        <a:srgbClr val="2B2B2B"/>
      </a:accent2>
      <a:accent3>
        <a:srgbClr val="858585"/>
      </a:accent3>
      <a:accent4>
        <a:srgbClr val="A73B36"/>
      </a:accent4>
      <a:accent5>
        <a:srgbClr val="2B6B4F"/>
      </a:accent5>
      <a:accent6>
        <a:srgbClr val="B85300"/>
      </a:accent6>
      <a:hlink>
        <a:srgbClr val="B85300"/>
      </a:hlink>
      <a:folHlink>
        <a:srgbClr val="5B5B5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tau BB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2026-08-20T17:37:53.6470000Z</dcterms:created>
  <dcterms:modified xsi:type="dcterms:W3CDTF">2026-08-20T17:37:53.6470000Z</dcterms:modified>
</coreProperties>
</file>