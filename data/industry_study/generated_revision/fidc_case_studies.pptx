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6fdeed0f87c4cb0" /><Relationship Type="http://schemas.openxmlformats.org/officeDocument/2006/relationships/extended-properties" Target="/docProps/app.xml" Id="Rf3b15402c8094d9b" /><Relationship Type="http://schemas.openxmlformats.org/officeDocument/2006/relationships/officeDocument" Target="/ppt/presentation.xml" Id="Re6de2cacc5194cc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5347c0b92b94e75"/>
  </p:sldMasterIdLst>
  <p:notesMasterIdLst>
    <p:notesMasterId xmlns:r="http://schemas.openxmlformats.org/officeDocument/2006/relationships" r:id="R766fd945e38e46b1"/>
  </p:notesMasterIdLst>
  <p:sldIdLst>
    <p:sldId xmlns:r="http://schemas.openxmlformats.org/officeDocument/2006/relationships" id="256" r:id="R1c0ebafc49fb4bfc"/>
    <p:sldId xmlns:r="http://schemas.openxmlformats.org/officeDocument/2006/relationships" id="257" r:id="Rdd27cf59d81c4177"/>
    <p:sldId xmlns:r="http://schemas.openxmlformats.org/officeDocument/2006/relationships" id="258" r:id="R09b4640ffaaf40eb"/>
    <p:sldId xmlns:r="http://schemas.openxmlformats.org/officeDocument/2006/relationships" id="259" r:id="Rb10985622db64b90"/>
    <p:sldId xmlns:r="http://schemas.openxmlformats.org/officeDocument/2006/relationships" id="260" r:id="R855ab0c595e94c76"/>
    <p:sldId xmlns:r="http://schemas.openxmlformats.org/officeDocument/2006/relationships" id="261" r:id="R75143e52512a466a"/>
    <p:sldId xmlns:r="http://schemas.openxmlformats.org/officeDocument/2006/relationships" id="262" r:id="Rc1f9791e8a15436e"/>
    <p:sldId xmlns:r="http://schemas.openxmlformats.org/officeDocument/2006/relationships" id="263" r:id="Rd833500a96b54b9c"/>
    <p:sldId xmlns:r="http://schemas.openxmlformats.org/officeDocument/2006/relationships" id="264" r:id="Re7df41d83a624432"/>
    <p:sldId xmlns:r="http://schemas.openxmlformats.org/officeDocument/2006/relationships" id="265" r:id="R23e83e976e6542eb"/>
    <p:sldId xmlns:r="http://schemas.openxmlformats.org/officeDocument/2006/relationships" id="266" r:id="R5c6947d523464860"/>
    <p:sldId xmlns:r="http://schemas.openxmlformats.org/officeDocument/2006/relationships" id="267" r:id="R199fb798513c4c63"/>
    <p:sldId xmlns:r="http://schemas.openxmlformats.org/officeDocument/2006/relationships" id="268" r:id="R57744817de68424f"/>
    <p:sldId xmlns:r="http://schemas.openxmlformats.org/officeDocument/2006/relationships" id="269" r:id="Rd947cd0b419e45cc"/>
    <p:sldId xmlns:r="http://schemas.openxmlformats.org/officeDocument/2006/relationships" id="270" r:id="R85c22d593b574e2a"/>
    <p:sldId xmlns:r="http://schemas.openxmlformats.org/officeDocument/2006/relationships" id="271" r:id="R85408739619e4b60"/>
    <p:sldId xmlns:r="http://schemas.openxmlformats.org/officeDocument/2006/relationships" id="272" r:id="R10f73f1676a346c8"/>
    <p:sldId xmlns:r="http://schemas.openxmlformats.org/officeDocument/2006/relationships" id="273" r:id="R440fed2fd6aa4db9"/>
    <p:sldId xmlns:r="http://schemas.openxmlformats.org/officeDocument/2006/relationships" id="274" r:id="R72f2b1c61e2849f4"/>
    <p:sldId xmlns:r="http://schemas.openxmlformats.org/officeDocument/2006/relationships" id="275" r:id="R93f4104099b24f27"/>
    <p:sldId xmlns:r="http://schemas.openxmlformats.org/officeDocument/2006/relationships" id="276" r:id="Rcb8e2e8e1aa44405"/>
    <p:sldId xmlns:r="http://schemas.openxmlformats.org/officeDocument/2006/relationships" id="277" r:id="Rce21de3813e1409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ecc745f0135429f" /><Relationship Type="http://schemas.openxmlformats.org/officeDocument/2006/relationships/slideMaster" Target="/ppt/slideMasters/slideMaster1.xml" Id="R55347c0b92b94e75" /><Relationship Type="http://schemas.openxmlformats.org/officeDocument/2006/relationships/notesMaster" Target="/ppt/notesMasters/notesMaster1.xml" Id="R766fd945e38e46b1" /><Relationship Type="http://schemas.openxmlformats.org/officeDocument/2006/relationships/presProps" Target="/ppt/presProps.xml" Id="Ra06cc6465d544d9b" /><Relationship Type="http://schemas.openxmlformats.org/officeDocument/2006/relationships/tableStyles" Target="/ppt/tableStyles.xml" Id="R6be70e3120a64730" /><Relationship Type="http://schemas.openxmlformats.org/officeDocument/2006/relationships/slide" Target="/ppt/slides/slide1.xml" Id="R1c0ebafc49fb4bfc" /><Relationship Type="http://schemas.openxmlformats.org/officeDocument/2006/relationships/slide" Target="/ppt/slides/slide2.xml" Id="Rdd27cf59d81c4177" /><Relationship Type="http://schemas.openxmlformats.org/officeDocument/2006/relationships/slide" Target="/ppt/slides/slide3.xml" Id="R09b4640ffaaf40eb" /><Relationship Type="http://schemas.openxmlformats.org/officeDocument/2006/relationships/slide" Target="/ppt/slides/slide4.xml" Id="Rb10985622db64b90" /><Relationship Type="http://schemas.openxmlformats.org/officeDocument/2006/relationships/slide" Target="/ppt/slides/slide5.xml" Id="R855ab0c595e94c76" /><Relationship Type="http://schemas.openxmlformats.org/officeDocument/2006/relationships/slide" Target="/ppt/slides/slide6.xml" Id="R75143e52512a466a" /><Relationship Type="http://schemas.openxmlformats.org/officeDocument/2006/relationships/slide" Target="/ppt/slides/slide7.xml" Id="Rc1f9791e8a15436e" /><Relationship Type="http://schemas.openxmlformats.org/officeDocument/2006/relationships/slide" Target="/ppt/slides/slide8.xml" Id="Rd833500a96b54b9c" /><Relationship Type="http://schemas.openxmlformats.org/officeDocument/2006/relationships/slide" Target="/ppt/slides/slide9.xml" Id="Re7df41d83a624432" /><Relationship Type="http://schemas.openxmlformats.org/officeDocument/2006/relationships/slide" Target="/ppt/slides/slide10.xml" Id="R23e83e976e6542eb" /><Relationship Type="http://schemas.openxmlformats.org/officeDocument/2006/relationships/slide" Target="/ppt/slides/slide11.xml" Id="R5c6947d523464860" /><Relationship Type="http://schemas.openxmlformats.org/officeDocument/2006/relationships/slide" Target="/ppt/slides/slide12.xml" Id="R199fb798513c4c63" /><Relationship Type="http://schemas.openxmlformats.org/officeDocument/2006/relationships/slide" Target="/ppt/slides/slide13.xml" Id="R57744817de68424f" /><Relationship Type="http://schemas.openxmlformats.org/officeDocument/2006/relationships/slide" Target="/ppt/slides/slide14.xml" Id="Rd947cd0b419e45cc" /><Relationship Type="http://schemas.openxmlformats.org/officeDocument/2006/relationships/slide" Target="/ppt/slides/slide15.xml" Id="R85c22d593b574e2a" /><Relationship Type="http://schemas.openxmlformats.org/officeDocument/2006/relationships/slide" Target="/ppt/slides/slide16.xml" Id="R85408739619e4b60" /><Relationship Type="http://schemas.openxmlformats.org/officeDocument/2006/relationships/slide" Target="/ppt/slides/slide17.xml" Id="R10f73f1676a346c8" /><Relationship Type="http://schemas.openxmlformats.org/officeDocument/2006/relationships/slide" Target="/ppt/slides/slide18.xml" Id="R440fed2fd6aa4db9" /><Relationship Type="http://schemas.openxmlformats.org/officeDocument/2006/relationships/slide" Target="/ppt/slides/slide19.xml" Id="R72f2b1c61e2849f4" /><Relationship Type="http://schemas.openxmlformats.org/officeDocument/2006/relationships/slide" Target="/ppt/slides/slide20.xml" Id="R93f4104099b24f27" /><Relationship Type="http://schemas.openxmlformats.org/officeDocument/2006/relationships/slide" Target="/ppt/slides/slide21.xml" Id="Rcb8e2e8e1aa44405" /><Relationship Type="http://schemas.openxmlformats.org/officeDocument/2006/relationships/slide" Target="/ppt/slides/slide22.xml" Id="Rce21de3813e1409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cf41dee66904aa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editorial">
      <a:dk1>
        <a:srgbClr val="161616"/>
      </a:dk1>
      <a:lt1>
        <a:srgbClr val="FFFFFF"/>
      </a:lt1>
      <a:dk2>
        <a:srgbClr val="2B2B2B"/>
      </a:dk2>
      <a:lt2>
        <a:srgbClr val="E6E6E6"/>
      </a:lt2>
      <a:accent1>
        <a:srgbClr val="EC7000"/>
      </a:accent1>
      <a:accent2>
        <a:srgbClr val="2B2B2B"/>
      </a:accent2>
      <a:accent3>
        <a:srgbClr val="858585"/>
      </a:accent3>
      <a:accent4>
        <a:srgbClr val="A73B36"/>
      </a:accent4>
      <a:accent5>
        <a:srgbClr val="2B6B4F"/>
      </a:accent5>
      <a:accent6>
        <a:srgbClr val="B85300"/>
      </a:accent6>
      <a:hlink>
        <a:srgbClr val="B85300"/>
      </a:hlink>
      <a:folHlink>
        <a:srgbClr val="5B5B5B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7905798ddf0477e" /><Relationship Type="http://schemas.openxmlformats.org/officeDocument/2006/relationships/notesMaster" Target="/ppt/notesMasters/notesMaster1.xml" Id="Rf76feee6502640a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151a6ec729461f" /><Relationship Type="http://schemas.openxmlformats.org/officeDocument/2006/relationships/notesMaster" Target="/ppt/notesMasters/notesMaster1.xml" Id="Race7e0f637764ad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a8ca083ed4b4ff5" /><Relationship Type="http://schemas.openxmlformats.org/officeDocument/2006/relationships/notesMaster" Target="/ppt/notesMasters/notesMaster1.xml" Id="R46882c737cc44b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4623cf8f5514ca9" /><Relationship Type="http://schemas.openxmlformats.org/officeDocument/2006/relationships/notesMaster" Target="/ppt/notesMasters/notesMaster1.xml" Id="R1c6d71856d894c3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47b172b7744457c" /><Relationship Type="http://schemas.openxmlformats.org/officeDocument/2006/relationships/notesMaster" Target="/ppt/notesMasters/notesMaster1.xml" Id="R0f7b99481d044d0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5e02a1f51a44453" /><Relationship Type="http://schemas.openxmlformats.org/officeDocument/2006/relationships/notesMaster" Target="/ppt/notesMasters/notesMaster1.xml" Id="Rba8b665e13ed4b2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0986a4976044dff" /><Relationship Type="http://schemas.openxmlformats.org/officeDocument/2006/relationships/notesMaster" Target="/ppt/notesMasters/notesMaster1.xml" Id="Rfd99fca8328c4a4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4a03a40f39c4226" /><Relationship Type="http://schemas.openxmlformats.org/officeDocument/2006/relationships/notesMaster" Target="/ppt/notesMasters/notesMaster1.xml" Id="R699e841b6c79474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4fc03f979224b6d" /><Relationship Type="http://schemas.openxmlformats.org/officeDocument/2006/relationships/notesMaster" Target="/ppt/notesMasters/notesMaster1.xml" Id="Raaa176d1ebd54c0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205f91532d242d4" /><Relationship Type="http://schemas.openxmlformats.org/officeDocument/2006/relationships/notesMaster" Target="/ppt/notesMasters/notesMaster1.xml" Id="R2d72b142ddcb413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557790c3bce4dcc" /><Relationship Type="http://schemas.openxmlformats.org/officeDocument/2006/relationships/notesMaster" Target="/ppt/notesMasters/notesMaster1.xml" Id="R53c0068ad16d403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e25346212f14937" /><Relationship Type="http://schemas.openxmlformats.org/officeDocument/2006/relationships/notesMaster" Target="/ppt/notesMasters/notesMaster1.xml" Id="R15423015cb4647a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61509aa5a0640e7" /><Relationship Type="http://schemas.openxmlformats.org/officeDocument/2006/relationships/notesMaster" Target="/ppt/notesMasters/notesMaster1.xml" Id="R9128de2575e245f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ec729741bbd498b" /><Relationship Type="http://schemas.openxmlformats.org/officeDocument/2006/relationships/notesMaster" Target="/ppt/notesMasters/notesMaster1.xml" Id="R63956be60f27484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6f2e52a5dec4da3" /><Relationship Type="http://schemas.openxmlformats.org/officeDocument/2006/relationships/notesMaster" Target="/ppt/notesMasters/notesMaster1.xml" Id="Ra8c4e33bf46b4aa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f58808a650f4770" /><Relationship Type="http://schemas.openxmlformats.org/officeDocument/2006/relationships/notesMaster" Target="/ppt/notesMasters/notesMaster1.xml" Id="Ra38aba1c60fe436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0165298d11e4ea0" /><Relationship Type="http://schemas.openxmlformats.org/officeDocument/2006/relationships/notesMaster" Target="/ppt/notesMasters/notesMaster1.xml" Id="Rd8e67b0ef14b4e9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8adf79e5ee34106" /><Relationship Type="http://schemas.openxmlformats.org/officeDocument/2006/relationships/notesMaster" Target="/ppt/notesMasters/notesMaster1.xml" Id="R6b68ee538e9f4aa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129e9082ceb46d8" /><Relationship Type="http://schemas.openxmlformats.org/officeDocument/2006/relationships/notesMaster" Target="/ppt/notesMasters/notesMaster1.xml" Id="Rbeb54ebf4086473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a012ff280c9422a" /><Relationship Type="http://schemas.openxmlformats.org/officeDocument/2006/relationships/notesMaster" Target="/ppt/notesMasters/notesMaster1.xml" Id="R27b2af45f30c4e8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f92649f4f4f4d3f" /><Relationship Type="http://schemas.openxmlformats.org/officeDocument/2006/relationships/notesMaster" Target="/ppt/notesMasters/notesMaster1.xml" Id="R15d3f26446604ef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12562dd40814a30" /><Relationship Type="http://schemas.openxmlformats.org/officeDocument/2006/relationships/notesMaster" Target="/ppt/notesMasters/notesMaster1.xml" Id="R55f680d717e7467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Escopo: quatro casos emblemáticos, evolução de qualidade de informação entre maio de 2024 e agosto de 2026, instrumentos de compromisso/sanção, acordo CVM–BCB e método de mensuração de risco e retorno.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Síntese dos seis estudos de caso. Fontes completas, documentos e cálculos estão nas notas das lâminas individuais.</a:t>
            </a:r>
          </a:p>
          <a:p xmlns:a="http://schemas.openxmlformats.org/drawingml/2006/main">
            <a:r>
              <a:t>- CVM — Informe Mensal FIDC: https://dados.cvm.gov.br/dataset/fidc-doc-inf_mensal</a:t>
            </a:r>
          </a:p>
          <a:p xmlns:a="http://schemas.openxmlformats.org/drawingml/2006/main">
            <a:r>
              <a:t>- Fundos.NET/B3, páginas dos administradores, demonstrações financeiras, atas, fatos relevantes e relatórios de rating identificados por veículo/CNPJ.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expressão 'FIDC Azul' pode apontar para outro veículo. Este slide trata do Blue II, ligado à 12ª emissão de debêntures da companhia aérea.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https://fnet.bmfbovespa.com.br/fnet/publico/downloadDocumento?id=686749</a:t>
            </a:r>
          </a:p>
          <a:p xmlns:a="http://schemas.openxmlformats.org/drawingml/2006/main">
            <a:r>
              <a:t>- https://fnet.bmfbovespa.com.br/fnet/publico/downloadDocumento?id=757175</a:t>
            </a:r>
          </a:p>
          <a:p xmlns:a="http://schemas.openxmlformats.org/drawingml/2006/main">
            <a:r>
              <a:t>- https://fnet.bmfbovespa.com.br/fnet/publico/downloadDocumento?id=810286</a:t>
            </a:r>
          </a:p>
          <a:p xmlns:a="http://schemas.openxmlformats.org/drawingml/2006/main">
            <a:r>
              <a:t>- https://fnet.bmfbovespa.com.br/fnet/publico/downloadDocumento?id=879042</a:t>
            </a:r>
          </a:p>
          <a:p xmlns:a="http://schemas.openxmlformats.org/drawingml/2006/main">
            <a:r>
              <a:t>- https://fnet.bmfbovespa.com.br/fnet/publico/downloadDocumento?id=869352</a:t>
            </a:r>
          </a:p>
          <a:p xmlns:a="http://schemas.openxmlformats.org/drawingml/2006/main">
            <a:r>
              <a:t>- https://fnet.bmfbovespa.com.br/fnet/publico/downloadDocumento?id=882655</a:t>
            </a:r>
          </a:p>
          <a:p xmlns:a="http://schemas.openxmlformats.org/drawingml/2006/main">
            <a:r>
              <a:t>- https://fnet.bmfbovespa.com.br/fnet/publico/downloadDocumento?id=949874</a:t>
            </a:r>
          </a:p>
          <a:p xmlns:a="http://schemas.openxmlformats.org/drawingml/2006/main">
            <a:r>
              <a:t>- https://fnet.bmfbovespa.com.br/fnet/publico/downloadDocumento?id=974148</a:t>
            </a:r>
          </a:p>
          <a:p xmlns:a="http://schemas.openxmlformats.org/drawingml/2006/main">
            <a:r>
              <a:t>- https://api-site.oliveiratrust.com.br/novo/fundos-captacao/63611/</a:t>
            </a:r>
          </a:p>
          <a:p xmlns:a="http://schemas.openxmlformats.org/drawingml/2006/main">
            <a:r>
              <a:t>- https://www.sec.gov/Archives/edgar/data/1432364/000129281426000452/azul20260220_6k.htm</a:t>
            </a:r>
          </a:p>
          <a:p xmlns:a="http://schemas.openxmlformats.org/drawingml/2006/main">
            <a:r>
              <a:t>- https://dados.cvm.gov.br/dataset/fidc-doc-inf_mensal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https://fnet.bmfbovespa.com.br/fnet/publico/downloadDocumento?id=674475</a:t>
            </a:r>
          </a:p>
          <a:p xmlns:a="http://schemas.openxmlformats.org/drawingml/2006/main">
            <a:r>
              <a:t>- https://fnet.bmfbovespa.com.br/fnet/publico/downloadDocumento?id=1049185</a:t>
            </a:r>
          </a:p>
          <a:p xmlns:a="http://schemas.openxmlformats.org/drawingml/2006/main">
            <a:r>
              <a:t>- https://fnet.bmfbovespa.com.br/fnet/publico/downloadDocumento?id=849309</a:t>
            </a:r>
          </a:p>
          <a:p xmlns:a="http://schemas.openxmlformats.org/drawingml/2006/main">
            <a:r>
              <a:t>- https://fnet.bmfbovespa.com.br/fnet/publico/downloadDocumento?id=858472</a:t>
            </a:r>
          </a:p>
          <a:p xmlns:a="http://schemas.openxmlformats.org/drawingml/2006/main">
            <a:r>
              <a:t>- https://fnet.bmfbovespa.com.br/fnet/publico/downloadDocumento?id=938720</a:t>
            </a:r>
          </a:p>
          <a:p xmlns:a="http://schemas.openxmlformats.org/drawingml/2006/main">
            <a:r>
              <a:t>- https://fnet.bmfbovespa.com.br/fnet/publico/downloadDocumento?id=959256</a:t>
            </a:r>
          </a:p>
          <a:p xmlns:a="http://schemas.openxmlformats.org/drawingml/2006/main">
            <a:r>
              <a:t>- https://fnet.bmfbovespa.com.br/fnet/publico/downloadDocumento?id=994390</a:t>
            </a:r>
          </a:p>
          <a:p xmlns:a="http://schemas.openxmlformats.org/drawingml/2006/main">
            <a:r>
              <a:t>- https://fnet.bmfbovespa.com.br/fnet/publico/downloadDocumento?id=1023262</a:t>
            </a:r>
          </a:p>
          <a:p xmlns:a="http://schemas.openxmlformats.org/drawingml/2006/main">
            <a:r>
              <a:t>- https://fnet.bmfbovespa.com.br/fnet/publico/downloadDocumento?id=1296034</a:t>
            </a:r>
          </a:p>
          <a:p xmlns:a="http://schemas.openxmlformats.org/drawingml/2006/main">
            <a:r>
              <a:t>- https://api-site.oliveiratrust.com.br/novo/fundos-captacao/49871/</a:t>
            </a:r>
          </a:p>
          <a:p xmlns:a="http://schemas.openxmlformats.org/drawingml/2006/main">
            <a:r>
              <a:t>- https://dados.cvm.gov.br/dataset/fidc-doc-inf_mensal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https://fnet.bmfbovespa.com.br/fnet/publico/downloadDocumento?id=313745</a:t>
            </a:r>
          </a:p>
          <a:p xmlns:a="http://schemas.openxmlformats.org/drawingml/2006/main">
            <a:r>
              <a:t>- https://fnet.bmfbovespa.com.br/fnet/publico/downloadDocumento?id=389549</a:t>
            </a:r>
          </a:p>
          <a:p xmlns:a="http://schemas.openxmlformats.org/drawingml/2006/main">
            <a:r>
              <a:t>- https://fnet.bmfbovespa.com.br/fnet/publico/downloadDocumento?id=854993</a:t>
            </a:r>
          </a:p>
          <a:p xmlns:a="http://schemas.openxmlformats.org/drawingml/2006/main">
            <a:r>
              <a:t>- https://fnet.bmfbovespa.com.br/fnet/publico/downloadDocumento?id=908273</a:t>
            </a:r>
          </a:p>
          <a:p xmlns:a="http://schemas.openxmlformats.org/drawingml/2006/main">
            <a:r>
              <a:t>- https://fnet.bmfbovespa.com.br/fnet/publico/downloadDocumento?id=939382</a:t>
            </a:r>
          </a:p>
          <a:p xmlns:a="http://schemas.openxmlformats.org/drawingml/2006/main">
            <a:r>
              <a:t>- https://fnet.bmfbovespa.com.br/fnet/publico/downloadDocumento?id=954015</a:t>
            </a:r>
          </a:p>
          <a:p xmlns:a="http://schemas.openxmlformats.org/drawingml/2006/main">
            <a:r>
              <a:t>- https://fnet.bmfbovespa.com.br/fnet/publico/downloadDocumento?id=974833</a:t>
            </a:r>
          </a:p>
          <a:p xmlns:a="http://schemas.openxmlformats.org/drawingml/2006/main">
            <a:r>
              <a:t>- https://fnet.bmfbovespa.com.br/fnet/publico/downloadDocumento?id=939384</a:t>
            </a:r>
          </a:p>
          <a:p xmlns:a="http://schemas.openxmlformats.org/drawingml/2006/main">
            <a:r>
              <a:t>- https://fnet.bmfbovespa.com.br/fnet/publico/downloadDocumento?id=940473</a:t>
            </a:r>
          </a:p>
          <a:p xmlns:a="http://schemas.openxmlformats.org/drawingml/2006/main">
            <a:r>
              <a:t>- https://fnet.bmfbovespa.com.br/fnet/publico/downloadDocumento?id=959331</a:t>
            </a:r>
          </a:p>
          <a:p xmlns:a="http://schemas.openxmlformats.org/drawingml/2006/main">
            <a:r>
              <a:t>- https://fnet.bmfbovespa.com.br/fnet/publico/downloadDocumento?id=974841</a:t>
            </a:r>
          </a:p>
          <a:p xmlns:a="http://schemas.openxmlformats.org/drawingml/2006/main">
            <a:r>
              <a:t>- https://www.sec.gov/Archives/edgar/data/1945711/000194571124000036/a20240731_fiagro.htm</a:t>
            </a:r>
          </a:p>
          <a:p xmlns:a="http://schemas.openxmlformats.org/drawingml/2006/main">
            <a:r>
              <a:t>- https://esaj.tjsp.jus.br/cpopg/show.do?processo.codigo=2S00212DP0000&amp;processo.foro=100&amp;processo.numero=1084141-52.2025.8.26.0100</a:t>
            </a:r>
          </a:p>
          <a:p xmlns:a="http://schemas.openxmlformats.org/drawingml/2006/main">
            <a:r>
              <a:t>- https://dados.cvm.gov.br/dataset/fidc-doc-inf_mensal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fundo confirmado é uma exposição direta em debênture. A expressão 'caso Americanas' pode abranger outros FIDCs de fornecedores, cartões ou créditos de recuperação; esses veículos exigem mapa separado de CDA/documentos.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https://fnet.bmfbovespa.com.br/fnet/publico/downloadDocumento?id=401981</a:t>
            </a:r>
          </a:p>
          <a:p xmlns:a="http://schemas.openxmlformats.org/drawingml/2006/main">
            <a:r>
              <a:t>- https://fnet.bmfbovespa.com.br/fnet/publico/downloadDocumento?id=423157</a:t>
            </a:r>
          </a:p>
          <a:p xmlns:a="http://schemas.openxmlformats.org/drawingml/2006/main">
            <a:r>
              <a:t>- https://fnet.bmfbovespa.com.br/fnet/publico/downloadDocumento?id=825281</a:t>
            </a:r>
          </a:p>
          <a:p xmlns:a="http://schemas.openxmlformats.org/drawingml/2006/main">
            <a:r>
              <a:t>- https://fnet.bmfbovespa.com.br/fnet/publico/downloadDocumento?id=785763</a:t>
            </a:r>
          </a:p>
          <a:p xmlns:a="http://schemas.openxmlformats.org/drawingml/2006/main">
            <a:r>
              <a:t>- https://dados.cvm.gov.br/dataset/fidc-doc-inf_mensal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BRL Trust — ato e suplementos, 16 mar. 2022, pp. 1–10: https://www.brltrust.com.br/wp-content/uploads/2021/04/ATOS-E-SUPLEMENTOS-_-16.03.22-VFf.pdf</a:t>
            </a:r>
          </a:p>
          <a:p xmlns:a="http://schemas.openxmlformats.org/drawingml/2006/main">
            <a:r>
              <a:t>- BRL Trust — AGE de liquidação antecipada, 24 out. 2022, pp. 1–3: https://www.brltrust.com.br/wp-content/uploads/2021/04/2022-10-24_FIDC-SAV-NEXOOS_AGE-VL.pdf</a:t>
            </a:r>
          </a:p>
          <a:p xmlns:a="http://schemas.openxmlformats.org/drawingml/2006/main">
            <a:r>
              <a:t>- Hemera — regulamento, 8 mai. 2024, pp. 35, 39–44 e 57–68: https://hemeradtvm.com.br/wp-content/uploads/2024/05/2024-05-08_FIDC-SAV-NEXOOS_REGULAMENTO-VL.pdf</a:t>
            </a:r>
          </a:p>
          <a:p xmlns:a="http://schemas.openxmlformats.org/drawingml/2006/main">
            <a:r>
              <a:t>- Hemera — AGOE, 20 jan. 2025, anexo da AGE de 25 set. 2024, p. 3; confirma resgate integral das cotas seniores: https://hemeradtvm.com.br/wp-content/uploads/2024/05/2025-01-20_FIDC-SAV-NEXOOS_AGOE-VL.pdf</a:t>
            </a:r>
          </a:p>
          <a:p xmlns:a="http://schemas.openxmlformats.org/drawingml/2006/main">
            <a:r>
              <a:t>- Ame Digital — demonstrações financeiras de 2022, nota SAV Nexoos; posição de R$ 30,65 mi e percentuais por classe: https://images.amedigital.com/site-ame/demonstrativo-financeiro/INF901032778350122022.pdf</a:t>
            </a:r>
          </a:p>
          <a:p xmlns:a="http://schemas.openxmlformats.org/drawingml/2006/main">
            <a:r>
              <a:t>- Nexoos SEP — demonstrações financeiras de 2021/2023; aquisição pela Ame Digital e etapas societárias: https://www.nexoos.com.br/demonstrativos-financeiros/</a:t>
            </a:r>
          </a:p>
          <a:p xmlns:a="http://schemas.openxmlformats.org/drawingml/2006/main">
            <a:r>
              <a:t>- Liberum Ratings — relatórios 1T22, 2T22 e 3T22; CCBs de PMEs, efeito vagão e desempenho: https://www.liberumratings.com.br/detalhes-ativo/historico-6248/</a:t>
            </a:r>
          </a:p>
          <a:p xmlns:a="http://schemas.openxmlformats.org/drawingml/2006/main">
            <a:r>
              <a:t>- CVM — Informe Mensal FIDC, CNPJ 38.284.301/0001-67; cálculo atraso/carteira e subordinação por competência: https://dados.cvm.gov.br/dataset/fidc-doc-inf_mensal</a:t>
            </a:r>
          </a:p>
          <a:p xmlns:a="http://schemas.openxmlformats.org/drawingml/2006/main">
            <a:r>
              <a:t>- Hemera/ANBIMA — informativo mensal mar. 2025, p. 1; evento de liquidação e índices sobre PL: https://hemeradtvm.com.br/wp-content/uploads/2024/05/2025-03_FIDC-SAV-NEXOOS_INFORMATIVO-MENSAL-ANBIMA.pdf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Oliveira Trust — página do FIDC Light, estrutura, documentos e retorno acumulado da cota subordinada: https://api-site.oliveiratrust.com.br/novo/fundos-captacao/12861</a:t>
            </a:r>
          </a:p>
          <a:p xmlns:a="http://schemas.openxmlformats.org/drawingml/2006/main">
            <a:r>
              <a:t>- Oliveira Trust — fato relevante de 3 fev. 2023, rebaixamento AAAsf(bra) → BBsf(bra), download código 1619961: https://api-site.oliveiratrust.com.br/scot/modulos/downloads/baixar.php?cod=1619961</a:t>
            </a:r>
          </a:p>
          <a:p xmlns:a="http://schemas.openxmlformats.org/drawingml/2006/main">
            <a:r>
              <a:t>- Oliveira Trust — AGE realizada em 23 fev. 2023, pp. 1–4; quórum, direitos de voto e deliberação. Documento obtido na página do administrador.</a:t>
            </a:r>
          </a:p>
          <a:p xmlns:a="http://schemas.openxmlformats.org/drawingml/2006/main">
            <a:r>
              <a:t>- Oliveira Trust/XP — fatos relevantes de 17 abr., 15 mai. e 21 jun. 2023; tutela, recuperação judicial e retomada da retenção: https://api-site.oliveiratrust.com.br/scot/modulos/downloads/baixar.php?cod=1646131 ; https://api-site.oliveiratrust.com.br/scot/modulos/downloads/baixar.php?cod=1669891 ; https://api-site.oliveiratrust.com.br/scot/modulos/downloads/baixar.php?cod=1682941</a:t>
            </a:r>
          </a:p>
          <a:p xmlns:a="http://schemas.openxmlformats.org/drawingml/2006/main">
            <a:r>
              <a:t>- Fitch Ratings — relatórios de monitoramento de 9 mai. e 31 jul. 2023, disponíveis na página do administrador; emissão, lastro de fluxo futuro e ratings Bsf/B-sf.</a:t>
            </a:r>
          </a:p>
          <a:p xmlns:a="http://schemas.openxmlformats.org/drawingml/2006/main">
            <a:r>
              <a:t>- Light S.A. — demonstrações financeiras; emissão de 1,4 milhão de cotas seniores concluída em 5 jun. 2018 e remuneração das séries: https://ri.light.com.br/</a:t>
            </a:r>
          </a:p>
          <a:p xmlns:a="http://schemas.openxmlformats.org/drawingml/2006/main">
            <a:r>
              <a:t>- CVM — Informe Mensal FIDC, CNPJ 29.665.468/0001-87; PL, cotistas, composição de cotas e atraso reportado: https://dados.cvm.gov.br/dataset/fidc-doc-inf_mensal</a:t>
            </a:r>
          </a:p>
          <a:p xmlns:a="http://schemas.openxmlformats.org/drawingml/2006/main">
            <a:r>
              <a:t>- Exemplos públicos de cotistas, sem pretensão de cadastro completo: Braslight, demonstrações de 2022; BRF Previdência, relatório de investimentos set. 2022.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Leitura transversal construída a partir das fontes primárias indicadas nas lâminas de cada caso.</a:t>
            </a:r>
          </a:p>
          <a:p xmlns:a="http://schemas.openxmlformats.org/drawingml/2006/main">
            <a:r>
              <a:t>- CVM — Informe Mensal FIDC: https://dados.cvm.gov.br/dataset/fidc-doc-inf_mensal</a:t>
            </a:r>
          </a:p>
          <a:p xmlns:a="http://schemas.openxmlformats.org/drawingml/2006/main">
            <a:r>
              <a:t>- Regulamentos, suplementos, atas, fatos relevantes, relatórios de rating e demonstrações financeiras são tratados por versão e CNPJ.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FIDC, Tabelas IV e X.1.1, competências jul/2026 e jun/2026: https://dados.cvm.gov.br/dataset/fidc-doc-inf_mensal</a:t>
            </a:r>
          </a:p>
          <a:p xmlns:a="http://schemas.openxmlformats.org/drawingml/2006/main">
            <a:r>
              <a:t>- Arquivo de cálculo: directors_update/carteira_101_cotistas_senior_202607.csv. Método: soma de contas seniores por tipo de investidor e CNPJ; jul/26 com fallback jun/26.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CVM/ANBIMA — base de PL ex-FIC e taxonomia aplicada no artefato setorial, competência jun/2026.</a:t>
            </a:r>
          </a:p>
          <a:p xmlns:a="http://schemas.openxmlformats.org/drawingml/2006/main">
            <a:r>
              <a:t>- Arquivos de cálculo: directors_update/financeiro_decomposition_202606.csv e financeiro_decomposition_fund_ledger_202606.csv.</a:t>
            </a:r>
          </a:p>
          <a:p xmlns:a="http://schemas.openxmlformats.org/drawingml/2006/main">
            <a:r>
              <a:t>- Curadoria documental de adquirência: directors_update/financeiro_acquiring_document_ledger_202606.csv.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resposta ao Congresso sobre Carbono Oculto: https://www.camara.leg.br/proposicoesWeb/prop_mostrarintegra?codteor=3068110&amp;filename=Tramitacao-REQ+370%2F2025+CSPCCO</a:t>
            </a:r>
          </a:p>
          <a:p xmlns:a="http://schemas.openxmlformats.org/drawingml/2006/main">
            <a:r>
              <a:t>- CVM — apresentação à CAE, 24 fev. 2026: https://www.gov.br/cvm/pt-br/assuntos/noticias/anexos/2026/20260224-apresentacao-ppt-cae-cvm.pdf</a:t>
            </a:r>
          </a:p>
          <a:p xmlns:a="http://schemas.openxmlformats.org/drawingml/2006/main">
            <a:r>
              <a:t>- CVM — recomendações do GT Master: https://www.gov.br/cvm/pt-br/assuntos/noticias/2026/comite-de-riscos-da-cvm-analisa-recomendacoes-do-gt-master/</a:t>
            </a:r>
          </a:p>
          <a:p xmlns:a="http://schemas.openxmlformats.org/drawingml/2006/main">
            <a:r>
              <a:t>- ANTT — nota técnica com descrição da investigação e FIP Camaçari: https://www.gov.br/antt/pt-br/assuntos/rodovias/novos-projetos-em-rodovias/bndes-cn2-centro-oeste-norte/arquivos-para-download/comissao-de-outorga/nota-tecnica-antt-ndeg10395-2025-coed2-2025-sucon-dir-antt/@@download/file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processos relativos a Grupo Master, REAG e entidades conexas: https://www.gov.br/cvm/pt-br/assuntos/noticias/2026/informacoes-relativas-a-grupo-master-reag-e-outras-entidades-conexas</a:t>
            </a:r>
          </a:p>
          <a:p xmlns:a="http://schemas.openxmlformats.org/drawingml/2006/main">
            <a:r>
              <a:t>- CVM — recomendações do GT Master: https://www.gov.br/cvm/pt-br/assuntos/noticias/2026/comite-de-riscos-da-cvm-analisa-recomendacoes-do-gt-master/</a:t>
            </a:r>
          </a:p>
          <a:p xmlns:a="http://schemas.openxmlformats.org/drawingml/2006/main">
            <a:r>
              <a:t>- Metrópoles — planilhas do BRB obtidas por LAI, 6 abr. 2026: https://www.metropoles.com/colunas/demetrio-vecchioli/brb-comprou-r-304-bilhoes-em-ativos-do-banco-master-veja-planilhas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novo Informe Mensal, 8 mai. 2024: https://www.gov.br/cvm/pt-br/assuntos/noticias/2024/nova-versao-do-informe-mensal-para-fidc-disponivel-no-sistema-fundos.net</a:t>
            </a:r>
          </a:p>
          <a:p xmlns:a="http://schemas.openxmlformats.org/drawingml/2006/main">
            <a:r>
              <a:t>- CVM — Dados Abertos de fundos, 30 jan. 2025: https://www.gov.br/cvm/pt-br/assuntos/noticias/2025/portal-dados-abertos-cvm-traz-novidades-nas-informacoes-sobre-fundos-de-investimento</a:t>
            </a:r>
          </a:p>
          <a:p xmlns:a="http://schemas.openxmlformats.org/drawingml/2006/main">
            <a:r>
              <a:t>- CVM — novidades dos Dados Abertos, Tabela VIII em 13 ago. 2026: https://dados.cvm.gov.br/pages/novidades</a:t>
            </a:r>
          </a:p>
          <a:p xmlns:a="http://schemas.openxmlformats.org/drawingml/2006/main">
            <a:r>
              <a:t>- CVM/BCB — ACT, 13 abr. 2026: https://www.gov.br/cvm/pt-br/assuntos/noticias/2026/cvm-e-banco-central-fortalecem-cooperacao-para-o-aprimoramento-das-informacoes-de-credito-no-pais/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ANBIMA — manifestação na consulta pública CVM SDM 07/25: https://conteudo.cvm.gov.br/cvm_institucional/export/sites/cvm/audiencias_publicas/ap_sdm/anexos/2025/sdm0725__ANBIMA.PDF</a:t>
            </a:r>
          </a:p>
          <a:p xmlns:a="http://schemas.openxmlformats.org/drawingml/2006/main">
            <a:r>
              <a:t>- CVM — plano emergencial: https://www.gov.br/cvm/pt-br/assuntos/noticias/anexos/2026/20260527-plano-emergencial-de-reestruturacao-da-atividade-fiscalizatoria-da-cvm.pdf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plano emergencial, 27 mai. 2026: https://www.gov.br/cvm/pt-br/assuntos/noticias/2026/cvm-encaminha-ao-ministerio-da-fazenda-sua-proposta-de-plano-emergencial-de-reestruturacao-da-atividade-fiscalizatoria</a:t>
            </a:r>
          </a:p>
          <a:p xmlns:a="http://schemas.openxmlformats.org/drawingml/2006/main">
            <a:r>
              <a:t>- CVM — homologação pelo STF, 3 jul. 2026: https://www.gov.br/cvm/pt-br/assuntos/noticias/2026/plano-emergencial-de-reestruturacao-da-cvm-e-homologado-pelo-stf-e-reforca-condicoes-para-atuacao-da-autarquia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FAQ de Termo de Compromisso: https://www.gov.br/cvm/pt-br/assuntos/processos/termos-de-compromisso</a:t>
            </a:r>
          </a:p>
          <a:p xmlns:a="http://schemas.openxmlformats.org/drawingml/2006/main">
            <a:r>
              <a:t>- Lei 6.385/1976: https://www.planalto.gov.br/ccivil_03/leis/l6385compilada.htm</a:t>
            </a:r>
          </a:p>
          <a:p xmlns:a="http://schemas.openxmlformats.org/drawingml/2006/main">
            <a:r>
              <a:t>- Lei 7.347/1985: https://www.planalto.gov.br/ccivil_03/leis/l7347compilada.htm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ANBIMA — Singulare, 17 jul. 2025: https://www.anbima.com.br/pt_br/noticias/confira-os-termos-de-compromisso-firmados-com-instituicoes-que-seguem-os-codigos-anbima-8A2AB2AE97EC651A01981922CDCC3732-00.htm</a:t>
            </a:r>
          </a:p>
          <a:p xmlns:a="http://schemas.openxmlformats.org/drawingml/2006/main">
            <a:r>
              <a:t>- ANBIMA — BRL Trust, 15 jul. 2024: https://www.anbima.com.br/data/files/73/B4/6B/BF/1604C910CF6A83C9F82BA2A8/TC_-_BRL_Trust_Distribuidora_de_Titulos_e_Valores_Mobiliarios_S_A__-_15_07_2024_-_AGRT_pdf</a:t>
            </a:r>
          </a:p>
          <a:p xmlns:a="http://schemas.openxmlformats.org/drawingml/2006/main">
            <a:r>
              <a:t>- ANBIMA — Vórtx, 13 nov. 2025: https://www.anbima.com.br/data/files/9C/95/5D/34/9E23C910342903C9BA2BA2A8/TC%20_AGRT0042025_Vorx%20DTVM%20Ltda.pdf</a:t>
            </a:r>
          </a:p>
          <a:p xmlns:a="http://schemas.openxmlformats.org/drawingml/2006/main">
            <a:r>
              <a:t>- ANBIMA — termos no acordo CVM-ANBIMA, 1S25: https://www.anbima.com.br/pt_br/noticias/anbima-firma-termos-de-compromisso-com-cinco-instituicoes-no-1-semestre-dentro-do-acordo-de-cooperacao-com-a-cvm.htm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https://www.gov.br/cvm/pt-br/assuntos/noticias/2015/cvm-pune-administrador-e-custodiante-de-fidcs-a2fe68e49c584da6acb67577c2459864</a:t>
            </a:r>
          </a:p>
          <a:p xmlns:a="http://schemas.openxmlformats.org/drawingml/2006/main">
            <a:r>
              <a:t>- https://www.gov.br/cvm/pt-br/assuntos/noticias/2025/cvm-analisa-propostas-de-termo-de-compromisso-apresentadas-por-bem-dtvm-e-seu-diretor-responsavel-e-por-more-invest-gestora-de-recursos</a:t>
            </a:r>
          </a:p>
          <a:p xmlns:a="http://schemas.openxmlformats.org/drawingml/2006/main">
            <a:r>
              <a:t>- https://www.gov.br/cvm/pt-br/assuntos/noticias/2026/informacoes-relativas-a-grupo-master-reag-e-outras-entidades-conexas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CVM/BCB — ACT, 13 abr. 2026: https://www.gov.br/cvm/pt-br/assuntos/noticias/2026/cvm-e-banco-central-fortalecem-cooperacao-para-o-aprimoramento-das-informacoes-de-credito-no-pais/</a:t>
            </a:r>
          </a:p>
          <a:p xmlns:a="http://schemas.openxmlformats.org/drawingml/2006/main">
            <a:r>
              <a:t>- CVM — Informativo do Colegiado sobre o ACT: https://conteudo.cvm.gov.br/cvm_institucional/export/sites/cvm/publicacao/informativos_colegiado/anexos/2026/Informativo01_RC03022026.pdf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fórmula geométrica usa o retorno mensal reportado somente após validação de unidade, cobertura e consistência. O retorno econômico de caso específico exige fluxos por cota e datas efetivas.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https://cvmweb.cvm.gov.br/SWB/Sistemas/SCW/PadroesXML/PadraoXMLMensalFIDC576.asp</a:t>
            </a:r>
          </a:p>
          <a:p xmlns:a="http://schemas.openxmlformats.org/drawingml/2006/main">
            <a:r>
              <a:t>- https://dados.cvm.gov.br/dataset/fidc-doc-inf_mensal</a:t>
            </a:r>
          </a:p>
          <a:p xmlns:a="http://schemas.openxmlformats.org/drawingml/2006/main">
            <a:r>
              <a:t>- https://fnet.bmfbovespa.com.br/fnet/publico/consultarDocumentosCVM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https://dados.cvm.gov.br/dataset/fidc-doc-inf_mensal</a:t>
            </a:r>
          </a:p>
          <a:p xmlns:a="http://schemas.openxmlformats.org/drawingml/2006/main">
            <a:r>
              <a:t>- https://fnet.bmfbovespa.com.br/fnet/publico/consultarDocumentosCVM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161e283d7c403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ce5bd831e9b4d17" /><Relationship Type="http://schemas.openxmlformats.org/officeDocument/2006/relationships/slideLayout" Target="/ppt/slideLayouts/slideLayout1.xml" Id="R91d3594ff066400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d3594ff066400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editorial">
      <a:dk1>
        <a:srgbClr val="161616"/>
      </a:dk1>
      <a:lt1>
        <a:srgbClr val="FFFFFF"/>
      </a:lt1>
      <a:dk2>
        <a:srgbClr val="2B2B2B"/>
      </a:dk2>
      <a:lt2>
        <a:srgbClr val="E6E6E6"/>
      </a:lt2>
      <a:accent1>
        <a:srgbClr val="EC7000"/>
      </a:accent1>
      <a:accent2>
        <a:srgbClr val="2B2B2B"/>
      </a:accent2>
      <a:accent3>
        <a:srgbClr val="858585"/>
      </a:accent3>
      <a:accent4>
        <a:srgbClr val="A73B36"/>
      </a:accent4>
      <a:accent5>
        <a:srgbClr val="2B6B4F"/>
      </a:accent5>
      <a:accent6>
        <a:srgbClr val="B85300"/>
      </a:accent6>
      <a:hlink>
        <a:srgbClr val="B85300"/>
      </a:hlink>
      <a:folHlink>
        <a:srgbClr val="5B5B5B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74dbdb5539413c" /><Relationship Type="http://schemas.openxmlformats.org/officeDocument/2006/relationships/notesSlide" Target="/ppt/notesSlides/notesSlide1.xml" Id="R5bd5c14077a843d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801ff5f1d04b02" /><Relationship Type="http://schemas.openxmlformats.org/officeDocument/2006/relationships/notesSlide" Target="/ppt/notesSlides/notesSlide2.xml" Id="R24aab7efc1584de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5ae61ff3634ca4" /><Relationship Type="http://schemas.openxmlformats.org/officeDocument/2006/relationships/notesSlide" Target="/ppt/notesSlides/notesSlide3.xml" Id="R88d0c1b2e1f1430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c8d01b3d51419e" /><Relationship Type="http://schemas.openxmlformats.org/officeDocument/2006/relationships/notesSlide" Target="/ppt/notesSlides/notesSlide4.xml" Id="R918646d3411f48f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37e4215867435f" /><Relationship Type="http://schemas.openxmlformats.org/officeDocument/2006/relationships/notesSlide" Target="/ppt/notesSlides/notesSlide5.xml" Id="R7b6588bfb747411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f975284b2e478a" /><Relationship Type="http://schemas.openxmlformats.org/officeDocument/2006/relationships/notesSlide" Target="/ppt/notesSlides/notesSlide6.xml" Id="R56594526a40a4a3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f04f4e89a64e9d" /><Relationship Type="http://schemas.openxmlformats.org/officeDocument/2006/relationships/notesSlide" Target="/ppt/notesSlides/notesSlide7.xml" Id="R83cd65a08403476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bef6dfd8744ae0" /><Relationship Type="http://schemas.openxmlformats.org/officeDocument/2006/relationships/notesSlide" Target="/ppt/notesSlides/notesSlide8.xml" Id="R43ac489505a242f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b279c056ed4e88" /><Relationship Type="http://schemas.openxmlformats.org/officeDocument/2006/relationships/notesSlide" Target="/ppt/notesSlides/notesSlide9.xml" Id="R458ceaf5e1d14b6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12987a31d449a3" /><Relationship Type="http://schemas.openxmlformats.org/officeDocument/2006/relationships/notesSlide" Target="/ppt/notesSlides/notesSlide10.xml" Id="R94269c1adedb4d7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1237c0d2bd4f5c" /><Relationship Type="http://schemas.openxmlformats.org/officeDocument/2006/relationships/notesSlide" Target="/ppt/notesSlides/notesSlide11.xml" Id="R167ad0c3a9a8490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c57dd3ff73461d" /><Relationship Type="http://schemas.openxmlformats.org/officeDocument/2006/relationships/notesSlide" Target="/ppt/notesSlides/notesSlide12.xml" Id="Rc2c320345acd4d8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47437bbe534f82" /><Relationship Type="http://schemas.openxmlformats.org/officeDocument/2006/relationships/notesSlide" Target="/ppt/notesSlides/notesSlide13.xml" Id="R06c7206e2383463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2424b879624529" /><Relationship Type="http://schemas.openxmlformats.org/officeDocument/2006/relationships/notesSlide" Target="/ppt/notesSlides/notesSlide14.xml" Id="R4b3ba8422d42463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6fb18747d942b1" /><Relationship Type="http://schemas.openxmlformats.org/officeDocument/2006/relationships/notesSlide" Target="/ppt/notesSlides/notesSlide15.xml" Id="Rdf57066251704b5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2a44207c8642de" /><Relationship Type="http://schemas.openxmlformats.org/officeDocument/2006/relationships/notesSlide" Target="/ppt/notesSlides/notesSlide16.xml" Id="R6b259be7c3d246b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640214937647dd" /><Relationship Type="http://schemas.openxmlformats.org/officeDocument/2006/relationships/notesSlide" Target="/ppt/notesSlides/notesSlide17.xml" Id="Rf3fab580257445a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24ca55b0104264" /><Relationship Type="http://schemas.openxmlformats.org/officeDocument/2006/relationships/notesSlide" Target="/ppt/notesSlides/notesSlide18.xml" Id="Rb6b885f06f404ce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3e2f9f386e4130" /><Relationship Type="http://schemas.openxmlformats.org/officeDocument/2006/relationships/notesSlide" Target="/ppt/notesSlides/notesSlide19.xml" Id="R77081d55e70640a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f16d48ab5c4aa8" /><Relationship Type="http://schemas.openxmlformats.org/officeDocument/2006/relationships/notesSlide" Target="/ppt/notesSlides/notesSlide20.xml" Id="Rf4cd8e5ed9c8485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fef15618534be1" /><Relationship Type="http://schemas.openxmlformats.org/officeDocument/2006/relationships/notesSlide" Target="/ppt/notesSlides/notesSlide21.xml" Id="R0eac5396458049e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bdd89e51814544" /><Relationship Type="http://schemas.openxmlformats.org/officeDocument/2006/relationships/notesSlide" Target="/ppt/notesSlides/notesSlide22.xml" Id="Ra7e547c3c5404aa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8D7E0D-0D75-48EE-B8F8-3A50B962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900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Dados da Indústria ·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C04EDD-1EAF-4023-881E-3C42A42A9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7143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0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360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Casos de crédito,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60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360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regulação e mensuração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60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360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de risco e retorno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64539-406F-43DC-9FA8-AAA3B43B4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C700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6AB8AE-83FA-4BCB-9325-9AC6245E6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1500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Blue II / Azul · MCPO / Maqcampo · Lavoro · Americanas · SAV Nexoos · FIDC Light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808F9F-984C-4697-B03F-18E5A46D8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9810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1350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Leitura documental, cronologia de gatilhos, efetividade regulatória e protocolo de rentabilidade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40157D-AF5D-419B-B41E-49BC4E84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20 de agosto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8410A4-7146-4B7E-AB80-0F15D7F1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29350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88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Material de trabalho · objetos editáveis em PowerPoint</a:t>
            </a:r>
          </a:p>
        </p:txBody>
      </p:sp>
    </p:spTree>
    <p:extLst>
      <p:ext uri="{BB962C8B-B14F-4D97-AF65-F5344CB8AC3E}">
        <p14:creationId xmlns:p14="http://schemas.microsoft.com/office/powerpoint/2010/main" val="12181182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EDAE7D-E347-4139-B6A3-87BB036BC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Leitura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B52450-010E-4EE8-B146-32C0FC87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Seis casos com canais distintos de materialização da perda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ECA0A5-F9A1-486E-B511-9617F523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02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552450" y="1409700"/>
          <a:ext xmlns:a="http://schemas.openxmlformats.org/drawingml/2006/main" cx="11068050" cy="4114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2000250"/>
                <a:gridCol w="2476500"/>
                <a:gridCol w="2647950"/>
                <a:gridCol w="2514600"/>
              </a:tblGrid>
              <a:tr h="400050">
                <a:tc>
                  <a:txBody>
                    <a:bodyPr/>
                    <a:lstStyle/>
                    <a:p>
                      <a:r>
                        <a:rPr sz="88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Caso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8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Ativo / lastro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8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Primeiro sinal documentado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8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Transmissão econômica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8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Lição para os dados</a:t>
                      </a:r>
                    </a:p>
                  </a:txBody>
                  <a:tcPr marL="91440" marR="91440" marT="45720" marB="45720"/>
                </a:tc>
              </a:tr>
              <a:tr h="92392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Blue II / Azul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Debêntures da Azul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Waivers e disputa sobre amortização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Perda atravessa Júnior, Mezaninos e Sênior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Inadimplência aparece tarde</a:t>
                      </a:r>
                    </a:p>
                  </a:txBody>
                  <a:tcPr marL="91440" marR="91440" marT="45720" marB="45720"/>
                </a:tc>
              </a:tr>
              <a:tr h="92392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MCPO + Lavoro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Recebíveis do agronegócio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Subordinação, aging, resolução e downgrade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Liquidação, waivers e dissidência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Atas antecedem o colapso do PL</a:t>
                      </a:r>
                    </a:p>
                  </a:txBody>
                  <a:tcPr marL="91440" marR="91440" marT="45720" marB="45720"/>
                </a:tc>
              </a:tr>
              <a:tr h="92392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Americanas / Vinci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Debênture LAMEA6/LAMEAA6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Queda de preço após inconsistências contábeis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Marcação diária na cota única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Preço antecede atraso</a:t>
                      </a:r>
                    </a:p>
                  </a:txBody>
                  <a:tcPr marL="91440" marR="91440" marT="45720" marB="45720"/>
                </a:tc>
              </a:tr>
              <a:tr h="92392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SAV Nexoos + Light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CCBs de PMEs / fluxo futuro de energia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Atraso PME / rebaixamento e gatilho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Caixa prioriza seniores; subordinadas ficam com o residual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Estrutura e rating podem liderar o Informe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F2E6A6-3AF9-4887-AE82-B21E7EF89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15000"/>
            <a:ext cx="11068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rPr>
              <a:t>Leitura recomendada: evento societário → gatilho contratual → decisão de cotistas → efeito por prioridade de cota → consistência do dado regulatório.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BACB45-87B3-47F4-856A-FC85D929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Data de corte: </a:t>
            </a: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20 ago. 2026</a:t>
            </a: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 | valores reportados preservam a competência e a fonte indicada</a:t>
            </a:r>
          </a:p>
        </p:txBody>
      </p:sp>
    </p:spTree>
    <p:extLst>
      <p:ext uri="{BB962C8B-B14F-4D97-AF65-F5344CB8AC3E}">
        <p14:creationId xmlns:p14="http://schemas.microsoft.com/office/powerpoint/2010/main" val="7463041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FEB533-95C8-4765-9D2F-BADB9A52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Caso 1 · Azul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417265-5D3C-4DBE-9842-4F450C7A9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Blue II: os waivers antecederam a liquidação e a perda atravessou o waterfall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D620C8-25F0-4046-86CF-086913F2C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11A0C2-1F7E-4572-8E2E-8881F990E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rPr>
              <a:t>Estrutura inicial</a:t>
            </a:r>
          </a:p>
        </p:txBody>
      </p:sp>
      <p:graphicFrame>
        <p:nvGraphicFramePr>
          <p:cNvPr id="38" name=""/>
          <p:cNvGraphicFramePr/>
          <p:nvPr/>
        </p:nvGraphicFramePr>
        <p:xfrm>
          <a:off xmlns:a="http://schemas.openxmlformats.org/drawingml/2006/main" x="552450" y="1562100"/>
          <a:ext xmlns:a="http://schemas.openxmlformats.org/drawingml/2006/main" cx="4857750" cy="2019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38250"/>
                <a:gridCol w="3619500"/>
              </a:tblGrid>
              <a:tr h="323850">
                <a:tc>
                  <a:txBody>
                    <a:bodyPr/>
                    <a:lstStyle/>
                    <a:p>
                      <a:r>
                        <a:rPr sz="86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6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Leitura documental</a:t>
                      </a:r>
                    </a:p>
                  </a:txBody>
                  <a:tcPr marL="91440" marR="91440" marT="45720" marB="45720"/>
                </a:tc>
              </a:tr>
              <a:tr h="4191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Constituição / oferta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Jun/24; 1ª emissão para investidores profissionais</a:t>
                      </a:r>
                    </a:p>
                  </a:txBody>
                  <a:tcPr marL="91440" marR="91440" marT="45720" marB="45720"/>
                </a:tc>
              </a:tr>
              <a:tr h="4191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Limites e benchmark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Sênior R$180 mi CDI+3,65%; Mezanino I R$180 mi CDI+5,75%; Mezanino II R$210 mi CDI+8,89%; júnior privada</a:t>
                      </a:r>
                    </a:p>
                  </a:txBody>
                  <a:tcPr marL="91440" marR="91440" marT="45720" marB="45720"/>
                </a:tc>
              </a:tr>
              <a:tr h="4191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Cotistas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Nomes não publicados; atas revelam um titular com 56,98% da sênior e 36,30% da Mezanino I; júnior concentrada em um titular</a:t>
                      </a:r>
                    </a:p>
                  </a:txBody>
                  <a:tcPr marL="91440" marR="91440" marT="45720" marB="45720"/>
                </a:tc>
              </a:tr>
              <a:tr h="4191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Lastro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“Dívidas Corporativas”: 12ª emissão de debêntures da Azul Linhas Aéreas; concentração permitida em 100%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8F1F7D-F4A5-42F2-92F0-291E0FDE5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3525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rPr>
              <a:t>Cronologia dos gatilhos e decisões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E6074E-C9F7-47FB-9E80-662257829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619250"/>
            <a:ext cx="0" cy="3238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B5DD87-62CD-4C02-8757-35310CEC4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6158C5-291D-4ED6-8B26-490BA6D6D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55257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rPr>
              <a:t>Jun/24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DA2B7D-6F06-43FC-BFC2-0849F557C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504950"/>
            <a:ext cx="4524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Emissão e compra da debênture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33A271-17A6-4B30-849A-3748AF1B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733550"/>
            <a:ext cx="4524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Amortização pública prevista de jan/25 a jun/26.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6348EE-ED8D-4F7E-BED1-EC0E8D2E7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2381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5AD453-299D-4E71-B2A3-69186DF7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36220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rPr>
              <a:t>Out/24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F51F02-A480-4DC3-8E6E-974902AE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314575"/>
            <a:ext cx="4524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Primeira disputa de caixa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C667ED-579A-4BB5-9D17-87049E5D1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543175"/>
            <a:ext cx="4524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Mudança da amortização e retirada de penalidade foram rejeitadas; grande cotista sênior/mezanino I se opôs.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D902F0-FC08-41D2-98A2-296C0946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3190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F2BC76-FC7E-4F69-BD50-7168AE7FF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17182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rPr>
              <a:t>Dez/24–abr/25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E300A3-988F-4972-862A-537057E6E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24200"/>
            <a:ext cx="4524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Waivers de alavancagem e liquidez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54264A-2741-41E4-9C7A-12840AD8F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352800"/>
            <a:ext cx="4524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Covenants foram pré-dispensados; garantia e recebíveis foram renegociados.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B16277-7260-4978-A9EE-70059EA6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4000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605927-FAFB-4CA9-8C01-AC9E2A0E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9814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28 mai/25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2A748C-27FA-4188-A149-E473A15E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933825"/>
            <a:ext cx="4524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Azul entra em Chapter 11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29A4EC-AEBA-4802-AF9E-8A63F6BDA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162425"/>
            <a:ext cx="4524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Evento de liquidação do fundo é reconhecido.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AB501B-5F81-4408-B505-BFC6575DE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4810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2E3494-BE79-4877-9FB2-2E21DC12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79107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rPr>
              <a:t>Jun–jul/25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1AD360-F1C5-4E4C-8902-24123CCAA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743450"/>
            <a:ext cx="4524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Assembleias divididas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7C8E29-E41C-47F2-8815-037AE15B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972050"/>
            <a:ext cx="4524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Sem quórum para interromper liquidação; júnior declara conflito e se abstém; contratação jurídica é aprovada pelos não conflitados.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BC4BB5-B5C2-4F66-AD11-EBC8692D7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909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rPr>
              <a:t>Sinais, decisões e fontes</a:t>
            </a:r>
          </a:p>
        </p:txBody>
      </p:sp>
      <p:graphicFrame>
        <p:nvGraphicFramePr>
          <p:cNvPr id="62" name=""/>
          <p:cNvGraphicFramePr/>
          <p:nvPr/>
        </p:nvGraphicFramePr>
        <p:xfrm>
          <a:off xmlns:a="http://schemas.openxmlformats.org/drawingml/2006/main" x="552450" y="4000500"/>
          <a:ext xmlns:a="http://schemas.openxmlformats.org/drawingml/2006/main" cx="4857750" cy="1924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85850"/>
                <a:gridCol w="2343150"/>
                <a:gridCol w="1428750"/>
              </a:tblGrid>
              <a:tr h="285750">
                <a:tc>
                  <a:txBody>
                    <a:bodyPr/>
                    <a:lstStyle/>
                    <a:p>
                      <a:r>
                        <a:rPr sz="82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Dado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Valor / leitura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Coleta</a:t>
                      </a:r>
                    </a:p>
                  </a:txBody>
                  <a:tcPr marL="91440" marR="91440" marT="45720" marB="45720"/>
                </a:tc>
              </a:tr>
              <a:tr h="323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6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Subordinação mínima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5% júnior; 40% Mezanino II + júnior; 70% total subordinado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Regulamento · Fundos.NET 686749</a:t>
                      </a:r>
                    </a:p>
                  </a:txBody>
                  <a:tcPr marL="91440" marR="91440" marT="45720" marB="45720"/>
                </a:tc>
              </a:tr>
              <a:tr h="323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6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R$ 46,1 mi em jul/25; R$ 307,5 mi em jul/24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Informe Mensal CVM</a:t>
                      </a:r>
                    </a:p>
                  </a:txBody>
                  <a:tcPr marL="91440" marR="91440" marT="45720" marB="45720"/>
                </a:tc>
              </a:tr>
              <a:tr h="323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6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Carteira e atraso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R$ 43,4 mi de carteira e R$ 163,2 mi de inadimplência em jul/25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Informe Mensal CVM</a:t>
                      </a:r>
                    </a:p>
                  </a:txBody>
                  <a:tcPr marL="91440" marR="91440" marT="45720" marB="45720"/>
                </a:tc>
              </a:tr>
              <a:tr h="323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6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Cotas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Júnior em –100% desde jun/25; perdas posteriores nas camadas superiores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Página do administrador · Oliveira Trust</a:t>
                      </a:r>
                    </a:p>
                  </a:txBody>
                  <a:tcPr marL="91440" marR="91440" marT="45720" marB="45720"/>
                </a:tc>
              </a:tr>
              <a:tr h="323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6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Assembleia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27 jun/25 sem quórum; liquidação prosseguiu. Em 24 jul, a júnior declarou conflito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Atas · Fundos.NET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C51E46-D624-4665-93F6-2A2984F44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Blue II Segmento Crédito Corporativo FIDC · CNPJ 55.374.251/0001-28 · valores da oferta são limites, não colocação efetiva</a:t>
            </a:r>
          </a:p>
        </p:txBody>
      </p:sp>
    </p:spTree>
    <p:extLst>
      <p:ext uri="{BB962C8B-B14F-4D97-AF65-F5344CB8AC3E}">
        <p14:creationId xmlns:p14="http://schemas.microsoft.com/office/powerpoint/2010/main" val="7491063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D83B3A-B54E-4986-8889-85719B06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Caso 2 · Maqcampo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15952F-50C1-434A-BD59-3330DEEA6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MCPO: a quebra da subordinação foi seguida por aging, falta de amortização e liquidação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61DA2B-A1CF-49F3-B63D-4CF1CD4FB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04</a:t>
            </a:r>
          </a:p>
        </p:txBody>
      </p:sp>
      <p:graphicFrame>
        <p:nvGraphicFramePr>
          <p:cNvPr id="37" name=""/>
          <p:cNvGraphicFramePr/>
          <p:nvPr/>
        </p:nvGraphicFramePr>
        <p:xfrm>
          <a:off xmlns:a="http://schemas.openxmlformats.org/drawingml/2006/main" x="552450" y="1562100"/>
          <a:ext xmlns:a="http://schemas.openxmlformats.org/drawingml/2006/main" cx="4857750" cy="2133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162050"/>
                <a:gridCol w="3695700"/>
              </a:tblGrid>
              <a:tr h="32385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Leitura documental</a:t>
                      </a:r>
                    </a:p>
                  </a:txBody>
                  <a:tcPr marL="91440" marR="91440" marT="45720" marB="45720"/>
                </a:tc>
              </a:tr>
              <a:tr h="4476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4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1ª emissão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4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Fechamento 5 jun/24: sênior R$215,966 mi + júnior R$5,547 mi; valor unitário R$1 mil</a:t>
                      </a:r>
                    </a:p>
                  </a:txBody>
                  <a:tcPr marL="91440" marR="91440" marT="45720" marB="45720"/>
                </a:tc>
              </a:tr>
              <a:tr h="4476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4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Distribuição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4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Sênior: 2 subscritores — intermediário 192.737 cotas e instituição relacionada 23.229; júnior: 3 fundos</a:t>
                      </a:r>
                    </a:p>
                  </a:txBody>
                  <a:tcPr marL="91440" marR="91440" marT="45720" marB="45720"/>
                </a:tc>
              </a:tr>
              <a:tr h="4476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4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Emissão posterior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4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Mezanino privada de R$72 mi; benchmark de 50% do CDI após os 12 primeiros meses; sênior: benchmark não localizado no documento consultado</a:t>
                      </a:r>
                    </a:p>
                  </a:txBody>
                  <a:tcPr marL="91440" marR="91440" marT="45720" marB="45720"/>
                </a:tc>
              </a:tr>
              <a:tr h="4476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4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Lastro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4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Direitos performados de vendas a prazo e serviços da Maqcampo a clientes de máquinas e implementos agrícolas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30D32E-5460-4EEA-8EE4-CDD409A8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619250"/>
            <a:ext cx="0" cy="3276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56CA06-01AF-4B4F-BE24-546D7B0A0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2465A0-F7B7-4B1C-8AC2-6096216D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55257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rPr>
              <a:t>Out/24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530F6D-2C46-4F80-A42B-CF5CE52B6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504950"/>
            <a:ext cx="4524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Subordinação em 18,26%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70DCBE-7BD6-4F0C-9CEA-7E1FF5B1F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733550"/>
            <a:ext cx="4524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Mínimo contratual de 20%; evento reconhecido em fev/mar de 2025.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599838-458E-4D49-9E4D-073D645D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2390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186772-C389-4031-80A6-7D83EC67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37172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rPr>
              <a:t>Mar/25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26C4F2-6CCC-4707-B609-617454FF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324100"/>
            <a:ext cx="4524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Cotistas concedem waiver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4AF6C0-94CD-467C-B4EA-E1BF167D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552700"/>
            <a:ext cx="4524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Liquidação é afastada e caixa passa a priorizar a cota sênior.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22AAAA-9F54-49D4-9F26-D8FD4F85D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3209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33729A-9A76-4B35-A550-482C061AE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19087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rPr>
              <a:t>Mai–jun/25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149E5B-BD21-495C-BEAD-FA57EECD5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43250"/>
            <a:ext cx="4524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Aging &gt; limite e amortização incompleta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5B5BD5-3026-4605-AEE9-857A029C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371850"/>
            <a:ext cx="4524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30–180 dias em 10,69% e saldo de R$2,51 mi da amortização sênior.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B618C6-0C3B-45CD-B911-DEC1089F5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4029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1DE184-5FD9-4853-AE0B-67F8118B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01002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Jul/25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3F4817-31C4-4B73-AEB2-9D89183C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962400"/>
            <a:ext cx="4524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Aging rompe quatro faixas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0CCE23-D648-4375-9593-D49D1142C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191000"/>
            <a:ext cx="4524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30–180: 12,81%; 60–180: 12,73%; 90–180: 11,89%; 120–180: 11,74%; subordinação cai a 8,30%.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6576B0-D85C-4CF7-9051-0BF35CEEF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4848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CFE147-B471-48C0-B2C0-8161C5143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82917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rPr>
              <a:t>Ago–out/25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79EDBE-31D4-4B79-BD66-292BBADD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781550"/>
            <a:ext cx="4524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Liquidação e troca operacional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9AEFC4-D180-480F-9E85-A08833C1F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010150"/>
            <a:ext cx="4524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97,95% aprovam liquidação antecipada; ABC é substituída e Angá assume a gestão integral.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E5B2CB-6930-4A92-9FEE-F6F92990A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rPr>
              <a:t>Estrutura e colocação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BD87B4-FE6E-43DA-887B-05C75D96A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352550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rPr>
              <a:t>Cronologia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C9D3E7-95C8-44FC-B12C-13459F3A5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052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rPr>
              <a:t>Deterioração, decisão e fontes</a:t>
            </a:r>
          </a:p>
        </p:txBody>
      </p:sp>
      <p:graphicFrame>
        <p:nvGraphicFramePr>
          <p:cNvPr id="62" name=""/>
          <p:cNvGraphicFramePr/>
          <p:nvPr/>
        </p:nvGraphicFramePr>
        <p:xfrm>
          <a:off xmlns:a="http://schemas.openxmlformats.org/drawingml/2006/main" x="552450" y="4114800"/>
          <a:ext xmlns:a="http://schemas.openxmlformats.org/drawingml/2006/main" cx="4857750" cy="17716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00125"/>
                <a:gridCol w="2400300"/>
                <a:gridCol w="1457325"/>
              </a:tblGrid>
              <a:tr h="285750">
                <a:tc>
                  <a:txBody>
                    <a:bodyPr/>
                    <a:lstStyle/>
                    <a:p>
                      <a:r>
                        <a:rPr sz="8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Dado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Valor / leitura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Coleta</a:t>
                      </a:r>
                    </a:p>
                  </a:txBody>
                  <a:tcPr marL="91440" marR="91440" marT="45720" marB="45720"/>
                </a:tc>
              </a:tr>
              <a:tr h="3714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Subordinação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8,30% em jul/25, ante mínimo de 20%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Atas e regulamento · Fundos.NET</a:t>
                      </a:r>
                    </a:p>
                  </a:txBody>
                  <a:tcPr marL="91440" marR="91440" marT="45720" marB="45720"/>
                </a:tc>
              </a:tr>
              <a:tr h="3714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Inadimplência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R$ 63,7 mi em mar/25; R$ 70,0 mi sobre R$ 96,6 mi de carteira em jun/26 (72,5%)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Informe Mensal CVM</a:t>
                      </a:r>
                    </a:p>
                  </a:txBody>
                  <a:tcPr marL="91440" marR="91440" marT="45720" marB="45720"/>
                </a:tc>
              </a:tr>
              <a:tr h="3714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Cotas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Júnior zerada em jun/25; mezanino zerou em 2025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Página do administrador · Oliveira Trust</a:t>
                      </a:r>
                    </a:p>
                  </a:txBody>
                  <a:tcPr marL="91440" marR="91440" marT="45720" marB="45720"/>
                </a:tc>
              </a:tr>
              <a:tr h="3714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Conflito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Em ago/26, Maqcampo declarou conflito e se absteve; demais aprovaram resolução parcelada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Ata · Fundos.NET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F6F7F0B-498A-4481-B4C6-B12A63FB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MCPO FIDC · CNPJ 52.968.533/0001-65 · cedente Maqcampo Soluções Agrícolas S.A.</a:t>
            </a:r>
          </a:p>
        </p:txBody>
      </p:sp>
    </p:spTree>
    <p:extLst>
      <p:ext uri="{BB962C8B-B14F-4D97-AF65-F5344CB8AC3E}">
        <p14:creationId xmlns:p14="http://schemas.microsoft.com/office/powerpoint/2010/main" val="6486331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FF07D6-131E-4A1C-9B45-2ABD1F8A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Caso 3 · Lavoro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0915BE-9C83-40AD-8AF1-B52FED44F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Lavoro: dois veículos, waivers sucessivos e conflito na decisão de liquidar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B4B55C-A2F5-4412-A7EB-3FEF73CB9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CFED12-324A-4A38-8136-4813A5373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rPr>
              <a:t>Estruturas</a:t>
            </a:r>
          </a:p>
        </p:txBody>
      </p:sp>
      <p:graphicFrame>
        <p:nvGraphicFramePr>
          <p:cNvPr id="36" name=""/>
          <p:cNvGraphicFramePr/>
          <p:nvPr/>
        </p:nvGraphicFramePr>
        <p:xfrm>
          <a:off xmlns:a="http://schemas.openxmlformats.org/drawingml/2006/main" x="552450" y="1543050"/>
          <a:ext xmlns:a="http://schemas.openxmlformats.org/drawingml/2006/main" cx="11068050" cy="1790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09750"/>
                <a:gridCol w="2857500"/>
                <a:gridCol w="2571750"/>
                <a:gridCol w="2476500"/>
                <a:gridCol w="1352550"/>
              </a:tblGrid>
              <a:tr h="323850">
                <a:tc>
                  <a:txBody>
                    <a:bodyPr/>
                    <a:lstStyle/>
                    <a:p>
                      <a:r>
                        <a:rPr sz="82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Caso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Emissão e benchmark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Cotistas / colocação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Lastro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Coleta</a:t>
                      </a:r>
                    </a:p>
                  </a:txBody>
                  <a:tcPr marL="91440" marR="91440" marT="45720" marB="45720"/>
                </a:tc>
              </a:tr>
              <a:tr h="73342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6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Lavoro Agro FIDC I · 2022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Estrutura de até R$160 mi. Out/22: sênior R$99,8 mi a CDI+2,45%; Mezanino A R$25,1 mi a CDI+5%; Mezanino B R$33,7 mi a CDI+8%; júnior R$10,4 mi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Cotistas nominais não publicados; coordenação Itaú BBA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Recebíveis comerciais de defensivos, fertilizantes, biofertilizantes, sementes e outros insumos do grupo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Regulamento e oferta · Fundos.NET</a:t>
                      </a:r>
                    </a:p>
                  </a:txBody>
                  <a:tcPr marL="91440" marR="91440" marT="45720" marB="45720"/>
                </a:tc>
              </a:tr>
              <a:tr h="73342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6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Lavoro Agro II FIAGRO-FIDC · 2024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Sênior de R$248 mi em 2 ago/24, CDI+3,5% e garantia firme; subordinada privada de cerca de R$62,7 mi, CDI+0% e suporte de 20%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3 fundos tomaram R$48 mi; intermediário tomou R$200 mi. Companhia citou Itaú BBA e Itaú Asset como principais investidores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Direitos creditórios ligados à cadeia de insumos agrícolas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6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Documentos da oferta · Fundos.NET e SEC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460143-3BEB-46F6-AAF7-C0C3D360E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24250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rPr>
              <a:t>Cronologia comum do estresse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90D006-18A3-4256-BD9A-DAEA82502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719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782A84-AAB4-4AF1-ABAF-D2C081A9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14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362B62-5F77-46E7-8C43-5433B0EDE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14750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Jan–abr/25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000AF6-A050-4B44-A337-0CF4FA87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434340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3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93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Perda, resolução e downgrade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3F2A0E-EBEA-4054-AA34-3C971F276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4705350"/>
            <a:ext cx="1866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8000"/>
              </a:lnSpc>
              <a:buNone/>
              <a:defRPr sz="765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765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Índices de perda/resolução e rebaixamento de rating acionam eventos; primeira proposta recebe só 3%.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D6C531-17CB-474A-89C3-338B99D52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8538" y="4114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15FCCF-8308-44DB-80CF-4B72FD02D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6088" y="3714750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19 mai/25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DFF769-F90E-4EA8-952D-BEC41E31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0338" y="434340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3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93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Waivers e caixa protegido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6501C0-83D2-4144-BAAA-348BA3245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2238" y="4705350"/>
            <a:ext cx="1866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8000"/>
              </a:lnSpc>
              <a:buNone/>
              <a:defRPr sz="765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765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78% aprovam waivers retroativos, compras apenas para resolução/substituição e nova discussão sobre liquidação.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499528-26C8-434B-8844-35690A97A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4114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1EBEB7-F8C0-4368-9C9E-13DD156D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3714750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18 jun/25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31D6EC-C1BB-4AD9-AB8C-3AB1DD57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434340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3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93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Recuperação da Agrovenci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A6D7A9-186B-4538-ACB8-8DD06F9F4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4705350"/>
            <a:ext cx="1866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8000"/>
              </a:lnSpc>
              <a:buNone/>
              <a:defRPr sz="765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765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Evento de liquidação antecipada nos dois veículos; assembleias do II não alcançam quórum.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B794DC-18C3-4F9C-80A5-CC2958DC5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3913" y="4114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6CAB82-1079-48D1-AB24-6B1ED480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463" y="3714750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18 jul/25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8B63FB-3F43-46A3-A0A2-EF5B0D9C4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713" y="434340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3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93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Conflito entre classes no FIDC 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224034-067D-44FE-9412-A1B11124D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7613" y="4705350"/>
            <a:ext cx="1866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8000"/>
              </a:lnSpc>
              <a:buNone/>
              <a:defRPr sz="765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765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Maioria afasta liquidação; Mezanino B vota pela liquidação e exerce retirada dissidente, sem caixa imediato.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0D7065-63A4-4012-97D5-F870C19F8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4114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45AA85-42BC-47C4-B899-085E71AE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714750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Ago/25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6ABFFA-C283-4435-98A8-92515974A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34340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3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93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Novos pleitos fracassam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DE11C3-63D7-4D98-AB90-1E558A56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705350"/>
            <a:ext cx="1866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8000"/>
              </a:lnSpc>
              <a:buNone/>
              <a:defRPr sz="765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765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Mudança da Mezanino B é rejeitada; no II, matérias ficam sem aprovação por ausência de votos.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D8AB95-C8C2-4561-9D1D-54A4C8CD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29300"/>
            <a:ext cx="11068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8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8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rPr>
              <a:t>Informe Mensal CVM, ago/25: a inadimplência bruta reportada excede a carteira nos dois veículos. A série requer reconciliação por campo, competência, resolução e substituição de direitos.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25BDC2-A957-4FF3-A949-18DD4233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Lavoro Agro FIDC I · 44.272.584/0001-20 | Lavoro Agro II FIAGRO-FIDC · 55.476.342/0001-74</a:t>
            </a:r>
          </a:p>
        </p:txBody>
      </p:sp>
    </p:spTree>
    <p:extLst>
      <p:ext uri="{BB962C8B-B14F-4D97-AF65-F5344CB8AC3E}">
        <p14:creationId xmlns:p14="http://schemas.microsoft.com/office/powerpoint/2010/main" val="3404017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BC0F427-28ED-489F-BE9C-24A2D75DF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Caso 4 · Americanas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FC2003-A67E-4695-91B8-9B7C12B12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Americanas: a marcação a mercado atingiu a cota antes de surgir inadimplência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D03BE5-D97F-44FF-9CA8-370D1912A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31402F-6970-4FCA-9BC8-E9A25998D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rPr>
              <a:t>Caso</a:t>
            </a:r>
          </a:p>
        </p:txBody>
      </p:sp>
      <p:graphicFrame>
        <p:nvGraphicFramePr>
          <p:cNvPr id="37" name=""/>
          <p:cNvGraphicFramePr/>
          <p:nvPr/>
        </p:nvGraphicFramePr>
        <p:xfrm>
          <a:off xmlns:a="http://schemas.openxmlformats.org/drawingml/2006/main" x="552450" y="1562100"/>
          <a:ext xmlns:a="http://schemas.openxmlformats.org/drawingml/2006/main" cx="4000500" cy="3943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00100"/>
                <a:gridCol w="2095500"/>
                <a:gridCol w="1104900"/>
              </a:tblGrid>
              <a:tr h="323850">
                <a:tc>
                  <a:txBody>
                    <a:bodyPr/>
                    <a:lstStyle/>
                    <a:p>
                      <a:r>
                        <a:rPr sz="8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Campo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Leitura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Coleta</a:t>
                      </a:r>
                    </a:p>
                  </a:txBody>
                  <a:tcPr marL="91440" marR="91440" marT="45720" marB="45720"/>
                </a:tc>
              </a:tr>
              <a:tr h="6000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Fundo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Vinci Antecipe Plus FIDC · CNPJ 35.688.072/0001-58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Regulamento · Fundos.NET</a:t>
                      </a:r>
                    </a:p>
                  </a:txBody>
                  <a:tcPr marL="91440" marR="91440" marT="45720" marB="45720"/>
                </a:tc>
              </a:tr>
              <a:tr h="6000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Início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28 abr. 2020; condomínio aberto; prazo indeterminado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Cadastro e regulamento</a:t>
                      </a:r>
                    </a:p>
                  </a:txBody>
                  <a:tcPr marL="91440" marR="91440" marT="45720" marB="45720"/>
                </a:tc>
              </a:tr>
              <a:tr h="6000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Cotas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Classe única; sem waterfall, rating ou benchmark contratual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Regulamento</a:t>
                      </a:r>
                    </a:p>
                  </a:txBody>
                  <a:tcPr marL="91440" marR="91440" marT="45720" marB="45720"/>
                </a:tc>
              </a:tr>
              <a:tr h="6000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Política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Debêntures, CRI, CRA, CCB e outros direitos/títulos de crédito; cotas para qualificados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Regulamento</a:t>
                      </a:r>
                    </a:p>
                  </a:txBody>
                  <a:tcPr marL="91440" marR="91440" marT="45720" marB="45720"/>
                </a:tc>
              </a:tr>
              <a:tr h="6000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Cotistas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Nomes não publicados. Ata de 2024 registra um cotista com 100% das cotas, sem vínculo público com Americanas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Ata · Fundos.NET</a:t>
                      </a:r>
                    </a:p>
                  </a:txBody>
                  <a:tcPr marL="91440" marR="91440" marT="45720" marB="45720"/>
                </a:tc>
              </a:tr>
              <a:tr h="60007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Exposição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LAMEA6/LAMEAA6; marcação diária do ativo transmitiu a perda à cota única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DF auditadas e fato relevante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FC8B8A-7A45-40F4-A6C1-24F073413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3525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rPr>
              <a:t>Cronologia da exposição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571CEB-E730-4C89-9401-59B639956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619250"/>
            <a:ext cx="0" cy="3409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3706EB-A5BB-4A21-BEDC-91F863601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B1BD40-9D60-426C-80DB-04E9B96A9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55257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rPr>
              <a:t>30 nov/21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B7F394-04AA-47D6-B51D-5C5B99FFE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504950"/>
            <a:ext cx="5324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LAMEA6 em 28,77% do PL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CCC8AB-3F19-4D8D-9B87-08FAC93BF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733550"/>
            <a:ext cx="53244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Valor contábil aproximado de R$817 mil.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68EA45-9BE5-496B-BB1F-7977D65BE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242411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802595-6E64-41A3-91B7-8EB60FAF6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405063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rPr>
              <a:t>30 nov/22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00994D-2BA8-4F4C-8258-CB8F9FC02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357438"/>
            <a:ext cx="5324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Posição reduzida para 7,17% do PL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EED2FC-9BA5-4AEB-B613-68AD1600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586038"/>
            <a:ext cx="53244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678 debêntures, R$417 mil; IPCA+7,40%, vencimento em 15 out/2030.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9BFA57-60E4-4C8D-93F0-3AF6884B1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32766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436A86-76E3-498A-8A0F-B8C9365AD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2575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11 jan/23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6EBD26-0D89-4760-8520-370368E9B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209925"/>
            <a:ext cx="5324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Americanas divulga inconsistências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9ACF33-5FCC-4BE2-B8C1-F6048C35C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438525"/>
            <a:ext cx="53244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Preço indicativo da debênture cai de forma relevante.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8635B0-7FFD-4515-938B-A9FFE82D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12908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CD1FCE-C8EC-4191-9C24-9009F996E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110038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rPr>
              <a:t>13 jan/23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2344DE-65DA-4A9F-9B4B-C73BD4A0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62413"/>
            <a:ext cx="5324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Impacto de –5,9330% no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C8D496-6BEB-4479-8227-DBCD6FD1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291013"/>
            <a:ext cx="53244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Fato relevante de 16 jan informa exposição de 12,7914% do PL naquele momento.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AA3AC1-ABCA-4B85-AC6D-F79CD68F9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C70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72A13B-1857-4036-B8D8-52908E501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96252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5B5B5B"/>
                </a:solidFill>
                <a:latin typeface="Itau Display X-Bold"/>
                <a:ea typeface="Itau Display X-Bold"/>
                <a:cs typeface="Itau Display X-Bold"/>
              </a:rPr>
              <a:t>19–25 jan/23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1F3C4D-AA6C-4BB2-9AC5-7A0547AAA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914900"/>
            <a:ext cx="5324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RJ e proteção nos EUA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04FB4E-229C-4C73-9125-7D8E7474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143500"/>
            <a:ext cx="53244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Ajuste ocorreu pela avaliação diária do ativo; busca documental não localizou assembleia específica ligada ao evento.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906DD3-02FB-4273-884C-2720102B9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46735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Mecanismo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826A0B-0232-4024-8C68-6F8BDDFAD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429250"/>
            <a:ext cx="563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85" b="0">
                <a:solidFill>
                  <a:srgbClr val="2B2B2B"/>
                </a:solidFill>
                <a:latin typeface="Itau Display"/>
                <a:ea typeface="Itau Display"/>
                <a:cs typeface="Itau Display"/>
              </a:defRPr>
            </a:pPr>
            <a:r>
              <a:rPr sz="885" b="0">
                <a:solidFill>
                  <a:srgbClr val="2B2B2B"/>
                </a:solidFill>
                <a:latin typeface="Itau Display"/>
                <a:ea typeface="Itau Display"/>
                <a:cs typeface="Itau Display"/>
              </a:rPr>
              <a:t>Preço ANBIMA/fluxo descontado → redução do valor do ativo → perda na cota única. Fonte: DF auditadas e fato relevante de 16 jan. 2023.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FE3926-1C2F-4E3A-B04B-FB1DCDD6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Vinci Antecipe Plus FIDC · BRL Trust · valores de 2021/2022 em demonstrações auditadas; fato relevante em 16 jan. 2023</a:t>
            </a:r>
          </a:p>
        </p:txBody>
      </p:sp>
    </p:spTree>
    <p:extLst>
      <p:ext uri="{BB962C8B-B14F-4D97-AF65-F5344CB8AC3E}">
        <p14:creationId xmlns:p14="http://schemas.microsoft.com/office/powerpoint/2010/main" val="13670788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3F5332A-25E4-436B-861E-83DA2B54B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Caso 5 · SAV Nexoos / Americanas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C36F33-333D-46D1-A125-B4C2163F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SAV Nexoos: a carteira PME deteriorou antes da crise da Americanas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34BA85-FA99-4019-AEA6-DC649A0E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76250"/>
            <a:ext cx="47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1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357592-647A-44AF-AF23-76185A403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66825"/>
            <a:ext cx="485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662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Estrutura, emissões e vínculo societário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52450" y="1476375"/>
          <a:ext xmlns:a="http://schemas.openxmlformats.org/drawingml/2006/main" cx="4857750" cy="23431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219200"/>
                <a:gridCol w="363855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35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Item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35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Leitura documental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</a:tr>
              <a:tr h="3086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82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Veículo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82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CNPJ 38.284.301/0001-67; início em 30 mar/21; BRL Trust até mai/24 e Hemera depois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82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Lastro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82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CCBs e empréstimos a PMEs originados na Plataforma Nexoos; sem coobrigação do cedente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</a:tr>
              <a:tr h="3086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82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Sênior 1 e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82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R$ 86,2 mi e R$ 103,8 mi; CDI + 4,5% a.a.; 48 meses e 24 meses de carência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82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Mezanino / Júnior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82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Mezanino R$ 41,5 mi a CDI + 7,0% a.a.; Júnior sem benchmark; subordinação total mínima de 30%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</a:tr>
              <a:tr h="3086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82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Americanas / Ame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82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R$ 30,65 mi em dez/22; 56% da sênior, 2% da mezanino e 19% do PL; cadastro integral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F3AC58-0176-472A-A2D9-9041CD55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62400"/>
            <a:ext cx="485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662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Sinais no Informe Mensal</a:t>
            </a:r>
          </a:p>
        </p:txBody>
      </p:sp>
      <p:graphicFrame>
        <p:nvGraphicFramePr>
          <p:cNvPr id="37" name=""/>
          <p:cNvGraphicFramePr/>
          <p:nvPr/>
        </p:nvGraphicFramePr>
        <p:xfrm>
          <a:off xmlns:a="http://schemas.openxmlformats.org/drawingml/2006/main" x="552450" y="4171950"/>
          <a:ext xmlns:a="http://schemas.openxmlformats.org/drawingml/2006/main" cx="4857750" cy="17907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066800"/>
                <a:gridCol w="933450"/>
                <a:gridCol w="1714500"/>
                <a:gridCol w="114300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13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Competência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13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PL R$ mi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13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Atraso / carteira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13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Subordinação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</a:tr>
              <a:tr h="22574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mar/22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172,1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49,2%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574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set/22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279,6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10,8%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30,1%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</a:tr>
              <a:tr h="22574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out/22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198,8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30,4%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574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dez/22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159,4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23,8%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27,9%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574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ago/23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64,8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119,6% bruto*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42,3%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5E8BC4-AD2C-4AE2-8667-2BEAA702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266825"/>
            <a:ext cx="5572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662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Cronologia do crédito e da liquidação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2E604C-C120-49BC-8102-0D076D150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609725"/>
            <a:ext cx="0" cy="3543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906">
            <a:solidFill>
              <a:srgbClr val="B853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7A1D7D-5228-4C7E-AE1E-40DF1A7FE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53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F8FA4A-C5C8-45A4-86F0-48711EA8A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1590675"/>
            <a:ext cx="914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67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6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rPr>
              <a:t>mar–dez/21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4085C8-B394-4079-8F6A-44100B743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158115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66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4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4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Início e incorporação do SAV Omie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4F2BF6-5E15-4FE1-A1D8-6C735F749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1790700"/>
            <a:ext cx="4267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2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72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O veículo inicia com Júnior e incorpora o SAV Omiexperience FIDC em dez/21.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B76117-8E4A-4420-8AE5-9163A5BAD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457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53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4DBF4B-A98A-4AF8-9606-567729A8B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2438400"/>
            <a:ext cx="914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67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6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rPr>
              <a:t>fev–abr/22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29D7E9-B3A3-4C9C-BD16-769C3B2AB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428875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66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4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4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Captação amplia o PL para R$ 280 mi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F71CCD-0469-4109-AFDA-6CD4DCED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638425"/>
            <a:ext cx="4267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2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72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Entram Mezanino e duas séries seniores; 71–72 contas são reportadas após a emissão.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E2AD1A-D5DA-4D8D-B312-29922010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305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53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687E40-9F9F-4E6A-9BEF-09419EA4F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3286125"/>
            <a:ext cx="914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67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6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rPr>
              <a:t>24 out/22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E3CD99-4F96-4F1F-ADDC-CD08A3BED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27660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66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4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4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Cotistas aprovam liquidação por unanimidade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1906A1-CC84-470D-9448-02D7C5A2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486150"/>
            <a:ext cx="4267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2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72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Altas de juros pressionam PMEs e projeções; cessam aquisições e começa o caixa Sênior → Mezanino.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862104-C362-469C-921E-F91F03E2A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4152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530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4BB063-8120-4B87-A50E-4CAF9C50B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133850"/>
            <a:ext cx="914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67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6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rPr>
              <a:t>dez/22–ago/23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7876FB-876C-47D1-9A23-983B7C86E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124325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66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4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4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Atraso e PDD consomem a proteção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834A7D-D484-4ADA-9D81-6AFA4C1EF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333875"/>
            <a:ext cx="4267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2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72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Subordinação reportada cai a 27,9%; efeito vagão leva o atraso bruto acima da carteira.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168693-EB41-478F-903F-70D571A30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5300"/>
          </a:solidFill>
          <a:ln xmlns:a="http://schemas.openxmlformats.org/drawingml/2006/main" w="13335">
            <a:solidFill>
              <a:srgbClr val="B853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738F8D-E491-4E1A-9B56-F1C9B45B1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981575"/>
            <a:ext cx="914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67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6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2024–jun/26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03CF32C-6262-4322-89DC-3A9A625BB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97205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66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4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4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Sênior é resgatada; sobra posição residual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6194455-8A99-4025-BD5D-9BDD8400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5181600"/>
            <a:ext cx="4267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2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72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Ata posterior confirma resgate integral da Sênior. PL cai a R$ 0,7 mi; liquidação segue em curso.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E972D2-3EA9-4A95-9738-058729CC5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110680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823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* O atraso bruto inclui parcelas futuras pelo efeito vagão e pode superar a carteira. O vínculo com LASA é societário e de investimento; a ata de out/22 não atribui causalidade à crise contábil de jan/23.</a:t>
            </a:r>
          </a:p>
        </p:txBody>
      </p:sp>
    </p:spTree>
    <p:extLst>
      <p:ext uri="{BB962C8B-B14F-4D97-AF65-F5344CB8AC3E}">
        <p14:creationId xmlns:p14="http://schemas.microsoft.com/office/powerpoint/2010/main" val="10202125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3B4DDE7-4BBE-4CFA-A4D5-92DB4118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Caso 6 · FIDC Light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E6A3AB-8DBC-4ED9-AB26-019014F0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FIDC Light: rating e eventos jurídicos sinalizaram risco com atraso CVM zerado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3F5938-6194-48AE-BEEA-4D0BB2B26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76250"/>
            <a:ext cx="47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1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64068B-F77E-4168-A107-B30EE8ACC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66825"/>
            <a:ext cx="485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662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Estrutura e emissões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52450" y="1476375"/>
          <a:ext xmlns:a="http://schemas.openxmlformats.org/drawingml/2006/main" cx="4857750" cy="23431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219200"/>
                <a:gridCol w="363855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35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Item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35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Leitura documental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</a:tr>
              <a:tr h="3086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82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Veículo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82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CNPJ 29.665.468/0001-87; início em 4 jun/18; Oliveira Trust e XP Gestão/XP Vista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82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Lastro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82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Fluxo futuro de contas e serviços de energia da Light Serviços; arrecadação por contas vinculadas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</a:tr>
              <a:tr h="3086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82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Sênior 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82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R$ 1,0 bi; CDI + 1,22% a.a.; 72 meses; vencimento previsto em jun/24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82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Sênior 2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82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R$ 400 mi; IPCA + 5,75% a.a.; 72 meses; vencimento previsto em jun/24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</a:tr>
              <a:tr h="3086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82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Júnior / cotistas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82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R$ 35,03 mi inicial; 159–193 contas em 2023; cadastro integral N/D e exemplos públicos em EFPCs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D0EF2E-C3FA-4FB3-A173-E7956502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62400"/>
            <a:ext cx="485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662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Informe Mensal durante a crise</a:t>
            </a:r>
          </a:p>
        </p:txBody>
      </p:sp>
      <p:graphicFrame>
        <p:nvGraphicFramePr>
          <p:cNvPr id="37" name=""/>
          <p:cNvGraphicFramePr/>
          <p:nvPr/>
        </p:nvGraphicFramePr>
        <p:xfrm>
          <a:off xmlns:a="http://schemas.openxmlformats.org/drawingml/2006/main" x="552450" y="4171950"/>
          <a:ext xmlns:a="http://schemas.openxmlformats.org/drawingml/2006/main" cx="4857750" cy="17907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219200"/>
                <a:gridCol w="1104900"/>
                <a:gridCol w="1390650"/>
                <a:gridCol w="114300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13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Competência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13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PL R$ mi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13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Atraso CVM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13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Contas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</a:tr>
              <a:tr h="22574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jan/23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516,5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159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574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fev/23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420,9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0,0%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148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</a:tr>
              <a:tr h="22574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jun/23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230,5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193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574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ago/23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97,9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0,0%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193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</a:tr>
              <a:tr h="22574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set/23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35D2BE-5AC5-4BBF-BD97-29877E9B2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266825"/>
            <a:ext cx="5572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662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8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Cronologia dos gatilhos e da amortização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98A84F-7EAA-4FA0-8C65-97458AA9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609725"/>
            <a:ext cx="0" cy="3543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906">
            <a:solidFill>
              <a:srgbClr val="B853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7A1F86-F178-492C-AC9B-E06E3B185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53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0A451D-C8A4-42C2-B5E3-92E05792D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1590675"/>
            <a:ext cx="914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67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6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rPr>
              <a:t>jun/18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68BAC6-E858-44E7-B6AF-C9D73A802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158115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66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4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4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R$ 1,4 bi em duas séries seniores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C3DBCA-87EB-4299-837A-CE4867766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1790700"/>
            <a:ext cx="4267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2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72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Fluxo futuro de energia financia Sênior 1 e 2; Júnior inicial de R$ 35,03 mi.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18B7F7-F4A3-4207-8B0D-AD4C15244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457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53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1F7BCA-D2E3-4403-A0D5-C13F74893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2438400"/>
            <a:ext cx="914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67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6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rPr>
              <a:t>3 fev/23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A2A322-F1EB-4C34-BFA4-0A343653F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428875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66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4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4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Fitch corta AAAsf para BBsf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839817-FAC8-4CFB-A991-0211D54C0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638425"/>
            <a:ext cx="4267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2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72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O rebaixamento configura Desalavancagem e aciona amortização acelerada.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298477-F89C-43F3-902A-C554E8248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305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53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391791-008E-4CE6-ABA9-15B2B10A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3286125"/>
            <a:ext cx="914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67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6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rPr>
              <a:t>23 fev/23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D16E1B-E66A-4EEC-A983-47AABD047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27660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66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4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4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Seniores mantêm a aceleração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C99CCD-13F7-498D-9E7B-2C89885B8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486150"/>
            <a:ext cx="4267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2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72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87,31% votam contra Realavancagem; Júnior não vota. A ata não identifica os dissidentes.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B484A1-DF00-4C18-B352-582B4F692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4152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8530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BE4840-AD84-40A8-BD9F-970EB1D2A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133850"/>
            <a:ext cx="914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67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6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rPr>
              <a:t>abr–mai/23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B71512-52E2-4435-A79B-63C574071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124325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66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4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4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Liminar e recuperação judicial suspendem o fluxo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C6FB0D-3B85-43FE-9AA1-6AE9EF5C2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333875"/>
            <a:ext cx="4267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2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72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Tutela interrompe retenções; pedido de RJ gera novo gatilho. Rating cai a Bsf/B-sf.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D5413D-CC6B-4FE7-A06F-B005CA81D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5300"/>
          </a:solidFill>
          <a:ln xmlns:a="http://schemas.openxmlformats.org/drawingml/2006/main" w="13335">
            <a:solidFill>
              <a:srgbClr val="B853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25D58D-2586-4D2F-B557-C5D0043F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981575"/>
            <a:ext cx="914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67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76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15 jun–set/23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D69639-0E8E-41CC-91C3-3EAC04D7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97205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66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4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48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Retenção volta; seniores saem e Júnior absorve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77450D-69AD-46C6-80DA-3A57942B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5181600"/>
            <a:ext cx="4267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2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72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PL cai a R$ 0,9 mi e resta uma conta. Oliveira Trust registra –99,70353% acumulado na Júnior.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7D6772-7D6C-4953-B8AC-039A52BE3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110680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823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A disputa pública opôs o Grupo Light ao FIDC e a outros credores. Entre cotistas, houve votação não unânime; a ata não individualiza posições. O fundo foi cancelado na CVM em fev/24.</a:t>
            </a:r>
          </a:p>
        </p:txBody>
      </p:sp>
    </p:spTree>
    <p:extLst>
      <p:ext uri="{BB962C8B-B14F-4D97-AF65-F5344CB8AC3E}">
        <p14:creationId xmlns:p14="http://schemas.microsoft.com/office/powerpoint/2010/main" val="136811726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616B9F-300C-4884-9375-43E82E98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Leitura dos casos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CFC433-C6C6-4167-BB3B-8675231A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Atas e regulamentos registram gatilhos antes do Informe Mensal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2DFB8D-2406-4999-AD10-B55CBC67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09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552450" y="1447800"/>
          <a:ext xmlns:a="http://schemas.openxmlformats.org/drawingml/2006/main" cx="11068050" cy="3924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00200"/>
                <a:gridCol w="2143125"/>
                <a:gridCol w="2857500"/>
                <a:gridCol w="2619375"/>
                <a:gridCol w="1847850"/>
              </a:tblGrid>
              <a:tr h="381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Camada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Sinal capturado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Exemplo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Limite analítico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Fonte</a:t>
                      </a:r>
                    </a:p>
                  </a:txBody>
                  <a:tcPr marL="91440" marR="91440" marT="45720" marB="45720"/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Regulamento / suplemento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Lastro, benchmark, subordinação, gatilhos e waterfall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Blue II concentra em Azul; Nexoos financia PMEs; Light usa fluxo futuro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Versões e apêndices mudam; exige controle por data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Fundos.NET / administrador</a:t>
                      </a:r>
                    </a:p>
                  </a:txBody>
                  <a:tcPr marL="91440" marR="91440" marT="45720" marB="45720"/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Ata / fato relevante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Waiver, falta de quórum, conflito, votação e medida aprovada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Nexoos liquida por unanimidade; seniores do Light mantêm aceleração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Pode ser publicado após o evento econômico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Fundos.NET / administrador</a:t>
                      </a:r>
                    </a:p>
                  </a:txBody>
                  <a:tcPr marL="91440" marR="91440" marT="45720" marB="45720"/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Informe Mensal CVM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PL, carteira, aging, PDD, subordinação e retorno reportado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Nexoos chega a 119,6% bruto; Light mantém atraso zero durante os gatilhos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Perímetros podem divergir; zero e ausência exigem separação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Dados Abertos CVM</a:t>
                      </a:r>
                    </a:p>
                  </a:txBody>
                  <a:tcPr marL="91440" marR="91440" marT="45720" marB="45720"/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Administrador / DF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Cota, amortização, ativo nominal, cotista divulgado e opinião do auditor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Ame identifica posição no Nexoos; Oliveira Trust mostra –99,70% na Júnior do Light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Cadastro completo e histórico em lote variam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Administrador / DF auditada</a:t>
                      </a:r>
                    </a:p>
                  </a:txBody>
                  <a:tcPr marL="91440" marR="91440" marT="45720" marB="45720"/>
                </a:tc>
              </a:tr>
              <a:tr h="7048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Evento externo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RJ, RE, Chapter 11, rating e mercado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Azul, Agrovenci/Lavoro, Americanas e Light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Exige leitura de garantias, coobrigação e servicing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Judiciário, agência e companhia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0CF249-A1B1-4780-8329-98DADBF99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19750"/>
            <a:ext cx="11068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12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rPr>
              <a:t>Regra de publicação: valor literal da fonte + cálculo separado + status “N/D” para lacuna + comentário de reconciliação quando os perímetros divergem.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C8875D-3E99-4F5B-9BB5-D9675026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Data de corte: </a:t>
            </a: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20 ago. 2026</a:t>
            </a: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 | valores reportados preservam a competência e a fonte indicada</a:t>
            </a:r>
          </a:p>
        </p:txBody>
      </p:sp>
    </p:spTree>
    <p:extLst>
      <p:ext uri="{BB962C8B-B14F-4D97-AF65-F5344CB8AC3E}">
        <p14:creationId xmlns:p14="http://schemas.microsoft.com/office/powerpoint/2010/main" val="195156156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7079E0-1728-42E2-937C-3FA7A81C0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Carteira 101 · cotas seniores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C641DF-74AA-4FE5-B446-3EDD130F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A CVM sinaliza 19 fundos com uma única conta sênior reportada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914814-129E-4289-9DE5-FCD454659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76250"/>
            <a:ext cx="47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1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DF9F3D-AC0D-4E03-B1B5-5653478D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102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B85300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1950" b="1">
                <a:solidFill>
                  <a:srgbClr val="B85300"/>
                </a:solidFill>
                <a:latin typeface="Itau Display Black"/>
                <a:ea typeface="Itau Display Black"/>
                <a:cs typeface="Itau Display Black"/>
              </a:rPr>
              <a:t>19 fundos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4674FD-1B83-429A-BA21-295CF72DE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52575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uma conta sênior na Tabela X.1.1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251189-74D3-488F-94EF-75361DCFF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200150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102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19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R$ 7,45 bi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AA254E-D27E-43AB-AA2F-8B8FCA98C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552575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PL publicado desses veículos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848F82-6AE4-44BE-830A-C6312873A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20015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102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19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99,0%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883B90-4200-4F3F-85A8-37B2826D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5525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do PL conhecido da carteira com dado CVM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5D72A9-CECC-4797-A0D8-51D6427E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2001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102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19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23 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F40A8E-9100-4ED3-9AEA-60A8EC4C9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5525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sem dado exato; mantidos como N/D</a:t>
            </a:r>
          </a:p>
        </p:txBody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552450" y="2009775"/>
          <a:ext xmlns:a="http://schemas.openxmlformats.org/drawingml/2006/main" cx="5410200" cy="4048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"/>
                <a:gridCol w="3200400"/>
                <a:gridCol w="781050"/>
                <a:gridCol w="571500"/>
                <a:gridCol w="59055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13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13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Fundo / classe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13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PL R$ mi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13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Comp.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13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1 conta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</a:tr>
              <a:tr h="28217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Endurance FIDC (TOP 2025 J)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2.003,2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jul/26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Sim*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8217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Pine INSS III FIDC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1.123,4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jul/26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Sim*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</a:tr>
              <a:tr h="28217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ICRED INSS III FIDC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690,1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jul/26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Sim*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8217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UPL 02 FIDC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481,0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jul/26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Sim*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</a:tr>
              <a:tr h="28217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Monee II FIDC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442,2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jun/26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Sim*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8217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SumUp Smart IV (TOP 2025 C)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357,9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jul/26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Sim*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</a:tr>
              <a:tr h="28217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Desbrava Uno FIDC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348,3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jul/26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Sim*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8217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RecargaPay I FIDC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282,1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jul/26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Sim*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</a:tr>
              <a:tr h="28217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Sol Agora Green ESG FIDC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277,7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jul/26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Sim*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8217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CloudWalk Akira I FIDC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267,0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jul/26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Sim*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"/>
          <p:cNvGraphicFramePr/>
          <p:nvPr/>
        </p:nvGraphicFramePr>
        <p:xfrm>
          <a:off xmlns:a="http://schemas.openxmlformats.org/drawingml/2006/main" x="6210300" y="2009775"/>
          <a:ext xmlns:a="http://schemas.openxmlformats.org/drawingml/2006/main" cx="5410200" cy="4048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"/>
                <a:gridCol w="3200400"/>
                <a:gridCol w="781050"/>
                <a:gridCol w="571500"/>
                <a:gridCol w="59055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13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13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Fundo / classe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13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PL R$ mi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13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Comp.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13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1 conta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</a:tr>
              <a:tr h="313531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Pernambucanas FIDC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226,7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jul/26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Sim*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3531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Sotreq FIDC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211,3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jul/26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Sim*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</a:tr>
              <a:tr h="313531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Saga FIDC (Consórcio Daltez)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166,3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jul/26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Sim*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3531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ArcelorMittal Vértice FIDC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161,1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jul/26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Sim*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</a:tr>
              <a:tr h="313531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Pneucash II (Daycoval 0410)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156,1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jul/26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Sim*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3531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Indie Merx Raiz I FIDC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106,8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jul/26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Sim*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</a:tr>
              <a:tr h="313531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Angá FGTS +AG FIDC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70,7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jul/26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Sim*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3531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Mobilitas FIDC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53,3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jul/26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Sim*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</a:tr>
              <a:tr h="313531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MT INSS Receivables III FIDC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25,1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jul/26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2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Sim*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DFCDCA-AC87-43FC-ABA2-1D2B7CFAF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110680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823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* Uma conta sênior é indício compatível com posição exclusiva da carteira interna; a CVM não publica a identidade do titular. CNPJ é a chave de reconciliação.</a:t>
            </a:r>
          </a:p>
        </p:txBody>
      </p:sp>
    </p:spTree>
    <p:extLst>
      <p:ext uri="{BB962C8B-B14F-4D97-AF65-F5344CB8AC3E}">
        <p14:creationId xmlns:p14="http://schemas.microsoft.com/office/powerpoint/2010/main" val="70376692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1AE469-7324-458F-96C1-6B66B2934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Indústria · Financeiro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B348F7-25CE-45AE-B2EB-941D02359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R$ 323,9 bi: pagamentos lideram; R$ 79,0 bi seguem sem segregação suficiente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E41883-DC04-49B0-AD06-15F7CA4B9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76250"/>
            <a:ext cx="47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1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6FE402-2EEA-461C-B739-47B04E581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261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102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B85300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1950" b="1">
                <a:solidFill>
                  <a:srgbClr val="B85300"/>
                </a:solidFill>
                <a:latin typeface="Itau Display Black"/>
                <a:ea typeface="Itau Display Black"/>
                <a:cs typeface="Itau Display Black"/>
              </a:rPr>
              <a:t>R$ 323,9 bi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0AAC3B-C489-4355-8BD9-B6908BD4A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52575"/>
            <a:ext cx="2619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PL ex-FIC · Tipo ANBIMA Financeiro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B075D8-E760-4887-B640-426D0404B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2001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102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19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R$ 106,2 bi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4E999B-9F8F-45EE-85FA-703F2A9CA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5525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meios de pagamento e cartões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BB3253-9C70-437D-A1D7-883D9C19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2001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102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19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R$ 86,3 bi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64D63E-B0A5-40B2-B1EC-796219BDC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525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consignado total, inclusive proxy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539029-E212-46D5-8B58-264943FCA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2001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102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19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1.103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174B0B-4566-4E72-911C-D6F30B1AF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5525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CNPJs no perímetro</a:t>
            </a:r>
          </a:p>
        </p:txBody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552450" y="2009775"/>
          <a:ext xmlns:a="http://schemas.openxmlformats.org/drawingml/2006/main" cx="11068050" cy="37338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667125"/>
                <a:gridCol w="1238250"/>
                <a:gridCol w="1238250"/>
                <a:gridCol w="904875"/>
                <a:gridCol w="401955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8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Segmento analítico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% Financeiro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8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Regra predominante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</a:tr>
              <a:tr h="28733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Meios de pagamento e cartões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106,2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32,8%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38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nome + taxonomia funcional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8733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Consignado INSS / publico (proxy)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34,9 bi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10,8%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49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nome + taxonomia funcional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</a:tr>
              <a:tr h="28733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Consignado 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10,7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3,3%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nome + taxonomia funcional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8733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Consignado privado / CLT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16,5 bi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29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nome + taxonomia funcional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</a:tr>
              <a:tr h="28733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Consignado sem segregação pública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24,1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nome + taxonomia funcional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8733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Demais crédito PF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49,5 bi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15,3%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144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taxonomia funcional / residual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</a:tr>
              <a:tr h="28733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Crédito 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14,6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4,5%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taxonomia funcional / residual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8733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Imobiliário PF/PJ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12,3 bi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117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taxonomia funcional / residual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</a:tr>
              <a:tr h="28733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Outros / multicarteira sem PF-PJ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54,9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16,9%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470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8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taxonomia funcional / residual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85BDE1-7D81-430C-8C56-14BD37CD1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97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TAPSO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D06A88-31BA-4D13-8686-EB630047E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886450"/>
            <a:ext cx="10210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2B2B2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2B2B2B"/>
                </a:solidFill>
                <a:latin typeface="Itau Display"/>
                <a:ea typeface="Itau Display"/>
                <a:cs typeface="Itau Display"/>
              </a:rPr>
              <a:t>R$ 41,5 bi está dentro de Financeiro. A curadoria documental de adquirência soma R$ 94,9 bi dentro do bloco; R$ 4,3 bi estão classificados em outros tipos ANBIMA.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1A122E-A200-4CC2-9698-B08D5C45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110680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823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Perímetro: PL ex-FIC de jun/26; buckets mutuamente exclusivos. Nome é sinal de triagem. Ausência de segregação permanece explícita.</a:t>
            </a:r>
          </a:p>
        </p:txBody>
      </p:sp>
    </p:spTree>
    <p:extLst>
      <p:ext uri="{BB962C8B-B14F-4D97-AF65-F5344CB8AC3E}">
        <p14:creationId xmlns:p14="http://schemas.microsoft.com/office/powerpoint/2010/main" val="88741724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E20411-6667-46A2-82B8-1E0660702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Supervisão · Operação Carbono Oculto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47EF18-3710-4AA2-BE82-BA8C8834B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76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A operação expôs fundos de poucos cotistas e uma supervisão fragmentada por veículo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DF2950-3C13-40D8-8B04-E2F7D1C4E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76250"/>
            <a:ext cx="47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1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12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552450" y="1362075"/>
          <a:ext xmlns:a="http://schemas.openxmlformats.org/drawingml/2006/main" cx="11068050" cy="4476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876300"/>
                <a:gridCol w="2857500"/>
                <a:gridCol w="3676650"/>
                <a:gridCol w="365760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Data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8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Fato público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8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Uso de fundos / resposta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8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O que permaneceu fora do radar público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</a:tr>
              <a:tr h="6286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jun/25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informa ter encaminhado um caso ao MPF antes da operação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Um caso de PLD/FTP identificado em supervisão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 divulgação pública não identifica o veículo nem permite medir a cobertura total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28 ago/25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Operação Carbono Oculto é deflagrada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Investigação descreve fintechs e fundos em camadas para ocultar recursos; FIP Camaçari aparece ligado a entidades REAG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Atribuições permanecem como alegações/investigações até decisão definitiva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</a:tr>
              <a:tr h="6286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22 set/25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SSR/CVM pede dados de 13 fundos nominalmente listados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2 FIPs/FIMs e 10 FIIs; abertura de apurações em SSR, SSE e SIN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 atuação direcionada registrada publicamente ocorre após a operação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fev/26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apresenta escala da REAG até nov/25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R$ 373,95 bi, 499 fundos e 5.049 investidores administrados/geridos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Escala por prestador dificultava leitura consolidada de vínculos e alertas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</a:tr>
              <a:tr h="6286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2026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GT Master revisa 314 processos; 87 fundos ligados à Carbono Oculto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33% de abstenção de auditoria versus 4% na indústria; 65 ofícios de alerta e 14 termos de acusação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 própria CVM recomenda painel por regulado, vínculos e gatilhos de auditoria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9A119E-F6BB-418B-8E75-F928F7A11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626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262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93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Leitura executiva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20475C-04B7-4676-A571-A0E2726A3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943600"/>
            <a:ext cx="9620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2B2B2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2B2B2B"/>
                </a:solidFill>
                <a:latin typeface="Itau Display"/>
                <a:ea typeface="Itau Display"/>
                <a:cs typeface="Itau Display"/>
              </a:rPr>
              <a:t>O registro público mostra ação anterior em um caso e apuração direcionada após a operação. O ponto crítico foi consolidar relações entre fundos, cotistas, prestadores e partes ligadas.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57AF8F-81B8-40D4-A010-813948741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110680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823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Data de corte: 20 ago. 2026 | fatos de investigação descritos como alegações ou apurações, sem antecipação de condenação.</a:t>
            </a:r>
          </a:p>
        </p:txBody>
      </p:sp>
    </p:spTree>
    <p:extLst>
      <p:ext uri="{BB962C8B-B14F-4D97-AF65-F5344CB8AC3E}">
        <p14:creationId xmlns:p14="http://schemas.microsoft.com/office/powerpoint/2010/main" val="43168768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E87178-37CA-433D-8A43-F2937239B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Supervisão · Banco Master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E19285-492F-4D28-9E71-4C8CA1D55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025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025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Credcesta era carteira de crédito; fundos aparecem na circulação e na avaliação dos ativos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6089B5-8851-46A3-B3B6-4436BA420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76250"/>
            <a:ext cx="47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1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B9AC0F-533E-497E-8CC2-545E3B181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B85300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1800" b="1">
                <a:solidFill>
                  <a:srgbClr val="B85300"/>
                </a:solidFill>
                <a:latin typeface="Itau Display Black"/>
                <a:ea typeface="Itau Display Black"/>
                <a:cs typeface="Itau Display Black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24CFE8-7F64-41E0-97D9-DDD0F08E3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257300"/>
            <a:ext cx="2143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975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Originação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720360-5B26-41E4-909A-99D212AAA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476375"/>
            <a:ext cx="2143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78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Credcesta, PIX, cartão e outros créditos de varejo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4F1FF3-CDEB-40C7-BAF7-81F202978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35255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262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858585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500" b="1">
                <a:solidFill>
                  <a:srgbClr val="858585"/>
                </a:solidFill>
                <a:latin typeface="Itau Display X-Bold"/>
                <a:ea typeface="Itau Display X-Bold"/>
                <a:cs typeface="Itau Display X-Bold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43DC27-1E02-4044-A0B8-D3C17847F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2573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B85300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1800" b="1">
                <a:solidFill>
                  <a:srgbClr val="B85300"/>
                </a:solidFill>
                <a:latin typeface="Itau Display Black"/>
                <a:ea typeface="Itau Display Black"/>
                <a:cs typeface="Itau Display Black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F13A05-AC8B-49D8-BC1C-F397BE9DC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257300"/>
            <a:ext cx="2143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975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Venda ao BRB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6F40C6-018E-4307-B3AE-2BA4E2CA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476375"/>
            <a:ext cx="2143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78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Compras de carteiras desde 1 jul. 2024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3AAC6E-C30B-45FF-BCCF-7F0866FA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135255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262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858585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500" b="1">
                <a:solidFill>
                  <a:srgbClr val="858585"/>
                </a:solidFill>
                <a:latin typeface="Itau Display X-Bold"/>
                <a:ea typeface="Itau Display X-Bold"/>
                <a:cs typeface="Itau Display X-Bold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22D01E-E80C-4326-8C16-C35E52CD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2573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B85300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1800" b="1">
                <a:solidFill>
                  <a:srgbClr val="B85300"/>
                </a:solidFill>
                <a:latin typeface="Itau Display Black"/>
                <a:ea typeface="Itau Display Black"/>
                <a:cs typeface="Itau Display Black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FD2CE8-840F-47D1-B2D8-B7074AEEA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257300"/>
            <a:ext cx="2143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975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Substituições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1C6C47-4170-4738-A713-638EBE139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476375"/>
            <a:ext cx="2143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78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R$ 10,8 bi substituídos dentro de R$ 30,4 bi adquiridos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C865E0-89FB-434C-8D61-5B81F1E42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35255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262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858585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500" b="1">
                <a:solidFill>
                  <a:srgbClr val="858585"/>
                </a:solidFill>
                <a:latin typeface="Itau Display X-Bold"/>
                <a:ea typeface="Itau Display X-Bold"/>
                <a:cs typeface="Itau Display X-Bold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8EE85F-5214-4A72-BADB-59C1CF5D3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2573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B85300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1800" b="1">
                <a:solidFill>
                  <a:srgbClr val="B85300"/>
                </a:solidFill>
                <a:latin typeface="Itau Display Black"/>
                <a:ea typeface="Itau Display Black"/>
                <a:cs typeface="Itau Display Black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1C1723-E95A-4AD1-8B0B-5BED55C0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257300"/>
            <a:ext cx="2143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975" b="1">
                <a:solidFill>
                  <a:srgbClr val="161616"/>
                </a:solidFill>
                <a:latin typeface="Itau Display X-Bold"/>
                <a:ea typeface="Itau Display X-Bold"/>
                <a:cs typeface="Itau Display X-Bold"/>
              </a:rPr>
              <a:t>Fundos e ativos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4C9D20-CB00-4CFB-B820-848B507E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76375"/>
            <a:ext cx="2143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defRPr>
            </a:pPr>
            <a:r>
              <a:rPr sz="788" b="0">
                <a:solidFill>
                  <a:srgbClr val="5B5B5B"/>
                </a:solidFill>
                <a:latin typeface="Itau Display"/>
                <a:ea typeface="Itau Display"/>
                <a:cs typeface="Itau Display"/>
              </a:rPr>
              <a:t>CVM apura ofertas, documentos, reavaliações e partes relacionadas</a:t>
            </a:r>
          </a:p>
        </p:txBody>
      </p:sp>
      <p:graphicFrame>
        <p:nvGraphicFramePr>
          <p:cNvPr id="41" name=""/>
          <p:cNvGraphicFramePr/>
          <p:nvPr/>
        </p:nvGraphicFramePr>
        <p:xfrm>
          <a:off xmlns:a="http://schemas.openxmlformats.org/drawingml/2006/main" x="552450" y="2143125"/>
          <a:ext xmlns:a="http://schemas.openxmlformats.org/drawingml/2006/main" cx="11068050" cy="357187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333500"/>
                <a:gridCol w="2857500"/>
                <a:gridCol w="3581400"/>
                <a:gridCol w="329565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88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Data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8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Fato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8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Evidência pública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8" b="1">
                          <a:solidFill>
                            <a:srgbClr val="FFFFFF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Limite de conclusão</a:t>
                      </a:r>
                    </a:p>
                  </a:txBody>
                  <a:tcPr marL="47625" marR="47625" marT="19050" marB="19050" anchor="ctr">
                    <a:solidFill>
                      <a:srgbClr val="161616"/>
                    </a:solidFill>
                  </a:tcPr>
                </a:tc>
              </a:tr>
              <a:tr h="61614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1 jul/24–mar/25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BRB compra carteiras originadas pelo Master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Planilhas obtidas por LAI e reportagem apontam R$ 30,4 bi em compras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Fonte jornalística; validar documentos transacionais e processos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61614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mar/25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BRB identifica parcela descrita como fraudulenta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Compras e substituições continuaram, segundo a apuração publicada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 validade de cada crédito não é observável no Informe Mensal público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</a:tr>
              <a:tr h="61614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2025–26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abre e consolida processos ligados a Master, REAG e entidades conexas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Investigações sobre notas, CRIs, FIDCs, ofertas, avaliação e documentos de suporte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Processos possuem estágios distintos; investigação não equivale a condenação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61614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2026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GT Master identifica padrões de risco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Ativos reavaliados sem base razoável, documentos falsos/inadequados e possível manipulação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80">
                          <a:solidFill>
                            <a:srgbClr val="2B2B2B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O desenho de supervisão anterior não consolidava adequadamente regulados e vínculos</a:t>
                      </a:r>
                    </a:p>
                  </a:txBody>
                  <a:tcPr marL="47625" marR="47625" marT="14288" marB="14288" anchor="ctr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E262F5-DC57-41B6-80E8-A0D4C86BD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7692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262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938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Credcesta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91831F-34C1-461A-8A10-CC7D71EC5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848350"/>
            <a:ext cx="1009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2B2B2B"/>
                </a:solidFill>
                <a:latin typeface="Itau Display"/>
                <a:ea typeface="Itau Display"/>
                <a:cs typeface="Itau Display"/>
              </a:defRPr>
            </a:pPr>
            <a:r>
              <a:rPr sz="863" b="0">
                <a:solidFill>
                  <a:srgbClr val="2B2B2B"/>
                </a:solidFill>
                <a:latin typeface="Itau Display"/>
                <a:ea typeface="Itau Display"/>
                <a:cs typeface="Itau Display"/>
              </a:rPr>
              <a:t>Nome de produto de crédito consignado/cartão. O dado público de FIDC não identifica devedor individual nem comprova existência, validade ou adimplência de cada contrato.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B68AD8-C54B-49C3-9AD1-3C133EB2C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110680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anchor="ctr">
            <a:normAutofit fontScale="823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Data de corte: 20 ago. 2026 | valores e cronologia preservam a fonte; conclusões sancionadoras dependem dos processos.</a:t>
            </a:r>
          </a:p>
        </p:txBody>
      </p:sp>
    </p:spTree>
    <p:extLst>
      <p:ext uri="{BB962C8B-B14F-4D97-AF65-F5344CB8AC3E}">
        <p14:creationId xmlns:p14="http://schemas.microsoft.com/office/powerpoint/2010/main" val="142574872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2419DE-E754-4B5B-94DB-CF19C3D6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Evolução regulatória e informacional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94C0B1-0C84-49CD-83A0-6BC68319B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De mai/24 a ago/26, a identidade melhorou; lastro, devedor e retorno seguem parciais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A88723-2079-48EA-9267-A8DB8EA7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14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552450" y="1390650"/>
          <a:ext xmlns:a="http://schemas.openxmlformats.org/drawingml/2006/main" cx="11068050" cy="45148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42950"/>
                <a:gridCol w="1428750"/>
                <a:gridCol w="1857375"/>
                <a:gridCol w="2714625"/>
                <a:gridCol w="2714625"/>
                <a:gridCol w="1609725"/>
              </a:tblGrid>
              <a:tr h="361950">
                <a:tc>
                  <a:txBody>
                    <a:bodyPr/>
                    <a:lstStyle/>
                    <a:p>
                      <a:r>
                        <a:rPr sz="78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Data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8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Mudança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8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Preocupação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8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Implementação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8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Efeito observado até ago/26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8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Fonte</a:t>
                      </a:r>
                    </a:p>
                  </a:txBody>
                  <a:tcPr marL="91440" marR="91440" marT="45720" marB="45720"/>
                </a:tc>
              </a:tr>
              <a:tr h="5905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69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Mai/24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Novo Informe Mensal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Erros de série, subclasse e continuidade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Seleção prévia de campos e reporte de séries extintas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Melhora de identidade; aging, PDD e retorno continuam autorreportados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· 8 mai/24</a:t>
                      </a:r>
                    </a:p>
                  </a:txBody>
                  <a:tcPr marL="91440" marR="91440" marT="45720" marB="45720"/>
                </a:tc>
              </a:tr>
              <a:tr h="5905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69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Jan/25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Dados Abertos por classe/subclasse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Cadastro e série histórica fragmentados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Arquivos cadastrais e bases adaptadas à RCVM 175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Chaves mais utilizáveis; ponte histórica ainda necessária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· 30 jan/25</a:t>
                      </a:r>
                    </a:p>
                  </a:txBody>
                  <a:tcPr marL="91440" marR="91440" marT="45720" marB="45720"/>
                </a:tc>
              </a:tr>
              <a:tr h="5905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69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Abr/25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Orientação CVM–ANBIMA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Desenquadramento e reporte pouco uniformes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Administrador comunica evento e padroniza tratamento no Informe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Governança melhora; resultado por fundo não é publicado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/ ANBIMA</a:t>
                      </a:r>
                    </a:p>
                  </a:txBody>
                  <a:tcPr marL="91440" marR="91440" marT="45720" marB="45720"/>
                </a:tc>
              </a:tr>
              <a:tr h="5905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69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2025–26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IDs e validações de arquivo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Chaves inválidas, precisão e reprocessamento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Identificadores e validações adicionais no leiaute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Menos erro formal; conteúdo econômico ainda depende do prestador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· portal</a:t>
                      </a:r>
                    </a:p>
                  </a:txBody>
                  <a:tcPr marL="91440" marR="91440" marT="45720" marB="45720"/>
                </a:tc>
              </a:tr>
              <a:tr h="5905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69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Abr/26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ACT CVM–BCB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Visão incompleta do endividamento e do risco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Intercâmbio e qualificação do reporte ao SCR, inclusive securitizadoras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Ganho supervisório; dados protegidos não chegam à base pública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/ BCB</a:t>
                      </a:r>
                    </a:p>
                  </a:txBody>
                  <a:tcPr marL="91440" marR="91440" marT="45720" marB="45720"/>
                </a:tc>
              </a:tr>
              <a:tr h="5905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69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Mai–jul/26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Plano emergencial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Supervisão isolada e validação limitada de lastro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22 medidas, painel de vínculos, seleção por risco e amostra de lastro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Desenho substantivo; execução e impacto ainda não demonstrados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/ STF</a:t>
                      </a:r>
                    </a:p>
                  </a:txBody>
                  <a:tcPr marL="91440" marR="91440" marT="45720" marB="45720"/>
                </a:tc>
              </a:tr>
              <a:tr h="5905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69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Ago/26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Tabela VIII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Distribuição de valores pouco estruturada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Arquivo público com sequencial e valor desde 2025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Nova granularidade de valor; sem identificador público do devedor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· Dados Abertos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021E77-C2D6-4F7C-87B3-F22507DBE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Data de corte: </a:t>
            </a: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20 ago. 2026</a:t>
            </a: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 | valores reportados preservam a competência e a fonte indicada</a:t>
            </a:r>
          </a:p>
        </p:txBody>
      </p:sp>
    </p:spTree>
    <p:extLst>
      <p:ext uri="{BB962C8B-B14F-4D97-AF65-F5344CB8AC3E}">
        <p14:creationId xmlns:p14="http://schemas.microsoft.com/office/powerpoint/2010/main" val="72878492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9193B7-FB12-4D1C-A6EE-A75F3AFAE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Posições públicas e efetividade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AF10C5-23E5-46FF-B493-868AC17A4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CVM e ANBIMA reconhecem ganhos de padronização e limites operacionais dos reportes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475BDD-B594-45EA-89CE-DDBDC7B5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15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552450" y="1428750"/>
          <a:ext xmlns:a="http://schemas.openxmlformats.org/drawingml/2006/main" cx="11068050" cy="4038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2095500"/>
                <a:gridCol w="2095500"/>
                <a:gridCol w="2333625"/>
                <a:gridCol w="1428750"/>
                <a:gridCol w="1685925"/>
              </a:tblGrid>
              <a:tr h="361950">
                <a:tc>
                  <a:txBody>
                    <a:bodyPr/>
                    <a:lstStyle/>
                    <a:p>
                      <a:r>
                        <a:rPr sz="8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Tema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Posição pública da CVM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Posição pública da ANBIMA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O que foi implementado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Leitura de efetividade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Fonte</a:t>
                      </a:r>
                    </a:p>
                  </a:txBody>
                  <a:tcPr marL="91440" marR="91440" marT="45720" marB="45720"/>
                </a:tc>
              </a:tr>
              <a:tr h="6096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Identidade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Padronizar fundo, classe, subclasse e série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Apoio à adaptação e orientação conjunta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Novo Informe, cadastros e IDs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Efetivo para chaves recentes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/ ANBIMA</a:t>
                      </a:r>
                    </a:p>
                  </a:txBody>
                  <a:tcPr marL="91440" marR="91440" marT="45720" marB="45720"/>
                </a:tc>
              </a:tr>
              <a:tr h="6096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Conteúdo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Ampliar dados abertos e informação de crédito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Apoia transparência; pede formatos redesenhados e reporte separado quando há reprocessamento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Novos arquivos e Tabela VIII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Parcial: devedor e garantias seguem incompletos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· consulta / ANBIMA</a:t>
                      </a:r>
                    </a:p>
                  </a:txBody>
                  <a:tcPr marL="91440" marR="91440" marT="45720" marB="45720"/>
                </a:tc>
              </a:tr>
              <a:tr h="6096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Operação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Validação e cumprimento de prazos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Relata falhas recorrentes no CVMWeb no 10º dia útil e pede 20º dia para balancete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Ajustes de leiaute e orientação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Ponto operacional ainda aberto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ANBIMA · consulta</a:t>
                      </a:r>
                    </a:p>
                  </a:txBody>
                  <a:tcPr marL="91440" marR="91440" marT="45720" marB="45720"/>
                </a:tc>
              </a:tr>
              <a:tr h="6096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PDD e lastro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Amostra de lastro, SCR e supervisão por risco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Termos exigem revisão de PDD, preço, lastro, controles e auditoria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Plano emergencial e compromissos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Em implantação; resultado por fundo sem painel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/ ANBIMA</a:t>
                      </a:r>
                    </a:p>
                  </a:txBody>
                  <a:tcPr marL="91440" marR="91440" marT="45720" marB="45720"/>
                </a:tc>
              </a:tr>
              <a:tr h="6096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Retorno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Maior precisão e identificação de subclasse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Defende informação acurada e acessível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Leiaute mais preciso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Parcial: amortização e denominador exigem reconstrução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/ ANBIMA</a:t>
                      </a:r>
                    </a:p>
                  </a:txBody>
                  <a:tcPr marL="91440" marR="91440" marT="45720" marB="45720"/>
                </a:tc>
              </a:tr>
              <a:tr h="6096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Integração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Acordos com ANBIMA e BCB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Compartilhamento evita duplicidade de supervisão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Canais formais e SCR ampliado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Efetivo como infraestrutura; impacto não mensurado publicamente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Acordos oficiais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8F80C5-5396-42B4-9EA7-96DFE77E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95950"/>
            <a:ext cx="11068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88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88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rPr>
              <a:t>Conclusão de uso: a base pública sustenta triagem, tendência e seleção de casos. A conclusão de crédito pede regulamento, ata, DF, evento externo e reconciliação de fluxos.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114856-8ABD-446B-AD5C-BB20B6E09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Data de corte: </a:t>
            </a: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20 ago. 2026</a:t>
            </a: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 | valores reportados preservam a competência e a fonte indicada</a:t>
            </a:r>
          </a:p>
        </p:txBody>
      </p:sp>
    </p:spTree>
    <p:extLst>
      <p:ext uri="{BB962C8B-B14F-4D97-AF65-F5344CB8AC3E}">
        <p14:creationId xmlns:p14="http://schemas.microsoft.com/office/powerpoint/2010/main" val="13434974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08DF3A-D2A6-46C4-B2FB-61D591C5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Plano emergencial da CVM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35FC97-33A3-44DE-8F97-B977CD4E3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O plano emergencial define fiscalização por risco, cruzamento de bases e teste de lastro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8B5B6C-A1C0-4C92-A4A8-9064705B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16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52450" y="1409700"/>
          <a:ext xmlns:a="http://schemas.openxmlformats.org/drawingml/2006/main" cx="11068050" cy="990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4191000"/>
                <a:gridCol w="2286000"/>
                <a:gridCol w="2209800"/>
              </a:tblGrid>
              <a:tr h="323850">
                <a:tc>
                  <a:txBody>
                    <a:bodyPr/>
                    <a:lstStyle/>
                    <a:p>
                      <a:r>
                        <a:rPr sz="9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Origem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Escopo e metas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Prazo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Fonte</a:t>
                      </a:r>
                    </a:p>
                  </a:txBody>
                  <a:tcPr marL="91440" marR="91440" marT="45720" marB="45720"/>
                </a:tc>
              </a:tr>
              <a:tr h="6667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90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Aprovado em 26 mai/26 após cautelar do STF na ADI 7.791; homologado em 3 jul/26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22 medidas, quatro eixos, cerca de R$ 560 mi adicionais e meta de reduzir 20% do estoque processual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31 dez. 2026 para metas imediatas; contratações tecnológicas podem superar 12 meses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Plano CVM e STF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4F8098-7219-4C9C-BBFB-F21745F0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479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EC7000"/>
                </a:solidFill>
                <a:latin typeface="Itau Display X-Bold"/>
                <a:ea typeface="Itau Display X-Bold"/>
                <a:cs typeface="Itau Display X-Bold"/>
              </a:rPr>
              <a:t>Implementações para FIDCs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552450" y="2876550"/>
          <a:ext xmlns:a="http://schemas.openxmlformats.org/drawingml/2006/main" cx="11068050" cy="2724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19250"/>
                <a:gridCol w="3714750"/>
                <a:gridCol w="2952750"/>
                <a:gridCol w="2781300"/>
              </a:tblGrid>
              <a:tr h="3429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Medida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Implementação prevista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Preocupação tratada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Verificação pública em 20 ago/26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Painel de risco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Mapas de relacionamento, alertas de cascata, valores inconsistentes e score algorítmico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Detecção tardia e análise isolada por fundo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Painel e relatório de resultados ainda não localizados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Seleção dirigida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Filtros por poucos cotistas, IFs/fintechs, concentração, precatórios, renegociação, opinião de auditor e PDD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Priorização de estruturas com maior probabilidade de falha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Critérios constam do plano; lista de fundos e métricas não publicada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Teste de lastro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Amostra estratificada e confronto com SCR, registradoras, custodiante, Receita e COAF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Lastro autodeclarado e baixa verificabilidade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Metodologia anunciada; taxa de execução não publicada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Look-through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Relações entre cotista, fundo, cedente, originador, devedor e prestadores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Conflitos, partes relacionadas e transmissão de risco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Desenho divulgado; resultado permanece supervisório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Métricas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Bases integradas, alertas tratados, fundos classificados por risco e verificações de lastro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Ausência de medida de cobertura e resultado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Metas previstas; painel público ainda pendente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6A49EF-9CD2-4596-A433-9A7A738B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0250"/>
            <a:ext cx="11068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975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rPr>
              <a:t>Status: o desenho é público; a execução depende dos painéis e relatórios previstos pela própria CVM.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D70D25-25C1-4135-BBAA-6BF0FCC13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Plano emergencial: compromissos e metas; verificação de execução depende dos painéis/relatórios previstos pela própria CVM</a:t>
            </a:r>
          </a:p>
        </p:txBody>
      </p:sp>
    </p:spTree>
    <p:extLst>
      <p:ext uri="{BB962C8B-B14F-4D97-AF65-F5344CB8AC3E}">
        <p14:creationId xmlns:p14="http://schemas.microsoft.com/office/powerpoint/2010/main" val="42833342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81E094-176D-4671-BE41-F10ABD476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Instrumentos jurídicos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5A8129-AFB5-494D-9558-A3D272E9E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Termo da CVM, TAC e termo ANBIMA têm bases, efeitos e formas de controle distintas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A8DCE2-660D-48AB-95AD-3EAB0835E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17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552450" y="1428750"/>
          <a:ext xmlns:a="http://schemas.openxmlformats.org/drawingml/2006/main" cx="11068050" cy="3790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14500"/>
                <a:gridCol w="1952625"/>
                <a:gridCol w="2238375"/>
                <a:gridCol w="2571750"/>
                <a:gridCol w="1809750"/>
                <a:gridCol w="781050"/>
              </a:tblGrid>
              <a:tr h="400050">
                <a:tc>
                  <a:txBody>
                    <a:bodyPr/>
                    <a:lstStyle/>
                    <a:p>
                      <a:r>
                        <a:rPr sz="8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Instrumento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Base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O que faz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Prazo e checagem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Pagamento / multa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3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Se houver descumprimento</a:t>
                      </a:r>
                    </a:p>
                  </a:txBody>
                  <a:tcPr marL="91440" marR="91440" marT="45720" marB="45720"/>
                </a:tc>
              </a:tr>
              <a:tr h="11239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Termo de Compromisso CVM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Lei 6.385/76, art. 11, §§5º–8º; RCVM 45/21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Suspende ou evita o PAS; sem confissão; exige cessar, corrigir e eventualmente indenizar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Prazo no termo; superintendência competente monitora; arquivamento após comprovação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Obrigação pecuniária não é multa sancionadora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PAS inicia ou retoma; título executivo pode ser cobrado</a:t>
                      </a:r>
                    </a:p>
                  </a:txBody>
                  <a:tcPr marL="91440" marR="91440" marT="45720" marB="45720"/>
                </a:tc>
              </a:tr>
              <a:tr h="11239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TAC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Lei 7.347/85, art. 5º, §6º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Ajusta conduta às exigências legais; título executivo extrajudicial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Prazo, prova e fiscalização são definidos no instrumento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Pode prever reparação e multa cominatória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Órgão legitimado pode executar judicialmente</a:t>
                      </a:r>
                    </a:p>
                  </a:txBody>
                  <a:tcPr marL="91440" marR="91440" marT="45720" marB="45720"/>
                </a:tc>
              </a:tr>
              <a:tr h="11239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Termo ANBIMA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Códigos privados de autorregulação e adesão da instituição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Suspende o procedimento; arquivamento após obrigações e evidências; sem confissão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Cronograma pode incluir manuais, atas, treinamento e auditoria; ANBIMA verifica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Contribuição educacional não é multa pública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Procedimento prossegue e aplicam-se regras dos códigos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AA6BDD-5E5A-41A5-8694-CF8C3DFDB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626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Transparência posterior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4B6E94-E57C-41A9-8C23-35205E1AF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505450"/>
            <a:ext cx="931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23" b="0">
                <a:solidFill>
                  <a:srgbClr val="2B2B2B"/>
                </a:solidFill>
                <a:latin typeface="Itau Display"/>
                <a:ea typeface="Itau Display"/>
                <a:cs typeface="Itau Display"/>
              </a:defRPr>
            </a:pPr>
            <a:r>
              <a:rPr sz="923" b="0">
                <a:solidFill>
                  <a:srgbClr val="2B2B2B"/>
                </a:solidFill>
                <a:latin typeface="Itau Display"/>
                <a:ea typeface="Itau Display"/>
                <a:cs typeface="Itau Display"/>
              </a:rPr>
              <a:t>A CVM pode registrar cumprimento e arquivamento. A ANBIMA recebe as evidências previstas no termo. A eficácia operacional por fundo ainda não dispõe de painel público padronizado.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C3B871-CF74-4203-9D15-0E440DD4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Data de corte: </a:t>
            </a: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20 ago. 2026</a:t>
            </a: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 | valores reportados preservam a competência e a fonte indicada</a:t>
            </a:r>
          </a:p>
        </p:txBody>
      </p:sp>
    </p:spTree>
    <p:extLst>
      <p:ext uri="{BB962C8B-B14F-4D97-AF65-F5344CB8AC3E}">
        <p14:creationId xmlns:p14="http://schemas.microsoft.com/office/powerpoint/2010/main" val="199408814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9B06A9-4622-4F9E-8BF4-5C74BC8D5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Prestadores e compromissos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10910D-5D20-4136-9D5E-2E6A3C2E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Os termos autorregulatórios documentam falhas de PDD, preço, lastro 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350870-058B-4403-AE14-35F1385D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18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552450" y="1390650"/>
          <a:ext xmlns:a="http://schemas.openxmlformats.org/drawingml/2006/main" cx="11068050" cy="40576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00200"/>
                <a:gridCol w="2619375"/>
                <a:gridCol w="3000375"/>
                <a:gridCol w="2143125"/>
                <a:gridCol w="1704975"/>
              </a:tblGrid>
              <a:tr h="36195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Instituição / data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Preocupação registrada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Compromissos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Prazo / verificação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Pagamento / fonte</a:t>
                      </a:r>
                    </a:p>
                  </a:txBody>
                  <a:tcPr marL="91440" marR="91440" marT="45720" marB="45720"/>
                </a:tc>
              </a:tr>
              <a:tr h="73342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BRL Trust · 15 jul/24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Metodologia de PDD e possível transferência de riqueza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Revisão de método e controles, treinamento, correção e auditoria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Obrigações precisam ser cumpridas e comprovadas para arquivamento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Termo ANBIMA</a:t>
                      </a:r>
                    </a:p>
                  </a:txBody>
                  <a:tcPr marL="91440" marR="91440" marT="45720" marB="45720"/>
                </a:tc>
              </a:tr>
              <a:tr h="73342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Singulare · 17 jul/25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Falhas na verificação de lastro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Revisão de procedimentos e manuais, treinamento e auditoria independente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ANBIMA recebe evidências previstas no termo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R$ 300 mil · contribuição educacional</a:t>
                      </a:r>
                    </a:p>
                  </a:txBody>
                  <a:tcPr marL="91440" marR="91440" marT="45720" marB="45720"/>
                </a:tc>
              </a:tr>
              <a:tr h="73342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Vórtx · 13 nov/25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PDD sem evidência mensal e divergências de preço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Manuais, três meses de atas, auditoria, reprecificação e correção de sistema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Parte das obrigações em até 240 dias; comprovação à ANBIMA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R$ 1,109 mi · contribuição educacional</a:t>
                      </a:r>
                    </a:p>
                  </a:txBody>
                  <a:tcPr marL="91440" marR="91440" marT="45720" marB="45720"/>
                </a:tc>
              </a:tr>
              <a:tr h="73342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Acordo CVM–ANBIMA · 1S25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Sobreposição e dispersão de supervisão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Compartilhamento de informações e aproveitamento do monitoramento autorregulatório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pode usar evidências da ANBIMA; competências públicas permanecem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Cinco termos divulgados pela ANBIMA</a:t>
                      </a:r>
                    </a:p>
                  </a:txBody>
                  <a:tcPr marL="91440" marR="91440" marT="45720" marB="45720"/>
                </a:tc>
              </a:tr>
              <a:tr h="733425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Nomes adicionais pesquisados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Oliveira Trust, BEM, REAG, Intrag e denominações aproximadas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Resultados preservados por CNPJ, instrumento e tema; ausência de termo específico não vira conclusão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Revalidar nome societário, data, obrigação e status de cumprimento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/ ANBIMA · corte 20 ago/26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9EC05A-43AB-43E0-A624-84C62248A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95950"/>
            <a:ext cx="11068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rPr>
              <a:t>Leitura: achados e compromissos assumidos em instrumentos consensuais, sem confissão.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14FF20-2F3A-4E79-82FE-5439F0597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Data de corte: </a:t>
            </a: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20 ago. 2026</a:t>
            </a: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 | valores reportados preservam a competência e a fonte indicada</a:t>
            </a:r>
          </a:p>
        </p:txBody>
      </p:sp>
    </p:spTree>
    <p:extLst>
      <p:ext uri="{BB962C8B-B14F-4D97-AF65-F5344CB8AC3E}">
        <p14:creationId xmlns:p14="http://schemas.microsoft.com/office/powerpoint/2010/main" val="117699336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CE6745-2987-45C2-B9F4-94995BA0C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Sanções e fiscalização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FED08C-9435-4DB2-9A68-C9F3902AB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A CVM aplicou multas em falhas de FIDC; termos recentes têm natureza consensual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D82242-5644-4D86-8E75-C70A4F971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19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552450" y="1428750"/>
          <a:ext xmlns:a="http://schemas.openxmlformats.org/drawingml/2006/main" cx="1106805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09750"/>
                <a:gridCol w="2286000"/>
                <a:gridCol w="1190625"/>
                <a:gridCol w="3667125"/>
                <a:gridCol w="2114550"/>
              </a:tblGrid>
              <a:tr h="381000"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Categoria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Caso / instituição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Valor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Conduta e resultado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Coleta / fonte</a:t>
                      </a:r>
                    </a:p>
                  </a:txBody>
                  <a:tcPr marL="91440" marR="91440" marT="45720" marB="45720"/>
                </a:tc>
              </a:tr>
              <a:tr h="8763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Sanção CVM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PAS RJ2013/5456 · Oliveira Trust · FIDC Union e FIDC Agro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R$ 3,0 mi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Três multas de R$1,0 mi por documentação, PDD/classificação de risco e descumprimento de regulamento; diretor proibido por 2 anos e 6 meses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Decisão e notícia CVM · julgamento 2015</a:t>
                      </a:r>
                    </a:p>
                  </a:txBody>
                  <a:tcPr marL="91440" marR="91440" marT="45720" marB="45720"/>
                </a:tc>
              </a:tr>
              <a:tr h="8763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Sanção CVM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PAS RJ2013/5456 · Bradesco como custodiante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R$ 1,5 mi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Três multas de R$500 mil por liquidação, guarda de lastro e documentação; houve absolvições em imputações específicas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Decisão e notícia CVM · julgamento 2015</a:t>
                      </a:r>
                    </a:p>
                  </a:txBody>
                  <a:tcPr marL="91440" marR="91440" marT="45720" marB="45720"/>
                </a:tc>
              </a:tr>
              <a:tr h="8763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Termo de Compromisso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BEM DTVM e diretor · 2025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R$ 1,0 mi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BEM R$750 mil e diretor R$250 mil em compromisso sobre controles de liquidez e diligência de fundo multimercado; tema fora do núcleo FIDC/PDD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Notícia e termo CVM · 2025</a:t>
                      </a:r>
                    </a:p>
                  </a:txBody>
                  <a:tcPr marL="91440" marR="91440" marT="45720" marB="45720"/>
                </a:tc>
              </a:tr>
              <a:tr h="8763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1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Pesquisa sem sanção confirmada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REAG e demais nomes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N/D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Processos e notícias em curso foram preservados como pesquisa. Até 20 ago/26, não foi localizada decisão CVM que transforme os achados dos termos ANBIMA de 2024/25 em condenação sancionadora equivalente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1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CVM, ANBIMA e notícias · corte 20 ago/26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42CB98-061A-46A6-90DC-16B273A85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38800"/>
            <a:ext cx="11068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rPr>
              <a:t>Critério de publicação: usar “multa” somente com processo, acusado, conduta, decisão e valor confirmados.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7925E3-252C-4EAA-A88F-2F8A8E75F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Data de corte: </a:t>
            </a: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20 ago. 2026</a:t>
            </a: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 | valores reportados preservam a competência e a fonte indicada</a:t>
            </a:r>
          </a:p>
        </p:txBody>
      </p:sp>
    </p:spTree>
    <p:extLst>
      <p:ext uri="{BB962C8B-B14F-4D97-AF65-F5344CB8AC3E}">
        <p14:creationId xmlns:p14="http://schemas.microsoft.com/office/powerpoint/2010/main" val="30515437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B9B942-7032-42E3-AE24-6D37562BE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Cooperação CVM–Banco Central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5B88F4-5BE6-4FD1-8FAD-884A2D4F0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O acordo CVM–BCB amplia o reporte ao SCR e o uso supervisório dos dados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A7ECB0-1C9B-4620-B031-03CF9818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20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552450" y="1428750"/>
          <a:ext xmlns:a="http://schemas.openxmlformats.org/drawingml/2006/main" cx="11068050" cy="4038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95375"/>
                <a:gridCol w="2190750"/>
                <a:gridCol w="3714750"/>
                <a:gridCol w="2571750"/>
                <a:gridCol w="1495425"/>
              </a:tblGrid>
              <a:tr h="381000"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Data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Ato / desdobramento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Conteúdo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Efeito e limite observado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Fonte</a:t>
                      </a:r>
                    </a:p>
                  </a:txBody>
                  <a:tcPr marL="91440" marR="91440" marT="45720" marB="45720"/>
                </a:tc>
              </a:tr>
              <a:tr h="9144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9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25 abr/14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Convênio anterior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Estrutura inicial de intercâmbio de informações entre BCB e CVM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Base jurídica e operacional prévia ao novo acordo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/ BCB</a:t>
                      </a:r>
                    </a:p>
                  </a:txBody>
                  <a:tcPr marL="91440" marR="91440" marT="45720" marB="45720"/>
                </a:tc>
              </a:tr>
              <a:tr h="9144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9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set/25–13 abr/26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Negociação e assinatura do ACT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Uniformiza, qualifica e amplia o compartilhamento; inclui securitizadoras e informações de operações de crédito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Melhora visão de devedor, endividamento e risco para os supervisores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Notícia e ACT</a:t>
                      </a:r>
                    </a:p>
                  </a:txBody>
                  <a:tcPr marL="91440" marR="91440" marT="45720" marB="45720"/>
                </a:tc>
              </a:tr>
              <a:tr h="9144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9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Desde 2012 / 2026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FIDCs no SCR e ampliação de uso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FIDCs já reportavam ao SCR; acordo reforça reporte, consulta e intercâmbio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Continuidade relevante; novidade está na integração e abrangência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/ BCB</a:t>
                      </a:r>
                    </a:p>
                  </a:txBody>
                  <a:tcPr marL="91440" marR="91440" marT="45720" marB="45720"/>
                </a:tc>
              </a:tr>
              <a:tr h="9144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9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Ago/26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Leitura de implementação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Plano emergencial prevê processar dados do ACT, cruzar bases e testar lastro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Benefício é supervisório; o ACT não promete abertura pública de devedores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9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 · corte 20 ago/26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CD956F-A62C-462D-A803-3DEFC3648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15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Transparência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479071-769F-475C-910A-E8F4B346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657850"/>
            <a:ext cx="990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38" b="0">
                <a:solidFill>
                  <a:srgbClr val="2B2B2B"/>
                </a:solidFill>
                <a:latin typeface="Itau Display"/>
                <a:ea typeface="Itau Display"/>
                <a:cs typeface="Itau Display"/>
              </a:defRPr>
            </a:pPr>
            <a:r>
              <a:rPr sz="938" b="0">
                <a:solidFill>
                  <a:srgbClr val="2B2B2B"/>
                </a:solidFill>
                <a:latin typeface="Itau Display"/>
                <a:ea typeface="Itau Display"/>
                <a:cs typeface="Itau Display"/>
              </a:rPr>
              <a:t>O acordo amplia a supervisão e a gestão dos reportantes. A base pública continua sem identificação uniforme de devedores para o analista externo.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86C526-A165-45C7-9726-ED669AF29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Data de corte: </a:t>
            </a: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20 ago. 2026</a:t>
            </a: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 | valores reportados preservam a competência e a fonte indicada</a:t>
            </a:r>
          </a:p>
        </p:txBody>
      </p:sp>
    </p:spTree>
    <p:extLst>
      <p:ext uri="{BB962C8B-B14F-4D97-AF65-F5344CB8AC3E}">
        <p14:creationId xmlns:p14="http://schemas.microsoft.com/office/powerpoint/2010/main" val="93534151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56DBDF-0473-453A-9347-0187C18B9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Risco e retorno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446E4D-0AC2-41FC-830A-127E6CF82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A mensuração combina retorno reportado, fluxo econômico e perda por subclasse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168E69-9F6D-40B7-9270-5D48349C3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21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552450" y="1428750"/>
          <a:ext xmlns:a="http://schemas.openxmlformats.org/drawingml/2006/main" cx="1106805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24000"/>
                <a:gridCol w="3048000"/>
                <a:gridCol w="2524125"/>
                <a:gridCol w="2428875"/>
                <a:gridCol w="1543050"/>
              </a:tblGrid>
              <a:tr h="381000"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Camada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Unidade / cálculo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Métricas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QA obrigatório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Coleta / fonte</a:t>
                      </a:r>
                    </a:p>
                  </a:txBody>
                  <a:tcPr marL="91440" marR="91440" marT="45720" marB="45720"/>
                </a:tc>
              </a:tr>
              <a:tr h="7429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Cobertura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Subclasse ou série × competência; separar sênior, mezanino e júnior; ativos, encerrados e zerados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N e PL cobertos; ausente separado de zero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Quebra de CNPJ/ID, mudança de quantidade, PL negativo e lacunas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Informe Mensal CVM · Tabela X</a:t>
                      </a:r>
                    </a:p>
                  </a:txBody>
                  <a:tcPr marL="91440" marR="91440" marT="45720" marB="45720"/>
                </a:tc>
              </a:tr>
              <a:tr h="7429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Retorno reportado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Retorno₁₂ₘ = ∏(1 + PR_APURADAₘ/100) – 1; excesso CDI = (1+retorno)/(1+CDI) – 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Mediana, P10/P90, % acima do CDI, pior mês e drawdown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Repetição de –100%, outliers, janela contínua e unidade do campo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Informe Mensal CVM · PR_APURADA; CDI do BCB</a:t>
                      </a:r>
                    </a:p>
                  </a:txBody>
                  <a:tcPr marL="91440" marR="91440" marT="45720" marB="45720"/>
                </a:tc>
              </a:tr>
              <a:tr h="7429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Retorno econômico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(cota final + distribuições) / cota inicial – 1; com fluxos em datas distintas, XIRR/TIR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Preservação de capital, excesso CDI e severidade de perda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Conciliar aportes, amortizações, datas, reinvestimento e preço da cota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Fundos.NET · avisos de amortização; demonstrativo do administrador</a:t>
                      </a:r>
                    </a:p>
                  </a:txBody>
                  <a:tcPr marL="91440" marR="91440" marT="45720" marB="45720"/>
                </a:tc>
              </a:tr>
              <a:tr h="7429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Risco estrutural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Subordinação efetiva – mínimo contratual; aging, PDD e concentração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Folga de subordinação; inadimplência; cobertura de PDD; perdas &gt;10%, &gt;50% e próximas de 100%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Reconciliação de denominadores, competência e versões do regulamento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Regulamento e atas · Fundos.NET; Informe Mensal CVM</a:t>
                      </a:r>
                    </a:p>
                  </a:txBody>
                  <a:tcPr marL="91440" marR="91440" marT="45720" marB="45720"/>
                </a:tc>
              </a:tr>
              <a:tr h="7429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7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Reconciliado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Valor original preservado; divergência registrada em coluna própria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Distribuição setorial e coortes por prioridade de cota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CVM/PR_APURADA × Fundos.NET × administrador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77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Três fontes identificadas por veículo e data de consulta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31FCE2-5263-4634-AB2E-C43BD6E23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72150"/>
            <a:ext cx="11068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1050" b="1">
                <a:solidFill>
                  <a:srgbClr val="2B2B2B"/>
                </a:solidFill>
                <a:latin typeface="Itau Display X-Bold"/>
                <a:ea typeface="Itau Display X-Bold"/>
                <a:cs typeface="Itau Display X-Bold"/>
              </a:rPr>
              <a:t>Uso recomendado: publicar “retorno reportado” e “retorno econômico” em campos distintos, com cobertura e fonte junto ao resultado.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02CB0C-F801-4C95-846F-31D709D79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Data de corte: </a:t>
            </a: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20 ago. 2026</a:t>
            </a: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 | valores reportados preservam a competência e a fonte indicada</a:t>
            </a:r>
          </a:p>
        </p:txBody>
      </p:sp>
    </p:spTree>
    <p:extLst>
      <p:ext uri="{BB962C8B-B14F-4D97-AF65-F5344CB8AC3E}">
        <p14:creationId xmlns:p14="http://schemas.microsoft.com/office/powerpoint/2010/main" val="15100706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57A856-91D5-45F4-AD62-47719ACFE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Agenda analítica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D8E033-7DA3-4C15-9985-E11B4FDB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11068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defRPr>
            </a:pPr>
            <a:r>
              <a:rPr sz="2250" b="1">
                <a:solidFill>
                  <a:srgbClr val="161616"/>
                </a:solidFill>
                <a:latin typeface="Itau Display Black"/>
                <a:ea typeface="Itau Display Black"/>
                <a:cs typeface="Itau Display Black"/>
              </a:rPr>
              <a:t>Quatro entregas com fonte e regra de validação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549177-6DAD-4E07-A0BC-A2BB86B2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86525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50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22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552450" y="1466850"/>
          <a:ext xmlns:a="http://schemas.openxmlformats.org/drawingml/2006/main" cx="11068050" cy="3829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62125"/>
                <a:gridCol w="3286125"/>
                <a:gridCol w="2428875"/>
                <a:gridCol w="1952625"/>
                <a:gridCol w="1638300"/>
              </a:tblGrid>
              <a:tr h="40005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Entrega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Conteúdo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Fonte principal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Saída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Validação</a:t>
                      </a:r>
                    </a:p>
                  </a:txBody>
                  <a:tcPr marL="91440" marR="91440" marT="45720" marB="45720"/>
                </a:tc>
              </a:tr>
              <a:tr h="8572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2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1 · Base de casos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CNPJ, classe, subclasse, regulamento, suplementos, atas, fatos relevantes, DF, eventos externos e hashes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CVM, Fundos.NET/B3 e documentos auditados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Timeline documental por veículo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Identidade, versão, data e página</a:t>
                      </a:r>
                    </a:p>
                  </a:txBody>
                  <a:tcPr marL="91440" marR="91440" marT="45720" marB="45720"/>
                </a:tc>
              </a:tr>
              <a:tr h="8572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2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2 · Motor de risco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Aging, PDD, concentração, subordinação efetiva, mínimo contratual, waivers e opinião de auditor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Informe Mensal CVM, regulamentos e atas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Alertas com evidência e competência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Denominador, cobertura e gatilho contratual</a:t>
                      </a:r>
                    </a:p>
                  </a:txBody>
                  <a:tcPr marL="91440" marR="91440" marT="45720" marB="45720"/>
                </a:tc>
              </a:tr>
              <a:tr h="8572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2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3 · Motor de retorno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PR_APURADA validada, benchmark, amortizações, XIRR, drawdown, preservação de capital e coortes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CVM, BCB, Fundos.NET e administrador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Distribuição por prioridade de cota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Retorno reportado separado do econômico</a:t>
                      </a:r>
                    </a:p>
                  </a:txBody>
                  <a:tcPr marL="91440" marR="91440" marT="45720" marB="45720"/>
                </a:tc>
              </a:tr>
              <a:tr h="85725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820" b="1">
                          <a:solidFill>
                            <a:srgbClr val="161616"/>
                          </a:solidFill>
                          <a:latin typeface="Itau Display X-Bold"/>
                          <a:ea typeface="Itau Display X-Bold"/>
                          <a:cs typeface="Itau Display X-Bold"/>
                        </a:rPr>
                        <a:t>4 · Piloto de fontes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Oliveira Trust, Vórtx, Hemera e demais portais como reconciliação do núcleo oficial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Sites de administradores e custodiante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Catálogo de cobertura e divergências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820" b="0">
                          <a:solidFill>
                            <a:srgbClr val="161616"/>
                          </a:solidFill>
                          <a:latin typeface="Itau Display"/>
                          <a:ea typeface="Itau Display"/>
                          <a:cs typeface="Itau Display"/>
                        </a:rPr>
                        <a:t>Data de consulta, acesso em lote e limite de uso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ADF315-F3D8-457E-9D61-C48523061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388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defRPr>
            </a:pPr>
            <a:r>
              <a:rPr sz="825" b="1">
                <a:solidFill>
                  <a:srgbClr val="B85300"/>
                </a:solidFill>
                <a:latin typeface="Itau Display X-Bold"/>
                <a:ea typeface="Itau Display X-Bold"/>
                <a:cs typeface="Itau Display X-Bold"/>
              </a:rPr>
              <a:t>Publicação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F1A384-C88E-44D7-9BC2-790B92B72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581650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2B2B2B"/>
                </a:solidFill>
                <a:latin typeface="Itau Display"/>
                <a:ea typeface="Itau Display"/>
                <a:cs typeface="Itau Display"/>
              </a:defRPr>
            </a:pPr>
            <a:r>
              <a:rPr sz="975" b="0">
                <a:solidFill>
                  <a:srgbClr val="2B2B2B"/>
                </a:solidFill>
                <a:latin typeface="Itau Display"/>
                <a:ea typeface="Itau Display"/>
                <a:cs typeface="Itau Display"/>
              </a:rPr>
              <a:t>Arquivo atualizado no artefato usado por Dados da Indústria &gt; Exportações, com o rótulo “Estudos de Caso”. Publicação externa depende de commit, merge e deploy.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BF715D-7E3D-4A18-A8FD-CCCA99259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579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defRPr>
            </a:pPr>
            <a:r>
              <a:rPr sz="713" b="0">
                <a:solidFill>
                  <a:srgbClr val="858585"/>
                </a:solidFill>
                <a:latin typeface="Itau Display"/>
                <a:ea typeface="Itau Display"/>
                <a:cs typeface="Itau Display"/>
              </a:rPr>
              <a:t>Próxima etapa sugerida: piloto de 20–30 FIDCs com diversidade de administradores e segmentos</a:t>
            </a:r>
          </a:p>
        </p:txBody>
      </p:sp>
    </p:spTree>
    <p:extLst>
      <p:ext uri="{BB962C8B-B14F-4D97-AF65-F5344CB8AC3E}">
        <p14:creationId xmlns:p14="http://schemas.microsoft.com/office/powerpoint/2010/main" val="984486787"/>
      </p:ext>
    </p:extLst>
  </p:cSld>
</p:sld>
</file>

<file path=ppt/theme/theme1.xml><?xml version="1.0" encoding="utf-8"?>
<a:theme xmlns:a="http://schemas.openxmlformats.org/drawingml/2006/main" name="ChatGPT">
  <a:themeElements>
    <a:clrScheme name="Itau BBA editorial">
      <a:dk1>
        <a:srgbClr val="161616"/>
      </a:dk1>
      <a:lt1>
        <a:srgbClr val="FFFFFF"/>
      </a:lt1>
      <a:dk2>
        <a:srgbClr val="2B2B2B"/>
      </a:dk2>
      <a:lt2>
        <a:srgbClr val="E6E6E6"/>
      </a:lt2>
      <a:accent1>
        <a:srgbClr val="EC7000"/>
      </a:accent1>
      <a:accent2>
        <a:srgbClr val="2B2B2B"/>
      </a:accent2>
      <a:accent3>
        <a:srgbClr val="858585"/>
      </a:accent3>
      <a:accent4>
        <a:srgbClr val="A73B36"/>
      </a:accent4>
      <a:accent5>
        <a:srgbClr val="2B6B4F"/>
      </a:accent5>
      <a:accent6>
        <a:srgbClr val="B85300"/>
      </a:accent6>
      <a:hlink>
        <a:srgbClr val="B85300"/>
      </a:hlink>
      <a:folHlink>
        <a:srgbClr val="5B5B5B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2026-08-20T18:08:48.2750000Z</dcterms:created>
  <dcterms:modified xsi:type="dcterms:W3CDTF">2026-08-20T18:08:48.2750000Z</dcterms:modified>
</coreProperties>
</file>