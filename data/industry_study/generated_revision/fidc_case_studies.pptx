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07648278624026" /><Relationship Type="http://schemas.openxmlformats.org/officeDocument/2006/relationships/extended-properties" Target="/docProps/app.xml" Id="Rff63b40b3fe44235" /><Relationship Type="http://schemas.openxmlformats.org/officeDocument/2006/relationships/officeDocument" Target="/ppt/presentation.xml" Id="R0f6e27d4ee9a48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894d65808c4088"/>
  </p:sldMasterIdLst>
  <p:notesMasterIdLst>
    <p:notesMasterId xmlns:r="http://schemas.openxmlformats.org/officeDocument/2006/relationships" r:id="R48e2ffe5b3984734"/>
  </p:notesMasterIdLst>
  <p:sldIdLst>
    <p:sldId xmlns:r="http://schemas.openxmlformats.org/officeDocument/2006/relationships" id="256" r:id="R58cf943e3afa4958"/>
    <p:sldId xmlns:r="http://schemas.openxmlformats.org/officeDocument/2006/relationships" id="257" r:id="R5bd3bdf8b92746c6"/>
    <p:sldId xmlns:r="http://schemas.openxmlformats.org/officeDocument/2006/relationships" id="258" r:id="Rfb861653c2524e69"/>
    <p:sldId xmlns:r="http://schemas.openxmlformats.org/officeDocument/2006/relationships" id="259" r:id="R7c42cfec57de44ec"/>
    <p:sldId xmlns:r="http://schemas.openxmlformats.org/officeDocument/2006/relationships" id="260" r:id="R4da26030126f4c0b"/>
    <p:sldId xmlns:r="http://schemas.openxmlformats.org/officeDocument/2006/relationships" id="261" r:id="Rf7b4c646d8364f8b"/>
    <p:sldId xmlns:r="http://schemas.openxmlformats.org/officeDocument/2006/relationships" id="262" r:id="Rf78a328271c741d7"/>
    <p:sldId xmlns:r="http://schemas.openxmlformats.org/officeDocument/2006/relationships" id="263" r:id="R00c6640a71824dfb"/>
    <p:sldId xmlns:r="http://schemas.openxmlformats.org/officeDocument/2006/relationships" id="264" r:id="R30e5c0c749374551"/>
    <p:sldId xmlns:r="http://schemas.openxmlformats.org/officeDocument/2006/relationships" id="265" r:id="R3f784a8ced0a481c"/>
    <p:sldId xmlns:r="http://schemas.openxmlformats.org/officeDocument/2006/relationships" id="266" r:id="R08d65b8ce4b042a2"/>
    <p:sldId xmlns:r="http://schemas.openxmlformats.org/officeDocument/2006/relationships" id="267" r:id="R14e0e2d162174f38"/>
    <p:sldId xmlns:r="http://schemas.openxmlformats.org/officeDocument/2006/relationships" id="268" r:id="R7b68cf022acc44d5"/>
    <p:sldId xmlns:r="http://schemas.openxmlformats.org/officeDocument/2006/relationships" id="269" r:id="Rbadfb20040d24302"/>
    <p:sldId xmlns:r="http://schemas.openxmlformats.org/officeDocument/2006/relationships" id="270" r:id="Rf544efc80e324999"/>
    <p:sldId xmlns:r="http://schemas.openxmlformats.org/officeDocument/2006/relationships" id="271" r:id="R978350cc02af4d3d"/>
    <p:sldId xmlns:r="http://schemas.openxmlformats.org/officeDocument/2006/relationships" id="272" r:id="Rf7eeffaa7035455b"/>
    <p:sldId xmlns:r="http://schemas.openxmlformats.org/officeDocument/2006/relationships" id="273" r:id="R50a60eba4c384afa"/>
    <p:sldId xmlns:r="http://schemas.openxmlformats.org/officeDocument/2006/relationships" id="274" r:id="Redca74eccb8f4033"/>
    <p:sldId xmlns:r="http://schemas.openxmlformats.org/officeDocument/2006/relationships" id="275" r:id="R61111ed5820644ab"/>
    <p:sldId xmlns:r="http://schemas.openxmlformats.org/officeDocument/2006/relationships" id="276" r:id="R589c28feec2e4a31"/>
    <p:sldId xmlns:r="http://schemas.openxmlformats.org/officeDocument/2006/relationships" id="277" r:id="R74f6cb1ffaa844e2"/>
    <p:sldId xmlns:r="http://schemas.openxmlformats.org/officeDocument/2006/relationships" id="278" r:id="R2331676704934b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0e990d8f6d41a0" /><Relationship Type="http://schemas.openxmlformats.org/officeDocument/2006/relationships/slideMaster" Target="/ppt/slideMasters/slideMaster1.xml" Id="R39894d65808c4088" /><Relationship Type="http://schemas.openxmlformats.org/officeDocument/2006/relationships/notesMaster" Target="/ppt/notesMasters/notesMaster1.xml" Id="R48e2ffe5b3984734" /><Relationship Type="http://schemas.openxmlformats.org/officeDocument/2006/relationships/presProps" Target="/ppt/presProps.xml" Id="R0b5d2d782f17465f" /><Relationship Type="http://schemas.openxmlformats.org/officeDocument/2006/relationships/tableStyles" Target="/ppt/tableStyles.xml" Id="R1d38212464874db3" /><Relationship Type="http://schemas.openxmlformats.org/officeDocument/2006/relationships/slide" Target="/ppt/slides/slide1.xml" Id="R58cf943e3afa4958" /><Relationship Type="http://schemas.openxmlformats.org/officeDocument/2006/relationships/slide" Target="/ppt/slides/slide2.xml" Id="R5bd3bdf8b92746c6" /><Relationship Type="http://schemas.openxmlformats.org/officeDocument/2006/relationships/slide" Target="/ppt/slides/slide3.xml" Id="Rfb861653c2524e69" /><Relationship Type="http://schemas.openxmlformats.org/officeDocument/2006/relationships/slide" Target="/ppt/slides/slide4.xml" Id="R7c42cfec57de44ec" /><Relationship Type="http://schemas.openxmlformats.org/officeDocument/2006/relationships/slide" Target="/ppt/slides/slide5.xml" Id="R4da26030126f4c0b" /><Relationship Type="http://schemas.openxmlformats.org/officeDocument/2006/relationships/slide" Target="/ppt/slides/slide6.xml" Id="Rf7b4c646d8364f8b" /><Relationship Type="http://schemas.openxmlformats.org/officeDocument/2006/relationships/slide" Target="/ppt/slides/slide7.xml" Id="Rf78a328271c741d7" /><Relationship Type="http://schemas.openxmlformats.org/officeDocument/2006/relationships/slide" Target="/ppt/slides/slide8.xml" Id="R00c6640a71824dfb" /><Relationship Type="http://schemas.openxmlformats.org/officeDocument/2006/relationships/slide" Target="/ppt/slides/slide9.xml" Id="R30e5c0c749374551" /><Relationship Type="http://schemas.openxmlformats.org/officeDocument/2006/relationships/slide" Target="/ppt/slides/slide10.xml" Id="R3f784a8ced0a481c" /><Relationship Type="http://schemas.openxmlformats.org/officeDocument/2006/relationships/slide" Target="/ppt/slides/slide11.xml" Id="R08d65b8ce4b042a2" /><Relationship Type="http://schemas.openxmlformats.org/officeDocument/2006/relationships/slide" Target="/ppt/slides/slide12.xml" Id="R14e0e2d162174f38" /><Relationship Type="http://schemas.openxmlformats.org/officeDocument/2006/relationships/slide" Target="/ppt/slides/slide13.xml" Id="R7b68cf022acc44d5" /><Relationship Type="http://schemas.openxmlformats.org/officeDocument/2006/relationships/slide" Target="/ppt/slides/slide14.xml" Id="Rbadfb20040d24302" /><Relationship Type="http://schemas.openxmlformats.org/officeDocument/2006/relationships/slide" Target="/ppt/slides/slide15.xml" Id="Rf544efc80e324999" /><Relationship Type="http://schemas.openxmlformats.org/officeDocument/2006/relationships/slide" Target="/ppt/slides/slide16.xml" Id="R978350cc02af4d3d" /><Relationship Type="http://schemas.openxmlformats.org/officeDocument/2006/relationships/slide" Target="/ppt/slides/slide17.xml" Id="Rf7eeffaa7035455b" /><Relationship Type="http://schemas.openxmlformats.org/officeDocument/2006/relationships/slide" Target="/ppt/slides/slide18.xml" Id="R50a60eba4c384afa" /><Relationship Type="http://schemas.openxmlformats.org/officeDocument/2006/relationships/slide" Target="/ppt/slides/slide19.xml" Id="Redca74eccb8f4033" /><Relationship Type="http://schemas.openxmlformats.org/officeDocument/2006/relationships/slide" Target="/ppt/slides/slide20.xml" Id="R61111ed5820644ab" /><Relationship Type="http://schemas.openxmlformats.org/officeDocument/2006/relationships/slide" Target="/ppt/slides/slide21.xml" Id="R589c28feec2e4a31" /><Relationship Type="http://schemas.openxmlformats.org/officeDocument/2006/relationships/slide" Target="/ppt/slides/slide22.xml" Id="R74f6cb1ffaa844e2" /><Relationship Type="http://schemas.openxmlformats.org/officeDocument/2006/relationships/slide" Target="/ppt/slides/slide23.xml" Id="R2331676704934b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e7a5406b344c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tau BBA editorial">
      <a:dk1>
        <a:srgbClr val="161616"/>
      </a:dk1>
      <a:lt1>
        <a:srgbClr val="FFFFFF"/>
      </a:lt1>
      <a:dk2>
        <a:srgbClr val="2B2B2B"/>
      </a:dk2>
      <a:lt2>
        <a:srgbClr val="E6E6E6"/>
      </a:lt2>
      <a:accent1>
        <a:srgbClr val="EC7000"/>
      </a:accent1>
      <a:accent2>
        <a:srgbClr val="2B2B2B"/>
      </a:accent2>
      <a:accent3>
        <a:srgbClr val="858585"/>
      </a:accent3>
      <a:accent4>
        <a:srgbClr val="A73B36"/>
      </a:accent4>
      <a:accent5>
        <a:srgbClr val="2B6B4F"/>
      </a:accent5>
      <a:accent6>
        <a:srgbClr val="B85300"/>
      </a:accent6>
      <a:hlink>
        <a:srgbClr val="B85300"/>
      </a:hlink>
      <a:folHlink>
        <a:srgbClr val="5B5B5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0ce069ed84b80" /><Relationship Type="http://schemas.openxmlformats.org/officeDocument/2006/relationships/notesMaster" Target="/ppt/notesMasters/notesMaster1.xml" Id="R880541f939ba44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b75f5c3bc14fe1" /><Relationship Type="http://schemas.openxmlformats.org/officeDocument/2006/relationships/notesMaster" Target="/ppt/notesMasters/notesMaster1.xml" Id="Ra3888f3986d340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e9bbc365fd4102" /><Relationship Type="http://schemas.openxmlformats.org/officeDocument/2006/relationships/notesMaster" Target="/ppt/notesMasters/notesMaster1.xml" Id="R3bdd32153db64d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eb7a2f74464a4f" /><Relationship Type="http://schemas.openxmlformats.org/officeDocument/2006/relationships/notesMaster" Target="/ppt/notesMasters/notesMaster1.xml" Id="Rfcaf1e0e01e748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2b4fb1a5f54aed" /><Relationship Type="http://schemas.openxmlformats.org/officeDocument/2006/relationships/notesMaster" Target="/ppt/notesMasters/notesMaster1.xml" Id="R4283ddc101ad47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3ad7d7ba9e4693" /><Relationship Type="http://schemas.openxmlformats.org/officeDocument/2006/relationships/notesMaster" Target="/ppt/notesMasters/notesMaster1.xml" Id="Rf410e1e186e749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4b3b0ad54f4242" /><Relationship Type="http://schemas.openxmlformats.org/officeDocument/2006/relationships/notesMaster" Target="/ppt/notesMasters/notesMaster1.xml" Id="R2d092b040e4643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230386ece647c0" /><Relationship Type="http://schemas.openxmlformats.org/officeDocument/2006/relationships/notesMaster" Target="/ppt/notesMasters/notesMaster1.xml" Id="R68766ef1ad2949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bba5c963764db9" /><Relationship Type="http://schemas.openxmlformats.org/officeDocument/2006/relationships/notesMaster" Target="/ppt/notesMasters/notesMaster1.xml" Id="R6f973cf76cf446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d419f46a644a72" /><Relationship Type="http://schemas.openxmlformats.org/officeDocument/2006/relationships/notesMaster" Target="/ppt/notesMasters/notesMaster1.xml" Id="R3d6a60c3bc4b4d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ec5080510c496f" /><Relationship Type="http://schemas.openxmlformats.org/officeDocument/2006/relationships/notesMaster" Target="/ppt/notesMasters/notesMaster1.xml" Id="R438a9f7bfed94c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aead3625714590" /><Relationship Type="http://schemas.openxmlformats.org/officeDocument/2006/relationships/notesMaster" Target="/ppt/notesMasters/notesMaster1.xml" Id="R726c1604e24941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2756e305a84af7" /><Relationship Type="http://schemas.openxmlformats.org/officeDocument/2006/relationships/notesMaster" Target="/ppt/notesMasters/notesMaster1.xml" Id="R3fbea687e7c54e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b3c444e7274694" /><Relationship Type="http://schemas.openxmlformats.org/officeDocument/2006/relationships/notesMaster" Target="/ppt/notesMasters/notesMaster1.xml" Id="Rdddbf8e4156c42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38a4dec6a54891" /><Relationship Type="http://schemas.openxmlformats.org/officeDocument/2006/relationships/notesMaster" Target="/ppt/notesMasters/notesMaster1.xml" Id="R294bd79d977944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0d692ba276498f" /><Relationship Type="http://schemas.openxmlformats.org/officeDocument/2006/relationships/notesMaster" Target="/ppt/notesMasters/notesMaster1.xml" Id="R3347cf937a464a1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6afcefd06c4860" /><Relationship Type="http://schemas.openxmlformats.org/officeDocument/2006/relationships/notesMaster" Target="/ppt/notesMasters/notesMaster1.xml" Id="R0e6a96283d6b4d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c72ad6ef10435c" /><Relationship Type="http://schemas.openxmlformats.org/officeDocument/2006/relationships/notesMaster" Target="/ppt/notesMasters/notesMaster1.xml" Id="R4dd96d10918b47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a4fb70089d485b" /><Relationship Type="http://schemas.openxmlformats.org/officeDocument/2006/relationships/notesMaster" Target="/ppt/notesMasters/notesMaster1.xml" Id="Rcef0626bcdc2479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41f0c7868d4b0b" /><Relationship Type="http://schemas.openxmlformats.org/officeDocument/2006/relationships/notesMaster" Target="/ppt/notesMasters/notesMaster1.xml" Id="R2bc98ffa02b14b4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62f9bb1c2f46d2" /><Relationship Type="http://schemas.openxmlformats.org/officeDocument/2006/relationships/notesMaster" Target="/ppt/notesMasters/notesMaster1.xml" Id="R12c2fe375d4a495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00a22d7f7974bfe" /><Relationship Type="http://schemas.openxmlformats.org/officeDocument/2006/relationships/notesMaster" Target="/ppt/notesMasters/notesMaster1.xml" Id="Rcc5c4a522b40406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50b4163599b46c9" /><Relationship Type="http://schemas.openxmlformats.org/officeDocument/2006/relationships/notesMaster" Target="/ppt/notesMasters/notesMaster1.xml" Id="Rf39023e63e3949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Escopo: quatro casos emblemáticos, evolução de qualidade de informação entre maio de 2024 e agosto de 2026, instrumentos de compromisso/sanção, acordo CVM–BCB e método de mensuração de risco 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dos seis estudos de caso. Fontes completas, documentos e cálculos estão nas notas das lâminas individuais.</a:t>
            </a:r>
          </a:p>
          <a:p xmlns:a="http://schemas.openxmlformats.org/drawingml/2006/main">
            <a:r>
              <a:t>- CVM — Informe Mensal FIDC: https://dados.cvm.gov.br/dataset/fidc-doc-inf_mensal</a:t>
            </a:r>
          </a:p>
          <a:p xmlns:a="http://schemas.openxmlformats.org/drawingml/2006/main">
            <a:r>
              <a:t>- Fundos.NET/B3, páginas dos administradores, demonstrações financeiras, atas, fatos relevantes e relatórios de rating identificados por veículo/CNPJ.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expressão 'FIDC Azul' pode apontar para outro veículo. Este slide trata do Blue II, ligado à 12ª emissão de debêntures da companhia aérea.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https://fnet.bmfbovespa.com.br/fnet/publico/downloadDocumento?id=686749</a:t>
            </a:r>
          </a:p>
          <a:p xmlns:a="http://schemas.openxmlformats.org/drawingml/2006/main">
            <a:r>
              <a:t>- https://fnet.bmfbovespa.com.br/fnet/publico/downloadDocumento?id=757175</a:t>
            </a:r>
          </a:p>
          <a:p xmlns:a="http://schemas.openxmlformats.org/drawingml/2006/main">
            <a:r>
              <a:t>- https://fnet.bmfbovespa.com.br/fnet/publico/downloadDocumento?id=810286</a:t>
            </a:r>
          </a:p>
          <a:p xmlns:a="http://schemas.openxmlformats.org/drawingml/2006/main">
            <a:r>
              <a:t>- https://fnet.bmfbovespa.com.br/fnet/publico/downloadDocumento?id=879042</a:t>
            </a:r>
          </a:p>
          <a:p xmlns:a="http://schemas.openxmlformats.org/drawingml/2006/main">
            <a:r>
              <a:t>- https://fnet.bmfbovespa.com.br/fnet/publico/downloadDocumento?id=869352</a:t>
            </a:r>
          </a:p>
          <a:p xmlns:a="http://schemas.openxmlformats.org/drawingml/2006/main">
            <a:r>
              <a:t>- https://fnet.bmfbovespa.com.br/fnet/publico/downloadDocumento?id=882655</a:t>
            </a:r>
          </a:p>
          <a:p xmlns:a="http://schemas.openxmlformats.org/drawingml/2006/main">
            <a:r>
              <a:t>- https://fnet.bmfbovespa.com.br/fnet/publico/downloadDocumento?id=949874</a:t>
            </a:r>
          </a:p>
          <a:p xmlns:a="http://schemas.openxmlformats.org/drawingml/2006/main">
            <a:r>
              <a:t>- https://fnet.bmfbovespa.com.br/fnet/publico/downloadDocumento?id=974148</a:t>
            </a:r>
          </a:p>
          <a:p xmlns:a="http://schemas.openxmlformats.org/drawingml/2006/main">
            <a:r>
              <a:t>- https://api-site.oliveiratrust.com.br/novo/fundos-captacao/63611/</a:t>
            </a:r>
          </a:p>
          <a:p xmlns:a="http://schemas.openxmlformats.org/drawingml/2006/main">
            <a:r>
              <a:t>- https://www.sec.gov/Archives/edgar/data/1432364/000129281426000452/azul20260220_6k.htm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https://fnet.bmfbovespa.com.br/fnet/publico/downloadDocumento?id=674475</a:t>
            </a:r>
          </a:p>
          <a:p xmlns:a="http://schemas.openxmlformats.org/drawingml/2006/main">
            <a:r>
              <a:t>- https://fnet.bmfbovespa.com.br/fnet/publico/downloadDocumento?id=1049185</a:t>
            </a:r>
          </a:p>
          <a:p xmlns:a="http://schemas.openxmlformats.org/drawingml/2006/main">
            <a:r>
              <a:t>- https://fnet.bmfbovespa.com.br/fnet/publico/downloadDocumento?id=849309</a:t>
            </a:r>
          </a:p>
          <a:p xmlns:a="http://schemas.openxmlformats.org/drawingml/2006/main">
            <a:r>
              <a:t>- https://fnet.bmfbovespa.com.br/fnet/publico/downloadDocumento?id=858472</a:t>
            </a:r>
          </a:p>
          <a:p xmlns:a="http://schemas.openxmlformats.org/drawingml/2006/main">
            <a:r>
              <a:t>- https://fnet.bmfbovespa.com.br/fnet/publico/downloadDocumento?id=938720</a:t>
            </a:r>
          </a:p>
          <a:p xmlns:a="http://schemas.openxmlformats.org/drawingml/2006/main">
            <a:r>
              <a:t>- https://fnet.bmfbovespa.com.br/fnet/publico/downloadDocumento?id=959256</a:t>
            </a:r>
          </a:p>
          <a:p xmlns:a="http://schemas.openxmlformats.org/drawingml/2006/main">
            <a:r>
              <a:t>- https://fnet.bmfbovespa.com.br/fnet/publico/downloadDocumento?id=994390</a:t>
            </a:r>
          </a:p>
          <a:p xmlns:a="http://schemas.openxmlformats.org/drawingml/2006/main">
            <a:r>
              <a:t>- https://fnet.bmfbovespa.com.br/fnet/publico/downloadDocumento?id=1023262</a:t>
            </a:r>
          </a:p>
          <a:p xmlns:a="http://schemas.openxmlformats.org/drawingml/2006/main">
            <a:r>
              <a:t>- https://fnet.bmfbovespa.com.br/fnet/publico/downloadDocumento?id=1296034</a:t>
            </a:r>
          </a:p>
          <a:p xmlns:a="http://schemas.openxmlformats.org/drawingml/2006/main">
            <a:r>
              <a:t>- https://api-site.oliveiratrust.com.br/novo/fundos-captacao/49871/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https://fnet.bmfbovespa.com.br/fnet/publico/downloadDocumento?id=313745</a:t>
            </a:r>
          </a:p>
          <a:p xmlns:a="http://schemas.openxmlformats.org/drawingml/2006/main">
            <a:r>
              <a:t>- https://fnet.bmfbovespa.com.br/fnet/publico/downloadDocumento?id=389549</a:t>
            </a:r>
          </a:p>
          <a:p xmlns:a="http://schemas.openxmlformats.org/drawingml/2006/main">
            <a:r>
              <a:t>- https://fnet.bmfbovespa.com.br/fnet/publico/downloadDocumento?id=854993</a:t>
            </a:r>
          </a:p>
          <a:p xmlns:a="http://schemas.openxmlformats.org/drawingml/2006/main">
            <a:r>
              <a:t>- https://fnet.bmfbovespa.com.br/fnet/publico/downloadDocumento?id=908273</a:t>
            </a:r>
          </a:p>
          <a:p xmlns:a="http://schemas.openxmlformats.org/drawingml/2006/main">
            <a:r>
              <a:t>- https://fnet.bmfbovespa.com.br/fnet/publico/downloadDocumento?id=939382</a:t>
            </a:r>
          </a:p>
          <a:p xmlns:a="http://schemas.openxmlformats.org/drawingml/2006/main">
            <a:r>
              <a:t>- https://fnet.bmfbovespa.com.br/fnet/publico/downloadDocumento?id=954015</a:t>
            </a:r>
          </a:p>
          <a:p xmlns:a="http://schemas.openxmlformats.org/drawingml/2006/main">
            <a:r>
              <a:t>- https://fnet.bmfbovespa.com.br/fnet/publico/downloadDocumento?id=974833</a:t>
            </a:r>
          </a:p>
          <a:p xmlns:a="http://schemas.openxmlformats.org/drawingml/2006/main">
            <a:r>
              <a:t>- https://fnet.bmfbovespa.com.br/fnet/publico/downloadDocumento?id=939384</a:t>
            </a:r>
          </a:p>
          <a:p xmlns:a="http://schemas.openxmlformats.org/drawingml/2006/main">
            <a:r>
              <a:t>- https://fnet.bmfbovespa.com.br/fnet/publico/downloadDocumento?id=940473</a:t>
            </a:r>
          </a:p>
          <a:p xmlns:a="http://schemas.openxmlformats.org/drawingml/2006/main">
            <a:r>
              <a:t>- https://fnet.bmfbovespa.com.br/fnet/publico/downloadDocumento?id=959331</a:t>
            </a:r>
          </a:p>
          <a:p xmlns:a="http://schemas.openxmlformats.org/drawingml/2006/main">
            <a:r>
              <a:t>- https://fnet.bmfbovespa.com.br/fnet/publico/downloadDocumento?id=974841</a:t>
            </a:r>
          </a:p>
          <a:p xmlns:a="http://schemas.openxmlformats.org/drawingml/2006/main">
            <a:r>
              <a:t>- https://www.sec.gov/Archives/edgar/data/1945711/000194571124000036/a20240731_fiagro.htm</a:t>
            </a:r>
          </a:p>
          <a:p xmlns:a="http://schemas.openxmlformats.org/drawingml/2006/main">
            <a:r>
              <a:t>- https://esaj.tjsp.jus.br/cpopg/show.do?processo.codigo=2S00212DP0000&amp;processo.foro=100&amp;processo.numero=1084141-52.2025.8.26.0100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fundo confirmado é uma exposição direta em debênture. A expressão 'caso Americanas' pode abranger outros FIDCs de fornecedores, cartões ou créditos de recuperação; esses veículos exigem mapa separado de CDA/documentos.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https://fnet.bmfbovespa.com.br/fnet/publico/downloadDocumento?id=401981</a:t>
            </a:r>
          </a:p>
          <a:p xmlns:a="http://schemas.openxmlformats.org/drawingml/2006/main">
            <a:r>
              <a:t>- https://fnet.bmfbovespa.com.br/fnet/publico/downloadDocumento?id=423157</a:t>
            </a:r>
          </a:p>
          <a:p xmlns:a="http://schemas.openxmlformats.org/drawingml/2006/main">
            <a:r>
              <a:t>- https://fnet.bmfbovespa.com.br/fnet/publico/downloadDocumento?id=825281</a:t>
            </a:r>
          </a:p>
          <a:p xmlns:a="http://schemas.openxmlformats.org/drawingml/2006/main">
            <a:r>
              <a:t>- https://fnet.bmfbovespa.com.br/fnet/publico/downloadDocumento?id=785763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BRL Trust — ato e suplementos, 16 mar. 2022, pp. 1–10: https://www.brltrust.com.br/wp-content/uploads/2021/04/ATOS-E-SUPLEMENTOS-_-16.03.22-VFf.pdf</a:t>
            </a:r>
          </a:p>
          <a:p xmlns:a="http://schemas.openxmlformats.org/drawingml/2006/main">
            <a:r>
              <a:t>- BRL Trust — AGE de liquidação antecipada, 24 out. 2022, pp. 1–3: https://www.brltrust.com.br/wp-content/uploads/2021/04/2022-10-24_FIDC-SAV-NEXOOS_AGE-VL.pdf</a:t>
            </a:r>
          </a:p>
          <a:p xmlns:a="http://schemas.openxmlformats.org/drawingml/2006/main">
            <a:r>
              <a:t>- Hemera — regulamento, 8 mai. 2024, pp. 35, 39–44 e 57–68: https://hemeradtvm.com.br/wp-content/uploads/2024/05/2024-05-08_FIDC-SAV-NEXOOS_REGULAMENTO-VL.pdf</a:t>
            </a:r>
          </a:p>
          <a:p xmlns:a="http://schemas.openxmlformats.org/drawingml/2006/main">
            <a:r>
              <a:t>- Hemera — AGOE, 20 jan. 2025, anexo da AGE de 25 set. 2024, p. 3; confirma resgate integral das cotas seniores: https://hemeradtvm.com.br/wp-content/uploads/2024/05/2025-01-20_FIDC-SAV-NEXOOS_AGOE-VL.pdf</a:t>
            </a:r>
          </a:p>
          <a:p xmlns:a="http://schemas.openxmlformats.org/drawingml/2006/main">
            <a:r>
              <a:t>- Ame Digital — demonstrações financeiras de 2022, nota SAV Nexoos; posição de R$ 30,65 mi e percentuais por classe: https://images.amedigital.com/site-ame/demonstrativo-financeiro/INF901032778350122022.pdf</a:t>
            </a:r>
          </a:p>
          <a:p xmlns:a="http://schemas.openxmlformats.org/drawingml/2006/main">
            <a:r>
              <a:t>- Nexoos SEP — demonstrações financeiras de 2021/2023; aquisição pela Ame Digital e etapas societárias: https://www.nexoos.com.br/demonstrativos-financeiros/</a:t>
            </a:r>
          </a:p>
          <a:p xmlns:a="http://schemas.openxmlformats.org/drawingml/2006/main">
            <a:r>
              <a:t>- Liberum Ratings — relatórios 1T22, 2T22 e 3T22; CCBs de PMEs, efeito vagão e desempenho: https://www.liberumratings.com.br/detalhes-ativo/historico-6248/</a:t>
            </a:r>
          </a:p>
          <a:p xmlns:a="http://schemas.openxmlformats.org/drawingml/2006/main">
            <a:r>
              <a:t>- CVM — Informe Mensal FIDC, CNPJ 38.284.301/0001-67; cálculo atraso/carteira e subordinação por competência: https://dados.cvm.gov.br/dataset/fidc-doc-inf_mensal</a:t>
            </a:r>
          </a:p>
          <a:p xmlns:a="http://schemas.openxmlformats.org/drawingml/2006/main">
            <a:r>
              <a:t>- Hemera/ANBIMA — informativo mensal mar. 2025, p. 1; evento de liquidação e índices sobre PL: https://hemeradtvm.com.br/wp-content/uploads/2024/05/2025-03_FIDC-SAV-NEXOOS_INFORMATIVO-MENSAL-ANBIMA.pdf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Oliveira Trust — página do FIDC Light, estrutura, documentos e retorno acumulado da cota subordinada: https://api-site.oliveiratrust.com.br/novo/fundos-captacao/12861</a:t>
            </a:r>
          </a:p>
          <a:p xmlns:a="http://schemas.openxmlformats.org/drawingml/2006/main">
            <a:r>
              <a:t>- Oliveira Trust — fato relevante de 3 fev. 2023, rebaixamento AAAsf(bra) → BBsf(bra), download código 1619961: https://api-site.oliveiratrust.com.br/scot/modulos/downloads/baixar.php?cod=1619961</a:t>
            </a:r>
          </a:p>
          <a:p xmlns:a="http://schemas.openxmlformats.org/drawingml/2006/main">
            <a:r>
              <a:t>- Oliveira Trust — AGE realizada em 23 fev. 2023, pp. 1–4; quórum, direitos de voto e deliberação. Documento obtido na página do administrador.</a:t>
            </a:r>
          </a:p>
          <a:p xmlns:a="http://schemas.openxmlformats.org/drawingml/2006/main">
            <a:r>
              <a:t>- Oliveira Trust/XP — fatos relevantes de 17 abr., 15 mai. e 21 jun. 2023; tutela, recuperação judicial e retomada da retenção: https://api-site.oliveiratrust.com.br/scot/modulos/downloads/baixar.php?cod=1646131 ; https://api-site.oliveiratrust.com.br/scot/modulos/downloads/baixar.php?cod=1669891 ; https://api-site.oliveiratrust.com.br/scot/modulos/downloads/baixar.php?cod=1682941</a:t>
            </a:r>
          </a:p>
          <a:p xmlns:a="http://schemas.openxmlformats.org/drawingml/2006/main">
            <a:r>
              <a:t>- Fitch Ratings — relatórios de monitoramento de 9 mai. e 31 jul. 2023, disponíveis na página do administrador; emissão, lastro de fluxo futuro e ratings Bsf/B-sf.</a:t>
            </a:r>
          </a:p>
          <a:p xmlns:a="http://schemas.openxmlformats.org/drawingml/2006/main">
            <a:r>
              <a:t>- Light S.A. — demonstrações financeiras; emissão de 1,4 milhão de cotas seniores concluída em 5 jun. 2018 e remuneração das séries: https://ri.light.com.br/</a:t>
            </a:r>
          </a:p>
          <a:p xmlns:a="http://schemas.openxmlformats.org/drawingml/2006/main">
            <a:r>
              <a:t>- CVM — Informe Mensal FIDC, CNPJ 29.665.468/0001-87; PL, cotistas, composição de cotas e atraso reportado: https://dados.cvm.gov.br/dataset/fidc-doc-inf_mensal</a:t>
            </a:r>
          </a:p>
          <a:p xmlns:a="http://schemas.openxmlformats.org/drawingml/2006/main">
            <a:r>
              <a:t>- Exemplos públicos de cotistas, sem pretensão de cadastro completo: Braslight, demonstrações de 2022; BRF Previdência, relatório de investimentos set. 2022.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Leitura transversal construída a partir das fontes primárias indicadas nas lâminas de cada caso.</a:t>
            </a:r>
          </a:p>
          <a:p xmlns:a="http://schemas.openxmlformats.org/drawingml/2006/main">
            <a:r>
              <a:t>- CVM — Informe Mensal FIDC: https://dados.cvm.gov.br/dataset/fidc-doc-inf_mensal</a:t>
            </a:r>
          </a:p>
          <a:p xmlns:a="http://schemas.openxmlformats.org/drawingml/2006/main">
            <a:r>
              <a:t>- Regulamentos, suplementos, atas, fatos relevantes, relatórios de rating e demonstrações financeiras são tratados por versão e CNPJ.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 — Informe Mensal FIDC, Tabelas IV e X.1.1, competências jul/2026 e jun/2026: https://dados.cvm.gov.br/dataset/fidc-doc-inf_mensal</a:t>
            </a:r>
          </a:p>
          <a:p xmlns:a="http://schemas.openxmlformats.org/drawingml/2006/main">
            <a:r>
              <a:t>- Arquivo de cálculo: directors_update/carteira_101_cotistas_senior_202607.csv. Método: soma de contas seniores por tipo de investidor e CNPJ; jul/26 com fallback jun/26.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 — Informe Mensal FIDC, Tabelas X.1.1 e X.2, competência 31 jul. 2026: https://dados.cvm.gov.br/dataset/fidc-doc-inf_mensal</a:t>
            </a:r>
          </a:p>
          <a:p xmlns:a="http://schemas.openxmlformats.org/drawingml/2006/main">
            <a:r>
              <a:t>- Fundos.NET/B3 — regulamentos, atas, anúncios de encerramento e demonstrações financeiras: documentos 881263, 732153, 1224059, 634211, 675234, 937760, 1013021, 634463, 1239452, 1025473, 884293, 1149521, 1150895, 791513, 1076481, 1130481, 1172101, 1023849, 1202319, 912157, 1223029, 1061833, 1139680, 1051890, 883977, 1002580, 1130591; consulta por ID em https://fnet.bmfbovespa.com.br/fnet/publico/visualizarDocumento</a:t>
            </a:r>
          </a:p>
          <a:p xmlns:a="http://schemas.openxmlformats.org/drawingml/2006/main">
            <a:r>
              <a:t>- Corpus documental: 193 documentos; 5.503 páginas; 12,96 milhões de caracteres; duas atas digitalizadas revisadas visualmente.</a:t>
            </a:r>
          </a:p>
          <a:p xmlns:a="http://schemas.openxmlformats.org/drawingml/2006/main">
            <a:r>
              <a:t>- Método de posições: Soma de TAB_X_NR_COTST das séries ativas por nível de subordinação. Uma posição reportada não identifica o beneficiário final e a mesma pessoa pode aparecer em mais de uma série.</a:t>
            </a:r>
          </a:p>
          <a:p xmlns:a="http://schemas.openxmlformats.org/drawingml/2006/main">
            <a:r>
              <a:t>- Método de PL: Participação calculada com os valores de classe/subclasse da Tabela X.2 sobre o PL reportado. N/R indica reconciliação insuficiente.</a:t>
            </a:r>
          </a:p>
          <a:p xmlns:a="http://schemas.openxmlformats.org/drawingml/2006/main">
            <a:r>
              <a:t>- Método de voto: Percentual estimado do bloco mezanino+júnior segundo a regra do regulamento: QC = uma cota por voto; FP = posição financeira.</a:t>
            </a:r>
          </a:p>
          <a:p xmlns:a="http://schemas.openxmlformats.org/drawingml/2006/main">
            <a:r>
              <a:t>- Correções cadastrais validadas: Angá FGTS II 53.577.135/0001-80; Cartão de Compra Supplier II 50.988.212/0001-05.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CVM/ANBIMA — base de PL ex-FIC e taxonomia aplicada no artefato setorial, competência jun/2026.</a:t>
            </a:r>
          </a:p>
          <a:p xmlns:a="http://schemas.openxmlformats.org/drawingml/2006/main">
            <a:r>
              <a:t>- Arquivos de cálculo: directors_update/financeiro_decomposition_202606.csv e financeiro_decomposition_fund_ledger_202606.csv.</a:t>
            </a:r>
          </a:p>
          <a:p xmlns:a="http://schemas.openxmlformats.org/drawingml/2006/main">
            <a:r>
              <a:t>- Curadoria documental de adquirência: directors_update/financeiro_acquiring_document_ledger_202606.csv.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 — resposta ao Congresso sobre Carbono Oculto: https://www.camara.leg.br/proposicoesWeb/prop_mostrarintegra?codteor=3068110&amp;filename=Tramitacao-REQ+370%2F2025+CSPCCO</a:t>
            </a:r>
          </a:p>
          <a:p xmlns:a="http://schemas.openxmlformats.org/drawingml/2006/main">
            <a:r>
              <a:t>- CVM — apresentação à CAE, 24 fev. 2026: https://www.gov.br/cvm/pt-br/assuntos/noticias/anexos/2026/20260224-apresentacao-ppt-cae-cvm.pdf</a:t>
            </a:r>
          </a:p>
          <a:p xmlns:a="http://schemas.openxmlformats.org/drawingml/2006/main">
            <a:r>
              <a:t>- CVM — recomendações do GT Master: https://www.gov.br/cvm/pt-br/assuntos/noticias/2026/comite-de-riscos-da-cvm-analisa-recomendacoes-do-gt-master/</a:t>
            </a:r>
          </a:p>
          <a:p xmlns:a="http://schemas.openxmlformats.org/drawingml/2006/main">
            <a:r>
              <a:t>- ANTT — nota técnica com descrição da investigação e FIP Camaçari: https://www.gov.br/antt/pt-br/assuntos/rodovias/novos-projetos-em-rodovias/bndes-cn2-centro-oeste-norte/arquivos-para-download/comissao-de-outorga/nota-tecnica-antt-ndeg10395-2025-coed2-2025-sucon-dir-antt/@@download/file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 — processos relativos a Grupo Master, REAG e entidades conexas: https://www.gov.br/cvm/pt-br/assuntos/noticias/2026/informacoes-relativas-a-grupo-master-reag-e-outras-entidades-conexas</a:t>
            </a:r>
          </a:p>
          <a:p xmlns:a="http://schemas.openxmlformats.org/drawingml/2006/main">
            <a:r>
              <a:t>- CVM — recomendações do GT Master: https://www.gov.br/cvm/pt-br/assuntos/noticias/2026/comite-de-riscos-da-cvm-analisa-recomendacoes-do-gt-master/</a:t>
            </a:r>
          </a:p>
          <a:p xmlns:a="http://schemas.openxmlformats.org/drawingml/2006/main">
            <a:r>
              <a:t>- Metrópoles — planilhas do BRB obtidas por LAI, 6 abr. 2026: https://www.metropoles.com/colunas/demetrio-vecchioli/brb-comprou-r-304-bilhoes-em-ativos-do-banco-master-veja-planilhas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 — novo Informe Mensal, 8 mai. 2024: https://www.gov.br/cvm/pt-br/assuntos/noticias/2024/nova-versao-do-informe-mensal-para-fidc-disponivel-no-sistema-fundos.net</a:t>
            </a:r>
          </a:p>
          <a:p xmlns:a="http://schemas.openxmlformats.org/drawingml/2006/main">
            <a:r>
              <a:t>- CVM — Dados Abertos de fundos, 30 jan. 2025: https://www.gov.br/cvm/pt-br/assuntos/noticias/2025/portal-dados-abertos-cvm-traz-novidades-nas-informacoes-sobre-fundos-de-investimento</a:t>
            </a:r>
          </a:p>
          <a:p xmlns:a="http://schemas.openxmlformats.org/drawingml/2006/main">
            <a:r>
              <a:t>- CVM — novidades dos Dados Abertos, Tabela VIII em 13 ago. 2026: https://dados.cvm.gov.br/pages/novidades</a:t>
            </a:r>
          </a:p>
          <a:p xmlns:a="http://schemas.openxmlformats.org/drawingml/2006/main">
            <a:r>
              <a:t>- CVM/BCB — ACT, 13 abr. 2026: https://www.gov.br/cvm/pt-br/assuntos/noticias/2026/cvm-e-banco-central-fortalecem-cooperacao-para-o-aprimoramento-das-informacoes-de-credito-no-pais/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ANBIMA — manifestação na consulta pública CVM SDM 07/25: https://conteudo.cvm.gov.br/cvm_institucional/export/sites/cvm/audiencias_publicas/ap_sdm/anexos/2025/sdm0725__ANBIMA.PDF</a:t>
            </a:r>
          </a:p>
          <a:p xmlns:a="http://schemas.openxmlformats.org/drawingml/2006/main">
            <a:r>
              <a:t>- CVM — plano emergencial: https://www.gov.br/cvm/pt-br/assuntos/noticias/anexos/2026/20260527-plano-emergencial-de-reestruturacao-da-atividade-fiscalizatoria-da-cvm.pdf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 — plano emergencial, 27 mai. 2026: https://www.gov.br/cvm/pt-br/assuntos/noticias/2026/cvm-encaminha-ao-ministerio-da-fazenda-sua-proposta-de-plano-emergencial-de-reestruturacao-da-atividade-fiscalizatoria</a:t>
            </a:r>
          </a:p>
          <a:p xmlns:a="http://schemas.openxmlformats.org/drawingml/2006/main">
            <a:r>
              <a:t>- CVM — homologação pelo STF, 3 jul. 2026: https://www.gov.br/cvm/pt-br/assuntos/noticias/2026/plano-emergencial-de-reestruturacao-da-cvm-e-homologado-pelo-stf-e-reforca-condicoes-para-atuacao-da-autarquia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 — FAQ de Termo de Compromisso: https://www.gov.br/cvm/pt-br/assuntos/processos/termos-de-compromisso</a:t>
            </a:r>
          </a:p>
          <a:p xmlns:a="http://schemas.openxmlformats.org/drawingml/2006/main">
            <a:r>
              <a:t>- Lei 6.385/1976: https://www.planalto.gov.br/ccivil_03/leis/l6385compilada.htm</a:t>
            </a:r>
          </a:p>
          <a:p xmlns:a="http://schemas.openxmlformats.org/drawingml/2006/main">
            <a:r>
              <a:t>- Lei 7.347/1985: https://www.planalto.gov.br/ccivil_03/leis/l7347compilada.htm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ANBIMA — Singulare, 17 jul. 2025: https://www.anbima.com.br/pt_br/noticias/confira-os-termos-de-compromisso-firmados-com-instituicoes-que-seguem-os-codigos-anbima-8A2AB2AE97EC651A01981922CDCC3732-00.htm</a:t>
            </a:r>
          </a:p>
          <a:p xmlns:a="http://schemas.openxmlformats.org/drawingml/2006/main">
            <a:r>
              <a:t>- ANBIMA — BRL Trust, 15 jul. 2024: https://www.anbima.com.br/data/files/73/B4/6B/BF/1604C910CF6A83C9F82BA2A8/TC_-_BRL_Trust_Distribuidora_de_Titulos_e_Valores_Mobiliarios_S_A__-_15_07_2024_-_AGRT_pdf</a:t>
            </a:r>
          </a:p>
          <a:p xmlns:a="http://schemas.openxmlformats.org/drawingml/2006/main">
            <a:r>
              <a:t>- ANBIMA — Vórtx, 13 nov. 2025: https://www.anbima.com.br/data/files/9C/95/5D/34/9E23C910342903C9BA2BA2A8/TC%20_AGRT0042025_Vorx%20DTVM%20Ltda.pdf</a:t>
            </a:r>
          </a:p>
          <a:p xmlns:a="http://schemas.openxmlformats.org/drawingml/2006/main">
            <a:r>
              <a:t>- ANBIMA — termos no acordo CVM-ANBIMA, 1S25: https://www.anbima.com.br/pt_br/noticias/anbima-firma-termos-de-compromisso-com-cinco-instituicoes-no-1-semestre-dentro-do-acordo-de-cooperacao-com-a-cvm.htm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https://www.gov.br/cvm/pt-br/assuntos/noticias/2015/cvm-pune-administrador-e-custodiante-de-fidcs-a2fe68e49c584da6acb67577c2459864</a:t>
            </a:r>
          </a:p>
          <a:p xmlns:a="http://schemas.openxmlformats.org/drawingml/2006/main">
            <a:r>
              <a:t>- https://www.gov.br/cvm/pt-br/assuntos/noticias/2025/cvm-analisa-propostas-de-termo-de-compromisso-apresentadas-por-bem-dtvm-e-seu-diretor-responsavel-e-por-more-invest-gestora-de-recursos</a:t>
            </a:r>
          </a:p>
          <a:p xmlns:a="http://schemas.openxmlformats.org/drawingml/2006/main">
            <a:r>
              <a:t>- https://www.gov.br/cvm/pt-br/assuntos/noticias/2026/informacoes-relativas-a-grupo-master-reag-e-outras-entidades-conexas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CVM/BCB — ACT, 13 abr. 2026: https://www.gov.br/cvm/pt-br/assuntos/noticias/2026/cvm-e-banco-central-fortalecem-cooperacao-para-o-aprimoramento-das-informacoes-de-credito-no-pais/</a:t>
            </a:r>
          </a:p>
          <a:p xmlns:a="http://schemas.openxmlformats.org/drawingml/2006/main">
            <a:r>
              <a:t>- CVM — Informativo do Colegiado sobre o ACT: https://conteudo.cvm.gov.br/cvm_institucional/export/sites/cvm/publicacao/informativos_colegiado/anexos/2026/Informativo01_RC03022026.pdf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fórmula geométrica usa o retorno mensal reportado somente após validação de unidade, cobertura e consistência. O retorno econômico de caso específico exige fluxos por cota e datas efetivas.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https://cvmweb.cvm.gov.br/SWB/Sistemas/SCW/PadroesXML/PadraoXMLMensalFIDC576.asp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- https://fnet.bmfbovespa.com.br/fnet/publico/consultarDocumentosCVM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- https://fnet.bmfbovespa.com.br/fnet/publico/consultarDocumentosCVM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28eadab0cd45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0808f9ec0a4b64" /><Relationship Type="http://schemas.openxmlformats.org/officeDocument/2006/relationships/slideLayout" Target="/ppt/slideLayouts/slideLayout1.xml" Id="R409aef7270184f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9aef7270184f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tau BBA editorial">
      <a:dk1>
        <a:srgbClr val="161616"/>
      </a:dk1>
      <a:lt1>
        <a:srgbClr val="FFFFFF"/>
      </a:lt1>
      <a:dk2>
        <a:srgbClr val="2B2B2B"/>
      </a:dk2>
      <a:lt2>
        <a:srgbClr val="E6E6E6"/>
      </a:lt2>
      <a:accent1>
        <a:srgbClr val="EC7000"/>
      </a:accent1>
      <a:accent2>
        <a:srgbClr val="2B2B2B"/>
      </a:accent2>
      <a:accent3>
        <a:srgbClr val="858585"/>
      </a:accent3>
      <a:accent4>
        <a:srgbClr val="A73B36"/>
      </a:accent4>
      <a:accent5>
        <a:srgbClr val="2B6B4F"/>
      </a:accent5>
      <a:accent6>
        <a:srgbClr val="B85300"/>
      </a:accent6>
      <a:hlink>
        <a:srgbClr val="B85300"/>
      </a:hlink>
      <a:folHlink>
        <a:srgbClr val="5B5B5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69188895a4238" /><Relationship Type="http://schemas.openxmlformats.org/officeDocument/2006/relationships/notesSlide" Target="/ppt/notesSlides/notesSlide1.xml" Id="R00dd71ce29164a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48798954848ea" /><Relationship Type="http://schemas.openxmlformats.org/officeDocument/2006/relationships/notesSlide" Target="/ppt/notesSlides/notesSlide2.xml" Id="R716e94997bb14d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66b5871b74723" /><Relationship Type="http://schemas.openxmlformats.org/officeDocument/2006/relationships/notesSlide" Target="/ppt/notesSlides/notesSlide3.xml" Id="Rbbf1d82a2c5343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9dcd4886d442f" /><Relationship Type="http://schemas.openxmlformats.org/officeDocument/2006/relationships/notesSlide" Target="/ppt/notesSlides/notesSlide4.xml" Id="R49b2ad15e47549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55000122346e2" /><Relationship Type="http://schemas.openxmlformats.org/officeDocument/2006/relationships/notesSlide" Target="/ppt/notesSlides/notesSlide5.xml" Id="Ra40cbbb7dcbb4d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4d8242bc74ac4" /><Relationship Type="http://schemas.openxmlformats.org/officeDocument/2006/relationships/notesSlide" Target="/ppt/notesSlides/notesSlide6.xml" Id="R39d4344468b642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365e435a54f93" /><Relationship Type="http://schemas.openxmlformats.org/officeDocument/2006/relationships/notesSlide" Target="/ppt/notesSlides/notesSlide7.xml" Id="R8cceb1ea148242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245e383f146cd" /><Relationship Type="http://schemas.openxmlformats.org/officeDocument/2006/relationships/notesSlide" Target="/ppt/notesSlides/notesSlide8.xml" Id="R0890a918ad5841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d1e454bd04f95" /><Relationship Type="http://schemas.openxmlformats.org/officeDocument/2006/relationships/notesSlide" Target="/ppt/notesSlides/notesSlide9.xml" Id="R377a6e98b54f42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3e5469a1143d9" /><Relationship Type="http://schemas.openxmlformats.org/officeDocument/2006/relationships/notesSlide" Target="/ppt/notesSlides/notesSlide10.xml" Id="R7af8e8fdede54d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819bb5c0a4fcd" /><Relationship Type="http://schemas.openxmlformats.org/officeDocument/2006/relationships/notesSlide" Target="/ppt/notesSlides/notesSlide11.xml" Id="R1a6ffeed8c5941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83db9811a4831" /><Relationship Type="http://schemas.openxmlformats.org/officeDocument/2006/relationships/notesSlide" Target="/ppt/notesSlides/notesSlide12.xml" Id="Rbf5efac79abc4e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c784bbbcc44d5" /><Relationship Type="http://schemas.openxmlformats.org/officeDocument/2006/relationships/notesSlide" Target="/ppt/notesSlides/notesSlide13.xml" Id="Raabda0a5cad145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bdce30e5e4715" /><Relationship Type="http://schemas.openxmlformats.org/officeDocument/2006/relationships/notesSlide" Target="/ppt/notesSlides/notesSlide14.xml" Id="R84b427c3c42b4e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deb0eb2e54f51" /><Relationship Type="http://schemas.openxmlformats.org/officeDocument/2006/relationships/notesSlide" Target="/ppt/notesSlides/notesSlide15.xml" Id="R43c3dbc0d51644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9638bdd164015" /><Relationship Type="http://schemas.openxmlformats.org/officeDocument/2006/relationships/notesSlide" Target="/ppt/notesSlides/notesSlide16.xml" Id="Rf194ccd7748049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a18530cef481a" /><Relationship Type="http://schemas.openxmlformats.org/officeDocument/2006/relationships/notesSlide" Target="/ppt/notesSlides/notesSlide17.xml" Id="Rc1379ac894674a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5e062ba1b44a8" /><Relationship Type="http://schemas.openxmlformats.org/officeDocument/2006/relationships/notesSlide" Target="/ppt/notesSlides/notesSlide18.xml" Id="Rfed950883b674a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2c56e85ce4e2e" /><Relationship Type="http://schemas.openxmlformats.org/officeDocument/2006/relationships/notesSlide" Target="/ppt/notesSlides/notesSlide19.xml" Id="Rf77b03a1d084470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961db13f34798" /><Relationship Type="http://schemas.openxmlformats.org/officeDocument/2006/relationships/notesSlide" Target="/ppt/notesSlides/notesSlide20.xml" Id="R9bd23f1fab2142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e3bd65ce141f7" /><Relationship Type="http://schemas.openxmlformats.org/officeDocument/2006/relationships/notesSlide" Target="/ppt/notesSlides/notesSlide21.xml" Id="R5a0b9afbdae84f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72d204ba5447f" /><Relationship Type="http://schemas.openxmlformats.org/officeDocument/2006/relationships/notesSlide" Target="/ppt/notesSlides/notesSlide22.xml" Id="R608c15323d124c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cacb041f34f25" /><Relationship Type="http://schemas.openxmlformats.org/officeDocument/2006/relationships/notesSlide" Target="/ppt/notesSlides/notesSlide23.xml" Id="Rf5d2c3fbe63542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D7E0D-0D75-48EE-B8F8-3A50B962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00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Dados da Indústria ·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04EDD-1EAF-4023-881E-3C42A42A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14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360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Casos de crédito,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360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regulação e mensuração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360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de risco e retorno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64539-406F-43DC-9FA8-AAA3B43B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C7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AB8AE-83FA-4BCB-9325-9AC6245E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1500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Blue II / Azul · MCPO / Maqcampo · Lavoro · Americanas · SAV Nexoos · FIDC Light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08F9F-984C-4697-B03F-18E5A46D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1350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Leitura documental, cronologia de gatilhos, efetividade regulatória e protocolo de rentabilidade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0157D-AF5D-419B-B41E-49BC4E84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20 de agosto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410A4-7146-4B7E-AB80-0F15D7F1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88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Material de trabalho · objetos editáveis em PowerPoint</a:t>
            </a:r>
          </a:p>
        </p:txBody>
      </p:sp>
    </p:spTree>
    <p:extLst>
      <p:ext uri="{BB962C8B-B14F-4D97-AF65-F5344CB8AC3E}">
        <p14:creationId xmlns:p14="http://schemas.microsoft.com/office/powerpoint/2010/main" val="1218118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DAE7D-E347-4139-B6A3-87BB036B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Leitura executiva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52450-010E-4EE8-B146-32C0FC87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Seis casos com canais distintos de materialização da perda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CA0A5-F9A1-486E-B511-9617F523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409700"/>
          <a:ext xmlns:a="http://schemas.openxmlformats.org/drawingml/2006/main" cx="1106805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000250"/>
                <a:gridCol w="2476500"/>
                <a:gridCol w="2647950"/>
                <a:gridCol w="2514600"/>
              </a:tblGrid>
              <a:tr h="40005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Ativo / 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Primeiro sinal documentado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Transmissão econômica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Lição para os dados</a:t>
                      </a:r>
                    </a:p>
                  </a:txBody>
                  <a:tcPr marL="91440" marR="91440" marT="45720" marB="45720"/>
                </a:tc>
              </a:tr>
              <a:tr h="9239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Blue II / Azul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Debêntures da Azul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Waivers e disputa sobre amortização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Perda atravessa Júnior, Mezaninos e Sênior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Inadimplência aparece tarde</a:t>
                      </a:r>
                    </a:p>
                  </a:txBody>
                  <a:tcPr marL="91440" marR="91440" marT="45720" marB="45720"/>
                </a:tc>
              </a:tr>
              <a:tr h="9239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MCPO + Lavoro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Recebíveis do agronegócio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Subordinação, aging, resolução e downgrade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Liquidação, waivers e dissidência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Atas antecedem o colapso do PL</a:t>
                      </a:r>
                    </a:p>
                  </a:txBody>
                  <a:tcPr marL="91440" marR="91440" marT="45720" marB="45720"/>
                </a:tc>
              </a:tr>
              <a:tr h="9239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Americanas / Vinci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Debênture LAMEA6/LAMEAA6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Queda de preço após inconsistências contábeis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Marcação diária na cota única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Preço antecede atraso</a:t>
                      </a:r>
                    </a:p>
                  </a:txBody>
                  <a:tcPr marL="91440" marR="91440" marT="45720" marB="45720"/>
                </a:tc>
              </a:tr>
              <a:tr h="9239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SAV Nexoos + Light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CCBs de PMEs / fluxo futuro de energia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Atraso PME / rebaixamento e gatilho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Caixa prioriza seniores; subordinadas ficam com o residual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Estrutura e rating podem liderar o Informe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2E6A6-3AF9-4887-AE82-B21E7EF8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1068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Leitura recomendada: evento societário → gatilho contratual → decisão de cotistas → efeito por prioridade de cota → consistência do dado regulatório.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ACB45-87B3-47F4-856A-FC85D929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20 ago. 2026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746304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FEB533-95C8-4765-9D2F-BADB9A52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Caso 1 · Azul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17265-5D3C-4DBE-9842-4F450C7A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Blue II: os waivers antecederam a liquidação e a perda atravessou o waterfall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620C8-25F0-4046-86CF-086913F2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1A0C2-1F7E-4572-8E2E-8881F990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Estrutura inicial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552450" y="1562100"/>
          <a:ext xmlns:a="http://schemas.openxmlformats.org/drawingml/2006/main" cx="4857750" cy="201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3619500"/>
              </a:tblGrid>
              <a:tr h="32385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Leitura documental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Constituição / oferta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Jun/24; 1ª emissão para investidores profissionais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Limites e benchmark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Sênior R$180 mi CDI+3,65%; Mezanino I R$180 mi CDI+5,75%; Mezanino II R$210 mi CDI+8,89%; júnior privada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Cotistas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Nomes não publicados; atas revelam um titular com 56,98% da sênior e 36,30% da Mezanino I; júnior concentrada em um titular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“Dívidas Corporativas”: 12ª emissão de debêntures da Azul Linhas Aéreas; concentração permitida em 100%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F1F7D-F4A5-42F2-92F0-291E0FDE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52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Cronologia dos gatilhos e decisões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6074E-C9F7-47FB-9E80-66225782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192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5DD87-62CD-4C02-8757-35310CEC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158C5-291D-4ED6-8B26-490BA6D6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525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Jun/24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A2B7D-6F06-43FC-BFC2-0849F557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50495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Emissão e compra da debênture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3A271-17A6-4B30-849A-3748AF1B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73355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Amortização pública prevista de jan/25 a jun/26.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348EE-ED8D-4F7E-BED1-EC0E8D2E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81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AD453-299D-4E71-B2A3-69186DF7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62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Out/24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51F02-A480-4DC3-8E6E-974902AE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14575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Primeira disputa de caixa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667ED-579A-4BB5-9D17-87049E5D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43175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Mudança da amortização e retirada de penalidade foram rejeitadas; grande cotista sênior/mezanino I se opôs.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902F0-FC08-41D2-98A2-296C0946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2BC76-FC7E-4F69-BD50-7168AE7F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718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Dez/24–abr/25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300A3-988F-4972-862A-537057E6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2420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Waivers de alavancagem e liquidez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4264A-2741-41E4-9C7A-12840AD8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35280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Covenants foram pré-dispensados; garantia e recebíveis foram renegociados.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16277-7260-4978-A9EE-70059EA6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05927-FAFB-4CA9-8C01-AC9E2A0E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28 mai/25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A748C-27FA-4188-A149-E473A15E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33825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Azul entra em Chapter 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29A4EC-AEBA-4802-AF9E-8A63F6BD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62425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Evento de liquidação do fundo é reconhecido.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B501B-5F81-4408-B505-BFC6575D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2E3494-BE79-4877-9FB2-2E21DC12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91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Jun–jul/25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1AD360-F1C5-4E4C-8902-24123CCA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4345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Assembleias divididas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7C8E29-E41C-47F2-8815-037AE15B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7205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Sem quórum para interromper liquidação; júnior declara conflito e se abstém; contratação jurídica é aprovada pelos não conflitados.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BC4BB5-B5C2-4F66-AD11-EBC8692D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Sinais, decisões e fontes</a:t>
            </a:r>
          </a:p>
        </p:txBody>
      </p:sp>
      <p:graphicFrame>
        <p:nvGraphicFramePr>
          <p:cNvPr id="62" name=""/>
          <p:cNvGraphicFramePr/>
          <p:nvPr/>
        </p:nvGraphicFramePr>
        <p:xfrm>
          <a:off xmlns:a="http://schemas.openxmlformats.org/drawingml/2006/main" x="552450" y="4000500"/>
          <a:ext xmlns:a="http://schemas.openxmlformats.org/drawingml/2006/main" cx="4857750" cy="1924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5850"/>
                <a:gridCol w="2343150"/>
                <a:gridCol w="1428750"/>
              </a:tblGrid>
              <a:tr h="285750"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Dado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Valor / leitura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Coleta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Subordinação mínima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5% júnior; 40% Mezanino II + júnior; 70% total subordinado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Regulamento · Fundos.NET 686749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R$ 46,1 mi em jul/25; R$ 307,5 mi em jul/24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Informe Mensal CVM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Carteira e atraso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R$ 43,4 mi de carteira e R$ 163,2 mi de inadimplência em jul/25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Informe Mensal CVM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Júnior em –100% desde jun/25; perdas posteriores nas camadas superiores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Página do administrador · Oliveira Trust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Assembleia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27 jun/25 sem quórum; liquidação prosseguiu. Em 24 jul, a júnior declarou conflito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Atas · Fundos.NET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51E46-D624-4665-93F6-2A2984F4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Blue II Segmento Crédito Corporativo FIDC · CNPJ 55.374.251/0001-28 · valores da oferta são limites, não colocação efetiva</a:t>
            </a:r>
          </a:p>
        </p:txBody>
      </p:sp>
    </p:spTree>
    <p:extLst>
      <p:ext uri="{BB962C8B-B14F-4D97-AF65-F5344CB8AC3E}">
        <p14:creationId xmlns:p14="http://schemas.microsoft.com/office/powerpoint/2010/main" val="7491063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D83B3A-B54E-4986-8889-85719B06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Caso 2 · Maqcampo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5952F-50C1-434A-BD59-3330DEEA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MCPO: a quebra da subordinação foi seguida por aging, falta de amortização e liquidação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1DA2B-A1CF-49F3-B63D-4CF1CD4F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04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552450" y="1562100"/>
          <a:ext xmlns:a="http://schemas.openxmlformats.org/drawingml/2006/main" cx="4857750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62050"/>
                <a:gridCol w="3695700"/>
              </a:tblGrid>
              <a:tr h="32385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Leitura documental</a:t>
                      </a:r>
                    </a:p>
                  </a:txBody>
                  <a:tcPr marL="91440" marR="91440" marT="45720" marB="45720"/>
                </a:tc>
              </a:tr>
              <a:tr h="447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4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1ª emissão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Fechamento 5 jun/24: sênior R$215,966 mi + júnior R$5,547 mi; valor unitário R$1 mil</a:t>
                      </a:r>
                    </a:p>
                  </a:txBody>
                  <a:tcPr marL="91440" marR="91440" marT="45720" marB="45720"/>
                </a:tc>
              </a:tr>
              <a:tr h="447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4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Distribuição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Sênior: 2 subscritores — intermediário 192.737 cotas e instituição relacionada 23.229; júnior: 3 fundos</a:t>
                      </a:r>
                    </a:p>
                  </a:txBody>
                  <a:tcPr marL="91440" marR="91440" marT="45720" marB="45720"/>
                </a:tc>
              </a:tr>
              <a:tr h="447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4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Emissão posterior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Mezanino privada de R$72 mi; benchmark de 50% do CDI após os 12 primeiros meses; sênior: benchmark não localizado no documento consultado</a:t>
                      </a:r>
                    </a:p>
                  </a:txBody>
                  <a:tcPr marL="91440" marR="91440" marT="45720" marB="45720"/>
                </a:tc>
              </a:tr>
              <a:tr h="447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4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Direitos performados de vendas a prazo e serviços da Maqcampo a clientes de máquinas e implementos agrícolas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0D32E-5460-4EEA-8EE4-CDD409A8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1925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6CA06-01AF-4B4F-BE24-546D7B0A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465A0-F7B7-4B1C-8AC2-6096216D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525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Out/24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30F6D-2C46-4F80-A42B-CF5CE52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50495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Subordinação em 18,26%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0DCBE-7BD6-4F0C-9CEA-7E1FF5B1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73355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Mínimo contratual de 20%; evento reconhecido em fev/mar de 2025.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99838-458E-4D49-9E4D-073D645D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90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86772-C389-4031-80A6-7D83EC67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717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Mar/25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6C4F2-6CCC-4707-B609-617454FF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2410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Cotistas concedem waiver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AF6C0-94CD-467C-B4EA-E1BF167D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5270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Liquidação é afastada e caixa passa a priorizar a cota sênior.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2AAAA-9F54-49D4-9F26-D8FD4F85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209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3729A-9A76-4B35-A550-482C061A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908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Mai–jun/25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49E5B-BD21-495C-BEAD-FA57EECD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4325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Aging &gt; limite e amortização incompleta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B5BD5-3026-4605-AEE9-857A029C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37185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30–180 dias em 10,69% e saldo de R$2,51 mi da amortização sênior.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618C6-0C3B-45CD-B911-DEC1089F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DE184-5FD9-4853-AE0B-67F8118B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00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Jul/25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F4817-31C4-4B73-AEB2-9D89183C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6240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Aging rompe quatro faixas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CCE23-D648-4375-9593-D49D1142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9100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30–180: 12,81%; 60–180: 12,73%; 90–180: 11,89%; 120–180: 11,74%; subordinação cai a 8,30%.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6576B0-D85C-4CF7-9051-0BF35CEE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848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FE147-B471-48C0-B2C0-8161C514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291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Ago–out/25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79EDBE-31D4-4B79-BD66-292BBADD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8155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Liquidação e troca operacional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9AEFC4-D180-480F-9E85-A08833C1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01015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97,95% aprovam liquidação antecipada; ABC é substituída e Angá assume a gestão integral.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E5B2CB-6930-4A92-9FEE-F6F92990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Estrutura e colocação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BD87B4-FE6E-43DA-887B-05C75D96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525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Cronologia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9D3E7-95C8-44FC-B12C-13459F3A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Deterioração, decisão e fontes</a:t>
            </a:r>
          </a:p>
        </p:txBody>
      </p:sp>
      <p:graphicFrame>
        <p:nvGraphicFramePr>
          <p:cNvPr id="62" name=""/>
          <p:cNvGraphicFramePr/>
          <p:nvPr/>
        </p:nvGraphicFramePr>
        <p:xfrm>
          <a:off xmlns:a="http://schemas.openxmlformats.org/drawingml/2006/main" x="552450" y="4114800"/>
          <a:ext xmlns:a="http://schemas.openxmlformats.org/drawingml/2006/main" cx="4857750" cy="177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0125"/>
                <a:gridCol w="2400300"/>
                <a:gridCol w="1457325"/>
              </a:tblGrid>
              <a:tr h="285750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Dado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Valor / leitura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Coleta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Subordinação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8,30% em jul/25, ante mínimo de 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Atas e regulamento · Fundos.NET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Inadimplência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R$ 63,7 mi em mar/25; R$ 70,0 mi sobre R$ 96,6 mi de carteira em jun/26 (72,5%)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Informe Mensal CVM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Júnior zerada em jun/25; mezanino zerou em 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Página do administrador · Oliveira Trust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Conflito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Em ago/26, Maqcampo declarou conflito e se absteve; demais aprovaram resolução parcelada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Ata · Fundos.NET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6F7F0B-498A-4481-B4C6-B12A63FB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MCPO FIDC · CNPJ 52.968.533/0001-65 · cedente Maqcampo Soluções Agrícolas S.A.</a:t>
            </a:r>
          </a:p>
        </p:txBody>
      </p:sp>
    </p:spTree>
    <p:extLst>
      <p:ext uri="{BB962C8B-B14F-4D97-AF65-F5344CB8AC3E}">
        <p14:creationId xmlns:p14="http://schemas.microsoft.com/office/powerpoint/2010/main" val="648633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FF07D6-131E-4A1C-9B45-2ABD1F8A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Caso 3 · Lavoro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915BE-9C83-40AD-8AF1-B52FED44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Lavoro: dois veículos, waivers sucessivos e conflito na decisão de liquidar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4B55C-A2F5-4412-A7EB-3FEF73C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FED12-324A-4A38-8136-4813A537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Estruturas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552450" y="1543050"/>
          <a:ext xmlns:a="http://schemas.openxmlformats.org/drawingml/2006/main" cx="1106805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857500"/>
                <a:gridCol w="2571750"/>
                <a:gridCol w="2476500"/>
                <a:gridCol w="1352550"/>
              </a:tblGrid>
              <a:tr h="323850"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Emissão e benchmark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Cotistas / colocação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Coleta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Lavoro Agro FIDC I · 2022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Estrutura de até R$160 mi. Out/22: sênior R$99,8 mi a CDI+2,45%; Mezanino A R$25,1 mi a CDI+5%; Mezanino B R$33,7 mi a CDI+8%; júnior R$10,4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Cotistas nominais não publicados; coordenação Itaú BBA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Recebíveis comerciais de defensivos, fertilizantes, biofertilizantes, sementes e outros insumos do grupo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Regulamento e oferta · Fundos.NET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Lavoro Agro II FIAGRO-FIDC · 2024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Sênior de R$248 mi em 2 ago/24, CDI+3,5% e garantia firme; subordinada privada de cerca de R$62,7 mi, CDI+0% e suporte de 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 fundos tomaram R$48 mi; intermediário tomou R$200 mi. Companhia citou Itaú BBA e Itaú Asset como principais investidores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Direitos creditórios ligados à cadeia de insumos agrícolas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Documentos da oferta · Fundos.NET e SEC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60143-3BEB-46F6-AAF7-C0C3D360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Cronologia comum do estresse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0D006-18A3-4256-BD9A-DAEA8250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82A84-AAB4-4AF1-ABAF-D2C081A9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62B62-5F77-46E7-8C43-5433B0ED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Jan–abr/25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00AF6-A050-4B44-A337-0CF4FA87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3434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Perda, resolução e downgrade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F2A0E-EBEA-4054-AA34-3C971F27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705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Índices de perda/resolução e rebaixamento de rating acionam eventos; primeira proposta recebe só 3%.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6C531-17CB-474A-89C3-338B99D5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5FCCF-8308-44DB-80CF-4B72FD02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088" y="37147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19 mai/25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FF769-F90E-4EA8-952D-BEC41E31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338" y="43434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Waivers e caixa protegido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501C0-83D2-4144-BAAA-348BA324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4705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78% aprovam waivers retroativos, compras apenas para resolução/substituição e nova discussão sobre liquidação.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99528-26C8-434B-8844-35690A97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EBEB7-F8C0-4368-9C9E-13DD156D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7147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18 jun/25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1D6EC-C1BB-4AD9-AB8C-3AB1DD57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434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Recuperação da Agrovenci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6D7A9-186B-4538-ACB8-8DD06F9F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05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Evento de liquidação antecipada nos dois veículos; assembleias do II não alcançam quórum.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794DC-18C3-4F9C-80A5-CC2958DC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913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CAB82-1079-48D1-AB24-6B1ED480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463" y="37147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18 jul/25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B63FB-3F43-46A3-A0A2-EF5B0D9C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43434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Conflito entre classes no FIDC 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224034-067D-44FE-9412-A1B11124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613" y="4705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Maioria afasta liquidação; Mezanino B vota pela liquidação e exerce retirada dissidente, sem caixa imediato.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0D7065-63A4-4012-97D5-F870C19F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5AA85-42BC-47C4-B899-085E71AE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7147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Ago/25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ABFFA-C283-4435-98A8-92515974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434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Novos pleitos fracassam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E11C3-63D7-4D98-AB90-1E558A56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705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Mudança da Mezanino B é rejeitada; no II, matérias ficam sem aprovação por ausência de votos.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8AB95-C8C2-4561-9D1D-54A4C8CD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06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8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Informe Mensal CVM, ago/25: a inadimplência bruta reportada excede a carteira nos dois veículos. A série requer reconciliação por campo, competência, resolução e substituição de direitos.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5BDC2-A957-4FF3-A949-18DD4233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Lavoro Agro FIDC I · 44.272.584/0001-20 | Lavoro Agro II FIAGRO-FIDC · 55.476.342/0001-74</a:t>
            </a:r>
          </a:p>
        </p:txBody>
      </p:sp>
    </p:spTree>
    <p:extLst>
      <p:ext uri="{BB962C8B-B14F-4D97-AF65-F5344CB8AC3E}">
        <p14:creationId xmlns:p14="http://schemas.microsoft.com/office/powerpoint/2010/main" val="3404017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C0F427-28ED-489F-BE9C-24A2D75D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Caso 4 · Americanas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C2003-A67E-4695-91B8-9B7C12B1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Americanas: a marcação a mercado atingiu a cota antes de surgir inadimplência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03BE5-D97F-44FF-9CA8-370D1912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1402F-6970-4FCA-9BC8-E9A25998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Caso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552450" y="1562100"/>
          <a:ext xmlns:a="http://schemas.openxmlformats.org/drawingml/2006/main" cx="40005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0100"/>
                <a:gridCol w="2095500"/>
                <a:gridCol w="1104900"/>
              </a:tblGrid>
              <a:tr h="323850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Campo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Leitura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Coleta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Fundo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Vinci Antecipe Plus FIDC · CNPJ 35.688.072/0001-58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Regulamento · Fundos.NET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Início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28 abr. 2020; condomínio aberto; prazo indeterminado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Cadastro e regulamento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Classe única; sem waterfall, rating ou benchmark contratual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Regulamento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Política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Debêntures, CRI, CRA, CCB e outros direitos/títulos de crédito; cotas para qualificados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Regulamento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Cotistas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Nomes não publicados. Ata de 2024 registra um cotista com 100% das cotas, sem vínculo público com Americanas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Ata · Fundos.NET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Exposição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LAMEA6/LAMEAA6; marcação diária do ativo transmitiu a perda à cota única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DF auditadas e fato relevante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C8B8A-7A45-40F4-A6C1-24F07341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525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Cronologia da exposição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71CEB-E730-4C89-9401-59B63995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19250"/>
            <a:ext cx="0" cy="3409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706EB-A5BB-4A21-BEDC-91F86360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1BD40-9D60-426C-80DB-04E9B96A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525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30 nov/21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7F394-04AA-47D6-B51D-5C5B99FF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04950"/>
            <a:ext cx="532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LAMEA6 em 28,77% do 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CC8AB-3F19-4D8D-9B87-08FAC93B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33550"/>
            <a:ext cx="532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Valor contábil aproximado de R$817 mil.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8EA45-9BE5-496B-BB1F-7977D65B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241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02595-6E64-41A3-91B7-8EB60FAF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05063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30 nov/22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0994D-2BA8-4F4C-8258-CB8F9FC0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57438"/>
            <a:ext cx="532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Posição reduzida para 7,17% do PL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ED2FC-9BA5-4AEB-B613-68AD1600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86038"/>
            <a:ext cx="532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678 debêntures, R$417 mil; IPCA+7,40%, vencimento em 15 out/2030.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BFA57-60E4-4C8D-93F0-3AF6884B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36A86-76E3-498A-8A0F-B8C9365A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11 jan/23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EBD26-0D89-4760-8520-370368E9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209925"/>
            <a:ext cx="532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Americanas divulga inconsistências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ACF33-5FCC-4BE2-B8C1-F6048C35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38525"/>
            <a:ext cx="532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Preço indicativo da debênture cai de forma relevante.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635B0-7FFD-4515-938B-A9FFE82D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1290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D1FCE-C8EC-4191-9C24-9009F996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10038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13 jan/23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344DE-65DA-4A9F-9B4B-C73BD4A0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62413"/>
            <a:ext cx="532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Impacto de –5,9330% no PL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C8D496-6BEB-4479-8227-DBCD6FD1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291013"/>
            <a:ext cx="532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Fato relevante de 16 jan informa exposição de 12,7914% do PL naquele momento.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AA3AC1-ABCA-4B85-AC6D-F79CD68F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2A13B-1857-4036-B8D8-52908E50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625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19–25 jan/23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1F3C4D-AA6C-4BB2-9AC5-7A0547AA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14900"/>
            <a:ext cx="532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RJ e proteção nos EUA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04FB4E-229C-4C73-9125-7D8E7474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143500"/>
            <a:ext cx="532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Ajuste ocorreu pela avaliação diária do ativo; busca documental não localizou assembleia específica ligada ao evento.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906DD3-02FB-4273-884C-2720102B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67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Mecanismo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826A0B-0232-4024-8C68-6F8BDDFA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29250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0">
                <a:solidFill>
                  <a:srgbClr val="2B2B2B"/>
                </a:solidFill>
                <a:latin typeface="Itau Display"/>
                <a:ea typeface="Itau Display"/>
                <a:cs typeface="Itau Display"/>
              </a:defRPr>
            </a:pPr>
            <a:r>
              <a:rPr sz="885" b="0">
                <a:solidFill>
                  <a:srgbClr val="2B2B2B"/>
                </a:solidFill>
                <a:latin typeface="Itau Display"/>
                <a:ea typeface="Itau Display"/>
                <a:cs typeface="Itau Display"/>
              </a:rPr>
              <a:t>Preço ANBIMA/fluxo descontado → redução do valor do ativo → perda na cota única. Fonte: DF auditadas e fato relevante de 16 jan. 2023.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FE3926-1C2F-4E3A-B04B-FB1DCDD6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Vinci Antecipe Plus FIDC · BRL Trust · valores de 2021/2022 em demonstrações auditadas; fato relevante em 16 jan. 2023</a:t>
            </a:r>
          </a:p>
        </p:txBody>
      </p:sp>
    </p:spTree>
    <p:extLst>
      <p:ext uri="{BB962C8B-B14F-4D97-AF65-F5344CB8AC3E}">
        <p14:creationId xmlns:p14="http://schemas.microsoft.com/office/powerpoint/2010/main" val="1367078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F5332A-25E4-436B-861E-83DA2B54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Caso 5 · SAV Nexoos / Americanas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36F33-333D-46D1-A125-B4C2163F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SAV Nexoos: a carteira PME deteriorou antes da crise da Americanas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4BA85-FA99-4019-AEA6-DC649A0E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57592-647A-44AF-AF23-76185A40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Estrutura, emissões e vínculo societário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552450" y="1476375"/>
          <a:ext xmlns:a="http://schemas.openxmlformats.org/drawingml/2006/main" cx="4857750" cy="23431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219200"/>
                <a:gridCol w="3638550"/>
              </a:tblGrid>
              <a:tr h="21431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35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Item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35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Leitura documental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</a:tr>
              <a:tr h="30861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Veículo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CNPJ 38.284.301/0001-67; início em 30 mar/21; BRL Trust até mai/24 e Hemera depois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Lastro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CCBs e empréstimos a PMEs originados na Plataforma Nexoos; sem coobrigação do cedente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30861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Sênior 1 e 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R$ 86,2 mi e R$ 103,8 mi; CDI + 4,5% a.a.; 48 meses e 24 meses de carência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Mezanino / Júnior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Mezanino R$ 41,5 mi a CDI + 7,0% a.a.; Júnior sem benchmark; subordinação total mínima de 30%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30861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Americanas / Ame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R$ 30,65 mi em dez/22; 56% da sênior, 2% da mezanino e 19% do PL; cadastro integral N/D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3AC58-0176-472A-A2D9-9041CD55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Sinais no Informe Mensal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552450" y="4171950"/>
          <a:ext xmlns:a="http://schemas.openxmlformats.org/drawingml/2006/main" cx="4857750" cy="17907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066800"/>
                <a:gridCol w="933450"/>
                <a:gridCol w="1714500"/>
                <a:gridCol w="1143000"/>
              </a:tblGrid>
              <a:tr h="21431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Competência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PL R$ mi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Atraso / carteira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Subordinação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</a:tr>
              <a:tr h="22574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mar/22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172,1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4,3%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49,2%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574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set/22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279,6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10,8%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30,1%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22574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out/22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198,8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13,9%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30,4%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574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dez/22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159,4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23,8%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27,9%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574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ago/23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64,8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119,6% bruto*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42,3%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E8BC4-AD2C-4AE2-8667-2BEAA702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66825"/>
            <a:ext cx="557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Cronologia do crédito e da liquidação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E604C-C120-49BC-8102-0D076D15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9725"/>
            <a:ext cx="0" cy="3543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B853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A1D7D-5228-4C7E-AE1E-40DF1A7F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60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53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8FA4A-C5C8-45A4-86F0-48711EA8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590675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mar–dez/21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085C8-B394-4079-8F6A-44100B7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581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6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Início e incorporação do SAV Omie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F2BF6-5E15-4FE1-A1D8-6C735F74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790700"/>
            <a:ext cx="426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O veículo inicia com Júnior e incorpora o SAV Omiexperience FIDC em dez/21.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76117-8E4A-4420-8AE5-9163A5B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53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DBF4B-A98A-4AF8-9606-567729A8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38400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fev–abr/22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9D7E9-B3A3-4C9C-BD16-769C3B2A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28875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6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Captação amplia o PL para R$ 280 mi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71CCD-0469-4109-AFDA-6CD4DCED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38425"/>
            <a:ext cx="426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Entram Mezanino e duas séries seniores; 71–72 contas são reportadas após a emissão.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2AD1A-D5DA-4D8D-B312-29922010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53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87E40-9F9F-4E6A-9BEF-09419EA4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286125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24 out/22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E3CD99-4F96-4F1F-ADDC-CD08A3BE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7660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6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Cotistas aprovam liquidação por unanimidade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906A1-CC84-470D-9448-02D7C5A2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86150"/>
            <a:ext cx="426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Altas de juros pressionam PMEs e projeções; cessam aquisições e começa o caixa Sênior → Mezanino.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62104-C362-469C-921E-F91F03E2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53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BB063-8120-4B87-A50E-4CAF9C50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33850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dez/22–ago/23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7876FB-876C-47D1-9A23-983B7C86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124325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6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Atraso e PDD consomem a proteção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34A7D-D484-4ADA-9D81-6AFA4C1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333875"/>
            <a:ext cx="426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Subordinação reportada cai a 27,9%; efeito vagão leva o atraso bruto acima da carteira.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168693-EB41-478F-903F-70D571A3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300"/>
          </a:solidFill>
          <a:ln xmlns:a="http://schemas.openxmlformats.org/drawingml/2006/main" w="13335">
            <a:solidFill>
              <a:srgbClr val="B853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738F8D-E491-4E1A-9B56-F1C9B45B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981575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6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2024–jun/26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3CF32C-6262-4322-89DC-3A9A625B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9720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6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Sênior é resgatada; sobra posição residual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194455-8A99-4025-BD5D-9BDD8400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181600"/>
            <a:ext cx="426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Ata posterior confirma resgate integral da Sênior. PL cai a R$ 0,7 mi; liquidação segue em curso.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E972D2-3EA9-4A95-9738-058729C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68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23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* O atraso bruto inclui parcelas futuras pelo efeito vagão e pode superar a carteira. O vínculo com LASA é societário e de investimento; a ata de out/22 não atribui causalidade à crise contábil de jan/23.</a:t>
            </a:r>
          </a:p>
        </p:txBody>
      </p:sp>
    </p:spTree>
    <p:extLst>
      <p:ext uri="{BB962C8B-B14F-4D97-AF65-F5344CB8AC3E}">
        <p14:creationId xmlns:p14="http://schemas.microsoft.com/office/powerpoint/2010/main" val="1020212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B4DDE7-4BBE-4CFA-A4D5-92DB411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Caso 6 · FIDC Light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6A3AB-8DBC-4ED9-AB26-019014F0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FIDC Light: rating e eventos jurídicos sinalizaram risco com atraso CVM zerado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F5938-6194-48AE-BEEA-4D0BB2B2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4068B-F77E-4168-A107-B30EE8AC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Estrutura e emissões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552450" y="1476375"/>
          <a:ext xmlns:a="http://schemas.openxmlformats.org/drawingml/2006/main" cx="4857750" cy="23431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219200"/>
                <a:gridCol w="3638550"/>
              </a:tblGrid>
              <a:tr h="21431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35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Item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35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Leitura documental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</a:tr>
              <a:tr h="30861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Veículo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CNPJ 29.665.468/0001-87; início em 4 jun/18; Oliveira Trust e XP Gestão/XP Vista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Lastro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Fluxo futuro de contas e serviços de energia da Light Serviços; arrecadação por contas vinculadas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30861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Sênior 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R$ 1,0 bi; CDI + 1,22% a.a.; 72 meses; vencimento previsto em jun/24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Sênior 2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R$ 400 mi; IPCA + 5,75% a.a.; 72 meses; vencimento previsto em jun/24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30861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Júnior / cotistas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682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R$ 35,03 mi inicial; 159–193 contas em 2023; cadastro integral N/D e exemplos públicos em EFPCs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0EF2E-C3FA-4FB3-A173-E7956502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Informe Mensal durante a crise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552450" y="4171950"/>
          <a:ext xmlns:a="http://schemas.openxmlformats.org/drawingml/2006/main" cx="4857750" cy="17907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219200"/>
                <a:gridCol w="1104900"/>
                <a:gridCol w="1390650"/>
                <a:gridCol w="1143000"/>
              </a:tblGrid>
              <a:tr h="21431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Competência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PL R$ mi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Atraso CVM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Contas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</a:tr>
              <a:tr h="22574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jan/23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516,5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0,0%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159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2574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fev/23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420,9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0,0%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148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22574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jun/23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230,5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0,0%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193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2574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ago/23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97,9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0,0%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193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22574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set/23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0,9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0,0%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69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5D2BE-5AC5-4BBF-BD97-29877E9B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66825"/>
            <a:ext cx="557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66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Cronologia dos gatilhos e da amortização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8A84F-7EAA-4FA0-8C65-97458AA9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09725"/>
            <a:ext cx="0" cy="3543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B853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A1F86-F178-492C-AC9B-E06E3B18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60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53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A451D-C8A4-42C2-B5E3-92E05792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590675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jun/18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8BAC6-E858-44E7-B6AF-C9D73A80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581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6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R$ 1,4 bi em duas séries seniores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3DBCA-87EB-4299-837A-CE486776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790700"/>
            <a:ext cx="426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Fluxo futuro de energia financia Sênior 1 e 2; Júnior inicial de R$ 35,03 mi.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8B7F7-F4A3-4207-8B0D-AD4C1524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53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F7BCA-D2E3-4403-A0D5-C13F7489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38400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3 fev/23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2A322-F1EB-4C34-BFA4-0A34365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28875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6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Fitch corta AAAsf para BBsf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39817-FAC8-4CFB-A991-0211D54C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38425"/>
            <a:ext cx="426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O rebaixamento configura Desalavancagem e aciona amortização acelerada.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98477-F89C-43F3-902A-C554E824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53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91791-008E-4CE6-ABA9-15B2B10A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286125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23 fev/23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16E1B-E66A-4EEC-A983-47AABD04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7660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6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Seniores mantêm a aceleração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99CCD-13F7-498D-9E7B-2C89885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86150"/>
            <a:ext cx="426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87,31% votam contra Realavancagem; Júnior não vota. A ata não identifica os dissidentes.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484A1-DF00-4C18-B352-582B4F69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53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E4840-AD84-40A8-BD9F-970EB1D2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33850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6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abr–mai/23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B71512-52E2-4435-A79B-63C57407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124325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6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Liminar e recuperação judicial suspendem o fluxo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C6FB0D-3B85-43FE-9AA1-6AE9EF5C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333875"/>
            <a:ext cx="426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Tutela interrompe retenções; pedido de RJ gera novo gatilho. Rating cai a Bsf/B-sf.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D5413D-CC6B-4FE7-A06F-B005CA81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300"/>
          </a:solidFill>
          <a:ln xmlns:a="http://schemas.openxmlformats.org/drawingml/2006/main" w="13335">
            <a:solidFill>
              <a:srgbClr val="B853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25D58D-2586-4D2F-B557-C5D0043F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981575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7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6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15 jun–set/23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D69639-0E8E-41CC-91C3-3EAC04D7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9720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6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4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Retenção volta; seniores saem e Júnior absorve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77450D-69AD-46C6-80DA-3A57942B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181600"/>
            <a:ext cx="426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2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PL cai a R$ 0,9 mi e resta uma conta. Oliveira Trust registra –99,70353% acumulado na Júnior.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7D6772-7D6C-4953-B8AC-039A52BE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68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23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A disputa pública opôs o Grupo Light ao FIDC e a outros credores. Entre cotistas, houve votação não unânime; a ata não individualiza posições. O fundo foi cancelado na CVM em fev/24.</a:t>
            </a:r>
          </a:p>
        </p:txBody>
      </p:sp>
    </p:spTree>
    <p:extLst>
      <p:ext uri="{BB962C8B-B14F-4D97-AF65-F5344CB8AC3E}">
        <p14:creationId xmlns:p14="http://schemas.microsoft.com/office/powerpoint/2010/main" val="13681172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16B9F-300C-4884-9375-43E82E98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Leitura dos casos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FC433-C6C6-4167-BB3B-8675231A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Atas e regulamentos registram gatilhos antes do Informe Mensal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DFB8D-2406-4999-AD10-B55CBC67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447800"/>
          <a:ext xmlns:a="http://schemas.openxmlformats.org/drawingml/2006/main" cx="1106805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2143125"/>
                <a:gridCol w="2857500"/>
                <a:gridCol w="2619375"/>
                <a:gridCol w="1847850"/>
              </a:tblGrid>
              <a:tr h="381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Camada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Sinal capturado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Exemplo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Limite analítico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Regulamento / suplemento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Lastro, benchmark, subordinação, gatilhos e waterfall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Blue II concentra em Azul; Nexoos financia PMEs; Light usa fluxo futuro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Versões e apêndices mudam; exige controle por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Fundos.NET / administrador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Ata / fato relevante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Waiver, falta de quórum, conflito, votação e medida aprovada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Nexoos liquida por unanimidade; seniores do Light mantêm aceleração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Pode ser publicado após o evento econômico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Fundos.NET / administrador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Informe Mensal CVM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PL, carteira, aging, PDD, subordinação e retorno reportado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Nexoos chega a 119,6% bruto; Light mantém atraso zero durante os gatilhos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Perímetros podem divergir; zero e ausência exigem separação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Dados Abertos CVM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Administrador / DF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Cota, amortização, ativo nominal, cotista divulgado e opinião do auditor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Ame identifica posição no Nexoos; Oliveira Trust mostra –99,70% na Júnior do Light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Cadastro completo e histórico em lote variam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Administrador / DF auditada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Evento externo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RJ, RE, Chapter 11, rating e mercado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Azul, Agrovenci/Lavoro, Americanas e Light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Exige leitura de garantias, coobrigação e servicing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Judiciário, agência e companhia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CF249-A1B1-4780-8329-98DADBF9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106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12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Regra de publicação: valor literal da fonte + cálculo separado + status “N/D” para lacuna + comentário de reconciliação quando os perímetros divergem.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8875D-3E99-4F5B-9BB5-D9675026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20 ago. 2026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19515615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079E0-1728-42E2-937C-3FA7A81C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Carteira 101 · cotas seniores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641DF-74AA-4FE5-B446-3EDD130F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A CVM sinaliza 19 fundos com uma única conta sênior reportada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14814-129E-4289-9DE5-FCD45465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F9F3D-AC0D-4E03-B1B5-5653478D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95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rPr>
              <a:t>19 fundos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674FD-1B83-429A-BA21-295CF72D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525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uma conta sênior na Tabela X.1.1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51189-74D3-488F-94EF-75361DCF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R$ 7,45 bi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A254E-D27E-43AB-AA2F-8B8FCA98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525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PL publicado desses veículos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48F82-6AE4-44BE-830A-C6312873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00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99,0%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83B90-4200-4F3F-85A8-37B2826D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525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do PL conhecido da carteira com dado CVM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D72A9-CECC-4797-A0D8-51D6427E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00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23 fundos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40A8E-9100-4ED3-9AEA-60A8EC4C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525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sem dado exato; mantidos como N/D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552450" y="2009775"/>
          <a:ext xmlns:a="http://schemas.openxmlformats.org/drawingml/2006/main" cx="5410200" cy="40481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66700"/>
                <a:gridCol w="3200400"/>
                <a:gridCol w="781050"/>
                <a:gridCol w="571500"/>
                <a:gridCol w="590550"/>
              </a:tblGrid>
              <a:tr h="21431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Fundo / classe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PL R$ mi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Comp.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1 conta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</a:tr>
              <a:tr h="28217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Endurance FIDC (TOP 2025 J)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2.003,2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8217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Pine INSS III FIDC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1.123,4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28217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ICRED INSS III FIDC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690,1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8217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UPL 02 FIDC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481,0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28217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Monee II FIDC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442,2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jun/26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8217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SumUp Smart IV (TOP 2025 C)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357,9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28217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Desbrava Uno FIDC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348,3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8217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8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RecargaPay I FIDC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282,1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28217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Sol Agora Green ESG FIDC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277,7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8217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10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CloudWalk Akira I FIDC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267,0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"/>
          <p:cNvGraphicFramePr/>
          <p:nvPr/>
        </p:nvGraphicFramePr>
        <p:xfrm>
          <a:off xmlns:a="http://schemas.openxmlformats.org/drawingml/2006/main" x="6210300" y="2009775"/>
          <a:ext xmlns:a="http://schemas.openxmlformats.org/drawingml/2006/main" cx="5410200" cy="40481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266700"/>
                <a:gridCol w="3200400"/>
                <a:gridCol w="781050"/>
                <a:gridCol w="571500"/>
                <a:gridCol w="590550"/>
              </a:tblGrid>
              <a:tr h="21431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#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Fundo / classe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PL R$ mi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Comp.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1 conta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</a:tr>
              <a:tr h="313531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Pernambucanas FIDC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226,7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3531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12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Sotreq FIDC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211,3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313531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Saga FIDC (Consórcio Daltez)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166,3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3531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14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ArcelorMittal Vértice FIDC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161,1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313531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Pneucash II (Daycoval 0410)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156,1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3531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Indie Merx Raiz I FIDC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106,8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313531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Angá FGTS +AG FIDC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70,7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313531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18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Mobilitas FIDC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53,3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313531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19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MT INSS Receivables III FIDC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25,1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jul/26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Sim*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FCDCA-AC87-43FC-ABA2-1D2B7CFA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68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23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* Uma conta sênior é indício compatível com posição exclusiva da carteira interna; a CVM não publica a identidade do titular. CNPJ é a chave de reconciliação.</a:t>
            </a:r>
          </a:p>
        </p:txBody>
      </p:sp>
    </p:spTree>
    <p:extLst>
      <p:ext uri="{BB962C8B-B14F-4D97-AF65-F5344CB8AC3E}">
        <p14:creationId xmlns:p14="http://schemas.microsoft.com/office/powerpoint/2010/main" val="7037669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079E0-1728-42E2-937C-3FA7A81C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Carteira 101 · governança de cotistas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641DF-74AA-4FE5-B446-3EDD130F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Quatro fundos têm uma posição sênior; três dão maioria de votos à subordinada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14814-129E-4289-9DE5-FCD45465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F9F3D-AC0D-4E03-B1B5-5653478D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95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rPr>
              <a:t>4 /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674FD-1B83-429A-BA21-295CF72D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525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uma posição sênior reportada em jul/26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51189-74D3-488F-94EF-75361DCF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3 /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A254E-D27E-43AB-AA2F-8B8FCA98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525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Mez + Jr acima de 50% dos votos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48F82-6AE4-44BE-830A-C6312873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00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0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83B90-4200-4F3F-85A8-37B2826D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525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beneficiário final identificado publicamente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D72A9-CECC-4797-A0D8-51D6427E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00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3 alertas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40A8E-9100-4ED3-9AEA-60A8EC4C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525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iFood, Pine e VTK exigem reconciliação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552450" y="2009775"/>
          <a:ext xmlns:a="http://schemas.openxmlformats.org/drawingml/2006/main" cx="5410200" cy="40481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657350"/>
                <a:gridCol w="1066800"/>
                <a:gridCol w="1009650"/>
                <a:gridCol w="628650"/>
                <a:gridCol w="1047750"/>
              </a:tblGrid>
              <a:tr h="21431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FIDC / CNPJ</a:t>
                      </a:r>
                    </a:p>
                  </a:txBody>
                  <a:tcPr marL="28575" marR="28575" marT="14288" marB="14288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Sênior</a:t>
                      </a:r>
                    </a:p>
                  </a:txBody>
                  <a:tcPr marL="28575" marR="28575" marT="14288" marB="14288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Mez + Jr</a:t>
                      </a:r>
                    </a:p>
                  </a:txBody>
                  <a:tcPr marL="28575" marR="28575" marT="14288" marB="14288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Voto sub.</a:t>
                      </a:r>
                    </a:p>
                  </a:txBody>
                  <a:tcPr marL="28575" marR="28575" marT="14288" marB="14288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Conclusão documental</a:t>
                      </a:r>
                    </a:p>
                  </a:txBody>
                  <a:tcPr marL="28575" marR="28575" marT="14288" marB="14288" anchor="ctr">
                    <a:solidFill>
                      <a:srgbClr val="161616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Angá FGTS +AG</a:t>
                      </a:r>
                    </a:p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53.270.983/0001-42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série / 1 pos. · 79,8% PL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 2 + Jr 3 · 20,2% PL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20,0% QC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posição Sr; oferta teve 1 subscritor; 5 posições sub e vetos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Angá FGTS II</a:t>
                      </a:r>
                    </a:p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53.577.135/0001-80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 séries / 2 pos. · 77,5%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Jr 5 · 22,5%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22,5% FP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 posições Sr; identidade comum N/D; Jr em fundos Angá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Angá FGTS III</a:t>
                      </a:r>
                    </a:p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54.810.968/0001-02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série / 2 pos. · 83,6% PL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Jr 5 · 16,4% PL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16,4% FP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 posições na mesma série; Jr restrita a fundos Angá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Cartão Supplier II</a:t>
                      </a:r>
                    </a:p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50.988.212/0001-05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 séries / 2 pos. · 92,8%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Jr 1 · 7,2%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4,9% QC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 blocos Sr e 1 posição Jr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Estratégia Vinculada I</a:t>
                      </a:r>
                    </a:p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54.559.035/0001-94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série / 9 pos. · 86,2% PL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Jr 8 · 12,7% PL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11,4% QC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9 posições Sr + 8 Jr; X.2 reconcilia 98,9%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Agibank II</a:t>
                      </a:r>
                    </a:p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65.976.848/0001-04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série / 104 pos. · 84,8%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Jr 1 · 15,3%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15,1% QC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104 posições Sr; coordenação assemblear elevada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Angá FGTS I</a:t>
                      </a:r>
                    </a:p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51.957.370/0001-52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série / 1 pos. · 83,2% PL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 12 + Jr 4 · 16,8% PL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10,3% QC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posição Sr; 16 posições sub e vetos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MT FGTS Receivables II</a:t>
                      </a:r>
                    </a:p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54.464.892/0001-00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 séries / 56 pos. · 80,3%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 14 + Jr 1 · 19,7%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15,6% QC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56 posições Sr + 14 Mez; retenção mínima Jr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PagSeguro I</a:t>
                      </a:r>
                    </a:p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28.169.275/0001-72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 séries / 2 pos. · 34,6% PL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Jr 3 · 65,4% PL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98,95% QC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Jr exclusivamente PagSeguro; maioria econômica e assemblear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MT INSS Receivables III</a:t>
                      </a:r>
                    </a:p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44.173.467/0001-09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série / 1 pos. · 90,2% PL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 1 + Jr 1 · 9,8% PL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98,77% QC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2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Sub domina votos gerais; decisões-chave reservadas a Sr+Mez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FCDCA-AC87-43FC-ABA2-1D2B7CFA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68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23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Posições = contas por série no Informe Mensal; podem repetir o investidor. QC = 1 cota/1 voto; FP = posição financeira. % por beneficiário exige registro do escriturador/B3.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6210300" y="2009775"/>
          <a:ext xmlns:a="http://schemas.openxmlformats.org/drawingml/2006/main" cx="5410200" cy="404812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657350"/>
                <a:gridCol w="1066800"/>
                <a:gridCol w="1009650"/>
                <a:gridCol w="628650"/>
                <a:gridCol w="1047750"/>
              </a:tblGrid>
              <a:tr h="21431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30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FIDC / CNPJ</a:t>
                      </a:r>
                    </a:p>
                  </a:txBody>
                  <a:tcPr marL="28575" marR="28575" marT="14288" marB="14288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30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Sênior</a:t>
                      </a:r>
                    </a:p>
                  </a:txBody>
                  <a:tcPr marL="28575" marR="28575" marT="14288" marB="14288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30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Mez + Jr</a:t>
                      </a:r>
                    </a:p>
                  </a:txBody>
                  <a:tcPr marL="28575" marR="28575" marT="14288" marB="14288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30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Voto sub.</a:t>
                      </a:r>
                    </a:p>
                  </a:txBody>
                  <a:tcPr marL="28575" marR="28575" marT="14288" marB="14288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30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Conclusão documental</a:t>
                      </a:r>
                    </a:p>
                  </a:txBody>
                  <a:tcPr marL="28575" marR="28575" marT="14288" marB="14288" anchor="ctr">
                    <a:solidFill>
                      <a:srgbClr val="161616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iFood Pago Crédito I</a:t>
                      </a:r>
                    </a:p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41.197.066/0001-09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 séries / 154 pos. · PL N/R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 32 + Jr 1 · PL N/R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29,0% QC · proxy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154 posições Sr; X.2 soma 127,9% do PL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Pine INSS III</a:t>
                      </a:r>
                    </a:p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63.546.406/0001-94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série / 1 pos. · 84,6% PL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 3 + Jr 1 · 15,4% PL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14,5% QC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CVM: 1 posição atual; oferta: 41 subscritores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Investcred</a:t>
                      </a:r>
                    </a:p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29.226.654/0001-10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 séries / 2 pos. · 20,0% PL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Jr 2 · 80,0% PL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80,69% QC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Bloco subordinado com interesse único controla maioria</a:t>
                      </a:r>
                    </a:p>
                  </a:txBody>
                  <a:tcPr marL="28575" marR="28575" marT="9525" marB="9525" anchor="ctr">
                    <a:solidFill>
                      <a:srgbClr val="FFF1E6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IS Green Solfácil VI</a:t>
                      </a:r>
                    </a:p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57.028.406/0001-08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série / 5 pos. · 66,4%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 7 + Jr 1 · 33,6%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24,6% QC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Jr 75% pode solicitar amortização das cotas públicas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LRS</a:t>
                      </a:r>
                    </a:p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60.851.290/0001-09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série / 3 pos. · 100% PL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Sem Mez/Jr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0,0%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Conflito potencial entre 3 posições Sr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Multiplike Plus</a:t>
                      </a:r>
                    </a:p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42.154.687/0001-60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14 séries / 175 pos. · 57,3%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 101 + Jr 1 · 42,7%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42,7% FP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Maior fragmentação; bloco sub próximo de 50%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Pravaler Crédito Universitário II</a:t>
                      </a:r>
                    </a:p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26.749.095/0001-34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8 séries / 8 pos. · 76,1% PL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 33 + Jr 1 · 23,9% PL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16,3% QC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posição por série Sr; Mez disperso; Jr da gestora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Quatá FIDC FGTS</a:t>
                      </a:r>
                    </a:p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55.401.645/0001-28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 séries / 2 pos. · 82,7%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 2 + Jr 2 · 17,3% PL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12,2% QC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 blocos Sr; Jr vinculada e vetos</a:t>
                      </a:r>
                    </a:p>
                  </a:txBody>
                  <a:tcPr marL="28575" marR="28575" marT="9525" marB="9525" anchor="ctr">
                    <a:solidFill>
                      <a:srgbClr val="F4F4F4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SumUp Solo</a:t>
                      </a:r>
                    </a:p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45.598.747/0001-21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série / 2 pos. · 92,3% PL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Jr 1 · 7,7% PL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8,7% QC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 posições Sr; Jr exclusivamente cedente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5360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VTK</a:t>
                      </a:r>
                    </a:p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62.588.266/0001-54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série / 93 pos. · PL N/R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 20 + Jr 3 · PL N/R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16,1% QC · proxy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604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93 posições Sr; X.2 soma 81,2% do PL</a:t>
                      </a:r>
                    </a:p>
                  </a:txBody>
                  <a:tcPr marL="28575" marR="28575" marT="9525" marB="9525" anchor="ctr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7669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AE469-7324-458F-96C1-6B66B293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Indústria · Financeiro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348F7-25CE-45AE-B2EB-941D0235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R$ 323,9 bi: pagamentos lideram; R$ 79,0 bi seguem sem segregação suficiente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41883-DC04-49B0-AD06-15F7CA4B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FE402-2EEA-461C-B739-47B04E58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95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rPr>
              <a:t>R$ 323,9 bi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AAC3B-C489-4355-8BD9-B6908BD4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5257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PL ex-FIC · Tipo ANBIMA Financeiro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075D8-E760-4887-B640-426D0404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200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R$ 106,2 bi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E999B-9F8F-45EE-85FA-703F2A9C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525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meios de pagamento e cartões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B3253-9C70-437D-A1D7-883D9C19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R$ 86,3 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4D63E-B0A5-40B2-B1EC-796219BD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525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consignado total, inclusive proxy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39029-E212-46D5-8B58-264943F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00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9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1.103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74B0B-4566-4E72-911C-D6F30B1A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525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CNPJs no perímetro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552450" y="2009775"/>
          <a:ext xmlns:a="http://schemas.openxmlformats.org/drawingml/2006/main" cx="11068050" cy="37338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667125"/>
                <a:gridCol w="1238250"/>
                <a:gridCol w="1238250"/>
                <a:gridCol w="904875"/>
                <a:gridCol w="4019550"/>
              </a:tblGrid>
              <a:tr h="21431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Segmento analítico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PL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% Financeiro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Fundos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Regra predominante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</a:tr>
              <a:tr h="28733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Meios de pagamento e cartões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106,2 bi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32,8%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38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nome + taxonomia funcional</a:t>
                      </a:r>
                    </a:p>
                  </a:txBody>
                  <a:tcPr marL="47625" marR="47625" marT="14288" marB="14288" anchor="ctr">
                    <a:solidFill>
                      <a:srgbClr val="FFF1E6"/>
                    </a:solidFill>
                  </a:tcPr>
                </a:tc>
              </a:tr>
              <a:tr h="28733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Consignado INSS / publico (proxy)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34,9 bi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10,8%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49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nome + taxonomia funcional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28733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Consignado FGTS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10,7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3,3%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32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nome + taxonomia funcional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8733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Consignado privado / CLT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16,5 bi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5,1%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29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nome + taxonomia funcional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28733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Consignado sem segregação pública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24,1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7,5%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133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nome + taxonomia funcional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8733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Demais crédito PF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49,5 bi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15,3%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144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taxonomia funcional / residual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28733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Crédito 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14,6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4,5%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91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taxonomia funcional / residual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28733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Imobiliário PF/PJ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12,3 bi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3,8%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117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taxonomia funcional / residual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28733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Outros / multicarteira sem PF-PJ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54,9 bi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16,9%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r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470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taxonomia funcional / residual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5BDE1-7D81-430C-8C56-14BD37CD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7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TAPSO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06A88-31BA-4D13-8686-EB630047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86450"/>
            <a:ext cx="1021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2B2B2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2B2B2B"/>
                </a:solidFill>
                <a:latin typeface="Itau Display"/>
                <a:ea typeface="Itau Display"/>
                <a:cs typeface="Itau Display"/>
              </a:rPr>
              <a:t>R$ 41,5 bi está dentro de Financeiro. A curadoria documental de adquirência soma R$ 94,9 bi dentro do bloco; R$ 4,3 bi estão classificados em outros tipos ANBIMA.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A122E-A200-4CC2-9698-B08D5C45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68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23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Perímetro: PL ex-FIC de jun/26; buckets mutuamente exclusivos. Nome é sinal de triagem. Ausência de segregação permanece explícita.</a:t>
            </a:r>
          </a:p>
        </p:txBody>
      </p:sp>
    </p:spTree>
    <p:extLst>
      <p:ext uri="{BB962C8B-B14F-4D97-AF65-F5344CB8AC3E}">
        <p14:creationId xmlns:p14="http://schemas.microsoft.com/office/powerpoint/2010/main" val="8874172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20411-6667-46A2-82B8-1E06607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Supervisão · Operação Carbono Oculto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7EF18-3710-4AA2-BE82-BA8C8834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76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A operação expôs fundos de poucos cotistas e uma supervisão fragmentada por veículo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F2950-3C13-40D8-8B04-E2F7D1C4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362075"/>
          <a:ext xmlns:a="http://schemas.openxmlformats.org/drawingml/2006/main" cx="11068050" cy="44767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876300"/>
                <a:gridCol w="2857500"/>
                <a:gridCol w="3676650"/>
                <a:gridCol w="3657600"/>
              </a:tblGrid>
              <a:tr h="21431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Data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Fato público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Uso de fundos / resposta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O que permaneceu fora do radar público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jun/25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informa ter encaminhado um caso ao MPF antes da operação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Um caso de PLD/FTP identificado em supervisão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 divulgação pública não identifica o veículo nem permite medir a cobertura total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28 ago/25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Operação Carbono Oculto é deflagrada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Investigação descreve fintechs e fundos em camadas para ocultar recursos; FIP Camaçari aparece ligado a entidades REAG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Atribuições permanecem como alegações/investigações até decisão definitiva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22 set/25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SSR/CVM pede dados de 13 fundos nominalmente listados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 FIPs/FIMs e 10 FIIs; abertura de apurações em SSR, SSE e SIN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 atuação direcionada registrada publicamente ocorre após a operação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fev/26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apresenta escala da REAG até nov/25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R$ 373,95 bi, 499 fundos e 5.049 investidores administrados/geridos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Escala por prestador dificultava leitura consolidada de vínculos e alertas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628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2026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GT Master revisa 314 processos; 87 fundos ligados à Carbono Oculto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33% de abstenção de auditoria versus 4% na indústria; 65 ofícios de alerta e 14 termos de acusação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 própria CVM recomenda painel por regulado, vínculos e gatilhos de auditoria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A119E-F6BB-418B-8E75-F928F7A1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6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3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Leitura executiva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0475C-04B7-4676-A571-A0E2726A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4360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2B2B2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2B2B2B"/>
                </a:solidFill>
                <a:latin typeface="Itau Display"/>
                <a:ea typeface="Itau Display"/>
                <a:cs typeface="Itau Display"/>
              </a:rPr>
              <a:t>O registro público mostra ação anterior em um caso e apuração direcionada após a operação. O ponto crítico foi consolidar relações entre fundos, cotistas, prestadores e partes ligadas.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7AF8F-81B8-40D4-A010-81394874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68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23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20 ago. 2026 | fatos de investigação descritos como alegações ou apurações, sem antecipação de condenação.</a:t>
            </a:r>
          </a:p>
        </p:txBody>
      </p:sp>
    </p:spTree>
    <p:extLst>
      <p:ext uri="{BB962C8B-B14F-4D97-AF65-F5344CB8AC3E}">
        <p14:creationId xmlns:p14="http://schemas.microsoft.com/office/powerpoint/2010/main" val="4316876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E87178-37CA-433D-8A43-F2937239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Supervisão · Banco Master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19285-492F-4D28-9E71-4C8CA1D5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025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Credcesta era carteira de crédito; fundos aparecem na circulação e na avaliação dos ativos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089B5-8851-46A3-B3B6-4436BA42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1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9AC0F-533E-497E-8CC2-545E3B18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80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4CFE8-7F64-41E0-97D9-DDD0F08E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5730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75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Originação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20360-5B26-41E4-909A-99D212AA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76375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8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Credcesta, PIX, cartão e outros créditos de varejo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F1FF3-CDEB-40C7-BAF7-81F20297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352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2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858585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500" b="1">
                <a:solidFill>
                  <a:srgbClr val="858585"/>
                </a:solidFill>
                <a:latin typeface="Itau Display X-Bold"/>
                <a:ea typeface="Itau Display X-Bold"/>
                <a:cs typeface="Itau Display X-Bold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3DC27-1E02-4044-A0B8-D3C17847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57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80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13A05-AC8B-49D8-BC1C-F397BE9D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5730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75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Venda ao BRB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F40C6-018E-4307-B3AE-2BA4E2CA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8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Compras de carteiras desde 1 jul.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AAC6E-C30B-45FF-BCCF-7F0866FA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352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2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858585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500" b="1">
                <a:solidFill>
                  <a:srgbClr val="858585"/>
                </a:solidFill>
                <a:latin typeface="Itau Display X-Bold"/>
                <a:ea typeface="Itau Display X-Bold"/>
                <a:cs typeface="Itau Display X-Bold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2D01E-E80C-4326-8C16-C35E52CD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57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80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D2CE8-840F-47D1-B2D8-B7074AEE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5730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75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Substituições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C6C47-4170-4738-A713-638EBE13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76375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8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R$ 10,8 bi substituídos dentro de R$ 30,4 bi adquiridos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865E0-89FB-434C-8D61-5B81F1E4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52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2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858585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500" b="1">
                <a:solidFill>
                  <a:srgbClr val="858585"/>
                </a:solidFill>
                <a:latin typeface="Itau Display X-Bold"/>
                <a:ea typeface="Itau Display X-Bold"/>
                <a:cs typeface="Itau Display X-Bold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EE85F-5214-4A72-BADB-59C1CF5D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57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1800" b="1">
                <a:solidFill>
                  <a:srgbClr val="B85300"/>
                </a:solidFill>
                <a:latin typeface="Itau Display Black"/>
                <a:ea typeface="Itau Display Black"/>
                <a:cs typeface="Itau Display Black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C1723-E95A-4AD1-8B0B-5BED55C0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25730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75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Fundos e ativos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C9D20-CB00-4CFB-B820-848B507E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476375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88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CVM apura ofertas, documentos, reavaliações e partes relacionadas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552450" y="2143125"/>
          <a:ext xmlns:a="http://schemas.openxmlformats.org/drawingml/2006/main" cx="11068050" cy="3571875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1333500"/>
                <a:gridCol w="2857500"/>
                <a:gridCol w="3581400"/>
                <a:gridCol w="3295650"/>
              </a:tblGrid>
              <a:tr h="21431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Data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Fato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Evidência pública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8" b="1">
                          <a:solidFill>
                            <a:srgbClr val="FFFFFF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Limite de conclusão</a:t>
                      </a:r>
                    </a:p>
                  </a:txBody>
                  <a:tcPr marL="47625" marR="47625" marT="19050" marB="19050" anchor="ctr">
                    <a:solidFill>
                      <a:srgbClr val="161616"/>
                    </a:solidFill>
                  </a:tcPr>
                </a:tc>
              </a:tr>
              <a:tr h="61614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 jul/24–mar/25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BRB compra carteiras originadas pelo Master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Planilhas obtidas por LAI e reportagem apontam R$ 30,4 bi em compras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Fonte jornalística; validar documentos transacionais e processos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61614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mar/25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BRB identifica parcela descrita como fraudulenta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Compras e substituições continuaram, segundo a apuração publicada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 validade de cada crédito não é observável no Informe Mensal público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  <a:tr h="61614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2025–26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abre e consolida processos ligados a Master, REAG e entidades conexas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Investigações sobre notas, CRIs, FIDCs, ofertas, avaliação e documentos de suporte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Processos possuem estágios distintos; investigação não equivale a condenação</a:t>
                      </a:r>
                    </a:p>
                  </a:txBody>
                  <a:tcPr marL="47625" marR="47625" marT="14288" marB="14288" anchor="ctr">
                    <a:solidFill>
                      <a:srgbClr val="FFFFFF"/>
                    </a:solidFill>
                  </a:tcPr>
                </a:tc>
              </a:tr>
              <a:tr h="61614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2026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GT Master identifica padrões de risco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Ativos reavaliados sem base razoável, documentos falsos/inadequados e possível manipulação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780">
                          <a:solidFill>
                            <a:srgbClr val="2B2B2B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 desenho de supervisão anterior não consolidava adequadamente regulados e vínculos</a:t>
                      </a:r>
                    </a:p>
                  </a:txBody>
                  <a:tcPr marL="47625" marR="47625" marT="14288" marB="14288"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262F5-DC57-41B6-80E8-A0D4C86B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769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6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3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Credcesta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1831F-34C1-461A-8A10-CC7D71EC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483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2B2B2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2B2B2B"/>
                </a:solidFill>
                <a:latin typeface="Itau Display"/>
                <a:ea typeface="Itau Display"/>
                <a:cs typeface="Itau Display"/>
              </a:rPr>
              <a:t>Nome de produto de crédito consignado/cartão. O dado público de FIDC não identifica devedor individual nem comprova existência, validade ou adimplência de cada contrato.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68AD8-C54B-49C3-9AD1-3C133EB2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68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23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20 ago. 2026 | valores e cronologia preservam a fonte; conclusões sancionadoras dependem dos processos.</a:t>
            </a:r>
          </a:p>
        </p:txBody>
      </p:sp>
    </p:spTree>
    <p:extLst>
      <p:ext uri="{BB962C8B-B14F-4D97-AF65-F5344CB8AC3E}">
        <p14:creationId xmlns:p14="http://schemas.microsoft.com/office/powerpoint/2010/main" val="14257487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419DE-E754-4B5B-94DB-CF19C3D6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Evolução regulatória e informacional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4C0B1-0C84-49CD-83A0-6BC68319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De mai/24 a ago/26, a identidade melhorou; lastro, devedor e retorno seguem parciais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88723-2079-48EA-9267-A8DB8EA7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52450" y="1390650"/>
          <a:ext xmlns:a="http://schemas.openxmlformats.org/drawingml/2006/main" cx="1106805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1428750"/>
                <a:gridCol w="1857375"/>
                <a:gridCol w="2714625"/>
                <a:gridCol w="2714625"/>
                <a:gridCol w="1609725"/>
              </a:tblGrid>
              <a:tr h="36195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Mudança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Preocupação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Implementação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Efeito observado até ago/26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Mai/24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Novo Informe Mensal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Erros de série, subclasse e continuidade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Seleção prévia de campos e reporte de séries extintas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Melhora de identidade; aging, PDD e retorno continuam autorreportados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8 mai/24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Jan/25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Dados Abertos por classe/subclasse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Cadastro e série histórica fragmentados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Arquivos cadastrais e bases adaptadas à RCVM 175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Chaves mais utilizáveis; ponte histórica ainda necessária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30 jan/25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Abr/25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Orientação CVM–ANBIMA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Desenquadramento e reporte pouco uniformes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Administrador comunica evento e padroniza tratamento no Informe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Governança melhora; resultado por fundo não é publicado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/ ANBIMA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2025–26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IDs e validações de arquivo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Chaves inválidas, precisão e reprocessamento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Identificadores e validações adicionais no leiaute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Menos erro formal; conteúdo econômico ainda depende do prestador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portal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Abr/26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ACT CVM–BCB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Visão incompleta do endividamento e do risco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Intercâmbio e qualificação do reporte ao SCR, inclusive securitizadoras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Ganho supervisório; dados protegidos não chegam à base pública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/ BCB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Mai–jul/26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Plano emergencial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Supervisão isolada e validação limitada de 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22 medidas, painel de vínculos, seleção por risco e amostra de 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Desenho substantivo; execução e impacto ainda não demonstrados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/ STF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Ago/26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Tabela VIII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Distribuição de valores pouco estruturada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Arquivo público com sequencial e valor desde 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Nova granularidade de valor; sem identificador público do devedor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Dados Abertos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21E77-C2D6-4F7C-87B3-F22507DB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20 ago. 2026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7287849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193B7-FB12-4D1C-A6EE-A75F3AFA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Posições públicas e efetividade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F10C5-23E5-46FF-B493-868AC17A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CVM e ANBIMA reconhecem ganhos de padronização e limites operacionais dos reportes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75BDD-B594-45EA-89CE-DDBDC7B5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16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6805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095500"/>
                <a:gridCol w="2095500"/>
                <a:gridCol w="2333625"/>
                <a:gridCol w="1428750"/>
                <a:gridCol w="1685925"/>
              </a:tblGrid>
              <a:tr h="361950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Tema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Posição pública da CVM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Posição pública da ANBIMA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O que foi implementado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Leitura de efetividade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Identidade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Padronizar fundo, classe, subclasse e série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Apoio à adaptação e orientação conjunta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Novo Informe, cadastros e IDs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Efetivo para chaves recentes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/ ANBIMA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Conteúdo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Ampliar dados abertos e informação de crédito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Apoia transparência; pede formatos redesenhados e reporte separado quando há reprocessamento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Novos arquivos e Tabela VIII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Parcial: devedor e garantias seguem incompletos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consulta / ANBIMA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Operação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Validação e cumprimento de prazos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Relata falhas recorrentes no CVMWeb no 10º dia útil e pede 20º dia para balancete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Ajustes de leiaute e orientação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Ponto operacional ainda aberto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ANBIMA · consulta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PDD e 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Amostra de lastro, SCR e supervisão por risco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Termos exigem revisão de PDD, preço, lastro, controles e auditoria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Plano emergencial e compromissos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Em implantação; resultado por fundo sem painel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/ ANBIMA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Retorno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Maior precisão e identificação de subclasse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Defende informação acurada e acessível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Leiaute mais preciso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Parcial: amortização e denominador exigem reconstrução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/ ANBIMA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Integração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Acordos com ANBIMA e BCB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Compartilhamento evita duplicidade de supervisão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Canais formais e SCR ampliado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Efetivo como infraestrutura; impacto não mensurado publicamente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Acordos oficiais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F80C5-5396-42B4-9EA7-96DFE77E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1068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88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Conclusão de uso: a base pública sustenta triagem, tendência e seleção de casos. A conclusão de crédito pede regulamento, ata, DF, evento externo e reconciliação de fluxos.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14856-8ABD-446B-AD5C-BB20B6E0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20 ago. 2026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1343497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8DF3A-D2A6-46C4-B2FB-61D591C5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Plano emergencial da CVM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5FC97-33A3-44DE-8F97-B977CD4E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O plano emergencial define fiscalização por risco, cruzamento de bases e teste de lastro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B5B6C-A1C0-4C92-A4A8-9064705B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17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52450" y="1409700"/>
          <a:ext xmlns:a="http://schemas.openxmlformats.org/drawingml/2006/main" cx="11068050" cy="99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191000"/>
                <a:gridCol w="2286000"/>
                <a:gridCol w="2209800"/>
              </a:tblGrid>
              <a:tr h="323850"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Origem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Escopo e metas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Prazo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Aprovado em 26 mai/26 após cautelar do STF na ADI 7.791; homologado em 3 jul/26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22 medidas, quatro eixos, cerca de R$ 560 mi adicionais e meta de reduzir 20% do estoque processual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31 dez. 2026 para metas imediatas; contratações tecnológicas podem superar 12 meses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Plano CVM e STF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F8098-7219-4C9C-BBFB-F21745F0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Implementações para FIDCs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52450" y="2876550"/>
          <a:ext xmlns:a="http://schemas.openxmlformats.org/drawingml/2006/main" cx="1106805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714750"/>
                <a:gridCol w="2952750"/>
                <a:gridCol w="2781300"/>
              </a:tblGrid>
              <a:tr h="3429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Medida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Implementação prevista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Preocupação tratada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Verificação pública em 20 ago/26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Painel de risco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Mapas de relacionamento, alertas de cascata, valores inconsistentes e score algorítmico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Detecção tardia e análise isolada por fundo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Painel e relatório de resultados ainda não localizados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Seleção dirigida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Filtros por poucos cotistas, IFs/fintechs, concentração, precatórios, renegociação, opinião de auditor e PDD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Priorização de estruturas com maior probabilidade de falha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Critérios constam do plano; lista de fundos e métricas não publicada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Teste de 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Amostra estratificada e confronto com SCR, registradoras, custodiante, Receita e COAF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Lastro autodeclarado e baixa verificabilidade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Metodologia anunciada; taxa de execução não publicada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Look-through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Relações entre cotista, fundo, cedente, originador, devedor e prestadores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Conflitos, partes relacionadas e transmissão de risco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Desenho divulgado; resultado permanece supervisório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Métricas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Bases integradas, alertas tratados, fundos classificados por risco e verificações de 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Ausência de medida de cobertura e resultado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Metas previstas; painel público ainda pendente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A49EF-9CD2-4596-A433-9A7A738B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6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7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Status: o desenho é público; a execução depende dos painéis e relatórios previstos pela própria CVM.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70D25-25C1-4135-BBAA-6BF0FCC1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Plano emergencial: compromissos e metas; verificação de execução depende dos painéis/relatórios previstos pela própria CVM</a:t>
            </a:r>
          </a:p>
        </p:txBody>
      </p:sp>
    </p:spTree>
    <p:extLst>
      <p:ext uri="{BB962C8B-B14F-4D97-AF65-F5344CB8AC3E}">
        <p14:creationId xmlns:p14="http://schemas.microsoft.com/office/powerpoint/2010/main" val="4283334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1E094-176D-4671-BE41-F10ABD47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Instrumentos jurídicos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A8129-AFB5-494D-9558-A3D272E9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Termo da CVM, TAC e termo ANBIMA têm bases, efeitos e formas de controle distintas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8DCE2-660D-48AB-95AD-3EAB0835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18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6805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952625"/>
                <a:gridCol w="2238375"/>
                <a:gridCol w="2571750"/>
                <a:gridCol w="1809750"/>
                <a:gridCol w="781050"/>
              </a:tblGrid>
              <a:tr h="400050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Instrumento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O que faz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Prazo e checagem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Pagamento / multa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Se houver descumprimento</a:t>
                      </a:r>
                    </a:p>
                  </a:txBody>
                  <a:tcPr marL="91440" marR="91440" marT="45720" marB="45720"/>
                </a:tc>
              </a:tr>
              <a:tr h="1123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Termo de Compromisso CVM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Lei 6.385/76, art. 11, §§5º–8º; RCVM 45/21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Suspende ou evita o PAS; sem confissão; exige cessar, corrigir e eventualmente indenizar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Prazo no termo; superintendência competente monitora; arquivamento após comprovação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Obrigação pecuniária não é multa sancionadora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PAS inicia ou retoma; título executivo pode ser cobrado</a:t>
                      </a:r>
                    </a:p>
                  </a:txBody>
                  <a:tcPr marL="91440" marR="91440" marT="45720" marB="45720"/>
                </a:tc>
              </a:tr>
              <a:tr h="1123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TAC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Lei 7.347/85, art. 5º, §6º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Ajusta conduta às exigências legais; título executivo extrajudicial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Prazo, prova e fiscalização são definidos no instrumento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Pode prever reparação e multa cominatória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Órgão legitimado pode executar judicialmente</a:t>
                      </a:r>
                    </a:p>
                  </a:txBody>
                  <a:tcPr marL="91440" marR="91440" marT="45720" marB="45720"/>
                </a:tc>
              </a:tr>
              <a:tr h="1123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Termo ANBIMA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Códigos privados de autorregulação e adesão da instituição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Suspende o procedimento; arquivamento após obrigações e evidências; sem confissão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Cronograma pode incluir manuais, atas, treinamento e auditoria; ANBIMA verifica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Contribuição educacional não é multa pública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Procedimento prossegue e aplicam-se regras dos códigos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A6BDD-5E5A-41A5-8694-CF8C3DFD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Transparência posterior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B6E94-E57C-41A9-8C23-35205E1A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505450"/>
            <a:ext cx="931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23" b="0">
                <a:solidFill>
                  <a:srgbClr val="2B2B2B"/>
                </a:solidFill>
                <a:latin typeface="Itau Display"/>
                <a:ea typeface="Itau Display"/>
                <a:cs typeface="Itau Display"/>
              </a:defRPr>
            </a:pPr>
            <a:r>
              <a:rPr sz="923" b="0">
                <a:solidFill>
                  <a:srgbClr val="2B2B2B"/>
                </a:solidFill>
                <a:latin typeface="Itau Display"/>
                <a:ea typeface="Itau Display"/>
                <a:cs typeface="Itau Display"/>
              </a:rPr>
              <a:t>A CVM pode registrar cumprimento e arquivamento. A ANBIMA recebe as evidências previstas no termo. A eficácia operacional por fundo ainda não dispõe de painel público padronizado.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3B871-CF74-4203-9D15-0E440DD4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20 ago. 2026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19940881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B06A9-4622-4F9E-8BF4-5C74BC8D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Prestadores e compromissos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0910D-5D20-4136-9D5E-2E6A3C2E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Os termos autorregulatórios documentam falhas de PDD, preço, lastro e reporte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50870-058B-4403-AE14-35F1385D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19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390650"/>
          <a:ext xmlns:a="http://schemas.openxmlformats.org/drawingml/2006/main" cx="1106805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2619375"/>
                <a:gridCol w="3000375"/>
                <a:gridCol w="2143125"/>
                <a:gridCol w="1704975"/>
              </a:tblGrid>
              <a:tr h="36195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Instituição /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Preocupação registrada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Compromissos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Prazo / verificação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Pagamento / fonte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BRL Trust · 15 jul/24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Metodologia de PDD e possível transferência de riqueza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Revisão de método e controles, treinamento, correção e auditoria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Obrigações precisam ser cumpridas e comprovadas para arquivamento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Termo ANBIMA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Singulare · 17 jul/25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Falhas na verificação de 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Revisão de procedimentos e manuais, treinamento e auditoria independente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ANBIMA recebe evidências previstas no termo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R$ 300 mil · contribuição educacional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Vórtx · 13 nov/25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PDD sem evidência mensal e divergências de preço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Manuais, três meses de atas, auditoria, reprecificação e correção de sistema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Parte das obrigações em até 240 dias; comprovação à ANBIMA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R$ 1,109 mi · contribuição educacional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Acordo CVM–ANBIMA · 1S25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Sobreposição e dispersão de supervisão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Compartilhamento de informações e aproveitamento do monitoramento autorregulatório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pode usar evidências da ANBIMA; competências públicas permanecem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Cinco termos divulgados pela ANBIMA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Nomes adicionais pesquisados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Oliveira Trust, BEM, REAG, Intrag e denominações aproximadas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Resultados preservados por CNPJ, instrumento e tema; ausência de termo específico não vira conclusão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Revalidar nome societário, data, obrigação e status de cumprimento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/ ANBIMA · corte 20 ago/26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EC05A-43AB-43E0-A624-84C62248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106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Leitura: achados e compromissos assumidos em instrumentos consensuais, sem confissão.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4FF20-2F3A-4E79-82FE-5439F059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20 ago. 2026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11769933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E6745-2987-45C2-B9F4-94995BA0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Sanções e fiscalização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ED08C-9435-4DB2-9A68-C9F3902A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A CVM aplicou multas em falhas de FIDC; termos recentes têm natureza consensual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82242-5644-4D86-8E75-C70A4F97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20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680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286000"/>
                <a:gridCol w="1190625"/>
                <a:gridCol w="3667125"/>
                <a:gridCol w="2114550"/>
              </a:tblGrid>
              <a:tr h="381000"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Categoria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Caso / instituição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Valor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Conduta e resultado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Coleta / fonte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Sanção CVM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PAS RJ2013/5456 · Oliveira Trust · FIDC Union e FIDC Agro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R$ 3,0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Três multas de R$1,0 mi por documentação, PDD/classificação de risco e descumprimento de regulamento; diretor proibido por 2 anos e 6 meses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Decisão e notícia CVM · julgamento 2015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Sanção CVM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PAS RJ2013/5456 · Bradesco como custodiante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R$ 1,5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Três multas de R$500 mil por liquidação, guarda de lastro e documentação; houve absolvições em imputações específicas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Decisão e notícia CVM · julgamento 2015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Termo de Compromisso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BEM DTVM e diretor · 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R$ 1,0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BEM R$750 mil e diretor R$250 mil em compromisso sobre controles de liquidez e diligência de fundo multimercado; tema fora do núcleo FIDC/PDD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Notícia e termo CVM · 2025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Pesquisa sem sanção confirmada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REAG e demais nomes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N/D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Processos e notícias em curso foram preservados como pesquisa. Até 20 ago/26, não foi localizada decisão CVM que transforme os achados dos termos ANBIMA de 2024/25 em condenação sancionadora equivalente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CVM, ANBIMA e notícias · corte 20 ago/26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2CB98-061A-46A6-90DC-16B273A8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1068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Critério de publicação: usar “multa” somente com processo, acusado, conduta, decisão e valor confirmados.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925E3-252C-4EAA-A88F-2F8A8E75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20 ago. 2026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3051543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9B942-7032-42E3-AE24-6D37562B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Cooperação CVM–Banco Central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B88F4-5BE6-4FD1-8FAD-884A2D4F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O acordo CVM–BCB amplia o reporte ao SCR e o uso supervisório dos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7ECB0-1C9B-4620-B031-03CF9818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21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6805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2190750"/>
                <a:gridCol w="3714750"/>
                <a:gridCol w="2571750"/>
                <a:gridCol w="1495425"/>
              </a:tblGrid>
              <a:tr h="381000"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Ato / desdobramento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Conteúdo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Efeito e limite observado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25 abr/14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Convênio anterior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Estrutura inicial de intercâmbio de informações entre BCB e CVM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Base jurídica e operacional prévia ao novo acordo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/ BCB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set/25–13 abr/26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Negociação e assinatura do ACT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Uniformiza, qualifica e amplia o compartilhamento; inclui securitizadoras e informações de operações de crédito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Melhora visão de devedor, endividamento e risco para os supervisores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Notícia e ACT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Desde 2012 / 2026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FIDCs no SCR e ampliação de uso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FIDCs já reportavam ao SCR; acordo reforça reporte, consulta e intercâmbio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Continuidade relevante; novidade está na integração e abrangência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/ BCB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Ago/26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Leitura de implementação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Plano emergencial prevê processar dados do ACT, cruzar bases e testar 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Benefício é supervisório; o ACT não promete abertura pública de devedores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corte 20 ago/26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D956F-A62C-462D-A803-3DEFC364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Transparência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79071-769F-475C-910A-E8F4B346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57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2B2B2B"/>
                </a:solidFill>
                <a:latin typeface="Itau Display"/>
                <a:ea typeface="Itau Display"/>
                <a:cs typeface="Itau Display"/>
              </a:defRPr>
            </a:pPr>
            <a:r>
              <a:rPr sz="938" b="0">
                <a:solidFill>
                  <a:srgbClr val="2B2B2B"/>
                </a:solidFill>
                <a:latin typeface="Itau Display"/>
                <a:ea typeface="Itau Display"/>
                <a:cs typeface="Itau Display"/>
              </a:rPr>
              <a:t>O acordo amplia a supervisão e a gestão dos reportantes. A base pública continua sem identificação uniforme de devedores para o analista externo.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6C526-A165-45C7-9726-ED669AF2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20 ago. 2026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9353415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6DBDF-0473-453A-9347-0187C18B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Risco e retorno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46E4D-0AC2-41FC-830A-127E6CF8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A mensuração combina retorno reportado, fluxo econômico e perda por subclasse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68E69-9F6D-40B7-9270-5D48349C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22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680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048000"/>
                <a:gridCol w="2524125"/>
                <a:gridCol w="2428875"/>
                <a:gridCol w="1543050"/>
              </a:tblGrid>
              <a:tr h="381000"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Camada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Unidade / cálculo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Métricas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QA obrigatório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Coleta / fonte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Cobertura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Subclasse ou série × competência; separar sênior, mezanino e júnior; ativos, encerrados e zerados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 e PL cobertos; ausente separado de zero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Quebra de CNPJ/ID, mudança de quantidade, PL negativo e lacunas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Informe Mensal CVM · Tabela X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Retorno reportado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Retorno₁₂ₘ = ∏(1 + PR_APURADAₘ/100) – 1; excesso CDI = (1+retorno)/(1+CDI) –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Mediana, P10/P90, % acima do CDI, pior mês e drawdown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Repetição de –100%, outliers, janela contínua e unidade do campo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Informe Mensal CVM · PR_APURADA; CDI do BCB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Retorno econômico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(cota final + distribuições) / cota inicial – 1; com fluxos em datas distintas, XIRR/TIR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Preservação de capital, excesso CDI e severidade de perda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Conciliar aportes, amortizações, datas, reinvestimento e preço da cota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Fundos.NET · avisos de amortização; demonstrativo do administrador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Risco estrutural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Subordinação efetiva – mínimo contratual; aging, PDD e concentração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Folga de subordinação; inadimplência; cobertura de PDD; perdas &gt;10%, &gt;50% e próximas de 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Reconciliação de denominadores, competência e versões do regulamento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Regulamento e atas · Fundos.NET; Informe Mensal CVM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Reconciliado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Valor original preservado; divergência registrada em coluna própria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Distribuição setorial e coortes por prioridade de cota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CVM/PR_APURADA × Fundos.NET × administrador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Três fontes identificadas por veículo e data de consulta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1FCE2-5263-4634-AB2E-C43BD6E2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6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Uso recomendado: publicar “retorno reportado” e “retorno econômico” em campos distintos, com cobertura e fonte junto ao resultado.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2CB0C-F801-4C95-846F-31D709D7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20 ago. 2026</a:t>
            </a: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1510070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7A856-91D5-45F4-AD62-47719ACF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Agenda analítica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8E033-7DA3-4C15-9985-E11B4FDB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Quatro entregas com fonte e regra de validação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49177-6DAD-4E07-A0BC-A2BB86B2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23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466850"/>
          <a:ext xmlns:a="http://schemas.openxmlformats.org/drawingml/2006/main" cx="1106805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3286125"/>
                <a:gridCol w="2428875"/>
                <a:gridCol w="1952625"/>
                <a:gridCol w="1638300"/>
              </a:tblGrid>
              <a:tr h="400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Entrega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Conteúdo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 principal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Saída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Validação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1 · Base de casos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CNPJ, classe, subclasse, regulamento, suplementos, atas, fatos relevantes, DF, eventos externos e hashes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CVM, Fundos.NET/B3 e documentos auditados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Timeline documental por veículo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Identidade, versão, data e página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2 · Motor de risco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Aging, PDD, concentração, subordinação efetiva, mínimo contratual, waivers e opinião de auditor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Informe Mensal CVM, regulamentos e atas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Alertas com evidência e competência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Denominador, cobertura e gatilho contratual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3 · Motor de retorno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PR_APURADA validada, benchmark, amortizações, XIRR, drawdown, preservação de capital e coortes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CVM, BCB, Fundos.NET e administrador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Distribuição por prioridade de cota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Retorno reportado separado do econômico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4 · Piloto de fontes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Oliveira Trust, Vórtx, Hemera e demais portais como reconciliação do núcleo oficial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Sites de administradores e custodiante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Catálogo de cobertura e divergências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Data de consulta, acesso em lote e limite de uso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DF315-F3D8-457E-9D61-C4852306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Publicação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1A384-C88E-44D7-9BC2-790B92B7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B2B2B"/>
                </a:solidFill>
                <a:latin typeface="Itau Display"/>
                <a:ea typeface="Itau Display"/>
                <a:cs typeface="Itau Display"/>
              </a:defRPr>
            </a:pPr>
            <a:r>
              <a:rPr sz="975" b="0">
                <a:solidFill>
                  <a:srgbClr val="2B2B2B"/>
                </a:solidFill>
                <a:latin typeface="Itau Display"/>
                <a:ea typeface="Itau Display"/>
                <a:cs typeface="Itau Display"/>
              </a:rPr>
              <a:t>Arquivo atualizado no artefato usado por Dados da Indústria &gt; Exportações, com o rótulo “Estudos de Caso”. Publicação externa depende de commit, merge e deploy.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F715D-7E3D-4A18-A8FD-CCCA9925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Próxima etapa sugerida: piloto de 20–30 FIDCs com diversidade de administradores e segmentos</a:t>
            </a:r>
          </a:p>
        </p:txBody>
      </p:sp>
    </p:spTree>
    <p:extLst>
      <p:ext uri="{BB962C8B-B14F-4D97-AF65-F5344CB8AC3E}">
        <p14:creationId xmlns:p14="http://schemas.microsoft.com/office/powerpoint/2010/main" val="984486787"/>
      </p:ext>
    </p:extLst>
  </p:cSld>
</p:sld>
</file>

<file path=ppt/theme/theme1.xml><?xml version="1.0" encoding="utf-8"?>
<a:theme xmlns:a="http://schemas.openxmlformats.org/drawingml/2006/main" name="ChatGPT">
  <a:themeElements>
    <a:clrScheme name="Itau BBA editorial">
      <a:dk1>
        <a:srgbClr val="161616"/>
      </a:dk1>
      <a:lt1>
        <a:srgbClr val="FFFFFF"/>
      </a:lt1>
      <a:dk2>
        <a:srgbClr val="2B2B2B"/>
      </a:dk2>
      <a:lt2>
        <a:srgbClr val="E6E6E6"/>
      </a:lt2>
      <a:accent1>
        <a:srgbClr val="EC7000"/>
      </a:accent1>
      <a:accent2>
        <a:srgbClr val="2B2B2B"/>
      </a:accent2>
      <a:accent3>
        <a:srgbClr val="858585"/>
      </a:accent3>
      <a:accent4>
        <a:srgbClr val="A73B36"/>
      </a:accent4>
      <a:accent5>
        <a:srgbClr val="2B6B4F"/>
      </a:accent5>
      <a:accent6>
        <a:srgbClr val="B85300"/>
      </a:accent6>
      <a:hlink>
        <a:srgbClr val="B85300"/>
      </a:hlink>
      <a:folHlink>
        <a:srgbClr val="5B5B5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2026-08-20T20:05:01.1860000Z</dcterms:created>
  <dcterms:modified xsi:type="dcterms:W3CDTF">2026-08-20T20:05:01.1860000Z</dcterms:modified>
</coreProperties>
</file>