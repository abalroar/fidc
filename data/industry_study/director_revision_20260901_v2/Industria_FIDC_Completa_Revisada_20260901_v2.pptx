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.xml" ContentType="application/vnd.openxmlformats-officedocument.drawingml.chart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46.xml" ContentType="application/vnd.openxmlformats-officedocument.drawingml.chart+xml"/>
  <Override PartName="/ppt/slides/charts/chart47.xml" ContentType="application/vnd.openxmlformats-officedocument.drawingml.chart+xml"/>
  <Override PartName="/ppt/slides/charts/chart48.xml" ContentType="application/vnd.openxmlformats-officedocument.drawingml.chart+xml"/>
  <Override PartName="/ppt/slides/charts/chart49.xml" ContentType="application/vnd.openxmlformats-officedocument.drawingml.chart+xml"/>
  <Override PartName="/ppt/slides/charts/chart5.xml" ContentType="application/vnd.openxmlformats-officedocument.drawingml.chart+xml"/>
  <Override PartName="/ppt/slides/charts/chart50.xml" ContentType="application/vnd.openxmlformats-officedocument.drawingml.chart+xml"/>
  <Override PartName="/ppt/slides/charts/chart51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2d9686dd0f134e01" Type="http://schemas.openxmlformats.org/officeDocument/2006/relationships/officeDocument" Target="ppt/presentation.xml"/><Relationship Id="R4c15b32ef5bc4588" Type="http://schemas.openxmlformats.org/package/2006/relationships/metadata/core-properties" Target="docProps/core.xml"/><Relationship Id="Re156cbc92bdf45e6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734097c6ffb42de"/>
  </p:sldMasterIdLst>
  <p:notesMasterIdLst>
    <p:notesMasterId xmlns:r="http://schemas.openxmlformats.org/officeDocument/2006/relationships" r:id="R1620c3a707ea481d"/>
  </p:notesMasterIdLst>
  <p:sldIdLst>
    <p:sldId xmlns:r="http://schemas.openxmlformats.org/officeDocument/2006/relationships" id="256" r:id="R92d312ba4f2b49be"/>
    <p:sldId xmlns:r="http://schemas.openxmlformats.org/officeDocument/2006/relationships" id="257" r:id="R364d3b1c630e42b6"/>
    <p:sldId xmlns:r="http://schemas.openxmlformats.org/officeDocument/2006/relationships" id="258" r:id="R9f6717bb4c40462a"/>
    <p:sldId xmlns:r="http://schemas.openxmlformats.org/officeDocument/2006/relationships" id="259" r:id="R346890194fe24a30"/>
    <p:sldId xmlns:r="http://schemas.openxmlformats.org/officeDocument/2006/relationships" id="260" r:id="Re70044bab83e45bf"/>
    <p:sldId xmlns:r="http://schemas.openxmlformats.org/officeDocument/2006/relationships" id="261" r:id="Ra5224f32a8ff4e1c"/>
    <p:sldId xmlns:r="http://schemas.openxmlformats.org/officeDocument/2006/relationships" id="262" r:id="Ra93507b923194da0"/>
    <p:sldId xmlns:r="http://schemas.openxmlformats.org/officeDocument/2006/relationships" id="263" r:id="Rf7fe685bc83c4924"/>
    <p:sldId xmlns:r="http://schemas.openxmlformats.org/officeDocument/2006/relationships" id="264" r:id="R4ecd3a45758643cf"/>
    <p:sldId xmlns:r="http://schemas.openxmlformats.org/officeDocument/2006/relationships" id="279" r:id="Rbd07d01524774add"/>
    <p:sldId xmlns:r="http://schemas.openxmlformats.org/officeDocument/2006/relationships" id="280" r:id="R0044564e043240df"/>
    <p:sldId xmlns:r="http://schemas.openxmlformats.org/officeDocument/2006/relationships" id="281" r:id="Rdee59d30ac424490"/>
    <p:sldId xmlns:r="http://schemas.openxmlformats.org/officeDocument/2006/relationships" id="282" r:id="Reebe4e45ce81488a"/>
    <p:sldId xmlns:ns0="http://schemas.openxmlformats.org/officeDocument/2006/relationships" id="295" ns0:id="rId1"/>
    <p:sldId xmlns:ns1="http://schemas.openxmlformats.org/officeDocument/2006/relationships" id="296" ns1:id="rId2"/>
    <p:sldId xmlns:ns2="http://schemas.openxmlformats.org/officeDocument/2006/relationships" id="297" ns2:id="rId3"/>
    <p:sldId xmlns:ns3="http://schemas.openxmlformats.org/officeDocument/2006/relationships" id="298" ns3:id="rId4"/>
    <p:sldId xmlns:ns4="http://schemas.openxmlformats.org/officeDocument/2006/relationships" id="299" ns4:id="rId5"/>
    <p:sldId xmlns:ns5="http://schemas.openxmlformats.org/officeDocument/2006/relationships" id="300" ns5:id="rId6"/>
    <p:sldId xmlns:ns6="http://schemas.openxmlformats.org/officeDocument/2006/relationships" id="301" ns6:id="rId7"/>
    <p:sldId xmlns:ns7="http://schemas.openxmlformats.org/officeDocument/2006/relationships" id="302" ns7:id="rId8"/>
    <p:sldId xmlns:ns8="http://schemas.openxmlformats.org/officeDocument/2006/relationships" id="303" ns8:id="rId9"/>
    <p:sldId xmlns:ns9="http://schemas.openxmlformats.org/officeDocument/2006/relationships" id="304" ns9:id="rId10"/>
    <p:sldId xmlns:ns10="http://schemas.openxmlformats.org/officeDocument/2006/relationships" id="305" ns10:id="rId11"/>
    <p:sldId xmlns:ns11="http://schemas.openxmlformats.org/officeDocument/2006/relationships" id="306" ns11:id="rId12"/>
    <p:sldId xmlns:ns12="http://schemas.openxmlformats.org/officeDocument/2006/relationships" id="307" ns12:id="rId13"/>
    <p:sldId xmlns:r="http://schemas.openxmlformats.org/officeDocument/2006/relationships" id="288" r:id="R0f2c926b502c4f5c"/>
    <p:sldId xmlns:r="http://schemas.openxmlformats.org/officeDocument/2006/relationships" id="289" r:id="R0493c15735504f7e"/>
    <p:sldId xmlns:r="http://schemas.openxmlformats.org/officeDocument/2006/relationships" id="290" r:id="Rc3a48da93788460a"/>
    <p:sldId xmlns:r="http://schemas.openxmlformats.org/officeDocument/2006/relationships" id="291" r:id="Rb79271ddaae64a10"/>
    <p:sldId xmlns:r="http://schemas.openxmlformats.org/officeDocument/2006/relationships" id="292" r:id="R2102f167df074420"/>
    <p:sldId xmlns:r="http://schemas.openxmlformats.org/officeDocument/2006/relationships" id="293" r:id="R1312f22713494ab4"/>
    <p:sldId xmlns:r="http://schemas.openxmlformats.org/officeDocument/2006/relationships" id="294" r:id="R60c86505f426428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044564e043240df" Type="http://schemas.openxmlformats.org/officeDocument/2006/relationships/slide" Target="slides/slide11.xml"/><Relationship Id="R0493c15735504f7e" Type="http://schemas.openxmlformats.org/officeDocument/2006/relationships/slide" Target="slides/slide15.xml"/><Relationship Id="R0f2c926b502c4f5c" Type="http://schemas.openxmlformats.org/officeDocument/2006/relationships/slide" Target="slides/slide14.xml"/><Relationship Id="R1312f22713494ab4" Type="http://schemas.openxmlformats.org/officeDocument/2006/relationships/slide" Target="slides/slide19.xml"/><Relationship Id="R1620c3a707ea481d" Type="http://schemas.openxmlformats.org/officeDocument/2006/relationships/notesMaster" Target="notesMasters/notesMaster1.xml"/><Relationship Id="R1734097c6ffb42de" Type="http://schemas.openxmlformats.org/officeDocument/2006/relationships/slideMaster" Target="slideMasters/slideMaster1.xml"/><Relationship Id="R1a6413b9c1dc48f5" Type="http://schemas.openxmlformats.org/officeDocument/2006/relationships/presProps" Target="presProps.xml"/><Relationship Id="R2102f167df074420" Type="http://schemas.openxmlformats.org/officeDocument/2006/relationships/slide" Target="slides/slide18.xml"/><Relationship Id="R346890194fe24a30" Type="http://schemas.openxmlformats.org/officeDocument/2006/relationships/slide" Target="slides/slide4.xml"/><Relationship Id="R3646df8257b84c88" Type="http://schemas.openxmlformats.org/officeDocument/2006/relationships/tableStyles" Target="tableStyles.xml"/><Relationship Id="R364d3b1c630e42b6" Type="http://schemas.openxmlformats.org/officeDocument/2006/relationships/slide" Target="slides/slide2.xml"/><Relationship Id="R4ecd3a45758643cf" Type="http://schemas.openxmlformats.org/officeDocument/2006/relationships/slide" Target="slides/slide9.xml"/><Relationship Id="R60c86505f4264289" Type="http://schemas.openxmlformats.org/officeDocument/2006/relationships/slide" Target="slides/slide20.xml"/><Relationship Id="R7539f990282c4d64" Type="http://schemas.openxmlformats.org/officeDocument/2006/relationships/theme" Target="theme/theme1.xml"/><Relationship Id="R92d312ba4f2b49be" Type="http://schemas.openxmlformats.org/officeDocument/2006/relationships/slide" Target="slides/slide1.xml"/><Relationship Id="R9f6717bb4c40462a" Type="http://schemas.openxmlformats.org/officeDocument/2006/relationships/slide" Target="slides/slide3.xml"/><Relationship Id="Ra5224f32a8ff4e1c" Type="http://schemas.openxmlformats.org/officeDocument/2006/relationships/slide" Target="slides/slide6.xml"/><Relationship Id="Ra93507b923194da0" Type="http://schemas.openxmlformats.org/officeDocument/2006/relationships/slide" Target="slides/slide7.xml"/><Relationship Id="Rb79271ddaae64a10" Type="http://schemas.openxmlformats.org/officeDocument/2006/relationships/slide" Target="slides/slide17.xml"/><Relationship Id="Rbd07d01524774add" Type="http://schemas.openxmlformats.org/officeDocument/2006/relationships/slide" Target="slides/slide10.xml"/><Relationship Id="Rc3a48da93788460a" Type="http://schemas.openxmlformats.org/officeDocument/2006/relationships/slide" Target="slides/slide16.xml"/><Relationship Id="Rdee59d30ac424490" Type="http://schemas.openxmlformats.org/officeDocument/2006/relationships/slide" Target="slides/slide12.xml"/><Relationship Id="Re70044bab83e45bf" Type="http://schemas.openxmlformats.org/officeDocument/2006/relationships/slide" Target="slides/slide5.xml"/><Relationship Id="Reebe4e45ce81488a" Type="http://schemas.openxmlformats.org/officeDocument/2006/relationships/slide" Target="slides/slide13.xml"/><Relationship Id="Rf7fe685bc83c4924" Type="http://schemas.openxmlformats.org/officeDocument/2006/relationships/slide" Target="slides/slide8.xml"/><Relationship Id="rId1" Type="http://schemas.openxmlformats.org/officeDocument/2006/relationships/slide" Target="slides/slide21.xml"/><Relationship Id="rId2" Type="http://schemas.openxmlformats.org/officeDocument/2006/relationships/slide" Target="slides/slide22.xml"/><Relationship Id="rId3" Type="http://schemas.openxmlformats.org/officeDocument/2006/relationships/slide" Target="slides/slide23.xml"/><Relationship Id="rId4" Type="http://schemas.openxmlformats.org/officeDocument/2006/relationships/slide" Target="slides/slide24.xml"/><Relationship Id="rId5" Type="http://schemas.openxmlformats.org/officeDocument/2006/relationships/slide" Target="slides/slide25.xml"/><Relationship Id="rId6" Type="http://schemas.openxmlformats.org/officeDocument/2006/relationships/slide" Target="slides/slide26.xml"/><Relationship Id="rId7" Type="http://schemas.openxmlformats.org/officeDocument/2006/relationships/slide" Target="slides/slide27.xml"/><Relationship Id="rId8" Type="http://schemas.openxmlformats.org/officeDocument/2006/relationships/slide" Target="slides/slide28.xml"/><Relationship Id="rId9" Type="http://schemas.openxmlformats.org/officeDocument/2006/relationships/slide" Target="slides/slide29.xml"/><Relationship Id="rId10" Type="http://schemas.openxmlformats.org/officeDocument/2006/relationships/slide" Target="slides/slide30.xml"/><Relationship Id="rId11" Type="http://schemas.openxmlformats.org/officeDocument/2006/relationships/slide" Target="slides/slide31.xml"/><Relationship Id="rId12" Type="http://schemas.openxmlformats.org/officeDocument/2006/relationships/slide" Target="slides/slide32.xml"/><Relationship Id="rId13" Type="http://schemas.openxmlformats.org/officeDocument/2006/relationships/slide" Target="slides/slide3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14315C"/>
              </a:solidFill>
              <a:ln>
                <a:noFill/>
              </a:ln>
            </c:spPr>
          </c:dPt>
          <c:dPt>
            <c:idx val="5"/>
            <c:spPr>
              <a:solidFill>
                <a:srgbClr val="8D9399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XP Investimentos</c:v>
                </c:pt>
                <c:pt idx="2">
                  <c:v>4º  Santander</c:v>
                </c:pt>
                <c:pt idx="3">
                  <c:v>3º  BTG Pactual</c:v>
                </c:pt>
                <c:pt idx="4">
                  <c:v>2º  Itaú BBA</c:v>
                </c:pt>
                <c:pt idx="5">
                  <c:v>1º  Bradesco BBI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0.07040879184</c:v>
                </c:pt>
                <c:pt idx="1">
                  <c:v>0.07825892098</c:v>
                </c:pt>
                <c:pt idx="2">
                  <c:v>0.09456496776</c:v>
                </c:pt>
                <c:pt idx="3">
                  <c:v>0.09952460536</c:v>
                </c:pt>
                <c:pt idx="4">
                  <c:v>0.2286817511</c:v>
                </c:pt>
                <c:pt idx="5">
                  <c:v>0.27789560251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2180972856"/>
        <c:crosses val="autoZero"/>
        <c:auto val="1"/>
        <c:lblAlgn val="ctr"/>
        <c:lblOffset val="100"/>
        <c:noMultiLvlLbl val="0"/>
      </c:catAx>
      <c:valAx>
        <c:axId val="2180972856"/>
        <c:scaling>
          <c:max val="0.3557063712128"/>
          <c:min val="0.0"/>
        </c:scaling>
        <c:delete/>
        <c:axPos val="b"/>
        <c:majorTickMark val="out"/>
        <c:minorTickMark val="none"/>
        <c:tickLblPos val="nextTo"/>
        <c:crossAx val="2226939960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0.07451209379</c:v>
                </c:pt>
                <c:pt idx="1">
                  <c:v>0.08883897779</c:v>
                </c:pt>
                <c:pt idx="2">
                  <c:v>0.09451906615</c:v>
                </c:pt>
                <c:pt idx="3">
                  <c:v>0.10418540682</c:v>
                </c:pt>
                <c:pt idx="4">
                  <c:v>0.20545717664</c:v>
                </c:pt>
                <c:pt idx="5">
                  <c:v>0.25024393331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2180972856"/>
        <c:crosses val="autoZero"/>
        <c:auto val="1"/>
        <c:lblAlgn val="ctr"/>
        <c:lblOffset val="100"/>
        <c:noMultiLvlLbl val="0"/>
      </c:catAx>
      <c:valAx>
        <c:axId val="2180972856"/>
        <c:scaling>
          <c:max val="0.32031223463680003"/>
          <c:min val="0.0"/>
        </c:scaling>
        <c:delete/>
        <c:axPos val="b"/>
        <c:majorTickMark val="out"/>
        <c:minorTickMark val="none"/>
        <c:tickLblPos val="nextTo"/>
        <c:crossAx val="2226939960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0.05618662601</c:v>
                </c:pt>
                <c:pt idx="1">
                  <c:v>0.07146291134</c:v>
                </c:pt>
                <c:pt idx="2">
                  <c:v>0.07350064594</c:v>
                </c:pt>
                <c:pt idx="3">
                  <c:v>0.15507438227</c:v>
                </c:pt>
                <c:pt idx="4">
                  <c:v>0.17869834915</c:v>
                </c:pt>
                <c:pt idx="5">
                  <c:v>0.26599103078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2180972856"/>
        <c:crosses val="autoZero"/>
        <c:auto val="1"/>
        <c:lblAlgn val="ctr"/>
        <c:lblOffset val="100"/>
        <c:noMultiLvlLbl val="0"/>
      </c:catAx>
      <c:valAx>
        <c:axId val="2180972856"/>
        <c:scaling>
          <c:max val="0.34046851939840006"/>
          <c:min val="0.0"/>
        </c:scaling>
        <c:delete/>
        <c:axPos val="b"/>
        <c:majorTickMark val="out"/>
        <c:minorTickMark val="none"/>
        <c:tickLblPos val="nextTo"/>
        <c:crossAx val="2226939960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0.06424275488</c:v>
                </c:pt>
                <c:pt idx="1">
                  <c:v>0.0789632087</c:v>
                </c:pt>
                <c:pt idx="2">
                  <c:v>0.08384054545</c:v>
                </c:pt>
                <c:pt idx="3">
                  <c:v>0.16031117313</c:v>
                </c:pt>
                <c:pt idx="4">
                  <c:v>0.16255878564</c:v>
                </c:pt>
                <c:pt idx="5">
                  <c:v>0.24625711518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2180972856"/>
        <c:crosses val="autoZero"/>
        <c:auto val="1"/>
        <c:lblAlgn val="ctr"/>
        <c:lblOffset val="100"/>
        <c:noMultiLvlLbl val="0"/>
      </c:catAx>
      <c:valAx>
        <c:axId val="2180972856"/>
        <c:scaling>
          <c:max val="0.31520910743040004"/>
          <c:min val="0.0"/>
        </c:scaling>
        <c:delete/>
        <c:axPos val="b"/>
        <c:majorTickMark val="out"/>
        <c:minorTickMark val="none"/>
        <c:tickLblPos val="nextTo"/>
        <c:crossAx val="2226939960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e8285aee78744104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ad674ea53c1493d" Type="http://schemas.openxmlformats.org/officeDocument/2006/relationships/slide" Target="../slides/slide1.xml"/><Relationship Id="Rdf163c68756f41dc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0598de5b6cf74866" Type="http://schemas.openxmlformats.org/officeDocument/2006/relationships/notesMaster" Target="../notesMasters/notesMaster1.xml"/><Relationship Id="Rb964c9d422d143f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19c200ea70454e8d" Type="http://schemas.openxmlformats.org/officeDocument/2006/relationships/slide" Target="../slides/slide3.xml"/><Relationship Id="R4926d7e2fe04457d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44b14b2849fc4131" Type="http://schemas.openxmlformats.org/officeDocument/2006/relationships/notesMaster" Target="../notesMasters/notesMaster1.xml"/><Relationship Id="Refdd573a5dfe422d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77abef2b8f8e4256" Type="http://schemas.openxmlformats.org/officeDocument/2006/relationships/notesMaster" Target="../notesMasters/notesMaster1.xml"/><Relationship Id="Rf7dcf0a96bf14183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6621764c5c844f06" Type="http://schemas.openxmlformats.org/officeDocument/2006/relationships/slide" Target="../slides/slide6.xml"/><Relationship Id="Rce6f3ec2f91f4c9e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24136d67cf434eea" Type="http://schemas.openxmlformats.org/officeDocument/2006/relationships/slide" Target="../slides/slide7.xml"/><Relationship Id="R4633f168dae343f7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40423aa256f94be8" Type="http://schemas.openxmlformats.org/officeDocument/2006/relationships/notesMaster" Target="../notesMasters/notesMaster1.xml"/><Relationship Id="Re09cb5a912be4f8d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3ec90967ab714b53" Type="http://schemas.openxmlformats.org/officeDocument/2006/relationships/notesMaster" Target="../notesMasters/notesMaster1.xml"/><Relationship Id="R89272a5794494d50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2e68c6d291ff4023" Type="http://schemas.openxmlformats.org/officeDocument/2006/relationships/notesMaster" Target="../notesMasters/notesMaster1.xml"/><Relationship Id="R6b9dcc0081ff458f" Type="http://schemas.openxmlformats.org/officeDocument/2006/relationships/slide" Target="../slides/slide10.xml"/></Relationships>
</file>

<file path=ppt/notesSlides/_rels/notesSlide25.xml.rels><?xml version='1.0' encoding='UTF-8' standalone='yes'?>
<Relationships xmlns="http://schemas.openxmlformats.org/package/2006/relationships"><Relationship Id="R901bde09b2754afe" Type="http://schemas.openxmlformats.org/officeDocument/2006/relationships/notesMaster" Target="../notesMasters/notesMaster1.xml"/><Relationship Id="Ra713baa3bda34acd" Type="http://schemas.openxmlformats.org/officeDocument/2006/relationships/slide" Target="../slides/slide11.xml"/></Relationships>
</file>

<file path=ppt/notesSlides/_rels/notesSlide26.xml.rels><?xml version='1.0' encoding='UTF-8' standalone='yes'?>
<Relationships xmlns="http://schemas.openxmlformats.org/package/2006/relationships"><Relationship Id="R467b34e00aa2477f" Type="http://schemas.openxmlformats.org/officeDocument/2006/relationships/slide" Target="../slides/slide12.xml"/><Relationship Id="R5ea4d0bd38864e5e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8e41bad770be48ed" Type="http://schemas.openxmlformats.org/officeDocument/2006/relationships/slide" Target="../slides/slide13.xml"/><Relationship Id="Rd872b9ff30ef4f20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392b8516bf0145e3" Type="http://schemas.openxmlformats.org/officeDocument/2006/relationships/slide" Target="../slides/slide14.xml"/><Relationship Id="R839ff44769e84805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be3309e5ee014e56" Type="http://schemas.openxmlformats.org/officeDocument/2006/relationships/slide" Target="../slides/slide15.xml"/><Relationship Id="Rc3360d16a3d84099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e8091504cea24a91" Type="http://schemas.openxmlformats.org/officeDocument/2006/relationships/notesMaster" Target="../notesMasters/notesMaster1.xml"/><Relationship Id="Rfaf0450bfbf24a4c" Type="http://schemas.openxmlformats.org/officeDocument/2006/relationships/slide" Target="../slides/slide16.xml"/></Relationships>
</file>

<file path=ppt/notesSlides/_rels/notesSlide36.xml.rels><?xml version='1.0' encoding='UTF-8' standalone='yes'?>
<Relationships xmlns="http://schemas.openxmlformats.org/package/2006/relationships"><Relationship Id="R2d8b1056a8dc41c5" Type="http://schemas.openxmlformats.org/officeDocument/2006/relationships/slide" Target="../slides/slide17.xml"/><Relationship Id="R746de50f72134ddd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2ac6c2ca0b934128" Type="http://schemas.openxmlformats.org/officeDocument/2006/relationships/slide" Target="../slides/slide18.xml"/><Relationship Id="Rc1d4da3b72524cd6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7b0a1c0066174ff3" Type="http://schemas.openxmlformats.org/officeDocument/2006/relationships/slide" Target="../slides/slide19.xml"/><Relationship Id="Rf8d5194a459c4fab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aaa8a517e7c14208" Type="http://schemas.openxmlformats.org/officeDocument/2006/relationships/notesMaster" Target="../notesMasters/notesMaster1.xml"/><Relationship Id="Rb4b5fafe263d489a" Type="http://schemas.openxmlformats.org/officeDocument/2006/relationships/slide" Target="../slides/slide20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CVM Informe Mensal jun/26; bases/saldo_cenarios.csv; bases/emissoes_por_categoria.csv; bases/exclusoes_por_cnpj.csv. PF/PJ via bases/pfpj_24_incluidos.csv. Cenário sem CNPJs 09195235000150 e 26287464000114.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CVM/SRE, ofertas encerradas; bases/emissoes_por_cnpj.csv, emissoes_por_categoria.csv e emissoes_auditoria.csv. Match por CNPJ do fundo e depois da classe; FIC fora; sem match=N/D. 2023 escalado ao total encerrado ANBIMA.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CVM/ANBIMA, regulamentos integrais, taxonomy_review_actions.csv, bases/criterios_categorias.csv e categorias_cnpj_jun26.csv. Taxonomia congelada em jun/26 e retroaplicada.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participação no volume = volume registrado da categoria / volume registrado total do período; inclui Não informado e fecha 100%, salvo arredondamento.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CVM Informe Mensal jun/26; bases/prestadores_separados.csv e prestadores_linhagem.csv. Itaú/Intrag/Kinea e Kanastra/Limine conforme curadoria documentada.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CVM Informe Mensal jun/26; bases/saldo_cenarios.csv; bases/emissoes_por_categoria.csv; bases/exclusoes_por_cnpj.csv. PF/PJ via bases/pfpj_24_incluidos.csv. Cenário sem CNPJs 09195235000150 e 26287464000114.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CVM Informe Mensal jun/26, Tabelas I, II e VIII; regulamentos integrais; bases/pfpj_26_decisoes.csv e pfpj_24_incluidos.csv. PL dos fundos; exposição efetiva, PF/PJ split e total de devedores=N/D.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990b2f63bc6e4557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56bc0431a66d49f5" Type="http://schemas.openxmlformats.org/officeDocument/2006/relationships/theme" Target="theme/theme2.xml"/><Relationship Id="R9f1bbf21154e41d4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1bbf21154e41d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2df0bb664f704c5d" Type="http://schemas.openxmlformats.org/officeDocument/2006/relationships/slideLayout" Target="../slideLayouts/slideLayout1.xml"/><Relationship Id="Rdb67f8532f784321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1c9e2386e9824801" Type="http://schemas.openxmlformats.org/officeDocument/2006/relationships/slideLayout" Target="../slideLayouts/slideLayout1.xml"/><Relationship Id="R6726ad688b804f04" Type="http://schemas.openxmlformats.org/officeDocument/2006/relationships/notesSlide" Target="../notesSlides/notesSlide2.xml"/><Relationship Id="R8e05ffa2f28a496a" Type="http://schemas.openxmlformats.org/officeDocument/2006/relationships/chart" Target="charts/chart1.xml"/><Relationship Id="Rb4a1ce7b0ab34796" Type="http://schemas.openxmlformats.org/officeDocument/2006/relationships/chart" Target="charts/chart3.xml"/><Relationship Id="Reaf7579e718346c5" Type="http://schemas.openxmlformats.org/officeDocument/2006/relationships/chart" Target="charts/chart2.xml"/></Relationships>
</file>

<file path=ppt/slides/_rels/slide3.xml.rels><?xml version='1.0' encoding='UTF-8' standalone='yes'?>
<Relationships xmlns="http://schemas.openxmlformats.org/package/2006/relationships"><Relationship Id="R125552a2697f410f" Type="http://schemas.openxmlformats.org/officeDocument/2006/relationships/chart" Target="charts/chart5.xml"/><Relationship Id="R23bf8c3cc211485c" Type="http://schemas.openxmlformats.org/officeDocument/2006/relationships/notesSlide" Target="../notesSlides/notesSlide3.xml"/><Relationship Id="Rb2dfb42261474e69" Type="http://schemas.openxmlformats.org/officeDocument/2006/relationships/chart" Target="charts/chart4.xml"/><Relationship Id="Reb20845900e3469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367e8afa3d5a4ae2" Type="http://schemas.openxmlformats.org/officeDocument/2006/relationships/chart" Target="charts/chart8.xml"/><Relationship Id="R7691e646a98d4f16" Type="http://schemas.openxmlformats.org/officeDocument/2006/relationships/chart" Target="charts/chart6.xml"/><Relationship Id="R84ce3964a7e946d9" Type="http://schemas.openxmlformats.org/officeDocument/2006/relationships/slideLayout" Target="../slideLayouts/slideLayout1.xml"/><Relationship Id="Rbce66e6daa9c4b4b" Type="http://schemas.openxmlformats.org/officeDocument/2006/relationships/chart" Target="charts/chart9.xml"/><Relationship Id="Rce2c18c8dda04eb4" Type="http://schemas.openxmlformats.org/officeDocument/2006/relationships/notesSlide" Target="../notesSlides/notesSlide4.xml"/><Relationship Id="Rd74d590667054410" Type="http://schemas.openxmlformats.org/officeDocument/2006/relationships/chart" Target="charts/chart7.xml"/></Relationships>
</file>

<file path=ppt/slides/_rels/slide5.xml.rels><?xml version='1.0' encoding='UTF-8' standalone='yes'?>
<Relationships xmlns="http://schemas.openxmlformats.org/package/2006/relationships"><Relationship Id="R141cc6b3343d4164" Type="http://schemas.openxmlformats.org/officeDocument/2006/relationships/chart" Target="charts/chart10.xml"/><Relationship Id="R56bcd30ed9a14539" Type="http://schemas.openxmlformats.org/officeDocument/2006/relationships/chart" Target="charts/chart11.xml"/><Relationship Id="R6cdd8b95e84d4f69" Type="http://schemas.openxmlformats.org/officeDocument/2006/relationships/notesSlide" Target="../notesSlides/notesSlide5.xml"/><Relationship Id="R8952cad7daa34da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061728c080324dfc" Type="http://schemas.openxmlformats.org/officeDocument/2006/relationships/chart" Target="charts/chart14.xml"/><Relationship Id="R1cf6e530952e4e08" Type="http://schemas.openxmlformats.org/officeDocument/2006/relationships/slideLayout" Target="../slideLayouts/slideLayout1.xml"/><Relationship Id="R42f5baffc23c4726" Type="http://schemas.openxmlformats.org/officeDocument/2006/relationships/notesSlide" Target="../notesSlides/notesSlide6.xml"/><Relationship Id="Rbd3c074aa1024926" Type="http://schemas.openxmlformats.org/officeDocument/2006/relationships/chart" Target="charts/chart13.xml"/><Relationship Id="Rf99f10e434644dc9" Type="http://schemas.openxmlformats.org/officeDocument/2006/relationships/chart" Target="charts/chart12.xml"/></Relationships>
</file>

<file path=ppt/slides/_rels/slide7.xml.rels><?xml version='1.0' encoding='UTF-8' standalone='yes'?>
<Relationships xmlns="http://schemas.openxmlformats.org/package/2006/relationships"><Relationship Id="R1f2135ec3abb4d82" Type="http://schemas.openxmlformats.org/officeDocument/2006/relationships/notesSlide" Target="../notesSlides/notesSlide7.xml"/><Relationship Id="R385ddb18ac37480c" Type="http://schemas.openxmlformats.org/officeDocument/2006/relationships/chart" Target="charts/chart17.xml"/><Relationship Id="R4d408ff538344a17" Type="http://schemas.openxmlformats.org/officeDocument/2006/relationships/chart" Target="charts/chart16.xml"/><Relationship Id="R4d821142499f4e09" Type="http://schemas.openxmlformats.org/officeDocument/2006/relationships/chart" Target="charts/chart15.xml"/><Relationship Id="Rbc9a91b81160497e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0a303cb5b49f4b81" Type="http://schemas.openxmlformats.org/officeDocument/2006/relationships/slideLayout" Target="../slideLayouts/slideLayout1.xml"/><Relationship Id="R0d935c7144584feb" Type="http://schemas.openxmlformats.org/officeDocument/2006/relationships/notesSlide" Target="../notesSlides/notesSlide8.xml"/><Relationship Id="R513702f4d45d4024" Type="http://schemas.openxmlformats.org/officeDocument/2006/relationships/chart" Target="charts/chart18.xml"/><Relationship Id="R5bd5831a2070486a" Type="http://schemas.openxmlformats.org/officeDocument/2006/relationships/chart" Target="charts/chart19.xml"/><Relationship Id="Rb148ffcdd727412d" Type="http://schemas.openxmlformats.org/officeDocument/2006/relationships/chart" Target="charts/chart20.xml"/></Relationships>
</file>

<file path=ppt/slides/_rels/slide9.xml.rels><?xml version='1.0' encoding='UTF-8' standalone='yes'?>
<Relationships xmlns="http://schemas.openxmlformats.org/package/2006/relationships"><Relationship Id="R4ac3738118c04aab" Type="http://schemas.openxmlformats.org/officeDocument/2006/relationships/notesSlide" Target="../notesSlides/notesSlide9.xml"/><Relationship Id="R5d266afa75504796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1851ce31e8bb4635" Type="http://schemas.openxmlformats.org/officeDocument/2006/relationships/slideLayout" Target="../slideLayouts/slideLayout1.xml"/><Relationship Id="R47dc568d9a494a4b" Type="http://schemas.openxmlformats.org/officeDocument/2006/relationships/chart" Target="charts/chart23.xml"/><Relationship Id="R5ea364adfe864a48" Type="http://schemas.openxmlformats.org/officeDocument/2006/relationships/chart" Target="charts/chart21.xml"/><Relationship Id="Re515533d8e9d4462" Type="http://schemas.openxmlformats.org/officeDocument/2006/relationships/chart" Target="charts/chart22.xml"/><Relationship Id="Rf9bf833061064fad" Type="http://schemas.openxmlformats.org/officeDocument/2006/relationships/notesSlide" Target="../notesSlides/notesSlide24.xml"/></Relationships>
</file>

<file path=ppt/slides/_rels/slide11.xml.rels><?xml version='1.0' encoding='UTF-8' standalone='yes'?>
<Relationships xmlns="http://schemas.openxmlformats.org/package/2006/relationships"><Relationship Id="R1e3a479e2f6f47fb" Type="http://schemas.openxmlformats.org/officeDocument/2006/relationships/notesSlide" Target="../notesSlides/notesSlide25.xml"/><Relationship Id="R2f42889ecacb4ee9" Type="http://schemas.openxmlformats.org/officeDocument/2006/relationships/slideLayout" Target="../slideLayouts/slideLayout1.xml"/><Relationship Id="R32ad26ecb4b64f3d" Type="http://schemas.openxmlformats.org/officeDocument/2006/relationships/chart" Target="charts/chart24.xml"/><Relationship Id="R68c19d9edeb94dbe" Type="http://schemas.openxmlformats.org/officeDocument/2006/relationships/chart" Target="charts/chart25.xml"/><Relationship Id="R6df9462ed0234c8f" Type="http://schemas.openxmlformats.org/officeDocument/2006/relationships/chart" Target="charts/chart27.xml"/><Relationship Id="Ra2d28b7169314cbc" Type="http://schemas.openxmlformats.org/officeDocument/2006/relationships/chart" Target="charts/chart26.xml"/></Relationships>
</file>

<file path=ppt/slides/_rels/slide12.xml.rels><?xml version='1.0' encoding='UTF-8' standalone='yes'?>
<Relationships xmlns="http://schemas.openxmlformats.org/package/2006/relationships"><Relationship Id="R1ba5a9fa91514c8c" Type="http://schemas.openxmlformats.org/officeDocument/2006/relationships/chart" Target="charts/chart28.xml"/><Relationship Id="R2c049788b2234080" Type="http://schemas.openxmlformats.org/officeDocument/2006/relationships/notesSlide" Target="../notesSlides/notesSlide26.xml"/><Relationship Id="R55ffcda0c97b4589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8272e6663eb04b2f" Type="http://schemas.openxmlformats.org/officeDocument/2006/relationships/slideLayout" Target="../slideLayouts/slideLayout1.xml"/><Relationship Id="Rb3beb7da05cd46a0" Type="http://schemas.openxmlformats.org/officeDocument/2006/relationships/notesSlide" Target="../notesSlides/notesSlide27.xml"/></Relationships>
</file>

<file path=ppt/slides/_rels/slide14.xml.rels><?xml version='1.0' encoding='UTF-8' standalone='yes'?>
<Relationships xmlns="http://schemas.openxmlformats.org/package/2006/relationships"><Relationship Id="R5032bf592a294b58" Type="http://schemas.openxmlformats.org/officeDocument/2006/relationships/notesSlide" Target="../notesSlides/notesSlide33.xml"/><Relationship Id="R93f9ccd3874b4edb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2282f5c9d9ae4e8f" Type="http://schemas.openxmlformats.org/officeDocument/2006/relationships/chart" Target="charts/chart33.xml"/><Relationship Id="R359847dc6ae8444f" Type="http://schemas.openxmlformats.org/officeDocument/2006/relationships/slideLayout" Target="../slideLayouts/slideLayout1.xml"/><Relationship Id="R429d77c59a464ce4" Type="http://schemas.openxmlformats.org/officeDocument/2006/relationships/notesSlide" Target="../notesSlides/notesSlide34.xml"/><Relationship Id="R682a0a263a4c4737" Type="http://schemas.openxmlformats.org/officeDocument/2006/relationships/chart" Target="charts/chart34.xml"/><Relationship Id="R78e55dde6ae544f0" Type="http://schemas.openxmlformats.org/officeDocument/2006/relationships/chart" Target="charts/chart32.xml"/><Relationship Id="R7db42b57f8594cc6" Type="http://schemas.openxmlformats.org/officeDocument/2006/relationships/chart" Target="charts/chart30.xml"/><Relationship Id="R9899daedec094952" Type="http://schemas.openxmlformats.org/officeDocument/2006/relationships/chart" Target="charts/chart35.xml"/><Relationship Id="Rc6e40ae014914456" Type="http://schemas.openxmlformats.org/officeDocument/2006/relationships/chart" Target="charts/chart29.xml"/><Relationship Id="Rc9ec27b434e4466d" Type="http://schemas.openxmlformats.org/officeDocument/2006/relationships/chart" Target="charts/chart31.xml"/></Relationships>
</file>

<file path=ppt/slides/_rels/slide16.xml.rels><?xml version='1.0' encoding='UTF-8' standalone='yes'?>
<Relationships xmlns="http://schemas.openxmlformats.org/package/2006/relationships"><Relationship Id="R2e4cf52fc61c4165" Type="http://schemas.openxmlformats.org/officeDocument/2006/relationships/chart" Target="charts/chart37.xml"/><Relationship Id="R6a34860871f84d54" Type="http://schemas.openxmlformats.org/officeDocument/2006/relationships/slideLayout" Target="../slideLayouts/slideLayout1.xml"/><Relationship Id="R6dd9139e76324dbd" Type="http://schemas.openxmlformats.org/officeDocument/2006/relationships/notesSlide" Target="../notesSlides/notesSlide35.xml"/><Relationship Id="R9255789b2997457b" Type="http://schemas.openxmlformats.org/officeDocument/2006/relationships/chart" Target="charts/chart36.xml"/></Relationships>
</file>

<file path=ppt/slides/_rels/slide17.xml.rels><?xml version='1.0' encoding='UTF-8' standalone='yes'?>
<Relationships xmlns="http://schemas.openxmlformats.org/package/2006/relationships"><Relationship Id="R457ba065d2914a17" Type="http://schemas.openxmlformats.org/officeDocument/2006/relationships/slideLayout" Target="../slideLayouts/slideLayout1.xml"/><Relationship Id="R4e947ac722794e73" Type="http://schemas.openxmlformats.org/officeDocument/2006/relationships/chart" Target="charts/chart38.xml"/><Relationship Id="Rd21c49586367439a" Type="http://schemas.openxmlformats.org/officeDocument/2006/relationships/notesSlide" Target="../notesSlides/notesSlide36.xml"/><Relationship Id="Re2291ff614ee48e9" Type="http://schemas.openxmlformats.org/officeDocument/2006/relationships/chart" Target="charts/chart40.xml"/><Relationship Id="Re9637778228140af" Type="http://schemas.openxmlformats.org/officeDocument/2006/relationships/chart" Target="charts/chart39.xml"/></Relationships>
</file>

<file path=ppt/slides/_rels/slide18.xml.rels><?xml version='1.0' encoding='UTF-8' standalone='yes'?>
<Relationships xmlns="http://schemas.openxmlformats.org/package/2006/relationships"><Relationship Id="R16d8ebb894614522" Type="http://schemas.openxmlformats.org/officeDocument/2006/relationships/chart" Target="charts/chart41.xml"/><Relationship Id="R1f871992605f4a85" Type="http://schemas.openxmlformats.org/officeDocument/2006/relationships/chart" Target="charts/chart43.xml"/><Relationship Id="R359cac5e12894fde" Type="http://schemas.openxmlformats.org/officeDocument/2006/relationships/chart" Target="charts/chart42.xml"/><Relationship Id="R80c3f4061f9d4ce0" Type="http://schemas.openxmlformats.org/officeDocument/2006/relationships/slideLayout" Target="../slideLayouts/slideLayout1.xml"/><Relationship Id="R80eeff8472c24a50" Type="http://schemas.openxmlformats.org/officeDocument/2006/relationships/chart" Target="charts/chart45.xml"/><Relationship Id="R9dc921d499a94556" Type="http://schemas.openxmlformats.org/officeDocument/2006/relationships/notesSlide" Target="../notesSlides/notesSlide37.xml"/><Relationship Id="Rbddd2a9620294ae4" Type="http://schemas.openxmlformats.org/officeDocument/2006/relationships/chart" Target="charts/chart44.xml"/></Relationships>
</file>

<file path=ppt/slides/_rels/slide19.xml.rels><?xml version='1.0' encoding='UTF-8' standalone='yes'?>
<Relationships xmlns="http://schemas.openxmlformats.org/package/2006/relationships"><Relationship Id="R016734bafeb140d8" Type="http://schemas.openxmlformats.org/officeDocument/2006/relationships/chart" Target="charts/chart49.xml"/><Relationship Id="R28f3b9c193614a3d" Type="http://schemas.openxmlformats.org/officeDocument/2006/relationships/chart" Target="charts/chart46.xml"/><Relationship Id="Ra0caf39ab2314356" Type="http://schemas.openxmlformats.org/officeDocument/2006/relationships/chart" Target="charts/chart47.xml"/><Relationship Id="Ra3cd8dd3d5bd4b43" Type="http://schemas.openxmlformats.org/officeDocument/2006/relationships/notesSlide" Target="../notesSlides/notesSlide38.xml"/><Relationship Id="Rb946c5501cf245cb" Type="http://schemas.openxmlformats.org/officeDocument/2006/relationships/slideLayout" Target="../slideLayouts/slideLayout1.xml"/><Relationship Id="Rf9e4fa7ba5c346b3" Type="http://schemas.openxmlformats.org/officeDocument/2006/relationships/chart" Target="charts/chart48.xml"/></Relationships>
</file>

<file path=ppt/slides/_rels/slide20.xml.rels><?xml version='1.0' encoding='UTF-8' standalone='yes'?>
<Relationships xmlns="http://schemas.openxmlformats.org/package/2006/relationships"><Relationship Id="R067d6d81081d4aac" Type="http://schemas.openxmlformats.org/officeDocument/2006/relationships/chart" Target="charts/chart51.xml"/><Relationship Id="R1a90c6d090184257" Type="http://schemas.openxmlformats.org/officeDocument/2006/relationships/notesSlide" Target="../notesSlides/notesSlide39.xml"/><Relationship Id="R408d9220304f4e67" Type="http://schemas.openxmlformats.org/officeDocument/2006/relationships/slideLayout" Target="../slideLayouts/slideLayout1.xml"/><Relationship Id="Rfd28a5bbf4e84161" Type="http://schemas.openxmlformats.org/officeDocument/2006/relationships/chart" Target="charts/chart5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 xmlns:a="http://schemas.openxmlformats.org/drawingml/2006/main">
              <a:srgbClr val="30353A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 xmlns:a="http://schemas.openxmlformats.org/drawingml/2006/main">
              <a:srgbClr val="8D9399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 xmlns:a="http://schemas.openxmlformats.org/drawingml/2006/main">
              <a:srgbClr val="E7E9EB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 xmlns:a="http://schemas.openxmlformats.org/drawingml/2006/main">
              <a:noFill/>
            </a:ln>
          </c:spPr>
          <c:marker>
            <c:symbol val="none"/>
            <c:size val="2"/>
          </c:marker>
          <c:dLbls>
            <c:numFmt formatCode="[&gt;=1000]#\.##0;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Algn val="ctr"/>
        <c:noMultiLvlLbl val="0"/>
        <c:lblOffset val="10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Empréstimos</c:v>
          </c:tx>
          <c:spPr>
            <a:ln xmlns:a="http://schemas.openxmlformats.org/drawingml/2006/main"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xmlns:a="http://schemas.openxmlformats.org/drawingml/2006/main"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securit.</c:v>
          </c:tx>
          <c:spPr>
            <a:ln xmlns:a="http://schemas.openxmlformats.org/drawingml/2006/main"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Dív. externa</c:v>
          </c:tx>
          <c:spPr>
            <a:ln xmlns:a="http://schemas.openxmlformats.org/drawingml/2006/main"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66.99363287149001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88.01231288842001</c:v>
              </c:pt>
              <c:pt idx="1">
                <c:v>110.78163928671</c:v>
              </c:pt>
              <c:pt idx="2">
                <c:v>134.72203186548</c:v>
              </c:pt>
              <c:pt idx="3">
                <c:v>142.63089658108998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126.14605664653</c:v>
              </c:pt>
              <c:pt idx="1">
                <c:v>176.82850856551002</c:v>
              </c:pt>
              <c:pt idx="2">
                <c:v>231.72616772613995</c:v>
              </c:pt>
              <c:pt idx="3">
                <c:v>275.29447198864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3.0397972983000003</c:v>
              </c:pt>
              <c:pt idx="1">
                <c:v>3.80886973898</c:v>
              </c:pt>
              <c:pt idx="2">
                <c:v>5.862133668999999</c:v>
              </c:pt>
              <c:pt idx="3">
                <c:v>7.10264044208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54.14687833335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81.84740187933002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86.50477887797999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21.275962572810005</c:v>
              </c:pt>
              <c:pt idx="1">
                <c:v>33.66266718072</c:v>
              </c:pt>
              <c:pt idx="2">
                <c:v>33.97906413177999</c:v>
              </c:pt>
              <c:pt idx="3">
                <c:v>35.19928678253001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0.4925227090800001</c:v>
              </c:pt>
              <c:pt idx="1">
                <c:v>0.22197586637999997</c:v>
              </c:pt>
              <c:pt idx="2">
                <c:v>0.08320776646000001</c:v>
              </c:pt>
              <c:pt idx="3">
                <c:v>1.63869010794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/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0.1363576869727525</c:v>
              </c:pt>
              <c:pt idx="1">
                <c:v>0.1270764465658316</c:v>
              </c:pt>
              <c:pt idx="2">
                <c:v>0.1247213464961755</c:v>
              </c:pt>
              <c:pt idx="3">
                <c:v>0.123004561823407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0.2262666961053475</c:v>
              </c:pt>
              <c:pt idx="1">
                <c:v>0.2101354481297849</c:v>
              </c:pt>
              <c:pt idx="2">
                <c:v>0.1999106975839517</c:v>
              </c:pt>
              <c:pt idx="3">
                <c:v>0.1984814977766555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0.324302935889369</c:v>
              </c:pt>
              <c:pt idx="1">
                <c:v>0.3354160321943587</c:v>
              </c:pt>
              <c:pt idx="2">
                <c:v>0.3438527403212231</c:v>
              </c:pt>
              <c:pt idx="3">
                <c:v>0.3830927270296855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0.0078148712258963</c:v>
              </c:pt>
              <c:pt idx="1">
                <c:v>0.0072248303475371</c:v>
              </c:pt>
              <c:pt idx="2">
                <c:v>0.0086986754495382</c:v>
              </c:pt>
              <c:pt idx="3">
                <c:v>0.0098838522851996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0.1392036507487046</c:v>
              </c:pt>
              <c:pt idx="1">
                <c:v>0.1357000256573569</c:v>
              </c:pt>
              <c:pt idx="2">
                <c:v>0.1375107973513174</c:v>
              </c:pt>
              <c:pt idx="3">
                <c:v>0.1138967454004706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0.1100905889356954</c:v>
              </c:pt>
              <c:pt idx="1">
                <c:v>0.1201733473802729</c:v>
              </c:pt>
              <c:pt idx="2">
                <c:v>0.134761578326829</c:v>
              </c:pt>
              <c:pt idx="3">
                <c:v>0.1203778317889099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0.0546973667640558</c:v>
              </c:pt>
              <c:pt idx="1">
                <c:v>0.0638528162140403</c:v>
              </c:pt>
              <c:pt idx="2">
                <c:v>0.0504206945202293</c:v>
              </c:pt>
              <c:pt idx="3">
                <c:v>0.0489824247672355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0.0012662033581786</c:v>
              </c:pt>
              <c:pt idx="1">
                <c:v>0.0004210535108172</c:v>
              </c:pt>
              <c:pt idx="2">
                <c:v>0.0001234699507355</c:v>
              </c:pt>
              <c:pt idx="3">
                <c:v>0.0022803591284361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/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4.272733645318789</c:v>
              </c:pt>
              <c:pt idx="1">
                <c:v>9.46084314594</c:v>
              </c:pt>
              <c:pt idx="2">
                <c:v>8.85980114902</c:v>
              </c:pt>
              <c:pt idx="3">
                <c:v>3.9604598731999996</c:v>
              </c:pt>
              <c:pt idx="4">
                <c:v>5.60231892482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4.81492197807918</c:v>
              </c:pt>
              <c:pt idx="1">
                <c:v>17.46136403561</c:v>
              </c:pt>
              <c:pt idx="2">
                <c:v>27.4106918537</c:v>
              </c:pt>
              <c:pt idx="3">
                <c:v>18.84859596717</c:v>
              </c:pt>
              <c:pt idx="4">
                <c:v>10.74513727233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15.42043709582751</c:v>
              </c:pt>
              <c:pt idx="1">
                <c:v>42.451896497339995</c:v>
              </c:pt>
              <c:pt idx="2">
                <c:v>51.61086148217</c:v>
              </c:pt>
              <c:pt idx="3">
                <c:v>21.28068209032</c:v>
              </c:pt>
              <c:pt idx="4">
                <c:v>37.7899990259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1.3295867388102478</c:v>
              </c:pt>
              <c:pt idx="1">
                <c:v>1.79225</c:v>
              </c:pt>
              <c:pt idx="2">
                <c:v>0.261</c:v>
              </c:pt>
              <c:pt idx="3">
                <c:v>0.13</c:v>
              </c:pt>
              <c:pt idx="4">
                <c:v>2.60300000007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3.339822969232049</c:v>
              </c:pt>
              <c:pt idx="1">
                <c:v>5.5087763108</c:v>
              </c:pt>
              <c:pt idx="2">
                <c:v>7.018108725239999</c:v>
              </c:pt>
              <c:pt idx="3">
                <c:v>3.2252896508299997</c:v>
              </c:pt>
              <c:pt idx="4">
                <c:v>2.07487987222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2.287448611391622</c:v>
              </c:pt>
              <c:pt idx="1">
                <c:v>1.90953225977</c:v>
              </c:pt>
              <c:pt idx="2">
                <c:v>3.5888690035</c:v>
              </c:pt>
              <c:pt idx="3">
                <c:v>1.15603067773</c:v>
              </c:pt>
              <c:pt idx="4">
                <c:v>1.21970179492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0.8743020042766778</c:v>
              </c:pt>
              <c:pt idx="1">
                <c:v>1.7879510000799999</c:v>
              </c:pt>
              <c:pt idx="2">
                <c:v>2.45979375898</c:v>
              </c:pt>
              <c:pt idx="3">
                <c:v>0.6778</c:v>
              </c:pt>
              <c:pt idx="4">
                <c:v>0.29309674031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8.542325907839587</c:v>
              </c:pt>
              <c:pt idx="1">
                <c:v>8.013988884309999</c:v>
              </c:pt>
              <c:pt idx="2">
                <c:v>5.23622188904</c:v>
              </c:pt>
              <c:pt idx="3">
                <c:v>3.15074370915</c:v>
              </c:pt>
              <c:pt idx="4">
                <c:v>2.3466058039299997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0.1045148880003745</c:v>
              </c:pt>
              <c:pt idx="1">
                <c:v>0.1070393353464678</c:v>
              </c:pt>
              <c:pt idx="2">
                <c:v>0.0832333336026609</c:v>
              </c:pt>
              <c:pt idx="3">
                <c:v>0.0755386217806311</c:v>
              </c:pt>
              <c:pt idx="4">
                <c:v>0.0893871913209126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0.1177772997436496</c:v>
              </c:pt>
              <c:pt idx="1">
                <c:v>0.1975566840907294</c:v>
              </c:pt>
              <c:pt idx="2">
                <c:v>0.2575095333365479</c:v>
              </c:pt>
              <c:pt idx="3">
                <c:v>0.359502938407396</c:v>
              </c:pt>
              <c:pt idx="4">
                <c:v>0.1714428710718376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0.3771976888269119</c:v>
              </c:pt>
              <c:pt idx="1">
                <c:v>0.480297867238432</c:v>
              </c:pt>
              <c:pt idx="2">
                <c:v>0.4848578403750447</c:v>
              </c:pt>
              <c:pt idx="3">
                <c:v>0.4058905902651357</c:v>
              </c:pt>
              <c:pt idx="4">
                <c:v>0.6029542263257991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0.0325228812813508</c:v>
              </c:pt>
              <c:pt idx="1">
                <c:v>0.0202773945001966</c:v>
              </c:pt>
              <c:pt idx="2">
                <c:v>0.0024519624881984</c:v>
              </c:pt>
              <c:pt idx="3">
                <c:v>0.0024795152951638</c:v>
              </c:pt>
              <c:pt idx="4">
                <c:v>0.0415318838746882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0.0816950581398393</c:v>
              </c:pt>
              <c:pt idx="1">
                <c:v>0.062325920193851</c:v>
              </c:pt>
              <c:pt idx="2">
                <c:v>0.0659315683233205</c:v>
              </c:pt>
              <c:pt idx="3">
                <c:v>0.0615165770812817</c:v>
              </c:pt>
              <c:pt idx="4">
                <c:v>0.0331055205165776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0.0559530397332714</c:v>
              </c:pt>
              <c:pt idx="1">
                <c:v>0.0216043180037429</c:v>
              </c:pt>
              <c:pt idx="2">
                <c:v>0.033715602190192</c:v>
              </c:pt>
              <c:pt idx="3">
                <c:v>0.0220491980546935</c:v>
              </c:pt>
              <c:pt idx="4">
                <c:v>0.0194608195570511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0.0213862093078498</c:v>
              </c:pt>
              <c:pt idx="1">
                <c:v>0.0202287559077379</c:v>
              </c:pt>
              <c:pt idx="2">
                <c:v>0.0231085135085195</c:v>
              </c:pt>
              <c:pt idx="3">
                <c:v>0.0129278112850927</c:v>
              </c:pt>
              <c:pt idx="4">
                <c:v>0.0046764732163954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0.2089529349667525</c:v>
              </c:pt>
              <c:pt idx="1">
                <c:v>0.090669724718842</c:v>
              </c:pt>
              <c:pt idx="2">
                <c:v>0.0491916461755159</c:v>
              </c:pt>
              <c:pt idx="3">
                <c:v>0.0600947478306052</c:v>
              </c:pt>
              <c:pt idx="4">
                <c:v>0.0374410141167381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4.272733645318789</c:v>
              </c:pt>
              <c:pt idx="1">
                <c:v>9.46084314594</c:v>
              </c:pt>
              <c:pt idx="2">
                <c:v>8.85980114902</c:v>
              </c:pt>
              <c:pt idx="3">
                <c:v>3.9604598731999996</c:v>
              </c:pt>
              <c:pt idx="4">
                <c:v>5.60231892482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4.81492197807918</c:v>
              </c:pt>
              <c:pt idx="1">
                <c:v>17.46136403561</c:v>
              </c:pt>
              <c:pt idx="2">
                <c:v>27.4106918537</c:v>
              </c:pt>
              <c:pt idx="3">
                <c:v>18.84859596717</c:v>
              </c:pt>
              <c:pt idx="4">
                <c:v>10.74513727233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15.42043709582751</c:v>
              </c:pt>
              <c:pt idx="1">
                <c:v>42.451896497339995</c:v>
              </c:pt>
              <c:pt idx="2">
                <c:v>51.61086148217</c:v>
              </c:pt>
              <c:pt idx="3">
                <c:v>21.28068209032</c:v>
              </c:pt>
              <c:pt idx="4">
                <c:v>37.7899990259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1.3295867388102478</c:v>
              </c:pt>
              <c:pt idx="1">
                <c:v>1.79225</c:v>
              </c:pt>
              <c:pt idx="2">
                <c:v>0.261</c:v>
              </c:pt>
              <c:pt idx="3">
                <c:v>0.13</c:v>
              </c:pt>
              <c:pt idx="4">
                <c:v>2.60300000007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3.339822969232049</c:v>
              </c:pt>
              <c:pt idx="1">
                <c:v>5.5087763108</c:v>
              </c:pt>
              <c:pt idx="2">
                <c:v>7.018108725239999</c:v>
              </c:pt>
              <c:pt idx="3">
                <c:v>3.2252896508299997</c:v>
              </c:pt>
              <c:pt idx="4">
                <c:v>2.07487987222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2.287448611391622</c:v>
              </c:pt>
              <c:pt idx="1">
                <c:v>1.90953225977</c:v>
              </c:pt>
              <c:pt idx="2">
                <c:v>3.5888690035</c:v>
              </c:pt>
              <c:pt idx="3">
                <c:v>1.15603067773</c:v>
              </c:pt>
              <c:pt idx="4">
                <c:v>1.21970179492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0.8743020042766778</c:v>
              </c:pt>
              <c:pt idx="1">
                <c:v>1.7879510000799999</c:v>
              </c:pt>
              <c:pt idx="2">
                <c:v>2.45979375898</c:v>
              </c:pt>
              <c:pt idx="3">
                <c:v>0.6778</c:v>
              </c:pt>
              <c:pt idx="4">
                <c:v>0.29309674031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8.542325907839587</c:v>
              </c:pt>
              <c:pt idx="1">
                <c:v>8.013988884309999</c:v>
              </c:pt>
              <c:pt idx="2">
                <c:v>5.23622188904</c:v>
              </c:pt>
              <c:pt idx="3">
                <c:v>3.15074370915</c:v>
              </c:pt>
              <c:pt idx="4">
                <c:v>2.3466058039299997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0.1045148880003745</c:v>
              </c:pt>
              <c:pt idx="1">
                <c:v>0.1070393353464678</c:v>
              </c:pt>
              <c:pt idx="2">
                <c:v>0.0832333336026609</c:v>
              </c:pt>
              <c:pt idx="3">
                <c:v>0.0755386217806311</c:v>
              </c:pt>
              <c:pt idx="4">
                <c:v>0.0893871913209126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0.1177772997436496</c:v>
              </c:pt>
              <c:pt idx="1">
                <c:v>0.1975566840907294</c:v>
              </c:pt>
              <c:pt idx="2">
                <c:v>0.2575095333365479</c:v>
              </c:pt>
              <c:pt idx="3">
                <c:v>0.359502938407396</c:v>
              </c:pt>
              <c:pt idx="4">
                <c:v>0.1714428710718376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0.3771976888269119</c:v>
              </c:pt>
              <c:pt idx="1">
                <c:v>0.480297867238432</c:v>
              </c:pt>
              <c:pt idx="2">
                <c:v>0.4848578403750447</c:v>
              </c:pt>
              <c:pt idx="3">
                <c:v>0.4058905902651357</c:v>
              </c:pt>
              <c:pt idx="4">
                <c:v>0.6029542263257991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0.0325228812813508</c:v>
              </c:pt>
              <c:pt idx="1">
                <c:v>0.0202773945001966</c:v>
              </c:pt>
              <c:pt idx="2">
                <c:v>0.0024519624881984</c:v>
              </c:pt>
              <c:pt idx="3">
                <c:v>0.0024795152951638</c:v>
              </c:pt>
              <c:pt idx="4">
                <c:v>0.0415318838746882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0.0816950581398393</c:v>
              </c:pt>
              <c:pt idx="1">
                <c:v>0.062325920193851</c:v>
              </c:pt>
              <c:pt idx="2">
                <c:v>0.0659315683233205</c:v>
              </c:pt>
              <c:pt idx="3">
                <c:v>0.0615165770812817</c:v>
              </c:pt>
              <c:pt idx="4">
                <c:v>0.0331055205165776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0.0559530397332714</c:v>
              </c:pt>
              <c:pt idx="1">
                <c:v>0.0216043180037429</c:v>
              </c:pt>
              <c:pt idx="2">
                <c:v>0.033715602190192</c:v>
              </c:pt>
              <c:pt idx="3">
                <c:v>0.0220491980546935</c:v>
              </c:pt>
              <c:pt idx="4">
                <c:v>0.0194608195570511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0.0213862093078498</c:v>
              </c:pt>
              <c:pt idx="1">
                <c:v>0.0202287559077379</c:v>
              </c:pt>
              <c:pt idx="2">
                <c:v>0.0231085135085195</c:v>
              </c:pt>
              <c:pt idx="3">
                <c:v>0.0129278112850927</c:v>
              </c:pt>
              <c:pt idx="4">
                <c:v>0.0046764732163954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0.2089529349667525</c:v>
              </c:pt>
              <c:pt idx="1">
                <c:v>0.090669724718842</c:v>
              </c:pt>
              <c:pt idx="2">
                <c:v>0.0491916461755159</c:v>
              </c:pt>
              <c:pt idx="3">
                <c:v>0.0600947478306052</c:v>
              </c:pt>
              <c:pt idx="4">
                <c:v>0.0374410141167381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66.99363287149001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88.01231288842001</c:v>
              </c:pt>
              <c:pt idx="1">
                <c:v>110.78163928671</c:v>
              </c:pt>
              <c:pt idx="2">
                <c:v>134.72203186548</c:v>
              </c:pt>
              <c:pt idx="3">
                <c:v>142.63089658108998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126.14605664653</c:v>
              </c:pt>
              <c:pt idx="1">
                <c:v>176.82850856551002</c:v>
              </c:pt>
              <c:pt idx="2">
                <c:v>231.72616772613995</c:v>
              </c:pt>
              <c:pt idx="3">
                <c:v>275.29447198864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3.0397972983000003</c:v>
              </c:pt>
              <c:pt idx="1">
                <c:v>3.80886973898</c:v>
              </c:pt>
              <c:pt idx="2">
                <c:v>5.862133668999999</c:v>
              </c:pt>
              <c:pt idx="3">
                <c:v>7.10264044208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54.14687833335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81.84740187933002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86.50477887797999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21.275962572810005</c:v>
              </c:pt>
              <c:pt idx="1">
                <c:v>33.66266718072</c:v>
              </c:pt>
              <c:pt idx="2">
                <c:v>33.97906413177999</c:v>
              </c:pt>
              <c:pt idx="3">
                <c:v>35.19928678253001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0.4925227090800001</c:v>
              </c:pt>
              <c:pt idx="1">
                <c:v>0.22197586637999997</c:v>
              </c:pt>
              <c:pt idx="2">
                <c:v>0.08320776646000001</c:v>
              </c:pt>
              <c:pt idx="3">
                <c:v>1.63869010794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/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0.1363576869727525</c:v>
              </c:pt>
              <c:pt idx="1">
                <c:v>0.1270764465658316</c:v>
              </c:pt>
              <c:pt idx="2">
                <c:v>0.1247213464961755</c:v>
              </c:pt>
              <c:pt idx="3">
                <c:v>0.123004561823407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0.2262666961053475</c:v>
              </c:pt>
              <c:pt idx="1">
                <c:v>0.2101354481297849</c:v>
              </c:pt>
              <c:pt idx="2">
                <c:v>0.1999106975839517</c:v>
              </c:pt>
              <c:pt idx="3">
                <c:v>0.1984814977766555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0.324302935889369</c:v>
              </c:pt>
              <c:pt idx="1">
                <c:v>0.3354160321943587</c:v>
              </c:pt>
              <c:pt idx="2">
                <c:v>0.3438527403212231</c:v>
              </c:pt>
              <c:pt idx="3">
                <c:v>0.3830927270296855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0.0078148712258963</c:v>
              </c:pt>
              <c:pt idx="1">
                <c:v>0.0072248303475371</c:v>
              </c:pt>
              <c:pt idx="2">
                <c:v>0.0086986754495382</c:v>
              </c:pt>
              <c:pt idx="3">
                <c:v>0.0098838522851996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0.1392036507487046</c:v>
              </c:pt>
              <c:pt idx="1">
                <c:v>0.1357000256573569</c:v>
              </c:pt>
              <c:pt idx="2">
                <c:v>0.1375107973513174</c:v>
              </c:pt>
              <c:pt idx="3">
                <c:v>0.1138967454004706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0.1100905889356954</c:v>
              </c:pt>
              <c:pt idx="1">
                <c:v>0.1201733473802729</c:v>
              </c:pt>
              <c:pt idx="2">
                <c:v>0.134761578326829</c:v>
              </c:pt>
              <c:pt idx="3">
                <c:v>0.1203778317889099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0.0546973667640558</c:v>
              </c:pt>
              <c:pt idx="1">
                <c:v>0.0638528162140403</c:v>
              </c:pt>
              <c:pt idx="2">
                <c:v>0.0504206945202293</c:v>
              </c:pt>
              <c:pt idx="3">
                <c:v>0.0489824247672355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0.0012662033581786</c:v>
              </c:pt>
              <c:pt idx="1">
                <c:v>0.0004210535108172</c:v>
              </c:pt>
              <c:pt idx="2">
                <c:v>0.0001234699507355</c:v>
              </c:pt>
              <c:pt idx="3">
                <c:v>0.0022803591284361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/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 w="28575">
              <a:solidFill>
                <a:srgbClr val="104B08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 w="28575">
              <a:solidFill>
                <a:srgbClr val="F078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 w="28575">
              <a:solidFill>
                <a:srgbClr val="4472C4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 w="28575">
              <a:solidFill>
                <a:srgbClr val="7030A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 w="28575">
              <a:solidFill>
                <a:srgbClr val="D7DADF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 w="28575">
              <a:solidFill>
                <a:srgbClr val="EEF0F2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Dez/23</c:v>
          </c:tx>
          <c:spPr>
            <a:ln xmlns:a="http://schemas.openxmlformats.org/drawingml/2006/main"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0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Dez/23</c:v>
          </c:tx>
          <c:spPr>
            <a:ln xmlns:a="http://schemas.openxmlformats.org/drawingml/2006/main"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2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xmlns:a="http://schemas.openxmlformats.org/drawingml/2006/main"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xmlns:a="http://schemas.openxmlformats.org/drawingml/2006/main"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3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xmlns:a="http://schemas.openxmlformats.org/drawingml/2006/main"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xmlns:a="http://schemas.openxmlformats.org/drawingml/2006/main"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7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2024FY</c:v>
          </c:tx>
          <c:spPr>
            <a:ln xmlns:a="http://schemas.openxmlformats.org/drawingml/2006/main"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xmlns:a="http://schemas.openxmlformats.org/drawingml/2006/main"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0.0893902602618587</c:v>
              </c:pt>
              <c:pt idx="2">
                <c:v>0.2183600967923638</c:v>
              </c:pt>
              <c:pt idx="3">
                <c:v>0.6922496429457774</c:v>
              </c:pt>
            </c:numLit>
          </c:val>
        </c:ser>
        <c:ser>
          <c:idx val="1"/>
          <c:order val="1"/>
          <c:tx>
            <c:v>2025FY</c:v>
          </c:tx>
          <c:spPr>
            <a:solidFill xmlns:a="http://schemas.openxmlformats.org/drawingml/2006/main">
              <a:srgbClr val="30353A"/>
            </a:solidFill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0.0049007315742955</c:v>
              </c:pt>
              <c:pt idx="1">
                <c:v>0.0865092588312477</c:v>
              </c:pt>
              <c:pt idx="2">
                <c:v>0.1560715599269108</c:v>
              </c:pt>
              <c:pt idx="3">
                <c:v>0.7525184496675458</c:v>
              </c:pt>
            </c:numLit>
          </c:val>
        </c:ser>
        <c:ser>
          <c:idx val="2"/>
          <c:order val="2"/>
          <c:tx>
            <c:v>2024FY</c:v>
          </c:tx>
          <c:spPr>
            <a:solidFill xmlns:a="http://schemas.openxmlformats.org/drawingml/2006/main">
              <a:srgbClr val="8D939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0.1297392763466582</c:v>
              </c:pt>
              <c:pt idx="2">
                <c:v>0.1435448852101765</c:v>
              </c:pt>
              <c:pt idx="3">
                <c:v>0.7267158384431652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/>
        <c:majorTickMark val="none"/>
        <c:minorTickMark val="none"/>
        <c:spPr>
          <a:ln xmlns:a="http://schemas.openxmlformats.org/drawingml/2006/main" w="571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9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QI Tech</c:v>
          </c:tx>
          <c:spPr>
            <a:ln xmlns:a="http://schemas.openxmlformats.org/drawingml/2006/main"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xmlns:a="http://schemas.openxmlformats.org/drawingml/2006/main"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xmlns:a="http://schemas.openxmlformats.org/drawingml/2006/main"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xmlns:a="http://schemas.openxmlformats.org/drawingml/2006/main"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xmlns:a="http://schemas.openxmlformats.org/drawingml/2006/main"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xmlns:a="http://schemas.openxmlformats.org/drawingml/2006/main"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xmlns:a="http://schemas.openxmlformats.org/drawingml/2006/main"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030A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7"/>
              <c:pt idx="0">
                <c:v>Kanastra / Limine</c:v>
              </c:pt>
              <c:pt idx="1">
                <c:v>Itaú</c:v>
              </c:pt>
              <c:pt idx="2">
                <c:v>Daycoval</c:v>
              </c:pt>
              <c:pt idx="3">
                <c:v>Bradesco</c:v>
              </c:pt>
              <c:pt idx="4">
                <c:v>Oliveira Trust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12.84615693169</c:v>
              </c:pt>
              <c:pt idx="1">
                <c:v>27.05634936661</c:v>
              </c:pt>
              <c:pt idx="2">
                <c:v>49.75417439041</c:v>
              </c:pt>
              <c:pt idx="3">
                <c:v>49.77770817222</c:v>
              </c:pt>
              <c:pt idx="4">
                <c:v>56.87136007691</c:v>
              </c:pt>
              <c:pt idx="5">
                <c:v>107.91817098489999</c:v>
              </c:pt>
              <c:pt idx="6">
                <c:v>116.97439427594999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030A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6EC5E9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7"/>
              <c:pt idx="0">
                <c:v>Kanastra / Limine</c:v>
              </c:pt>
              <c:pt idx="1">
                <c:v>Itaú</c:v>
              </c:pt>
              <c:pt idx="2">
                <c:v>Tercon Investimentos</c:v>
              </c:pt>
              <c:pt idx="3">
                <c:v>Genial</c:v>
              </c:pt>
              <c:pt idx="4">
                <c:v>Oliveira Trust</c:v>
              </c:pt>
              <c:pt idx="5">
                <c:v>Bradesco</c:v>
              </c:pt>
              <c:pt idx="6">
                <c:v>BTG Pactual</c:v>
              </c:pt>
            </c:strLit>
          </c:cat>
          <c:val>
            <c:numLit>
              <c:formatCode>0.0</c:formatCode>
              <c:ptCount val="7"/>
              <c:pt idx="0">
                <c:v>10.61117776359</c:v>
              </c:pt>
              <c:pt idx="1">
                <c:v>20.5830639885</c:v>
              </c:pt>
              <c:pt idx="2">
                <c:v>21.696113631950002</c:v>
              </c:pt>
              <c:pt idx="3">
                <c:v>26.87573463003</c:v>
              </c:pt>
              <c:pt idx="4">
                <c:v>35.02222544035998</c:v>
              </c:pt>
              <c:pt idx="5">
                <c:v>39.85656848075</c:v>
              </c:pt>
              <c:pt idx="6">
                <c:v>78.74983410723001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A7ACB0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030A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7"/>
              <c:pt idx="0">
                <c:v>Kanastra / Limine</c:v>
              </c:pt>
              <c:pt idx="1">
                <c:v>Itaú</c:v>
              </c:pt>
              <c:pt idx="2">
                <c:v>Bradesco</c:v>
              </c:pt>
              <c:pt idx="3">
                <c:v>Daycoval</c:v>
              </c:pt>
              <c:pt idx="4">
                <c:v>Oliveira Trust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19.494658191289997</c:v>
              </c:pt>
              <c:pt idx="1">
                <c:v>20.405586732159996</c:v>
              </c:pt>
              <c:pt idx="2">
                <c:v>48.43408476549</c:v>
              </c:pt>
              <c:pt idx="3">
                <c:v>55.81924378400999</c:v>
              </c:pt>
              <c:pt idx="4">
                <c:v>71.90092760434999</c:v>
              </c:pt>
              <c:pt idx="5">
                <c:v>107.26541902169001</c:v>
              </c:pt>
              <c:pt idx="6">
                <c:v>115.31244022541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8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9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 xmlns:a="http://schemas.openxmlformats.org/drawingml/2006/main"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1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Dez/23</c:v>
          </c:tx>
          <c:spPr>
            <a:ln xmlns:a="http://schemas.openxmlformats.org/drawingml/2006/main"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6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66.99363287149001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88.01231288842001</c:v>
              </c:pt>
              <c:pt idx="1">
                <c:v>110.78163928671</c:v>
              </c:pt>
              <c:pt idx="2">
                <c:v>134.72203186548</c:v>
              </c:pt>
              <c:pt idx="3">
                <c:v>142.63089658108998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126.14605664653</c:v>
              </c:pt>
              <c:pt idx="1">
                <c:v>176.82850856551002</c:v>
              </c:pt>
              <c:pt idx="2">
                <c:v>231.72616772613995</c:v>
              </c:pt>
              <c:pt idx="3">
                <c:v>275.29447198864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3.0397972983000003</c:v>
              </c:pt>
              <c:pt idx="1">
                <c:v>3.80886973898</c:v>
              </c:pt>
              <c:pt idx="2">
                <c:v>5.862133668999999</c:v>
              </c:pt>
              <c:pt idx="3">
                <c:v>7.10264044208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54.14687833335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81.84740187933002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86.50477887797999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21.275962572810005</c:v>
              </c:pt>
              <c:pt idx="1">
                <c:v>33.66266718072</c:v>
              </c:pt>
              <c:pt idx="2">
                <c:v>33.97906413177999</c:v>
              </c:pt>
              <c:pt idx="3">
                <c:v>35.19928678253001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0.4925227090800001</c:v>
              </c:pt>
              <c:pt idx="1">
                <c:v>0.22197586637999997</c:v>
              </c:pt>
              <c:pt idx="2">
                <c:v>0.08320776646000001</c:v>
              </c:pt>
              <c:pt idx="3">
                <c:v>1.63869010794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/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7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0.1363576869727525</c:v>
              </c:pt>
              <c:pt idx="1">
                <c:v>0.1270764465658316</c:v>
              </c:pt>
              <c:pt idx="2">
                <c:v>0.1247213464961755</c:v>
              </c:pt>
              <c:pt idx="3">
                <c:v>0.123004561823407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0.2262666961053475</c:v>
              </c:pt>
              <c:pt idx="1">
                <c:v>0.2101354481297849</c:v>
              </c:pt>
              <c:pt idx="2">
                <c:v>0.1999106975839517</c:v>
              </c:pt>
              <c:pt idx="3">
                <c:v>0.1984814977766555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0.324302935889369</c:v>
              </c:pt>
              <c:pt idx="1">
                <c:v>0.3354160321943587</c:v>
              </c:pt>
              <c:pt idx="2">
                <c:v>0.3438527403212231</c:v>
              </c:pt>
              <c:pt idx="3">
                <c:v>0.3830927270296855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0.0078148712258963</c:v>
              </c:pt>
              <c:pt idx="1">
                <c:v>0.0072248303475371</c:v>
              </c:pt>
              <c:pt idx="2">
                <c:v>0.0086986754495382</c:v>
              </c:pt>
              <c:pt idx="3">
                <c:v>0.0098838522851996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0.1392036507487046</c:v>
              </c:pt>
              <c:pt idx="1">
                <c:v>0.1357000256573569</c:v>
              </c:pt>
              <c:pt idx="2">
                <c:v>0.1375107973513174</c:v>
              </c:pt>
              <c:pt idx="3">
                <c:v>0.1138967454004706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0.1100905889356954</c:v>
              </c:pt>
              <c:pt idx="1">
                <c:v>0.1201733473802729</c:v>
              </c:pt>
              <c:pt idx="2">
                <c:v>0.134761578326829</c:v>
              </c:pt>
              <c:pt idx="3">
                <c:v>0.1203778317889099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0.0546973667640558</c:v>
              </c:pt>
              <c:pt idx="1">
                <c:v>0.0638528162140403</c:v>
              </c:pt>
              <c:pt idx="2">
                <c:v>0.0504206945202293</c:v>
              </c:pt>
              <c:pt idx="3">
                <c:v>0.0489824247672355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0.0012662033581786</c:v>
              </c:pt>
              <c:pt idx="1">
                <c:v>0.0004210535108172</c:v>
              </c:pt>
              <c:pt idx="2">
                <c:v>0.0001234699507355</c:v>
              </c:pt>
              <c:pt idx="3">
                <c:v>0.0022803591284361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/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8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4.272733645318789</c:v>
              </c:pt>
              <c:pt idx="1">
                <c:v>9.46084314594</c:v>
              </c:pt>
              <c:pt idx="2">
                <c:v>8.85980114902</c:v>
              </c:pt>
              <c:pt idx="3">
                <c:v>3.9604598731999996</c:v>
              </c:pt>
              <c:pt idx="4">
                <c:v>5.60231892482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4.81492197807918</c:v>
              </c:pt>
              <c:pt idx="1">
                <c:v>17.46136403561</c:v>
              </c:pt>
              <c:pt idx="2">
                <c:v>27.4106918537</c:v>
              </c:pt>
              <c:pt idx="3">
                <c:v>18.84859596717</c:v>
              </c:pt>
              <c:pt idx="4">
                <c:v>10.74513727233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15.42043709582751</c:v>
              </c:pt>
              <c:pt idx="1">
                <c:v>42.451896497339995</c:v>
              </c:pt>
              <c:pt idx="2">
                <c:v>51.61086148217</c:v>
              </c:pt>
              <c:pt idx="3">
                <c:v>21.28068209032</c:v>
              </c:pt>
              <c:pt idx="4">
                <c:v>37.7899990259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1.3295867388102478</c:v>
              </c:pt>
              <c:pt idx="1">
                <c:v>1.79225</c:v>
              </c:pt>
              <c:pt idx="2">
                <c:v>0.261</c:v>
              </c:pt>
              <c:pt idx="3">
                <c:v>0.13</c:v>
              </c:pt>
              <c:pt idx="4">
                <c:v>2.60300000007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3.339822969232049</c:v>
              </c:pt>
              <c:pt idx="1">
                <c:v>5.5087763108</c:v>
              </c:pt>
              <c:pt idx="2">
                <c:v>7.018108725239999</c:v>
              </c:pt>
              <c:pt idx="3">
                <c:v>3.2252896508299997</c:v>
              </c:pt>
              <c:pt idx="4">
                <c:v>2.07487987222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2.287448611391622</c:v>
              </c:pt>
              <c:pt idx="1">
                <c:v>1.90953225977</c:v>
              </c:pt>
              <c:pt idx="2">
                <c:v>3.5888690035</c:v>
              </c:pt>
              <c:pt idx="3">
                <c:v>1.15603067773</c:v>
              </c:pt>
              <c:pt idx="4">
                <c:v>1.21970179492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0.8743020042766778</c:v>
              </c:pt>
              <c:pt idx="1">
                <c:v>1.7879510000799999</c:v>
              </c:pt>
              <c:pt idx="2">
                <c:v>2.45979375898</c:v>
              </c:pt>
              <c:pt idx="3">
                <c:v>0.6778</c:v>
              </c:pt>
              <c:pt idx="4">
                <c:v>0.29309674031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8.542325907839587</c:v>
              </c:pt>
              <c:pt idx="1">
                <c:v>8.013988884309999</c:v>
              </c:pt>
              <c:pt idx="2">
                <c:v>5.23622188904</c:v>
              </c:pt>
              <c:pt idx="3">
                <c:v>3.15074370915</c:v>
              </c:pt>
              <c:pt idx="4">
                <c:v>2.3466058039299997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9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  <a:ln xmlns:a="http://schemas.openxmlformats.org/drawingml/2006/main">
              <a:solidFill>
                <a:srgbClr val="73787D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0.1045148880003745</c:v>
              </c:pt>
              <c:pt idx="1">
                <c:v>0.1070393353464678</c:v>
              </c:pt>
              <c:pt idx="2">
                <c:v>0.0832333336026609</c:v>
              </c:pt>
              <c:pt idx="3">
                <c:v>0.0755386217806311</c:v>
              </c:pt>
              <c:pt idx="4">
                <c:v>0.0893871913209126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104B08"/>
            </a:solidFill>
            <a:ln xmlns:a="http://schemas.openxmlformats.org/drawingml/2006/main">
              <a:solidFill>
                <a:srgbClr val="104B08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0.1177772997436496</c:v>
              </c:pt>
              <c:pt idx="1">
                <c:v>0.1975566840907294</c:v>
              </c:pt>
              <c:pt idx="2">
                <c:v>0.2575095333365479</c:v>
              </c:pt>
              <c:pt idx="3">
                <c:v>0.359502938407396</c:v>
              </c:pt>
              <c:pt idx="4">
                <c:v>0.1714428710718376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F07800"/>
            </a:solidFill>
            <a:ln xmlns:a="http://schemas.openxmlformats.org/drawingml/2006/main">
              <a:solidFill>
                <a:srgbClr val="F0780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0.3771976888269119</c:v>
              </c:pt>
              <c:pt idx="1">
                <c:v>0.480297867238432</c:v>
              </c:pt>
              <c:pt idx="2">
                <c:v>0.4848578403750447</c:v>
              </c:pt>
              <c:pt idx="3">
                <c:v>0.4058905902651357</c:v>
              </c:pt>
              <c:pt idx="4">
                <c:v>0.6029542263257991</c:v>
              </c:pt>
            </c:numLit>
          </c:val>
        </c:ser>
        <c:ser>
          <c:idx val="3"/>
          <c:order val="3"/>
          <c:tx>
            <c:v>Multicarteira Pulverizado PF/PJ</c:v>
          </c:tx>
          <c:spPr>
            <a:solidFill xmlns:a="http://schemas.openxmlformats.org/drawingml/2006/main">
              <a:srgbClr val="4472C4"/>
            </a:solidFill>
            <a:ln xmlns:a="http://schemas.openxmlformats.org/drawingml/2006/main">
              <a:solidFill>
                <a:srgbClr val="4472C4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0.0325228812813508</c:v>
              </c:pt>
              <c:pt idx="1">
                <c:v>0.0202773945001966</c:v>
              </c:pt>
              <c:pt idx="2">
                <c:v>0.0024519624881984</c:v>
              </c:pt>
              <c:pt idx="3">
                <c:v>0.0024795152951638</c:v>
              </c:pt>
              <c:pt idx="4">
                <c:v>0.0415318838746882</c:v>
              </c:pt>
            </c:numLit>
          </c:val>
        </c:ser>
        <c:ser>
          <c:idx val="4"/>
          <c:order val="4"/>
          <c:tx>
            <c:v>Precatórios / ações</c:v>
          </c:tx>
          <c:spPr>
            <a:solidFill xmlns:a="http://schemas.openxmlformats.org/drawingml/2006/main">
              <a:srgbClr val="151515"/>
            </a:solidFill>
            <a:ln xmlns:a="http://schemas.openxmlformats.org/drawingml/2006/main">
              <a:solidFill>
                <a:srgbClr val="151515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0.0816950581398393</c:v>
              </c:pt>
              <c:pt idx="1">
                <c:v>0.062325920193851</c:v>
              </c:pt>
              <c:pt idx="2">
                <c:v>0.0659315683233205</c:v>
              </c:pt>
              <c:pt idx="3">
                <c:v>0.0615165770812817</c:v>
              </c:pt>
              <c:pt idx="4">
                <c:v>0.0331055205165776</c:v>
              </c:pt>
            </c:numLit>
          </c:val>
        </c:ser>
        <c:ser>
          <c:idx val="5"/>
          <c:order val="5"/>
          <c:tx>
            <c:v>Multicedente / multisacado</c:v>
          </c:tx>
          <c:spPr>
            <a:solidFill xmlns:a="http://schemas.openxmlformats.org/drawingml/2006/main">
              <a:srgbClr val="7030A0"/>
            </a:solidFill>
            <a:ln xmlns:a="http://schemas.openxmlformats.org/drawingml/2006/main">
              <a:solidFill>
                <a:srgbClr val="7030A0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0.0559530397332714</c:v>
              </c:pt>
              <c:pt idx="1">
                <c:v>0.0216043180037429</c:v>
              </c:pt>
              <c:pt idx="2">
                <c:v>0.033715602190192</c:v>
              </c:pt>
              <c:pt idx="3">
                <c:v>0.0220491980546935</c:v>
              </c:pt>
              <c:pt idx="4">
                <c:v>0.0194608195570511</c:v>
              </c:pt>
            </c:numLit>
          </c:val>
        </c:ser>
        <c:ser>
          <c:idx val="6"/>
          <c:order val="6"/>
          <c:tx>
            <c:v>Recuperação / NP</c:v>
          </c:tx>
          <c:spPr>
            <a:solidFill xmlns:a="http://schemas.openxmlformats.org/drawingml/2006/main">
              <a:srgbClr val="D7DADF"/>
            </a:solidFill>
            <a:ln xmlns:a="http://schemas.openxmlformats.org/drawingml/2006/main">
              <a:solidFill>
                <a:srgbClr val="D7DADF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0.0213862093078498</c:v>
              </c:pt>
              <c:pt idx="1">
                <c:v>0.0202287559077379</c:v>
              </c:pt>
              <c:pt idx="2">
                <c:v>0.0231085135085195</c:v>
              </c:pt>
              <c:pt idx="3">
                <c:v>0.0129278112850927</c:v>
              </c:pt>
              <c:pt idx="4">
                <c:v>0.0046764732163954</c:v>
              </c:pt>
            </c:numLit>
          </c:val>
        </c:ser>
        <c:ser>
          <c:idx val="7"/>
          <c:order val="7"/>
          <c:tx>
            <c:v>N/D</c:v>
          </c:tx>
          <c:spPr>
            <a:solidFill xmlns:a="http://schemas.openxmlformats.org/drawingml/2006/main">
              <a:srgbClr val="EEF0F2"/>
            </a:solidFill>
            <a:ln xmlns:a="http://schemas.openxmlformats.org/drawingml/2006/main">
              <a:solidFill>
                <a:srgbClr val="EEF0F2"/>
              </a:solidFill>
            </a:ln>
          </c:spPr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0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0.2089529349667525</c:v>
              </c:pt>
              <c:pt idx="1">
                <c:v>0.090669724718842</c:v>
              </c:pt>
              <c:pt idx="2">
                <c:v>0.0491916461755159</c:v>
              </c:pt>
              <c:pt idx="3">
                <c:v>0.0600947478306052</c:v>
              </c:pt>
              <c:pt idx="4">
                <c:v>0.0374410141167381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0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R$ bi</c:v>
          </c:tx>
          <c:spPr>
            <a:solidFill xmlns:a="http://schemas.openxmlformats.org/drawingml/2006/main">
              <a:srgbClr val="73787D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4472C4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F078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030A0"/>
              </a:solidFill>
            </c:spPr>
          </c:dPt>
          <c:cat>
            <c:strLit>
              <c:ptCount val="4"/>
              <c:pt idx="0">
                <c:v>PF/PJ*</c:v>
              </c:pt>
              <c:pt idx="1">
                <c:v>Financeiro</c:v>
              </c:pt>
              <c:pt idx="2">
                <c:v>Fomento</c:v>
              </c:pt>
              <c:pt idx="3">
                <c:v>Multicedente</c:v>
              </c:pt>
            </c:strLit>
          </c:cat>
          <c:val>
            <c:numLit>
              <c:formatCode>0.0</c:formatCode>
              <c:ptCount val="4"/>
              <c:pt idx="0">
                <c:v>7.10264044208</c:v>
              </c:pt>
              <c:pt idx="1">
                <c:v>275.29447198864</c:v>
              </c:pt>
              <c:pt idx="2">
                <c:v>88.39237477025999</c:v>
              </c:pt>
              <c:pt idx="3">
                <c:v>86.50477887797999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% do PL ex-FIC</c:v>
          </c:tx>
          <c:spPr>
            <a:solidFill xmlns:a="http://schemas.openxmlformats.org/drawingml/2006/main">
              <a:srgbClr val="73787D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4472C4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F078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030A0"/>
              </a:solidFill>
            </c:spPr>
          </c:dPt>
          <c:cat>
            <c:strLit>
              <c:ptCount val="4"/>
              <c:pt idx="0">
                <c:v>PF/PJ*</c:v>
              </c:pt>
              <c:pt idx="1">
                <c:v>Financeiro</c:v>
              </c:pt>
              <c:pt idx="2">
                <c:v>Fomento</c:v>
              </c:pt>
              <c:pt idx="3">
                <c:v>Multicedente</c:v>
              </c:pt>
            </c:strLit>
          </c:cat>
          <c:val>
            <c:numLit>
              <c:formatCode>0.0%</c:formatCode>
              <c:ptCount val="4"/>
              <c:pt idx="0">
                <c:v>0.0098838522851996</c:v>
              </c:pt>
              <c:pt idx="1">
                <c:v>0.3830927270296855</c:v>
              </c:pt>
              <c:pt idx="2">
                <c:v>0.123004561823407</c:v>
              </c:pt>
              <c:pt idx="3">
                <c:v>0.1203778317889099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73787D"/>
                </a:solidFill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0.12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302FE5-BB8B-4D5D-892F-65A031347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12790C-C098-4727-9C02-FCDA1BFE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AEB158-419A-4B36-9160-03D323DC2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3C0E87-0F22-464A-BDEA-3ED8214D0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248A6F-5686-45C6-BC03-D9D00566B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616B95-20DB-4CC0-A566-F98793F9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p:txBody>
      </p:sp>
    </p:spTree>
    <p:extLst>
      <p:ext uri="{BB962C8B-B14F-4D97-AF65-F5344CB8AC3E}">
        <p14:creationId xmlns:p14="http://schemas.microsoft.com/office/powerpoint/2010/main" val="17228041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172240-DDA3-43B8-86C3-203D56637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D1A5B0-4069-4381-83B3-4F940332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17E9E1-461D-4D83-8A71-73D2E7F92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2AB0C4-FF53-4460-ABC6-D815623E0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E7D035-41D2-4992-AB34-5CD0CA24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521330-2A42-4D96-B622-0ED7F349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93E509-16FB-45E2-A9E9-10C83FE63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66825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3112D2-6AD3-437A-B403-C882A097C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33525"/>
            <a:ext cx="5191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23875" y="1571625"/>
          <a:ext xmlns:a="http://schemas.openxmlformats.org/drawingml/2006/main" cx="5286375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e05ffa2f28a496a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4F3100-2EFD-420E-B36B-09187F53E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639267-1A74-4763-8B9B-D97F94152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266825"/>
            <a:ext cx="5476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C28C16-7BA3-4D10-9FAD-B90796D4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533525"/>
            <a:ext cx="5476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048375" y="1571625"/>
          <a:ext xmlns:a="http://schemas.openxmlformats.org/drawingml/2006/main" cx="557212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af7579e718346c5"/>
          </a:graphicData>
        </a:graphic>
      </p:graphicFrame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6096000" y="4914900"/>
          <a:ext xmlns:a="http://schemas.openxmlformats.org/drawingml/2006/main" cx="5524500" cy="19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4a1ce7b0ab34796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CE4A6C-9654-431C-B83D-E24ED324E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53025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62B59D-26C9-41FC-BCEF-8EA9B678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435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95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895FC7-3EC2-4156-B7C6-AF203C2F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327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p:txBody>
      </p:sp>
    </p:spTree>
    <p:extLst>
      <p:ext uri="{BB962C8B-B14F-4D97-AF65-F5344CB8AC3E}">
        <p14:creationId xmlns:p14="http://schemas.microsoft.com/office/powerpoint/2010/main" val="19666890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D333F4-9B51-45DC-9DC6-48D9DC07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991225-85F8-47A5-938A-0D0B9CF38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5EC2D7-5E89-40EE-A050-038876EC2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130B36-6420-46E1-81FD-DFFD69B9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50EF51-102E-4583-8552-8BF70FB9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A2E035-85F4-43DC-825F-F3327937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2F3CAA-F66B-46E7-88FB-9DD529153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8E44D7-EE2C-4575-B870-6298EAC2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571500" y="15240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2dfb42261474e69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496229-2245-4594-81AB-D72E8F547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25730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1CA7DE-7E05-45BF-99A8-5E931C92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52400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81750" y="15240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25552a2697f410f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31C354-78A6-4228-9C24-CFA9DDE3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48125"/>
            <a:ext cx="647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669D05-BC7F-4AE0-9E64-949DE8A3A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276725"/>
            <a:ext cx="647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34" name=""/>
          <p:cNvGraphicFramePr/>
          <p:nvPr/>
        </p:nvGraphicFramePr>
        <p:xfrm>
          <a:off xmlns:a="http://schemas.openxmlformats.org/drawingml/2006/main" x="2857500" y="4286250"/>
          <a:ext xmlns:a="http://schemas.openxmlformats.org/drawingml/2006/main" cx="6477000" cy="174307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06931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61E9AB-3AAB-4D60-A962-0359578B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1D8600-051A-44EB-A9B1-A9516BD2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Abertura PF/PJ e cenário sem TAPSO/Petrobras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2B04F4-6FA2-421A-9C8A-6868027C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063DC9-A567-4D7D-8C16-93DFA0A16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EFA90E-CFF1-47F3-BE28-1F26255E5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PF/PJ: 24 CNPJs; PL dos fundos, Top1 mensal &lt;=1%; Sólido e BizCapital em Financeiro. Emissões por CNPJ; FIC fora; 2023 escalado ANBIMA.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8893FC-6A38-45B2-9CDC-85DDAE614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D9A593-2060-4D9A-9ED7-7335A4F8B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176576-5E4C-4742-80B6-5AF9ED4B7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8590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46" name="Chart"/>
          <p:cNvGraphicFramePr/>
          <p:nvPr/>
        </p:nvGraphicFramePr>
        <p:xfrm>
          <a:off xmlns:a="http://schemas.openxmlformats.org/drawingml/2006/main" x="571500" y="1495425"/>
          <a:ext xmlns:a="http://schemas.openxmlformats.org/drawingml/2006/main" cx="5238750" cy="1952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691e646a98d4f1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A45B6F-20C4-49D6-9BC3-5A08A9664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2573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39082C-861F-45DD-83A8-65F6FBDBF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8590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49" name="Chart"/>
          <p:cNvGraphicFramePr/>
          <p:nvPr/>
        </p:nvGraphicFramePr>
        <p:xfrm>
          <a:off xmlns:a="http://schemas.openxmlformats.org/drawingml/2006/main" x="6381750" y="1495425"/>
          <a:ext xmlns:a="http://schemas.openxmlformats.org/drawingml/2006/main" cx="5238750" cy="1952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74d590667054410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A61F68-14C2-42D0-B53D-006B46FD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9FBE62-BD10-4639-B789-B1FD47680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0D87BE-32AB-4612-B3E5-E0C2CC500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3B0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3A7B0F-BD5F-4803-96B6-EB1A70277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40C4AB-E80B-419B-ABEB-BBD76BA6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9078F1-5E06-47BD-AE40-CC0BC454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EAED78-5235-4223-A570-3669391C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721392-2C47-427A-9F53-8C9A24954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BE602E-0B58-437A-A3DA-BE9D600F5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4331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30A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5063EB-9E03-4318-9F56-22CEBDC1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997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BD86D3-B894-4005-BAD6-19F0FBEB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64331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9E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D7763B-CD4E-488C-8F18-459E63FA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0997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56C7A7-6C8D-494B-BE67-899C8D22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331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472C4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8378BB-CD34-4835-9D88-6C8E74D1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0997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PF/PJ*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635A71-6306-4A65-A146-C1F77DC65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E147FD-66EE-4C7C-BEB8-AFC7FC59E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576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66" name="Chart"/>
          <p:cNvGraphicFramePr/>
          <p:nvPr/>
        </p:nvGraphicFramePr>
        <p:xfrm>
          <a:off xmlns:a="http://schemas.openxmlformats.org/drawingml/2006/main" x="571500" y="4067175"/>
          <a:ext xmlns:a="http://schemas.openxmlformats.org/drawingml/2006/main" cx="52387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67e8afa3d5a4ae2"/>
          </a:graphicData>
        </a:graphic>
      </p:graphicFrame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AE2C19-A79F-4F3D-9BCA-DB4B4969C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2905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D0FD437-ED88-4E7C-A48E-39E4EEB9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576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69" name="Chart"/>
          <p:cNvGraphicFramePr/>
          <p:nvPr/>
        </p:nvGraphicFramePr>
        <p:xfrm>
          <a:off xmlns:a="http://schemas.openxmlformats.org/drawingml/2006/main" x="6381750" y="4067175"/>
          <a:ext xmlns:a="http://schemas.openxmlformats.org/drawingml/2006/main" cx="52387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ce66e6daa9c4b4b"/>
          </a:graphicData>
        </a:graphic>
      </p:graphicFrame>
    </p:spTree>
    <p:extLst>
      <p:ext uri="{BB962C8B-B14F-4D97-AF65-F5344CB8AC3E}">
        <p14:creationId xmlns:p14="http://schemas.microsoft.com/office/powerpoint/2010/main" val="9489900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62EA3B-7A86-4D48-9D99-62CAE42E6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15D2C7-503D-4633-9F20-41677F31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é 60,3% e PF/PJ 4,2% no 1S26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077521-05DA-4BA6-B486-2F4212258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72B750-955B-4530-A00A-1761BB8DB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ABD34E-5762-4587-B040-5439D1D2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ANBIMA. Setores ex-FIC; 1S26 totaliza R$ 62,7 bi e reconcilia com R$ 65,5 bi incluindo R$ 2,8 bi de FIC-FIDC.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9277E6-7D2A-41A0-8983-DA52E6F7D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0EF326-DDA2-4670-B7B9-772767F81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C33C13-4A5F-401B-9D4B-722C83E21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562100"/>
          <a:ext xmlns:a="http://schemas.openxmlformats.org/drawingml/2006/main" cx="5238750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41cc6b3343d416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402148-8AD4-4902-BF93-C1C58AB98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25730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C6F6A0-8024-4B30-8581-10D1F28AC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52400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381750" y="1562100"/>
          <a:ext xmlns:a="http://schemas.openxmlformats.org/drawingml/2006/main" cx="5238750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6bcd30ed9a14539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1074BF-B3CA-44B7-A102-58AD84039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6235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analítica · taxonomia congelada em jun/26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A09905-DBC4-4464-8132-317C0AC9A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719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36" name=""/>
          <p:cNvGraphicFramePr/>
          <p:nvPr/>
        </p:nvGraphicFramePr>
        <p:xfrm>
          <a:off xmlns:a="http://schemas.openxmlformats.org/drawingml/2006/main" x="571500" y="3810000"/>
          <a:ext xmlns:a="http://schemas.openxmlformats.org/drawingml/2006/main" cx="11049000" cy="20383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180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40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78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40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78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27,4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-43,0%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40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78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40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78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Pulv.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1.902,3%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40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78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Precatórios/ações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-35,7%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40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78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Multicedente/multissacado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40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78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Recuperação/NP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-56,8%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40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78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-25,5%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450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ex-FIC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88,4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106,4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850" b="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487728-7880-4166-B27D-0F3C5D567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6AD8A5-395E-4CA7-A78D-7D531609E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62650"/>
            <a:ext cx="1078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* Match por CNPJ do fundo e depois da classe; FIC fora; emissor não localizado=N/D; 2023 escalado ao total ANBIMA.</a:t>
            </a:r>
          </a:p>
        </p:txBody>
      </p:sp>
    </p:spTree>
    <p:extLst>
      <p:ext uri="{BB962C8B-B14F-4D97-AF65-F5344CB8AC3E}">
        <p14:creationId xmlns:p14="http://schemas.microsoft.com/office/powerpoint/2010/main" val="17936461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11A4CD-7953-411E-B38F-87B6D9A39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Taxonomia por CNPJ | Critérios aplicados ao saldo e às emissões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FC7551-676A-4BA6-8A9B-3268939ED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 · cenário sem TAPSO/Petrobras · série retroaplicada com taxonomia congelada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D90392-E887-49D6-B78B-F97196AF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CCD366-A081-4A0C-8744-0702D6D04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F981E7-20BC-46C8-B106-B1CFB5A15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regulamentos integrais e ledgers aprovados. Regras e prompt de atualização no pacote da revisão.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9DF20B-3693-43CD-B2B3-20EF7E66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BB0A5D-F366-41BD-BB8F-840DC880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D02A2D-8B60-4B2E-8BB7-73B32FCE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99f10e434644dc9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6E966C-90A1-4B2C-ADD9-72D8F25F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561D7D-92AA-48F1-9537-12314A2F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d3c074aa1024926"/>
          </a:graphicData>
        </a:graphic>
      </p:graphicFrame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857250" y="5219700"/>
          <a:ext xmlns:a="http://schemas.openxmlformats.org/drawingml/2006/main" cx="10477500" cy="42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61728c080324dfc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D7B953-1C3C-4356-B72E-FF3B861BE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769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Oito blocos fecham R$ 718,6 bi; PF/PJ soma R$ 7,1 bi (1,0%).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D71E68-8363-4785-A8E5-59F94F827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40000"/>
            <a:ext cx="10858500" cy="6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PF/PJ: crédito direto confirmado em regulamento + Top1 &lt;=1%; 24 CNPJs; Sólido/BizCapital em Financeiro; PL dos fundos, exposição e devedores N/D.
* Precatórios: Outros/Poder Público. Multicedente: Outros/Multicarteira Outros ou Multicedente/Multissacado. Recuperação: Outros/Recuperação.
* Emissões: mesmas listas de CNPJ; fundo &gt; classe &gt; N/D; FIC fora; 2023 escalado ANBIMA.</a:t>
            </a:r>
          </a:p>
        </p:txBody>
      </p:sp>
    </p:spTree>
    <p:extLst>
      <p:ext uri="{BB962C8B-B14F-4D97-AF65-F5344CB8AC3E}">
        <p14:creationId xmlns:p14="http://schemas.microsoft.com/office/powerpoint/2010/main" val="15215106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56E8CA-222B-4C07-8E62-CA4D2C11E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571A19-44B7-44D9-9F3E-C196A3D41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53BC9C-D776-4083-B4D1-636D1705A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C0A059-C011-450E-9894-0321DA93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7CE9BD-71CD-47F4-B5EE-B644671B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EE8B31-3EF3-41FB-9508-CE860D5F4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B2445A-E133-43C4-8C5B-66DCAD47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B4500F-E15E-4BDE-9287-43CBEDCA0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d821142499f4e09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2EBB07-1CC9-42C3-BEFB-8936A759D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CDD542-AD8C-44A3-AF88-83BD4918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d408ff538344a17"/>
          </a:graphicData>
        </a:graphic>
      </p:graphicFrame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8858250" y="1200150"/>
          <a:ext xmlns:a="http://schemas.openxmlformats.org/drawingml/2006/main" cx="2762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85ddb18ac37480c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4E422E-7847-4281-A82A-FEDB4EC7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4 pendentes. Em jun/26, 31 dos 33 CNPJs selecionados têm reporte ativo; 2 não reportam.</a:t>
            </a:r>
          </a:p>
        </p:txBody>
      </p:sp>
    </p:spTree>
    <p:extLst>
      <p:ext uri="{BB962C8B-B14F-4D97-AF65-F5344CB8AC3E}">
        <p14:creationId xmlns:p14="http://schemas.microsoft.com/office/powerpoint/2010/main" val="10531814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795EF6-D473-44ED-94A4-896601C1D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774BE7-F485-4249-8758-28770AA6D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125623-58E4-4871-8F61-05040DB27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21E649-B5A0-4D1E-BC74-BD7B85F3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B011A0-E01D-45D5-B48D-0C18EE067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37CFAC-6B55-4D53-A3EC-69FFEF0FE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642261-83C7-45A1-98BD-8A3C31B57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778257-C720-41D8-9903-F1F725A0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13702f4d45d402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D565DE-D1C1-45B9-B3C6-226DF1E5E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3C89CD-333E-4080-A9F0-3CC27C59C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bd5831a2070486a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0CAF52-8F93-45E7-A3EE-B5C386D1A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FC1019-2EAF-495D-980E-F799FFA6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148ffcdd727412d"/>
          </a:graphicData>
        </a:graphic>
      </p:graphicFrame>
    </p:spTree>
    <p:extLst>
      <p:ext uri="{BB962C8B-B14F-4D97-AF65-F5344CB8AC3E}">
        <p14:creationId xmlns:p14="http://schemas.microsoft.com/office/powerpoint/2010/main" val="102485931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89462D-05C6-4D0F-B0A7-8AC5BC19E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B19639-5693-42A1-B4CD-2B8A23A09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FA571B-EF63-498C-A251-EB28479F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C4C89F-87A5-4C85-8859-8B16A12B6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B5CCC4-E6D9-44E1-B07F-8F03D44C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7E10B0-39F6-4078-BD30-B798F535E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5429250" cy="4429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"/>
          <p:cNvGraphicFramePr/>
          <p:nvPr/>
        </p:nvGraphicFramePr>
        <p:xfrm>
          <a:off xmlns:a="http://schemas.openxmlformats.org/drawingml/2006/main" x="6191250" y="1428750"/>
          <a:ext xmlns:a="http://schemas.openxmlformats.org/drawingml/2006/main" cx="5429250" cy="4429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416090-9BBA-4212-B618-D2367369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p:txBody>
      </p:sp>
    </p:spTree>
    <p:extLst>
      <p:ext uri="{BB962C8B-B14F-4D97-AF65-F5344CB8AC3E}">
        <p14:creationId xmlns:p14="http://schemas.microsoft.com/office/powerpoint/2010/main" val="43402910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A35FAA-362A-461F-8585-1210FF955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7DE7B6-FB49-487A-9474-203FDCC0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1BBE51-6548-420D-A831-4D294861F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F31DD6-A17D-4371-9B08-5DC66916E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864D60-1450-4DD1-BDBE-34814CA1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D11032-EA65-4209-ABFF-03DB5053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F9A098-F884-4909-808C-37D6EBDB2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6F7C26-2D36-4851-AE82-2BC89680A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ea364adfe864a4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614F27-CAA5-4607-A4B8-FE6AF40D3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D6B698-F59E-4393-97C1-A0E23412B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515533d8e9d4462"/>
          </a:graphicData>
        </a:graphic>
      </p:graphicFrame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7715250" y="4000500"/>
          <a:ext xmlns:a="http://schemas.openxmlformats.org/drawingml/2006/main" cx="3905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7dc568d9a494a4b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B1CD74-6825-4FF9-86A2-549A05F06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19575"/>
            <a:ext cx="523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p:txBody>
      </p:sp>
      <p:graphicFrame>
        <p:nvGraphicFramePr>
          <p:cNvPr id="36" name=""/>
          <p:cNvGraphicFramePr/>
          <p:nvPr/>
        </p:nvGraphicFramePr>
        <p:xfrm>
          <a:off xmlns:a="http://schemas.openxmlformats.org/drawingml/2006/main" x="571500" y="4286250"/>
          <a:ext xmlns:a="http://schemas.openxmlformats.org/drawingml/2006/main" cx="11049000" cy="1619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D46C5D-6397-4C8F-917D-44F26EC46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p:txBody>
      </p:sp>
    </p:spTree>
    <p:extLst>
      <p:ext uri="{BB962C8B-B14F-4D97-AF65-F5344CB8AC3E}">
        <p14:creationId xmlns:p14="http://schemas.microsoft.com/office/powerpoint/2010/main" val="47067683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8BE547-F3FB-4A79-9A34-1A32A091E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9C4CA5-4093-4467-8A0D-4ECA844BB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4E41C5-C5B7-45CF-A3DD-D6818604A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2EFF3C-8BA5-40DE-A806-0513558D1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77721B-5685-41C6-A9F7-9187B7F8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939987-5A15-4746-BB44-EDC5BAE8D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42526D-C5D0-4B03-A5B7-3BC5DFF1E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2BFB3F-05D3-4499-BD2D-B64055800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2ad26ecb4b64f3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8C3579-3850-476A-831A-1FCA6252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D28D7F-3FE2-4B90-82F1-AE7BF1060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428625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8c19d9edeb94dbe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894E98-AEF3-47EA-A93B-C82286AB8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2AAD74-8CFD-4B5A-AB93-FCDB7AB59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47825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45" name="Chart"/>
          <p:cNvGraphicFramePr/>
          <p:nvPr/>
        </p:nvGraphicFramePr>
        <p:xfrm>
          <a:off xmlns:a="http://schemas.openxmlformats.org/drawingml/2006/main" x="8001000" y="1743075"/>
          <a:ext xmlns:a="http://schemas.openxmlformats.org/drawingml/2006/main" cx="361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2d28b7169314cbc"/>
          </a:graphicData>
        </a:graphic>
      </p:graphicFrame>
      <p:graphicFrame>
        <p:nvGraphicFramePr>
          <p:cNvPr id="46" name="Chart"/>
          <p:cNvGraphicFramePr/>
          <p:nvPr/>
        </p:nvGraphicFramePr>
        <p:xfrm>
          <a:off xmlns:a="http://schemas.openxmlformats.org/drawingml/2006/main" x="4048125" y="5486400"/>
          <a:ext xmlns:a="http://schemas.openxmlformats.org/drawingml/2006/main" cx="40957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df9462ed0234c8f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88C66E-6370-4215-9422-8F86090F9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05475"/>
            <a:ext cx="11049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9CD474-B742-4279-B8D5-B8838D092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D411DC-7CDB-4F2A-89B9-5AF0CB4F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2D7DDB-6A1A-4C2B-92A8-4A8BC4FAD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DB5519-165C-4273-B077-2BEB25F1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9406DC-2702-4F74-931D-A6A16320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D74F10-1703-4344-B0AC-AB3CBCC0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505F39-69A8-4A8D-95E3-F5252BB2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A521DA-FAEE-44A7-B3CB-A2A03DD7F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p:txBody>
      </p:sp>
    </p:spTree>
    <p:extLst>
      <p:ext uri="{BB962C8B-B14F-4D97-AF65-F5344CB8AC3E}">
        <p14:creationId xmlns:p14="http://schemas.microsoft.com/office/powerpoint/2010/main" val="62279625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38B117-7528-475C-8C71-F3AF669E0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1A382E-2DA6-4BCE-8E3B-64AB4ECBD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205BFB-8325-4292-8F7C-5A38489CB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8A93A-1F5B-4070-8BFC-5294ED709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92CD9D-3182-4A2A-829D-F59E0AFAD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3C2152-D20C-4E70-AF38-5E331CE88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E941CE-69A3-464B-8F29-CD3CA5068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7632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69,2% do volume em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888F6D-6786-4D0D-B764-CAC0835AA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7240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445BD0-6A88-49C1-9C4B-B96AD12D2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657350"/>
            <a:ext cx="1022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D2DB65-9391-4903-87AA-0EA51F0D6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8625" y="17240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E75B57-19C8-48A3-A636-F3AF24DAB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2450" y="1657350"/>
            <a:ext cx="1022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450C15-4820-4166-AAEC-51C9F3806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375" y="17240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9A0A6A-694E-4356-AA55-2611906CE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7200" y="1657350"/>
            <a:ext cx="1022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8071EB-3B97-4DEB-9C22-B15B1A1F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participação no volume · % do total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072942-A70E-4DC9-BFFE-01001E6AB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952625"/>
          <a:ext xmlns:a="http://schemas.openxmlformats.org/drawingml/2006/main" cx="1104900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ba5a9fa91514c8c"/>
          </a:graphicData>
        </a:graphic>
      </p:graphicFrame>
    </p:spTree>
    <p:extLst>
      <p:ext uri="{BB962C8B-B14F-4D97-AF65-F5344CB8AC3E}">
        <p14:creationId xmlns:p14="http://schemas.microsoft.com/office/powerpoint/2010/main" val="130962404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859F74-56C2-4EBB-9D31-DEAE228A6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3758C7-FD55-4290-82DF-79FB541A6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97C029-09F3-4B8D-AE14-5DC608272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66861B-7071-4ACC-8212-992251197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F73FDF-14CC-429C-B097-4E99B160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63798E-FCBA-4D65-A423-F219066DB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37C9BC-D51D-4333-9C86-25C3D7429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E43037-64C9-4B75-9552-71665F4B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7053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>
                        <a:buNone/>
                      </a:pPr>
                      <a:r>
                        <a:rPr sz="12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DC363B-0BE4-4944-B48F-AA884BF59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72200"/>
            <a:ext cx="1104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p:txBody>
      </p:sp>
    </p:spTree>
    <p:extLst>
      <p:ext uri="{BB962C8B-B14F-4D97-AF65-F5344CB8AC3E}">
        <p14:creationId xmlns:p14="http://schemas.microsoft.com/office/powerpoint/2010/main" val="102387370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4B9CB6-55D0-48CF-A17C-EC2047E35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E700E8-3361-4C05-83A6-B1B5DE4B9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229A0D-3665-4FC9-8953-1054EB201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8D1981-E498-40F0-974F-1BA6B8204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5E3422-EF1E-419B-9ACB-AAE055142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5628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E17C69-4A95-4CC0-939D-F0F5D03C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A6C11C-061B-456F-9184-B87A8E99E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8A103D-819A-4639-B660-05260459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53F50D-C0D5-4F96-B35A-951BF037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50A1CE-9B45-407B-949C-8F90AF3C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5D0E1A-0273-407A-94C5-41D6D1B81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87FA37-04BE-4D20-B2F0-B37AAFE9F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48CC92-A3D6-42AF-BA7C-76B0E0E13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A8DDD7-E86F-4D26-BEAC-7B9CBB302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767C29-07D1-4997-BE7F-B6A65D834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EBA557-363E-4A68-9726-320677A8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BB7DE0-0F3D-463D-A958-F2C70D7B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A2318A-AB8C-4D91-BB92-9EEC3D0F2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284B1D-F449-41DE-819A-B4FDB4645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457A20-7B90-429B-B2BD-3B945DF7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2CDE9C-1D47-4E9F-8C5B-816641CAE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7927A8-7835-4338-99D1-72F130455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892CE6-196F-4521-B284-78C886F2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5F4DE1-94EB-4486-947D-D5BC95D1B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4F5C0B-0ECB-4407-88DA-D4BC2B2DF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7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66084D-0EB0-4A1E-BAF1-AEE9C53CE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0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B89769-8B63-4BF2-B23C-03629BA4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151833964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7BE0B2-82F1-46AC-8B0C-3B4DB0C28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Volume por prestador | Itaú e Kanastra separados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2E9EE8-D19D-4759-92FE-F8E2982A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 · PL ex-FIC, em R$ bilhões · Top 5 + comparadores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8CEAC6-5C19-4B02-A092-12CBEB4EC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80984D-5593-4680-A252-9134170F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5FFF56-0E51-4961-9E91-B2E283A68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8028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Sem Petrobras/TAPSO. Itaú inclui Intrag/Kinea; Kanastra inclui Limine. Independentes: curadoria original.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6F0A0E-F496-4C18-8FC2-C71ED293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1524000" y="1133475"/>
          <a:ext xmlns:a="http://schemas.openxmlformats.org/drawingml/2006/main" cx="914400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6e40ae014914456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5E7FDF-3CCF-4A8D-A229-F008BF3D7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+ Itaú + Kanastra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08E78B-B77B-4CFB-8675-D25ABE494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404795-4DA9-475E-A82E-FD304DE86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571500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db42b57f8594cc6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F90D32-68FB-45D6-AD2B-97D48142B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334125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9ec27b434e4466d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98255B-6CFA-44E4-A5E4-D5BEED302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p:txBody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8e55dde6ae544f0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46CE80-C243-4112-822C-10A1EA66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p:txBody>
      </p:sp>
      <p:graphicFrame>
        <p:nvGraphicFramePr>
          <p:cNvPr id="46" name="Chart"/>
          <p:cNvGraphicFramePr/>
          <p:nvPr/>
        </p:nvGraphicFramePr>
        <p:xfrm>
          <a:off xmlns:a="http://schemas.openxmlformats.org/drawingml/2006/main" x="6334125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282f5c9d9ae4e8f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DF51A5-29E1-4ACD-965A-8D3E316F0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p:txBody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571500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82a0a263a4c4737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FEAD2D-C806-47D0-B279-4637EB44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p:txBody>
      </p:sp>
      <p:graphicFrame>
        <p:nvGraphicFramePr>
          <p:cNvPr id="50" name="Chart"/>
          <p:cNvGraphicFramePr/>
          <p:nvPr/>
        </p:nvGraphicFramePr>
        <p:xfrm>
          <a:off xmlns:a="http://schemas.openxmlformats.org/drawingml/2006/main" x="6334125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899daedec094952"/>
          </a:graphicData>
        </a:graphic>
      </p:graphicFrame>
    </p:spTree>
    <p:extLst>
      <p:ext uri="{BB962C8B-B14F-4D97-AF65-F5344CB8AC3E}">
        <p14:creationId xmlns:p14="http://schemas.microsoft.com/office/powerpoint/2010/main" val="166968132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037A4E-57ED-4BEE-9B3F-EB4F1483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714CED-D956-4032-BEF9-51D33A990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34F1E9-16D8-4E42-A14B-40E2ED901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D4EBC5-F596-4E5A-AD7F-5FEB51321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80BC5-8FD0-4F71-9F1D-516AE36D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876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A49FED-15D1-4B58-BFD8-C73C3CB9B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D86154-AA24-43D6-B2D7-3C88BB6A9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61EA82-62A0-4F81-8732-52CD82438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255789b2997457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8AAAAE-4DA5-4961-9E62-8AD84353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428E07-EB9C-472B-8432-656B7FF9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5D7017-DF58-4691-9A81-FC479CF63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e4cf52fc61c4165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B9A7EC-ED95-4045-B937-33B23490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4A28FE-6528-4701-A33C-1E57549A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95DAD8-7CBF-4723-9A9F-645A65E2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73BC58-7893-49C9-BE79-D86A55C2A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858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0701FB-A0D7-4C59-98C5-070BAC79B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1219200"/>
            <a:ext cx="10382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A2F10B-1813-4F26-8177-3BAD37424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858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CCEAAD-936D-430A-8F50-2E2575C8E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1219200"/>
            <a:ext cx="10382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43580780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207E02-174B-40D2-B4FB-FA9F25E5B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535537-A637-41FC-9D4A-D2EC0DEFA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15413B-7723-4E16-899A-D474D724C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5BA3B5-E661-46F7-88D0-8AD500039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289B02-6848-430B-AF77-A065EB0F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2CD381-A1EE-4458-AA54-416A40088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99A10E-89C7-445C-8CB9-CBC765D2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41DE6B-1C46-4225-87FA-E8C574F7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e947ac722794e7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0F473D-67E0-48EF-BC8E-9E17E9ADB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B39B37-FE49-4D68-AA05-2D1266AFF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9637778228140af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0DE85F-DE2D-436F-96F5-B1E38D4CF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7F3BBE-5488-4B26-8835-708D12EF9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2291ff614ee48e9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32E490-F48D-4DDD-8611-6A5C1CA04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77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p:txBody>
      </p:sp>
    </p:spTree>
    <p:extLst>
      <p:ext uri="{BB962C8B-B14F-4D97-AF65-F5344CB8AC3E}">
        <p14:creationId xmlns:p14="http://schemas.microsoft.com/office/powerpoint/2010/main" val="105284852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106BBD-E422-44D9-A48C-F85373E0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4468E9-3DA8-408A-8F56-6CB8B937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03E86D-A59D-4C9D-87F8-337432A9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8FBB28-5685-491C-A081-1D2DCF63D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F8A594-1932-465C-B54D-EA449170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E50A7-8A39-4D2B-B6AB-55B7C1FF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6d8ebb894614522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8FABB6-0B2F-43CD-9880-04C9F93CA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B86F27-D026-46D6-B0D6-678300EE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59cac5e12894fde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FF4EA8-1775-4060-AEE1-A527BDBEF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8DF1A6-CD01-4787-B6B4-09458E8A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f871992605f4a85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E229A3-04A1-4A18-9504-678F77AA0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1C8547-1F42-4E4C-AECB-1C71530E2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ddd2a9620294ae4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64B37F-5774-472A-93DA-B76CF459E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67B2AD-3EE1-4FBC-B44C-5C6746542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BC4834-CD9E-472C-86D9-4E6173033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0eeff8472c24a50"/>
          </a:graphicData>
        </a:graphic>
      </p:graphicFrame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8957AC-C720-4F20-A154-2C0D6A064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0D25C7-5F55-4411-82C6-B9A9F78B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193699907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61E9AB-3AAB-4D60-A962-0359578B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1D8600-051A-44EB-A9B1-A9516BD2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Abertura PF/PJ e cenário sem TAPSO/Petrobras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2B04F4-6FA2-421A-9C8A-6868027C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063DC9-A567-4D7D-8C16-93DFA0A16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EFA90E-CFF1-47F3-BE28-1F26255E5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PF/PJ: 24 CNPJs; PL dos fundos, Top1 mensal &lt;=1%; Sólido e BizCapital em Financeiro. Emissões por CNPJ; FIC fora; 2023 escalado ANBIMA.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8893FC-6A38-45B2-9CDC-85DDAE614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D9A593-2060-4D9A-9ED7-7335A4F8B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176576-5E4C-4742-80B6-5AF9ED4B7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8590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46" name="Chart"/>
          <p:cNvGraphicFramePr/>
          <p:nvPr/>
        </p:nvGraphicFramePr>
        <p:xfrm>
          <a:off xmlns:a="http://schemas.openxmlformats.org/drawingml/2006/main" x="571500" y="1495425"/>
          <a:ext xmlns:a="http://schemas.openxmlformats.org/drawingml/2006/main" cx="5238750" cy="1952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8f3b9c193614a3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A45B6F-20C4-49D6-9BC3-5A08A9664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2573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39082C-861F-45DD-83A8-65F6FBDBF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8590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49" name="Chart"/>
          <p:cNvGraphicFramePr/>
          <p:nvPr/>
        </p:nvGraphicFramePr>
        <p:xfrm>
          <a:off xmlns:a="http://schemas.openxmlformats.org/drawingml/2006/main" x="6381750" y="1495425"/>
          <a:ext xmlns:a="http://schemas.openxmlformats.org/drawingml/2006/main" cx="5238750" cy="1952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0caf39ab2314356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A61F68-14C2-42D0-B53D-006B46FD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9FBE62-BD10-4639-B789-B1FD47680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0D87BE-32AB-4612-B3E5-E0C2CC500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3B0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3A7B0F-BD5F-4803-96B6-EB1A70277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40C4AB-E80B-419B-ABEB-BBD76BA6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9078F1-5E06-47BD-AE40-CC0BC454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EAED78-5235-4223-A570-3669391C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0996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721392-2C47-427A-9F53-8C9A24954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47662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BE602E-0B58-437A-A3DA-BE9D600F5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4331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30A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5063EB-9E03-4318-9F56-22CEBDC1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997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BD86D3-B894-4005-BAD6-19F0FBEB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64331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9E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D7763B-CD4E-488C-8F18-459E63FA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0997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56C7A7-6C8D-494B-BE67-899C8D22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3313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472C4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8378BB-CD34-4835-9D88-6C8E74D1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09975"/>
            <a:ext cx="25241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PF/PJ*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635A71-6306-4A65-A146-C1F77DC65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E147FD-66EE-4C7C-BEB8-AFC7FC59E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576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66" name="Chart"/>
          <p:cNvGraphicFramePr/>
          <p:nvPr/>
        </p:nvGraphicFramePr>
        <p:xfrm>
          <a:off xmlns:a="http://schemas.openxmlformats.org/drawingml/2006/main" x="571500" y="4067175"/>
          <a:ext xmlns:a="http://schemas.openxmlformats.org/drawingml/2006/main" cx="52387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9e4fa7ba5c346b3"/>
          </a:graphicData>
        </a:graphic>
      </p:graphicFrame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AE2C19-A79F-4F3D-9BCA-DB4B4969C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2905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D0FD437-ED88-4E7C-A48E-39E4EEB9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576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69" name="Chart"/>
          <p:cNvGraphicFramePr/>
          <p:nvPr/>
        </p:nvGraphicFramePr>
        <p:xfrm>
          <a:off xmlns:a="http://schemas.openxmlformats.org/drawingml/2006/main" x="6381750" y="4067175"/>
          <a:ext xmlns:a="http://schemas.openxmlformats.org/drawingml/2006/main" cx="52387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16734bafeb140d8"/>
          </a:graphicData>
        </a:graphic>
      </p:graphicFrame>
    </p:spTree>
    <p:extLst>
      <p:ext uri="{BB962C8B-B14F-4D97-AF65-F5344CB8AC3E}">
        <p14:creationId xmlns:p14="http://schemas.microsoft.com/office/powerpoint/2010/main" val="94899002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11A4CD-7953-411E-B38F-87B6D9A39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Multicarteira Pulverizado PF/PJ | Decisão final de jun/26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FC7551-676A-4BA6-8A9B-3268939ED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24 fundos incluídos; Sólido e BizCapital permanecem em Financeiro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D90392-E887-49D6-B78B-F97196AF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CCD366-A081-4A0C-8744-0702D6D04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F981E7-20BC-46C8-B106-B1CFB5A15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jun/26, regulamentos e ledger de 26 decisões. Ver CSV dos 24 incluídos e prompt de atualização.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9DF20B-3693-43CD-B2B3-20EF7E66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BB0A5D-F366-41BD-BB8F-840DC880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fundos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D02A2D-8B60-4B2E-8BB7-73B32FCE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d28a5bbf4e84161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6E966C-90A1-4B2C-ADD9-72D8F25F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total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561D7D-92AA-48F1-9537-12314A2F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67d6d81081d4aac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D7B953-1C3C-4356-B72E-FF3B861BE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769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* R$ 7,1 bi = PL integral dos 24 fundos (1,0% do PL sem TAPSO/Petrobras).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D71E68-8363-4785-A8E5-59F94F827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0"/>
            <a:ext cx="10858500" cy="5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Regulamentos lidos integralmente; crédito direto PF/PJ confirmado; Top1 mensal &lt;=1% dos DC brutos. Foram reportadas 578 posições; isso não informa o total de devedores. Exposição efetiva PF/PJ, divisão PF/PJ e total de devedores: N/D. Taxonomia congelada em jun/26 e retroaplicada.</a:t>
            </a:r>
          </a:p>
        </p:txBody>
      </p:sp>
    </p:spTree>
    <p:extLst>
      <p:ext uri="{BB962C8B-B14F-4D97-AF65-F5344CB8AC3E}">
        <p14:creationId xmlns:p14="http://schemas.microsoft.com/office/powerpoint/2010/main" val="1521510672"/>
      </p:ext>
    </p:extLst>
  </p:cSld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048256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50592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3000" b="1">
                <a:solidFill>
                  <a:srgbClr val="151515"/>
                </a:solidFill>
                <a:latin typeface="Arial"/>
              </a:defRPr>
            </a:pPr>
            <a:r>
              <a:t>Posição competitiva do Itaú BBA em renda fixa e híbridos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5526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400" b="0">
                <a:solidFill>
                  <a:srgbClr val="5D6369"/>
                </a:solidFill>
                <a:latin typeface="Arial"/>
              </a:defRPr>
            </a:pPr>
            <a:r>
              <a:t>Originação e distribuição · acumulado de 2026 e últimos 12 meses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67328"/>
            <a:ext cx="292608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8D9399"/>
                </a:solidFill>
                <a:latin typeface="Arial"/>
              </a:defRPr>
            </a:pPr>
            <a:r>
              <a:t>Ranking ANBIMA de Renda Fixa e Híbridos — referência Junho/2026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533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Análise Setorial de Crédito — Itaú BBA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Sumário executivo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44168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distribuição de renda fixa — o esforço efetivo de colocação junto ao investidor — o Itaú BBA é líder nas duas janelas: 26,6% no acumulado de 2026 e 24,6% nos últimos 12 meses.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3911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originação de renda fixa o banco é 1º nos últimos 12 meses, com 25,0%, e 2º no acumulado de 2026, com 22,9%. A troca de posição no semestre não se reproduz na janela de doze meses.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34055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88335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A desvantagem para o líder no acumulado de 2026 é de 4,9 p.p. (Bradesco BBI, 27,8%), enquanto a vantagem sobre o 3º colocado supera 12 p.p. — o bloco de liderança segue restrito a duas casas.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428999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383279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securitização o Itaú BBA lidera a originação com 37,6%, puxado por FIDC, onde a participação é de 45,7% — mais que o dobro do segundo colocado.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123943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078223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operações híbridas o banco também lidera a originação, com 43,3%, incluindo 74,2% em FI-Infra (FIP-IE).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818887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73167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O Itaú BBA participou de 260 das 696 operações encerradas no período e foi o maior coordenador em 211 delas, o que sustenta a posição por presença recorrente, não por concentração em poucas transações.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51383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46811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Pontos de atenção específicos, e não sistêmicos: CRA na originação (3º, 12,4%) e renda fixa de curto prazo (3º, 5,4%), ambos segmentos de menor peso no consolidado e com espaço claro de recuperação.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· Anexo ao Ranking — Tabela de Encerramento, Junho/2026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de renda fixa: 2º no acumulado de 2026 e 1º nos últimos 12 meses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R$ 51,0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22,9%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31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25,0%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62.033,0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+4,9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51.047,3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-4,9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22.216,3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21.109,2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17.469,3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15.716,9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7.487,8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5.914,2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140.863,2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115.652,6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58.646,4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53.205,1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50.007,8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41.943,1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BNDES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20.928,2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18.114,1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de renda fixa: Itaú BBA em 1º nas duas janelas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R$ 21,9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26,6%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38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24,6%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21.946,9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14.744,4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12.795,2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6.064,5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5.896,4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4.636,0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2.357,1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63.243,9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41.748,4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41.171,2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21.532,0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20.279,4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16.498,9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11.860,6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9.213,3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Visão por produto: mercado, posição e participação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0744200" cy="347472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880360"/>
                <a:gridCol w="1325880"/>
                <a:gridCol w="1508760"/>
                <a:gridCol w="1234440"/>
                <a:gridCol w="1280160"/>
                <a:gridCol w="123444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Segmento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Mercado (R$ bi)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consolidada*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longo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curto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Securitização*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Operações híbridas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FI-Infra (FIP-IE)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33,9%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974336"/>
            <a:ext cx="11018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* Composição dos agregados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12079"/>
            <a:ext cx="11018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Renda fixa consolidada: soma de curto prazo, longo prazo e securitização. Renda fixa — curto prazo: vencimento até 366 dias. Longo prazo: acima de 366 dias. Ambos compostos por debêntures simples, notas promissórias, notas comerciais, CPR-F e valor mobiliário de agência multilateral. Securitização: soma de FIDC (cotas seniores e subordinadas de condomínio fechado), CRI, CRA e CR. Prazo considerado é a data da 1ª repactuação ou o vencimento final, o que ocorrer primeiro. Operações de empresas ligadas são apuradas à parte e não entram nestes números.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 e Nº de Operações), acumulado 2026 e últimos 12 meses · operações do total publicado por tipo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Em FIDC o Itaú BBA lidera com 45,7%, mais que o dobro do segundo colocado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R$ 11,4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1S26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45,7%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11 coordenadores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OPERAÇÕES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19 de 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originadas no semestre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66928" y="2542032"/>
          <a:ext cx="11018520" cy="2596896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640080"/>
                <a:gridCol w="4892040"/>
                <a:gridCol w="2011680"/>
                <a:gridCol w="1554480"/>
                <a:gridCol w="19202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Coordenador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11.442,6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5.174,5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3.296,6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1.098,1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730,2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631,5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 Partners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66928" y="5376672"/>
            <a:ext cx="11018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Na distribuição de FIDC o Itaú BBA também é 1º, com 42,5%. O mercado apurado no ranking é de R$ 25,1 bi, contra R$ 65,5 bi de cotas de FIDC registradas na CVM no mesmo período: o ranking cobre a parcela disputada, sem as operações de empresas ligadas e sem as ofertas não reportadas à ANBIMA.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e Distribuição (Valor), Tipo 1.3.1 · CVM, ofertas públicas de distribuição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As maiores operações do período e a presença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35844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931920"/>
                <a:gridCol w="1417320"/>
                <a:gridCol w="868680"/>
                <a:gridCol w="1097280"/>
                <a:gridCol w="2468880"/>
                <a:gridCol w="12344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Instrumento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R$ mi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Líder(es)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GERAIS SANEAMENTO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Nota comercial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CLOUDWALK BELA FUNDO DE INVESTIMENTO EM DIR…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4.762,9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AGROPECUARIA MAGGI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CPR-F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09/06/26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3.538,4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KINEA RENDIMENTOS IMOBILIARIOS FUNDO DE INV…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03/03/26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3.110,3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3.011,3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TOTVS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02/02/26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CLARO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Citigroup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OCEÂNICA ENGENHARIA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2.600,8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CREDITORI…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29/05/26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102352"/>
            <a:ext cx="11018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O Itaú BBA participou de 8 das 12 maiores operações do período. A lista das 20 maiores e a matriz completa de participação, operação a operação, estão no arquivo Excel.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Anexo ao Ranking — Tabela de Encerramento, Junho/2026 — originação, ordenado por valor total da operação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| jan–jun/26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097280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16 POR VOLUME CEDIDO NO PERÍODO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35024"/>
          <a:ext cx="11018519" cy="43434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74320"/>
                <a:gridCol w="1874519"/>
                <a:gridCol w="1783080"/>
                <a:gridCol w="1234440"/>
                <a:gridCol w="1508760"/>
                <a:gridCol w="777240"/>
                <a:gridCol w="1371600"/>
                <a:gridCol w="822960"/>
                <a:gridCol w="64008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Originador¹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Tipo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Recebível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R$ mm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Bookamos?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Risco IBBA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FIDC 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Afinity MF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Crefaz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 S/A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For-Te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Consignado Privado Paketá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667,0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Cash Flow Multissegmentos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Agro/Ind.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Monee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Financiamento de Veículos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XPCE Infra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Arapua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Jefer Banking NP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BWT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Kyklos 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Latasa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Multiplica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Red Real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Residence Club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HRH Fortaleza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 – IBBA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Roqdeal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Ventisol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(R$ mm)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3.014,6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1S26 (% emissões FIDC CVM)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806440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¹ A coluna Originador reproduz o cedente informado na planilha de entrada. A confirmação de que o cedente é também o originador dos direitos creditórios exige leitura do regulamento e dos documentos da oferta — ver nota técnica no slide seguinte.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062472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Subtotal em R$ mm soma as ofertas de referência mostradas; o percentual usa apenas as encerradas no 1S26, sobre o universo CVM de cotas de FIDC do semestre (R$ 65,5 bi). Bookamos? e Risco IBBA em branco por instrução. 4 fundos não têm oferta pública encerrada registrada na CVM e aparecem como n/d em R$ mm e “Não identificado” nas colunas dependentes da oferta.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CVM, Oferta Pública de Distribuição — RCVM 160 e legado ICVM 400/476, primária, encerrada · ANBIMA, Fundos 175 características público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— nota técnica de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22128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94560"/>
                <a:gridCol w="4206240"/>
                <a:gridCol w="4617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Coluna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Fonte utilizada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Situação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/ CNPJ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Planilha de entrada curada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conferidos contra o cadastro ANBIMA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Originador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Não confirmado: exige regulamento e documentos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Tipo e Recebível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ANBIMA, Fundos 175 características público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classificados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R$ mm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ofertas RCVM 160 e legado ICVM 400/476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 com oferta encerrada identificada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Nome_Lider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16; a CVM publica apenas o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Regime_distribuicao (só RCVM 160)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 de 16; o legado não traz o campo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Bookamos? / Risco IBBA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Em branco por instrução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675887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Oferta de referência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3675887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Quando o fundo tem oferta encerrada no 1S26, ela é a referência (4 fundos). Sem oferta no semestre, usa-se a mais recente encerrada, e a data consta no CSV resolvido. As demais colunas vêm sempre da mesma oferta.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18795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Por que o Originador ficou aberto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93008" y="4187952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Nem o arquivo de ofertas da CVM nem o cadastro ANBIMA declaram o originador dos direitos creditórios. Os campos Descricao_lastro e Identificacao_devedores_coobrigados estão vazios nas 64 ofertas encerradas destes fundos. Fechar a coluna exige o regulamento vigente e os documentos da oferta no FundosNet, fundo a fundo.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0001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Ritos consultados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4700016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Foram lidos os dois arquivos da CVM: o de ofertas automáticas RCVM 160 e o legado, com ICVM 400 e ICVM 476. As ICVM 476 são ofertas com esforços restritos e chegam rotuladas como “Cotas de fundos de investimento fechados”, sem indicar o tipo do fundo; entram aqui porque o CNPJ emissor já é um FIDC conhecido. Ordens 7, 9, 10, 13 seguem sem oferta encerrada em qualquer rito.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21208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Itaú BBA em ofertas anteriores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5212080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O banco liderou ofertas passadas de Cobuccio, LF III, Residence Club. No LF III liderou três emissões entre 2023 e 2024, e a oferta de referência de 2026 saiu com o UBS BB — histórico que a coluna IBBA Coord?, restrita à oferta de referência, não mostra. O CSV resolvido traz as datas.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72414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Ranking ANBIMA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5724144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Apenas o LF III aparece no anexo do ranking ANBIMA de junho/2026, coordenado pelo UBS BB. Os demais 15 não entram no ranking, que é declaratório.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 consultadas: CVM Ofertas Públicas de Distribuição · ANBIMA Fundos 175 características público · ANBIMA Anexo ao Ranking de Renda Fixa e Híbridos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Como interpretar o ranking ANBIMA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Originação ×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Originação mede a estruturação e a coordenação da oferta. Distribuição mede o esforço de colocação junto ao investidor. Uma casa pode liderar um e não o outro.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ranking mede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 posição vem do volume das operações encerradas no período. Há um ranking separado por número de operações, em que cada coordenador recebe uma unidade.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As duas janelas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“Acumulado 2026” cobre jan–jun/26. “Últimos 12 meses” cobre jul/25–jun/26 e suaviza o efeito de operações grandes concentradas em um trimestre.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Uma operação, vários coordenadores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 crédito segue os percentuais informados à ANBIMA: proporção da garantia firme, ou proporção do fee em melhores esforços. Não é rateio igualitário.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“Percentual Coordenado” define a liderança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Na matriz de operações, “Líder” marca a casa com o maior percentual coordenado; “X” marca participação sem liderança; “–” marca ausência.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Participação formal sem valor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Alguns registros trazem participantes com percentual e valor zerados. Eles constam como participantes, mas não elevam market share por valor.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É um ranking declaratório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Operação cujo formulário-padrão não foi enviado à ANBIMA não entra. Parte do mercado liderado por administradores e DTVMs fica de fora.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Empresas ligadas saem do Tipo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Coordenador com 10% ou mais do capital da emissora, cedente ou originadora vai para o Tipo 3, apurado à parte.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Metodologia do Ranking de Renda Fixa e Híbridos, capítulos II a VII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Premissas, limitações 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Escopo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Toda a análise vem exclusivamente das duas planilhas oficiais da ANBIMA de junho/2026. Nenhum dado externo foi acrescentado.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Chave de operação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620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matriz usa o registro CVM como chave. Séries da mesma emissão com registros distintos permanecem em linhas separadas.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Consistência verificada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Os market shares somam 100,0% em cada ranking. Em 689 dos 696 registros o percentual coordenado soma exatamente 100%.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Registros sem valor econômico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5 operações têm valor total zero, com participantes formais e sem crédito de valor. Estão sinalizadas na matriz e não elevam market share.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Consolidação de entidades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ANBIMA consolida cada conglomerado sob um rótulo único e não segrega as entidades jurídicas do grupo.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Cobertura do ranking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 ranking é declaratório e exclui operações de empresas ligadas do Tipo 1. Ele não equivale ao total emitido no mercado.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943600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Arquivos-fonte (SHA-256): Ranking 5e6173ca8f6d · Anexo 9adb22cac2af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ANBIMA Data — Ranking de Renda Fixa e Híbridos, referência Junho/2026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2026-09-01T17:07:00.6390000Z</dcterms:created>
  <dcterms:modified xsi:type="dcterms:W3CDTF">2026-09-01T17:07:00.6390000Z</dcterms:modified>
</coreProperties>
</file>