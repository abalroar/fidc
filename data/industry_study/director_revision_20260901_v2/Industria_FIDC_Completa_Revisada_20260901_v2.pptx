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slides/charts/chart2.xml" ContentType="application/vnd.openxmlformats-officedocument.drawingml.chart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slides/charts/chart24.xml" ContentType="application/vnd.openxmlformats-officedocument.drawingml.chart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slides/charts/chart28.xml" ContentType="application/vnd.openxmlformats-officedocument.drawingml.chart+xml"/>
  <Override PartName="/ppt/slides/charts/chart29.xml" ContentType="application/vnd.openxmlformats-officedocument.drawingml.chart+xml"/>
  <Override PartName="/ppt/slides/charts/chart3.xml" ContentType="application/vnd.openxmlformats-officedocument.drawingml.chart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slides/charts/chart33.xml" ContentType="application/vnd.openxmlformats-officedocument.drawingml.chart+xml"/>
  <Override PartName="/ppt/slides/charts/chart34.xml" ContentType="application/vnd.openxmlformats-officedocument.drawingml.chart+xml"/>
  <Override PartName="/ppt/slides/charts/chart35.xml" ContentType="application/vnd.openxmlformats-officedocument.drawingml.chart+xml"/>
  <Override PartName="/ppt/slides/charts/chart36.xml" ContentType="application/vnd.openxmlformats-officedocument.drawingml.chart+xml"/>
  <Override PartName="/ppt/slides/charts/chart37.xml" ContentType="application/vnd.openxmlformats-officedocument.drawingml.chart+xml"/>
  <Override PartName="/ppt/slides/charts/chart38.xml" ContentType="application/vnd.openxmlformats-officedocument.drawingml.chart+xml"/>
  <Override PartName="/ppt/slides/charts/chart39.xml" ContentType="application/vnd.openxmlformats-officedocument.drawingml.chart+xml"/>
  <Override PartName="/ppt/slides/charts/chart4.xml" ContentType="application/vnd.openxmlformats-officedocument.drawingml.chart+xml"/>
  <Override PartName="/ppt/slides/charts/chart40.xml" ContentType="application/vnd.openxmlformats-officedocument.drawingml.chart+xml"/>
  <Override PartName="/ppt/slides/charts/chart41.xml" ContentType="application/vnd.openxmlformats-officedocument.drawingml.chart+xml"/>
  <Override PartName="/ppt/slides/charts/chart42.xml" ContentType="application/vnd.openxmlformats-officedocument.drawingml.chart+xml"/>
  <Override PartName="/ppt/slides/charts/chart43.xml" ContentType="application/vnd.openxmlformats-officedocument.drawingml.chart+xml"/>
  <Override PartName="/ppt/slides/charts/chart44.xml" ContentType="application/vnd.openxmlformats-officedocument.drawingml.chart+xml"/>
  <Override PartName="/ppt/slides/charts/chart45.xml" ContentType="application/vnd.openxmlformats-officedocument.drawingml.chart+xml"/>
  <Override PartName="/ppt/slides/charts/chart46.xml" ContentType="application/vnd.openxmlformats-officedocument.drawingml.chart+xml"/>
  <Override PartName="/ppt/slides/charts/chart47.xml" ContentType="application/vnd.openxmlformats-officedocument.drawingml.chart+xml"/>
  <Override PartName="/ppt/slides/charts/chart48.xml" ContentType="application/vnd.openxmlformats-officedocument.drawingml.chart+xml"/>
  <Override PartName="/ppt/slides/charts/chart49.xml" ContentType="application/vnd.openxmlformats-officedocument.drawingml.chart+xml"/>
  <Override PartName="/ppt/slides/charts/chart5.xml" ContentType="application/vnd.openxmlformats-officedocument.drawingml.chart+xml"/>
  <Override PartName="/ppt/slides/charts/chart50.xml" ContentType="application/vnd.openxmlformats-officedocument.drawingml.chart+xml"/>
  <Override PartName="/ppt/slides/charts/chart51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d9686dd0f134e01" Type="http://schemas.openxmlformats.org/officeDocument/2006/relationships/officeDocument" Target="ppt/presentation.xml"/><Relationship Id="R4c15b32ef5bc4588" Type="http://schemas.openxmlformats.org/package/2006/relationships/metadata/core-properties" Target="docProps/core.xml"/><Relationship Id="Re156cbc92bdf45e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34097c6ffb42de"/>
  </p:sldMasterIdLst>
  <p:notesMasterIdLst>
    <p:notesMasterId xmlns:r="http://schemas.openxmlformats.org/officeDocument/2006/relationships" r:id="R1620c3a707ea481d"/>
  </p:notesMasterIdLst>
  <p:sldIdLst>
    <p:sldId xmlns:r="http://schemas.openxmlformats.org/officeDocument/2006/relationships" id="256" r:id="R92d312ba4f2b49be"/>
    <p:sldId xmlns:r="http://schemas.openxmlformats.org/officeDocument/2006/relationships" id="257" r:id="R364d3b1c630e42b6"/>
    <p:sldId xmlns:r="http://schemas.openxmlformats.org/officeDocument/2006/relationships" id="258" r:id="R9f6717bb4c40462a"/>
    <p:sldId xmlns:r="http://schemas.openxmlformats.org/officeDocument/2006/relationships" id="259" r:id="R346890194fe24a30"/>
    <p:sldId xmlns:r="http://schemas.openxmlformats.org/officeDocument/2006/relationships" id="260" r:id="Re70044bab83e45bf"/>
    <p:sldId xmlns:r="http://schemas.openxmlformats.org/officeDocument/2006/relationships" id="261" r:id="Ra5224f32a8ff4e1c"/>
    <p:sldId xmlns:r="http://schemas.openxmlformats.org/officeDocument/2006/relationships" id="262" r:id="Ra93507b923194da0"/>
    <p:sldId xmlns:r="http://schemas.openxmlformats.org/officeDocument/2006/relationships" id="263" r:id="Rf7fe685bc83c4924"/>
    <p:sldId xmlns:r="http://schemas.openxmlformats.org/officeDocument/2006/relationships" id="264" r:id="R4ecd3a45758643cf"/>
    <p:sldId xmlns:r="http://schemas.openxmlformats.org/officeDocument/2006/relationships" id="279" r:id="Rbd07d01524774add"/>
    <p:sldId xmlns:r="http://schemas.openxmlformats.org/officeDocument/2006/relationships" id="280" r:id="R0044564e043240df"/>
    <p:sldId xmlns:r="http://schemas.openxmlformats.org/officeDocument/2006/relationships" id="281" r:id="Rdee59d30ac424490"/>
    <p:sldId xmlns:r="http://schemas.openxmlformats.org/officeDocument/2006/relationships" id="282" r:id="Reebe4e45ce81488a"/>
    <p:sldId xmlns:ns0="http://schemas.openxmlformats.org/officeDocument/2006/relationships" id="295" ns0:id="rId1"/>
    <p:sldId xmlns:ns1="http://schemas.openxmlformats.org/officeDocument/2006/relationships" id="296" ns1:id="rId2"/>
    <p:sldId xmlns:ns2="http://schemas.openxmlformats.org/officeDocument/2006/relationships" id="297" ns2:id="rId3"/>
    <p:sldId xmlns:ns3="http://schemas.openxmlformats.org/officeDocument/2006/relationships" id="298" ns3:id="rId4"/>
    <p:sldId xmlns:ns4="http://schemas.openxmlformats.org/officeDocument/2006/relationships" id="299" ns4:id="rId5"/>
    <p:sldId xmlns:ns5="http://schemas.openxmlformats.org/officeDocument/2006/relationships" id="300" ns5:id="rId6"/>
    <p:sldId xmlns:ns6="http://schemas.openxmlformats.org/officeDocument/2006/relationships" id="301" ns6:id="rId7"/>
    <p:sldId xmlns:ns7="http://schemas.openxmlformats.org/officeDocument/2006/relationships" id="302" ns7:id="rId8"/>
    <p:sldId xmlns:ns8="http://schemas.openxmlformats.org/officeDocument/2006/relationships" id="303" ns8:id="rId9"/>
    <p:sldId xmlns:ns9="http://schemas.openxmlformats.org/officeDocument/2006/relationships" id="304" ns9:id="rId10"/>
    <p:sldId xmlns:ns10="http://schemas.openxmlformats.org/officeDocument/2006/relationships" id="305" ns10:id="rId11"/>
    <p:sldId xmlns:ns11="http://schemas.openxmlformats.org/officeDocument/2006/relationships" id="306" ns11:id="rId12"/>
    <p:sldId xmlns:ns12="http://schemas.openxmlformats.org/officeDocument/2006/relationships" id="307" ns12:id="rId13"/>
    <p:sldId xmlns:r="http://schemas.openxmlformats.org/officeDocument/2006/relationships" id="288" r:id="R0f2c926b502c4f5c"/>
    <p:sldId xmlns:r="http://schemas.openxmlformats.org/officeDocument/2006/relationships" id="289" r:id="R0493c15735504f7e"/>
    <p:sldId xmlns:r="http://schemas.openxmlformats.org/officeDocument/2006/relationships" id="290" r:id="Rc3a48da93788460a"/>
    <p:sldId xmlns:r="http://schemas.openxmlformats.org/officeDocument/2006/relationships" id="291" r:id="Rb79271ddaae64a10"/>
    <p:sldId xmlns:r="http://schemas.openxmlformats.org/officeDocument/2006/relationships" id="292" r:id="R2102f167df074420"/>
    <p:sldId xmlns:r="http://schemas.openxmlformats.org/officeDocument/2006/relationships" id="293" r:id="R1312f22713494ab4"/>
    <p:sldId xmlns:r="http://schemas.openxmlformats.org/officeDocument/2006/relationships" id="294" r:id="R60c86505f42642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44564e043240df" Type="http://schemas.openxmlformats.org/officeDocument/2006/relationships/slide" Target="slides/slide11.xml"/><Relationship Id="R0493c15735504f7e" Type="http://schemas.openxmlformats.org/officeDocument/2006/relationships/slide" Target="slides/slide15.xml"/><Relationship Id="R0f2c926b502c4f5c" Type="http://schemas.openxmlformats.org/officeDocument/2006/relationships/slide" Target="slides/slide14.xml"/><Relationship Id="R1312f22713494ab4" Type="http://schemas.openxmlformats.org/officeDocument/2006/relationships/slide" Target="slides/slide19.xml"/><Relationship Id="R1620c3a707ea481d" Type="http://schemas.openxmlformats.org/officeDocument/2006/relationships/notesMaster" Target="notesMasters/notesMaster1.xml"/><Relationship Id="R1734097c6ffb42de" Type="http://schemas.openxmlformats.org/officeDocument/2006/relationships/slideMaster" Target="slideMasters/slideMaster1.xml"/><Relationship Id="R1a6413b9c1dc48f5" Type="http://schemas.openxmlformats.org/officeDocument/2006/relationships/presProps" Target="presProps.xml"/><Relationship Id="R2102f167df074420" Type="http://schemas.openxmlformats.org/officeDocument/2006/relationships/slide" Target="slides/slide18.xml"/><Relationship Id="R346890194fe24a30" Type="http://schemas.openxmlformats.org/officeDocument/2006/relationships/slide" Target="slides/slide4.xml"/><Relationship Id="R3646df8257b84c88" Type="http://schemas.openxmlformats.org/officeDocument/2006/relationships/tableStyles" Target="tableStyles.xml"/><Relationship Id="R364d3b1c630e42b6" Type="http://schemas.openxmlformats.org/officeDocument/2006/relationships/slide" Target="slides/slide2.xml"/><Relationship Id="R4ecd3a45758643cf" Type="http://schemas.openxmlformats.org/officeDocument/2006/relationships/slide" Target="slides/slide9.xml"/><Relationship Id="R60c86505f4264289" Type="http://schemas.openxmlformats.org/officeDocument/2006/relationships/slide" Target="slides/slide20.xml"/><Relationship Id="R7539f990282c4d64" Type="http://schemas.openxmlformats.org/officeDocument/2006/relationships/theme" Target="theme/theme1.xml"/><Relationship Id="R92d312ba4f2b49be" Type="http://schemas.openxmlformats.org/officeDocument/2006/relationships/slide" Target="slides/slide1.xml"/><Relationship Id="R9f6717bb4c40462a" Type="http://schemas.openxmlformats.org/officeDocument/2006/relationships/slide" Target="slides/slide3.xml"/><Relationship Id="Ra5224f32a8ff4e1c" Type="http://schemas.openxmlformats.org/officeDocument/2006/relationships/slide" Target="slides/slide6.xml"/><Relationship Id="Ra93507b923194da0" Type="http://schemas.openxmlformats.org/officeDocument/2006/relationships/slide" Target="slides/slide7.xml"/><Relationship Id="Rb79271ddaae64a10" Type="http://schemas.openxmlformats.org/officeDocument/2006/relationships/slide" Target="slides/slide17.xml"/><Relationship Id="Rbd07d01524774add" Type="http://schemas.openxmlformats.org/officeDocument/2006/relationships/slide" Target="slides/slide10.xml"/><Relationship Id="Rc3a48da93788460a" Type="http://schemas.openxmlformats.org/officeDocument/2006/relationships/slide" Target="slides/slide16.xml"/><Relationship Id="Rdee59d30ac424490" Type="http://schemas.openxmlformats.org/officeDocument/2006/relationships/slide" Target="slides/slide12.xml"/><Relationship Id="Re70044bab83e45bf" Type="http://schemas.openxmlformats.org/officeDocument/2006/relationships/slide" Target="slides/slide5.xml"/><Relationship Id="Reebe4e45ce81488a" Type="http://schemas.openxmlformats.org/officeDocument/2006/relationships/slide" Target="slides/slide13.xml"/><Relationship Id="Rf7fe685bc83c4924" Type="http://schemas.openxmlformats.org/officeDocument/2006/relationships/slide" Target="slides/slide8.xml"/><Relationship Id="rId1" Type="http://schemas.openxmlformats.org/officeDocument/2006/relationships/slide" Target="slides/slide21.xml"/><Relationship Id="rId2" Type="http://schemas.openxmlformats.org/officeDocument/2006/relationships/slide" Target="slides/slide22.xml"/><Relationship Id="rId3" Type="http://schemas.openxmlformats.org/officeDocument/2006/relationships/slide" Target="slides/slide23.xml"/><Relationship Id="rId4" Type="http://schemas.openxmlformats.org/officeDocument/2006/relationships/slide" Target="slides/slide24.xml"/><Relationship Id="rId5" Type="http://schemas.openxmlformats.org/officeDocument/2006/relationships/slide" Target="slides/slide25.xml"/><Relationship Id="rId6" Type="http://schemas.openxmlformats.org/officeDocument/2006/relationships/slide" Target="slides/slide26.xml"/><Relationship Id="rId7" Type="http://schemas.openxmlformats.org/officeDocument/2006/relationships/slide" Target="slides/slide27.xml"/><Relationship Id="rId8" Type="http://schemas.openxmlformats.org/officeDocument/2006/relationships/slide" Target="slides/slide28.xml"/><Relationship Id="rId9" Type="http://schemas.openxmlformats.org/officeDocument/2006/relationships/slide" Target="slides/slide29.xml"/><Relationship Id="rId10" Type="http://schemas.openxmlformats.org/officeDocument/2006/relationships/slide" Target="slides/slide30.xml"/><Relationship Id="rId11" Type="http://schemas.openxmlformats.org/officeDocument/2006/relationships/slide" Target="slides/slide31.xml"/><Relationship Id="rId12" Type="http://schemas.openxmlformats.org/officeDocument/2006/relationships/slide" Target="slides/slide32.xml"/><Relationship Id="rId13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14315C"/>
              </a:solidFill>
              <a:ln>
                <a:noFill/>
              </a:ln>
            </c:spPr>
          </c:dPt>
          <c:dPt>
            <c:idx val="5"/>
            <c:spPr>
              <a:solidFill>
                <a:srgbClr val="8D9399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XP Investimentos</c:v>
                </c:pt>
                <c:pt idx="2">
                  <c:v>4º  Santander</c:v>
                </c:pt>
                <c:pt idx="3">
                  <c:v>3º  BTG Pactual</c:v>
                </c:pt>
                <c:pt idx="4">
                  <c:v>2º  Itaú BBA</c:v>
                </c:pt>
                <c:pt idx="5">
                  <c:v>1º  Bradesco BBI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0.07040879184</c:v>
                </c:pt>
                <c:pt idx="1">
                  <c:v>0.07825892098</c:v>
                </c:pt>
                <c:pt idx="2">
                  <c:v>0.09456496776</c:v>
                </c:pt>
                <c:pt idx="3">
                  <c:v>0.09952460536</c:v>
                </c:pt>
                <c:pt idx="4">
                  <c:v>0.2286817511</c:v>
                </c:pt>
                <c:pt idx="5">
                  <c:v>0.27789560251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0.3557063712128"/>
          <c:min val="0.0"/>
        </c:scaling>
        <c:delete/>
        <c:axPos val="b"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8D9399"/>
              </a:solidFill>
              <a:ln>
                <a:noFill/>
              </a:ln>
            </c:spPr>
          </c:dPt>
          <c:dPt>
            <c:idx val="5"/>
            <c:spPr>
              <a:solidFill>
                <a:srgbClr val="1431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Santander</c:v>
                </c:pt>
                <c:pt idx="2">
                  <c:v>4º  XP Investimentos</c:v>
                </c:pt>
                <c:pt idx="3">
                  <c:v>3º  BTG Pactual</c:v>
                </c:pt>
                <c:pt idx="4">
                  <c:v>2º  Bradesco BBI</c:v>
                </c:pt>
                <c:pt idx="5">
                  <c:v>1º  Itaú BBA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0.07451209379</c:v>
                </c:pt>
                <c:pt idx="1">
                  <c:v>0.08883897779</c:v>
                </c:pt>
                <c:pt idx="2">
                  <c:v>0.09451906615</c:v>
                </c:pt>
                <c:pt idx="3">
                  <c:v>0.10418540682</c:v>
                </c:pt>
                <c:pt idx="4">
                  <c:v>0.20545717664</c:v>
                </c:pt>
                <c:pt idx="5">
                  <c:v>0.25024393331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0.32031223463680003"/>
          <c:min val="0.0"/>
        </c:scaling>
        <c:delete/>
        <c:axPos val="b"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8D9399"/>
              </a:solidFill>
              <a:ln>
                <a:noFill/>
              </a:ln>
            </c:spPr>
          </c:dPt>
          <c:dPt>
            <c:idx val="5"/>
            <c:spPr>
              <a:solidFill>
                <a:srgbClr val="1431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Santander</c:v>
                </c:pt>
                <c:pt idx="2">
                  <c:v>4º  XP Investimentos</c:v>
                </c:pt>
                <c:pt idx="3">
                  <c:v>3º  BTG Pactual</c:v>
                </c:pt>
                <c:pt idx="4">
                  <c:v>2º  Bradesco BBI</c:v>
                </c:pt>
                <c:pt idx="5">
                  <c:v>1º  Itaú BBA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0.05618662601</c:v>
                </c:pt>
                <c:pt idx="1">
                  <c:v>0.07146291134</c:v>
                </c:pt>
                <c:pt idx="2">
                  <c:v>0.07350064594</c:v>
                </c:pt>
                <c:pt idx="3">
                  <c:v>0.15507438227</c:v>
                </c:pt>
                <c:pt idx="4">
                  <c:v>0.17869834915</c:v>
                </c:pt>
                <c:pt idx="5">
                  <c:v>0.26599103078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0.34046851939840006"/>
          <c:min val="0.0"/>
        </c:scaling>
        <c:delete/>
        <c:axPos val="b"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8D9399"/>
              </a:solidFill>
              <a:ln>
                <a:noFill/>
              </a:ln>
            </c:spPr>
          </c:dPt>
          <c:dPt>
            <c:idx val="5"/>
            <c:spPr>
              <a:solidFill>
                <a:srgbClr val="1431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Santander</c:v>
                </c:pt>
                <c:pt idx="2">
                  <c:v>4º  XP Investimentos</c:v>
                </c:pt>
                <c:pt idx="3">
                  <c:v>3º  BTG Pactual</c:v>
                </c:pt>
                <c:pt idx="4">
                  <c:v>2º  Bradesco BBI</c:v>
                </c:pt>
                <c:pt idx="5">
                  <c:v>1º  Itaú BBA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0.06424275488</c:v>
                </c:pt>
                <c:pt idx="1">
                  <c:v>0.0789632087</c:v>
                </c:pt>
                <c:pt idx="2">
                  <c:v>0.08384054545</c:v>
                </c:pt>
                <c:pt idx="3">
                  <c:v>0.16031117313</c:v>
                </c:pt>
                <c:pt idx="4">
                  <c:v>0.16255878564</c:v>
                </c:pt>
                <c:pt idx="5">
                  <c:v>0.24625711518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0.31520910743040004"/>
          <c:min val="0.0"/>
        </c:scaling>
        <c:delete/>
        <c:axPos val="b"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e8285aee7874410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ad674ea53c1493d" Type="http://schemas.openxmlformats.org/officeDocument/2006/relationships/slide" Target="../slides/slide1.xml"/><Relationship Id="Rdf163c68756f41d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598de5b6cf74866" Type="http://schemas.openxmlformats.org/officeDocument/2006/relationships/notesMaster" Target="../notesMasters/notesMaster1.xml"/><Relationship Id="Rb964c9d422d143f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9c200ea70454e8d" Type="http://schemas.openxmlformats.org/officeDocument/2006/relationships/slide" Target="../slides/slide3.xml"/><Relationship Id="R4926d7e2fe04457d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44b14b2849fc4131" Type="http://schemas.openxmlformats.org/officeDocument/2006/relationships/notesMaster" Target="../notesMasters/notesMaster1.xml"/><Relationship Id="Refdd573a5dfe422d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77abef2b8f8e4256" Type="http://schemas.openxmlformats.org/officeDocument/2006/relationships/notesMaster" Target="../notesMasters/notesMaster1.xml"/><Relationship Id="Rf7dcf0a96bf1418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6621764c5c844f06" Type="http://schemas.openxmlformats.org/officeDocument/2006/relationships/slide" Target="../slides/slide6.xml"/><Relationship Id="Rce6f3ec2f91f4c9e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4136d67cf434eea" Type="http://schemas.openxmlformats.org/officeDocument/2006/relationships/slide" Target="../slides/slide7.xml"/><Relationship Id="R4633f168dae343f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0423aa256f94be8" Type="http://schemas.openxmlformats.org/officeDocument/2006/relationships/notesMaster" Target="../notesMasters/notesMaster1.xml"/><Relationship Id="Re09cb5a912be4f8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ec90967ab714b53" Type="http://schemas.openxmlformats.org/officeDocument/2006/relationships/notesMaster" Target="../notesMasters/notesMaster1.xml"/><Relationship Id="R89272a5794494d50" Type="http://schemas.openxmlformats.org/officeDocument/2006/relationships/slide" Target="../slides/slide9.xml"/></Relationships>
</file>

<file path=ppt/notesSlides/_rels/notesSlide24.xml.rels><?xml version='1.0' encoding='UTF-8' standalone='yes'?>
<Relationships xmlns="http://schemas.openxmlformats.org/package/2006/relationships"><Relationship Id="R2e68c6d291ff4023" Type="http://schemas.openxmlformats.org/officeDocument/2006/relationships/notesMaster" Target="../notesMasters/notesMaster1.xml"/><Relationship Id="R6b9dcc0081ff458f" Type="http://schemas.openxmlformats.org/officeDocument/2006/relationships/slide" Target="../slides/slide10.xml"/></Relationships>
</file>

<file path=ppt/notesSlides/_rels/notesSlide25.xml.rels><?xml version='1.0' encoding='UTF-8' standalone='yes'?>
<Relationships xmlns="http://schemas.openxmlformats.org/package/2006/relationships"><Relationship Id="R901bde09b2754afe" Type="http://schemas.openxmlformats.org/officeDocument/2006/relationships/notesMaster" Target="../notesMasters/notesMaster1.xml"/><Relationship Id="Ra713baa3bda34acd" Type="http://schemas.openxmlformats.org/officeDocument/2006/relationships/slide" Target="../slides/slide11.xml"/></Relationships>
</file>

<file path=ppt/notesSlides/_rels/notesSlide26.xml.rels><?xml version='1.0' encoding='UTF-8' standalone='yes'?>
<Relationships xmlns="http://schemas.openxmlformats.org/package/2006/relationships"><Relationship Id="R467b34e00aa2477f" Type="http://schemas.openxmlformats.org/officeDocument/2006/relationships/slide" Target="../slides/slide12.xml"/><Relationship Id="R5ea4d0bd38864e5e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8e41bad770be48ed" Type="http://schemas.openxmlformats.org/officeDocument/2006/relationships/slide" Target="../slides/slide13.xml"/><Relationship Id="Rd872b9ff30ef4f20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392b8516bf0145e3" Type="http://schemas.openxmlformats.org/officeDocument/2006/relationships/slide" Target="../slides/slide14.xml"/><Relationship Id="R839ff44769e84805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be3309e5ee014e56" Type="http://schemas.openxmlformats.org/officeDocument/2006/relationships/slide" Target="../slides/slide15.xml"/><Relationship Id="Rc3360d16a3d84099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e8091504cea24a91" Type="http://schemas.openxmlformats.org/officeDocument/2006/relationships/notesMaster" Target="../notesMasters/notesMaster1.xml"/><Relationship Id="Rfaf0450bfbf24a4c" Type="http://schemas.openxmlformats.org/officeDocument/2006/relationships/slide" Target="../slides/slide16.xml"/></Relationships>
</file>

<file path=ppt/notesSlides/_rels/notesSlide36.xml.rels><?xml version='1.0' encoding='UTF-8' standalone='yes'?>
<Relationships xmlns="http://schemas.openxmlformats.org/package/2006/relationships"><Relationship Id="R2d8b1056a8dc41c5" Type="http://schemas.openxmlformats.org/officeDocument/2006/relationships/slide" Target="../slides/slide17.xml"/><Relationship Id="R746de50f72134ddd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2ac6c2ca0b934128" Type="http://schemas.openxmlformats.org/officeDocument/2006/relationships/slide" Target="../slides/slide18.xml"/><Relationship Id="Rc1d4da3b72524cd6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7b0a1c0066174ff3" Type="http://schemas.openxmlformats.org/officeDocument/2006/relationships/slide" Target="../slides/slide19.xml"/><Relationship Id="Rf8d5194a459c4fab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aaa8a517e7c14208" Type="http://schemas.openxmlformats.org/officeDocument/2006/relationships/notesMaster" Target="../notesMasters/notesMaster1.xml"/><Relationship Id="Rb4b5fafe263d489a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Ofertas Públicas de Distribuição: https://dados.cvm.gov.br/dataset/oferta-distrib</a:t>
            </a:r>
          </a:p>
          <a:p xmlns:a="http://schemas.openxmlformats.org/drawingml/2006/main">
            <a:r>
              <a:t>- ANBIMA Data — Boletim de Mercado de Capitais, corte em 30/jun/26: https://data.anbima.com.br/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ANBIMA — Coletiva de Mercado de Capitais 1S26, snapshot jun/26, Anexo · pág. 14, Tabela Jan a jun 25 × Jan a jun 26: https://www.anbima.com.br/data/files/8E/86/DB/07/325AF91098D078F9692BA2A8/Apresentacao%20_%20coletiva%20Mercado%20de%20Capitais%20_%201S26.pdf</a:t>
            </a:r>
          </a:p>
          <a:p xmlns:a="http://schemas.openxmlformats.org/drawingml/2006/main">
            <a:r>
              <a:t>- Perímetros: CVM/SRE mede valor registrado de ofertas primárias encerradas (R$ 65,5 bi em FIDCs); ANBIMA mede valor encerrado (R$ 53,1 bi). Ambos cobrem jan–jun/26.</a:t>
            </a:r>
          </a:p>
          <a:p xmlns:a="http://schemas.openxmlformats.org/drawingml/2006/main">
            <a:r>
              <a:t>- FIDCs 2023 no gráfico CVM: valor encerrado ANBIMA; a correção é idempotente e preserva bundles anteriores à republicação.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bases/saldo_cenarios.csv; bases/emissoes_por_categoria.csv; bases/exclusoes_por_cnpj.csv. PF/PJ via bases/pfpj_24_incluidos.csv. Cenário sem CNPJs 09195235000150 e 26287464000114.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CVM/SRE, ofertas encerradas; bases/emissoes_por_cnpj.csv, emissoes_por_categoria.csv e emissoes_auditoria.csv. Match por CNPJ do fundo e depois da classe; FIC fora; sem match=N/D. 2023 escalado ao total encerrado ANBIMA.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CVM/ANBIMA, regulamentos integrais, taxonomy_review_actions.csv, bases/criterios_categorias.csv e categorias_cnpj_jun26.csv. Taxonomia congelada em jun/26 e retroaplicada.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 registrado positivo e data de encerramento no período; 2026 = jan–jun.</a:t>
            </a:r>
          </a:p>
          <a:p xmlns:a="http://schemas.openxmlformats.org/drawingml/2006/main">
            <a:r>
              <a:t>- Métrica: volume = Valor_Total_Registrado; ticket = volume registrado por oferta deduplicada. PF usa quantidade colocada e depende da cobertura do campo.</a:t>
            </a:r>
          </a:p>
          <a:p xmlns:a="http://schemas.openxmlformats.org/drawingml/2006/main">
            <a:r>
              <a:t>- Limitação: valor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2024/2025 = FY e 2026 = jan–jun.</a:t>
            </a:r>
          </a:p>
          <a:p xmlns:a="http://schemas.openxmlformats.org/drawingml/2006/main">
            <a:r>
              <a:t>- Limitação: faixas e participações usam o valor registrado, que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2026 = jan–jun.</a:t>
            </a:r>
          </a:p>
          <a:p xmlns:a="http://schemas.openxmlformats.org/drawingml/2006/main">
            <a:r>
              <a:t>- Métrica: participação no volume = volume registrado da categoria / volume registrado total do período; inclui Não informado e fecha 100%, salvo arredondamento.</a:t>
            </a:r>
          </a:p>
          <a:p xmlns:a="http://schemas.openxmlformats.org/drawingml/2006/main">
            <a:r>
              <a:t>- Comparação YTD: garantia firme R$ 10,4 bi em jan–jun/25 e R$ 14,3 bi em jan–jun/26; variação 37,3%. Melhores esforços representam 69,2% do volume atual.</a:t>
            </a:r>
          </a:p>
          <a:p xmlns:a="http://schemas.openxmlformats.org/drawingml/2006/main">
            <a:r>
              <a:t>- Limitação: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campo sem vínculo documental suficiente permanece N/D; o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análises granulares de ofertas públicas primárias encerradas, todos os ritos disponíveis, volume registrado; 2026 = jan–jun: https://dados.cvm.gov.br/dataset/oferta-distrib</a:t>
            </a:r>
          </a:p>
          <a:p xmlns:a="http://schemas.openxmlformats.org/drawingml/2006/main">
            <a:r>
              <a:t>- ANBIMA — Coletiva de Mercado de Capitais 1S26, valor encerrado, snapshot jun/26; 2026 = jan–jun: https://www.anbima.com.br/data/files/8E/86/DB/07/325AF91098D078F9692BA2A8/Apresentacao%20_%20coletiva%20Mercado%20de%20Capitais%20_%201S26.pdf</a:t>
            </a:r>
          </a:p>
          <a:p xmlns:a="http://schemas.openxmlformats.org/drawingml/2006/main">
            <a:r>
              <a:t>- FundosNet/B3 — evidência documental de ratings;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bases/prestadores_separados.csv e prestadores_linhagem.csv. Itaú/Intrag/Kinea e Kanastra/Limine conforme curadoria documentada.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Resolução CVM 30 — categorias de investidor profissional e qualificado: https://conteudo.cvm.gov.br/legislacao/resolucoes/resolucao030.html</a:t>
            </a:r>
          </a:p>
          <a:p xmlns:a="http://schemas.openxmlformats.org/drawingml/2006/main">
            <a:r>
              <a:t>- Universo: Cotas de FIDC, ofertas públicas primárias encerradas, todos os ritos disponíveis, valor registrado positivo e data de encerramento no período; 2026 = jan–jun.</a:t>
            </a:r>
          </a:p>
          <a:p xmlns:a="http://schemas.openxmlformats.org/drawingml/2006/main">
            <a:r>
              <a:t>- Limitação: público-alvo mede elegibilidade e não alocação final; não separa pessoa física de pessoa jurídica. Campo ausente em registros legados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bases/saldo_cenarios.csv; bases/emissoes_por_categoria.csv; bases/exclusoes_por_cnpj.csv. PF/PJ via bases/pfpj_24_incluidos.csv. Cenário sem CNPJs 09195235000150 e 26287464000114.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jun/26, Tabelas I, II e VIII; regulamentos integrais; bases/pfpj_26_decisoes.csv e pfpj_24_incluidos.csv. PL dos fundos; exposição efetiva, PF/PJ split e total de devedores=N/D.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90b2f63bc6e455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6bc0431a66d49f5" Type="http://schemas.openxmlformats.org/officeDocument/2006/relationships/theme" Target="theme/theme2.xml"/><Relationship Id="R9f1bbf21154e41d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1bbf21154e41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df0bb664f704c5d" Type="http://schemas.openxmlformats.org/officeDocument/2006/relationships/slideLayout" Target="../slideLayouts/slideLayout1.xml"/><Relationship Id="Rdb67f8532f78432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c9e2386e9824801" Type="http://schemas.openxmlformats.org/officeDocument/2006/relationships/slideLayout" Target="../slideLayouts/slideLayout1.xml"/><Relationship Id="R6726ad688b804f04" Type="http://schemas.openxmlformats.org/officeDocument/2006/relationships/notesSlide" Target="../notesSlides/notesSlide2.xml"/><Relationship Id="R8e05ffa2f28a496a" Type="http://schemas.openxmlformats.org/officeDocument/2006/relationships/chart" Target="charts/chart1.xml"/><Relationship Id="Rb4a1ce7b0ab34796" Type="http://schemas.openxmlformats.org/officeDocument/2006/relationships/chart" Target="charts/chart3.xml"/><Relationship Id="Reaf7579e718346c5" Type="http://schemas.openxmlformats.org/officeDocument/2006/relationships/chart" Target="charts/chart2.xml"/></Relationships>
</file>

<file path=ppt/slides/_rels/slide3.xml.rels><?xml version='1.0' encoding='UTF-8' standalone='yes'?>
<Relationships xmlns="http://schemas.openxmlformats.org/package/2006/relationships"><Relationship Id="R125552a2697f410f" Type="http://schemas.openxmlformats.org/officeDocument/2006/relationships/chart" Target="charts/chart5.xml"/><Relationship Id="R23bf8c3cc211485c" Type="http://schemas.openxmlformats.org/officeDocument/2006/relationships/notesSlide" Target="../notesSlides/notesSlide3.xml"/><Relationship Id="Rb2dfb42261474e69" Type="http://schemas.openxmlformats.org/officeDocument/2006/relationships/chart" Target="charts/chart4.xml"/><Relationship Id="Reb20845900e3469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367e8afa3d5a4ae2" Type="http://schemas.openxmlformats.org/officeDocument/2006/relationships/chart" Target="charts/chart8.xml"/><Relationship Id="R7691e646a98d4f16" Type="http://schemas.openxmlformats.org/officeDocument/2006/relationships/chart" Target="charts/chart6.xml"/><Relationship Id="R84ce3964a7e946d9" Type="http://schemas.openxmlformats.org/officeDocument/2006/relationships/slideLayout" Target="../slideLayouts/slideLayout1.xml"/><Relationship Id="Rbce66e6daa9c4b4b" Type="http://schemas.openxmlformats.org/officeDocument/2006/relationships/chart" Target="charts/chart9.xml"/><Relationship Id="Rce2c18c8dda04eb4" Type="http://schemas.openxmlformats.org/officeDocument/2006/relationships/notesSlide" Target="../notesSlides/notesSlide4.xml"/><Relationship Id="Rd74d590667054410" Type="http://schemas.openxmlformats.org/officeDocument/2006/relationships/chart" Target="charts/chart7.xml"/></Relationships>
</file>

<file path=ppt/slides/_rels/slide5.xml.rels><?xml version='1.0' encoding='UTF-8' standalone='yes'?>
<Relationships xmlns="http://schemas.openxmlformats.org/package/2006/relationships"><Relationship Id="R141cc6b3343d4164" Type="http://schemas.openxmlformats.org/officeDocument/2006/relationships/chart" Target="charts/chart10.xml"/><Relationship Id="R56bcd30ed9a14539" Type="http://schemas.openxmlformats.org/officeDocument/2006/relationships/chart" Target="charts/chart11.xml"/><Relationship Id="R6cdd8b95e84d4f69" Type="http://schemas.openxmlformats.org/officeDocument/2006/relationships/notesSlide" Target="../notesSlides/notesSlide5.xml"/><Relationship Id="R8952cad7daa34da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61728c080324dfc" Type="http://schemas.openxmlformats.org/officeDocument/2006/relationships/chart" Target="charts/chart14.xml"/><Relationship Id="R1cf6e530952e4e08" Type="http://schemas.openxmlformats.org/officeDocument/2006/relationships/slideLayout" Target="../slideLayouts/slideLayout1.xml"/><Relationship Id="R42f5baffc23c4726" Type="http://schemas.openxmlformats.org/officeDocument/2006/relationships/notesSlide" Target="../notesSlides/notesSlide6.xml"/><Relationship Id="Rbd3c074aa1024926" Type="http://schemas.openxmlformats.org/officeDocument/2006/relationships/chart" Target="charts/chart13.xml"/><Relationship Id="Rf99f10e434644dc9" Type="http://schemas.openxmlformats.org/officeDocument/2006/relationships/chart" Target="charts/chart12.xml"/></Relationships>
</file>

<file path=ppt/slides/_rels/slide7.xml.rels><?xml version='1.0' encoding='UTF-8' standalone='yes'?>
<Relationships xmlns="http://schemas.openxmlformats.org/package/2006/relationships"><Relationship Id="R1f2135ec3abb4d82" Type="http://schemas.openxmlformats.org/officeDocument/2006/relationships/notesSlide" Target="../notesSlides/notesSlide7.xml"/><Relationship Id="R385ddb18ac37480c" Type="http://schemas.openxmlformats.org/officeDocument/2006/relationships/chart" Target="charts/chart17.xml"/><Relationship Id="R4d408ff538344a17" Type="http://schemas.openxmlformats.org/officeDocument/2006/relationships/chart" Target="charts/chart16.xml"/><Relationship Id="R4d821142499f4e09" Type="http://schemas.openxmlformats.org/officeDocument/2006/relationships/chart" Target="charts/chart15.xml"/><Relationship Id="Rbc9a91b81160497e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0a303cb5b49f4b81" Type="http://schemas.openxmlformats.org/officeDocument/2006/relationships/slideLayout" Target="../slideLayouts/slideLayout1.xml"/><Relationship Id="R0d935c7144584feb" Type="http://schemas.openxmlformats.org/officeDocument/2006/relationships/notesSlide" Target="../notesSlides/notesSlide8.xml"/><Relationship Id="R513702f4d45d4024" Type="http://schemas.openxmlformats.org/officeDocument/2006/relationships/chart" Target="charts/chart18.xml"/><Relationship Id="R5bd5831a2070486a" Type="http://schemas.openxmlformats.org/officeDocument/2006/relationships/chart" Target="charts/chart19.xml"/><Relationship Id="Rb148ffcdd727412d" Type="http://schemas.openxmlformats.org/officeDocument/2006/relationships/chart" Target="charts/chart20.xml"/></Relationships>
</file>

<file path=ppt/slides/_rels/slide9.xml.rels><?xml version='1.0' encoding='UTF-8' standalone='yes'?>
<Relationships xmlns="http://schemas.openxmlformats.org/package/2006/relationships"><Relationship Id="R4ac3738118c04aab" Type="http://schemas.openxmlformats.org/officeDocument/2006/relationships/notesSlide" Target="../notesSlides/notesSlide9.xml"/><Relationship Id="R5d266afa75504796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1851ce31e8bb4635" Type="http://schemas.openxmlformats.org/officeDocument/2006/relationships/slideLayout" Target="../slideLayouts/slideLayout1.xml"/><Relationship Id="R47dc568d9a494a4b" Type="http://schemas.openxmlformats.org/officeDocument/2006/relationships/chart" Target="charts/chart23.xml"/><Relationship Id="R5ea364adfe864a48" Type="http://schemas.openxmlformats.org/officeDocument/2006/relationships/chart" Target="charts/chart21.xml"/><Relationship Id="Re515533d8e9d4462" Type="http://schemas.openxmlformats.org/officeDocument/2006/relationships/chart" Target="charts/chart22.xml"/><Relationship Id="Rf9bf833061064fad" Type="http://schemas.openxmlformats.org/officeDocument/2006/relationships/notesSlide" Target="../notesSlides/notesSlide24.xml"/></Relationships>
</file>

<file path=ppt/slides/_rels/slide11.xml.rels><?xml version='1.0' encoding='UTF-8' standalone='yes'?>
<Relationships xmlns="http://schemas.openxmlformats.org/package/2006/relationships"><Relationship Id="R1e3a479e2f6f47fb" Type="http://schemas.openxmlformats.org/officeDocument/2006/relationships/notesSlide" Target="../notesSlides/notesSlide25.xml"/><Relationship Id="R2f42889ecacb4ee9" Type="http://schemas.openxmlformats.org/officeDocument/2006/relationships/slideLayout" Target="../slideLayouts/slideLayout1.xml"/><Relationship Id="R32ad26ecb4b64f3d" Type="http://schemas.openxmlformats.org/officeDocument/2006/relationships/chart" Target="charts/chart24.xml"/><Relationship Id="R68c19d9edeb94dbe" Type="http://schemas.openxmlformats.org/officeDocument/2006/relationships/chart" Target="charts/chart25.xml"/><Relationship Id="R6df9462ed0234c8f" Type="http://schemas.openxmlformats.org/officeDocument/2006/relationships/chart" Target="charts/chart27.xml"/><Relationship Id="Ra2d28b7169314cbc" Type="http://schemas.openxmlformats.org/officeDocument/2006/relationships/chart" Target="charts/chart26.xml"/></Relationships>
</file>

<file path=ppt/slides/_rels/slide12.xml.rels><?xml version='1.0' encoding='UTF-8' standalone='yes'?>
<Relationships xmlns="http://schemas.openxmlformats.org/package/2006/relationships"><Relationship Id="R1ba5a9fa91514c8c" Type="http://schemas.openxmlformats.org/officeDocument/2006/relationships/chart" Target="charts/chart28.xml"/><Relationship Id="R2c049788b2234080" Type="http://schemas.openxmlformats.org/officeDocument/2006/relationships/notesSlide" Target="../notesSlides/notesSlide26.xml"/><Relationship Id="R55ffcda0c97b4589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8272e6663eb04b2f" Type="http://schemas.openxmlformats.org/officeDocument/2006/relationships/slideLayout" Target="../slideLayouts/slideLayout1.xml"/><Relationship Id="Rb3beb7da05cd46a0" Type="http://schemas.openxmlformats.org/officeDocument/2006/relationships/notesSlide" Target="../notesSlides/notesSlide27.xml"/></Relationships>
</file>

<file path=ppt/slides/_rels/slide14.xml.rels><?xml version='1.0' encoding='UTF-8' standalone='yes'?>
<Relationships xmlns="http://schemas.openxmlformats.org/package/2006/relationships"><Relationship Id="R5032bf592a294b58" Type="http://schemas.openxmlformats.org/officeDocument/2006/relationships/notesSlide" Target="../notesSlides/notesSlide33.xml"/><Relationship Id="R93f9ccd3874b4edb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282f5c9d9ae4e8f" Type="http://schemas.openxmlformats.org/officeDocument/2006/relationships/chart" Target="charts/chart33.xml"/><Relationship Id="R359847dc6ae8444f" Type="http://schemas.openxmlformats.org/officeDocument/2006/relationships/slideLayout" Target="../slideLayouts/slideLayout1.xml"/><Relationship Id="R429d77c59a464ce4" Type="http://schemas.openxmlformats.org/officeDocument/2006/relationships/notesSlide" Target="../notesSlides/notesSlide34.xml"/><Relationship Id="R682a0a263a4c4737" Type="http://schemas.openxmlformats.org/officeDocument/2006/relationships/chart" Target="charts/chart34.xml"/><Relationship Id="R78e55dde6ae544f0" Type="http://schemas.openxmlformats.org/officeDocument/2006/relationships/chart" Target="charts/chart32.xml"/><Relationship Id="R7db42b57f8594cc6" Type="http://schemas.openxmlformats.org/officeDocument/2006/relationships/chart" Target="charts/chart30.xml"/><Relationship Id="R9899daedec094952" Type="http://schemas.openxmlformats.org/officeDocument/2006/relationships/chart" Target="charts/chart35.xml"/><Relationship Id="Rc6e40ae014914456" Type="http://schemas.openxmlformats.org/officeDocument/2006/relationships/chart" Target="charts/chart29.xml"/><Relationship Id="Rc9ec27b434e4466d" Type="http://schemas.openxmlformats.org/officeDocument/2006/relationships/chart" Target="charts/chart31.xml"/></Relationships>
</file>

<file path=ppt/slides/_rels/slide16.xml.rels><?xml version='1.0' encoding='UTF-8' standalone='yes'?>
<Relationships xmlns="http://schemas.openxmlformats.org/package/2006/relationships"><Relationship Id="R2e4cf52fc61c4165" Type="http://schemas.openxmlformats.org/officeDocument/2006/relationships/chart" Target="charts/chart37.xml"/><Relationship Id="R6a34860871f84d54" Type="http://schemas.openxmlformats.org/officeDocument/2006/relationships/slideLayout" Target="../slideLayouts/slideLayout1.xml"/><Relationship Id="R6dd9139e76324dbd" Type="http://schemas.openxmlformats.org/officeDocument/2006/relationships/notesSlide" Target="../notesSlides/notesSlide35.xml"/><Relationship Id="R9255789b2997457b" Type="http://schemas.openxmlformats.org/officeDocument/2006/relationships/chart" Target="charts/chart36.xml"/></Relationships>
</file>

<file path=ppt/slides/_rels/slide17.xml.rels><?xml version='1.0' encoding='UTF-8' standalone='yes'?>
<Relationships xmlns="http://schemas.openxmlformats.org/package/2006/relationships"><Relationship Id="R457ba065d2914a17" Type="http://schemas.openxmlformats.org/officeDocument/2006/relationships/slideLayout" Target="../slideLayouts/slideLayout1.xml"/><Relationship Id="R4e947ac722794e73" Type="http://schemas.openxmlformats.org/officeDocument/2006/relationships/chart" Target="charts/chart38.xml"/><Relationship Id="Rd21c49586367439a" Type="http://schemas.openxmlformats.org/officeDocument/2006/relationships/notesSlide" Target="../notesSlides/notesSlide36.xml"/><Relationship Id="Re2291ff614ee48e9" Type="http://schemas.openxmlformats.org/officeDocument/2006/relationships/chart" Target="charts/chart40.xml"/><Relationship Id="Re9637778228140af" Type="http://schemas.openxmlformats.org/officeDocument/2006/relationships/chart" Target="charts/chart39.xml"/></Relationships>
</file>

<file path=ppt/slides/_rels/slide18.xml.rels><?xml version='1.0' encoding='UTF-8' standalone='yes'?>
<Relationships xmlns="http://schemas.openxmlformats.org/package/2006/relationships"><Relationship Id="R16d8ebb894614522" Type="http://schemas.openxmlformats.org/officeDocument/2006/relationships/chart" Target="charts/chart41.xml"/><Relationship Id="R1f871992605f4a85" Type="http://schemas.openxmlformats.org/officeDocument/2006/relationships/chart" Target="charts/chart43.xml"/><Relationship Id="R359cac5e12894fde" Type="http://schemas.openxmlformats.org/officeDocument/2006/relationships/chart" Target="charts/chart42.xml"/><Relationship Id="R80c3f4061f9d4ce0" Type="http://schemas.openxmlformats.org/officeDocument/2006/relationships/slideLayout" Target="../slideLayouts/slideLayout1.xml"/><Relationship Id="R80eeff8472c24a50" Type="http://schemas.openxmlformats.org/officeDocument/2006/relationships/chart" Target="charts/chart45.xml"/><Relationship Id="R9dc921d499a94556" Type="http://schemas.openxmlformats.org/officeDocument/2006/relationships/notesSlide" Target="../notesSlides/notesSlide37.xml"/><Relationship Id="Rbddd2a9620294ae4" Type="http://schemas.openxmlformats.org/officeDocument/2006/relationships/chart" Target="charts/chart44.xml"/></Relationships>
</file>

<file path=ppt/slides/_rels/slide19.xml.rels><?xml version='1.0' encoding='UTF-8' standalone='yes'?>
<Relationships xmlns="http://schemas.openxmlformats.org/package/2006/relationships"><Relationship Id="R016734bafeb140d8" Type="http://schemas.openxmlformats.org/officeDocument/2006/relationships/chart" Target="charts/chart49.xml"/><Relationship Id="R28f3b9c193614a3d" Type="http://schemas.openxmlformats.org/officeDocument/2006/relationships/chart" Target="charts/chart46.xml"/><Relationship Id="Ra0caf39ab2314356" Type="http://schemas.openxmlformats.org/officeDocument/2006/relationships/chart" Target="charts/chart47.xml"/><Relationship Id="Ra3cd8dd3d5bd4b43" Type="http://schemas.openxmlformats.org/officeDocument/2006/relationships/notesSlide" Target="../notesSlides/notesSlide38.xml"/><Relationship Id="Rb946c5501cf245cb" Type="http://schemas.openxmlformats.org/officeDocument/2006/relationships/slideLayout" Target="../slideLayouts/slideLayout1.xml"/><Relationship Id="Rf9e4fa7ba5c346b3" Type="http://schemas.openxmlformats.org/officeDocument/2006/relationships/chart" Target="charts/chart48.xml"/></Relationships>
</file>

<file path=ppt/slides/_rels/slide20.xml.rels><?xml version='1.0' encoding='UTF-8' standalone='yes'?>
<Relationships xmlns="http://schemas.openxmlformats.org/package/2006/relationships"><Relationship Id="R067d6d81081d4aac" Type="http://schemas.openxmlformats.org/officeDocument/2006/relationships/chart" Target="charts/chart51.xml"/><Relationship Id="R1a90c6d090184257" Type="http://schemas.openxmlformats.org/officeDocument/2006/relationships/notesSlide" Target="../notesSlides/notesSlide39.xml"/><Relationship Id="R408d9220304f4e67" Type="http://schemas.openxmlformats.org/officeDocument/2006/relationships/slideLayout" Target="../slideLayouts/slideLayout1.xml"/><Relationship Id="Rfd28a5bbf4e84161" Type="http://schemas.openxmlformats.org/officeDocument/2006/relationships/chart" Target="charts/chart5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FIDCs ex-FIC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jun/26</c:v>
              </c:pt>
            </c:strLit>
          </c:cat>
          <c:val>
            <c:numLit>
              <c:formatCode>0.0</c:formatCode>
              <c:ptCount val="12"/>
              <c:pt idx="0">
                <c:v>82.47394622656002</c:v>
              </c:pt>
              <c:pt idx="1">
                <c:v>91.06663976073</c:v>
              </c:pt>
              <c:pt idx="2">
                <c:v>110.17917421320999</c:v>
              </c:pt>
              <c:pt idx="3">
                <c:v>131.15934835309002</c:v>
              </c:pt>
              <c:pt idx="4">
                <c:v>227.71359379045998</c:v>
              </c:pt>
              <c:pt idx="5">
                <c:v>207.20204249441997</c:v>
              </c:pt>
              <c:pt idx="6">
                <c:v>296.00245013669</c:v>
              </c:pt>
              <c:pt idx="7">
                <c:v>361.4746705835</c:v>
              </c:pt>
              <c:pt idx="8">
                <c:v>452.33503972062</c:v>
              </c:pt>
              <c:pt idx="9">
                <c:v>651.4527427988997</c:v>
              </c:pt>
              <c:pt idx="10">
                <c:v>772.1084321980501</c:v>
              </c:pt>
              <c:pt idx="11">
                <c:v>821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[&gt;=1000]#\.##0;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Empréstimos</c:v>
          </c:tx>
          <c:spPr>
            <a:solidFill xmlns:a="http://schemas.openxmlformats.org/drawingml/2006/main">
              <a:srgbClr val="30353A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3362.376</c:v>
              </c:pt>
              <c:pt idx="1">
                <c:v>3266.892</c:v>
              </c:pt>
              <c:pt idx="2">
                <c:v>3270.332</c:v>
              </c:pt>
              <c:pt idx="3">
                <c:v>3455.08</c:v>
              </c:pt>
              <c:pt idx="4">
                <c:v>3677.557</c:v>
              </c:pt>
              <c:pt idx="5">
                <c:v>4239.899</c:v>
              </c:pt>
              <c:pt idx="6">
                <c:v>4906.92</c:v>
              </c:pt>
              <c:pt idx="7">
                <c:v>5628.48</c:v>
              </c:pt>
              <c:pt idx="8">
                <c:v>6088.547</c:v>
              </c:pt>
              <c:pt idx="9">
                <c:v>6758.822</c:v>
              </c:pt>
              <c:pt idx="10">
                <c:v>7454.674</c:v>
              </c:pt>
              <c:pt idx="11">
                <c:v>7666.364</c:v>
              </c:pt>
            </c:numLit>
          </c:val>
        </c:ser>
        <c:ser>
          <c:idx val="1"/>
          <c:order val="1"/>
          <c:tx>
            <c:v>Títulos privados</c:v>
          </c:tx>
          <c:spPr>
            <a:solidFill xmlns:a="http://schemas.openxmlformats.org/drawingml/2006/main">
              <a:srgbClr val="8D9399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245.674</c:v>
              </c:pt>
              <c:pt idx="1">
                <c:v>242.427</c:v>
              </c:pt>
              <c:pt idx="2">
                <c:v>304.747</c:v>
              </c:pt>
              <c:pt idx="3">
                <c:v>354.539</c:v>
              </c:pt>
              <c:pt idx="4">
                <c:v>480.213</c:v>
              </c:pt>
              <c:pt idx="5">
                <c:v>499.564</c:v>
              </c:pt>
              <c:pt idx="6">
                <c:v>635.901</c:v>
              </c:pt>
              <c:pt idx="7">
                <c:v>849.483</c:v>
              </c:pt>
              <c:pt idx="8">
                <c:v>976.105</c:v>
              </c:pt>
              <c:pt idx="9">
                <c:v>1214.121</c:v>
              </c:pt>
              <c:pt idx="10">
                <c:v>1413.637</c:v>
              </c:pt>
              <c:pt idx="11">
                <c:v>1506.688</c:v>
              </c:pt>
            </c:numLit>
          </c:val>
        </c:ser>
        <c:ser>
          <c:idx val="2"/>
          <c:order val="2"/>
          <c:tx>
            <c:v>FIDCs · carteira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70.69879439891001</c:v>
              </c:pt>
              <c:pt idx="1">
                <c:v>81.9073701812</c:v>
              </c:pt>
              <c:pt idx="2">
                <c:v>95.50993683035</c:v>
              </c:pt>
              <c:pt idx="3">
                <c:v>106.12068752539999</c:v>
              </c:pt>
              <c:pt idx="4">
                <c:v>182.14515826151</c:v>
              </c:pt>
              <c:pt idx="5">
                <c:v>159.9315713704</c:v>
              </c:pt>
              <c:pt idx="6">
                <c:v>250.01323870676</c:v>
              </c:pt>
              <c:pt idx="7">
                <c:v>304.88387968723</c:v>
              </c:pt>
              <c:pt idx="8">
                <c:v>387.79349892013</c:v>
              </c:pt>
              <c:pt idx="9">
                <c:v>549.88571619299</c:v>
              </c:pt>
              <c:pt idx="10">
                <c:v>641.3242789240101</c:v>
              </c:pt>
              <c:pt idx="11">
                <c:v>676.899410153</c:v>
              </c:pt>
            </c:numLit>
          </c:val>
        </c:ser>
        <c:ser>
          <c:idx val="3"/>
          <c:order val="3"/>
          <c:tx>
            <c:v>Outras securitizações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72.80420560108999</c:v>
              </c:pt>
              <c:pt idx="1">
                <c:v>91.8096298188</c:v>
              </c:pt>
              <c:pt idx="2">
                <c:v>113.15306316965</c:v>
              </c:pt>
              <c:pt idx="3">
                <c:v>121.5283124746</c:v>
              </c:pt>
              <c:pt idx="4">
                <c:v>128.42384173849</c:v>
              </c:pt>
              <c:pt idx="5">
                <c:v>127.91442862960001</c:v>
              </c:pt>
              <c:pt idx="6">
                <c:v>183.95476129323998</c:v>
              </c:pt>
              <c:pt idx="7">
                <c:v>261.47012031277</c:v>
              </c:pt>
              <c:pt idx="8">
                <c:v>334.01450107987</c:v>
              </c:pt>
              <c:pt idx="9">
                <c:v>444.74928380701</c:v>
              </c:pt>
              <c:pt idx="10">
                <c:v>452.05372107599</c:v>
              </c:pt>
              <c:pt idx="11">
                <c:v>496.839589847</c:v>
              </c:pt>
            </c:numLit>
          </c:val>
        </c:ser>
        <c:ser>
          <c:idx val="4"/>
          <c:order val="4"/>
          <c:tx>
            <c:v>Dívida externa</c:v>
          </c:tx>
          <c:spPr>
            <a:solidFill xmlns:a="http://schemas.openxmlformats.org/drawingml/2006/main">
              <a:srgbClr val="E7E9EB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1996.897</c:v>
              </c:pt>
              <c:pt idx="1">
                <c:v>1735.5</c:v>
              </c:pt>
              <c:pt idx="2">
                <c:v>1743.734</c:v>
              </c:pt>
              <c:pt idx="3">
                <c:v>1982.893</c:v>
              </c:pt>
              <c:pt idx="4">
                <c:v>2075.703</c:v>
              </c:pt>
              <c:pt idx="5">
                <c:v>2566.911</c:v>
              </c:pt>
              <c:pt idx="6">
                <c:v>2820.561</c:v>
              </c:pt>
              <c:pt idx="7">
                <c:v>2714.754</c:v>
              </c:pt>
              <c:pt idx="8">
                <c:v>2713.732</c:v>
              </c:pt>
              <c:pt idx="9">
                <c:v>3408.391</c:v>
              </c:pt>
              <c:pt idx="10">
                <c:v>3405.938</c:v>
              </c:pt>
              <c:pt idx="11">
                <c:v>3432.857</c:v>
              </c:pt>
            </c:numLit>
          </c:val>
        </c:ser>
        <c:gapWidth val="10"/>
        <c:overlap val="100"/>
        <c:axId val="48650112"/>
        <c:axId val="48672768"/>
      </c:barChart>
      <c:lineChart>
        <c:grouping val="standard"/>
        <c:varyColors val="0"/>
        <c:ser>
          <c:idx val="5"/>
          <c:order val="5"/>
          <c:tx>
            <c:v>Total</c:v>
          </c:tx>
          <c:spPr>
            <a:ln xmlns:a="http://schemas.openxmlformats.org/drawingml/2006/main">
              <a:noFill/>
            </a:ln>
          </c:spPr>
          <c:marker>
            <c:symbol val="none"/>
            <c:size val="2"/>
          </c:marker>
          <c:dLbls>
            <c:numFmt formatCode="[&gt;=1000]#\.##0;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0</c:formatCode>
              <c:ptCount val="12"/>
              <c:pt idx="0">
                <c:v>5748.45</c:v>
              </c:pt>
              <c:pt idx="1">
                <c:v>5418.536</c:v>
              </c:pt>
              <c:pt idx="2">
                <c:v>5527.476</c:v>
              </c:pt>
              <c:pt idx="3">
                <c:v>6020.161</c:v>
              </c:pt>
              <c:pt idx="4">
                <c:v>6544.042</c:v>
              </c:pt>
              <c:pt idx="5">
                <c:v>7594.22</c:v>
              </c:pt>
              <c:pt idx="6">
                <c:v>8797.35</c:v>
              </c:pt>
              <c:pt idx="7">
                <c:v>9759.071</c:v>
              </c:pt>
              <c:pt idx="8">
                <c:v>10500.192</c:v>
              </c:pt>
              <c:pt idx="9">
                <c:v>12375.969</c:v>
              </c:pt>
              <c:pt idx="10">
                <c:v>13367.627</c:v>
              </c:pt>
              <c:pt idx="11">
                <c:v>13779.648</c:v>
              </c:pt>
            </c:numLit>
          </c:val>
          <c:smooth val="0"/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Algn val="ctr"/>
        <c:noMultiLvlLbl val="0"/>
        <c:lblOffset val="100"/>
      </c:catAx>
      <c:valAx>
        <c:axId val="48672768"/>
        <c:scaling>
          <c:orientation val="minMax"/>
          <c:max val="14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[&gt;=1000]#\.##0;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500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Empréstimos</c:v>
          </c:tx>
          <c:spPr>
            <a:ln xmlns:a="http://schemas.openxmlformats.org/drawingml/2006/main"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Tít. privados</c:v>
          </c:tx>
          <c:spPr>
            <a:ln xmlns:a="http://schemas.openxmlformats.org/drawingml/2006/main"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FIDCs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Outras securit.</c:v>
          </c:tx>
          <c:spPr>
            <a:ln xmlns:a="http://schemas.openxmlformats.org/drawingml/2006/main" w="28575">
              <a:solidFill>
                <a:srgbClr val="D7DAD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Dív. externa</c:v>
          </c:tx>
          <c:spPr>
            <a:ln xmlns:a="http://schemas.openxmlformats.org/drawingml/2006/main" w="28575">
              <a:solidFill>
                <a:srgbClr val="E7E9EB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FIDCs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jan–jun</c:v>
              </c:pt>
            </c:strLit>
          </c:cat>
          <c:val>
            <c:numLit>
              <c:formatCode>0</c:formatCode>
              <c:ptCount val="4"/>
              <c:pt idx="0">
                <c:v>43.74614019622497</c:v>
              </c:pt>
              <c:pt idx="1">
                <c:v>95.41672613375</c:v>
              </c:pt>
              <c:pt idx="2">
                <c:v>116.92131905477001</c:v>
              </c:pt>
              <c:pt idx="3">
                <c:v>65.48811898356</c:v>
              </c:pt>
            </c:numLit>
          </c:val>
        </c:ser>
        <c:ser>
          <c:idx val="1"/>
          <c:order val="1"/>
          <c:tx>
            <c:v>Demais elegíveis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jan–jun</c:v>
              </c:pt>
            </c:strLit>
          </c:cat>
          <c:val>
            <c:numLit>
              <c:formatCode>0</c:formatCode>
              <c:ptCount val="4"/>
              <c:pt idx="0">
                <c:v>353.4478795703001</c:v>
              </c:pt>
              <c:pt idx="1">
                <c:v>628.73334224723</c:v>
              </c:pt>
              <c:pt idx="2">
                <c:v>656.0946706342701</c:v>
              </c:pt>
              <c:pt idx="3">
                <c:v>246.82887238694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Debêntures</c:v>
          </c:tx>
          <c:spPr>
            <a:solidFill xmlns:a="http://schemas.openxmlformats.org/drawingml/2006/main">
              <a:srgbClr val="151515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236.61663924185</c:v>
              </c:pt>
              <c:pt idx="1">
                <c:v>474.3602899026376</c:v>
              </c:pt>
              <c:pt idx="2">
                <c:v>493.39007310800173</c:v>
              </c:pt>
              <c:pt idx="3">
                <c:v>169.8</c:v>
              </c:pt>
            </c:numLit>
          </c:val>
        </c:ser>
        <c:ser>
          <c:idx val="1"/>
          <c:order val="1"/>
          <c:tx>
            <c:v>FIDCs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43.74614019622497</c:v>
              </c:pt>
              <c:pt idx="1">
                <c:v>82.86326248207118</c:v>
              </c:pt>
              <c:pt idx="2">
                <c:v>90.98510609270312</c:v>
              </c:pt>
              <c:pt idx="3">
                <c:v>53.1</c:v>
              </c:pt>
            </c:numLit>
          </c:val>
        </c:ser>
        <c:ser>
          <c:idx val="2"/>
          <c:order val="2"/>
          <c:tx>
            <c:v>CRI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47.70970732449912</c:v>
              </c:pt>
              <c:pt idx="1">
                <c:v>61.35438150259683</c:v>
              </c:pt>
              <c:pt idx="2">
                <c:v>49.37089080745136</c:v>
              </c:pt>
              <c:pt idx="3">
                <c:v>20.3</c:v>
              </c:pt>
            </c:numLit>
          </c:val>
        </c:ser>
        <c:ser>
          <c:idx val="3"/>
          <c:order val="3"/>
          <c:tx>
            <c:v>Notas comerciais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27.907646005</c:v>
              </c:pt>
              <c:pt idx="1">
                <c:v>43.5623695</c:v>
              </c:pt>
              <c:pt idx="2">
                <c:v>51.792395853</c:v>
              </c:pt>
              <c:pt idx="3">
                <c:v>27.1</c:v>
              </c:pt>
            </c:numLit>
          </c:val>
        </c:ser>
        <c:ser>
          <c:idx val="4"/>
          <c:order val="4"/>
          <c:tx>
            <c:v>CRA</c:v>
          </c:tx>
          <c:spPr>
            <a:solidFill xmlns:a="http://schemas.openxmlformats.org/drawingml/2006/main">
              <a:srgbClr val="D7DADD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43.29453785729</c:v>
              </c:pt>
              <c:pt idx="1">
                <c:v>41.564214397</c:v>
              </c:pt>
              <c:pt idx="2">
                <c:v>46.16839518391086</c:v>
              </c:pt>
              <c:pt idx="3">
                <c:v>7.1</c:v>
              </c:pt>
            </c:numLit>
          </c:val>
        </c:ser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126.14605664653</c:v>
              </c:pt>
              <c:pt idx="1">
                <c:v>176.82850856551002</c:v>
              </c:pt>
              <c:pt idx="2">
                <c:v>231.72616772613995</c:v>
              </c:pt>
              <c:pt idx="3">
                <c:v>275.29447198864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3.0397972983000003</c:v>
              </c:pt>
              <c:pt idx="1">
                <c:v>3.80886973898</c:v>
              </c:pt>
              <c:pt idx="2">
                <c:v>5.862133668999999</c:v>
              </c:pt>
              <c:pt idx="3">
                <c:v>7.10264044208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0.324302935889369</c:v>
              </c:pt>
              <c:pt idx="1">
                <c:v>0.3354160321943587</c:v>
              </c:pt>
              <c:pt idx="2">
                <c:v>0.3438527403212231</c:v>
              </c:pt>
              <c:pt idx="3">
                <c:v>0.3830927270296855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0.0078148712258963</c:v>
              </c:pt>
              <c:pt idx="1">
                <c:v>0.0072248303475371</c:v>
              </c:pt>
              <c:pt idx="2">
                <c:v>0.0086986754495382</c:v>
              </c:pt>
              <c:pt idx="3">
                <c:v>0.0098838522851996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4.272733645318789</c:v>
              </c:pt>
              <c:pt idx="1">
                <c:v>9.46084314594</c:v>
              </c:pt>
              <c:pt idx="2">
                <c:v>8.85980114902</c:v>
              </c:pt>
              <c:pt idx="3">
                <c:v>3.9604598731999996</c:v>
              </c:pt>
              <c:pt idx="4">
                <c:v>5.60231892482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4.81492197807918</c:v>
              </c:pt>
              <c:pt idx="1">
                <c:v>17.46136403561</c:v>
              </c:pt>
              <c:pt idx="2">
                <c:v>27.4106918537</c:v>
              </c:pt>
              <c:pt idx="3">
                <c:v>18.84859596717</c:v>
              </c:pt>
              <c:pt idx="4">
                <c:v>10.74513727233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15.42043709582751</c:v>
              </c:pt>
              <c:pt idx="1">
                <c:v>42.451896497339995</c:v>
              </c:pt>
              <c:pt idx="2">
                <c:v>51.61086148217</c:v>
              </c:pt>
              <c:pt idx="3">
                <c:v>21.28068209032</c:v>
              </c:pt>
              <c:pt idx="4">
                <c:v>37.7899990259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1.3295867388102478</c:v>
              </c:pt>
              <c:pt idx="1">
                <c:v>1.79225</c:v>
              </c:pt>
              <c:pt idx="2">
                <c:v>0.261</c:v>
              </c:pt>
              <c:pt idx="3">
                <c:v>0.13</c:v>
              </c:pt>
              <c:pt idx="4">
                <c:v>2.60300000007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3.339822969232049</c:v>
              </c:pt>
              <c:pt idx="1">
                <c:v>5.5087763108</c:v>
              </c:pt>
              <c:pt idx="2">
                <c:v>7.018108725239999</c:v>
              </c:pt>
              <c:pt idx="3">
                <c:v>3.2252896508299997</c:v>
              </c:pt>
              <c:pt idx="4">
                <c:v>2.07487987222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2.287448611391622</c:v>
              </c:pt>
              <c:pt idx="1">
                <c:v>1.90953225977</c:v>
              </c:pt>
              <c:pt idx="2">
                <c:v>3.5888690035</c:v>
              </c:pt>
              <c:pt idx="3">
                <c:v>1.15603067773</c:v>
              </c:pt>
              <c:pt idx="4">
                <c:v>1.21970179492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0.8743020042766778</c:v>
              </c:pt>
              <c:pt idx="1">
                <c:v>1.7879510000799999</c:v>
              </c:pt>
              <c:pt idx="2">
                <c:v>2.45979375898</c:v>
              </c:pt>
              <c:pt idx="3">
                <c:v>0.6778</c:v>
              </c:pt>
              <c:pt idx="4">
                <c:v>0.29309674031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8.542325907839587</c:v>
              </c:pt>
              <c:pt idx="1">
                <c:v>8.013988884309999</c:v>
              </c:pt>
              <c:pt idx="2">
                <c:v>5.23622188904</c:v>
              </c:pt>
              <c:pt idx="3">
                <c:v>3.15074370915</c:v>
              </c:pt>
              <c:pt idx="4">
                <c:v>2.3466058039299997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0.1045148880003745</c:v>
              </c:pt>
              <c:pt idx="1">
                <c:v>0.1070393353464678</c:v>
              </c:pt>
              <c:pt idx="2">
                <c:v>0.0832333336026609</c:v>
              </c:pt>
              <c:pt idx="3">
                <c:v>0.0755386217806311</c:v>
              </c:pt>
              <c:pt idx="4">
                <c:v>0.0893871913209126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0.1177772997436496</c:v>
              </c:pt>
              <c:pt idx="1">
                <c:v>0.1975566840907294</c:v>
              </c:pt>
              <c:pt idx="2">
                <c:v>0.2575095333365479</c:v>
              </c:pt>
              <c:pt idx="3">
                <c:v>0.359502938407396</c:v>
              </c:pt>
              <c:pt idx="4">
                <c:v>0.1714428710718376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0.3771976888269119</c:v>
              </c:pt>
              <c:pt idx="1">
                <c:v>0.480297867238432</c:v>
              </c:pt>
              <c:pt idx="2">
                <c:v>0.4848578403750447</c:v>
              </c:pt>
              <c:pt idx="3">
                <c:v>0.4058905902651357</c:v>
              </c:pt>
              <c:pt idx="4">
                <c:v>0.6029542263257991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0.0325228812813508</c:v>
              </c:pt>
              <c:pt idx="1">
                <c:v>0.0202773945001966</c:v>
              </c:pt>
              <c:pt idx="2">
                <c:v>0.0024519624881984</c:v>
              </c:pt>
              <c:pt idx="3">
                <c:v>0.0024795152951638</c:v>
              </c:pt>
              <c:pt idx="4">
                <c:v>0.0415318838746882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0.0816950581398393</c:v>
              </c:pt>
              <c:pt idx="1">
                <c:v>0.062325920193851</c:v>
              </c:pt>
              <c:pt idx="2">
                <c:v>0.0659315683233205</c:v>
              </c:pt>
              <c:pt idx="3">
                <c:v>0.0615165770812817</c:v>
              </c:pt>
              <c:pt idx="4">
                <c:v>0.0331055205165776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0.0559530397332714</c:v>
              </c:pt>
              <c:pt idx="1">
                <c:v>0.0216043180037429</c:v>
              </c:pt>
              <c:pt idx="2">
                <c:v>0.033715602190192</c:v>
              </c:pt>
              <c:pt idx="3">
                <c:v>0.0220491980546935</c:v>
              </c:pt>
              <c:pt idx="4">
                <c:v>0.0194608195570511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0.0213862093078498</c:v>
              </c:pt>
              <c:pt idx="1">
                <c:v>0.0202287559077379</c:v>
              </c:pt>
              <c:pt idx="2">
                <c:v>0.0231085135085195</c:v>
              </c:pt>
              <c:pt idx="3">
                <c:v>0.0129278112850927</c:v>
              </c:pt>
              <c:pt idx="4">
                <c:v>0.0046764732163954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0.2089529349667525</c:v>
              </c:pt>
              <c:pt idx="1">
                <c:v>0.090669724718842</c:v>
              </c:pt>
              <c:pt idx="2">
                <c:v>0.0491916461755159</c:v>
              </c:pt>
              <c:pt idx="3">
                <c:v>0.0600947478306052</c:v>
              </c:pt>
              <c:pt idx="4">
                <c:v>0.0374410141167381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4.272733645318789</c:v>
              </c:pt>
              <c:pt idx="1">
                <c:v>9.46084314594</c:v>
              </c:pt>
              <c:pt idx="2">
                <c:v>8.85980114902</c:v>
              </c:pt>
              <c:pt idx="3">
                <c:v>3.9604598731999996</c:v>
              </c:pt>
              <c:pt idx="4">
                <c:v>5.60231892482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4.81492197807918</c:v>
              </c:pt>
              <c:pt idx="1">
                <c:v>17.46136403561</c:v>
              </c:pt>
              <c:pt idx="2">
                <c:v>27.4106918537</c:v>
              </c:pt>
              <c:pt idx="3">
                <c:v>18.84859596717</c:v>
              </c:pt>
              <c:pt idx="4">
                <c:v>10.74513727233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15.42043709582751</c:v>
              </c:pt>
              <c:pt idx="1">
                <c:v>42.451896497339995</c:v>
              </c:pt>
              <c:pt idx="2">
                <c:v>51.61086148217</c:v>
              </c:pt>
              <c:pt idx="3">
                <c:v>21.28068209032</c:v>
              </c:pt>
              <c:pt idx="4">
                <c:v>37.7899990259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1.3295867388102478</c:v>
              </c:pt>
              <c:pt idx="1">
                <c:v>1.79225</c:v>
              </c:pt>
              <c:pt idx="2">
                <c:v>0.261</c:v>
              </c:pt>
              <c:pt idx="3">
                <c:v>0.13</c:v>
              </c:pt>
              <c:pt idx="4">
                <c:v>2.60300000007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3.339822969232049</c:v>
              </c:pt>
              <c:pt idx="1">
                <c:v>5.5087763108</c:v>
              </c:pt>
              <c:pt idx="2">
                <c:v>7.018108725239999</c:v>
              </c:pt>
              <c:pt idx="3">
                <c:v>3.2252896508299997</c:v>
              </c:pt>
              <c:pt idx="4">
                <c:v>2.07487987222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2.287448611391622</c:v>
              </c:pt>
              <c:pt idx="1">
                <c:v>1.90953225977</c:v>
              </c:pt>
              <c:pt idx="2">
                <c:v>3.5888690035</c:v>
              </c:pt>
              <c:pt idx="3">
                <c:v>1.15603067773</c:v>
              </c:pt>
              <c:pt idx="4">
                <c:v>1.21970179492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0.8743020042766778</c:v>
              </c:pt>
              <c:pt idx="1">
                <c:v>1.7879510000799999</c:v>
              </c:pt>
              <c:pt idx="2">
                <c:v>2.45979375898</c:v>
              </c:pt>
              <c:pt idx="3">
                <c:v>0.6778</c:v>
              </c:pt>
              <c:pt idx="4">
                <c:v>0.29309674031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8.542325907839587</c:v>
              </c:pt>
              <c:pt idx="1">
                <c:v>8.013988884309999</c:v>
              </c:pt>
              <c:pt idx="2">
                <c:v>5.23622188904</c:v>
              </c:pt>
              <c:pt idx="3">
                <c:v>3.15074370915</c:v>
              </c:pt>
              <c:pt idx="4">
                <c:v>2.3466058039299997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0.1045148880003745</c:v>
              </c:pt>
              <c:pt idx="1">
                <c:v>0.1070393353464678</c:v>
              </c:pt>
              <c:pt idx="2">
                <c:v>0.0832333336026609</c:v>
              </c:pt>
              <c:pt idx="3">
                <c:v>0.0755386217806311</c:v>
              </c:pt>
              <c:pt idx="4">
                <c:v>0.0893871913209126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0.1177772997436496</c:v>
              </c:pt>
              <c:pt idx="1">
                <c:v>0.1975566840907294</c:v>
              </c:pt>
              <c:pt idx="2">
                <c:v>0.2575095333365479</c:v>
              </c:pt>
              <c:pt idx="3">
                <c:v>0.359502938407396</c:v>
              </c:pt>
              <c:pt idx="4">
                <c:v>0.1714428710718376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0.3771976888269119</c:v>
              </c:pt>
              <c:pt idx="1">
                <c:v>0.480297867238432</c:v>
              </c:pt>
              <c:pt idx="2">
                <c:v>0.4848578403750447</c:v>
              </c:pt>
              <c:pt idx="3">
                <c:v>0.4058905902651357</c:v>
              </c:pt>
              <c:pt idx="4">
                <c:v>0.6029542263257991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0.0325228812813508</c:v>
              </c:pt>
              <c:pt idx="1">
                <c:v>0.0202773945001966</c:v>
              </c:pt>
              <c:pt idx="2">
                <c:v>0.0024519624881984</c:v>
              </c:pt>
              <c:pt idx="3">
                <c:v>0.0024795152951638</c:v>
              </c:pt>
              <c:pt idx="4">
                <c:v>0.0415318838746882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0.0816950581398393</c:v>
              </c:pt>
              <c:pt idx="1">
                <c:v>0.062325920193851</c:v>
              </c:pt>
              <c:pt idx="2">
                <c:v>0.0659315683233205</c:v>
              </c:pt>
              <c:pt idx="3">
                <c:v>0.0615165770812817</c:v>
              </c:pt>
              <c:pt idx="4">
                <c:v>0.0331055205165776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0.0559530397332714</c:v>
              </c:pt>
              <c:pt idx="1">
                <c:v>0.0216043180037429</c:v>
              </c:pt>
              <c:pt idx="2">
                <c:v>0.033715602190192</c:v>
              </c:pt>
              <c:pt idx="3">
                <c:v>0.0220491980546935</c:v>
              </c:pt>
              <c:pt idx="4">
                <c:v>0.0194608195570511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0.0213862093078498</c:v>
              </c:pt>
              <c:pt idx="1">
                <c:v>0.0202287559077379</c:v>
              </c:pt>
              <c:pt idx="2">
                <c:v>0.0231085135085195</c:v>
              </c:pt>
              <c:pt idx="3">
                <c:v>0.0129278112850927</c:v>
              </c:pt>
              <c:pt idx="4">
                <c:v>0.0046764732163954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0.2089529349667525</c:v>
              </c:pt>
              <c:pt idx="1">
                <c:v>0.090669724718842</c:v>
              </c:pt>
              <c:pt idx="2">
                <c:v>0.0491916461755159</c:v>
              </c:pt>
              <c:pt idx="3">
                <c:v>0.0600947478306052</c:v>
              </c:pt>
              <c:pt idx="4">
                <c:v>0.0374410141167381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126.14605664653</c:v>
              </c:pt>
              <c:pt idx="1">
                <c:v>176.82850856551002</c:v>
              </c:pt>
              <c:pt idx="2">
                <c:v>231.72616772613995</c:v>
              </c:pt>
              <c:pt idx="3">
                <c:v>275.29447198864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3.0397972983000003</c:v>
              </c:pt>
              <c:pt idx="1">
                <c:v>3.80886973898</c:v>
              </c:pt>
              <c:pt idx="2">
                <c:v>5.862133668999999</c:v>
              </c:pt>
              <c:pt idx="3">
                <c:v>7.10264044208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0.324302935889369</c:v>
              </c:pt>
              <c:pt idx="1">
                <c:v>0.3354160321943587</c:v>
              </c:pt>
              <c:pt idx="2">
                <c:v>0.3438527403212231</c:v>
              </c:pt>
              <c:pt idx="3">
                <c:v>0.3830927270296855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0.0078148712258963</c:v>
              </c:pt>
              <c:pt idx="1">
                <c:v>0.0072248303475371</c:v>
              </c:pt>
              <c:pt idx="2">
                <c:v>0.0086986754495382</c:v>
              </c:pt>
              <c:pt idx="3">
                <c:v>0.0098838522851996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 w="28575">
              <a:solidFill>
                <a:srgbClr val="104B08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 w="28575">
              <a:solidFill>
                <a:srgbClr val="F078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 w="28575">
              <a:solidFill>
                <a:srgbClr val="4472C4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 w="28575">
              <a:solidFill>
                <a:srgbClr val="151515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 w="28575">
              <a:solidFill>
                <a:srgbClr val="D7DADF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 w="28575">
              <a:solidFill>
                <a:srgbClr val="EEF0F2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</c:formatCode>
              <c:ptCount val="12"/>
              <c:pt idx="0">
                <c:v>112.83368367224</c:v>
              </c:pt>
              <c:pt idx="1">
                <c:v>103.39874467744</c:v>
              </c:pt>
              <c:pt idx="2">
                <c:v>51.72285589365</c:v>
              </c:pt>
              <c:pt idx="3">
                <c:v>48.499678</c:v>
              </c:pt>
              <c:pt idx="4">
                <c:v>24.163748261490003</c:v>
              </c:pt>
              <c:pt idx="5">
                <c:v>25.154517560259997</c:v>
              </c:pt>
              <c:pt idx="6">
                <c:v>27.32144595605</c:v>
              </c:pt>
              <c:pt idx="7">
                <c:v>9.90241714442</c:v>
              </c:pt>
              <c:pt idx="8">
                <c:v>17.30426139734</c:v>
              </c:pt>
              <c:pt idx="9">
                <c:v>30.455624762630002</c:v>
              </c:pt>
              <c:pt idx="10">
                <c:v>1.36475726781</c:v>
              </c:pt>
              <c:pt idx="11">
                <c:v>0.21330512728999998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</c:formatCode>
              <c:ptCount val="12"/>
              <c:pt idx="0">
                <c:v>336.68042868161</c:v>
              </c:pt>
              <c:pt idx="1">
                <c:v>118.22202651527</c:v>
              </c:pt>
              <c:pt idx="2">
                <c:v>99.24654124799001</c:v>
              </c:pt>
              <c:pt idx="3">
                <c:v>85.66685206006</c:v>
              </c:pt>
              <c:pt idx="4">
                <c:v>57.4323241591</c:v>
              </c:pt>
              <c:pt idx="5">
                <c:v>43.107876023699994</c:v>
              </c:pt>
              <c:pt idx="6">
                <c:v>27.72682732234</c:v>
              </c:pt>
              <c:pt idx="7">
                <c:v>25.98170017243</c:v>
              </c:pt>
              <c:pt idx="8">
                <c:v>12.07779703784</c:v>
              </c:pt>
              <c:pt idx="9">
                <c:v>11.00644353036</c:v>
              </c:pt>
              <c:pt idx="10">
                <c:v>4.10910183534</c:v>
              </c:pt>
              <c:pt idx="11">
                <c:v>0.10364069841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0.0%</c:formatCode>
              <c:ptCount val="12"/>
              <c:pt idx="0">
                <c:v>0.2494471437409106</c:v>
              </c:pt>
              <c:pt idx="1">
                <c:v>0.2285888458725266</c:v>
              </c:pt>
              <c:pt idx="2">
                <c:v>0.1143463392214675</c:v>
              </c:pt>
              <c:pt idx="3">
                <c:v>0.1072206964774502</c:v>
              </c:pt>
              <c:pt idx="4">
                <c:v>0.0534200230793848</c:v>
              </c:pt>
              <c:pt idx="5">
                <c:v>0.055610366987701</c:v>
              </c:pt>
              <c:pt idx="6">
                <c:v>0.0604009054282524</c:v>
              </c:pt>
              <c:pt idx="7">
                <c:v>0.0218917755090035</c:v>
              </c:pt>
              <c:pt idx="8">
                <c:v>0.0382554077792155</c:v>
              </c:pt>
              <c:pt idx="9">
                <c:v>0.0673297933793512</c:v>
              </c:pt>
              <c:pt idx="10">
                <c:v>0.0030171380679527</c:v>
              </c:pt>
              <c:pt idx="11">
                <c:v>0.0004715644567835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0.0%</c:formatCode>
              <c:ptCount val="12"/>
              <c:pt idx="0">
                <c:v>0.4099052662933455</c:v>
              </c:pt>
              <c:pt idx="1">
                <c:v>0.1439342092150771</c:v>
              </c:pt>
              <c:pt idx="2">
                <c:v>0.1208317337549265</c:v>
              </c:pt>
              <c:pt idx="3">
                <c:v>0.1042985894478563</c:v>
              </c:pt>
              <c:pt idx="4">
                <c:v>0.0699233163640305</c:v>
              </c:pt>
              <c:pt idx="5">
                <c:v>0.0524834350188661</c:v>
              </c:pt>
              <c:pt idx="6">
                <c:v>0.0337571523879141</c:v>
              </c:pt>
              <c:pt idx="7">
                <c:v>0.0316324764395653</c:v>
              </c:pt>
              <c:pt idx="8">
                <c:v>0.0147046046912176</c:v>
              </c:pt>
              <c:pt idx="9">
                <c:v>0.0134002418374053</c:v>
              </c:pt>
              <c:pt idx="10">
                <c:v>0.0050027929708808</c:v>
              </c:pt>
              <c:pt idx="11">
                <c:v>0.0001261815789142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Dez/23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</c:formatCode>
              <c:ptCount val="10"/>
              <c:pt idx="0">
                <c:v>118.04530398702</c:v>
              </c:pt>
              <c:pt idx="1">
                <c:v>115.89580945848</c:v>
              </c:pt>
              <c:pt idx="2">
                <c:v>77.90442532195</c:v>
              </c:pt>
              <c:pt idx="3">
                <c:v>39.74983932099</c:v>
              </c:pt>
              <c:pt idx="4">
                <c:v>26.373186905759997</c:v>
              </c:pt>
              <c:pt idx="5">
                <c:v>19.27032074904</c:v>
              </c:pt>
              <c:pt idx="6">
                <c:v>26.30715069555</c:v>
              </c:pt>
              <c:pt idx="7">
                <c:v>14.24326332352</c:v>
              </c:pt>
              <c:pt idx="8">
                <c:v>1.5402300008699998</c:v>
              </c:pt>
              <c:pt idx="9">
                <c:v>0.16600309574000002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</c:formatCode>
              <c:ptCount val="10"/>
              <c:pt idx="0">
                <c:v>326.76177442545</c:v>
              </c:pt>
              <c:pt idx="1">
                <c:v>123.12261035610001</c:v>
              </c:pt>
              <c:pt idx="2">
                <c:v>78.58984371139</c:v>
              </c:pt>
              <c:pt idx="3">
                <c:v>77.39724903534</c:v>
              </c:pt>
              <c:pt idx="4">
                <c:v>57.591468014120004</c:v>
              </c:pt>
              <c:pt idx="5">
                <c:v>34.27503303086</c:v>
              </c:pt>
              <c:pt idx="6">
                <c:v>27.36423282215</c:v>
              </c:pt>
              <c:pt idx="7">
                <c:v>9.12643607218</c:v>
              </c:pt>
              <c:pt idx="8">
                <c:v>3.0872617298200002</c:v>
              </c:pt>
              <c:pt idx="9">
                <c:v>0.09505420486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9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0.0%</c:formatCode>
              <c:ptCount val="10"/>
              <c:pt idx="0">
                <c:v>0.2685927277101883</c:v>
              </c:pt>
              <c:pt idx="1">
                <c:v>0.26370190546551714</c:v>
              </c:pt>
              <c:pt idx="2">
                <c:v>0.17725874212004258</c:v>
              </c:pt>
              <c:pt idx="3">
                <c:v>0.09044423970004235</c:v>
              </c:pt>
              <c:pt idx="4">
                <c:v>0.06000786113615837</c:v>
              </c:pt>
              <c:pt idx="5">
                <c:v>0.04384645419189245</c:v>
              </c:pt>
              <c:pt idx="6">
                <c:v>0.05985760657092893</c:v>
              </c:pt>
              <c:pt idx="7">
                <c:v>0.032408209546221145</c:v>
              </c:pt>
              <c:pt idx="8">
                <c:v>0.0035045407420885447</c:v>
              </c:pt>
              <c:pt idx="9">
                <c:v>0.00037771281692022964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0.0%</c:formatCode>
              <c:ptCount val="10"/>
              <c:pt idx="0">
                <c:v>0.4431203096273956</c:v>
              </c:pt>
              <c:pt idx="1">
                <c:v>0.16696606975849174</c:v>
              </c:pt>
              <c:pt idx="2">
                <c:v>0.10657536653481774</c:v>
              </c:pt>
              <c:pt idx="3">
                <c:v>0.1049580937585254</c:v>
              </c:pt>
              <c:pt idx="4">
                <c:v>0.07809955489189396</c:v>
              </c:pt>
              <c:pt idx="5">
                <c:v>0.046480232505252836</c:v>
              </c:pt>
              <c:pt idx="6">
                <c:v>0.0371085245273501</c:v>
              </c:pt>
              <c:pt idx="7">
                <c:v>0.012376322736066207</c:v>
              </c:pt>
              <c:pt idx="8">
                <c:v>0.004186623040666466</c:v>
              </c:pt>
              <c:pt idx="9">
                <c:v>0.00012890261953990822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Dez/23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Volume registrado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C7000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3"/>
              <c:pt idx="0">
                <c:v>2024FY</c:v>
              </c:pt>
              <c:pt idx="1">
                <c:v>2025FY</c:v>
              </c:pt>
              <c:pt idx="2">
                <c:v>2026YTD</c:v>
              </c:pt>
            </c:strLit>
          </c:cat>
          <c:val>
            <c:numLit>
              <c:formatCode>0.0</c:formatCode>
              <c:ptCount val="3"/>
              <c:pt idx="0">
                <c:v>95.41672613375</c:v>
              </c:pt>
              <c:pt idx="1">
                <c:v>116.92131905477001</c:v>
              </c:pt>
              <c:pt idx="2">
                <c:v>65.48811898356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2024</c:v>
          </c:tx>
          <c:spPr>
            <a:ln xmlns:a="http://schemas.openxmlformats.org/drawingml/2006/main" w="19050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3.5776889819499997</c:v>
              </c:pt>
              <c:pt idx="1">
                <c:v>6.31697433342</c:v>
              </c:pt>
              <c:pt idx="2">
                <c:v>12.75231637649</c:v>
              </c:pt>
              <c:pt idx="3">
                <c:v>18.982994111559996</c:v>
              </c:pt>
              <c:pt idx="4">
                <c:v>35.57797349489</c:v>
              </c:pt>
              <c:pt idx="5">
                <c:v>40.869510061910006</c:v>
              </c:pt>
              <c:pt idx="6">
                <c:v>49.369269147820006</c:v>
              </c:pt>
              <c:pt idx="7">
                <c:v>54.50517684065001</c:v>
              </c:pt>
              <c:pt idx="8">
                <c:v>59.275357674750005</c:v>
              </c:pt>
              <c:pt idx="9">
                <c:v>68.67479071153001</c:v>
              </c:pt>
              <c:pt idx="10">
                <c:v>80.61445578144</c:v>
              </c:pt>
              <c:pt idx="11">
                <c:v>95.41672613375</c:v>
              </c:pt>
            </c:numLit>
          </c:val>
        </c:ser>
        <c:ser>
          <c:idx val="1"/>
          <c:order val="1"/>
          <c:tx>
            <c:v>2025</c:v>
          </c:tx>
          <c:spPr>
            <a:ln xmlns:a="http://schemas.openxmlformats.org/drawingml/2006/main" w="2095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4.69157717423</c:v>
              </c:pt>
              <c:pt idx="1">
                <c:v>13.28230156707</c:v>
              </c:pt>
              <c:pt idx="2">
                <c:v>21.89222074001</c:v>
              </c:pt>
              <c:pt idx="3">
                <c:v>36.243054840190005</c:v>
              </c:pt>
              <c:pt idx="4">
                <c:v>44.91558778326</c:v>
              </c:pt>
              <c:pt idx="5">
                <c:v>57.15870696836</c:v>
              </c:pt>
              <c:pt idx="6">
                <c:v>64.14446989868</c:v>
              </c:pt>
              <c:pt idx="7">
                <c:v>70.52665275716001</c:v>
              </c:pt>
              <c:pt idx="8">
                <c:v>78.53187842665001</c:v>
              </c:pt>
              <c:pt idx="9">
                <c:v>90.04350947167</c:v>
              </c:pt>
              <c:pt idx="10">
                <c:v>100.76052553320001</c:v>
              </c:pt>
              <c:pt idx="11">
                <c:v>116.92131905477002</c:v>
              </c:pt>
            </c:numLit>
          </c:val>
        </c:ser>
        <c:ser>
          <c:idx val="2"/>
          <c:order val="2"/>
          <c:tx>
            <c:v>2026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6"/>
              <c:pt idx="0">
                <c:v>8.415778112109999</c:v>
              </c:pt>
              <c:pt idx="1">
                <c:v>15.828976040429998</c:v>
              </c:pt>
              <c:pt idx="2">
                <c:v>27.564315847659994</c:v>
              </c:pt>
              <c:pt idx="3">
                <c:v>44.609140465989995</c:v>
              </c:pt>
              <c:pt idx="4">
                <c:v>51.475115157089995</c:v>
              </c:pt>
              <c:pt idx="5">
                <c:v>65.48811898356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2024</c:v>
          </c:tx>
          <c:spPr>
            <a:ln xmlns:a="http://schemas.openxmlformats.org/drawingml/2006/main"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2025</c:v>
          </c:tx>
          <c:spPr>
            <a:ln xmlns:a="http://schemas.openxmlformats.org/drawingml/2006/main"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2026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0.2289395441030723</c:v>
              </c:pt>
              <c:pt idx="1">
                <c:v>0.2348860257680872</c:v>
              </c:pt>
              <c:pt idx="2">
                <c:v>0.1734390485629336</c:v>
              </c:pt>
              <c:pt idx="3">
                <c:v>0.1565906838453915</c:v>
              </c:pt>
              <c:pt idx="4">
                <c:v>0.0931615460852329</c:v>
              </c:pt>
              <c:pt idx="5">
                <c:v>0.0822596630327056</c:v>
              </c:pt>
              <c:pt idx="6">
                <c:v>0.0307234886025768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0.2376103190767141</c:v>
              </c:pt>
              <c:pt idx="1">
                <c:v>0.2545824847250509</c:v>
              </c:pt>
              <c:pt idx="2">
                <c:v>0.1629327902240326</c:v>
              </c:pt>
              <c:pt idx="3">
                <c:v>0.1575016972165648</c:v>
              </c:pt>
              <c:pt idx="4">
                <c:v>0.0950441276306856</c:v>
              </c:pt>
              <c:pt idx="5">
                <c:v>0.0678886625933469</c:v>
              </c:pt>
              <c:pt idx="6">
                <c:v>0.0244399185336048</c:v>
              </c:pt>
            </c:numLit>
          </c:val>
        </c:ser>
        <c:ser>
          <c:idx val="2"/>
          <c:order val="2"/>
          <c:tx>
            <c:v>Jan–jun/26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0.2399481193255512</c:v>
              </c:pt>
              <c:pt idx="1">
                <c:v>0.2684824902723735</c:v>
              </c:pt>
              <c:pt idx="2">
                <c:v>0.1530479896238651</c:v>
              </c:pt>
              <c:pt idx="3">
                <c:v>0.1569390402075227</c:v>
              </c:pt>
              <c:pt idx="4">
                <c:v>0.0933852140077821</c:v>
              </c:pt>
              <c:pt idx="5">
                <c:v>0.059662775616083</c:v>
              </c:pt>
              <c:pt idx="6">
                <c:v>0.0285343709468223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0.0103321633887131</c:v>
              </c:pt>
              <c:pt idx="1">
                <c:v>0.0361313295137315</c:v>
              </c:pt>
              <c:pt idx="2">
                <c:v>0.0618859371549046</c:v>
              </c:pt>
              <c:pt idx="3">
                <c:v>0.1088463666507672</c:v>
              </c:pt>
              <c:pt idx="4">
                <c:v>0.1257652142029994</c:v>
              </c:pt>
              <c:pt idx="5">
                <c:v>0.2452642827460449</c:v>
              </c:pt>
              <c:pt idx="6">
                <c:v>0.411774706342839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0.011730951363519</c:v>
              </c:pt>
              <c:pt idx="1">
                <c:v>0.0474259703898181</c:v>
              </c:pt>
              <c:pt idx="2">
                <c:v>0.0704715892035931</c:v>
              </c:pt>
              <c:pt idx="3">
                <c:v>0.1291117427322091</c:v>
              </c:pt>
              <c:pt idx="4">
                <c:v>0.1527533319156595</c:v>
              </c:pt>
              <c:pt idx="5">
                <c:v>0.2413792875044426</c:v>
              </c:pt>
              <c:pt idx="6">
                <c:v>0.3471271268907585</c:v>
              </c:pt>
            </c:numLit>
          </c:val>
        </c:ser>
        <c:ser>
          <c:idx val="2"/>
          <c:order val="2"/>
          <c:tx>
            <c:v>Jan–jun/26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0.0122362463084512</c:v>
              </c:pt>
              <c:pt idx="1">
                <c:v>0.0464655965907937</c:v>
              </c:pt>
              <c:pt idx="2">
                <c:v>0.0609833624673594</c:v>
              </c:pt>
              <c:pt idx="3">
                <c:v>0.1209441922159701</c:v>
              </c:pt>
              <c:pt idx="4">
                <c:v>0.1441593207615259</c:v>
              </c:pt>
              <c:pt idx="5">
                <c:v>0.1929168497919684</c:v>
              </c:pt>
              <c:pt idx="6">
                <c:v>0.4222944318639312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985861204.43</c:v>
              </c:pt>
              <c:pt idx="1">
                <c:v>3447533173.06</c:v>
              </c:pt>
              <c:pt idx="2">
                <c:v>5904953517.04</c:v>
              </c:pt>
              <c:pt idx="3">
                <c:v>10385763957.37</c:v>
              </c:pt>
              <c:pt idx="4">
                <c:v>12000105000.76</c:v>
              </c:pt>
              <c:pt idx="5">
                <c:v>23402314897.17</c:v>
              </c:pt>
              <c:pt idx="6">
                <c:v>39290194383.92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1371598307.19</c:v>
              </c:pt>
              <c:pt idx="1">
                <c:v>5545107015.43</c:v>
              </c:pt>
              <c:pt idx="2">
                <c:v>8239631165.57</c:v>
              </c:pt>
              <c:pt idx="3">
                <c:v>15095915265.71</c:v>
              </c:pt>
              <c:pt idx="4">
                <c:v>17860121057.590004</c:v>
              </c:pt>
              <c:pt idx="5">
                <c:v>28222384687.519997</c:v>
              </c:pt>
              <c:pt idx="6">
                <c:v>40586561555.76</c:v>
              </c:pt>
            </c:numLit>
          </c:val>
        </c:ser>
        <c:ser>
          <c:idx val="2"/>
          <c:order val="2"/>
          <c:tx>
            <c:v>Jan–jun/26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801328754.1599998</c:v>
              </c:pt>
              <c:pt idx="1">
                <c:v>3042944518.1800003</c:v>
              </c:pt>
              <c:pt idx="2">
                <c:v>3993685697.28</c:v>
              </c:pt>
              <c:pt idx="3">
                <c:v>7920407650.21</c:v>
              </c:pt>
              <c:pt idx="4">
                <c:v>9440722750.62</c:v>
              </c:pt>
              <c:pt idx="5">
                <c:v>12633761613.11</c:v>
              </c:pt>
              <c:pt idx="6">
                <c:v>27655268000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.0,,,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2024FY</c:v>
          </c:tx>
          <c:spPr>
            <a:ln xmlns:a="http://schemas.openxmlformats.org/drawingml/2006/main"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2025FY</c:v>
          </c:tx>
          <c:spPr>
            <a:ln xmlns:a="http://schemas.openxmlformats.org/drawingml/2006/main"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2026 jan–jun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2026 jan–jun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0.0893902602618587</c:v>
              </c:pt>
              <c:pt idx="2">
                <c:v>0.2183600967923638</c:v>
              </c:pt>
              <c:pt idx="3">
                <c:v>0.6922496429457774</c:v>
              </c:pt>
            </c:numLit>
          </c:val>
        </c:ser>
        <c:ser>
          <c:idx val="1"/>
          <c:order val="1"/>
          <c:tx>
            <c:v>2025FY</c:v>
          </c:tx>
          <c:spPr>
            <a:solidFill xmlns:a="http://schemas.openxmlformats.org/drawingml/2006/main">
              <a:srgbClr val="30353A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0.0049007315742955</c:v>
              </c:pt>
              <c:pt idx="1">
                <c:v>0.0865092588312477</c:v>
              </c:pt>
              <c:pt idx="2">
                <c:v>0.1560715599269108</c:v>
              </c:pt>
              <c:pt idx="3">
                <c:v>0.7525184496675458</c:v>
              </c:pt>
            </c:numLit>
          </c:val>
        </c:ser>
        <c:ser>
          <c:idx val="2"/>
          <c:order val="2"/>
          <c:tx>
            <c:v>2024FY</c:v>
          </c:tx>
          <c:spPr>
            <a:solidFill xmlns:a="http://schemas.openxmlformats.org/drawingml/2006/main">
              <a:srgbClr val="8D9399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0.1297392763466582</c:v>
              </c:pt>
              <c:pt idx="2">
                <c:v>0.1435448852101765</c:v>
              </c:pt>
              <c:pt idx="3">
                <c:v>0.7267158384431652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571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QI Tech</c:v>
          </c:tx>
          <c:spPr>
            <a:ln xmlns:a="http://schemas.openxmlformats.org/drawingml/2006/main" w="28575">
              <a:solidFill>
                <a:srgbClr val="2456D6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BTG Pactual</c:v>
          </c:tx>
          <c:spPr>
            <a:ln xmlns:a="http://schemas.openxmlformats.org/drawingml/2006/main" w="28575">
              <a:solidFill>
                <a:srgbClr val="1D408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Oliveira Trust</c:v>
          </c:tx>
          <c:spPr>
            <a:ln xmlns:a="http://schemas.openxmlformats.org/drawingml/2006/main" w="28575">
              <a:solidFill>
                <a:srgbClr val="7A1F3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Itaú</c:v>
          </c:tx>
          <c:spPr>
            <a:ln xmlns:a="http://schemas.openxmlformats.org/drawingml/2006/main" w="28575">
              <a:solidFill>
                <a:srgbClr val="FF55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Genial</c:v>
          </c:tx>
          <c:spPr>
            <a:ln xmlns:a="http://schemas.openxmlformats.org/drawingml/2006/main" w="28575">
              <a:solidFill>
                <a:srgbClr val="6EC5E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CBSF / REAG</c:v>
          </c:tx>
          <c:spPr>
            <a:ln xmlns:a="http://schemas.openxmlformats.org/drawingml/2006/main" w="28575">
              <a:solidFill>
                <a:srgbClr val="73C6A1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Demais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0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Daycoval</c:v>
              </c:pt>
              <c:pt idx="3">
                <c:v>Bradesco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12.84615693169</c:v>
              </c:pt>
              <c:pt idx="1">
                <c:v>27.05634936661</c:v>
              </c:pt>
              <c:pt idx="2">
                <c:v>49.75417439041</c:v>
              </c:pt>
              <c:pt idx="3">
                <c:v>49.77770817222</c:v>
              </c:pt>
              <c:pt idx="4">
                <c:v>56.87136007691</c:v>
              </c:pt>
              <c:pt idx="5">
                <c:v>107.91817098489999</c:v>
              </c:pt>
              <c:pt idx="6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Hemera</c:v>
              </c:pt>
              <c:pt idx="1">
                <c:v>BRL Trust</c:v>
              </c:pt>
              <c:pt idx="2">
                <c:v>Finaxis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21.00943573536</c:v>
              </c:pt>
              <c:pt idx="1">
                <c:v>21.26060727013</c:v>
              </c:pt>
              <c:pt idx="2">
                <c:v>22.30772786867</c:v>
              </c:pt>
              <c:pt idx="3">
                <c:v>56.87136007691</c:v>
              </c:pt>
              <c:pt idx="4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EC5E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Tercon Investimentos</c:v>
              </c:pt>
              <c:pt idx="3">
                <c:v>Genial</c:v>
              </c:pt>
              <c:pt idx="4">
                <c:v>Oliveira Trust</c:v>
              </c:pt>
              <c:pt idx="5">
                <c:v>Bradesco</c:v>
              </c:pt>
              <c:pt idx="6">
                <c:v>BTG Pactual</c:v>
              </c:pt>
            </c:strLit>
          </c:cat>
          <c:val>
            <c:numLit>
              <c:formatCode>0.0</c:formatCode>
              <c:ptCount val="7"/>
              <c:pt idx="0">
                <c:v>10.61117776359</c:v>
              </c:pt>
              <c:pt idx="1">
                <c:v>20.5830639885</c:v>
              </c:pt>
              <c:pt idx="2">
                <c:v>21.696113631950002</c:v>
              </c:pt>
              <c:pt idx="3">
                <c:v>26.87573463003</c:v>
              </c:pt>
              <c:pt idx="4">
                <c:v>35.02222544035998</c:v>
              </c:pt>
              <c:pt idx="5">
                <c:v>39.85656848075</c:v>
              </c:pt>
              <c:pt idx="6">
                <c:v>78.74983410723001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ACB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cat>
            <c:strLit>
              <c:ptCount val="5"/>
              <c:pt idx="0">
                <c:v>CBSF</c:v>
              </c:pt>
              <c:pt idx="1">
                <c:v>Solis Investimentos</c:v>
              </c:pt>
              <c:pt idx="2">
                <c:v>Integral Investimentos</c:v>
              </c:pt>
              <c:pt idx="3">
                <c:v>Tercon Investimentos</c:v>
              </c:pt>
              <c:pt idx="4">
                <c:v>Oliveira Trust</c:v>
              </c:pt>
            </c:strLit>
          </c:cat>
          <c:val>
            <c:numLit>
              <c:formatCode>0.0</c:formatCode>
              <c:ptCount val="5"/>
              <c:pt idx="0">
                <c:v>10.17441132442</c:v>
              </c:pt>
              <c:pt idx="1">
                <c:v>14.32953247391</c:v>
              </c:pt>
              <c:pt idx="2">
                <c:v>14.931875223759999</c:v>
              </c:pt>
              <c:pt idx="3">
                <c:v>21.696113631950002</c:v>
              </c:pt>
              <c:pt idx="4">
                <c:v>35.02222544035998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Bradesco</c:v>
              </c:pt>
              <c:pt idx="3">
                <c:v>Daycoval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19.494658191289997</c:v>
              </c:pt>
              <c:pt idx="1">
                <c:v>20.405586732159996</c:v>
              </c:pt>
              <c:pt idx="2">
                <c:v>48.43408476549</c:v>
              </c:pt>
              <c:pt idx="3">
                <c:v>55.81924378400999</c:v>
              </c:pt>
              <c:pt idx="4">
                <c:v>71.90092760434999</c:v>
              </c:pt>
              <c:pt idx="5">
                <c:v>107.26541902169001</c:v>
              </c:pt>
              <c:pt idx="6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BRL Trust</c:v>
              </c:pt>
              <c:pt idx="1">
                <c:v>Finaxis</c:v>
              </c:pt>
              <c:pt idx="2">
                <c:v>REAG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21.26374598682</c:v>
              </c:pt>
              <c:pt idx="1">
                <c:v>22.30772786867</c:v>
              </c:pt>
              <c:pt idx="2">
                <c:v>25.04054022159</c:v>
              </c:pt>
              <c:pt idx="3">
                <c:v>71.90092760434999</c:v>
              </c:pt>
              <c:pt idx="4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Dez/25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0.7168643095519629</c:v>
              </c:pt>
              <c:pt idx="1">
                <c:v>0.35810685850247875</c:v>
              </c:pt>
              <c:pt idx="2">
                <c:v>0.7169086306781982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0.7150145774372395</c:v>
              </c:pt>
              <c:pt idx="1">
                <c:v>0.3890568914241183</c:v>
              </c:pt>
              <c:pt idx="2">
                <c:v>0.7349339570479368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Dez/25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0.497141395134468</c:v>
              </c:pt>
              <c:pt idx="1">
                <c:v>0.23645038550679134</c:v>
              </c:pt>
              <c:pt idx="2">
                <c:v>0.5170349888512263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0.5306014675789608</c:v>
              </c:pt>
              <c:pt idx="1">
                <c:v>0.2813769971812452</c:v>
              </c:pt>
              <c:pt idx="2">
                <c:v>0.5548653859259784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Contas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2015</c:v>
              </c:pt>
              <c:pt idx="1">
                <c:v>​​</c:v>
              </c:pt>
              <c:pt idx="2">
                <c:v>​​​</c:v>
              </c:pt>
              <c:pt idx="3">
                <c:v>2018</c:v>
              </c:pt>
              <c:pt idx="4">
                <c:v>​​​​​</c:v>
              </c:pt>
              <c:pt idx="5">
                <c:v>​​​​​​</c:v>
              </c:pt>
              <c:pt idx="6">
                <c:v>2021</c:v>
              </c:pt>
              <c:pt idx="7">
                <c:v>​​​​​​​​</c:v>
              </c:pt>
              <c:pt idx="8">
                <c:v>​​​​​​​​​</c:v>
              </c:pt>
              <c:pt idx="9">
                <c:v>2024</c:v>
              </c:pt>
              <c:pt idx="10">
                <c:v>​​​​​​​​​​​</c:v>
              </c:pt>
              <c:pt idx="11">
                <c:v>Jun/26</c:v>
              </c:pt>
            </c:strLit>
          </c:cat>
          <c:val>
            <c:numLit>
              <c:formatCode>0 "mil"</c:formatCode>
              <c:ptCount val="12"/>
              <c:pt idx="0">
                <c:v>12.508</c:v>
              </c:pt>
              <c:pt idx="1">
                <c:v>13.872</c:v>
              </c:pt>
              <c:pt idx="2">
                <c:v>16.049</c:v>
              </c:pt>
              <c:pt idx="3">
                <c:v>17.678</c:v>
              </c:pt>
              <c:pt idx="4">
                <c:v>25.781</c:v>
              </c:pt>
              <c:pt idx="5">
                <c:v>32.936</c:v>
              </c:pt>
              <c:pt idx="6">
                <c:v>31.626</c:v>
              </c:pt>
              <c:pt idx="7">
                <c:v>48.608</c:v>
              </c:pt>
              <c:pt idx="8">
                <c:v>61.735</c:v>
              </c:pt>
              <c:pt idx="9">
                <c:v>148.582</c:v>
              </c:pt>
              <c:pt idx="10">
                <c:v>387.159</c:v>
              </c:pt>
              <c:pt idx="11">
                <c:v>461.222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 &quot;mil&quot;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9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Profissional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0.9684547923581838</c:v>
              </c:pt>
              <c:pt idx="1">
                <c:v>0.9441348233073096</c:v>
              </c:pt>
              <c:pt idx="2">
                <c:v>0.9282664027264255</c:v>
              </c:pt>
              <c:pt idx="3">
                <c:v>0.9378646364463225</c:v>
              </c:pt>
            </c:numLit>
          </c:val>
        </c:ser>
        <c:ser>
          <c:idx val="1"/>
          <c:order val="1"/>
          <c:tx>
            <c:v>Qualificado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0.020214315409922565</c:v>
              </c:pt>
              <c:pt idx="1">
                <c:v>0.0558127749786242</c:v>
              </c:pt>
              <c:pt idx="2">
                <c:v>0.06683286569927906</c:v>
              </c:pt>
              <c:pt idx="3">
                <c:v>0.057045463199635146</c:v>
              </c:pt>
            </c:numLit>
          </c:val>
        </c:ser>
        <c:ser>
          <c:idx val="2"/>
          <c:order val="2"/>
          <c:tx>
            <c:v>Geral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5.240171406626623E-05</c:v>
              </c:pt>
              <c:pt idx="2">
                <c:v>0</c:v>
              </c:pt>
              <c:pt idx="3">
                <c:v>0.005089900354042509</c:v>
              </c:pt>
            </c:numLit>
          </c:val>
        </c:ser>
        <c:ser>
          <c:idx val="3"/>
          <c:order val="3"/>
          <c:tx>
            <c:v>N/D</c:v>
          </c:tx>
          <c:spPr>
            <a:solidFill xmlns:a="http://schemas.openxmlformats.org/drawingml/2006/main">
              <a:srgbClr val="E7E9EB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0.01133089223189357</c:v>
              </c:pt>
              <c:pt idx="1">
                <c:v>0</c:v>
              </c:pt>
              <c:pt idx="2">
                <c:v>0.004900731574295591</c:v>
              </c:pt>
              <c:pt idx="3">
                <c:v>0</c:v>
              </c:pt>
            </c:numLit>
          </c:val>
        </c:ser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0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Contas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cat>
            <c:strLit>
              <c:ptCount val="5"/>
              <c:pt idx="0">
                <c:v>Fundos</c:v>
              </c:pt>
              <c:pt idx="1">
                <c:v>Empresas e outros</c:v>
              </c:pt>
              <c:pt idx="2">
                <c:v>Pessoa física</c:v>
              </c:pt>
              <c:pt idx="3">
                <c:v>Instituições financeiras</c:v>
              </c:pt>
              <c:pt idx="4">
                <c:v>Previdência e seguros</c:v>
              </c:pt>
            </c:strLit>
          </c:cat>
          <c:val>
            <c:numLit>
              <c:formatCode>0.0%</c:formatCode>
              <c:ptCount val="5"/>
              <c:pt idx="0">
                <c:v>0.442722471315705</c:v>
              </c:pt>
              <c:pt idx="1">
                <c:v>0.25706375155020944</c:v>
              </c:pt>
              <c:pt idx="2">
                <c:v>0.20520653559627777</c:v>
              </c:pt>
              <c:pt idx="3">
                <c:v>0.09422238025445116</c:v>
              </c:pt>
              <c:pt idx="4">
                <c:v>0.0007848612833566045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Dez/23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3</c:v>
              </c:pt>
              <c:pt idx="1">
                <c:v>106</c:v>
              </c:pt>
              <c:pt idx="2">
                <c:v>104</c:v>
              </c:pt>
              <c:pt idx="3">
                <c:v>71</c:v>
              </c:pt>
              <c:pt idx="4">
                <c:v>50</c:v>
              </c:pt>
              <c:pt idx="5">
                <c:v>75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2</c:v>
              </c:pt>
              <c:pt idx="1">
                <c:v>180</c:v>
              </c:pt>
              <c:pt idx="2">
                <c:v>123</c:v>
              </c:pt>
              <c:pt idx="3">
                <c:v>153</c:v>
              </c:pt>
              <c:pt idx="4">
                <c:v>128</c:v>
              </c:pt>
              <c:pt idx="5">
                <c:v>198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4.08011139709</c:v>
              </c:pt>
              <c:pt idx="1">
                <c:v>107.00408055976</c:v>
              </c:pt>
              <c:pt idx="2">
                <c:v>65.98513346480999</c:v>
              </c:pt>
              <c:pt idx="3">
                <c:v>87.13513028292</c:v>
              </c:pt>
              <c:pt idx="4">
                <c:v>27.89580794356</c:v>
              </c:pt>
              <c:pt idx="5">
                <c:v>84.79440519127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2.04153385837</c:v>
              </c:pt>
              <c:pt idx="1">
                <c:v>174.97916627078</c:v>
              </c:pt>
              <c:pt idx="2">
                <c:v>85.07690883193</c:v>
              </c:pt>
              <c:pt idx="3">
                <c:v>174.00964091183</c:v>
              </c:pt>
              <c:pt idx="4">
                <c:v>80.62114320047</c:v>
              </c:pt>
              <c:pt idx="5">
                <c:v>216.35550333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0.007334963325183374</c:v>
              </c:pt>
              <c:pt idx="1">
                <c:v>0.2591687041564792</c:v>
              </c:pt>
              <c:pt idx="2">
                <c:v>0.254278728606357</c:v>
              </c:pt>
              <c:pt idx="3">
                <c:v>0.17359413202933985</c:v>
              </c:pt>
              <c:pt idx="4">
                <c:v>0.12224938875305623</c:v>
              </c:pt>
              <c:pt idx="5">
                <c:v>0.18337408312958436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0.002551020408163265</c:v>
              </c:pt>
              <c:pt idx="1">
                <c:v>0.22959183673469388</c:v>
              </c:pt>
              <c:pt idx="2">
                <c:v>0.1568877551020408</c:v>
              </c:pt>
              <c:pt idx="3">
                <c:v>0.1951530612244898</c:v>
              </c:pt>
              <c:pt idx="4">
                <c:v>0.16326530612244897</c:v>
              </c:pt>
              <c:pt idx="5">
                <c:v>0.25255102040816324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0.010825601247303616</c:v>
              </c:pt>
              <c:pt idx="1">
                <c:v>0.28390977481656304</c:v>
              </c:pt>
              <c:pt idx="2">
                <c:v>0.1750757941681723</c:v>
              </c:pt>
              <c:pt idx="3">
                <c:v>0.23119226003179993</c:v>
              </c:pt>
              <c:pt idx="4">
                <c:v>0.07401486476171423</c:v>
              </c:pt>
              <c:pt idx="5">
                <c:v>0.22498170497444692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0.002784857051677267</c:v>
              </c:pt>
              <c:pt idx="1">
                <c:v>0.23868914203306626</c:v>
              </c:pt>
              <c:pt idx="2">
                <c:v>0.11605344115363893</c:v>
              </c:pt>
              <c:pt idx="3">
                <c:v>0.23736661215114327</c:v>
              </c:pt>
              <c:pt idx="4">
                <c:v>0.10997532969419936</c:v>
              </c:pt>
              <c:pt idx="5">
                <c:v>0.29513061791627493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6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126.14605664653</c:v>
              </c:pt>
              <c:pt idx="1">
                <c:v>176.82850856551002</c:v>
              </c:pt>
              <c:pt idx="2">
                <c:v>231.72616772613995</c:v>
              </c:pt>
              <c:pt idx="3">
                <c:v>275.29447198864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3.0397972983000003</c:v>
              </c:pt>
              <c:pt idx="1">
                <c:v>3.80886973898</c:v>
              </c:pt>
              <c:pt idx="2">
                <c:v>5.862133668999999</c:v>
              </c:pt>
              <c:pt idx="3">
                <c:v>7.10264044208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7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0.324302935889369</c:v>
              </c:pt>
              <c:pt idx="1">
                <c:v>0.3354160321943587</c:v>
              </c:pt>
              <c:pt idx="2">
                <c:v>0.3438527403212231</c:v>
              </c:pt>
              <c:pt idx="3">
                <c:v>0.3830927270296855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0.0078148712258963</c:v>
              </c:pt>
              <c:pt idx="1">
                <c:v>0.0072248303475371</c:v>
              </c:pt>
              <c:pt idx="2">
                <c:v>0.0086986754495382</c:v>
              </c:pt>
              <c:pt idx="3">
                <c:v>0.0098838522851996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8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4.272733645318789</c:v>
              </c:pt>
              <c:pt idx="1">
                <c:v>9.46084314594</c:v>
              </c:pt>
              <c:pt idx="2">
                <c:v>8.85980114902</c:v>
              </c:pt>
              <c:pt idx="3">
                <c:v>3.9604598731999996</c:v>
              </c:pt>
              <c:pt idx="4">
                <c:v>5.60231892482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4.81492197807918</c:v>
              </c:pt>
              <c:pt idx="1">
                <c:v>17.46136403561</c:v>
              </c:pt>
              <c:pt idx="2">
                <c:v>27.4106918537</c:v>
              </c:pt>
              <c:pt idx="3">
                <c:v>18.84859596717</c:v>
              </c:pt>
              <c:pt idx="4">
                <c:v>10.74513727233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15.42043709582751</c:v>
              </c:pt>
              <c:pt idx="1">
                <c:v>42.451896497339995</c:v>
              </c:pt>
              <c:pt idx="2">
                <c:v>51.61086148217</c:v>
              </c:pt>
              <c:pt idx="3">
                <c:v>21.28068209032</c:v>
              </c:pt>
              <c:pt idx="4">
                <c:v>37.7899990259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1.3295867388102478</c:v>
              </c:pt>
              <c:pt idx="1">
                <c:v>1.79225</c:v>
              </c:pt>
              <c:pt idx="2">
                <c:v>0.261</c:v>
              </c:pt>
              <c:pt idx="3">
                <c:v>0.13</c:v>
              </c:pt>
              <c:pt idx="4">
                <c:v>2.60300000007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3.339822969232049</c:v>
              </c:pt>
              <c:pt idx="1">
                <c:v>5.5087763108</c:v>
              </c:pt>
              <c:pt idx="2">
                <c:v>7.018108725239999</c:v>
              </c:pt>
              <c:pt idx="3">
                <c:v>3.2252896508299997</c:v>
              </c:pt>
              <c:pt idx="4">
                <c:v>2.07487987222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2.287448611391622</c:v>
              </c:pt>
              <c:pt idx="1">
                <c:v>1.90953225977</c:v>
              </c:pt>
              <c:pt idx="2">
                <c:v>3.5888690035</c:v>
              </c:pt>
              <c:pt idx="3">
                <c:v>1.15603067773</c:v>
              </c:pt>
              <c:pt idx="4">
                <c:v>1.21970179492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0.8743020042766778</c:v>
              </c:pt>
              <c:pt idx="1">
                <c:v>1.7879510000799999</c:v>
              </c:pt>
              <c:pt idx="2">
                <c:v>2.45979375898</c:v>
              </c:pt>
              <c:pt idx="3">
                <c:v>0.6778</c:v>
              </c:pt>
              <c:pt idx="4">
                <c:v>0.29309674031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8.542325907839587</c:v>
              </c:pt>
              <c:pt idx="1">
                <c:v>8.013988884309999</c:v>
              </c:pt>
              <c:pt idx="2">
                <c:v>5.23622188904</c:v>
              </c:pt>
              <c:pt idx="3">
                <c:v>3.15074370915</c:v>
              </c:pt>
              <c:pt idx="4">
                <c:v>2.3466058039299997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9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0.1045148880003745</c:v>
              </c:pt>
              <c:pt idx="1">
                <c:v>0.1070393353464678</c:v>
              </c:pt>
              <c:pt idx="2">
                <c:v>0.0832333336026609</c:v>
              </c:pt>
              <c:pt idx="3">
                <c:v>0.0755386217806311</c:v>
              </c:pt>
              <c:pt idx="4">
                <c:v>0.0893871913209126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0.1177772997436496</c:v>
              </c:pt>
              <c:pt idx="1">
                <c:v>0.1975566840907294</c:v>
              </c:pt>
              <c:pt idx="2">
                <c:v>0.2575095333365479</c:v>
              </c:pt>
              <c:pt idx="3">
                <c:v>0.359502938407396</c:v>
              </c:pt>
              <c:pt idx="4">
                <c:v>0.1714428710718376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0.3771976888269119</c:v>
              </c:pt>
              <c:pt idx="1">
                <c:v>0.480297867238432</c:v>
              </c:pt>
              <c:pt idx="2">
                <c:v>0.4848578403750447</c:v>
              </c:pt>
              <c:pt idx="3">
                <c:v>0.4058905902651357</c:v>
              </c:pt>
              <c:pt idx="4">
                <c:v>0.6029542263257991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0.0325228812813508</c:v>
              </c:pt>
              <c:pt idx="1">
                <c:v>0.0202773945001966</c:v>
              </c:pt>
              <c:pt idx="2">
                <c:v>0.0024519624881984</c:v>
              </c:pt>
              <c:pt idx="3">
                <c:v>0.0024795152951638</c:v>
              </c:pt>
              <c:pt idx="4">
                <c:v>0.0415318838746882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0.0816950581398393</c:v>
              </c:pt>
              <c:pt idx="1">
                <c:v>0.062325920193851</c:v>
              </c:pt>
              <c:pt idx="2">
                <c:v>0.0659315683233205</c:v>
              </c:pt>
              <c:pt idx="3">
                <c:v>0.0615165770812817</c:v>
              </c:pt>
              <c:pt idx="4">
                <c:v>0.0331055205165776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0.0559530397332714</c:v>
              </c:pt>
              <c:pt idx="1">
                <c:v>0.0216043180037429</c:v>
              </c:pt>
              <c:pt idx="2">
                <c:v>0.033715602190192</c:v>
              </c:pt>
              <c:pt idx="3">
                <c:v>0.0220491980546935</c:v>
              </c:pt>
              <c:pt idx="4">
                <c:v>0.0194608195570511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0.0213862093078498</c:v>
              </c:pt>
              <c:pt idx="1">
                <c:v>0.0202287559077379</c:v>
              </c:pt>
              <c:pt idx="2">
                <c:v>0.0231085135085195</c:v>
              </c:pt>
              <c:pt idx="3">
                <c:v>0.0129278112850927</c:v>
              </c:pt>
              <c:pt idx="4">
                <c:v>0.0046764732163954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0.2089529349667525</c:v>
              </c:pt>
              <c:pt idx="1">
                <c:v>0.090669724718842</c:v>
              </c:pt>
              <c:pt idx="2">
                <c:v>0.0491916461755159</c:v>
              </c:pt>
              <c:pt idx="3">
                <c:v>0.0600947478306052</c:v>
              </c:pt>
              <c:pt idx="4">
                <c:v>0.0374410141167381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R$ bi</c:v>
          </c:tx>
          <c:spPr>
            <a:solidFill xmlns:a="http://schemas.openxmlformats.org/drawingml/2006/main">
              <a:srgbClr val="73787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8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cat>
            <c:strLit>
              <c:ptCount val="4"/>
              <c:pt idx="0">
                <c:v>PF/PJ*</c:v>
              </c:pt>
              <c:pt idx="1">
                <c:v>Financeiro</c:v>
              </c:pt>
              <c:pt idx="2">
                <c:v>Fomento</c:v>
              </c:pt>
              <c:pt idx="3">
                <c:v>Multicedente</c:v>
              </c:pt>
            </c:strLit>
          </c:cat>
          <c:val>
            <c:numLit>
              <c:formatCode>0.0</c:formatCode>
              <c:ptCount val="4"/>
              <c:pt idx="0">
                <c:v>7.10264044208</c:v>
              </c:pt>
              <c:pt idx="1">
                <c:v>275.29447198864</c:v>
              </c:pt>
              <c:pt idx="2">
                <c:v>88.39237477025999</c:v>
              </c:pt>
              <c:pt idx="3">
                <c:v>86.50477887797999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% do PL ex-FIC</c:v>
          </c:tx>
          <c:spPr>
            <a:solidFill xmlns:a="http://schemas.openxmlformats.org/drawingml/2006/main">
              <a:srgbClr val="73787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8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cat>
            <c:strLit>
              <c:ptCount val="4"/>
              <c:pt idx="0">
                <c:v>PF/PJ*</c:v>
              </c:pt>
              <c:pt idx="1">
                <c:v>Financeiro</c:v>
              </c:pt>
              <c:pt idx="2">
                <c:v>Fomento</c:v>
              </c:pt>
              <c:pt idx="3">
                <c:v>Multicedente</c:v>
              </c:pt>
            </c:strLit>
          </c:cat>
          <c:val>
            <c:numLit>
              <c:formatCode>0.0%</c:formatCode>
              <c:ptCount val="4"/>
              <c:pt idx="0">
                <c:v>0.0098838522851996</c:v>
              </c:pt>
              <c:pt idx="1">
                <c:v>0.3830927270296855</c:v>
              </c:pt>
              <c:pt idx="2">
                <c:v>0.123004561823407</c:v>
              </c:pt>
              <c:pt idx="3">
                <c:v>0.1203778317889099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02FE5-BB8B-4D5D-892F-65A03134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2790C-C098-4727-9C02-FCDA1BFE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Indústria de FIDCs — ago-26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EB158-419A-4B36-9160-03D323DC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F5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C0E87-0F22-464A-BDEA-3ED8214D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Dados de referência: jun-26 · fechamento em 30 de junho de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48A6F-5686-45C6-BC03-D9D00566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E7E9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7E9EB"/>
                </a:solidFill>
                <a:latin typeface="Arial"/>
                <a:ea typeface="Arial"/>
                <a:cs typeface="Arial"/>
              </a:rPr>
              <a:t>Ofertas CVM e comparativo ANBIMA até 30 de junho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16B95-20DB-4CC0-A566-F98793F9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579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Itaú BBA ·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722804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72240-DDA3-43B8-86C3-203D5663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ESCALA DA INDÚSTRIA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1A5B0-4069-4381-83B3-4F940332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FIDCs ex-FIC somam R$ 821,0 bi; o crédito privado ampliado totaliza R$ 13,780 tri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7E9E1-461D-4D83-8A71-73D2E7F9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AB0C4-FF53-4460-ABC6-D815623E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7D035-41D2-4992-AB34-5CD0CA24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Informe Mensal de FIDC (jun/26); BCB, SGS 28183–28192 (último mês comum: jun/26).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21330-2A42-4D96-B622-0ED7F349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3E509-16FB-45E2-A9E9-10C83FE6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dos FIDCs ex-FIC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112D2-6AD3-437A-B403-C882A097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23875" y="1571625"/>
          <a:ext xmlns:a="http://schemas.openxmlformats.org/drawingml/2006/main" cx="52863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05ffa2f28a496a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F3100-2EFD-420E-B36B-09187F53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CAGR 2015–18 +16,7%   ·   2020/19 -9,0%   ·   2022/21 +22,1%   ·   2023/22 +25,1%   ·   2024/23 +44,0%   ·   2025/24 +18,5%   ·   2026 YTD +6,4%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39267-1A74-4763-8B9B-D97F9415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66825"/>
            <a:ext cx="547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Carteira de crédito privada ampliada · R$ 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28C16-7BA3-4D10-9FAD-B90796D4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33525"/>
            <a:ext cx="547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048375" y="1571625"/>
          <a:ext xmlns:a="http://schemas.openxmlformats.org/drawingml/2006/main" cx="557212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f7579e718346c5"/>
          </a:graphicData>
        </a:graphic>
      </p:graphicFrame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096000" y="4914900"/>
          <a:ext xmlns:a="http://schemas.openxmlformats.org/drawingml/2006/main" cx="5524500" cy="19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a1ce7b0ab34796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E4A6C-9654-431C-B83D-E24ED324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CAGR 2015–18 +1,6%   ·   2020/19 +16,0%   ·   2022/21 +10,9%   ·   2023/22 +7,6%   ·   2024/23 +17,9%   ·   2025/24 +8,0%   ·   2026 YTD +3,1%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2B59D-26C9-41FC-BCEF-8EA9B67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435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Jun/26: total privado R$ 13,780 tri; securitização R$ 1.174 bi; carteira FIDC R$ 677 bi. O total BCB de R$ 21,681 tri inclui R$ 7.901 bi de títulos públicos e permanece no export para reconciliação.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95FC7-3EC2-4156-B7C6-AF203C2F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32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Banco Central do Brasil. Série de carteira de crédito ampliada, excluídos títulos públicos. Securitizações abertas entre FIDCs e demais securitizações (CRIs e CRAs). PL direto e carteira privada têm perímetros contábeis distintos.</a:t>
            </a:r>
          </a:p>
        </p:txBody>
      </p:sp>
    </p:spTree>
    <p:extLst>
      <p:ext uri="{BB962C8B-B14F-4D97-AF65-F5344CB8AC3E}">
        <p14:creationId xmlns:p14="http://schemas.microsoft.com/office/powerpoint/2010/main" val="1966689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333F4-9B51-45DC-9DC6-48D9DC0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| FIDCs seguem ganhando escala nas emissões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91225-85F8-47A5-938A-0D0B9CF3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No 1S26, FIDCs +14,6%; demais instrumentos −7,8%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EC2D7-5E89-40EE-A050-038876EC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30B36-6420-46E1-81FD-DFFD69B9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0EF51-102E-4583-8552-8BF70FB9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CVM/SRE: R$ 65,5 bi registrado primário; ANBIMA: R$ 53,1 bi encerrado. Perímetros distintos; jan–jun/26, snapshot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2E035-85F4-43DC-825F-F3327937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F3CAA-F66B-46E7-88FB-9DD52915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FIDCs e demais instrumentos elegíveis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E44D7-EE2C-4575-B870-6298EAC2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dfb42261474e6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96229-2245-4594-81AB-D72E8F5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Valor encerrado por instrumento · R$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CA7DE-7E05-45BF-99A8-5E931C92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381750" y="15240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5552a2697f410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1C354-78A6-4228-9C24-CFA9DDE3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4812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Crescimento por instrumento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69D05-BC7F-4AE0-9E64-949DE8A3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76725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2857500" y="4286250"/>
          <a:ext xmlns:a="http://schemas.openxmlformats.org/drawingml/2006/main" cx="6477000" cy="174307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429000"/>
                <a:gridCol w="1524000"/>
                <a:gridCol w="1524000"/>
              </a:tblGrid>
              <a:tr h="200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Emissões por instrumento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 YoY %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 YTD YoY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+22,5%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+14,6%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Demais Instr.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+4,4%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-7,8%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Debêntures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-4,1%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-5,8%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-18,4%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Notas comerciais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+17,1%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-7,8%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+12,8%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-44,5%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693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1E9AB-3AAB-4D60-A962-0359578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8600-051A-44EB-A9B1-A9516B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Abertura PF/PJ e cenário sem TAPSO/Petrobras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B04F4-6FA2-421A-9C8A-6868027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3DC9-A567-4D7D-8C16-93DFA0A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A90E-CFF1-47F3-BE28-1F26255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PF/PJ: 24 CNPJs; PL dos fundos, Top1 mensal &lt;=1%; Sólido e BizCapital em Financeiro. Emissões por CNPJ; FIC fora; 2023 escalado ANBIMA.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93FC-6A38-45B2-9CDC-85DDAE6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A593-2060-4D9A-9ED7-7335A4F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76576-5E4C-4742-80B6-5AF9ED4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91e646a98d4f1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45B6F-20C4-49D6-9BC3-5A08A96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082C-861F-45DD-83A8-65F6FBD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4d590667054410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F68-14C2-42D0-B53D-006B46F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BE62-BD10-4639-B789-B1FD476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7BE-32AB-4612-B3E5-E0C2CC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7B0F-BD5F-4803-96B6-EB1A702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0C4AB-E80B-419B-ABEB-BBD76BA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78F1-5E06-47BD-AE40-CC0BC45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ED78-5235-4223-A570-3669391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1392-2C47-427A-9F53-8C9A24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602E-0B58-437A-A3DA-BE9D600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63EB-9E03-4318-9F56-22CEBDC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86D3-B894-4005-BAD6-19F0FBE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7763B-CD4E-488C-8F18-459E63F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C7A7-6C8D-494B-BE67-899C8D2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78BB-CD34-4835-9D88-6C8E74D1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PF/PJ*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5A71-6306-4A65-A146-C1F77DC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147FD-66EE-4C7C-BEB8-AFC7FC5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57150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7e8afa3d5a4ae2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E2C19-A79F-4F3D-9BCA-DB4B496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FD437-ED88-4E7C-A48E-39E4EEB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638175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e66e6daa9c4b4b"/>
          </a:graphicData>
        </a:graphic>
      </p:graphicFrame>
    </p:spTree>
    <p:extLst>
      <p:ext uri="{BB962C8B-B14F-4D97-AF65-F5344CB8AC3E}">
        <p14:creationId xmlns:p14="http://schemas.microsoft.com/office/powerpoint/2010/main" val="948990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2EA3B-7A86-4D48-9D99-62CAE42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EMISSÕES POR CATEGORIA ANBIMA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5D2C7-503D-4633-9F20-41677F31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por setor | Financeiro é 60,3% e PF/PJ 4,2% no 1S26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77521-05DA-4BA6-B486-2F421225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2B750-955B-4530-A00A-1761BB8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BD34E-5762-4587-B040-5439D1D2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ANBIMA. Setores ex-FIC; 1S26 totaliza R$ 62,7 bi e reconcilia com R$ 65,5 bi incluindo R$ 2,8 bi de FIC-FIDC.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277E6-7D2A-41A0-8983-DA52E6F7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EF326-DDA2-4670-B7B9-772767F8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setor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33C13-4A5F-401B-9D4B-722C83E2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71500" y="1562100"/>
          <a:ext xmlns:a="http://schemas.openxmlformats.org/drawingml/2006/main" cx="5238750" cy="1857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1cc6b3343d416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02148-8AD4-4902-BF93-C1C58AB9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setor · % do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6F6A0-8024-4B30-8581-10D1F28A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381750" y="1562100"/>
          <a:ext xmlns:a="http://schemas.openxmlformats.org/drawingml/2006/main" cx="5238750" cy="1857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bcd30ed9a14539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074BF-B3CA-44B7-A102-58AD8403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categoria analítica · taxonomia congelada em jun/26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09905-DBC4-4464-8132-317C0AC9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71500" y="3810000"/>
          <a:ext xmlns:a="http://schemas.openxmlformats.org/drawingml/2006/main" cx="11049000" cy="2038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190750"/>
                <a:gridCol w="1000125"/>
                <a:gridCol w="1000125"/>
                <a:gridCol w="1000125"/>
                <a:gridCol w="1000125"/>
                <a:gridCol w="1000125"/>
                <a:gridCol w="1524000"/>
                <a:gridCol w="2333625"/>
              </a:tblGrid>
              <a:tr h="18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1S25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 YoY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Fomento Mercantil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8,9%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Agro, Indústria e Comércio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27,4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-43,0%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Financeiro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15,4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37,8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60,3%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77,6%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Multicarteira Pulv.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4,2%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1.902,3%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Precatórios/ações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-35,7%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Multicedente/multissacado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Recuperação/NP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-56,8%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-25,5%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5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Total ex-FIC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40,9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88,4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106,4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52,4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62,7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100,0%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87728-7880-4166-B27D-0F3C5D56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AD8A5-395E-4CA7-A78D-7D531609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8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* Match por CNPJ do fundo e depois da classe; FIC fora; emissor não localizado=N/D; 2023 escalado ao total ANBIMA.</a:t>
            </a:r>
          </a:p>
        </p:txBody>
      </p:sp>
    </p:spTree>
    <p:extLst>
      <p:ext uri="{BB962C8B-B14F-4D97-AF65-F5344CB8AC3E}">
        <p14:creationId xmlns:p14="http://schemas.microsoft.com/office/powerpoint/2010/main" val="1793646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1A4CD-7953-411E-B38F-87B6D9A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Taxonomia por CNPJ | Critérios aplicados ao saldo e às emissões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C7551-676A-4BA6-8A9B-3268939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cenário sem TAPSO/Petrobras · série retroaplicada com taxonomia congelada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90392-E887-49D6-B78B-F97196AF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CD366-A081-4A0C-8744-0702D6D0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81E7-20BC-46C8-B106-B1CFB5A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ANBIMA, regulamentos integrais e ledgers aprovados. Regras e prompt de atualização no pacote da revisão.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DF20B-3693-43CD-B2B3-20EF7E6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0A5D-F366-41BD-BB8F-840DC88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ex-FIC · R$ bilhões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2A2D-8B60-4B2E-8BB7-73B32FC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9f10e434644dc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966C-90A1-4B2C-ADD9-72D8F25F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PL ex-FIC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1D7D-92AA-48F1-9537-12314A2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3c074aa1024926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57250" y="5219700"/>
          <a:ext xmlns:a="http://schemas.openxmlformats.org/drawingml/2006/main" cx="10477500" cy="42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1728c080324dfc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B953-1C3C-4356-B72E-FF3B861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Oito blocos fecham R$ 718,6 bi; PF/PJ soma R$ 7,1 bi (1,0%).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71E68-8363-4785-A8E5-59F94F8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0000"/>
            <a:ext cx="10858500" cy="6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PF/PJ: crédito direto confirmado em regulamento + Top1 &lt;=1%; 24 CNPJs; Sólido/BizCapital em Financeiro; PL dos fundos, exposição e devedores N/D.
* Precatórios: Outros/Poder Público. Multicedente: Outros/Multicarteira Outros ou Multicedente/Multissacado. Recuperação: Outros/Recuperação.
* Emissões: mesmas listas de CNPJ; fundo &gt; classe &gt; N/D; FIC fora; 2023 escalado ANBIMA.</a:t>
            </a:r>
          </a:p>
        </p:txBody>
      </p:sp>
    </p:spTree>
    <p:extLst>
      <p:ext uri="{BB962C8B-B14F-4D97-AF65-F5344CB8AC3E}">
        <p14:creationId xmlns:p14="http://schemas.microsoft.com/office/powerpoint/2010/main" val="1521510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6E8CA-222B-4C07-8E62-CA4D2C11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Adquirência é R$ 99 bi que a taxonomia oficial não mostra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71A19-44B7-44D9-9F3E-C196A3D4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33 CNPJs reclassificados, 12,1% do PL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3BC9C-D776-4083-B4D1-636D1705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0A059-C011-450E-9894-0321DA93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CE9BD-71CD-47F4-B5EE-B644671B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 e regulamentos no FundosNet. Curadoria em 21/jul/26; a categoria CVM original permanece preservada.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E8B31-3EF3-41FB-9508-CE860D5F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2445A-E133-43C4-8C5B-66DCAD47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ex-FIC · R$ bi · dez/23 → jun/26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4500F-E15E-4BDE-9287-43CBEDCA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821142499f4e0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EBB07-1CC9-42C3-BEFB-8936A75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PL ex-FIC · dez/23 → jun/26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DD542-AD8C-44A3-AF88-83BD4918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408ff538344a17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8858250" y="1200150"/>
          <a:ext xmlns:a="http://schemas.openxmlformats.org/drawingml/2006/main" cx="2762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5ddb18ac37480c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E422E-7847-4281-A82A-FEDB4EC7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Bucket Cartão: 26 incluídos, 17 fora e 4 pendentes. Em jun/26, 31 dos 33 CNPJs selecionados têm reporte ativo; 2 não reportam.</a:t>
            </a:r>
          </a:p>
        </p:txBody>
      </p:sp>
    </p:spTree>
    <p:extLst>
      <p:ext uri="{BB962C8B-B14F-4D97-AF65-F5344CB8AC3E}">
        <p14:creationId xmlns:p14="http://schemas.microsoft.com/office/powerpoint/2010/main" val="1053181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95EF6-D473-44ED-94A4-896601C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 explicou 70% do crescimento da carteira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74BE7-F485-4249-8758-28770AA6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Ganho de 17,5 p.p. de participação no período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25623-58E4-4871-8F61-05040DB2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1E649-B5A0-4D1E-BC74-BD7B85F3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011A0-E01D-45D5-B48D-0C18EE06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Mensal, Tabela II; dez/23 e jun/26. Percentuais sobre a soma dos segmentos reportados; contribuição = Δ Financeiro / Δ total líquido.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7CFAC-6B55-4D53-A3EC-69FFEF0F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42261-83C7-45A1-98BD-8A3C31B5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Valor reportado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78257-C720-41D8-9903-F1F725A0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571500" y="1743075"/>
          <a:ext xmlns:a="http://schemas.openxmlformats.org/drawingml/2006/main" cx="5238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3702f4d45d402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565DE-D1C1-45B9-B3C6-226DF1E5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valor segmentado da tabela II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C89CD-333E-4080-A9F0-3CC27C59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381750" y="1743075"/>
          <a:ext xmlns:a="http://schemas.openxmlformats.org/drawingml/2006/main" cx="5238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d5831a2070486a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CAF52-8F93-45E7-A3EE-B5C386D1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C1019-2EAF-495D-980E-F799FFA6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Diferença Tabela II − Tabela I: R$ 51,7 bi em dez/23 e R$ 60,4 bi em jun/26. Em jun/26, 0 fundos sem abertura (R$ 0,0 bi de PL); Top 20 explicam 40,5% do gap positivo.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9239250" y="1219200"/>
          <a:ext xmlns:a="http://schemas.openxmlformats.org/drawingml/2006/main" cx="2381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48ffcdd727412d"/>
          </a:graphicData>
        </a:graphic>
      </p:graphicFrame>
    </p:spTree>
    <p:extLst>
      <p:ext uri="{BB962C8B-B14F-4D97-AF65-F5344CB8AC3E}">
        <p14:creationId xmlns:p14="http://schemas.microsoft.com/office/powerpoint/2010/main" val="1024859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9462D-05C6-4D0F-B0A7-8AC5BC1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RANKING · TOP 20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19639-5693-42A1-B4CD-2B8A23A0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Top 20 somam 27,5% do PL ex-FIC; Petrobras e TAPSO são 45,5% do bloco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A571B-EF63-498C-A251-EB28479F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4C89F-87A5-4C85-8859-8B16A12B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5CCC4-E6D9-44E1-B07F-8F03D44C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ANBIMA, ledger analítico e base Carteira 101, jun/26. * = cadastro conferido; N/D = originador/cedente não localizado.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E10B0-39F6-4078-BD30-B798F535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429250" cy="44291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2047875"/>
                <a:gridCol w="666750"/>
                <a:gridCol w="619125"/>
                <a:gridCol w="1809750"/>
              </a:tblGrid>
              <a:tr h="1571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 / 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Sistema Petrobras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61,3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TAPSO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41,5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5,1%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Stone*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PAN Auto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18,0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2,2%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Cloudwalk*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MT Global · Consignado Privado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9,4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MeuTudo*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Crédito Privado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Aetos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7,4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6,5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Cielo*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Rio Vermelho NP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6,4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6191250" y="1428750"/>
          <a:ext xmlns:a="http://schemas.openxmlformats.org/drawingml/2006/main" cx="5429250" cy="44291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2047875"/>
                <a:gridCol w="666750"/>
                <a:gridCol w="619125"/>
                <a:gridCol w="1809750"/>
              </a:tblGrid>
              <a:tr h="1571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 / 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6,2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PagBank · C: PagSeguro*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Alternative Assets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5,9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Monee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5,8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Shopee*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4,8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PicPay*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Marobá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4,5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Itaú BBA*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Venda de Veículos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4,2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Nissan, Renault e Geely*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 Maxx 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HAVAN ECONÔMICO, FINANCEIRO E COMERCIAL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Havan*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16090-9BBA-4212-B618-D2367369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Cadastro conferido na base Carteira 101; o dado documental permanece prioritário. N/D não é inferido pelo nome do fundo.</a:t>
            </a:r>
          </a:p>
        </p:txBody>
      </p:sp>
    </p:spTree>
    <p:extLst>
      <p:ext uri="{BB962C8B-B14F-4D97-AF65-F5344CB8AC3E}">
        <p14:creationId xmlns:p14="http://schemas.microsoft.com/office/powerpoint/2010/main" val="434029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35FAA-362A-461F-8585-1210FF9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crescem 15% no semestre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DE7B6-FB49-487A-9474-203FDCC0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R$ 65,5 bi em 771 ofertas no jan–jun/26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BBE51-6548-420D-A831-4D294861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31DD6-A17D-4371-9B08-5DC6691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64D60-1450-4DD1-BDBE-34814CA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ofertas, snapshot 24/jul/26. Primárias encerradas, todos os ritos;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11032-EA65-4209-ABFF-03DB5053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9A098-F884-4909-808C-37D6EBDB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registrado e ticket · FY / YTD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F7C26-2D36-4851-AE82-2BC89680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a364adfe864a48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14F27-CAA5-4607-A4B8-FE6AF40D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acumulado · jan–dez · R$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6B698-F59E-4393-97C1-A0E23412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15533d8e9d4462"/>
          </a:graphicData>
        </a:graphic>
      </p:graphicFrame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7715250" y="4000500"/>
          <a:ext xmlns:a="http://schemas.openxmlformats.org/drawingml/2006/main" cx="3905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dc568d9a494a4b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1CD74-6825-4FF9-86A2-549A05F0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2026 encerra em jun/26; as curvas de 2024 e 2025 seguem até dezembro.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71500" y="4286250"/>
          <a:ext xmlns:a="http://schemas.openxmlformats.org/drawingml/2006/main" cx="11049000" cy="16192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952500"/>
                <a:gridCol w="1476375"/>
                <a:gridCol w="1714500"/>
                <a:gridCol w="1476375"/>
                <a:gridCol w="1476375"/>
                <a:gridCol w="1952625"/>
                <a:gridCol w="2000250"/>
              </a:tblGrid>
              <a:tr h="2286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Ofertas encerradas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Volume registrado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médio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mediano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PF no volume colocado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Público profissional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2022 FY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R$ 2,7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R$ 392,7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R$ 200,0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2023 FY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R$ 26,5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R$ 75,6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R$ 23,3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96,8%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2024 FY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R$ 95,4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R$ 94,6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R$ 30,0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94,4%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2025 FY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1.473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R$ 116,9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R$ 79,4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R$ 25,0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6,6%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92,8%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2026 YTD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771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R$ 65,5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R$ 84,9 mi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R$ 22,5 mi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93,8%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46C5D-6397-4C8F-917D-44F26EC4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PF representa 4,0% do proxy colocado; cobertura 97,3%. Público profissional usa o volume registrado total como denominador, incluindo N/D; 2022 = N/D por ausência de reporte.</a:t>
            </a:r>
          </a:p>
        </p:txBody>
      </p:sp>
    </p:spTree>
    <p:extLst>
      <p:ext uri="{BB962C8B-B14F-4D97-AF65-F5344CB8AC3E}">
        <p14:creationId xmlns:p14="http://schemas.microsoft.com/office/powerpoint/2010/main" val="4706768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BE547-F3FB-4A79-9A34-1A32A09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22 ofertas concentram 42% de todo o volume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C4CA5-4093-4467-8A0D-4ECA844B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Tickets acima de R$ 500 mi, jan–jun/26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E41C5-C5B7-45CF-A3DD-D6818604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EFF3C-8BA5-40DE-A806-0513558D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7721B-5685-41C6-A9F7-9187B7F8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ofertas; mesma coorte primária encerrada do slide anterior. 2026 = jan–jun.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39987-5A15-4746-BB44-EDC5BAE8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2526D-C5D0-4B03-A5B7-3BC5DFF1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das ofertas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BFB3F-05D3-4499-BD2D-B640558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571500" y="1743075"/>
          <a:ext xmlns:a="http://schemas.openxmlformats.org/drawingml/2006/main" cx="342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ad26ecb4b64f3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C3579-3850-476A-831A-1FCA6252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volume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28D7F-3FE2-4B90-82F1-AE7BF106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478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286250" y="1743075"/>
          <a:ext xmlns:a="http://schemas.openxmlformats.org/drawingml/2006/main" cx="342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c19d9edeb94dbe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94E98-AEF3-47EA-A93B-C82286AB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· R$ bi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AAD74-8CFD-4B5A-AB93-FCDB7AB5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47825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8001000" y="1743075"/>
          <a:ext xmlns:a="http://schemas.openxmlformats.org/drawingml/2006/main" cx="3619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d28b7169314cbc"/>
          </a:graphicData>
        </a:graphic>
      </p:graphicFrame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4048125" y="5486400"/>
          <a:ext xmlns:a="http://schemas.openxmlformats.org/drawingml/2006/main" cx="40957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f9462ed0234c8f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8C66E-6370-4215-9422-8F86090F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Faixas do eixo em R$ mi; fecham no limite inferior. “&gt; R$ 100 mi” é estrito e exclui ofertas exatamente iguais a R$ 100 mi.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CD474-B742-4279-B8D5-B8838D09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2024FY · &gt; R$ 100 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411DC-7CDB-4F2A-89B9-5AF0CB4F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R$ 72,0 bi · 75,5% do volume · 181 ofertas (17,9%)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D7DDB-6A1A-4C2B-92A8-4A8BC4FA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674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B5519-165C-4273-B077-2BEB25F1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67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2025FY · &gt; R$ 100 mi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406DC-2702-4F74-931D-A6A16320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48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R$ 81,8 bi · 69,9% do volume · 227 ofertas (15,4%)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74F10-1703-4344-B0AC-AB3CBCC0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8674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05F39-69A8-4A8D-95E3-F5252BB2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67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2026 YTD · &gt; R$ 100 mi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521DA-FAEE-44A7-B3CB-A2A03DD7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48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R$ 47,7 bi · 72,9% do volume · 120 ofertas (15,6%)</a:t>
            </a:r>
          </a:p>
        </p:txBody>
      </p:sp>
    </p:spTree>
    <p:extLst>
      <p:ext uri="{BB962C8B-B14F-4D97-AF65-F5344CB8AC3E}">
        <p14:creationId xmlns:p14="http://schemas.microsoft.com/office/powerpoint/2010/main" val="6227962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8B117-7528-475C-8C71-F3AF669E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OFERTAS · VOLUME E REGIME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A382E-2DA6-4BCE-8E3B-64AB4ECB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| Garantia firme cresceu 37% YoY YTD, de R$ 10,4 bi para R$ 14,3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05BFB-8325-4292-8F7C-5A38489C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8A93A-1F5B-4070-8BFC-5294ED70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2CD9D-3182-4A2A-829D-F59E0AF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ofertas, snapshot 24/jul/26. Regime declarado; campo ausente = Não informado.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C2152-D20C-4E70-AF38-5E331CE8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941CE-69A3-464B-8F29-CD3CA506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Melhores esforços repr. 69,2% do volume em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88F6D-6786-4D0D-B764-CAC0835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39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45BD0-6A88-49C1-9C4B-B96AD12D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57350"/>
            <a:ext cx="102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2024FY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2DB65-9391-4903-87AA-0EA51F0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625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75B57-19C8-48A3-A636-F3AF24DA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50" y="1657350"/>
            <a:ext cx="102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2025FY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50C15-4820-4166-AAEC-51C9F380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375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A0A6A-694E-4356-AA55-2611906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00" y="1657350"/>
            <a:ext cx="102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2026 jan–jun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071EB-3B97-4DEB-9C22-B15B1A1F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Regime de colocação · participação no volume · % do total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72942-A70E-4DC9-BFFE-01001E6A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a5a9fa91514c8c"/>
          </a:graphicData>
        </a:graphic>
      </p:graphicFrame>
    </p:spTree>
    <p:extLst>
      <p:ext uri="{BB962C8B-B14F-4D97-AF65-F5344CB8AC3E}">
        <p14:creationId xmlns:p14="http://schemas.microsoft.com/office/powerpoint/2010/main" val="13096240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59F74-56C2-4EBB-9D31-DEAE228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IBBA esteve em 8 das 15 maiores ofertas do semestre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758C7-FD55-4290-82DF-79FB541A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Liderou 5 delas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7C029-09F3-4B8D-AE14-5DC60827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6861B-7071-4ACC-8212-99225119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73FDF-14CC-429C-B097-4E99B160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jan–jun/26,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3798E-FCBA-4D65-A423-F219066D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7C9BC-D51D-4333-9C86-25C3D742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jan–jun/26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43037-64C9-4B75-9552-71665F4B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04800"/>
                <a:gridCol w="552450"/>
                <a:gridCol w="1333500"/>
                <a:gridCol w="2000250"/>
                <a:gridCol w="1190625"/>
                <a:gridCol w="1190625"/>
                <a:gridCol w="1047750"/>
                <a:gridCol w="1428750"/>
                <a:gridCol w="1285875"/>
                <a:gridCol w="714375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24947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62393679000183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 até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22244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62588266000154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VTK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Facta*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2,85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25826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65976848000104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 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24712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50114948000146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DRIVER BRASIL SIX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24433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63572282000111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 3 MEIOS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 /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25379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63546406000194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Pine INSS III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Pine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26277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65839682000176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INVESTIMENTOS PICPAY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23614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63733796000101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ICRED INSS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ICred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24212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64118207000148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JIVEMAUÁ BOSSANOVA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24371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62393829000159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COMERCIAIS MEDICI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Fornecedores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BRF*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25708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24266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63505455000189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IS GREEN SOLFACIL VII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Solfácil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26532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66226355000101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DAYCOVAL D413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23529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61669748000176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LAVORO FORNECEDORES 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Lavoro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23032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44302112000172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CLASSE ÚNICA AGRO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Bayer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C363B-0BE4-4944-B48F-AA884BF5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Subtotal: R$ 23,82 bi · 36,4% do período. * = exceção/múltiplas classes; campos integrais: aba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0238737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4B9CB6-55D0-48CF-A17C-EC2047E3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 que muda a leitura do mercado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700E8-3361-4C05-83A6-B1B5DE4B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Distribuição, prestadores, migração e ofertas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29A0D-3665-4FC9-8953-1054EB20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D1981-E498-40F0-974F-1BA6B820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E3422-EF1E-419B-9ACB-AAE05514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56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ANBIMA e BCB; coorte bancária curada a partir dos conglomerados prudenciais. PF: proxy com 97,3% de cobertura; contas não equivalem a investidores únicos. Verticalização no universo elegível; Top 10 ex-Petrobras/TAPSO. BTG: 30/32 raízes observadas; ofertas CVM e ANBIMA até 30/jun/26.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17C69-4A95-4CC0-939D-F0F5D03C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6C11C-061B-456F-9184-B87A8E99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01 · DISTRIBUIÇÃO APÓS A RCVM 175 SEGUE INSTITUCIONAL E CONCENTRADA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A103D-819A-4639-B660-05260459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 mediana foi de R$ 22,5 mi, apenas 26% do ticket médio de R$ 84,9 mi; 22 ofertas de R$ 500 mi ou mais — 2,9% do total — concentraram 42,2% do volume.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Pessoas físicas responderam por apenas 4,0% do volume colocado estimado; entre os fundos com PL ≥ R$ 200 mi, 58,4% têm até dez contas.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3F50D-C0D5-4F96-B35A-951BF037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717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0A1CE-9B45-407B-949C-8F90AF3C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573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02 · VERTICALIZAÇÃO DEFINE O MODELO OPERACIONAL DA INDÚSTRIA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D0E1A-0273-407A-94C5-41D6D1B8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954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Administração e custódia estão no mesmo conglomerado em 90,7% do PL: nove em cada dez reais da indústria.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Monoestruturas, com as três funções no mesmo grupo, já concentram 40,4% do PL.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7FA37-04BE-4D20-B2F0-B37AAFE9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717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8CC92-A3D6-42AF-BA7C-76B0E0E1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03 · ESCALA INDEPENDENTE ESTÁ CONCENTRADA EM POUCAS PLATAFORMAS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8DDD7-E86F-4D26-BEAC-7B9CBB30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QI Tech lidera administração e está em empate técnico com o BTG em custódia; 96% de sua base administrativa em dez/24 veio do legado Singulare.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Oliveira Trust é a terceira maior gestora, com R$ 35,0 bi; na coorte CBSF/Reag, 35,1% do PL continuante já havia migrado de administrador até jun/26.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67C29-07D1-4997-BE7F-B6A65D83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909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BA557-363E-4A68-9726-320677A8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04 · MOVIMENTAÇÃO DE ADMINISTRADORES FOI BAIXA E CONCENTRADA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B7DE0-0F3D-463D-A958-F2C70D7B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Apenas 7,6% do PL comparável trocou de administrador entre dez/24 e dez/25: R$ 32,4 bi em 243 fundos.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Os dois FIDCs Cielo responderam sozinhos por 28% do volume migrado, com R$ 8,9 bi transferidos de Oliveira Trust para Bradesco.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2318A-AB8C-4D91-BB92-9EEC3D0F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909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84B1D-F449-41DE-819A-B4FDB464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05 · GESTÃO É A FUNÇÃO MAIS PULVERIZADA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457A20-7B90-429B-B2BD-3B945DF7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As dez maiores gestoras reúnem apenas 38,9% do PL ex-FIC; a líder, BTG, tem 11,0%.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Administração e custódia têm, respectivamente, 71,5% e 73,5% do PL nos dez maiores grupos, praticamente o dobro da concentração em gestão.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CDE9C-1D47-4E9F-8C5B-816641CA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927A8-7835-4338-99D1-72F13045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06 · COORTE BANCÁRIA EXPLICA DOIS TERÇOS DO COMBO COMPLETO DO BTG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92CE6-196F-4521-B284-78C886F2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338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Dos 30 FIDCs observados na coorte BTG, 22 concentram as três funções no grupo e representam 98% do PL da coorte — R$ 51,3 bi.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Os R$ 51,3 bi da coorte equivalem a 66,0% dos R$ 77,7 bi de PL ex-FIC atendidos pelo BTG nas três funções.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5F4DE1-94EB-4486-947D-D5BC95D1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01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F5C0B-0ECB-4407-88DA-D4BC2B2D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07 · EMISSÕES ACELERARAM; A MAIOR OFERTA EXPLICA DOIS TERÇOS DO AVANÇO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66084D-0EB0-4A1E-BAF1-AEE9C53C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As 771 ofertas encerradas em jan–jun/26 somaram R$ 65,5 bi, avanço de 15% sobre jan–jun/25 e 60% sobre jan–jun/24.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 oferta CloudWalk Bela, de R$ 5,5 bi, representou 8,4% do volume e 66,0% do crescimento sobre jan–jun/25; na sensibilidade sem essa oferta, o mercado teria avançado 5,0%.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89769-8B63-4BF2-B23C-03629BA4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93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15183396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BE0B2-82F1-46AC-8B0C-3B4DB0C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Volume por prestador | Itaú e Kanastra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9EE8-D19D-4759-92FE-F8E2982A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PL ex-FIC, em R$ bilhões · Top 5 + comparadores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CEAC6-5C19-4B02-A092-12CBEB4E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0984D-5593-4680-A252-9134170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FFF56-0E51-4961-9E91-B2E283A6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80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jun/26. Sem Petrobras/TAPSO. Itaú inclui Intrag/Kinea; Kanastra inclui Limine. Independentes: curadoria original.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F0A0E-F496-4C18-8FC2-C71ED293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1524000" y="1133475"/>
          <a:ext xmlns:a="http://schemas.openxmlformats.org/drawingml/2006/main" cx="914400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e40ae01491445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E7FDF-3CCF-4A8D-A229-F008BF3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+ Itaú + Kanastra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8E78B-B77B-4CFB-8675-D25ABE49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Independentes*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04795-4DA9-475E-A82E-FD304DE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geral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b42b57f8594cc6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90D32-68FB-45D6-AD2B-97D4814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independente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334125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ec27b434e4466d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8255B-6CFA-44E4-A5E4-D5BEED3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geral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71500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e55dde6ae544f0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6CE80-C243-4112-822C-10A1EA66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independente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6334125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82f5c9d9ae4e8f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F51A5-29E1-4ACD-965A-8D3E316F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geral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571500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2a0a263a4c4737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EAD2D-C806-47D0-B279-4637EB44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independente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334125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99daedec094952"/>
          </a:graphicData>
        </a:graphic>
      </p:graphicFrame>
    </p:spTree>
    <p:extLst>
      <p:ext uri="{BB962C8B-B14F-4D97-AF65-F5344CB8AC3E}">
        <p14:creationId xmlns:p14="http://schemas.microsoft.com/office/powerpoint/2010/main" val="16696813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37A4E-57ED-4BEE-9B3F-EB4F1483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PRESTADORES · RANKING E CONCENTRAÇÃO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14CED-D956-4032-BEF9-51D33A99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Top 10 mantém cerca de 72% em administração e custódia; gestão subiu a 38,9%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4F1E9-16D8-4E42-A14B-40E2ED90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4EBC5-F596-4E5A-AD7F-5FEB5132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80BC5-8FD0-4F71-9F1D-516AE36D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876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dez/25 e jun/26. PL ex-FIC; Sistema Petrobras e TAPSO excluídos do numerador e denominador. Administração observada; gestão/custódia históricas reconstruídas com cadastro vigente.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49FED-15D1-4B58-BFD8-C73C3CB9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86154-AA24-43D6-B2D7-3C88BB6A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10 · % do PL ex-FIC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1EA82-62A0-4F81-8732-52CD8243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71500" y="1857375"/>
          <a:ext xmlns:a="http://schemas.openxmlformats.org/drawingml/2006/main" cx="5143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55789b2997457b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AAAAE-4DA5-4961-9E62-8AD84353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514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28E07-EB9C-472B-8432-656B7FF9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· % do PL ex-FIC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D7017-DF58-4691-9A81-FC479CF6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43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6477000" y="1857375"/>
          <a:ext xmlns:a="http://schemas.openxmlformats.org/drawingml/2006/main" cx="5143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4cf52fc61c4165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9A7EC-ED95-4045-B937-33B23490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514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A28FE-6528-4701-A33C-1E57549A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5DAD8-7CBF-4723-9A9F-645A65E2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Cobertura de PL, dez/25 → Jun/26: administração 100,0% → 100,0%; gestão 98,9% → 99,8%; custódia 97,8% → 98,8%.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3BC58-7893-49C9-BE79-D86A55C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8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701FB-A0D7-4C59-98C5-070BAC79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219200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Dez/25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2F10B-1813-4F26-8177-3BAD374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28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CEAAD-936D-430A-8F50-2E2575C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219200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</a:t>
            </a:r>
          </a:p>
        </p:txBody>
      </p:sp>
    </p:spTree>
    <p:extLst>
      <p:ext uri="{BB962C8B-B14F-4D97-AF65-F5344CB8AC3E}">
        <p14:creationId xmlns:p14="http://schemas.microsoft.com/office/powerpoint/2010/main" val="4358078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07E02-174B-40D2-B4FB-FA9F25E5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Quase todo o volume vai para o investidor profissional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35537-A637-41FC-9D4A-D2EC0DEF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Entre 93% e 97% ao ano; a classificação mede elegibilidade, não alocação efetiva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5413B-7723-4E16-899A-D474D724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BA3B5-E661-46F7-88D0-8AD50003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89B02-6848-430B-AF77-A065EB0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ofertas; 24/jul/26. Primárias encerradas, todos os ritos. Definições: RCVM 30.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CD381-A1EE-4458-AA54-416A4008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9A10E-89C7-445C-8CB9-CBC765D2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Contas de cotistas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1DE6B-1C46-4225-87FA-E8C574F7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65722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947ac722794e73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F473D-67E0-48EF-BC8E-9E17E9AD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volume emitido por público-alvo CVM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39B37-FE49-4D68-AA05-2D1266AF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71500" y="3971925"/>
          <a:ext xmlns:a="http://schemas.openxmlformats.org/drawingml/2006/main" cx="65722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637778228140a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DE85F-DE2D-436F-96F5-B1E38D4C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33350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Composição das contas · jun/26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F3BBE-5488-4B26-8835-708D12EF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00200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7524750" y="1714500"/>
          <a:ext xmlns:a="http://schemas.openxmlformats.org/drawingml/2006/main" cx="40957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291ff614ee48e9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2E490-F48D-4DDD-8611-6A5C1CA0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95875"/>
            <a:ext cx="404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A emissão é majoritariamente elegível a investidores profissionais, padrão compatível com demanda institucional/gestoras. A base de público-alvo não separa pessoa física de pessoa jurídica; Público Geral foi 0,0% em 2024 e 0,5% em jan–jun/26. N/D: 1,1% em 2023 e 0,5% em 2025.</a:t>
            </a:r>
          </a:p>
        </p:txBody>
      </p:sp>
    </p:spTree>
    <p:extLst>
      <p:ext uri="{BB962C8B-B14F-4D97-AF65-F5344CB8AC3E}">
        <p14:creationId xmlns:p14="http://schemas.microsoft.com/office/powerpoint/2010/main" val="10528485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06BBD-E422-44D9-A48C-F85373E0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DISTRIBUIÇÃO POR NÚMERO DE COTISTAS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468E9-3DA8-408A-8F56-6CB8B937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7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Fundos com mais de 10 contas ganharam 11,0 p.p. do universo e 10,6 p.p. do PL desde dez/23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3E86D-A59D-4C9D-87F8-337432A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FBB28-5685-491C-A081-1D2DCF63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8A594-1932-465C-B54D-EA449170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dez/23 e jun/26. Ex-FIC com PL ≥ R$ 200 mi: 409 → 784 fundos; contas por classe/série, não investidores únicos.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E50A7-8A39-4D2B-B6AB-55B7C1FF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9239250" y="1219200"/>
          <a:ext xmlns:a="http://schemas.openxmlformats.org/drawingml/2006/main" cx="2381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d8ebb89461452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FABB6-0B2F-43CD-9880-04C9F93C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Quantidade de fundos · absoluto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86F27-D026-46D6-B0D6-678300EE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9cac5e12894fd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F4EA8-1775-4060-AEE1-A527BDB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2397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por faixa · R$ 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DF1A6-CD01-4787-B6B4-09458E8A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90675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6334125" y="1724025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871992605f4a85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229A3-04A1-4A18-9504-678F77AA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Quantidade de fundos · % do total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C8547-1F42-4E4C-AECB-1C71530E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71500" y="4076700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dd2a9620294ae4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4B37F-5774-472A-93DA-B76CF45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Soma das barras = 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7B2AD-3EE1-4FBC-B44C-5C674654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por faixa · % do 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C4834-CD9E-472C-86D9-4E617303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6334125" y="4076700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eeff8472c24a50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957AC-C720-4F20-A154-2C0D6A06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528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Soma das barras = 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D25C7-5F55-4411-82C6-B9A9F78B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Comparação de duas fotografias da indústria, não de coorte constante. Corte de R$ 200 mi em valores nominais; cada histograma percentual fecha em 100%.</a:t>
            </a:r>
          </a:p>
        </p:txBody>
      </p:sp>
    </p:spTree>
    <p:extLst>
      <p:ext uri="{BB962C8B-B14F-4D97-AF65-F5344CB8AC3E}">
        <p14:creationId xmlns:p14="http://schemas.microsoft.com/office/powerpoint/2010/main" val="19369990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1E9AB-3AAB-4D60-A962-0359578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8600-051A-44EB-A9B1-A9516B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Abertura PF/PJ e cenário sem TAPSO/Petrobras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B04F4-6FA2-421A-9C8A-6868027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3DC9-A567-4D7D-8C16-93DFA0A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A90E-CFF1-47F3-BE28-1F26255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PF/PJ: 24 CNPJs; PL dos fundos, Top1 mensal &lt;=1%; Sólido e BizCapital em Financeiro. Emissões por CNPJ; FIC fora; 2023 escalado ANBIMA.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93FC-6A38-45B2-9CDC-85DDAE6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A593-2060-4D9A-9ED7-7335A4F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76576-5E4C-4742-80B6-5AF9ED4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f3b9c193614a3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45B6F-20C4-49D6-9BC3-5A08A96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082C-861F-45DD-83A8-65F6FBD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caf39ab2314356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F68-14C2-42D0-B53D-006B46F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BE62-BD10-4639-B789-B1FD476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7BE-32AB-4612-B3E5-E0C2CC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7B0F-BD5F-4803-96B6-EB1A702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0C4AB-E80B-419B-ABEB-BBD76BA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78F1-5E06-47BD-AE40-CC0BC45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ED78-5235-4223-A570-3669391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1392-2C47-427A-9F53-8C9A24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602E-0B58-437A-A3DA-BE9D600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63EB-9E03-4318-9F56-22CEBDC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86D3-B894-4005-BAD6-19F0FBE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7763B-CD4E-488C-8F18-459E63F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C7A7-6C8D-494B-BE67-899C8D2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78BB-CD34-4835-9D88-6C8E74D1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PF/PJ*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5A71-6306-4A65-A146-C1F77DC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147FD-66EE-4C7C-BEB8-AFC7FC5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57150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e4fa7ba5c346b3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E2C19-A79F-4F3D-9BCA-DB4B496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FD437-ED88-4E7C-A48E-39E4EEB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638175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6734bafeb140d8"/>
          </a:graphicData>
        </a:graphic>
      </p:graphicFrame>
    </p:spTree>
    <p:extLst>
      <p:ext uri="{BB962C8B-B14F-4D97-AF65-F5344CB8AC3E}">
        <p14:creationId xmlns:p14="http://schemas.microsoft.com/office/powerpoint/2010/main" val="9489900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1A4CD-7953-411E-B38F-87B6D9A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Multicarteira Pulverizado PF/PJ | Decisão final de jun/26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C7551-676A-4BA6-8A9B-3268939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24 fundos incluídos; Sólido e BizCapital permanecem em Financeiro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90392-E887-49D6-B78B-F97196AF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CD366-A081-4A0C-8744-0702D6D0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81E7-20BC-46C8-B106-B1CFB5A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 jun/26, regulamentos e ledger de 26 decisões. Ver CSV dos 24 incluídos e prompt de atualização.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DF20B-3693-43CD-B2B3-20EF7E6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0A5D-F366-41BD-BB8F-840DC88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dos fundos · R$ bilhões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2A2D-8B60-4B2E-8BB7-73B32FC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28a5bbf4e8416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966C-90A1-4B2C-ADD9-72D8F25F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PL total ex-FIC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1D7D-92AA-48F1-9537-12314A2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7d6d81081d4aac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B953-1C3C-4356-B72E-FF3B861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* R$ 7,1 bi = PL integral dos 24 fundos (1,0% do PL sem TAPSO/Petrobras).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71E68-8363-4785-A8E5-59F94F8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Regulamentos lidos integralmente; crédito direto PF/PJ confirmado; Top1 mensal &lt;=1% dos DC brutos. Foram reportadas 578 posições; isso não informa o total de devedores. Exposição efetiva PF/PJ, divisão PF/PJ e total de devedores: N/D. Taxonomia congelada em jun/26 e retroaplicada.</a:t>
            </a:r>
          </a:p>
        </p:txBody>
      </p:sp>
    </p:spTree>
    <p:extLst>
      <p:ext uri="{BB962C8B-B14F-4D97-AF65-F5344CB8AC3E}">
        <p14:creationId xmlns:p14="http://schemas.microsoft.com/office/powerpoint/2010/main" val="1521510672"/>
      </p:ext>
    </p:extLst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04825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50592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Arial"/>
              </a:defRPr>
            </a:pPr>
            <a:r>
              <a:t>Posição competitiva do Itaú BBA em renda fixa e híbridos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5526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5D6369"/>
                </a:solidFill>
                <a:latin typeface="Arial"/>
              </a:defRPr>
            </a:pPr>
            <a:r>
              <a:t>Originação e distribuição · acumulado de 2026 e últimos 12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767328"/>
            <a:ext cx="292608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98678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8D9399"/>
                </a:solidFill>
                <a:latin typeface="Arial"/>
              </a:defRPr>
            </a:pPr>
            <a:r>
              <a:t>Ranking ANBIMA de Renda Fixa e Híbridos — referência Junho/2026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Análise Setorial de Crédito — Itaú BBA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Sumário executivo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Na distribuição de renda fixa — o esforço efetivo de colocação junto ao investidor — o Itaú BBA é líder nas duas janelas: 26,6% no acumulado de 2026 e 24,6% nos últimos 12 meses.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39111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1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Na originação de renda fixa o banco é 1º nos últimos 12 meses, com 25,0%, e 2º no acumulado de 2026, com 22,9%. A troca de posição no semestre não se reproduz na janela de doze meses.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34055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5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A desvantagem para o líder no acumulado de 2026 é de 4,9 p.p. (Bradesco BBI, 27,8%), enquanto a vantagem sobre o 3º colocado supera 12 p.p. — o bloco de liderança segue restrito a duas casas.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428999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83279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Em securitização o Itaú BBA lidera a originação com 37,6%, puxado por FIDC, onde a participação é de 45,7% — mais que o dobro do segundo colocado.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123943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78223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Em operações híbridas o banco também lidera a originação, com 43,3%, incluindo 74,2% em FI-Infra (FIP-IE).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818887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73167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O Itaú BBA participou de 260 das 696 operações encerradas no período e foi o maior coordenador em 211 delas, o que sustenta a posição por presença recorrente, não por concentração em poucas transações.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513831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68111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Pontos de atenção específicos, e não sistêmicos: CRA na originação (3º, 12,4%) e renda fixa de curto prazo (3º, 5,4%), ambos segmentos de menor peso no consolidado e com espaço claro de recuperação.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· Anexo ao Ranking — Tabela de Encerramento, Junho/2026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Originação de renda fixa: 2º no acumulado de 2026 e 1º nos últimos 12 meses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ORIGINAÇÃO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R$ 51,0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acumulado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PARTICIPAÇÃO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22,9%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do mercado apurado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entre 31 instituições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 12 MESES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25,0% de participação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54203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6928" y="2852928"/>
          <a:ext cx="5394960" cy="23408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62.033,0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+4,9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51.047,3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-4,9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22.216,3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-17,8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-12,9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21.109,2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-18,3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-13,4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17.469,3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15.716,9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-15,8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Caixa Econômica Federal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7.487,8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-24,4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5.914,2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190488" y="254203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90488" y="2852928"/>
          <a:ext cx="5394960" cy="23408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140.863,2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115.652,6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58.646,4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-14,6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-14,6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53.205,1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-15,6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-15,6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50.007,8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41.943,1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-17,6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-17,6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BNDES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20.928,2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18.114,1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(Valor), Tipo 1: Renda Fixa Consolidado · diferenças em pontos percentuais de market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Originação — market share das seis principais casas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048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9048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Itaú BBA em azul; demais casas em cinza. Percentuais referem-se ao total do ranking Tipo 1, que soma 100% em cada janela.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(Valor), Tipo 1: Renda Fixa Consolidado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Distribuição de renda fixa: Itaú BBA em 1º nas duas janelas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DISTRIBUIÇÃO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R$ 21,9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acumulado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PARTICIPAÇÃO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26,6%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do mercado apurado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entre 38 instituições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 12 MESES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24,6% de participação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54203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6928" y="2852928"/>
          <a:ext cx="5394960" cy="23408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21.946,9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14.744,4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12.795,2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-11,1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-11,1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6.064,5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5.896,4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4.636,0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Caixa Econômica Federal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2.425,7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ABC Brasil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2.357,1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190488" y="254203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90488" y="2852928"/>
          <a:ext cx="5394960" cy="23408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63.243,9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41.748,4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41.171,2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21.532,0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20.279,4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16.498,9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-18,2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-18,2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11.860,6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Votorantim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9.213,3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Distribuição (Valor), Tipo 1: Renda Fixa Consolidado · diferenças em pontos percentuais de market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Distribuição — market share das seis principais casas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048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9048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Itaú BBA em azul; demais casas em cinza. Percentuais referem-se ao total do ranking Tipo 1, que soma 100% em cada janela.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Distribuição (Valor), Tipo 1: Renda Fixa Consolidado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Visão por produto: mercado, posição e participação do Itaú BBA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98448"/>
          <a:ext cx="10744200" cy="347472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880360"/>
                <a:gridCol w="1325880"/>
                <a:gridCol w="1508760"/>
                <a:gridCol w="1234440"/>
                <a:gridCol w="1280160"/>
                <a:gridCol w="123444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Segmento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Operações (#)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Mercado (R$ bi)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Rank 1S26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 1S26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Rank 12m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 12m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Renda fixa consolidada*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223,2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Renda fixa — longo prazo*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176,2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Renda fixa — curto prazo*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Securitização*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36,5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Operações híbridas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11,5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FI-Infra (FIP-IE)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64,7%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FIAGRO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33,9%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65,2%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974336"/>
            <a:ext cx="11018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* Composição dos agregados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212079"/>
            <a:ext cx="11018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Renda fixa consolidada: soma de curto prazo, longo prazo e securitização. Renda fixa — curto prazo: vencimento até 366 dias. Longo prazo: acima de 366 dias. Ambos compostos por debêntures simples, notas promissórias, notas comerciais, CPR-F e valor mobiliário de agência multilateral. Securitização: soma de FIDC (cotas seniores e subordinadas de condomínio fechado), CRI, CRA e CR. Prazo considerado é a data da 1ª repactuação ou o vencimento final, o que ocorrer primeiro. Operações de empresas ligadas são apuradas à parte e não entram nestes números.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(Valor e Nº de Operações), acumulado 2026 e últimos 12 meses · operações do total publicado por tipo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Em FIDC o Itaú BBA lidera com 45,7%, mais que o dobro do segundo colocado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ORIGINADO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R$ 11,4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1S26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PARTICIPAÇÃO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45,7%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do mercado apurado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entre 11 coordenadores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OPERAÇÕES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19 de 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originadas no semestre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2542032"/>
          <a:ext cx="11018520" cy="259689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640080"/>
                <a:gridCol w="4892040"/>
                <a:gridCol w="2011680"/>
                <a:gridCol w="155448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Coordenador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Operações (#)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11.442,6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5.174,5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3.296,6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ABC Brasil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1.098,1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1.020,0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1.020,0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730,2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Votorantim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631,5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 Partners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517,1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66928" y="5376672"/>
            <a:ext cx="11018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D6369"/>
                </a:solidFill>
                <a:latin typeface="Arial"/>
              </a:defRPr>
            </a:pPr>
            <a:r>
              <a:t>Na distribuição de FIDC o Itaú BBA também é 1º, com 42,5%. O mercado apurado no ranking é de R$ 25,1 bi, contra R$ 65,5 bi de cotas de FIDC registradas na CVM no mesmo período: o ranking cobre a parcela disputada, sem as operações de empresas ligadas e sem as ofertas não reportadas à ANBIMA.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e Distribuição (Valor), Tipo 1.3.1 · CVM, ofertas públicas de distribuição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As maiores operações do período e a presença do Itaú BBA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98448"/>
          <a:ext cx="11018520" cy="358444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931920"/>
                <a:gridCol w="1417320"/>
                <a:gridCol w="868680"/>
                <a:gridCol w="1097280"/>
                <a:gridCol w="246888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Operação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Instrumento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R$ mi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Líder(es)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GERAIS SANEAMENTO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Nota comercial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12/06/26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5.085,1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CLOUDWALK BELA FUNDO DE INVESTIMENTO EM DIR…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20/04/26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4.762,9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AGROPECUARIA MAGGI LTDA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CPR-F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09/06/26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3.538,4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KINEA RENDIMENTOS IMOBILIARIOS FUNDO DE INV…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03/03/26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3.110,3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OPEA SECURITIZADORA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30/06/26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3.011,3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TOTVS S.A.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02/02/26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CLARO S.A.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27/01/26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Citigroup | 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REDE DOR SÃO LUIZ 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12/01/26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OCEÂNICA ENGENHARIA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12/06/26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2.600,8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 VTK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27/02/26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2.550,0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FUNDO DE INVESTIMENTO EM DIREITOS CREDITORI…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27/04/26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2.500,0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 | 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REDE DOR SÃO LUIZ 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29/05/26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2.485,0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102352"/>
            <a:ext cx="11018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O Itaú BBA participou de 8 das 12 maiores operações do período. A lista das 20 maiores e a matriz completa de participação, operação a operação, estão no arquivo Excel.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Anexo ao Ranking — Tabela de Encerramento, Junho/2026 — originação, ordenado por valor total da operação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Top FIDCs Middle | jan–jun/26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9728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TOP 16 POR VOLUME CEDIDO NO PERÍODO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335024"/>
          <a:ext cx="11018519" cy="43434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74320"/>
                <a:gridCol w="1874519"/>
                <a:gridCol w="1783080"/>
                <a:gridCol w="1234440"/>
                <a:gridCol w="1508760"/>
                <a:gridCol w="777240"/>
                <a:gridCol w="1371600"/>
                <a:gridCol w="822960"/>
                <a:gridCol w="64008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Originador¹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Recebível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R$ mm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IBBA Coord?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Garantia Firme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Bookamos?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Risco IBBA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FIDC 30E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30E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Fomento Mercantil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Fomento Mercantil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60,0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Afinity MF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Crefaz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Cobuccio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Cobuccio S/A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Agro, Ind. e Com.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Recebíveis Comerciais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ABC Brasil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Sim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For-Te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TEL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Fomento Mercantil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Fomento Mercantil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Consignado Privado Paketá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QI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Crédito Consignado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667,0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Singulare / XP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Cash Flow Multissegmentos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RQ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Agro, Ind. e Com.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Agro/Ind.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46,6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Finaxis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Monee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Maree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Turbi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Turbi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Financiamento de Veículos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Misto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XPCE Infra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Arapua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Jefer Banking NP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BWT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Kyklos 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Latasa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Finaxis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LF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Listo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Agro, Ind. e Com.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Recebíveis Comerciais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600,0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Misto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Multiplica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Fomento Mercantil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Fomento Mercantil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Red Real LP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BMP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Finaxis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Residence Club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HRH Fortaleza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Crédito Imobiliário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Sim – IBBA Líder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Roqdeal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Ventisol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Subtotal (R$ mm)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3.014,6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Subtotal 1S26 (% emissões FIDC CVM)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806440"/>
            <a:ext cx="11018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5D6369"/>
                </a:solidFill>
                <a:latin typeface="Arial"/>
              </a:defRPr>
            </a:pPr>
            <a:r>
              <a:t>¹ A coluna Originador reproduz o cedente informado na planilha de entrada. A confirmação de que o cedente é também o originador dos direitos creditórios exige leitura do regulamento e dos documentos da oferta — ver nota técnica no slide seguinte.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062472"/>
            <a:ext cx="11018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5D6369"/>
                </a:solidFill>
                <a:latin typeface="Arial"/>
              </a:defRPr>
            </a:pPr>
            <a:r>
              <a:t>Subtotal em R$ mm soma as ofertas de referência mostradas; o percentual usa apenas as encerradas no 1S26, sobre o universo CVM de cotas de FIDC do semestre (R$ 65,5 bi). Bookamos? e Risco IBBA em branco por instrução. 4 fundos não têm oferta pública encerrada registrada na CVM e aparecem como n/d em R$ mm e “Não identificado” nas colunas dependentes da oferta.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CVM, Oferta Pública de Distribuição — RCVM 160 e legado ICVM 400/476, primária, encerrada · ANBIMA, Fundos 175 características público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Top FIDCs Middle — nota técnica de fontes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98448"/>
          <a:ext cx="11018520" cy="221284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94560"/>
                <a:gridCol w="4206240"/>
                <a:gridCol w="46177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Coluna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Fonte utilizada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Situação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 / CNPJ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Planilha de entrada curada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 de 16 conferidos contra o cadastro ANBIMA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Originador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Não confirmado: exige regulamento e documentos da oferta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Tipo e Recebível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ANBIMA, Fundos 175 características público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 de 16 classificados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R$ mm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CVM, ofertas RCVM 160 e legado ICVM 400/476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 de 16 com oferta encerrada identificada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IBBA Coord?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CVM, campo Nome_Lider da oferta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 de 16; a CVM publica apenas o líder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Garantia Firme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CVM, campo Regime_distribuicao (só RCVM 160)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 de 16; o legado não traz o campo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Bookamos? / Risco IBBA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Em branco por instrução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675887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36C0A"/>
                </a:solidFill>
                <a:latin typeface="Arial"/>
              </a:defRPr>
            </a:pPr>
            <a:r>
              <a:t>Oferta de referência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3008" y="3675887"/>
            <a:ext cx="8092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Quando o fundo tem oferta encerrada no 1S26, ela é a referência (4 fundos). Sem oferta no semestre, usa-se a mais recente encerrada, e a data consta no CSV resolvido. As demais colunas vêm sempre da mesma oferta.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187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36C0A"/>
                </a:solidFill>
                <a:latin typeface="Arial"/>
              </a:defRPr>
            </a:pPr>
            <a:r>
              <a:t>Por que o Originador ficou aberto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4187952"/>
            <a:ext cx="8092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Nem o arquivo de ofertas da CVM nem o cadastro ANBIMA declaram o originador dos direitos creditórios. Os campos Descricao_lastro e Identificacao_devedores_coobrigados estão vazios nas 64 ofertas encerradas destes fundos. Fechar a coluna exige o regulamento vigente e os documentos da oferta no FundosNet, fundo a fundo.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00016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36C0A"/>
                </a:solidFill>
                <a:latin typeface="Arial"/>
              </a:defRPr>
            </a:pPr>
            <a:r>
              <a:t>Ritos consultados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4700016"/>
            <a:ext cx="8092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Foram lidos os dois arquivos da CVM: o de ofertas automáticas RCVM 160 e o legado, com ICVM 400 e ICVM 476. As ICVM 476 são ofertas com esforços restritos e chegam rotuladas como “Cotas de fundos de investimento fechados”, sem indicar o tipo do fundo; entram aqui porque o CNPJ emissor já é um FIDC conhecido. Ordens 7, 9, 10, 13 seguem sem oferta encerrada em qualquer rito.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21208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36C0A"/>
                </a:solidFill>
                <a:latin typeface="Arial"/>
              </a:defRPr>
            </a:pPr>
            <a:r>
              <a:t>Itaú BBA em ofertas anteriores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5212080"/>
            <a:ext cx="8092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O banco liderou ofertas passadas de Cobuccio, LF III, Residence Club. No LF III liderou três emissões entre 2023 e 2024, e a oferta de referência de 2026 saiu com o UBS BB — histórico que a coluna IBBA Coord?, restrita à oferta de referência, não mostra. O CSV resolvido traz as datas.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724144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36C0A"/>
                </a:solidFill>
                <a:latin typeface="Arial"/>
              </a:defRPr>
            </a:pPr>
            <a:r>
              <a:t>Ranking ANBIMA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5724144"/>
            <a:ext cx="8092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Apenas o LF III aparece no anexo do ranking ANBIMA de junho/2026, coordenado pelo UBS BB. Os demais 15 não entram no ranking, que é declaratório.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Fontes consultadas: CVM Ofertas Públicas de Distribuição · ANBIMA Fundos 175 características público · ANBIMA Anexo ao Ranking de Renda Fixa e Híbridos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Como interpretar o ranking ANBIMA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Originação × Distribuição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64207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Originação mede a estruturação e a coordenação da oferta. Distribuição mede o esforço de colocação junto ao investidor. Uma casa pode liderar um e não o outro.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298448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298448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O ranking mede 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664207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A posição vem do volume das operações encerradas no período. Há um ranking separado por número de operações, em que cada coordenador recebe uma unidade.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42032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4203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As duas janelas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907792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“Acumulado 2026” cobre jan–jun/26. “Últimos 12 meses” cobre jul/25–jun/26 e suaviza o efeito de operações grandes concentradas em um trimestre.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542032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54203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Uma operação, vários coordenadores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07792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O crédito segue os percentuais informados à ANBIMA: proporção da garantia firme, ou proporção do fee em melhores esforços. Não é rateio igualitário.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85616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785616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O “Percentual Coordenado” define a liderança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151376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Na matriz de operações, “Líder” marca a casa com o maior percentual coordenado; “X” marca participação sem liderança; “–” marca ausência.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3785616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785616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Participação formal sem valor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151376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Alguns registros trazem participantes com percentual e valor zerados. Eles constam como participantes, mas não elevam market share por valor.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029200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02920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É um ranking declaratório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394960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Operação cujo formulário-padrão não foi enviado à ANBIMA não entra. Parte do mercado liderado por administradores e DTVMs fica de fora.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5029200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502920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Empresas ligadas saem do Tipo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394960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Coordenador com 10% ou mais do capital da emissora, cedente ou originadora vai para o Tipo 3, apurado à parte.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Metodologia do Ranking de Renda Fixa e Híbridos, capítulos II a VII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Premissas, limitações e fontes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Escopo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Toda a análise vem exclusivamente das duas planilhas oficiais da ANBIMA de junho/2026. Nenhum dado externo foi acrescentado.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13258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Chave de operação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6002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A matriz usa o registro CVM como chave. Séries da mesma emissão com registros distintos permanecem em linhas separadas.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974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Consistência verificada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718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Os market shares somam 100,0% em cada ranking. Em 689 dos 696 registros o percentual coordenado soma exatamente 100%.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6974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Registros sem valor econômico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9718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5 operações têm valor total zero, com participantes formais e sem crédito de valor. Estão sinalizadas na matriz e não elevam market share.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Consolidação de entidades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434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A ANBIMA consolida cada conglomerado sob um rótulo único e não segrega as entidades jurídicas do grupo.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0690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Cobertura do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43434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O ranking é declaratório e exclui operações de empresas ligadas do Tipo 1. Ele não equivale ao total emitido no mercado.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943600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Arquivos-fonte (SHA-256): Ranking 5e6173ca8f6d · Anexo 9adb22cac2af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ANBIMA Data — Ranking de Renda Fixa e Híbridos, referência Junho/2026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2026-09-01T17:07:00.6390000Z</dcterms:created>
  <dcterms:modified xsi:type="dcterms:W3CDTF">2026-09-01T17:07:00.6390000Z</dcterms:modified>
</coreProperties>
</file>