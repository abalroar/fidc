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1b0374f29c40e6" /><Relationship Type="http://schemas.openxmlformats.org/officeDocument/2006/relationships/extended-properties" Target="/docProps/app.xml" Id="R1cef56afbe67472a" /><Relationship Type="http://schemas.openxmlformats.org/officeDocument/2006/relationships/officeDocument" Target="/ppt/presentation.xml" Id="R9751f3e928084c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461ec733054f3f"/>
  </p:sldMasterIdLst>
  <p:notesMasterIdLst>
    <p:notesMasterId xmlns:r="http://schemas.openxmlformats.org/officeDocument/2006/relationships" r:id="Rcbd9a5c85e3b40be"/>
  </p:notesMasterIdLst>
  <p:sldIdLst>
    <p:sldId xmlns:r="http://schemas.openxmlformats.org/officeDocument/2006/relationships" id="256" r:id="Rbcf3eae906af41d4"/>
    <p:sldId xmlns:r="http://schemas.openxmlformats.org/officeDocument/2006/relationships" id="257" r:id="Rdd75d062323c4ee0"/>
    <p:sldId xmlns:r="http://schemas.openxmlformats.org/officeDocument/2006/relationships" id="258" r:id="R54bc16c29e3447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91627249964e38" /><Relationship Type="http://schemas.openxmlformats.org/officeDocument/2006/relationships/slideMaster" Target="/ppt/slideMasters/slideMaster1.xml" Id="R4c461ec733054f3f" /><Relationship Type="http://schemas.openxmlformats.org/officeDocument/2006/relationships/notesMaster" Target="/ppt/notesMasters/notesMaster1.xml" Id="Rcbd9a5c85e3b40be" /><Relationship Type="http://schemas.openxmlformats.org/officeDocument/2006/relationships/presProps" Target="/ppt/presProps.xml" Id="Rfc6020c54cd94b1b" /><Relationship Type="http://schemas.openxmlformats.org/officeDocument/2006/relationships/tableStyles" Target="/ppt/tableStyles.xml" Id="R4c0adc50391d4fde" /><Relationship Type="http://schemas.openxmlformats.org/officeDocument/2006/relationships/slide" Target="/ppt/slides/slide1.xml" Id="Rbcf3eae906af41d4" /><Relationship Type="http://schemas.openxmlformats.org/officeDocument/2006/relationships/slide" Target="/ppt/slides/slide2.xml" Id="Rdd75d062323c4ee0" /><Relationship Type="http://schemas.openxmlformats.org/officeDocument/2006/relationships/slide" Target="/ppt/slides/slide3.xml" Id="R54bc16c29e3447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783b7f7b564e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04c8f160024045" /><Relationship Type="http://schemas.openxmlformats.org/officeDocument/2006/relationships/notesMaster" Target="/ppt/notesMasters/notesMaster1.xml" Id="Rd5c5ca61dab844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8ba2849bf049d5" /><Relationship Type="http://schemas.openxmlformats.org/officeDocument/2006/relationships/notesMaster" Target="/ppt/notesMasters/notesMaster1.xml" Id="Rc66ac15daf1547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7a5eee34344d1e" /><Relationship Type="http://schemas.openxmlformats.org/officeDocument/2006/relationships/notesMaster" Target="/ppt/notesMasters/notesMaster1.xml" Id="Re1b9a833b25d49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jun/26; bases/prestadores_separados.csv e prestadores_linhagem.csv. Itaú/Intrag/Kinea e Kanastra/Limine conforme curadoria documentada.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jun/26; bases/saldo_cenarios.csv; bases/emissoes_por_categoria.csv; bases/exclusoes_por_cnpj.csv. PF/PJ via bases/pfpj_24_incluidos.csv. Cenário sem CNPJs 09195235000150 e 26287464000114.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jun/26, Tabelas I, II e VIII; regulamentos integrais; bases/pfpj_26_decisoes.csv e pfpj_24_incluidos.csv. PL dos fundos; exposição efetiva, PF/PJ split e total de devedores=N/D.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88ba300f2143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6528ed5a414a8f" /><Relationship Type="http://schemas.openxmlformats.org/officeDocument/2006/relationships/slideLayout" Target="/ppt/slideLayouts/slideLayout1.xml" Id="R74be40c21dca49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be40c21dca49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8613d04244c3c" /><Relationship Type="http://schemas.openxmlformats.org/officeDocument/2006/relationships/chart" Target="/ppt/slides/charts/chart1.xml" Id="R8c137f883e164386" /><Relationship Type="http://schemas.openxmlformats.org/officeDocument/2006/relationships/chart" Target="/ppt/slides/charts/chart2.xml" Id="R1189ec65be7645d8" /><Relationship Type="http://schemas.openxmlformats.org/officeDocument/2006/relationships/chart" Target="/ppt/slides/charts/chart3.xml" Id="Rea432e6277234f4b" /><Relationship Type="http://schemas.openxmlformats.org/officeDocument/2006/relationships/chart" Target="/ppt/slides/charts/chart4.xml" Id="R2dce90c52d2b4374" /><Relationship Type="http://schemas.openxmlformats.org/officeDocument/2006/relationships/chart" Target="/ppt/slides/charts/chart5.xml" Id="R6edb5fd71f9245d6" /><Relationship Type="http://schemas.openxmlformats.org/officeDocument/2006/relationships/chart" Target="/ppt/slides/charts/chart6.xml" Id="Rac6f39b9ab7f4257" /><Relationship Type="http://schemas.openxmlformats.org/officeDocument/2006/relationships/chart" Target="/ppt/slides/charts/chart7.xml" Id="Rdec15366e92d469f" /><Relationship Type="http://schemas.openxmlformats.org/officeDocument/2006/relationships/notesSlide" Target="/ppt/notesSlides/notesSlide1.xml" Id="R27fff5c9c79040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08cabb382490f" /><Relationship Type="http://schemas.openxmlformats.org/officeDocument/2006/relationships/chart" Target="/ppt/slides/charts/chart8.xml" Id="Rb75e81a23ec04539" /><Relationship Type="http://schemas.openxmlformats.org/officeDocument/2006/relationships/chart" Target="/ppt/slides/charts/chart9.xml" Id="R76b1d69e08cb4aa8" /><Relationship Type="http://schemas.openxmlformats.org/officeDocument/2006/relationships/chart" Target="/ppt/slides/charts/chart10.xml" Id="Rbd9119e6424c4922" /><Relationship Type="http://schemas.openxmlformats.org/officeDocument/2006/relationships/chart" Target="/ppt/slides/charts/chart11.xml" Id="R2243713bd0a944c1" /><Relationship Type="http://schemas.openxmlformats.org/officeDocument/2006/relationships/notesSlide" Target="/ppt/notesSlides/notesSlide2.xml" Id="R7c7f6ff178a040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010813e2e43c2" /><Relationship Type="http://schemas.openxmlformats.org/officeDocument/2006/relationships/chart" Target="/ppt/slides/charts/chart12.xml" Id="R882a07bc064f476c" /><Relationship Type="http://schemas.openxmlformats.org/officeDocument/2006/relationships/chart" Target="/ppt/slides/charts/chart13.xml" Id="R5d27b3ac6bab49c1" /><Relationship Type="http://schemas.openxmlformats.org/officeDocument/2006/relationships/notesSlide" Target="/ppt/notesSlides/notesSlide3.xml" Id="Rc893f100757f4e5f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QI Tech</c:v>
          </c:tx>
          <c:spPr>
            <a:ln xmlns:a="http://schemas.openxmlformats.org/drawingml/2006/main" w="28575">
              <a:solidFill>
                <a:srgbClr val="2456D6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BTG Pactual</c:v>
          </c:tx>
          <c:spPr>
            <a:ln xmlns:a="http://schemas.openxmlformats.org/drawingml/2006/main" w="28575">
              <a:solidFill>
                <a:srgbClr val="1D408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Oliveira Trust</c:v>
          </c:tx>
          <c:spPr>
            <a:ln xmlns:a="http://schemas.openxmlformats.org/drawingml/2006/main" w="28575">
              <a:solidFill>
                <a:srgbClr val="7A1F3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3"/>
          <c:order val="3"/>
          <c:tx>
            <c:v>Itaú</c:v>
          </c:tx>
          <c:spPr>
            <a:ln xmlns:a="http://schemas.openxmlformats.org/drawingml/2006/main" w="28575">
              <a:solidFill>
                <a:srgbClr val="FF55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4"/>
          <c:order val="4"/>
          <c:tx>
            <c:v>Genial</c:v>
          </c:tx>
          <c:spPr>
            <a:ln xmlns:a="http://schemas.openxmlformats.org/drawingml/2006/main" w="28575">
              <a:solidFill>
                <a:srgbClr val="6EC5E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5"/>
          <c:order val="5"/>
          <c:tx>
            <c:v>CBSF / REAG</c:v>
          </c:tx>
          <c:spPr>
            <a:ln xmlns:a="http://schemas.openxmlformats.org/drawingml/2006/main" w="28575">
              <a:solidFill>
                <a:srgbClr val="73C6A1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6"/>
          <c:order val="6"/>
          <c:tx>
            <c:v>Demais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D4080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Daycoval</c:v>
              </c:pt>
              <c:pt idx="3">
                <c:v>Bradesco</c:v>
              </c:pt>
              <c:pt idx="4">
                <c:v>Oliveira Trust</c:v>
              </c:pt>
              <c:pt idx="5">
                <c:v>BTG Pactual</c:v>
              </c:pt>
              <c:pt idx="6">
                <c:v>QI Tech</c:v>
              </c:pt>
            </c:strLit>
          </c:cat>
          <c:val>
            <c:numLit>
              <c:formatCode>0.0</c:formatCode>
              <c:ptCount val="7"/>
              <c:pt idx="0">
                <c:v>12.84615693169</c:v>
              </c:pt>
              <c:pt idx="1">
                <c:v>27.05634936661</c:v>
              </c:pt>
              <c:pt idx="2">
                <c:v>49.75417439041</c:v>
              </c:pt>
              <c:pt idx="3">
                <c:v>49.77770817222</c:v>
              </c:pt>
              <c:pt idx="4">
                <c:v>56.87136007691</c:v>
              </c:pt>
              <c:pt idx="5">
                <c:v>107.91817098489999</c:v>
              </c:pt>
              <c:pt idx="6">
                <c:v>116.97439427594999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54A4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B606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5"/>
              <c:pt idx="0">
                <c:v>Hemera</c:v>
              </c:pt>
              <c:pt idx="1">
                <c:v>BRL Trust</c:v>
              </c:pt>
              <c:pt idx="2">
                <c:v>Finaxis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21.00943573536</c:v>
              </c:pt>
              <c:pt idx="1">
                <c:v>21.26060727013</c:v>
              </c:pt>
              <c:pt idx="2">
                <c:v>22.30772786867</c:v>
              </c:pt>
              <c:pt idx="3">
                <c:v>56.87136007691</c:v>
              </c:pt>
              <c:pt idx="4">
                <c:v>116.97439427594999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6EC5E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1D4080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Tercon Investimentos</c:v>
              </c:pt>
              <c:pt idx="3">
                <c:v>Genial</c:v>
              </c:pt>
              <c:pt idx="4">
                <c:v>Oliveira Trust</c:v>
              </c:pt>
              <c:pt idx="5">
                <c:v>Bradesco</c:v>
              </c:pt>
              <c:pt idx="6">
                <c:v>BTG Pactual</c:v>
              </c:pt>
            </c:strLit>
          </c:cat>
          <c:val>
            <c:numLit>
              <c:formatCode>0.0</c:formatCode>
              <c:ptCount val="7"/>
              <c:pt idx="0">
                <c:v>10.61117776359</c:v>
              </c:pt>
              <c:pt idx="1">
                <c:v>20.5830639885</c:v>
              </c:pt>
              <c:pt idx="2">
                <c:v>21.696113631950002</c:v>
              </c:pt>
              <c:pt idx="3">
                <c:v>26.87573463003</c:v>
              </c:pt>
              <c:pt idx="4">
                <c:v>35.02222544035998</c:v>
              </c:pt>
              <c:pt idx="5">
                <c:v>39.85656848075</c:v>
              </c:pt>
              <c:pt idx="6">
                <c:v>78.74983410723001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3C6A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7ACB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cat>
            <c:strLit>
              <c:ptCount val="5"/>
              <c:pt idx="0">
                <c:v>CBSF</c:v>
              </c:pt>
              <c:pt idx="1">
                <c:v>Solis Investimentos</c:v>
              </c:pt>
              <c:pt idx="2">
                <c:v>Integral Investimentos</c:v>
              </c:pt>
              <c:pt idx="3">
                <c:v>Tercon Investimentos</c:v>
              </c:pt>
              <c:pt idx="4">
                <c:v>Oliveira Trust</c:v>
              </c:pt>
            </c:strLit>
          </c:cat>
          <c:val>
            <c:numLit>
              <c:formatCode>0.0</c:formatCode>
              <c:ptCount val="5"/>
              <c:pt idx="0">
                <c:v>10.17441132442</c:v>
              </c:pt>
              <c:pt idx="1">
                <c:v>14.32953247391</c:v>
              </c:pt>
              <c:pt idx="2">
                <c:v>14.931875223759999</c:v>
              </c:pt>
              <c:pt idx="3">
                <c:v>21.696113631950002</c:v>
              </c:pt>
              <c:pt idx="4">
                <c:v>35.02222544035998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D4080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Bradesco</c:v>
              </c:pt>
              <c:pt idx="3">
                <c:v>Daycoval</c:v>
              </c:pt>
              <c:pt idx="4">
                <c:v>Oliveira Trust</c:v>
              </c:pt>
              <c:pt idx="5">
                <c:v>BTG Pactual</c:v>
              </c:pt>
              <c:pt idx="6">
                <c:v>QI Tech</c:v>
              </c:pt>
            </c:strLit>
          </c:cat>
          <c:val>
            <c:numLit>
              <c:formatCode>0.0</c:formatCode>
              <c:ptCount val="7"/>
              <c:pt idx="0">
                <c:v>19.494658191289997</c:v>
              </c:pt>
              <c:pt idx="1">
                <c:v>20.405586732159996</c:v>
              </c:pt>
              <c:pt idx="2">
                <c:v>48.43408476549</c:v>
              </c:pt>
              <c:pt idx="3">
                <c:v>55.81924378400999</c:v>
              </c:pt>
              <c:pt idx="4">
                <c:v>71.90092760434999</c:v>
              </c:pt>
              <c:pt idx="5">
                <c:v>107.26541902169001</c:v>
              </c:pt>
              <c:pt idx="6">
                <c:v>115.31244022541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54A4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B606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C6A1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5"/>
              <c:pt idx="0">
                <c:v>BRL Trust</c:v>
              </c:pt>
              <c:pt idx="1">
                <c:v>Finaxis</c:v>
              </c:pt>
              <c:pt idx="2">
                <c:v>REAG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21.26374598682</c:v>
              </c:pt>
              <c:pt idx="1">
                <c:v>22.30772786867</c:v>
              </c:pt>
              <c:pt idx="2">
                <c:v>25.04054022159</c:v>
              </c:pt>
              <c:pt idx="3">
                <c:v>71.90092760434999</c:v>
              </c:pt>
              <c:pt idx="4">
                <c:v>115.31244022541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53.039866746449995</c:v>
              </c:pt>
              <c:pt idx="1">
                <c:v>66.99363287149001</c:v>
              </c:pt>
              <c:pt idx="2">
                <c:v>84.0510959145</c:v>
              </c:pt>
              <c:pt idx="3">
                <c:v>88.39237477025999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88.01231288842001</c:v>
              </c:pt>
              <c:pt idx="1">
                <c:v>110.78163928671</c:v>
              </c:pt>
              <c:pt idx="2">
                <c:v>134.72203186548</c:v>
              </c:pt>
              <c:pt idx="3">
                <c:v>142.63089658108998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126.14605664653</c:v>
              </c:pt>
              <c:pt idx="1">
                <c:v>176.82850856551002</c:v>
              </c:pt>
              <c:pt idx="2">
                <c:v>231.72616772613995</c:v>
              </c:pt>
              <c:pt idx="3">
                <c:v>275.29447198864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3.0397972983000003</c:v>
              </c:pt>
              <c:pt idx="1">
                <c:v>3.80886973898</c:v>
              </c:pt>
              <c:pt idx="2">
                <c:v>5.862133668999999</c:v>
              </c:pt>
              <c:pt idx="3">
                <c:v>7.10264044208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54.14687833335</c:v>
              </c:pt>
              <c:pt idx="1">
                <c:v>71.53991117332</c:v>
              </c:pt>
              <c:pt idx="2">
                <c:v>92.67004840915</c:v>
              </c:pt>
              <c:pt idx="3">
                <c:v>81.84740187933002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42.82259619404</c:v>
              </c:pt>
              <c:pt idx="1">
                <c:v>63.3543770927</c:v>
              </c:pt>
              <c:pt idx="2">
                <c:v>90.8173192781</c:v>
              </c:pt>
              <c:pt idx="3">
                <c:v>86.50477887797999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21.275962572810005</c:v>
              </c:pt>
              <c:pt idx="1">
                <c:v>33.66266718072</c:v>
              </c:pt>
              <c:pt idx="2">
                <c:v>33.97906413177999</c:v>
              </c:pt>
              <c:pt idx="3">
                <c:v>35.19928678253001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0.4925227090800001</c:v>
              </c:pt>
              <c:pt idx="1">
                <c:v>0.22197586637999997</c:v>
              </c:pt>
              <c:pt idx="2">
                <c:v>0.08320776646000001</c:v>
              </c:pt>
              <c:pt idx="3">
                <c:v>1.63869010794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0.1363576869727525</c:v>
              </c:pt>
              <c:pt idx="1">
                <c:v>0.1270764465658316</c:v>
              </c:pt>
              <c:pt idx="2">
                <c:v>0.1247213464961755</c:v>
              </c:pt>
              <c:pt idx="3">
                <c:v>0.123004561823407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0.2262666961053475</c:v>
              </c:pt>
              <c:pt idx="1">
                <c:v>0.2101354481297849</c:v>
              </c:pt>
              <c:pt idx="2">
                <c:v>0.1999106975839517</c:v>
              </c:pt>
              <c:pt idx="3">
                <c:v>0.1984814977766555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0.324302935889369</c:v>
              </c:pt>
              <c:pt idx="1">
                <c:v>0.3354160321943587</c:v>
              </c:pt>
              <c:pt idx="2">
                <c:v>0.3438527403212231</c:v>
              </c:pt>
              <c:pt idx="3">
                <c:v>0.3830927270296855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0.0078148712258963</c:v>
              </c:pt>
              <c:pt idx="1">
                <c:v>0.0072248303475371</c:v>
              </c:pt>
              <c:pt idx="2">
                <c:v>0.0086986754495382</c:v>
              </c:pt>
              <c:pt idx="3">
                <c:v>0.0098838522851996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0.1392036507487046</c:v>
              </c:pt>
              <c:pt idx="1">
                <c:v>0.1357000256573569</c:v>
              </c:pt>
              <c:pt idx="2">
                <c:v>0.1375107973513174</c:v>
              </c:pt>
              <c:pt idx="3">
                <c:v>0.1138967454004706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0.1100905889356954</c:v>
              </c:pt>
              <c:pt idx="1">
                <c:v>0.1201733473802729</c:v>
              </c:pt>
              <c:pt idx="2">
                <c:v>0.134761578326829</c:v>
              </c:pt>
              <c:pt idx="3">
                <c:v>0.1203778317889099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0.0546973667640558</c:v>
              </c:pt>
              <c:pt idx="1">
                <c:v>0.0638528162140403</c:v>
              </c:pt>
              <c:pt idx="2">
                <c:v>0.0504206945202293</c:v>
              </c:pt>
              <c:pt idx="3">
                <c:v>0.0489824247672355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0.0012662033581786</c:v>
              </c:pt>
              <c:pt idx="1">
                <c:v>0.0004210535108172</c:v>
              </c:pt>
              <c:pt idx="2">
                <c:v>0.0001234699507355</c:v>
              </c:pt>
              <c:pt idx="3">
                <c:v>0.0022803591284361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4.272733645318789</c:v>
              </c:pt>
              <c:pt idx="1">
                <c:v>9.46084314594</c:v>
              </c:pt>
              <c:pt idx="2">
                <c:v>8.85980114902</c:v>
              </c:pt>
              <c:pt idx="3">
                <c:v>3.9604598731999996</c:v>
              </c:pt>
              <c:pt idx="4">
                <c:v>5.60231892482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4.81492197807918</c:v>
              </c:pt>
              <c:pt idx="1">
                <c:v>17.46136403561</c:v>
              </c:pt>
              <c:pt idx="2">
                <c:v>27.4106918537</c:v>
              </c:pt>
              <c:pt idx="3">
                <c:v>18.84859596717</c:v>
              </c:pt>
              <c:pt idx="4">
                <c:v>10.74513727233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15.42043709582751</c:v>
              </c:pt>
              <c:pt idx="1">
                <c:v>42.451896497339995</c:v>
              </c:pt>
              <c:pt idx="2">
                <c:v>51.61086148217</c:v>
              </c:pt>
              <c:pt idx="3">
                <c:v>21.28068209032</c:v>
              </c:pt>
              <c:pt idx="4">
                <c:v>37.7899990259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1.3295867388102478</c:v>
              </c:pt>
              <c:pt idx="1">
                <c:v>1.79225</c:v>
              </c:pt>
              <c:pt idx="2">
                <c:v>0.261</c:v>
              </c:pt>
              <c:pt idx="3">
                <c:v>0.13</c:v>
              </c:pt>
              <c:pt idx="4">
                <c:v>2.60300000007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3.339822969232049</c:v>
              </c:pt>
              <c:pt idx="1">
                <c:v>5.5087763108</c:v>
              </c:pt>
              <c:pt idx="2">
                <c:v>7.018108725239999</c:v>
              </c:pt>
              <c:pt idx="3">
                <c:v>3.2252896508299997</c:v>
              </c:pt>
              <c:pt idx="4">
                <c:v>2.07487987222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2.287448611391622</c:v>
              </c:pt>
              <c:pt idx="1">
                <c:v>1.90953225977</c:v>
              </c:pt>
              <c:pt idx="2">
                <c:v>3.5888690035</c:v>
              </c:pt>
              <c:pt idx="3">
                <c:v>1.15603067773</c:v>
              </c:pt>
              <c:pt idx="4">
                <c:v>1.21970179492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0.8743020042766778</c:v>
              </c:pt>
              <c:pt idx="1">
                <c:v>1.7879510000799999</c:v>
              </c:pt>
              <c:pt idx="2">
                <c:v>2.45979375898</c:v>
              </c:pt>
              <c:pt idx="3">
                <c:v>0.6778</c:v>
              </c:pt>
              <c:pt idx="4">
                <c:v>0.29309674031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8.542325907839587</c:v>
              </c:pt>
              <c:pt idx="1">
                <c:v>8.013988884309999</c:v>
              </c:pt>
              <c:pt idx="2">
                <c:v>5.23622188904</c:v>
              </c:pt>
              <c:pt idx="3">
                <c:v>3.15074370915</c:v>
              </c:pt>
              <c:pt idx="4">
                <c:v>2.3466058039299997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0.1045148880003745</c:v>
              </c:pt>
              <c:pt idx="1">
                <c:v>0.1070393353464678</c:v>
              </c:pt>
              <c:pt idx="2">
                <c:v>0.0832333336026609</c:v>
              </c:pt>
              <c:pt idx="3">
                <c:v>0.0755386217806311</c:v>
              </c:pt>
              <c:pt idx="4">
                <c:v>0.0893871913209126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0.1177772997436496</c:v>
              </c:pt>
              <c:pt idx="1">
                <c:v>0.1975566840907294</c:v>
              </c:pt>
              <c:pt idx="2">
                <c:v>0.2575095333365479</c:v>
              </c:pt>
              <c:pt idx="3">
                <c:v>0.359502938407396</c:v>
              </c:pt>
              <c:pt idx="4">
                <c:v>0.1714428710718376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0.3771976888269119</c:v>
              </c:pt>
              <c:pt idx="1">
                <c:v>0.480297867238432</c:v>
              </c:pt>
              <c:pt idx="2">
                <c:v>0.4848578403750447</c:v>
              </c:pt>
              <c:pt idx="3">
                <c:v>0.4058905902651357</c:v>
              </c:pt>
              <c:pt idx="4">
                <c:v>0.6029542263257991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0.0325228812813508</c:v>
              </c:pt>
              <c:pt idx="1">
                <c:v>0.0202773945001966</c:v>
              </c:pt>
              <c:pt idx="2">
                <c:v>0.0024519624881984</c:v>
              </c:pt>
              <c:pt idx="3">
                <c:v>0.0024795152951638</c:v>
              </c:pt>
              <c:pt idx="4">
                <c:v>0.0415318838746882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0.0816950581398393</c:v>
              </c:pt>
              <c:pt idx="1">
                <c:v>0.062325920193851</c:v>
              </c:pt>
              <c:pt idx="2">
                <c:v>0.0659315683233205</c:v>
              </c:pt>
              <c:pt idx="3">
                <c:v>0.0615165770812817</c:v>
              </c:pt>
              <c:pt idx="4">
                <c:v>0.0331055205165776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0.0559530397332714</c:v>
              </c:pt>
              <c:pt idx="1">
                <c:v>0.0216043180037429</c:v>
              </c:pt>
              <c:pt idx="2">
                <c:v>0.033715602190192</c:v>
              </c:pt>
              <c:pt idx="3">
                <c:v>0.0220491980546935</c:v>
              </c:pt>
              <c:pt idx="4">
                <c:v>0.0194608195570511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0.0213862093078498</c:v>
              </c:pt>
              <c:pt idx="1">
                <c:v>0.0202287559077379</c:v>
              </c:pt>
              <c:pt idx="2">
                <c:v>0.0231085135085195</c:v>
              </c:pt>
              <c:pt idx="3">
                <c:v>0.0129278112850927</c:v>
              </c:pt>
              <c:pt idx="4">
                <c:v>0.0046764732163954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0.2089529349667525</c:v>
              </c:pt>
              <c:pt idx="1">
                <c:v>0.090669724718842</c:v>
              </c:pt>
              <c:pt idx="2">
                <c:v>0.0491916461755159</c:v>
              </c:pt>
              <c:pt idx="3">
                <c:v>0.0600947478306052</c:v>
              </c:pt>
              <c:pt idx="4">
                <c:v>0.0374410141167381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R$ bi</c:v>
          </c:tx>
          <c:spPr>
            <a:solidFill xmlns:a="http://schemas.openxmlformats.org/drawingml/2006/main">
              <a:srgbClr val="73787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472C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078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cat>
            <c:strLit>
              <c:ptCount val="4"/>
              <c:pt idx="0">
                <c:v>PF/PJ*</c:v>
              </c:pt>
              <c:pt idx="1">
                <c:v>Financeiro</c:v>
              </c:pt>
              <c:pt idx="2">
                <c:v>Fomento</c:v>
              </c:pt>
              <c:pt idx="3">
                <c:v>Multicedente</c:v>
              </c:pt>
            </c:strLit>
          </c:cat>
          <c:val>
            <c:numLit>
              <c:formatCode>0.0</c:formatCode>
              <c:ptCount val="4"/>
              <c:pt idx="0">
                <c:v>7.10264044208</c:v>
              </c:pt>
              <c:pt idx="1">
                <c:v>275.29447198864</c:v>
              </c:pt>
              <c:pt idx="2">
                <c:v>88.39237477025999</c:v>
              </c:pt>
              <c:pt idx="3">
                <c:v>86.50477887797999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% do PL ex-FIC</c:v>
          </c:tx>
          <c:spPr>
            <a:solidFill xmlns:a="http://schemas.openxmlformats.org/drawingml/2006/main">
              <a:srgbClr val="73787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472C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078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cat>
            <c:strLit>
              <c:ptCount val="4"/>
              <c:pt idx="0">
                <c:v>PF/PJ*</c:v>
              </c:pt>
              <c:pt idx="1">
                <c:v>Financeiro</c:v>
              </c:pt>
              <c:pt idx="2">
                <c:v>Fomento</c:v>
              </c:pt>
              <c:pt idx="3">
                <c:v>Multicedente</c:v>
              </c:pt>
            </c:strLit>
          </c:cat>
          <c:val>
            <c:numLit>
              <c:formatCode>0.0%</c:formatCode>
              <c:ptCount val="4"/>
              <c:pt idx="0">
                <c:v>0.0098838522851996</c:v>
              </c:pt>
              <c:pt idx="1">
                <c:v>0.3830927270296855</c:v>
              </c:pt>
              <c:pt idx="2">
                <c:v>0.123004561823407</c:v>
              </c:pt>
              <c:pt idx="3">
                <c:v>0.1203778317889099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0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BE0B2-82F1-46AC-8B0C-3B4DB0C2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Volume por prestador | Itaú e Kanastra separados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E9EE8-D19D-4759-92FE-F8E2982A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Jun/26 · PL ex-FIC, em R$ bilhões · Top 5 + comparadores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CEAC6-5C19-4B02-A092-12CBEB4E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0984D-5593-4680-A252-9134170F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FFF56-0E51-4961-9E91-B2E283A6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802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jun/26. Sem Petrobras/TAPSO. Itaú inclui Intrag/Kinea; Kanastra inclui Limine. Independentes: curadoria original.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F0A0E-F496-4C18-8FC2-C71ED293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1524000" y="1133475"/>
          <a:ext xmlns:a="http://schemas.openxmlformats.org/drawingml/2006/main" cx="914400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137f883e16438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E7FDF-3CCF-4A8D-A229-F008BF3D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528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5 + Itaú + Kanastra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8E78B-B77B-4CFB-8675-D25ABE49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62075"/>
            <a:ext cx="528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Independentes*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04795-4DA9-475E-A82E-FD304DE8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geral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89ec65be7645d8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90D32-68FB-45D6-AD2B-97D48142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8115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independente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334125" y="175260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432e6277234f4b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8255B-6CFA-44E4-A5E4-D5BEED30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geral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571500" y="3286125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ce90c52d2b4374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6CE80-C243-4112-822C-10A1EA66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14675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independente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6334125" y="3286125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db5fd71f9245d6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F51A5-29E1-4ACD-965A-8D3E316F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geral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571500" y="481965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6f39b9ab7f4257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EAD2D-C806-47D0-B279-4637EB44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4820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independente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334125" y="481965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c15366e92d469f"/>
          </a:graphicData>
        </a:graphic>
      </p:graphicFrame>
    </p:spTree>
    <p:extLst>
      <p:ext uri="{BB962C8B-B14F-4D97-AF65-F5344CB8AC3E}">
        <p14:creationId xmlns:p14="http://schemas.microsoft.com/office/powerpoint/2010/main" val="16696813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1E9AB-3AAB-4D60-A962-0359578B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SALDO E TIPOS DE FIDCs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D8600-051A-44EB-A9B1-A9516BD2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Saldo e Tipos de FIDCs | Abertura PF/PJ e cenário sem TAPSO/Petrobras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B04F4-6FA2-421A-9C8A-6868027C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63DC9-A567-4D7D-8C16-93DFA0A1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FA90E-CFF1-47F3-BE28-1F26255E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* PF/PJ: 24 CNPJs; PL dos fundos, Top1 mensal &lt;=1%; Sólido e BizCapital em Financeiro. Emissões por CNPJ; FIC fora; 2023 escalado ANBIMA.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893FC-6A38-45B2-9CDC-85DDAE61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9A593-2060-4D9A-9ED7-7335A4F8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Saldo ex-FIC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76576-5E4C-4742-80B6-5AF9ED4B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57150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5e81a23ec04539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45B6F-20C4-49D6-9BC3-5A08A966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saldo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9082C-861F-45DD-83A8-65F6FBDB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8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638175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b1d69e08cb4aa8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61F68-14C2-42D0-B53D-006B46FD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8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FBE62-BD10-4639-B789-B1FD4768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Fomento Mercantil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D87BE-32AB-4612-B3E5-E0C2CC5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A7B0F-BD5F-4803-96B6-EB1A7027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Agro, Indústria e Comércio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0C4AB-E80B-419B-ABEB-BBD76BA6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078F1-5E06-47BD-AE40-CC0BC454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Financeiro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AED78-5235-4223-A570-3669391C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21392-2C47-427A-9F53-8C9A249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Precatórios / ações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E602E-0B58-437A-A3DA-BE9D600F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063EB-9E03-4318-9F56-22CEBDC1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Multicedente / multisacado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D86D3-B894-4005-BAD6-19F0FBEB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7763B-CD4E-488C-8F18-459E63FA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Recuperação / NP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6C7A7-6C8D-494B-BE67-899C8D2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378BB-CD34-4835-9D88-6C8E74D1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PF/PJ*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35A71-6306-4A65-A146-C1F77DC6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R$ bi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E147FD-66EE-4C7C-BEB8-AFC7FC59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57150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9119e6424c4922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AE2C19-A79F-4F3D-9BCA-DB4B496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0FD437-ED88-4E7C-A48E-39E4EEB9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69" name="Chart"/>
          <p:cNvGraphicFramePr/>
          <p:nvPr/>
        </p:nvGraphicFramePr>
        <p:xfrm>
          <a:off xmlns:a="http://schemas.openxmlformats.org/drawingml/2006/main" x="638175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43713bd0a944c1"/>
          </a:graphicData>
        </a:graphic>
      </p:graphicFrame>
    </p:spTree>
    <p:extLst>
      <p:ext uri="{BB962C8B-B14F-4D97-AF65-F5344CB8AC3E}">
        <p14:creationId xmlns:p14="http://schemas.microsoft.com/office/powerpoint/2010/main" val="94899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1A4CD-7953-411E-B38F-87B6D9A3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Multicarteira Pulverizado PF/PJ | Decisão final de jun/26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C7551-676A-4BA6-8A9B-3268939E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24 fundos incluídos; Sólido e BizCapital permanecem em Financeiro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90392-E887-49D6-B78B-F97196AF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CD366-A081-4A0C-8744-0702D6D0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981E7-20BC-46C8-B106-B1CFB5A1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Informe Mensal jun/26, regulamentos e ledger de 26 decisões. Ver CSV dos 24 incluídos e prompt de atualização.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DF20B-3693-43CD-B2B3-20EF7E66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B0A5D-F366-41BD-BB8F-840DC880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dos fundos · R$ bilhões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02A2D-8B60-4B2E-8BB7-73B32FCE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2a07bc064f476c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E966C-90A1-4B2C-ADD9-72D8F25F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PL total ex-FIC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61D7D-92AA-48F1-9537-12314A2F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38175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27b3ac6bab49c1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7B953-1C3C-4356-B72E-FF3B861B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* R$ 7,1 bi = PL integral dos 24 fundos (1,0% do PL sem TAPSO/Petrobras).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71E68-8363-4785-A8E5-59F94F82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5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Regulamentos lidos integralmente; crédito direto PF/PJ confirmado; Top1 mensal &lt;=1% dos DC brutos. Foram reportadas 578 posições; isso não informa o total de devedores. Exposição efetiva PF/PJ, divisão PF/PJ e total de devedores: N/D. Taxonomia congelada em jun/26 e retroaplicada.</a:t>
            </a:r>
          </a:p>
        </p:txBody>
      </p:sp>
    </p:spTree>
    <p:extLst>
      <p:ext uri="{BB962C8B-B14F-4D97-AF65-F5344CB8AC3E}">
        <p14:creationId xmlns:p14="http://schemas.microsoft.com/office/powerpoint/2010/main" val="1521510672"/>
      </p:ext>
    </p:extLst>
  </p:cSld>
</p:sld>
</file>

<file path=ppt/theme/theme1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2026-09-01T17:07:10.1570000Z</dcterms:created>
  <dcterms:modified xsi:type="dcterms:W3CDTF">2026-09-01T17:07:10.1570000Z</dcterms:modified>
</coreProperties>
</file>