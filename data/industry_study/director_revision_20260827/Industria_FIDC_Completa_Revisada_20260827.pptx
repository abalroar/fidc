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2.xml" ContentType="application/vnd.openxmlformats-officedocument.drawingml.chart+xml"/>
  <Override PartName="/ppt/slides/charts/chart13.xml" ContentType="application/vnd.openxmlformats-officedocument.drawingml.chart+xml"/>
  <Override PartName="/ppt/slides/charts/chart1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5.xml" ContentType="application/vnd.openxmlformats-officedocument.drawingml.chart+xml"/>
  <Override PartName="/ppt/slides/charts/chart16.xml" ContentType="application/vnd.openxmlformats-officedocument.drawingml.chart+xml"/>
  <Override PartName="/ppt/slides/charts/chart17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8.xml" ContentType="application/vnd.openxmlformats-officedocument.drawingml.chart+xml"/>
  <Override PartName="/ppt/slides/charts/chart19.xml" ContentType="application/vnd.openxmlformats-officedocument.drawingml.chart+xml"/>
  <Override PartName="/ppt/slides/charts/chart20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21.xml" ContentType="application/vnd.openxmlformats-officedocument.drawingml.chart+xml"/>
  <Override PartName="/ppt/slides/charts/chart22.xml" ContentType="application/vnd.openxmlformats-officedocument.drawingml.chart+xml"/>
  <Override PartName="/ppt/slides/charts/chart23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24.xml" ContentType="application/vnd.openxmlformats-officedocument.drawingml.chart+xml"/>
  <Override PartName="/ppt/slides/charts/chart25.xml" ContentType="application/vnd.openxmlformats-officedocument.drawingml.chart+xml"/>
  <Override PartName="/ppt/slides/charts/chart26.xml" ContentType="application/vnd.openxmlformats-officedocument.drawingml.chart+xml"/>
  <Override PartName="/ppt/slides/charts/chart27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slides/charts/chart28.xml" ContentType="application/vnd.openxmlformats-officedocument.drawingml.chart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slides/charts/chart29.xml" ContentType="application/vnd.openxmlformats-officedocument.drawingml.chart+xml"/>
  <Override PartName="/ppt/slides/charts/chart30.xml" ContentType="application/vnd.openxmlformats-officedocument.drawingml.chart+xml"/>
  <Override PartName="/ppt/slides/charts/chart31.xml" ContentType="application/vnd.openxmlformats-officedocument.drawingml.chart+xml"/>
  <Override PartName="/ppt/slides/charts/chart32.xml" ContentType="application/vnd.openxmlformats-officedocument.drawingml.chart+xml"/>
  <Override PartName="/ppt/slides/charts/chart33.xml" ContentType="application/vnd.openxmlformats-officedocument.drawingml.chart+xml"/>
  <Override PartName="/ppt/slides/charts/chart34.xml" ContentType="application/vnd.openxmlformats-officedocument.drawingml.chart+xml"/>
  <Override PartName="/ppt/slides/charts/chart35.xml" ContentType="application/vnd.openxmlformats-officedocument.drawingml.chart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slides/charts/chart36.xml" ContentType="application/vnd.openxmlformats-officedocument.drawingml.chart+xml"/>
  <Override PartName="/ppt/slides/charts/chart37.xml" ContentType="application/vnd.openxmlformats-officedocument.drawingml.chart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slides/charts/chart38.xml" ContentType="application/vnd.openxmlformats-officedocument.drawingml.chart+xml"/>
  <Override PartName="/ppt/slides/charts/chart39.xml" ContentType="application/vnd.openxmlformats-officedocument.drawingml.chart+xml"/>
  <Override PartName="/ppt/slides/charts/chart40.xml" ContentType="application/vnd.openxmlformats-officedocument.drawingml.chart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slides/charts/chart41.xml" ContentType="application/vnd.openxmlformats-officedocument.drawingml.chart+xml"/>
  <Override PartName="/ppt/slides/charts/chart42.xml" ContentType="application/vnd.openxmlformats-officedocument.drawingml.chart+xml"/>
  <Override PartName="/ppt/slides/charts/chart43.xml" ContentType="application/vnd.openxmlformats-officedocument.drawingml.chart+xml"/>
  <Override PartName="/ppt/slides/charts/chart44.xml" ContentType="application/vnd.openxmlformats-officedocument.drawingml.chart+xml"/>
  <Override PartName="/ppt/slides/charts/chart45.xml" ContentType="application/vnd.openxmlformats-officedocument.drawingml.chart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slides/charts/chart46.xml" ContentType="application/vnd.openxmlformats-officedocument.drawingml.chart+xml"/>
  <Override PartName="/ppt/slides/charts/chart47.xml" ContentType="application/vnd.openxmlformats-officedocument.drawingml.chart+xml"/>
  <Override PartName="/ppt/slides/charts/chart48.xml" ContentType="application/vnd.openxmlformats-officedocument.drawingml.chart+xml"/>
  <Override PartName="/ppt/slides/charts/chart49.xml" ContentType="application/vnd.openxmlformats-officedocument.drawingml.chart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slides/charts/chart50.xml" ContentType="application/vnd.openxmlformats-officedocument.drawingml.chart+xml"/>
  <Override PartName="/ppt/slides/charts/chart51.xml" ContentType="application/vnd.openxmlformats-officedocument.drawingml.chart+xml"/>
  <Override PartName="/ppt/notesSlides/notesSlide3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7b0ad7378449f3" /><Relationship Type="http://schemas.openxmlformats.org/officeDocument/2006/relationships/extended-properties" Target="/docProps/app.xml" Id="R45d1fdb5ec484d16" /><Relationship Type="http://schemas.openxmlformats.org/officeDocument/2006/relationships/officeDocument" Target="/ppt/presentation.xml" Id="R0733a2c753ce4c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1b4463e1424e30"/>
  </p:sldMasterIdLst>
  <p:notesMasterIdLst>
    <p:notesMasterId xmlns:r="http://schemas.openxmlformats.org/officeDocument/2006/relationships" r:id="R308b4f818d864466"/>
  </p:notesMasterIdLst>
  <p:sldIdLst>
    <p:sldId xmlns:r="http://schemas.openxmlformats.org/officeDocument/2006/relationships" id="256" r:id="R0584c0e7b4e746ac"/>
    <p:sldId xmlns:r="http://schemas.openxmlformats.org/officeDocument/2006/relationships" id="257" r:id="R5532f6843ee94db2"/>
    <p:sldId xmlns:r="http://schemas.openxmlformats.org/officeDocument/2006/relationships" id="258" r:id="R9112e5b490954225"/>
    <p:sldId xmlns:r="http://schemas.openxmlformats.org/officeDocument/2006/relationships" id="259" r:id="R2413fc4c5aca4b40"/>
    <p:sldId xmlns:r="http://schemas.openxmlformats.org/officeDocument/2006/relationships" id="260" r:id="R47e2db1e4f5a4708"/>
    <p:sldId xmlns:r="http://schemas.openxmlformats.org/officeDocument/2006/relationships" id="261" r:id="R1ee7f64ebe404466"/>
    <p:sldId xmlns:r="http://schemas.openxmlformats.org/officeDocument/2006/relationships" id="262" r:id="Red367dde82074d34"/>
    <p:sldId xmlns:r="http://schemas.openxmlformats.org/officeDocument/2006/relationships" id="263" r:id="R46dfe1fecf5d4554"/>
    <p:sldId xmlns:r="http://schemas.openxmlformats.org/officeDocument/2006/relationships" id="264" r:id="Rb284e411e8e240cd"/>
    <p:sldId xmlns:r="http://schemas.openxmlformats.org/officeDocument/2006/relationships" id="265" r:id="Rb275271aade941a1"/>
    <p:sldId xmlns:r="http://schemas.openxmlformats.org/officeDocument/2006/relationships" id="266" r:id="Re1e93ce3ae26453a"/>
    <p:sldId xmlns:r="http://schemas.openxmlformats.org/officeDocument/2006/relationships" id="267" r:id="R2671ec029e8247fc"/>
    <p:sldId xmlns:r="http://schemas.openxmlformats.org/officeDocument/2006/relationships" id="268" r:id="R0882e8509db54136"/>
    <p:sldId xmlns:r="http://schemas.openxmlformats.org/officeDocument/2006/relationships" id="269" r:id="R8d95b08cdee94367"/>
    <p:sldId xmlns:r="http://schemas.openxmlformats.org/officeDocument/2006/relationships" id="270" r:id="R7b5974ec8ef24af0"/>
    <p:sldId xmlns:r="http://schemas.openxmlformats.org/officeDocument/2006/relationships" id="271" r:id="R2675f9b6fc954e4c"/>
    <p:sldId xmlns:r="http://schemas.openxmlformats.org/officeDocument/2006/relationships" id="272" r:id="R48b486949306483d"/>
    <p:sldId xmlns:r="http://schemas.openxmlformats.org/officeDocument/2006/relationships" id="273" r:id="R52a11f6044594e10"/>
    <p:sldId xmlns:r="http://schemas.openxmlformats.org/officeDocument/2006/relationships" id="274" r:id="R816317b0f7a14cc0"/>
    <p:sldId xmlns:r="http://schemas.openxmlformats.org/officeDocument/2006/relationships" id="275" r:id="R89413259188142e7"/>
    <p:sldId xmlns:r="http://schemas.openxmlformats.org/officeDocument/2006/relationships" id="276" r:id="R74e3e97234fc4bc7"/>
    <p:sldId xmlns:r="http://schemas.openxmlformats.org/officeDocument/2006/relationships" id="277" r:id="R0e4f5d1c9d724824"/>
    <p:sldId xmlns:r="http://schemas.openxmlformats.org/officeDocument/2006/relationships" id="278" r:id="Rc2407bff695b49b5"/>
    <p:sldId xmlns:r="http://schemas.openxmlformats.org/officeDocument/2006/relationships" id="279" r:id="R80bff79b478b4a60"/>
    <p:sldId xmlns:r="http://schemas.openxmlformats.org/officeDocument/2006/relationships" id="280" r:id="R274d54809a794cb2"/>
    <p:sldId xmlns:r="http://schemas.openxmlformats.org/officeDocument/2006/relationships" id="281" r:id="R0f6b248874a54227"/>
    <p:sldId xmlns:r="http://schemas.openxmlformats.org/officeDocument/2006/relationships" id="282" r:id="R9c521988b1ac43d6"/>
    <p:sldId xmlns:r="http://schemas.openxmlformats.org/officeDocument/2006/relationships" id="283" r:id="R87c3465ae4314673"/>
    <p:sldId xmlns:r="http://schemas.openxmlformats.org/officeDocument/2006/relationships" id="284" r:id="Re1b9191e94514c81"/>
    <p:sldId xmlns:r="http://schemas.openxmlformats.org/officeDocument/2006/relationships" id="285" r:id="Rf1ad09c0f7854e57"/>
    <p:sldId xmlns:r="http://schemas.openxmlformats.org/officeDocument/2006/relationships" id="286" r:id="R847984894b4743e8"/>
    <p:sldId xmlns:r="http://schemas.openxmlformats.org/officeDocument/2006/relationships" id="287" r:id="Rec3feb81c9f843a9"/>
    <p:sldId xmlns:r="http://schemas.openxmlformats.org/officeDocument/2006/relationships" id="288" r:id="R7ff1bc506b534ecb"/>
    <p:sldId xmlns:r="http://schemas.openxmlformats.org/officeDocument/2006/relationships" id="289" r:id="R9ddd7c032d8c4f2b"/>
    <p:sldId xmlns:r="http://schemas.openxmlformats.org/officeDocument/2006/relationships" id="290" r:id="Rab2c608739c14341"/>
    <p:sldId xmlns:r="http://schemas.openxmlformats.org/officeDocument/2006/relationships" id="291" r:id="R3955133762354f5b"/>
    <p:sldId xmlns:r="http://schemas.openxmlformats.org/officeDocument/2006/relationships" id="292" r:id="Rcc2b61314d1c43ca"/>
    <p:sldId xmlns:r="http://schemas.openxmlformats.org/officeDocument/2006/relationships" id="293" r:id="Rfb2d664b44154c1e"/>
    <p:sldId xmlns:r="http://schemas.openxmlformats.org/officeDocument/2006/relationships" id="294" r:id="R34adc316a89e44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ef93f8930b4a2b" /><Relationship Type="http://schemas.openxmlformats.org/officeDocument/2006/relationships/slideMaster" Target="/ppt/slideMasters/slideMaster1.xml" Id="Rc11b4463e1424e30" /><Relationship Type="http://schemas.openxmlformats.org/officeDocument/2006/relationships/notesMaster" Target="/ppt/notesMasters/notesMaster1.xml" Id="R308b4f818d864466" /><Relationship Type="http://schemas.openxmlformats.org/officeDocument/2006/relationships/presProps" Target="/ppt/presProps.xml" Id="Rfac2f07c794149cc" /><Relationship Type="http://schemas.openxmlformats.org/officeDocument/2006/relationships/tableStyles" Target="/ppt/tableStyles.xml" Id="R8df4ea186d254a77" /><Relationship Type="http://schemas.openxmlformats.org/officeDocument/2006/relationships/slide" Target="/ppt/slides/slide1.xml" Id="R0584c0e7b4e746ac" /><Relationship Type="http://schemas.openxmlformats.org/officeDocument/2006/relationships/slide" Target="/ppt/slides/slide2.xml" Id="R5532f6843ee94db2" /><Relationship Type="http://schemas.openxmlformats.org/officeDocument/2006/relationships/slide" Target="/ppt/slides/slide3.xml" Id="R9112e5b490954225" /><Relationship Type="http://schemas.openxmlformats.org/officeDocument/2006/relationships/slide" Target="/ppt/slides/slide4.xml" Id="R2413fc4c5aca4b40" /><Relationship Type="http://schemas.openxmlformats.org/officeDocument/2006/relationships/slide" Target="/ppt/slides/slide5.xml" Id="R47e2db1e4f5a4708" /><Relationship Type="http://schemas.openxmlformats.org/officeDocument/2006/relationships/slide" Target="/ppt/slides/slide6.xml" Id="R1ee7f64ebe404466" /><Relationship Type="http://schemas.openxmlformats.org/officeDocument/2006/relationships/slide" Target="/ppt/slides/slide7.xml" Id="Red367dde82074d34" /><Relationship Type="http://schemas.openxmlformats.org/officeDocument/2006/relationships/slide" Target="/ppt/slides/slide8.xml" Id="R46dfe1fecf5d4554" /><Relationship Type="http://schemas.openxmlformats.org/officeDocument/2006/relationships/slide" Target="/ppt/slides/slide9.xml" Id="Rb284e411e8e240cd" /><Relationship Type="http://schemas.openxmlformats.org/officeDocument/2006/relationships/slide" Target="/ppt/slides/slide10.xml" Id="Rb275271aade941a1" /><Relationship Type="http://schemas.openxmlformats.org/officeDocument/2006/relationships/slide" Target="/ppt/slides/slide11.xml" Id="Re1e93ce3ae26453a" /><Relationship Type="http://schemas.openxmlformats.org/officeDocument/2006/relationships/slide" Target="/ppt/slides/slide12.xml" Id="R2671ec029e8247fc" /><Relationship Type="http://schemas.openxmlformats.org/officeDocument/2006/relationships/slide" Target="/ppt/slides/slide13.xml" Id="R0882e8509db54136" /><Relationship Type="http://schemas.openxmlformats.org/officeDocument/2006/relationships/slide" Target="/ppt/slides/slide14.xml" Id="R8d95b08cdee94367" /><Relationship Type="http://schemas.openxmlformats.org/officeDocument/2006/relationships/slide" Target="/ppt/slides/slide15.xml" Id="R7b5974ec8ef24af0" /><Relationship Type="http://schemas.openxmlformats.org/officeDocument/2006/relationships/slide" Target="/ppt/slides/slide16.xml" Id="R2675f9b6fc954e4c" /><Relationship Type="http://schemas.openxmlformats.org/officeDocument/2006/relationships/slide" Target="/ppt/slides/slide17.xml" Id="R48b486949306483d" /><Relationship Type="http://schemas.openxmlformats.org/officeDocument/2006/relationships/slide" Target="/ppt/slides/slide18.xml" Id="R52a11f6044594e10" /><Relationship Type="http://schemas.openxmlformats.org/officeDocument/2006/relationships/slide" Target="/ppt/slides/slide19.xml" Id="R816317b0f7a14cc0" /><Relationship Type="http://schemas.openxmlformats.org/officeDocument/2006/relationships/slide" Target="/ppt/slides/slide20.xml" Id="R89413259188142e7" /><Relationship Type="http://schemas.openxmlformats.org/officeDocument/2006/relationships/slide" Target="/ppt/slides/slide21.xml" Id="R74e3e97234fc4bc7" /><Relationship Type="http://schemas.openxmlformats.org/officeDocument/2006/relationships/slide" Target="/ppt/slides/slide22.xml" Id="R0e4f5d1c9d724824" /><Relationship Type="http://schemas.openxmlformats.org/officeDocument/2006/relationships/slide" Target="/ppt/slides/slide23.xml" Id="Rc2407bff695b49b5" /><Relationship Type="http://schemas.openxmlformats.org/officeDocument/2006/relationships/slide" Target="/ppt/slides/slide24.xml" Id="R80bff79b478b4a60" /><Relationship Type="http://schemas.openxmlformats.org/officeDocument/2006/relationships/slide" Target="/ppt/slides/slide25.xml" Id="R274d54809a794cb2" /><Relationship Type="http://schemas.openxmlformats.org/officeDocument/2006/relationships/slide" Target="/ppt/slides/slide26.xml" Id="R0f6b248874a54227" /><Relationship Type="http://schemas.openxmlformats.org/officeDocument/2006/relationships/slide" Target="/ppt/slides/slide27.xml" Id="R9c521988b1ac43d6" /><Relationship Type="http://schemas.openxmlformats.org/officeDocument/2006/relationships/slide" Target="/ppt/slides/slide28.xml" Id="R87c3465ae4314673" /><Relationship Type="http://schemas.openxmlformats.org/officeDocument/2006/relationships/slide" Target="/ppt/slides/slide29.xml" Id="Re1b9191e94514c81" /><Relationship Type="http://schemas.openxmlformats.org/officeDocument/2006/relationships/slide" Target="/ppt/slides/slide30.xml" Id="Rf1ad09c0f7854e57" /><Relationship Type="http://schemas.openxmlformats.org/officeDocument/2006/relationships/slide" Target="/ppt/slides/slide31.xml" Id="R847984894b4743e8" /><Relationship Type="http://schemas.openxmlformats.org/officeDocument/2006/relationships/slide" Target="/ppt/slides/slide32.xml" Id="Rec3feb81c9f843a9" /><Relationship Type="http://schemas.openxmlformats.org/officeDocument/2006/relationships/slide" Target="/ppt/slides/slide33.xml" Id="R7ff1bc506b534ecb" /><Relationship Type="http://schemas.openxmlformats.org/officeDocument/2006/relationships/slide" Target="/ppt/slides/slide34.xml" Id="R9ddd7c032d8c4f2b" /><Relationship Type="http://schemas.openxmlformats.org/officeDocument/2006/relationships/slide" Target="/ppt/slides/slide35.xml" Id="Rab2c608739c14341" /><Relationship Type="http://schemas.openxmlformats.org/officeDocument/2006/relationships/slide" Target="/ppt/slides/slide36.xml" Id="R3955133762354f5b" /><Relationship Type="http://schemas.openxmlformats.org/officeDocument/2006/relationships/slide" Target="/ppt/slides/slide37.xml" Id="Rcc2b61314d1c43ca" /><Relationship Type="http://schemas.openxmlformats.org/officeDocument/2006/relationships/slide" Target="/ppt/slides/slide38.xml" Id="Rfb2d664b44154c1e" /><Relationship Type="http://schemas.openxmlformats.org/officeDocument/2006/relationships/slide" Target="/ppt/slides/slide39.xml" Id="R34adc316a89e44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656ad63b7148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Itau BBA FIDC Editorial">
      <a:dk1>
        <a:srgbClr val="151515"/>
      </a:dk1>
      <a:lt1>
        <a:srgbClr val="FFFFFF"/>
      </a:lt1>
      <a:dk2>
        <a:srgbClr val="30353A"/>
      </a:dk2>
      <a:lt2>
        <a:srgbClr val="E7E9EB"/>
      </a:lt2>
      <a:accent1>
        <a:srgbClr val="EC7000"/>
      </a:accent1>
      <a:accent2>
        <a:srgbClr val="151515"/>
      </a:accent2>
      <a:accent3>
        <a:srgbClr val="30353A"/>
      </a:accent3>
      <a:accent4>
        <a:srgbClr val="73787D"/>
      </a:accent4>
      <a:accent5>
        <a:srgbClr val="8D9399"/>
      </a:accent5>
      <a:accent6>
        <a:srgbClr val="D7DADD"/>
      </a:accent6>
      <a:hlink>
        <a:srgbClr val="EC7000"/>
      </a:hlink>
      <a:folHlink>
        <a:srgbClr val="7378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tau BBA FIDC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5baad06f9846af" /><Relationship Type="http://schemas.openxmlformats.org/officeDocument/2006/relationships/notesMaster" Target="/ppt/notesMasters/notesMaster1.xml" Id="Rd8f18338072d45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6e3fbcdc404e19" /><Relationship Type="http://schemas.openxmlformats.org/officeDocument/2006/relationships/notesMaster" Target="/ppt/notesMasters/notesMaster1.xml" Id="R7a1513ea3eae4c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7bfb04df374836" /><Relationship Type="http://schemas.openxmlformats.org/officeDocument/2006/relationships/notesMaster" Target="/ppt/notesMasters/notesMaster1.xml" Id="R5a7ec6d76f0445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01b6a192e545ef" /><Relationship Type="http://schemas.openxmlformats.org/officeDocument/2006/relationships/notesMaster" Target="/ppt/notesMasters/notesMaster1.xml" Id="R5ab0084419b248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8010af2b144938" /><Relationship Type="http://schemas.openxmlformats.org/officeDocument/2006/relationships/notesMaster" Target="/ppt/notesMasters/notesMaster1.xml" Id="R43b4dc066bcf43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a5a946ebe7476a" /><Relationship Type="http://schemas.openxmlformats.org/officeDocument/2006/relationships/notesMaster" Target="/ppt/notesMasters/notesMaster1.xml" Id="R305cb8cf066e47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a71c28c1474bdc" /><Relationship Type="http://schemas.openxmlformats.org/officeDocument/2006/relationships/notesMaster" Target="/ppt/notesMasters/notesMaster1.xml" Id="R7b7fcb86c3a342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d26c6b4e604cf3" /><Relationship Type="http://schemas.openxmlformats.org/officeDocument/2006/relationships/notesMaster" Target="/ppt/notesMasters/notesMaster1.xml" Id="R75061d22be534f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62d7bced5b49cd" /><Relationship Type="http://schemas.openxmlformats.org/officeDocument/2006/relationships/notesMaster" Target="/ppt/notesMasters/notesMaster1.xml" Id="R754b5346f39b4c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82d937cbcc40d9" /><Relationship Type="http://schemas.openxmlformats.org/officeDocument/2006/relationships/notesMaster" Target="/ppt/notesMasters/notesMaster1.xml" Id="R25bbc9a998c245a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78e054286e8418e" /><Relationship Type="http://schemas.openxmlformats.org/officeDocument/2006/relationships/notesMaster" Target="/ppt/notesMasters/notesMaster1.xml" Id="R36e6e29f1efd45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8af562696de45d9" /><Relationship Type="http://schemas.openxmlformats.org/officeDocument/2006/relationships/notesMaster" Target="/ppt/notesMasters/notesMaster1.xml" Id="R5164492fa22f4fe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afda13b0d714060" /><Relationship Type="http://schemas.openxmlformats.org/officeDocument/2006/relationships/notesMaster" Target="/ppt/notesMasters/notesMaster1.xml" Id="R3a2e61539d7a45f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d000b6b6b34437d" /><Relationship Type="http://schemas.openxmlformats.org/officeDocument/2006/relationships/notesMaster" Target="/ppt/notesMasters/notesMaster1.xml" Id="Rdb88c85982fd470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6c2e52138084a0a" /><Relationship Type="http://schemas.openxmlformats.org/officeDocument/2006/relationships/notesMaster" Target="/ppt/notesMasters/notesMaster1.xml" Id="Rf1a0c45425b147a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9d873e9b5fd4ab1" /><Relationship Type="http://schemas.openxmlformats.org/officeDocument/2006/relationships/notesMaster" Target="/ppt/notesMasters/notesMaster1.xml" Id="R5ee480823a48401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57dc056ed7a48d7" /><Relationship Type="http://schemas.openxmlformats.org/officeDocument/2006/relationships/notesMaster" Target="/ppt/notesMasters/notesMaster1.xml" Id="Rac38f7dcc4a34c2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b25794a99d14fb8" /><Relationship Type="http://schemas.openxmlformats.org/officeDocument/2006/relationships/notesMaster" Target="/ppt/notesMasters/notesMaster1.xml" Id="R3b1f23c9e9934d9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1f6fa6d649c4d1c" /><Relationship Type="http://schemas.openxmlformats.org/officeDocument/2006/relationships/notesMaster" Target="/ppt/notesMasters/notesMaster1.xml" Id="R0296241f97c0429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be0a1ce5da24304" /><Relationship Type="http://schemas.openxmlformats.org/officeDocument/2006/relationships/notesMaster" Target="/ppt/notesMasters/notesMaster1.xml" Id="Rf8559ed74fc74a8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9f8958d124c4f28" /><Relationship Type="http://schemas.openxmlformats.org/officeDocument/2006/relationships/notesMaster" Target="/ppt/notesMasters/notesMaster1.xml" Id="Re1856ef8fa88493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9b1fd061cf449f3" /><Relationship Type="http://schemas.openxmlformats.org/officeDocument/2006/relationships/notesMaster" Target="/ppt/notesMasters/notesMaster1.xml" Id="R59ec1423cba4441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65676cc7f3946c5" /><Relationship Type="http://schemas.openxmlformats.org/officeDocument/2006/relationships/notesMaster" Target="/ppt/notesMasters/notesMaster1.xml" Id="R9f0d4dbea615460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87dc018051f4b09" /><Relationship Type="http://schemas.openxmlformats.org/officeDocument/2006/relationships/notesMaster" Target="/ppt/notesMasters/notesMaster1.xml" Id="R2c36b7673df748d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6f9d334fdc14302" /><Relationship Type="http://schemas.openxmlformats.org/officeDocument/2006/relationships/notesMaster" Target="/ppt/notesMasters/notesMaster1.xml" Id="R5e7aa6cf70c7464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7abe1fbb28c4799" /><Relationship Type="http://schemas.openxmlformats.org/officeDocument/2006/relationships/notesMaster" Target="/ppt/notesMasters/notesMaster1.xml" Id="R7813fb98d58a4a9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032d8f6869347db" /><Relationship Type="http://schemas.openxmlformats.org/officeDocument/2006/relationships/notesMaster" Target="/ppt/notesMasters/notesMaster1.xml" Id="Rad24070e600e412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032805d23864c8b" /><Relationship Type="http://schemas.openxmlformats.org/officeDocument/2006/relationships/notesMaster" Target="/ppt/notesMasters/notesMaster1.xml" Id="R011931de6bc947e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b4edd781f054669" /><Relationship Type="http://schemas.openxmlformats.org/officeDocument/2006/relationships/notesMaster" Target="/ppt/notesMasters/notesMaster1.xml" Id="R0202738e6ab44d1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c681ac8c3f4439c" /><Relationship Type="http://schemas.openxmlformats.org/officeDocument/2006/relationships/notesMaster" Target="/ppt/notesMasters/notesMaster1.xml" Id="Rb2c7df5252d9452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98b28d7b26246c6" /><Relationship Type="http://schemas.openxmlformats.org/officeDocument/2006/relationships/notesMaster" Target="/ppt/notesMasters/notesMaster1.xml" Id="Re20adc3a42d841f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ba65d36000a43cc" /><Relationship Type="http://schemas.openxmlformats.org/officeDocument/2006/relationships/notesMaster" Target="/ppt/notesMasters/notesMaster1.xml" Id="R68ba13f82ae645d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06b95b8fb7b427d" /><Relationship Type="http://schemas.openxmlformats.org/officeDocument/2006/relationships/notesMaster" Target="/ppt/notesMasters/notesMaster1.xml" Id="Rce5ac9dcc2234f5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228263629524c2c" /><Relationship Type="http://schemas.openxmlformats.org/officeDocument/2006/relationships/notesMaster" Target="/ppt/notesMasters/notesMaster1.xml" Id="R5ade3fd4b87a447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c30bf21956a4439" /><Relationship Type="http://schemas.openxmlformats.org/officeDocument/2006/relationships/notesMaster" Target="/ppt/notesMasters/notesMaster1.xml" Id="R611d4b358a5d453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929c8dd17fb4f83" /><Relationship Type="http://schemas.openxmlformats.org/officeDocument/2006/relationships/notesMaster" Target="/ppt/notesMasters/notesMaster1.xml" Id="R59aee27c55ac435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8df3c36970a4af6" /><Relationship Type="http://schemas.openxmlformats.org/officeDocument/2006/relationships/notesMaster" Target="/ppt/notesMasters/notesMaster1.xml" Id="R7d28f57af8184af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b22c254ce234094" /><Relationship Type="http://schemas.openxmlformats.org/officeDocument/2006/relationships/notesMaster" Target="/ppt/notesMasters/notesMaster1.xml" Id="Rf92c332255b0448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fbaaff8252f403f" /><Relationship Type="http://schemas.openxmlformats.org/officeDocument/2006/relationships/notesMaster" Target="/ppt/notesMasters/notesMaster1.xml" Id="Re5371c3f410847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Ofertas Públicas de Distribuição: https://dados.cvm.gov.br/dataset/oferta-distrib</a:t>
            </a:r>
          </a:p>
          <a:p xmlns:a="http://schemas.openxmlformats.org/drawingml/2006/main">
            <a:r>
              <a:t>- ANBIMA Data — Boletim de Mercado de Capitais, corte em 30/jun/26: https://data.anbima.com.br/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ANBIMA — Coletiva de Mercado de Capitais 1S26, snapshot jun/26, Anexo · pág. 14, Tabela Jan a jun 25 × Jan a jun 26: https://www.anbima.com.br/data/files/8E/86/DB/07/325AF91098D078F9692BA2A8/Apresentacao%20_%20coletiva%20Mercado%20de%20Capitais%20_%201S26.pdf</a:t>
            </a:r>
          </a:p>
          <a:p xmlns:a="http://schemas.openxmlformats.org/drawingml/2006/main">
            <a:r>
              <a:t>- Perímetros: CVM/SRE mede valor registrado de ofertas primárias encerradas (R$ 65,5 bi em FIDCs); ANBIMA mede valor encerrado (R$ 53,1 bi). Ambos cobrem jan–jun/26.</a:t>
            </a:r>
          </a:p>
          <a:p xmlns:a="http://schemas.openxmlformats.org/drawingml/2006/main">
            <a:r>
              <a:t>- FIDCs 2023 no gráfico CVM: valor encerrado ANBIMA; a correção é idempotente e preserva bundles anteriores à republicação.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Saldo: classificação analítica por CNPJ; Outros é aberto em Precatórios/Ações, Multicedente/Multisacado, Recuperação/NP e N/D.</a:t>
            </a:r>
          </a:p>
          <a:p xmlns:a="http://schemas.openxmlformats.org/drawingml/2006/main">
            <a:r>
              <a:t>- Emissões: quatro tipos ANBIMA reconciliados com FIC-FIDC e total emitido; ausência permanece N/D e não vira zero.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FIDCs 2023: valor encerrado ANBIMA, preservado da série histórica; composição não observada escalada pela composição CVM. Snapshot vigente: jun/26.</a:t>
            </a:r>
          </a:p>
          <a:p xmlns:a="http://schemas.openxmlformats.org/drawingml/2006/main">
            <a:r>
              <a:t>- Destaque: variação relativa da participação versus o período comparável anterior; verde &gt; +2%, vinho &lt; −2%, sem destaque dentro de ±2%.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Unidade: CNPJ do fundo, com classes agregadas; página jun/26 · Top 15.</a:t>
            </a:r>
          </a:p>
          <a:p xmlns:a="http://schemas.openxmlformats.org/drawingml/2006/main">
            <a:r>
              <a:t>- Cedente: CVM, Informe Mensal, Tabela I, quando declarado; a informação identifica o cedente legal e não é tratada como originador econômico.</a:t>
            </a:r>
          </a:p>
          <a:p xmlns:a="http://schemas.openxmlformats.org/drawingml/2006/main">
            <a:r>
              <a:t>- Originador, sacado, subordinação mínima e remuneração-alvo: documentos identificados ou curadoria documental por CNPJ; fontes linha a linha na aba Auditoria emissões.</a:t>
            </a:r>
          </a:p>
          <a:p xmlns:a="http://schemas.openxmlformats.org/drawingml/2006/main">
            <a:r>
              <a:t>- Remuneração-alvo preserva o benchmark e o spread da cota/série (por exemplo, CDI + x% a.a.); VNU, quantidade, taxa da carteira e preço unitário ficam fora desta coluna.</a:t>
            </a:r>
          </a:p>
          <a:p xmlns:a="http://schemas.openxmlformats.org/drawingml/2006/main">
            <a:r>
              <a:t>- O Informe Mensal da CVM não identifica sacado/devedor nomeado. Campo ausente, fragmento sem papel explícito ou vínculo documental insuficiente permanece N/D.</a:t>
            </a:r>
          </a:p>
          <a:p xmlns:a="http://schemas.openxmlformats.org/drawingml/2006/main">
            <a:r>
              <a:t>- Prêmio Mz.–Sr.: menor spread CDI/DI+ documentado por nível no mesmo fundo e corte; N = fundo-corte. Movimento semestral: mesmo CNPJ e família de tranche nos dois rankings; N = fundo-classe.</a:t>
            </a:r>
          </a:p>
          <a:p xmlns:a="http://schemas.openxmlformats.org/drawingml/2006/main">
            <a:r>
              <a:t>- Amostras entre fundos só são comparáveis quando subordinação, prazo e lastro também coincidem. * = complemento manual; classes/séries e natureza do mínimo aparecem na própria célula e na auditoria.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Unidade: CNPJ do fundo, com classes agregadas; página dez/25 · Top 15.</a:t>
            </a:r>
          </a:p>
          <a:p xmlns:a="http://schemas.openxmlformats.org/drawingml/2006/main">
            <a:r>
              <a:t>- Cedente: CVM, Informe Mensal, Tabela I, quando declarado; a informação identifica o cedente legal e não é tratada como originador econômico.</a:t>
            </a:r>
          </a:p>
          <a:p xmlns:a="http://schemas.openxmlformats.org/drawingml/2006/main">
            <a:r>
              <a:t>- Originador, sacado, subordinação mínima e remuneração-alvo: documentos identificados ou curadoria documental por CNPJ; fontes linha a linha na aba Auditoria emissões.</a:t>
            </a:r>
          </a:p>
          <a:p xmlns:a="http://schemas.openxmlformats.org/drawingml/2006/main">
            <a:r>
              <a:t>- Remuneração-alvo preserva o benchmark e o spread da cota/série (por exemplo, CDI + x% a.a.); VNU, quantidade, taxa da carteira e preço unitário ficam fora desta coluna.</a:t>
            </a:r>
          </a:p>
          <a:p xmlns:a="http://schemas.openxmlformats.org/drawingml/2006/main">
            <a:r>
              <a:t>- O Informe Mensal da CVM não identifica sacado/devedor nomeado. Campo ausente, fragmento sem papel explícito ou vínculo documental insuficiente permanece N/D.</a:t>
            </a:r>
          </a:p>
          <a:p xmlns:a="http://schemas.openxmlformats.org/drawingml/2006/main">
            <a:r>
              <a:t>- Prêmio Mz.–Sr.: menor spread CDI/DI+ documentado por nível no mesmo fundo e corte; N = fundo-corte. Movimento semestral: mesmo CNPJ e família de tranche nos dois rankings; N = fundo-classe.</a:t>
            </a:r>
          </a:p>
          <a:p xmlns:a="http://schemas.openxmlformats.org/drawingml/2006/main">
            <a:r>
              <a:t>- Amostras entre fundos só são comparáveis quando subordinação, prazo e lastro também coincidem. * = complemento manual; classes/séries e natureza do mínimo aparecem na própria célula e na auditoria.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Unidade: CNPJ do fundo, com classes agregadas; página jun/26 · Top 15.</a:t>
            </a:r>
          </a:p>
          <a:p xmlns:a="http://schemas.openxmlformats.org/drawingml/2006/main">
            <a:r>
              <a:t>- Cedente: CVM, Informe Mensal, Tabela I, quando declarado; a informação identifica o cedente legal e não é tratada como originador econômico.</a:t>
            </a:r>
          </a:p>
          <a:p xmlns:a="http://schemas.openxmlformats.org/drawingml/2006/main">
            <a:r>
              <a:t>- Originador, sacado, subordinação mínima e remuneração-alvo: documentos identificados ou curadoria documental por CNPJ; fontes linha a linha na aba Auditoria emissões.</a:t>
            </a:r>
          </a:p>
          <a:p xmlns:a="http://schemas.openxmlformats.org/drawingml/2006/main">
            <a:r>
              <a:t>- Remuneração-alvo preserva o benchmark e o spread da cota/série (por exemplo, CDI + x% a.a.); VNU, quantidade, taxa da carteira e preço unitário ficam fora desta coluna.</a:t>
            </a:r>
          </a:p>
          <a:p xmlns:a="http://schemas.openxmlformats.org/drawingml/2006/main">
            <a:r>
              <a:t>- O Informe Mensal da CVM não identifica sacado/devedor nomeado. Campo ausente, fragmento sem papel explícito ou vínculo documental insuficiente permanece N/D.</a:t>
            </a:r>
          </a:p>
          <a:p xmlns:a="http://schemas.openxmlformats.org/drawingml/2006/main">
            <a:r>
              <a:t>- Prêmio Mz.–Sr.: menor spread CDI/DI+ documentado por nível no mesmo fundo e corte; N = fundo-corte. Movimento semestral: mesmo CNPJ e família de tranche nos dois rankings; N = fundo-classe.</a:t>
            </a:r>
          </a:p>
          <a:p xmlns:a="http://schemas.openxmlformats.org/drawingml/2006/main">
            <a:r>
              <a:t>- Amostras entre fundos só são comparáveis quando subordinação, prazo e lastro também coincidem. * = complemento manual; classes/séries e natureza do mínimo aparecem na própria célula e na auditoria.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Unidade: CNPJ do fundo, com classes agregadas; página dez/25 · Top 15.</a:t>
            </a:r>
          </a:p>
          <a:p xmlns:a="http://schemas.openxmlformats.org/drawingml/2006/main">
            <a:r>
              <a:t>- Cedente: CVM, Informe Mensal, Tabela I, quando declarado; a informação identifica o cedente legal e não é tratada como originador econômico.</a:t>
            </a:r>
          </a:p>
          <a:p xmlns:a="http://schemas.openxmlformats.org/drawingml/2006/main">
            <a:r>
              <a:t>- Originador, sacado, subordinação mínima e remuneração-alvo: documentos identificados ou curadoria documental por CNPJ; fontes linha a linha na aba Auditoria emissões.</a:t>
            </a:r>
          </a:p>
          <a:p xmlns:a="http://schemas.openxmlformats.org/drawingml/2006/main">
            <a:r>
              <a:t>- Remuneração-alvo preserva o benchmark e o spread da cota/série (por exemplo, CDI + x% a.a.); VNU, quantidade, taxa da carteira e preço unitário ficam fora desta coluna.</a:t>
            </a:r>
          </a:p>
          <a:p xmlns:a="http://schemas.openxmlformats.org/drawingml/2006/main">
            <a:r>
              <a:t>- O Informe Mensal da CVM não identifica sacado/devedor nomeado. Campo ausente, fragmento sem papel explícito ou vínculo documental insuficiente permanece N/D.</a:t>
            </a:r>
          </a:p>
          <a:p xmlns:a="http://schemas.openxmlformats.org/drawingml/2006/main">
            <a:r>
              <a:t>- Prêmio Mz.–Sr.: menor spread CDI/DI+ documentado por nível no mesmo fundo e corte; N = fundo-corte. Movimento semestral: mesmo CNPJ e família de tranche nos dois rankings; N = fundo-classe.</a:t>
            </a:r>
          </a:p>
          <a:p xmlns:a="http://schemas.openxmlformats.org/drawingml/2006/main">
            <a:r>
              <a:t>- Amostras entre fundos só são comparáveis quando subordinação, prazo e lastro também coincidem. * = complemento manual; classes/séries e natureza do mínimo aparecem na própria célula e na auditoria.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Unidade: CNPJ do fundo, com classes agregadas; página jun/26 · Top 15.</a:t>
            </a:r>
          </a:p>
          <a:p xmlns:a="http://schemas.openxmlformats.org/drawingml/2006/main">
            <a:r>
              <a:t>- Cedente: CVM, Informe Mensal, Tabela I, quando declarado; a informação identifica o cedente legal e não é tratada como originador econômico.</a:t>
            </a:r>
          </a:p>
          <a:p xmlns:a="http://schemas.openxmlformats.org/drawingml/2006/main">
            <a:r>
              <a:t>- Originador, sacado, subordinação mínima e remuneração-alvo: documentos identificados ou curadoria documental por CNPJ; fontes linha a linha na aba Auditoria emissões.</a:t>
            </a:r>
          </a:p>
          <a:p xmlns:a="http://schemas.openxmlformats.org/drawingml/2006/main">
            <a:r>
              <a:t>- Remuneração-alvo preserva o benchmark e o spread da cota/série (por exemplo, CDI + x% a.a.); VNU, quantidade, taxa da carteira e preço unitário ficam fora desta coluna.</a:t>
            </a:r>
          </a:p>
          <a:p xmlns:a="http://schemas.openxmlformats.org/drawingml/2006/main">
            <a:r>
              <a:t>- O Informe Mensal da CVM não identifica sacado/devedor nomeado. Campo ausente, fragmento sem papel explícito ou vínculo documental insuficiente permanece N/D.</a:t>
            </a:r>
          </a:p>
          <a:p xmlns:a="http://schemas.openxmlformats.org/drawingml/2006/main">
            <a:r>
              <a:t>- Prêmio Mz.–Sr.: menor spread CDI/DI+ documentado por nível no mesmo fundo e corte; N = fundo-corte. Movimento semestral: mesmo CNPJ e família de tranche nos dois rankings; N = fundo-classe.</a:t>
            </a:r>
          </a:p>
          <a:p xmlns:a="http://schemas.openxmlformats.org/drawingml/2006/main">
            <a:r>
              <a:t>- Amostras entre fundos só são comparáveis quando subordinação, prazo e lastro também coincidem. * = complemento manual; classes/séries e natureza do mínimo aparecem na própria célula e na auditoria.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Unidade: CNPJ do fundo, com classes agregadas; página dez/25 · Top 15.</a:t>
            </a:r>
          </a:p>
          <a:p xmlns:a="http://schemas.openxmlformats.org/drawingml/2006/main">
            <a:r>
              <a:t>- Cedente: CVM, Informe Mensal, Tabela I, quando declarado; a informação identifica o cedente legal e não é tratada como originador econômico.</a:t>
            </a:r>
          </a:p>
          <a:p xmlns:a="http://schemas.openxmlformats.org/drawingml/2006/main">
            <a:r>
              <a:t>- Originador, sacado, subordinação mínima e remuneração-alvo: documentos identificados ou curadoria documental por CNPJ; fontes linha a linha na aba Auditoria emissões.</a:t>
            </a:r>
          </a:p>
          <a:p xmlns:a="http://schemas.openxmlformats.org/drawingml/2006/main">
            <a:r>
              <a:t>- Remuneração-alvo preserva o benchmark e o spread da cota/série (por exemplo, CDI + x% a.a.); VNU, quantidade, taxa da carteira e preço unitário ficam fora desta coluna.</a:t>
            </a:r>
          </a:p>
          <a:p xmlns:a="http://schemas.openxmlformats.org/drawingml/2006/main">
            <a:r>
              <a:t>- O Informe Mensal da CVM não identifica sacado/devedor nomeado. Campo ausente, fragmento sem papel explícito ou vínculo documental insuficiente permanece N/D.</a:t>
            </a:r>
          </a:p>
          <a:p xmlns:a="http://schemas.openxmlformats.org/drawingml/2006/main">
            <a:r>
              <a:t>- Prêmio Mz.–Sr.: menor spread CDI/DI+ documentado por nível no mesmo fundo e corte; N = fundo-corte. Movimento semestral: mesmo CNPJ e família de tranche nos dois rankings; N = fundo-classe.</a:t>
            </a:r>
          </a:p>
          <a:p xmlns:a="http://schemas.openxmlformats.org/drawingml/2006/main">
            <a:r>
              <a:t>- Amostras entre fundos só são comparáveis quando subordinação, prazo e lastro também coincidem. * = complemento manual; classes/séries e natureza do mínimo aparecem na própria célula e na auditoria.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Unidade: CNPJ do fundo, com classes agregadas; página jun/26 · Top 15.</a:t>
            </a:r>
          </a:p>
          <a:p xmlns:a="http://schemas.openxmlformats.org/drawingml/2006/main">
            <a:r>
              <a:t>- Cedente: CVM, Informe Mensal, Tabela I, quando declarado; a informação identifica o cedente legal e não é tratada como originador econômico.</a:t>
            </a:r>
          </a:p>
          <a:p xmlns:a="http://schemas.openxmlformats.org/drawingml/2006/main">
            <a:r>
              <a:t>- Originador, sacado, subordinação mínima e remuneração-alvo: documentos identificados ou curadoria documental por CNPJ; fontes linha a linha na aba Auditoria emissões.</a:t>
            </a:r>
          </a:p>
          <a:p xmlns:a="http://schemas.openxmlformats.org/drawingml/2006/main">
            <a:r>
              <a:t>- Remuneração-alvo preserva o benchmark e o spread da cota/série (por exemplo, CDI + x% a.a.); VNU, quantidade, taxa da carteira e preço unitário ficam fora desta coluna.</a:t>
            </a:r>
          </a:p>
          <a:p xmlns:a="http://schemas.openxmlformats.org/drawingml/2006/main">
            <a:r>
              <a:t>- O Informe Mensal da CVM não identifica sacado/devedor nomeado. Campo ausente, fragmento sem papel explícito ou vínculo documental insuficiente permanece N/D.</a:t>
            </a:r>
          </a:p>
          <a:p xmlns:a="http://schemas.openxmlformats.org/drawingml/2006/main">
            <a:r>
              <a:t>- Prêmio Mz.–Sr.: menor spread CDI/DI+ documentado por nível no mesmo fundo e corte; N = fundo-corte. Movimento semestral: mesmo CNPJ e família de tranche nos dois rankings; N = fundo-classe.</a:t>
            </a:r>
          </a:p>
          <a:p xmlns:a="http://schemas.openxmlformats.org/drawingml/2006/main">
            <a:r>
              <a:t>- Amostras entre fundos só são comparáveis quando subordinação, prazo e lastro também coincidem. * = complemento manual; classes/séries e natureza do mínimo aparecem na própria célula e na auditoria.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Unidade: CNPJ do fundo, com classes agregadas; página dez/25 · Top 15.</a:t>
            </a:r>
          </a:p>
          <a:p xmlns:a="http://schemas.openxmlformats.org/drawingml/2006/main">
            <a:r>
              <a:t>- Cedente: CVM, Informe Mensal, Tabela I, quando declarado; a informação identifica o cedente legal e não é tratada como originador econômico.</a:t>
            </a:r>
          </a:p>
          <a:p xmlns:a="http://schemas.openxmlformats.org/drawingml/2006/main">
            <a:r>
              <a:t>- Originador, sacado, subordinação mínima e remuneração-alvo: documentos identificados ou curadoria documental por CNPJ; fontes linha a linha na aba Auditoria emissões.</a:t>
            </a:r>
          </a:p>
          <a:p xmlns:a="http://schemas.openxmlformats.org/drawingml/2006/main">
            <a:r>
              <a:t>- Remuneração-alvo preserva o benchmark e o spread da cota/série (por exemplo, CDI + x% a.a.); VNU, quantidade, taxa da carteira e preço unitário ficam fora desta coluna.</a:t>
            </a:r>
          </a:p>
          <a:p xmlns:a="http://schemas.openxmlformats.org/drawingml/2006/main">
            <a:r>
              <a:t>- O Informe Mensal da CVM não identifica sacado/devedor nomeado. Campo ausente, fragmento sem papel explícito ou vínculo documental insuficiente permanece N/D.</a:t>
            </a:r>
          </a:p>
          <a:p xmlns:a="http://schemas.openxmlformats.org/drawingml/2006/main">
            <a:r>
              <a:t>- Prêmio Mz.–Sr.: menor spread CDI/DI+ documentado por nível no mesmo fundo e corte; N = fundo-corte. Movimento semestral: mesmo CNPJ e família de tranche nos dois rankings; N = fundo-classe.</a:t>
            </a:r>
          </a:p>
          <a:p xmlns:a="http://schemas.openxmlformats.org/drawingml/2006/main">
            <a:r>
              <a:t>- Amostras entre fundos só são comparáveis quando subordinação, prazo e lastro também coincidem. * = complemento manual; classes/séries e natureza do mínimo aparecem na própria célula e na auditoria.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Unidade: um cartão por CNPJ elegível da Carteira I; cada cartão é uma única caixa de texto nomeada pelo CNPJ para reorganização manual.</a:t>
            </a:r>
          </a:p>
          <a:p xmlns:a="http://schemas.openxmlformats.org/drawingml/2006/main">
            <a:r>
              <a:t>- Elegibilidade do MVP: Sub/PL atual, piso documental e PL do veículo disponíveis. Casos excluídos permanecem integralmente no workbook e no explorador.</a:t>
            </a:r>
          </a:p>
          <a:p xmlns:a="http://schemas.openxmlformats.org/drawingml/2006/main">
            <a:r>
              <a:t>- O sinal vinho, âmbar ou azul compara Sub/PL atual ao mínimo estrutural somente quando numerador, denominador e tranche são equivalentes; cinza preserva o índice documental sem concluir folga.</a:t>
            </a:r>
          </a:p>
          <a:p xmlns:a="http://schemas.openxmlformats.org/drawingml/2006/main">
            <a:r>
              <a:t>- O asterisco marca categoria editorial, piso total, combinado, calculado, ajustado ou sem equivalência direta; natureza, fórmula, documento e cláusula permanecem por CNPJ no workbook.</a:t>
            </a:r>
          </a:p>
          <a:p xmlns:a="http://schemas.openxmlformats.org/drawingml/2006/main">
            <a:r>
              <a:t>- Benchmark: O grupo Financeiro reúne estruturas distintas; a leitura relativa é direcional.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Unidade: um cartão por CNPJ elegível da Carteira I; cada cartão é uma única caixa de texto nomeada pelo CNPJ para reorganização manual.</a:t>
            </a:r>
          </a:p>
          <a:p xmlns:a="http://schemas.openxmlformats.org/drawingml/2006/main">
            <a:r>
              <a:t>- Elegibilidade do MVP: Sub/PL atual, piso documental e PL do veículo disponíveis. Casos excluídos permanecem integralmente no workbook e no explorador.</a:t>
            </a:r>
          </a:p>
          <a:p xmlns:a="http://schemas.openxmlformats.org/drawingml/2006/main">
            <a:r>
              <a:t>- O sinal vinho, âmbar ou azul compara Sub/PL atual ao mínimo estrutural somente quando numerador, denominador e tranche são equivalentes; cinza preserva o índice documental sem concluir folga.</a:t>
            </a:r>
          </a:p>
          <a:p xmlns:a="http://schemas.openxmlformats.org/drawingml/2006/main">
            <a:r>
              <a:t>- O asterisco marca categoria editorial, piso total, combinado, calculado, ajustado ou sem equivalência direta; natureza, fórmula, documento e cláusula permanecem por CNPJ no workbook.</a:t>
            </a:r>
          </a:p>
          <a:p xmlns:a="http://schemas.openxmlformats.org/drawingml/2006/main">
            <a:r>
              <a:t>- Benchmark: A mediana agregada muda com o subtipo; o slide preserva a ressalva.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Unidade: um cartão por CNPJ elegível da Carteira I; cada cartão é uma única caixa de texto nomeada pelo CNPJ para reorganização manual.</a:t>
            </a:r>
          </a:p>
          <a:p xmlns:a="http://schemas.openxmlformats.org/drawingml/2006/main">
            <a:r>
              <a:t>- Elegibilidade do MVP: Sub/PL atual, piso documental e PL do veículo disponíveis. Casos excluídos permanecem integralmente no workbook e no explorador.</a:t>
            </a:r>
          </a:p>
          <a:p xmlns:a="http://schemas.openxmlformats.org/drawingml/2006/main">
            <a:r>
              <a:t>- O sinal vinho, âmbar ou azul compara Sub/PL atual ao mínimo estrutural somente quando numerador, denominador e tranche são equivalentes; cinza preserva o índice documental sem concluir folga.</a:t>
            </a:r>
          </a:p>
          <a:p xmlns:a="http://schemas.openxmlformats.org/drawingml/2006/main">
            <a:r>
              <a:t>- O asterisco marca categoria editorial, piso total, combinado, calculado, ajustado ou sem equivalência direta; natureza, fórmula, documento e cláusula permanecem por CNPJ no workbook.</a:t>
            </a:r>
          </a:p>
          <a:p xmlns:a="http://schemas.openxmlformats.org/drawingml/2006/main">
            <a:r>
              <a:t>- Benchmark: Amostra abaixo do mínimo configurável de cinco pares.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Unidade: um cartão por CNPJ elegível da Carteira I; cada cartão é uma única caixa de texto nomeada pelo CNPJ para reorganização manual.</a:t>
            </a:r>
          </a:p>
          <a:p xmlns:a="http://schemas.openxmlformats.org/drawingml/2006/main">
            <a:r>
              <a:t>- Elegibilidade do MVP: Sub/PL atual, piso documental e PL do veículo disponíveis. Casos excluídos permanecem integralmente no workbook e no explorador.</a:t>
            </a:r>
          </a:p>
          <a:p xmlns:a="http://schemas.openxmlformats.org/drawingml/2006/main">
            <a:r>
              <a:t>- O sinal vinho, âmbar ou azul compara Sub/PL atual ao mínimo estrutural somente quando numerador, denominador e tranche são equivalentes; cinza preserva o índice documental sem concluir folga.</a:t>
            </a:r>
          </a:p>
          <a:p xmlns:a="http://schemas.openxmlformats.org/drawingml/2006/main">
            <a:r>
              <a:t>- O asterisco marca categoria editorial, piso total, combinado, calculado, ajustado ou sem equivalência direta; natureza, fórmula, documento e cláusula permanecem por CNPJ no workbook.</a:t>
            </a:r>
          </a:p>
          <a:p xmlns:a="http://schemas.openxmlformats.org/drawingml/2006/main">
            <a:r>
              <a:t>- Benchmark: Amostra abaixo do mínimo configurável de cinco pares.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Unidade: um cartão por CNPJ elegível da Carteira I; cada cartão é uma única caixa de texto nomeada pelo CNPJ para reorganização manual.</a:t>
            </a:r>
          </a:p>
          <a:p xmlns:a="http://schemas.openxmlformats.org/drawingml/2006/main">
            <a:r>
              <a:t>- Elegibilidade do MVP: Sub/PL atual, piso documental e PL do veículo disponíveis. Casos excluídos permanecem integralmente no workbook e no explorador.</a:t>
            </a:r>
          </a:p>
          <a:p xmlns:a="http://schemas.openxmlformats.org/drawingml/2006/main">
            <a:r>
              <a:t>- O sinal vinho, âmbar ou azul compara Sub/PL atual ao mínimo estrutural somente quando numerador, denominador e tranche são equivalentes; cinza preserva o índice documental sem concluir folga.</a:t>
            </a:r>
          </a:p>
          <a:p xmlns:a="http://schemas.openxmlformats.org/drawingml/2006/main">
            <a:r>
              <a:t>- O asterisco marca categoria editorial, piso total, combinado, calculado, ajustado ou sem equivalência direta; natureza, fórmula, documento e cláusula permanecem por CNPJ no workbook.</a:t>
            </a:r>
          </a:p>
          <a:p xmlns:a="http://schemas.openxmlformats.org/drawingml/2006/main">
            <a:r>
              <a:t>- Benchmark: Comparação da Sub/PL atual; mínimos júnior e estrutural permanecem identificados separadamente.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Unidade: um cartão por CNPJ elegível da Carteira I; cada cartão é uma única caixa de texto nomeada pelo CNPJ para reorganização manual.</a:t>
            </a:r>
          </a:p>
          <a:p xmlns:a="http://schemas.openxmlformats.org/drawingml/2006/main">
            <a:r>
              <a:t>- Elegibilidade do MVP: Sub/PL atual, piso documental e PL do veículo disponíveis. Casos excluídos permanecem integralmente no workbook e no explorador.</a:t>
            </a:r>
          </a:p>
          <a:p xmlns:a="http://schemas.openxmlformats.org/drawingml/2006/main">
            <a:r>
              <a:t>- O sinal vinho, âmbar ou azul compara Sub/PL atual ao mínimo estrutural somente quando numerador, denominador e tranche são equivalentes; cinza preserva o índice documental sem concluir folga.</a:t>
            </a:r>
          </a:p>
          <a:p xmlns:a="http://schemas.openxmlformats.org/drawingml/2006/main">
            <a:r>
              <a:t>- O asterisco marca categoria editorial, piso total, combinado, calculado, ajustado ou sem equivalência direta; natureza, fórmula, documento e cláusula permanecem por CNPJ no workbook.</a:t>
            </a:r>
          </a:p>
          <a:p xmlns:a="http://schemas.openxmlformats.org/drawingml/2006/main">
            <a:r>
              <a:t>- Benchmark: Amostra abaixo do mínimo configurável de cinco pares.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Universo: Cotas de FIDC, ofertas públicas primárias encerradas, todos os ritos disponíveis, valor registrado positivo e data de encerramento no período; 2026 = jan–jun.</a:t>
            </a:r>
          </a:p>
          <a:p xmlns:a="http://schemas.openxmlformats.org/drawingml/2006/main">
            <a:r>
              <a:t>- Métrica: volume = Valor_Total_Registrado; ticket = volume registrado por oferta deduplicada. PF usa quantidade colocada e depende da cobertura do campo.</a:t>
            </a:r>
          </a:p>
          <a:p xmlns:a="http://schemas.openxmlformats.org/drawingml/2006/main">
            <a:r>
              <a:t>- Limitação: valor registrado pode diferir do valor encerrado informado à ANBIMA.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Universo: Cotas de FIDC, ofertas públicas primárias encerradas, todos os ritos disponíveis, Valor_Total_Registrado positivo e data de encerramento no período; 2024/2025 = FY e 2026 = jan–jun.</a:t>
            </a:r>
          </a:p>
          <a:p xmlns:a="http://schemas.openxmlformats.org/drawingml/2006/main">
            <a:r>
              <a:t>- Limitação: faixas e participações usam o valor registrado, que pode diferir do valor encerrado informado à ANBIMA.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Universo: Cotas de FIDC, ofertas públicas primárias encerradas, todos os ritos disponíveis, Valor_Total_Registrado positivo e data de encerramento no período; 2026 = jan–jun.</a:t>
            </a:r>
          </a:p>
          <a:p xmlns:a="http://schemas.openxmlformats.org/drawingml/2006/main">
            <a:r>
              <a:t>- Métrica: participação no volume = volume registrado da categoria / volume registrado total do período; inclui Não informado e fecha 100%, salvo arredondamento.</a:t>
            </a:r>
          </a:p>
          <a:p xmlns:a="http://schemas.openxmlformats.org/drawingml/2006/main">
            <a:r>
              <a:t>- Comparação YTD: garantia firme R$ 10,4 bi em jan–jun/25 e R$ 14,3 bi em jan–jun/26; variação 37,3%. Melhores esforços representam 69,2% do volume atual.</a:t>
            </a:r>
          </a:p>
          <a:p xmlns:a="http://schemas.openxmlformats.org/drawingml/2006/main">
            <a:r>
              <a:t>- Limitação: volume registrado pode diferir do valor encerrado informado à ANBIMA.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FundosNet/B3 — mesma curadoria documental flagship; fontes linha a linha na aba Auditoria emissões.</a:t>
            </a:r>
          </a:p>
          <a:p xmlns:a="http://schemas.openxmlformats.org/drawingml/2006/main">
            <a:r>
              <a:t>- Universo: Cotas de FIDC, ofertas públicas primárias encerradas, todos os ritos disponíveis, Valor_Total_Registrado positivo e data de encerramento no período; snapshot CVM 24/jul/26.</a:t>
            </a:r>
          </a:p>
          <a:p xmlns:a="http://schemas.openxmlformats.org/drawingml/2006/main">
            <a:r>
              <a:t>- Limitação: campo sem vínculo documental suficiente permanece N/D; o volume registrado pode diferir do valor encerrado informado à ANBIMA.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FundosNet/B3 — mesma curadoria documental flagship; fontes linha a linha na aba Auditoria emissões.</a:t>
            </a:r>
          </a:p>
          <a:p xmlns:a="http://schemas.openxmlformats.org/drawingml/2006/main">
            <a:r>
              <a:t>- Universo: Cotas de FIDC, ofertas públicas primárias encerradas, todos os ritos disponíveis, Valor_Total_Registrado positivo e data de encerramento no período; snapshot CVM 24/jul/26.</a:t>
            </a:r>
          </a:p>
          <a:p xmlns:a="http://schemas.openxmlformats.org/drawingml/2006/main">
            <a:r>
              <a:t>- Limitação: campo sem vínculo documental suficiente permanece N/D; o volume registrado pode diferir do valor encerrado informado à ANBIMA.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FundosNet/B3 — mesma curadoria documental flagship; fontes linha a linha na aba Auditoria emissões.</a:t>
            </a:r>
          </a:p>
          <a:p xmlns:a="http://schemas.openxmlformats.org/drawingml/2006/main">
            <a:r>
              <a:t>- Universo: Cotas de FIDC, ofertas públicas primárias encerradas, todos os ritos disponíveis, Valor_Total_Registrado positivo e data de encerramento no período; snapshot CVM 24/jul/26.</a:t>
            </a:r>
          </a:p>
          <a:p xmlns:a="http://schemas.openxmlformats.org/drawingml/2006/main">
            <a:r>
              <a:t>- Limitação: rating sem documento público verificável ou sem vínculo exato = N/D.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FundosNet/B3 — mesma curadoria documental flagship; fontes linha a linha na aba Auditoria emissões.</a:t>
            </a:r>
          </a:p>
          <a:p xmlns:a="http://schemas.openxmlformats.org/drawingml/2006/main">
            <a:r>
              <a:t>- Universo: Cotas de FIDC, ofertas públicas primárias encerradas, todos os ritos disponíveis, Valor_Total_Registrado positivo e data de encerramento no período; snapshot CVM 24/jul/26.</a:t>
            </a:r>
          </a:p>
          <a:p xmlns:a="http://schemas.openxmlformats.org/drawingml/2006/main">
            <a:r>
              <a:t>- Limitação: rating sem documento público verificável ou sem vínculo exato = N/D.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FundosNet/B3 — mesma curadoria documental flagship; fontes linha a linha na aba Auditoria emissões.</a:t>
            </a:r>
          </a:p>
          <a:p xmlns:a="http://schemas.openxmlformats.org/drawingml/2006/main">
            <a:r>
              <a:t>- Universo: Cotas de FIDC, ofertas públicas primárias encerradas, todos os ritos disponíveis, Valor_Total_Registrado positivo e data de encerramento no período; snapshot CVM 24/jul/26.</a:t>
            </a:r>
          </a:p>
          <a:p xmlns:a="http://schemas.openxmlformats.org/drawingml/2006/main">
            <a:r>
              <a:t>- Limitação: rating sem documento público verificável ou sem vínculo exato = N/D.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FundosNet/B3 — mesma curadoria documental flagship; fontes linha a linha na aba Auditoria emissões.</a:t>
            </a:r>
          </a:p>
          <a:p xmlns:a="http://schemas.openxmlformats.org/drawingml/2006/main">
            <a:r>
              <a:t>- Universo: Cotas de FIDC, ofertas públicas primárias encerradas, todos os ritos disponíveis, Valor_Total_Registrado positivo e data de encerramento no período; snapshot CVM 24/jul/26.</a:t>
            </a:r>
          </a:p>
          <a:p xmlns:a="http://schemas.openxmlformats.org/drawingml/2006/main">
            <a:r>
              <a:t>- Limitação: rating sem documento público verificável ou sem vínculo exato = N/D.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análises granulares de ofertas públicas primárias encerradas, todos os ritos disponíveis, volume registrado; 2026 = jan–jun: https://dados.cvm.gov.br/dataset/oferta-distrib</a:t>
            </a:r>
          </a:p>
          <a:p xmlns:a="http://schemas.openxmlformats.org/drawingml/2006/main">
            <a:r>
              <a:t>- ANBIMA — Coletiva de Mercado de Capitais 1S26, valor encerrado, snapshot jun/26; 2026 = jan–jun: https://www.anbima.com.br/data/files/8E/86/DB/07/325AF91098D078F9692BA2A8/Apresentacao%20_%20coletiva%20Mercado%20de%20Capitais%20_%201S26.pdf</a:t>
            </a:r>
          </a:p>
          <a:p xmlns:a="http://schemas.openxmlformats.org/drawingml/2006/main">
            <a:r>
              <a:t>- FundosNet/B3 — evidência documental de ratings; rating sem documento público verificável ou sem vínculo exato = N/D.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CVM Informe Mensal jun/26; bases/prestadores_separados.csv e prestadores_linhagem.csv. Itaú/INTRAG/Kinea conforme curadoria existente. Kanastra/Limine: https://pt.linkedin.com/posts/kanastra_kanastra-compra-limine-dtvm-para-avan%C3%A7ar-activity-7181046721483816960-aUAG . Participação minoritária Itaú: https://www.itau.com.br/media/dam/m/36e80c6030c3408c/original/010425-intrag-volta-ao-negocio-de-fidcs-de-recebiveis-em-parceria-com-a-kanastra.pdf . Gestão/custódia: cadastro vigente; sem soma entre funções.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Resolução CVM 30 — categorias de investidor profissional e qualificado: https://conteudo.cvm.gov.br/legislacao/resolucoes/resolucao030.html</a:t>
            </a:r>
          </a:p>
          <a:p xmlns:a="http://schemas.openxmlformats.org/drawingml/2006/main">
            <a:r>
              <a:t>- Universo: Cotas de FIDC, ofertas públicas primárias encerradas, todos os ritos disponíveis, valor registrado positivo e data de encerramento no período; 2026 = jan–jun.</a:t>
            </a:r>
          </a:p>
          <a:p xmlns:a="http://schemas.openxmlformats.org/drawingml/2006/main">
            <a:r>
              <a:t>- Limitação: público-alvo mede elegibilidade e não alocação final; não separa pessoa física de pessoa jurídica. Campo ausente em registros legados = N/D.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CVM Informe Mensal jun/26; bases/saldo_cenarios.csv; bases/exclusoes_por_cnpj.csv; bases/emissoes_cenario.csv. CNPJs 09195235000150 e 26287464000114 excluídos do numerador e denominador em todos os períodos. Coorte de ofertas verificada sem ocorrências dos dois fundos; valores de emissão mantidos. Original preservado.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CVM/ANBIMA e taxonomy_review_actions.csv congelados no manifesto. bases/credito_triagem_cnpj.csv e credito_triagem_resumo.csv. Nenhuma nova classificação aprovada. Exemplo de conflito: Mercado Crédito (33254370000104), regulamento 1128340, pp. 9 e 94, permite PF e PJ; Mercado Crédito I Brasil (37511828000114), regulamento 1200490, pp. 20 e 143, mandato consumidor/comerciante e limite de 0,5% por devedor nos critérios de enquadramento. Não mede composição efetiva de jun/26. Monee I (42922136000107): o regulamento 1159092, pp.30–33, trata de arranjos de pagamento; revalidar rótulo BNPL da curadoria. URLs: https://fnet.bmfbovespa.com.br/fnet/publico/downloadDocumento?id=1128340 ; https://fnet.bmfbovespa.com.br/fnet/publico/downloadDocumento?id=1200490 ; https://fnet.bmfbovespa.com.br/fnet/publico/downloadDocumento?id=1159092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980823178348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6defa16dde4e98" /><Relationship Type="http://schemas.openxmlformats.org/officeDocument/2006/relationships/slideLayout" Target="/ppt/slideLayouts/slideLayout1.xml" Id="Rea79e47a85e644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79e47a85e644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Itau BBA FIDC Editorial">
      <a:dk1>
        <a:srgbClr val="151515"/>
      </a:dk1>
      <a:lt1>
        <a:srgbClr val="FFFFFF"/>
      </a:lt1>
      <a:dk2>
        <a:srgbClr val="30353A"/>
      </a:dk2>
      <a:lt2>
        <a:srgbClr val="E7E9EB"/>
      </a:lt2>
      <a:accent1>
        <a:srgbClr val="EC7000"/>
      </a:accent1>
      <a:accent2>
        <a:srgbClr val="151515"/>
      </a:accent2>
      <a:accent3>
        <a:srgbClr val="30353A"/>
      </a:accent3>
      <a:accent4>
        <a:srgbClr val="73787D"/>
      </a:accent4>
      <a:accent5>
        <a:srgbClr val="8D9399"/>
      </a:accent5>
      <a:accent6>
        <a:srgbClr val="D7DADD"/>
      </a:accent6>
      <a:hlink>
        <a:srgbClr val="EC7000"/>
      </a:hlink>
      <a:folHlink>
        <a:srgbClr val="7378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tau BBA FIDC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59bdd5a164022" /><Relationship Type="http://schemas.openxmlformats.org/officeDocument/2006/relationships/notesSlide" Target="/ppt/notesSlides/notesSlide1.xml" Id="R5bf4060d447346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2d62a729b46a5" /><Relationship Type="http://schemas.openxmlformats.org/officeDocument/2006/relationships/chart" Target="/ppt/slides/charts/chart1.xml" Id="R55254a25e46846bd" /><Relationship Type="http://schemas.openxmlformats.org/officeDocument/2006/relationships/chart" Target="/ppt/slides/charts/chart2.xml" Id="R1bffbdb5bc5240da" /><Relationship Type="http://schemas.openxmlformats.org/officeDocument/2006/relationships/chart" Target="/ppt/slides/charts/chart3.xml" Id="Rf423b27d28cf4e69" /><Relationship Type="http://schemas.openxmlformats.org/officeDocument/2006/relationships/notesSlide" Target="/ppt/notesSlides/notesSlide2.xml" Id="Rafdc332d459d49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f909195b94bcd" /><Relationship Type="http://schemas.openxmlformats.org/officeDocument/2006/relationships/chart" Target="/ppt/slides/charts/chart4.xml" Id="R5319cb147fdf496f" /><Relationship Type="http://schemas.openxmlformats.org/officeDocument/2006/relationships/chart" Target="/ppt/slides/charts/chart5.xml" Id="R7f2f028327de45a1" /><Relationship Type="http://schemas.openxmlformats.org/officeDocument/2006/relationships/notesSlide" Target="/ppt/notesSlides/notesSlide3.xml" Id="R084a48b79e9b4f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05fa8632a408e" /><Relationship Type="http://schemas.openxmlformats.org/officeDocument/2006/relationships/chart" Target="/ppt/slides/charts/chart6.xml" Id="Rdf39789bc65d409b" /><Relationship Type="http://schemas.openxmlformats.org/officeDocument/2006/relationships/chart" Target="/ppt/slides/charts/chart7.xml" Id="R3aac1c014f5a42ed" /><Relationship Type="http://schemas.openxmlformats.org/officeDocument/2006/relationships/chart" Target="/ppt/slides/charts/chart8.xml" Id="Rd2bb4a63af564149" /><Relationship Type="http://schemas.openxmlformats.org/officeDocument/2006/relationships/chart" Target="/ppt/slides/charts/chart9.xml" Id="R2401586bd95d4ecc" /><Relationship Type="http://schemas.openxmlformats.org/officeDocument/2006/relationships/notesSlide" Target="/ppt/notesSlides/notesSlide4.xml" Id="R48832b8369b248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a07c284ba4f30" /><Relationship Type="http://schemas.openxmlformats.org/officeDocument/2006/relationships/chart" Target="/ppt/slides/charts/chart10.xml" Id="R90e8f404291849fc" /><Relationship Type="http://schemas.openxmlformats.org/officeDocument/2006/relationships/chart" Target="/ppt/slides/charts/chart11.xml" Id="R17e91c8dfcc84f1f" /><Relationship Type="http://schemas.openxmlformats.org/officeDocument/2006/relationships/notesSlide" Target="/ppt/notesSlides/notesSlide5.xml" Id="R2e667afa686741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9e9bce2e4427a" /><Relationship Type="http://schemas.openxmlformats.org/officeDocument/2006/relationships/chart" Target="/ppt/slides/charts/chart12.xml" Id="Rf9f3ba68af524b53" /><Relationship Type="http://schemas.openxmlformats.org/officeDocument/2006/relationships/chart" Target="/ppt/slides/charts/chart13.xml" Id="R938bb6f3b04345d3" /><Relationship Type="http://schemas.openxmlformats.org/officeDocument/2006/relationships/chart" Target="/ppt/slides/charts/chart14.xml" Id="R53fef506028b4c40" /><Relationship Type="http://schemas.openxmlformats.org/officeDocument/2006/relationships/notesSlide" Target="/ppt/notesSlides/notesSlide6.xml" Id="R5bf326fbee2043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463c06c0d4756" /><Relationship Type="http://schemas.openxmlformats.org/officeDocument/2006/relationships/chart" Target="/ppt/slides/charts/chart15.xml" Id="R83339c27e6c8416f" /><Relationship Type="http://schemas.openxmlformats.org/officeDocument/2006/relationships/chart" Target="/ppt/slides/charts/chart16.xml" Id="R36d38127d6df4360" /><Relationship Type="http://schemas.openxmlformats.org/officeDocument/2006/relationships/chart" Target="/ppt/slides/charts/chart17.xml" Id="Re11d0ceb5d4b4ea4" /><Relationship Type="http://schemas.openxmlformats.org/officeDocument/2006/relationships/notesSlide" Target="/ppt/notesSlides/notesSlide7.xml" Id="R13e17f78a20440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90d9b0a674a8d" /><Relationship Type="http://schemas.openxmlformats.org/officeDocument/2006/relationships/chart" Target="/ppt/slides/charts/chart18.xml" Id="R6f90bb0e9ca244f2" /><Relationship Type="http://schemas.openxmlformats.org/officeDocument/2006/relationships/chart" Target="/ppt/slides/charts/chart19.xml" Id="Rb804b47060c34f38" /><Relationship Type="http://schemas.openxmlformats.org/officeDocument/2006/relationships/chart" Target="/ppt/slides/charts/chart20.xml" Id="Rfce6cd9578d3419c" /><Relationship Type="http://schemas.openxmlformats.org/officeDocument/2006/relationships/notesSlide" Target="/ppt/notesSlides/notesSlide8.xml" Id="R467a3009055349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f538b8b7c4506" /><Relationship Type="http://schemas.openxmlformats.org/officeDocument/2006/relationships/notesSlide" Target="/ppt/notesSlides/notesSlide9.xml" Id="Rffd54c1fa7ef4b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c11db939e4847" /><Relationship Type="http://schemas.openxmlformats.org/officeDocument/2006/relationships/notesSlide" Target="/ppt/notesSlides/notesSlide10.xml" Id="Rc0d07a74c71f45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c89388b1454ae4" /><Relationship Type="http://schemas.openxmlformats.org/officeDocument/2006/relationships/notesSlide" Target="/ppt/notesSlides/notesSlide11.xml" Id="R748a9a900c7b4fb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670484a834eba" /><Relationship Type="http://schemas.openxmlformats.org/officeDocument/2006/relationships/notesSlide" Target="/ppt/notesSlides/notesSlide12.xml" Id="R3fb4596fcedb423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be685da5b46e8" /><Relationship Type="http://schemas.openxmlformats.org/officeDocument/2006/relationships/notesSlide" Target="/ppt/notesSlides/notesSlide13.xml" Id="R623cce9a9764437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80b20d67e4d34" /><Relationship Type="http://schemas.openxmlformats.org/officeDocument/2006/relationships/notesSlide" Target="/ppt/notesSlides/notesSlide14.xml" Id="R6832ed504c264f6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82a09d49b440a" /><Relationship Type="http://schemas.openxmlformats.org/officeDocument/2006/relationships/notesSlide" Target="/ppt/notesSlides/notesSlide15.xml" Id="Ref97fc109b214ad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239f33e484f4d" /><Relationship Type="http://schemas.openxmlformats.org/officeDocument/2006/relationships/notesSlide" Target="/ppt/notesSlides/notesSlide16.xml" Id="Rd3ec8c6dc6084c3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aae3f883d4ec9" /><Relationship Type="http://schemas.openxmlformats.org/officeDocument/2006/relationships/notesSlide" Target="/ppt/notesSlides/notesSlide17.xml" Id="R56254c3d6a83417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01db63ec643e8" /><Relationship Type="http://schemas.openxmlformats.org/officeDocument/2006/relationships/notesSlide" Target="/ppt/notesSlides/notesSlide18.xml" Id="R5cb5cef1b60c4e9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f645ded17447d" /><Relationship Type="http://schemas.openxmlformats.org/officeDocument/2006/relationships/notesSlide" Target="/ppt/notesSlides/notesSlide19.xml" Id="R951f3fc338dd467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e7630d08b4ea0" /><Relationship Type="http://schemas.openxmlformats.org/officeDocument/2006/relationships/notesSlide" Target="/ppt/notesSlides/notesSlide20.xml" Id="R167a46c58247453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7826bf18f48f9" /><Relationship Type="http://schemas.openxmlformats.org/officeDocument/2006/relationships/notesSlide" Target="/ppt/notesSlides/notesSlide21.xml" Id="Rc7f50209b5ef4f3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748bffbd147bd" /><Relationship Type="http://schemas.openxmlformats.org/officeDocument/2006/relationships/notesSlide" Target="/ppt/notesSlides/notesSlide22.xml" Id="R47227b365e0d423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2727f5a7b4221" /><Relationship Type="http://schemas.openxmlformats.org/officeDocument/2006/relationships/notesSlide" Target="/ppt/notesSlides/notesSlide23.xml" Id="Redd069a9278148a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0d3152ebb4aa8" /><Relationship Type="http://schemas.openxmlformats.org/officeDocument/2006/relationships/chart" Target="/ppt/slides/charts/chart21.xml" Id="R3d3925a4029f4ea4" /><Relationship Type="http://schemas.openxmlformats.org/officeDocument/2006/relationships/chart" Target="/ppt/slides/charts/chart22.xml" Id="Rbfc3f5ffab1a4066" /><Relationship Type="http://schemas.openxmlformats.org/officeDocument/2006/relationships/chart" Target="/ppt/slides/charts/chart23.xml" Id="Rb1b911e7ea5b44c4" /><Relationship Type="http://schemas.openxmlformats.org/officeDocument/2006/relationships/notesSlide" Target="/ppt/notesSlides/notesSlide24.xml" Id="R812047c9271b433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1393bec13491b" /><Relationship Type="http://schemas.openxmlformats.org/officeDocument/2006/relationships/chart" Target="/ppt/slides/charts/chart24.xml" Id="R5d42ed8fcf1f4bf0" /><Relationship Type="http://schemas.openxmlformats.org/officeDocument/2006/relationships/chart" Target="/ppt/slides/charts/chart25.xml" Id="Ra13d7a53bb5d408f" /><Relationship Type="http://schemas.openxmlformats.org/officeDocument/2006/relationships/chart" Target="/ppt/slides/charts/chart26.xml" Id="Re8231e69239847a2" /><Relationship Type="http://schemas.openxmlformats.org/officeDocument/2006/relationships/chart" Target="/ppt/slides/charts/chart27.xml" Id="Re65a411e56f84c7d" /><Relationship Type="http://schemas.openxmlformats.org/officeDocument/2006/relationships/notesSlide" Target="/ppt/notesSlides/notesSlide25.xml" Id="Rb821727a531b40f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30571e6764133" /><Relationship Type="http://schemas.openxmlformats.org/officeDocument/2006/relationships/chart" Target="/ppt/slides/charts/chart28.xml" Id="R3c9973a1f2434aca" /><Relationship Type="http://schemas.openxmlformats.org/officeDocument/2006/relationships/notesSlide" Target="/ppt/notesSlides/notesSlide26.xml" Id="R1a7cc3bf32ce458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cdea6ee6a4086" /><Relationship Type="http://schemas.openxmlformats.org/officeDocument/2006/relationships/notesSlide" Target="/ppt/notesSlides/notesSlide27.xml" Id="Rc68e23f8e66f461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81d60fb8c405c" /><Relationship Type="http://schemas.openxmlformats.org/officeDocument/2006/relationships/notesSlide" Target="/ppt/notesSlides/notesSlide28.xml" Id="Rbf1587f6abcf4cf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7c1ef6a5e467e" /><Relationship Type="http://schemas.openxmlformats.org/officeDocument/2006/relationships/notesSlide" Target="/ppt/notesSlides/notesSlide29.xml" Id="R75e5d39445ea4c8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ad2e128df479f" /><Relationship Type="http://schemas.openxmlformats.org/officeDocument/2006/relationships/notesSlide" Target="/ppt/notesSlides/notesSlide30.xml" Id="Rcdfee29c7511472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09f85e94947f6" /><Relationship Type="http://schemas.openxmlformats.org/officeDocument/2006/relationships/notesSlide" Target="/ppt/notesSlides/notesSlide31.xml" Id="R0bd255afa70c436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a20bd988145e4" /><Relationship Type="http://schemas.openxmlformats.org/officeDocument/2006/relationships/notesSlide" Target="/ppt/notesSlides/notesSlide32.xml" Id="Rddc32809c6d14ba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8c34c02634f4d" /><Relationship Type="http://schemas.openxmlformats.org/officeDocument/2006/relationships/notesSlide" Target="/ppt/notesSlides/notesSlide33.xml" Id="R9a1157798294402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c8dd2fdcb4a11" /><Relationship Type="http://schemas.openxmlformats.org/officeDocument/2006/relationships/chart" Target="/ppt/slides/charts/chart29.xml" Id="Raa0f0312fb694eca" /><Relationship Type="http://schemas.openxmlformats.org/officeDocument/2006/relationships/chart" Target="/ppt/slides/charts/chart30.xml" Id="Rf3dd417461b14ebc" /><Relationship Type="http://schemas.openxmlformats.org/officeDocument/2006/relationships/chart" Target="/ppt/slides/charts/chart31.xml" Id="R95769780dcab430e" /><Relationship Type="http://schemas.openxmlformats.org/officeDocument/2006/relationships/chart" Target="/ppt/slides/charts/chart32.xml" Id="R417164731fc04091" /><Relationship Type="http://schemas.openxmlformats.org/officeDocument/2006/relationships/chart" Target="/ppt/slides/charts/chart33.xml" Id="Rd99226d765d249eb" /><Relationship Type="http://schemas.openxmlformats.org/officeDocument/2006/relationships/chart" Target="/ppt/slides/charts/chart34.xml" Id="Ree3101192d7d411f" /><Relationship Type="http://schemas.openxmlformats.org/officeDocument/2006/relationships/chart" Target="/ppt/slides/charts/chart35.xml" Id="Re3231602bd29404e" /><Relationship Type="http://schemas.openxmlformats.org/officeDocument/2006/relationships/notesSlide" Target="/ppt/notesSlides/notesSlide34.xml" Id="R51fe03e39aed416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7ac2b9c8514598" /><Relationship Type="http://schemas.openxmlformats.org/officeDocument/2006/relationships/chart" Target="/ppt/slides/charts/chart36.xml" Id="Rae866177744947ac" /><Relationship Type="http://schemas.openxmlformats.org/officeDocument/2006/relationships/chart" Target="/ppt/slides/charts/chart37.xml" Id="Rc9522b4785254bf7" /><Relationship Type="http://schemas.openxmlformats.org/officeDocument/2006/relationships/notesSlide" Target="/ppt/notesSlides/notesSlide35.xml" Id="Rcebf730cd26240c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418655180499a" /><Relationship Type="http://schemas.openxmlformats.org/officeDocument/2006/relationships/chart" Target="/ppt/slides/charts/chart38.xml" Id="R7987e244faa0440f" /><Relationship Type="http://schemas.openxmlformats.org/officeDocument/2006/relationships/chart" Target="/ppt/slides/charts/chart39.xml" Id="Rdfc5488a08d34815" /><Relationship Type="http://schemas.openxmlformats.org/officeDocument/2006/relationships/chart" Target="/ppt/slides/charts/chart40.xml" Id="Rab7076f7c0fe41ac" /><Relationship Type="http://schemas.openxmlformats.org/officeDocument/2006/relationships/notesSlide" Target="/ppt/notesSlides/notesSlide36.xml" Id="Rc3c9ce7df0084bb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0f96047c84ad0" /><Relationship Type="http://schemas.openxmlformats.org/officeDocument/2006/relationships/chart" Target="/ppt/slides/charts/chart41.xml" Id="R0ffacf4815d14474" /><Relationship Type="http://schemas.openxmlformats.org/officeDocument/2006/relationships/chart" Target="/ppt/slides/charts/chart42.xml" Id="R97d5befc7b0d49fe" /><Relationship Type="http://schemas.openxmlformats.org/officeDocument/2006/relationships/chart" Target="/ppt/slides/charts/chart43.xml" Id="Re851bf5aaf964698" /><Relationship Type="http://schemas.openxmlformats.org/officeDocument/2006/relationships/chart" Target="/ppt/slides/charts/chart44.xml" Id="Re0c60f6335524024" /><Relationship Type="http://schemas.openxmlformats.org/officeDocument/2006/relationships/chart" Target="/ppt/slides/charts/chart45.xml" Id="R8dbef349e8e24e69" /><Relationship Type="http://schemas.openxmlformats.org/officeDocument/2006/relationships/notesSlide" Target="/ppt/notesSlides/notesSlide37.xml" Id="R56ab3fceb5384f5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fa84f45184f8a" /><Relationship Type="http://schemas.openxmlformats.org/officeDocument/2006/relationships/chart" Target="/ppt/slides/charts/chart46.xml" Id="Rd03adb6f42b548d8" /><Relationship Type="http://schemas.openxmlformats.org/officeDocument/2006/relationships/chart" Target="/ppt/slides/charts/chart47.xml" Id="R173afa40035d4a45" /><Relationship Type="http://schemas.openxmlformats.org/officeDocument/2006/relationships/chart" Target="/ppt/slides/charts/chart48.xml" Id="Rc0c29bfab3ed4dc1" /><Relationship Type="http://schemas.openxmlformats.org/officeDocument/2006/relationships/chart" Target="/ppt/slides/charts/chart49.xml" Id="Rde5c58f70f064532" /><Relationship Type="http://schemas.openxmlformats.org/officeDocument/2006/relationships/notesSlide" Target="/ppt/notesSlides/notesSlide38.xml" Id="R441051111e824bb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2bf9dfef7047bf" /><Relationship Type="http://schemas.openxmlformats.org/officeDocument/2006/relationships/chart" Target="/ppt/slides/charts/chart50.xml" Id="R58d16179c5744956" /><Relationship Type="http://schemas.openxmlformats.org/officeDocument/2006/relationships/chart" Target="/ppt/slides/charts/chart51.xml" Id="R149ec13e89454f55" /><Relationship Type="http://schemas.openxmlformats.org/officeDocument/2006/relationships/notesSlide" Target="/ppt/notesSlides/notesSlide39.xml" Id="R7799f975800a4bb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FIDCs ex-FIC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12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  <c:pt idx="11">
                <c:v>jun/26</c:v>
              </c:pt>
            </c:strLit>
          </c:cat>
          <c:val>
            <c:numLit>
              <c:formatCode>0.0</c:formatCode>
              <c:ptCount val="12"/>
              <c:pt idx="0">
                <c:v>82.47394622656002</c:v>
              </c:pt>
              <c:pt idx="1">
                <c:v>91.06663976073</c:v>
              </c:pt>
              <c:pt idx="2">
                <c:v>110.17917421320999</c:v>
              </c:pt>
              <c:pt idx="3">
                <c:v>131.15934835309002</c:v>
              </c:pt>
              <c:pt idx="4">
                <c:v>227.71359379045998</c:v>
              </c:pt>
              <c:pt idx="5">
                <c:v>207.20204249441997</c:v>
              </c:pt>
              <c:pt idx="6">
                <c:v>296.00245013669</c:v>
              </c:pt>
              <c:pt idx="7">
                <c:v>361.4746705835</c:v>
              </c:pt>
              <c:pt idx="8">
                <c:v>452.33503972062</c:v>
              </c:pt>
              <c:pt idx="9">
                <c:v>651.4527427988997</c:v>
              </c:pt>
              <c:pt idx="10">
                <c:v>772.1084321980501</c:v>
              </c:pt>
              <c:pt idx="11">
                <c:v>821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[&gt;=1000]#\.##0;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20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Empréstimos</c:v>
          </c:tx>
          <c:spPr>
            <a:solidFill xmlns:a="http://schemas.openxmlformats.org/drawingml/2006/main">
              <a:srgbClr val="30353A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9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12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  <c:pt idx="11">
                <c:v>06/26</c:v>
              </c:pt>
            </c:strLit>
          </c:cat>
          <c:val>
            <c:numLit>
              <c:formatCode>[&gt;=1000]#\.##0;0</c:formatCode>
              <c:ptCount val="12"/>
              <c:pt idx="0">
                <c:v>3362.376</c:v>
              </c:pt>
              <c:pt idx="1">
                <c:v>3266.892</c:v>
              </c:pt>
              <c:pt idx="2">
                <c:v>3270.332</c:v>
              </c:pt>
              <c:pt idx="3">
                <c:v>3455.08</c:v>
              </c:pt>
              <c:pt idx="4">
                <c:v>3677.557</c:v>
              </c:pt>
              <c:pt idx="5">
                <c:v>4239.899</c:v>
              </c:pt>
              <c:pt idx="6">
                <c:v>4906.92</c:v>
              </c:pt>
              <c:pt idx="7">
                <c:v>5628.48</c:v>
              </c:pt>
              <c:pt idx="8">
                <c:v>6088.547</c:v>
              </c:pt>
              <c:pt idx="9">
                <c:v>6758.822</c:v>
              </c:pt>
              <c:pt idx="10">
                <c:v>7454.674</c:v>
              </c:pt>
              <c:pt idx="11">
                <c:v>7666.364</c:v>
              </c:pt>
            </c:numLit>
          </c:val>
        </c:ser>
        <c:ser>
          <c:idx val="1"/>
          <c:order val="1"/>
          <c:tx>
            <c:v>Títulos privados</c:v>
          </c:tx>
          <c:spPr>
            <a:solidFill xmlns:a="http://schemas.openxmlformats.org/drawingml/2006/main">
              <a:srgbClr val="8D9399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9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12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  <c:pt idx="11">
                <c:v>06/26</c:v>
              </c:pt>
            </c:strLit>
          </c:cat>
          <c:val>
            <c:numLit>
              <c:formatCode>[&gt;=1000]#\.##0;0</c:formatCode>
              <c:ptCount val="12"/>
              <c:pt idx="0">
                <c:v>245.674</c:v>
              </c:pt>
              <c:pt idx="1">
                <c:v>242.427</c:v>
              </c:pt>
              <c:pt idx="2">
                <c:v>304.747</c:v>
              </c:pt>
              <c:pt idx="3">
                <c:v>354.539</c:v>
              </c:pt>
              <c:pt idx="4">
                <c:v>480.213</c:v>
              </c:pt>
              <c:pt idx="5">
                <c:v>499.564</c:v>
              </c:pt>
              <c:pt idx="6">
                <c:v>635.901</c:v>
              </c:pt>
              <c:pt idx="7">
                <c:v>849.483</c:v>
              </c:pt>
              <c:pt idx="8">
                <c:v>976.105</c:v>
              </c:pt>
              <c:pt idx="9">
                <c:v>1214.121</c:v>
              </c:pt>
              <c:pt idx="10">
                <c:v>1413.637</c:v>
              </c:pt>
              <c:pt idx="11">
                <c:v>1506.688</c:v>
              </c:pt>
            </c:numLit>
          </c:val>
        </c:ser>
        <c:ser>
          <c:idx val="2"/>
          <c:order val="2"/>
          <c:tx>
            <c:v>FIDCs · carteira</c:v>
          </c:tx>
          <c:spPr>
            <a:solidFill xmlns:a="http://schemas.openxmlformats.org/drawingml/2006/main">
              <a:srgbClr val="EC7000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9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12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  <c:pt idx="11">
                <c:v>06/26</c:v>
              </c:pt>
            </c:strLit>
          </c:cat>
          <c:val>
            <c:numLit>
              <c:formatCode>[&gt;=1000]#\.##0;0</c:formatCode>
              <c:ptCount val="12"/>
              <c:pt idx="0">
                <c:v>70.69879439891001</c:v>
              </c:pt>
              <c:pt idx="1">
                <c:v>81.9073701812</c:v>
              </c:pt>
              <c:pt idx="2">
                <c:v>95.50993683035</c:v>
              </c:pt>
              <c:pt idx="3">
                <c:v>106.12068752539999</c:v>
              </c:pt>
              <c:pt idx="4">
                <c:v>182.14515826151</c:v>
              </c:pt>
              <c:pt idx="5">
                <c:v>159.9315713704</c:v>
              </c:pt>
              <c:pt idx="6">
                <c:v>250.01323870676</c:v>
              </c:pt>
              <c:pt idx="7">
                <c:v>304.88387968723</c:v>
              </c:pt>
              <c:pt idx="8">
                <c:v>387.79349892013</c:v>
              </c:pt>
              <c:pt idx="9">
                <c:v>549.88571619299</c:v>
              </c:pt>
              <c:pt idx="10">
                <c:v>641.3242789240101</c:v>
              </c:pt>
              <c:pt idx="11">
                <c:v>676.899410153</c:v>
              </c:pt>
            </c:numLit>
          </c:val>
        </c:ser>
        <c:ser>
          <c:idx val="3"/>
          <c:order val="3"/>
          <c:tx>
            <c:v>Outras securitizações</c:v>
          </c:tx>
          <c:spPr>
            <a:solidFill xmlns:a="http://schemas.openxmlformats.org/drawingml/2006/main">
              <a:srgbClr val="D7DADD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9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12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  <c:pt idx="11">
                <c:v>06/26</c:v>
              </c:pt>
            </c:strLit>
          </c:cat>
          <c:val>
            <c:numLit>
              <c:formatCode>[&gt;=1000]#\.##0;0</c:formatCode>
              <c:ptCount val="12"/>
              <c:pt idx="0">
                <c:v>72.80420560108999</c:v>
              </c:pt>
              <c:pt idx="1">
                <c:v>91.8096298188</c:v>
              </c:pt>
              <c:pt idx="2">
                <c:v>113.15306316965</c:v>
              </c:pt>
              <c:pt idx="3">
                <c:v>121.5283124746</c:v>
              </c:pt>
              <c:pt idx="4">
                <c:v>128.42384173849</c:v>
              </c:pt>
              <c:pt idx="5">
                <c:v>127.91442862960001</c:v>
              </c:pt>
              <c:pt idx="6">
                <c:v>183.95476129323998</c:v>
              </c:pt>
              <c:pt idx="7">
                <c:v>261.47012031277</c:v>
              </c:pt>
              <c:pt idx="8">
                <c:v>334.01450107987</c:v>
              </c:pt>
              <c:pt idx="9">
                <c:v>444.74928380701</c:v>
              </c:pt>
              <c:pt idx="10">
                <c:v>452.05372107599</c:v>
              </c:pt>
              <c:pt idx="11">
                <c:v>496.839589847</c:v>
              </c:pt>
            </c:numLit>
          </c:val>
        </c:ser>
        <c:ser>
          <c:idx val="4"/>
          <c:order val="4"/>
          <c:tx>
            <c:v>Dívida externa</c:v>
          </c:tx>
          <c:spPr>
            <a:solidFill xmlns:a="http://schemas.openxmlformats.org/drawingml/2006/main">
              <a:srgbClr val="E7E9EB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9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12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  <c:pt idx="11">
                <c:v>06/26</c:v>
              </c:pt>
            </c:strLit>
          </c:cat>
          <c:val>
            <c:numLit>
              <c:formatCode>[&gt;=1000]#\.##0;0</c:formatCode>
              <c:ptCount val="12"/>
              <c:pt idx="0">
                <c:v>1996.897</c:v>
              </c:pt>
              <c:pt idx="1">
                <c:v>1735.5</c:v>
              </c:pt>
              <c:pt idx="2">
                <c:v>1743.734</c:v>
              </c:pt>
              <c:pt idx="3">
                <c:v>1982.893</c:v>
              </c:pt>
              <c:pt idx="4">
                <c:v>2075.703</c:v>
              </c:pt>
              <c:pt idx="5">
                <c:v>2566.911</c:v>
              </c:pt>
              <c:pt idx="6">
                <c:v>2820.561</c:v>
              </c:pt>
              <c:pt idx="7">
                <c:v>2714.754</c:v>
              </c:pt>
              <c:pt idx="8">
                <c:v>2713.732</c:v>
              </c:pt>
              <c:pt idx="9">
                <c:v>3408.391</c:v>
              </c:pt>
              <c:pt idx="10">
                <c:v>3405.938</c:v>
              </c:pt>
              <c:pt idx="11">
                <c:v>3432.857</c:v>
              </c:pt>
            </c:numLit>
          </c:val>
        </c:ser>
        <c:gapWidth val="10"/>
        <c:overlap val="100"/>
        <c:axId val="48650112"/>
        <c:axId val="48672768"/>
      </c:barChart>
      <c:lineChart>
        <c:grouping val="standard"/>
        <c:varyColors val="0"/>
        <c:ser>
          <c:idx val="5"/>
          <c:order val="5"/>
          <c:tx>
            <c:v>Total</c:v>
          </c:tx>
          <c:spPr>
            <a:ln xmlns:a="http://schemas.openxmlformats.org/drawingml/2006/main">
              <a:noFill/>
            </a:ln>
          </c:spPr>
          <c:marker>
            <c:symbol val="none"/>
            <c:size val="2"/>
          </c:marker>
          <c:dLbls>
            <c:numFmt formatCode="[&gt;=1000]#\.##0;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0"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2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  <c:pt idx="11">
                <c:v>06/26</c:v>
              </c:pt>
            </c:strLit>
          </c:cat>
          <c:val>
            <c:numLit>
              <c:formatCode>0</c:formatCode>
              <c:ptCount val="12"/>
              <c:pt idx="0">
                <c:v>5748.45</c:v>
              </c:pt>
              <c:pt idx="1">
                <c:v>5418.536</c:v>
              </c:pt>
              <c:pt idx="2">
                <c:v>5527.476</c:v>
              </c:pt>
              <c:pt idx="3">
                <c:v>6020.161</c:v>
              </c:pt>
              <c:pt idx="4">
                <c:v>6544.042</c:v>
              </c:pt>
              <c:pt idx="5">
                <c:v>7594.22</c:v>
              </c:pt>
              <c:pt idx="6">
                <c:v>8797.35</c:v>
              </c:pt>
              <c:pt idx="7">
                <c:v>9759.071</c:v>
              </c:pt>
              <c:pt idx="8">
                <c:v>10500.192</c:v>
              </c:pt>
              <c:pt idx="9">
                <c:v>12375.969</c:v>
              </c:pt>
              <c:pt idx="10">
                <c:v>13367.627</c:v>
              </c:pt>
              <c:pt idx="11">
                <c:v>13779.648</c:v>
              </c:pt>
            </c:numLit>
          </c:val>
          <c:smooth val="0"/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Algn val="ctr"/>
        <c:noMultiLvlLbl val="0"/>
        <c:lblOffset val="100"/>
      </c:catAx>
      <c:valAx>
        <c:axId val="48672768"/>
        <c:scaling>
          <c:orientation val="minMax"/>
          <c:max val="14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[&gt;=1000]#\.##0;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500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Empréstimos</c:v>
          </c:tx>
          <c:spPr>
            <a:ln xmlns:a="http://schemas.openxmlformats.org/drawingml/2006/main" w="28575">
              <a:solidFill>
                <a:srgbClr val="30353A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Tít. privados</c:v>
          </c:tx>
          <c:spPr>
            <a:ln xmlns:a="http://schemas.openxmlformats.org/drawingml/2006/main" w="28575">
              <a:solidFill>
                <a:srgbClr val="8D9399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2"/>
          <c:order val="2"/>
          <c:tx>
            <c:v>FIDCs</c:v>
          </c:tx>
          <c:spPr>
            <a:ln xmlns:a="http://schemas.openxmlformats.org/drawingml/2006/main"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3"/>
          <c:order val="3"/>
          <c:tx>
            <c:v>Outras securit.</c:v>
          </c:tx>
          <c:spPr>
            <a:ln xmlns:a="http://schemas.openxmlformats.org/drawingml/2006/main" w="28575">
              <a:solidFill>
                <a:srgbClr val="D7DAD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4"/>
          <c:order val="4"/>
          <c:tx>
            <c:v>Dív. externa</c:v>
          </c:tx>
          <c:spPr>
            <a:ln xmlns:a="http://schemas.openxmlformats.org/drawingml/2006/main" w="28575">
              <a:solidFill>
                <a:srgbClr val="E7E9EB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FIDCs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4"/>
              <c:pt idx="0">
                <c:v>2023FY</c:v>
              </c:pt>
              <c:pt idx="1">
                <c:v>2024FY</c:v>
              </c:pt>
              <c:pt idx="2">
                <c:v>2025FY</c:v>
              </c:pt>
              <c:pt idx="3">
                <c:v>2026 jan–jun</c:v>
              </c:pt>
            </c:strLit>
          </c:cat>
          <c:val>
            <c:numLit>
              <c:formatCode>0</c:formatCode>
              <c:ptCount val="4"/>
              <c:pt idx="0">
                <c:v>43.74614019622497</c:v>
              </c:pt>
              <c:pt idx="1">
                <c:v>95.41672613375</c:v>
              </c:pt>
              <c:pt idx="2">
                <c:v>116.92131905477001</c:v>
              </c:pt>
              <c:pt idx="3">
                <c:v>65.48811898356</c:v>
              </c:pt>
            </c:numLit>
          </c:val>
        </c:ser>
        <c:ser>
          <c:idx val="1"/>
          <c:order val="1"/>
          <c:tx>
            <c:v>Demais elegíveis</c:v>
          </c:tx>
          <c:spPr>
            <a:solidFill xmlns:a="http://schemas.openxmlformats.org/drawingml/2006/main">
              <a:srgbClr val="30353A"/>
            </a:solidFill>
          </c:spPr>
          <c:cat>
            <c:strLit>
              <c:ptCount val="4"/>
              <c:pt idx="0">
                <c:v>2023FY</c:v>
              </c:pt>
              <c:pt idx="1">
                <c:v>2024FY</c:v>
              </c:pt>
              <c:pt idx="2">
                <c:v>2025FY</c:v>
              </c:pt>
              <c:pt idx="3">
                <c:v>2026 jan–jun</c:v>
              </c:pt>
            </c:strLit>
          </c:cat>
          <c:val>
            <c:numLit>
              <c:formatCode>0</c:formatCode>
              <c:ptCount val="4"/>
              <c:pt idx="0">
                <c:v>353.4478795703001</c:v>
              </c:pt>
              <c:pt idx="1">
                <c:v>628.73334224723</c:v>
              </c:pt>
              <c:pt idx="2">
                <c:v>656.0946706342701</c:v>
              </c:pt>
              <c:pt idx="3">
                <c:v>246.82887238694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Debêntures</c:v>
          </c:tx>
          <c:spPr>
            <a:solidFill xmlns:a="http://schemas.openxmlformats.org/drawingml/2006/main">
              <a:srgbClr val="151515"/>
            </a:solidFill>
          </c:spPr>
          <c:cat>
            <c:strLit>
              <c:ptCount val="4"/>
              <c:pt idx="0">
                <c:v>2023 FY</c:v>
              </c:pt>
              <c:pt idx="1">
                <c:v>2024 FY</c:v>
              </c:pt>
              <c:pt idx="2">
                <c:v>2025 FY</c:v>
              </c:pt>
              <c:pt idx="3">
                <c:v>2026 jan–jun</c:v>
              </c:pt>
            </c:strLit>
          </c:cat>
          <c:val>
            <c:numLit>
              <c:formatCode>0.0</c:formatCode>
              <c:ptCount val="4"/>
              <c:pt idx="0">
                <c:v>236.61663924185</c:v>
              </c:pt>
              <c:pt idx="1">
                <c:v>474.3602899026376</c:v>
              </c:pt>
              <c:pt idx="2">
                <c:v>493.39007310800173</c:v>
              </c:pt>
              <c:pt idx="3">
                <c:v>169.8</c:v>
              </c:pt>
            </c:numLit>
          </c:val>
        </c:ser>
        <c:ser>
          <c:idx val="1"/>
          <c:order val="1"/>
          <c:tx>
            <c:v>FIDCs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4"/>
              <c:pt idx="0">
                <c:v>2023 FY</c:v>
              </c:pt>
              <c:pt idx="1">
                <c:v>2024 FY</c:v>
              </c:pt>
              <c:pt idx="2">
                <c:v>2025 FY</c:v>
              </c:pt>
              <c:pt idx="3">
                <c:v>2026 jan–jun</c:v>
              </c:pt>
            </c:strLit>
          </c:cat>
          <c:val>
            <c:numLit>
              <c:formatCode>0.0</c:formatCode>
              <c:ptCount val="4"/>
              <c:pt idx="0">
                <c:v>43.74614019622497</c:v>
              </c:pt>
              <c:pt idx="1">
                <c:v>82.86326248207118</c:v>
              </c:pt>
              <c:pt idx="2">
                <c:v>90.98510609270312</c:v>
              </c:pt>
              <c:pt idx="3">
                <c:v>53.1</c:v>
              </c:pt>
            </c:numLit>
          </c:val>
        </c:ser>
        <c:ser>
          <c:idx val="2"/>
          <c:order val="2"/>
          <c:tx>
            <c:v>CRI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4"/>
              <c:pt idx="0">
                <c:v>2023 FY</c:v>
              </c:pt>
              <c:pt idx="1">
                <c:v>2024 FY</c:v>
              </c:pt>
              <c:pt idx="2">
                <c:v>2025 FY</c:v>
              </c:pt>
              <c:pt idx="3">
                <c:v>2026 jan–jun</c:v>
              </c:pt>
            </c:strLit>
          </c:cat>
          <c:val>
            <c:numLit>
              <c:formatCode>0.0</c:formatCode>
              <c:ptCount val="4"/>
              <c:pt idx="0">
                <c:v>47.70970732449912</c:v>
              </c:pt>
              <c:pt idx="1">
                <c:v>61.35438150259683</c:v>
              </c:pt>
              <c:pt idx="2">
                <c:v>49.37089080745136</c:v>
              </c:pt>
              <c:pt idx="3">
                <c:v>20.3</c:v>
              </c:pt>
            </c:numLit>
          </c:val>
        </c:ser>
        <c:ser>
          <c:idx val="3"/>
          <c:order val="3"/>
          <c:tx>
            <c:v>Notas comerciais</c:v>
          </c:tx>
          <c:spPr>
            <a:solidFill xmlns:a="http://schemas.openxmlformats.org/drawingml/2006/main">
              <a:srgbClr val="8D9399"/>
            </a:solidFill>
          </c:spPr>
          <c:cat>
            <c:strLit>
              <c:ptCount val="4"/>
              <c:pt idx="0">
                <c:v>2023 FY</c:v>
              </c:pt>
              <c:pt idx="1">
                <c:v>2024 FY</c:v>
              </c:pt>
              <c:pt idx="2">
                <c:v>2025 FY</c:v>
              </c:pt>
              <c:pt idx="3">
                <c:v>2026 jan–jun</c:v>
              </c:pt>
            </c:strLit>
          </c:cat>
          <c:val>
            <c:numLit>
              <c:formatCode>0.0</c:formatCode>
              <c:ptCount val="4"/>
              <c:pt idx="0">
                <c:v>27.907646005</c:v>
              </c:pt>
              <c:pt idx="1">
                <c:v>43.5623695</c:v>
              </c:pt>
              <c:pt idx="2">
                <c:v>51.792395853</c:v>
              </c:pt>
              <c:pt idx="3">
                <c:v>27.1</c:v>
              </c:pt>
            </c:numLit>
          </c:val>
        </c:ser>
        <c:ser>
          <c:idx val="4"/>
          <c:order val="4"/>
          <c:tx>
            <c:v>CRA</c:v>
          </c:tx>
          <c:spPr>
            <a:solidFill xmlns:a="http://schemas.openxmlformats.org/drawingml/2006/main">
              <a:srgbClr val="D7DADD"/>
            </a:solidFill>
          </c:spPr>
          <c:cat>
            <c:strLit>
              <c:ptCount val="4"/>
              <c:pt idx="0">
                <c:v>2023 FY</c:v>
              </c:pt>
              <c:pt idx="1">
                <c:v>2024 FY</c:v>
              </c:pt>
              <c:pt idx="2">
                <c:v>2025 FY</c:v>
              </c:pt>
              <c:pt idx="3">
                <c:v>2026 jan–jun</c:v>
              </c:pt>
            </c:strLit>
          </c:cat>
          <c:val>
            <c:numLit>
              <c:formatCode>0.0</c:formatCode>
              <c:ptCount val="4"/>
              <c:pt idx="0">
                <c:v>43.29453785729</c:v>
              </c:pt>
              <c:pt idx="1">
                <c:v>41.564214397</c:v>
              </c:pt>
              <c:pt idx="2">
                <c:v>46.16839518391086</c:v>
              </c:pt>
              <c:pt idx="3">
                <c:v>7.1</c:v>
              </c:pt>
            </c:numLit>
          </c:val>
        </c:ser>
        <c:gapWidth val="3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53.039866746449995</c:v>
              </c:pt>
              <c:pt idx="1">
                <c:v>66.99363287149</c:v>
              </c:pt>
              <c:pt idx="2">
                <c:v>84.0510959145</c:v>
              </c:pt>
              <c:pt idx="3">
                <c:v>88.39237477025999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0A3B00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125.75306408053</c:v>
              </c:pt>
              <c:pt idx="1">
                <c:v>202.59161148926998</c:v>
              </c:pt>
              <c:pt idx="2">
                <c:v>196.2844728819</c:v>
              </c:pt>
              <c:pt idx="3">
                <c:v>203.88586814410002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EC7000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154.80414908435998</c:v>
              </c:pt>
              <c:pt idx="1">
                <c:v>213.08856712501998</c:v>
              </c:pt>
              <c:pt idx="2">
                <c:v>274.22322381616</c:v>
              </c:pt>
              <c:pt idx="3">
                <c:v>323.89315872231</c:v>
              </c:pt>
            </c:numLit>
          </c:val>
        </c:ser>
        <c:ser>
          <c:idx val="3"/>
          <c:order val="3"/>
          <c:tx>
            <c:v>Precatórios / ações</c:v>
          </c:tx>
          <c:spPr>
            <a:solidFill xmlns:a="http://schemas.openxmlformats.org/drawingml/2006/main">
              <a:srgbClr val="151515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54.146878333349996</c:v>
              </c:pt>
              <c:pt idx="1">
                <c:v>71.53991117332</c:v>
              </c:pt>
              <c:pt idx="2">
                <c:v>92.67004840915</c:v>
              </c:pt>
              <c:pt idx="3">
                <c:v>81.84740187933001</c:v>
              </c:pt>
            </c:numLit>
          </c:val>
        </c:ser>
        <c:ser>
          <c:idx val="4"/>
          <c:order val="4"/>
          <c:tx>
            <c:v>Multicedente / multisacado</c:v>
          </c:tx>
          <c:spPr>
            <a:solidFill xmlns:a="http://schemas.openxmlformats.org/drawingml/2006/main">
              <a:srgbClr val="7030A0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42.82259619404</c:v>
              </c:pt>
              <c:pt idx="1">
                <c:v>63.3543770927</c:v>
              </c:pt>
              <c:pt idx="2">
                <c:v>90.8173192781</c:v>
              </c:pt>
              <c:pt idx="3">
                <c:v>86.50477887798</c:v>
              </c:pt>
            </c:numLit>
          </c:val>
        </c:ser>
        <c:ser>
          <c:idx val="5"/>
          <c:order val="5"/>
          <c:tx>
            <c:v>Recuperação / NP</c:v>
          </c:tx>
          <c:spPr>
            <a:solidFill xmlns:a="http://schemas.openxmlformats.org/drawingml/2006/main">
              <a:srgbClr val="E7E9EB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21.275962572810002</c:v>
              </c:pt>
              <c:pt idx="1">
                <c:v>33.66266718072</c:v>
              </c:pt>
              <c:pt idx="2">
                <c:v>33.97906413178</c:v>
              </c:pt>
              <c:pt idx="3">
                <c:v>35.199286782529995</c:v>
              </c:pt>
            </c:numLit>
          </c:val>
        </c:ser>
        <c:ser>
          <c:idx val="6"/>
          <c:order val="6"/>
          <c:tx>
            <c:v>N/D</c:v>
          </c:tx>
          <c:spPr>
            <a:solidFill xmlns:a="http://schemas.openxmlformats.org/drawingml/2006/main">
              <a:srgbClr val="D7DADD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0.49252270908</c:v>
              </c:pt>
              <c:pt idx="1">
                <c:v>0.22197586638</c:v>
              </c:pt>
              <c:pt idx="2">
                <c:v>0.08320776646</c:v>
              </c:pt>
              <c:pt idx="3">
                <c:v>1.63869010794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/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col"/>
        <c:grouping val="percent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0.11725792186961576</c:v>
              </c:pt>
              <c:pt idx="1">
                <c:v>0.10283728729678644</c:v>
              </c:pt>
              <c:pt idx="2">
                <c:v>0.10885918662385549</c:v>
              </c:pt>
              <c:pt idx="3">
                <c:v>0.10761688780184121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0A3B00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0.2780086728593921</c:v>
              </c:pt>
              <c:pt idx="1">
                <c:v>0.31098435570146793</c:v>
              </c:pt>
              <c:pt idx="2">
                <c:v>0.25421879194236274</c:v>
              </c:pt>
              <c:pt idx="3">
                <c:v>0.24822913349112707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EC7000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0.3422333790014878</c:v>
              </c:pt>
              <c:pt idx="1">
                <c:v>0.3270975055067031</c:v>
              </c:pt>
              <c:pt idx="2">
                <c:v>0.3551615451672988</c:v>
              </c:pt>
              <c:pt idx="3">
                <c:v>0.39433688496997327</c:v>
              </c:pt>
            </c:numLit>
          </c:val>
        </c:ser>
        <c:ser>
          <c:idx val="3"/>
          <c:order val="3"/>
          <c:tx>
            <c:v>Precatórios / ações</c:v>
          </c:tx>
          <c:spPr>
            <a:solidFill xmlns:a="http://schemas.openxmlformats.org/drawingml/2006/main">
              <a:srgbClr val="151515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0.11970524849632089</c:v>
              </c:pt>
              <c:pt idx="1">
                <c:v>0.10981596434141346</c:v>
              </c:pt>
              <c:pt idx="2">
                <c:v>0.12002206496480745</c:v>
              </c:pt>
              <c:pt idx="3">
                <c:v>0.09964844465162633</c:v>
              </c:pt>
            </c:numLit>
          </c:val>
        </c:ser>
        <c:ser>
          <c:idx val="4"/>
          <c:order val="4"/>
          <c:tx>
            <c:v>Multicedente / multisacado</c:v>
          </c:tx>
          <c:spPr>
            <a:solidFill xmlns:a="http://schemas.openxmlformats.org/drawingml/2006/main">
              <a:srgbClr val="7030A0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0.09467008397246636</c:v>
              </c:pt>
              <c:pt idx="1">
                <c:v>0.09725091772659426</c:v>
              </c:pt>
              <c:pt idx="2">
                <c:v>0.11762249379864934</c:v>
              </c:pt>
              <c:pt idx="3">
                <c:v>0.10531875749498289</c:v>
              </c:pt>
            </c:numLit>
          </c:val>
        </c:ser>
        <c:ser>
          <c:idx val="5"/>
          <c:order val="5"/>
          <c:tx>
            <c:v>Recuperação / NP</c:v>
          </c:tx>
          <c:spPr>
            <a:solidFill xmlns:a="http://schemas.openxmlformats.org/drawingml/2006/main">
              <a:srgbClr val="E7E9EB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0.04703584888305553</c:v>
              </c:pt>
              <c:pt idx="1">
                <c:v>0.05167322964378321</c:v>
              </c:pt>
              <c:pt idx="2">
                <c:v>0.044008150558656485</c:v>
              </c:pt>
              <c:pt idx="3">
                <c:v>0.04285480174308955</c:v>
              </c:pt>
            </c:numLit>
          </c:val>
        </c:ser>
        <c:ser>
          <c:idx val="6"/>
          <c:order val="6"/>
          <c:tx>
            <c:v>N/D</c:v>
          </c:tx>
          <c:spPr>
            <a:solidFill xmlns:a="http://schemas.openxmlformats.org/drawingml/2006/main">
              <a:srgbClr val="D7DADD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0.0010888449176614783</c:v>
              </c:pt>
              <c:pt idx="1">
                <c:v>0.0003407397832516652</c:v>
              </c:pt>
              <c:pt idx="2">
                <c:v>0.00010776694436961769</c:v>
              </c:pt>
              <c:pt idx="3">
                <c:v>0.001995089847359775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/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8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4.355347460331231</c:v>
              </c:pt>
              <c:pt idx="1">
                <c:v>9.71514314594</c:v>
              </c:pt>
              <c:pt idx="2">
                <c:v>9.03480114906</c:v>
              </c:pt>
              <c:pt idx="3">
                <c:v>4.0599598731999995</c:v>
              </c:pt>
              <c:pt idx="4">
                <c:v>5.705318924819999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0A3B00"/>
            </a:solidFill>
          </c:spPr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8.725651793954372</c:v>
              </c:pt>
              <c:pt idx="1">
                <c:v>19.803603508400002</c:v>
              </c:pt>
              <c:pt idx="2">
                <c:v>28.71965699961</c:v>
              </c:pt>
              <c:pt idx="3">
                <c:v>19.39381267632</c:v>
              </c:pt>
              <c:pt idx="4">
                <c:v>10.78363727233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19.33358250441061</c:v>
              </c:pt>
              <c:pt idx="1">
                <c:v>46.91709152533</c:v>
              </c:pt>
              <c:pt idx="2">
                <c:v>52.42676092368</c:v>
              </c:pt>
              <c:pt idx="3">
                <c:v>21.60168209032</c:v>
              </c:pt>
              <c:pt idx="4">
                <c:v>40.39299902597</c:v>
              </c:pt>
            </c:numLit>
          </c:val>
        </c:ser>
        <c:ser>
          <c:idx val="3"/>
          <c:order val="3"/>
          <c:tx>
            <c:v>Outros</c:v>
          </c:tx>
          <c:spPr>
            <a:solidFill xmlns:a="http://schemas.openxmlformats.org/drawingml/2006/main">
              <a:srgbClr val="D7DADD"/>
            </a:solidFill>
          </c:spPr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8.466997192079447</c:v>
              </c:pt>
              <c:pt idx="1">
                <c:v>11.950763954180001</c:v>
              </c:pt>
              <c:pt idx="2">
                <c:v>16.2821287893</c:v>
              </c:pt>
              <c:pt idx="3">
                <c:v>7.392147328559999</c:v>
              </c:pt>
              <c:pt idx="4">
                <c:v>5.79278421138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51515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9.xml><?xml version="1.0" encoding="utf-8"?>
<c:chartSpace xmlns:c="http://schemas.openxmlformats.org/drawingml/2006/chart">
  <c:lang val="en-US"/>
  <c:chart>
    <c:plotArea>
      <c:barChart>
        <c:barDir val="col"/>
        <c:grouping val="percent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0.10653569583443391</c:v>
              </c:pt>
              <c:pt idx="1">
                <c:v>0.10991646823607587</c:v>
              </c:pt>
              <c:pt idx="2">
                <c:v>0.0848630193444677</c:v>
              </c:pt>
              <c:pt idx="3">
                <c:v>0.07740982849218064</c:v>
              </c:pt>
              <c:pt idx="4">
                <c:v>0.09103059663746195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0A3B00"/>
            </a:solidFill>
          </c:spPr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0.21343725017227638</c:v>
              </c:pt>
              <c:pt idx="1">
                <c:v>0.22405662204787577</c:v>
              </c:pt>
              <c:pt idx="2">
                <c:v>0.2697609794962622</c:v>
              </c:pt>
              <c:pt idx="3">
                <c:v>0.3697750125545281</c:v>
              </c:pt>
              <c:pt idx="4">
                <c:v>0.17205715364161575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0.47291672681452995</c:v>
              </c:pt>
              <c:pt idx="1">
                <c:v>0.5308167798359323</c:v>
              </c:pt>
              <c:pt idx="2">
                <c:v>0.4924395294407706</c:v>
              </c:pt>
              <c:pt idx="3">
                <c:v>0.4118716829672241</c:v>
              </c:pt>
              <c:pt idx="4">
                <c:v>0.6444861102004874</c:v>
              </c:pt>
            </c:numLit>
          </c:val>
        </c:ser>
        <c:ser>
          <c:idx val="3"/>
          <c:order val="3"/>
          <c:tx>
            <c:v>Outros</c:v>
          </c:tx>
          <c:spPr>
            <a:solidFill xmlns:a="http://schemas.openxmlformats.org/drawingml/2006/main">
              <a:srgbClr val="D7DADD"/>
            </a:solidFill>
          </c:spPr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0.20711032717875982</c:v>
              </c:pt>
              <c:pt idx="1">
                <c:v>0.13521012988011602</c:v>
              </c:pt>
              <c:pt idx="2">
                <c:v>0.1529364717184994</c:v>
              </c:pt>
              <c:pt idx="3">
                <c:v>0.14094347598606727</c:v>
              </c:pt>
              <c:pt idx="4">
                <c:v>0.0924261395204349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51515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0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4.355347460331231</c:v>
              </c:pt>
              <c:pt idx="1">
                <c:v>9.71514314594</c:v>
              </c:pt>
              <c:pt idx="2">
                <c:v>9.03480114906</c:v>
              </c:pt>
              <c:pt idx="3">
                <c:v>4.0599598731999995</c:v>
              </c:pt>
              <c:pt idx="4">
                <c:v>5.705318924819999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0A3B00"/>
            </a:solidFill>
          </c:spPr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8.725651793954372</c:v>
              </c:pt>
              <c:pt idx="1">
                <c:v>19.803603508400002</c:v>
              </c:pt>
              <c:pt idx="2">
                <c:v>28.71965699961</c:v>
              </c:pt>
              <c:pt idx="3">
                <c:v>19.39381267632</c:v>
              </c:pt>
              <c:pt idx="4">
                <c:v>10.78363727233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19.33358250441061</c:v>
              </c:pt>
              <c:pt idx="1">
                <c:v>46.91709152533</c:v>
              </c:pt>
              <c:pt idx="2">
                <c:v>52.42676092368</c:v>
              </c:pt>
              <c:pt idx="3">
                <c:v>21.60168209032</c:v>
              </c:pt>
              <c:pt idx="4">
                <c:v>40.39299902597</c:v>
              </c:pt>
            </c:numLit>
          </c:val>
        </c:ser>
        <c:ser>
          <c:idx val="3"/>
          <c:order val="3"/>
          <c:tx>
            <c:v>Outros</c:v>
          </c:tx>
          <c:spPr>
            <a:solidFill xmlns:a="http://schemas.openxmlformats.org/drawingml/2006/main">
              <a:srgbClr val="D7DADD"/>
            </a:solidFill>
          </c:spPr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8.466997192079447</c:v>
              </c:pt>
              <c:pt idx="1">
                <c:v>11.950763954180001</c:v>
              </c:pt>
              <c:pt idx="2">
                <c:v>16.2821287893</c:v>
              </c:pt>
              <c:pt idx="3">
                <c:v>7.392147328559999</c:v>
              </c:pt>
              <c:pt idx="4">
                <c:v>5.79278421138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151515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1.xml><?xml version="1.0" encoding="utf-8"?>
<c:chartSpace xmlns:c="http://schemas.openxmlformats.org/drawingml/2006/chart">
  <c:lang val="en-US"/>
  <c:chart>
    <c:plotArea>
      <c:barChart>
        <c:barDir val="col"/>
        <c:grouping val="percent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0.10653569583443391</c:v>
              </c:pt>
              <c:pt idx="1">
                <c:v>0.10991646823607587</c:v>
              </c:pt>
              <c:pt idx="2">
                <c:v>0.0848630193444677</c:v>
              </c:pt>
              <c:pt idx="3">
                <c:v>0.07740982849218064</c:v>
              </c:pt>
              <c:pt idx="4">
                <c:v>0.09103059663746195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0A3B00"/>
            </a:solidFill>
          </c:spPr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0.21343725017227638</c:v>
              </c:pt>
              <c:pt idx="1">
                <c:v>0.22405662204787577</c:v>
              </c:pt>
              <c:pt idx="2">
                <c:v>0.2697609794962622</c:v>
              </c:pt>
              <c:pt idx="3">
                <c:v>0.3697750125545281</c:v>
              </c:pt>
              <c:pt idx="4">
                <c:v>0.17205715364161575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0.47291672681452995</c:v>
              </c:pt>
              <c:pt idx="1">
                <c:v>0.5308167798359323</c:v>
              </c:pt>
              <c:pt idx="2">
                <c:v>0.4924395294407706</c:v>
              </c:pt>
              <c:pt idx="3">
                <c:v>0.4118716829672241</c:v>
              </c:pt>
              <c:pt idx="4">
                <c:v>0.6444861102004874</c:v>
              </c:pt>
            </c:numLit>
          </c:val>
        </c:ser>
        <c:ser>
          <c:idx val="3"/>
          <c:order val="3"/>
          <c:tx>
            <c:v>Outros</c:v>
          </c:tx>
          <c:spPr>
            <a:solidFill xmlns:a="http://schemas.openxmlformats.org/drawingml/2006/main">
              <a:srgbClr val="D7DADD"/>
            </a:solidFill>
          </c:spPr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0.20711032717875982</c:v>
              </c:pt>
              <c:pt idx="1">
                <c:v>0.13521012988011602</c:v>
              </c:pt>
              <c:pt idx="2">
                <c:v>0.1529364717184994</c:v>
              </c:pt>
              <c:pt idx="3">
                <c:v>0.14094347598606727</c:v>
              </c:pt>
              <c:pt idx="4">
                <c:v>0.0924261395204349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151515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2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53.039866746449995</c:v>
              </c:pt>
              <c:pt idx="1">
                <c:v>66.99363287149</c:v>
              </c:pt>
              <c:pt idx="2">
                <c:v>84.0510959145</c:v>
              </c:pt>
              <c:pt idx="3">
                <c:v>88.39237477025999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0A3B00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125.75306408053</c:v>
              </c:pt>
              <c:pt idx="1">
                <c:v>202.59161148926998</c:v>
              </c:pt>
              <c:pt idx="2">
                <c:v>196.2844728819</c:v>
              </c:pt>
              <c:pt idx="3">
                <c:v>203.88586814410002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EC7000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154.80414908435998</c:v>
              </c:pt>
              <c:pt idx="1">
                <c:v>213.08856712501998</c:v>
              </c:pt>
              <c:pt idx="2">
                <c:v>274.22322381616</c:v>
              </c:pt>
              <c:pt idx="3">
                <c:v>323.89315872231</c:v>
              </c:pt>
            </c:numLit>
          </c:val>
        </c:ser>
        <c:ser>
          <c:idx val="3"/>
          <c:order val="3"/>
          <c:tx>
            <c:v>Precatórios e/ou Ações Judiciais</c:v>
          </c:tx>
          <c:spPr>
            <a:solidFill xmlns:a="http://schemas.openxmlformats.org/drawingml/2006/main">
              <a:srgbClr val="151515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54.146878333349996</c:v>
              </c:pt>
              <c:pt idx="1">
                <c:v>71.53991117332</c:v>
              </c:pt>
              <c:pt idx="2">
                <c:v>92.67004840915</c:v>
              </c:pt>
              <c:pt idx="3">
                <c:v>81.84740187933001</c:v>
              </c:pt>
            </c:numLit>
          </c:val>
        </c:ser>
        <c:ser>
          <c:idx val="4"/>
          <c:order val="4"/>
          <c:tx>
            <c:v>Multicedente/Multisacado</c:v>
          </c:tx>
          <c:spPr>
            <a:solidFill xmlns:a="http://schemas.openxmlformats.org/drawingml/2006/main">
              <a:srgbClr val="7030A0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42.82259619404</c:v>
              </c:pt>
              <c:pt idx="1">
                <c:v>63.3543770927</c:v>
              </c:pt>
              <c:pt idx="2">
                <c:v>90.8173192781</c:v>
              </c:pt>
              <c:pt idx="3">
                <c:v>86.50477887798</c:v>
              </c:pt>
            </c:numLit>
          </c:val>
        </c:ser>
        <c:ser>
          <c:idx val="5"/>
          <c:order val="5"/>
          <c:tx>
            <c:v>Recuperação / FIDCs NP</c:v>
          </c:tx>
          <c:spPr>
            <a:solidFill xmlns:a="http://schemas.openxmlformats.org/drawingml/2006/main">
              <a:srgbClr val="E7E9EB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21.275962572810002</c:v>
              </c:pt>
              <c:pt idx="1">
                <c:v>33.66266718072</c:v>
              </c:pt>
              <c:pt idx="2">
                <c:v>33.97906413178</c:v>
              </c:pt>
              <c:pt idx="3">
                <c:v>35.199286782529995</c:v>
              </c:pt>
            </c:numLit>
          </c:val>
        </c:ser>
        <c:ser>
          <c:idx val="6"/>
          <c:order val="6"/>
          <c:tx>
            <c:v>N/D</c:v>
          </c:tx>
          <c:spPr>
            <a:solidFill xmlns:a="http://schemas.openxmlformats.org/drawingml/2006/main">
              <a:srgbClr val="D7DADD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0.49252270908</c:v>
              </c:pt>
              <c:pt idx="1">
                <c:v>0.22197586638</c:v>
              </c:pt>
              <c:pt idx="2">
                <c:v>0.08320776646</c:v>
              </c:pt>
              <c:pt idx="3">
                <c:v>1.63869010794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/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9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3.xml><?xml version="1.0" encoding="utf-8"?>
<c:chartSpace xmlns:c="http://schemas.openxmlformats.org/drawingml/2006/chart">
  <c:lang val="en-US"/>
  <c:chart>
    <c:plotArea>
      <c:barChart>
        <c:barDir val="col"/>
        <c:grouping val="percent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0.11725792186961576</c:v>
              </c:pt>
              <c:pt idx="1">
                <c:v>0.10283728729678644</c:v>
              </c:pt>
              <c:pt idx="2">
                <c:v>0.10885918662385549</c:v>
              </c:pt>
              <c:pt idx="3">
                <c:v>0.10761688780184121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0A3B00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0.2780086728593921</c:v>
              </c:pt>
              <c:pt idx="1">
                <c:v>0.31098435570146793</c:v>
              </c:pt>
              <c:pt idx="2">
                <c:v>0.25421879194236274</c:v>
              </c:pt>
              <c:pt idx="3">
                <c:v>0.24822913349112707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EC7000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0.3422333790014878</c:v>
              </c:pt>
              <c:pt idx="1">
                <c:v>0.3270975055067031</c:v>
              </c:pt>
              <c:pt idx="2">
                <c:v>0.3551615451672988</c:v>
              </c:pt>
              <c:pt idx="3">
                <c:v>0.39433688496997327</c:v>
              </c:pt>
            </c:numLit>
          </c:val>
        </c:ser>
        <c:ser>
          <c:idx val="3"/>
          <c:order val="3"/>
          <c:tx>
            <c:v>Precatórios e/ou Ações Judiciais</c:v>
          </c:tx>
          <c:spPr>
            <a:solidFill xmlns:a="http://schemas.openxmlformats.org/drawingml/2006/main">
              <a:srgbClr val="151515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0.11970524849632089</c:v>
              </c:pt>
              <c:pt idx="1">
                <c:v>0.10981596434141346</c:v>
              </c:pt>
              <c:pt idx="2">
                <c:v>0.12002206496480745</c:v>
              </c:pt>
              <c:pt idx="3">
                <c:v>0.09964844465162633</c:v>
              </c:pt>
            </c:numLit>
          </c:val>
        </c:ser>
        <c:ser>
          <c:idx val="4"/>
          <c:order val="4"/>
          <c:tx>
            <c:v>Multicedente/Multisacado</c:v>
          </c:tx>
          <c:spPr>
            <a:solidFill xmlns:a="http://schemas.openxmlformats.org/drawingml/2006/main">
              <a:srgbClr val="7030A0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0.09467008397246636</c:v>
              </c:pt>
              <c:pt idx="1">
                <c:v>0.09725091772659426</c:v>
              </c:pt>
              <c:pt idx="2">
                <c:v>0.11762249379864934</c:v>
              </c:pt>
              <c:pt idx="3">
                <c:v>0.10531875749498289</c:v>
              </c:pt>
            </c:numLit>
          </c:val>
        </c:ser>
        <c:ser>
          <c:idx val="5"/>
          <c:order val="5"/>
          <c:tx>
            <c:v>Recuperação / FIDCs NP</c:v>
          </c:tx>
          <c:spPr>
            <a:solidFill xmlns:a="http://schemas.openxmlformats.org/drawingml/2006/main">
              <a:srgbClr val="E7E9EB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0.04703584888305553</c:v>
              </c:pt>
              <c:pt idx="1">
                <c:v>0.05167322964378321</c:v>
              </c:pt>
              <c:pt idx="2">
                <c:v>0.044008150558656485</c:v>
              </c:pt>
              <c:pt idx="3">
                <c:v>0.04285480174308955</c:v>
              </c:pt>
            </c:numLit>
          </c:val>
        </c:ser>
        <c:ser>
          <c:idx val="6"/>
          <c:order val="6"/>
          <c:tx>
            <c:v>N/D</c:v>
          </c:tx>
          <c:spPr>
            <a:solidFill xmlns:a="http://schemas.openxmlformats.org/drawingml/2006/main">
              <a:srgbClr val="D7DADD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0.0010888449176614783</c:v>
              </c:pt>
              <c:pt idx="1">
                <c:v>0.0003407397832516652</c:v>
              </c:pt>
              <c:pt idx="2">
                <c:v>0.00010776694436961769</c:v>
              </c:pt>
              <c:pt idx="3">
                <c:v>0.001995089847359775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/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Fomento Mercantil</c:v>
          </c:tx>
          <c:spPr>
            <a:ln xmlns:a="http://schemas.openxmlformats.org/drawingml/2006/main" w="28575">
              <a:solidFill>
                <a:srgbClr val="73787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ln xmlns:a="http://schemas.openxmlformats.org/drawingml/2006/main" w="28575">
              <a:solidFill>
                <a:srgbClr val="0A3B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2"/>
          <c:order val="2"/>
          <c:tx>
            <c:v>Financeiro</c:v>
          </c:tx>
          <c:spPr>
            <a:ln xmlns:a="http://schemas.openxmlformats.org/drawingml/2006/main"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3"/>
          <c:order val="3"/>
          <c:tx>
            <c:v>Precatórios e/ou Ações Judiciais</c:v>
          </c:tx>
          <c:spPr>
            <a:ln xmlns:a="http://schemas.openxmlformats.org/drawingml/2006/main" w="28575">
              <a:solidFill>
                <a:srgbClr val="151515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4"/>
          <c:order val="4"/>
          <c:tx>
            <c:v>Multicedente/Multisacado</c:v>
          </c:tx>
          <c:spPr>
            <a:ln xmlns:a="http://schemas.openxmlformats.org/drawingml/2006/main" w="28575">
              <a:solidFill>
                <a:srgbClr val="7030A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5"/>
          <c:order val="5"/>
          <c:tx>
            <c:v>Recuperação / FIDCs NP</c:v>
          </c:tx>
          <c:spPr>
            <a:ln xmlns:a="http://schemas.openxmlformats.org/drawingml/2006/main" w="28575">
              <a:solidFill>
                <a:srgbClr val="E7E9EB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6"/>
          <c:order val="6"/>
          <c:tx>
            <c:v>N/D</c:v>
          </c:tx>
          <c:spPr>
            <a:ln xmlns:a="http://schemas.openxmlformats.org/drawingml/2006/main" w="28575">
              <a:solidFill>
                <a:srgbClr val="D7DAD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5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Dez/23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12"/>
              <c:pt idx="0">
                <c:v>Financeiro</c:v>
              </c:pt>
              <c:pt idx="1">
                <c:v>Comercial</c:v>
              </c:pt>
              <c:pt idx="2">
                <c:v>Adquirência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N/D</c:v>
              </c:pt>
              <c:pt idx="8">
                <c:v>Agronegócio</c:v>
              </c:pt>
              <c:pt idx="9">
                <c:v>Cartão</c:v>
              </c:pt>
              <c:pt idx="10">
                <c:v>Imobiliário</c:v>
              </c:pt>
              <c:pt idx="11">
                <c:v>Factoring</c:v>
              </c:pt>
            </c:strLit>
          </c:cat>
          <c:val>
            <c:numLit>
              <c:formatCode>0.0</c:formatCode>
              <c:ptCount val="12"/>
              <c:pt idx="0">
                <c:v>112.83368367224</c:v>
              </c:pt>
              <c:pt idx="1">
                <c:v>103.39874467744</c:v>
              </c:pt>
              <c:pt idx="2">
                <c:v>51.72285589365</c:v>
              </c:pt>
              <c:pt idx="3">
                <c:v>48.499678</c:v>
              </c:pt>
              <c:pt idx="4">
                <c:v>24.163748261490003</c:v>
              </c:pt>
              <c:pt idx="5">
                <c:v>25.154517560259997</c:v>
              </c:pt>
              <c:pt idx="6">
                <c:v>27.32144595605</c:v>
              </c:pt>
              <c:pt idx="7">
                <c:v>9.90241714442</c:v>
              </c:pt>
              <c:pt idx="8">
                <c:v>17.30426139734</c:v>
              </c:pt>
              <c:pt idx="9">
                <c:v>30.455624762630002</c:v>
              </c:pt>
              <c:pt idx="10">
                <c:v>1.36475726781</c:v>
              </c:pt>
              <c:pt idx="11">
                <c:v>0.21330512728999998</c:v>
              </c:pt>
            </c:numLit>
          </c:val>
        </c:ser>
        <c:ser>
          <c:idx val="1"/>
          <c:order val="1"/>
          <c:tx>
            <c:v>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12"/>
              <c:pt idx="0">
                <c:v>Financeiro</c:v>
              </c:pt>
              <c:pt idx="1">
                <c:v>Comercial</c:v>
              </c:pt>
              <c:pt idx="2">
                <c:v>Adquirência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N/D</c:v>
              </c:pt>
              <c:pt idx="8">
                <c:v>Agronegócio</c:v>
              </c:pt>
              <c:pt idx="9">
                <c:v>Cartão</c:v>
              </c:pt>
              <c:pt idx="10">
                <c:v>Imobiliário</c:v>
              </c:pt>
              <c:pt idx="11">
                <c:v>Factoring</c:v>
              </c:pt>
            </c:strLit>
          </c:cat>
          <c:val>
            <c:numLit>
              <c:formatCode>0.0</c:formatCode>
              <c:ptCount val="12"/>
              <c:pt idx="0">
                <c:v>336.68042868161</c:v>
              </c:pt>
              <c:pt idx="1">
                <c:v>118.22202651527</c:v>
              </c:pt>
              <c:pt idx="2">
                <c:v>99.24654124799001</c:v>
              </c:pt>
              <c:pt idx="3">
                <c:v>85.66685206006</c:v>
              </c:pt>
              <c:pt idx="4">
                <c:v>57.4323241591</c:v>
              </c:pt>
              <c:pt idx="5">
                <c:v>43.107876023699994</c:v>
              </c:pt>
              <c:pt idx="6">
                <c:v>27.72682732234</c:v>
              </c:pt>
              <c:pt idx="7">
                <c:v>25.98170017243</c:v>
              </c:pt>
              <c:pt idx="8">
                <c:v>12.07779703784</c:v>
              </c:pt>
              <c:pt idx="9">
                <c:v>11.00644353036</c:v>
              </c:pt>
              <c:pt idx="10">
                <c:v>4.10910183534</c:v>
              </c:pt>
              <c:pt idx="11">
                <c:v>0.10364069841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6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Dez/23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12"/>
              <c:pt idx="0">
                <c:v>Financeiro</c:v>
              </c:pt>
              <c:pt idx="1">
                <c:v>Comercial</c:v>
              </c:pt>
              <c:pt idx="2">
                <c:v>Adquirência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N/D</c:v>
              </c:pt>
              <c:pt idx="8">
                <c:v>Agronegócio</c:v>
              </c:pt>
              <c:pt idx="9">
                <c:v>Cartão</c:v>
              </c:pt>
              <c:pt idx="10">
                <c:v>Imobiliário</c:v>
              </c:pt>
              <c:pt idx="11">
                <c:v>Factoring</c:v>
              </c:pt>
            </c:strLit>
          </c:cat>
          <c:val>
            <c:numLit>
              <c:formatCode>0.0%</c:formatCode>
              <c:ptCount val="12"/>
              <c:pt idx="0">
                <c:v>0.2494471437409106</c:v>
              </c:pt>
              <c:pt idx="1">
                <c:v>0.2285888458725266</c:v>
              </c:pt>
              <c:pt idx="2">
                <c:v>0.1143463392214675</c:v>
              </c:pt>
              <c:pt idx="3">
                <c:v>0.1072206964774502</c:v>
              </c:pt>
              <c:pt idx="4">
                <c:v>0.0534200230793848</c:v>
              </c:pt>
              <c:pt idx="5">
                <c:v>0.055610366987701</c:v>
              </c:pt>
              <c:pt idx="6">
                <c:v>0.0604009054282524</c:v>
              </c:pt>
              <c:pt idx="7">
                <c:v>0.0218917755090035</c:v>
              </c:pt>
              <c:pt idx="8">
                <c:v>0.0382554077792155</c:v>
              </c:pt>
              <c:pt idx="9">
                <c:v>0.0673297933793512</c:v>
              </c:pt>
              <c:pt idx="10">
                <c:v>0.0030171380679527</c:v>
              </c:pt>
              <c:pt idx="11">
                <c:v>0.0004715644567835</c:v>
              </c:pt>
            </c:numLit>
          </c:val>
        </c:ser>
        <c:ser>
          <c:idx val="1"/>
          <c:order val="1"/>
          <c:tx>
            <c:v>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12"/>
              <c:pt idx="0">
                <c:v>Financeiro</c:v>
              </c:pt>
              <c:pt idx="1">
                <c:v>Comercial</c:v>
              </c:pt>
              <c:pt idx="2">
                <c:v>Adquirência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N/D</c:v>
              </c:pt>
              <c:pt idx="8">
                <c:v>Agronegócio</c:v>
              </c:pt>
              <c:pt idx="9">
                <c:v>Cartão</c:v>
              </c:pt>
              <c:pt idx="10">
                <c:v>Imobiliário</c:v>
              </c:pt>
              <c:pt idx="11">
                <c:v>Factoring</c:v>
              </c:pt>
            </c:strLit>
          </c:cat>
          <c:val>
            <c:numLit>
              <c:formatCode>0.0%</c:formatCode>
              <c:ptCount val="12"/>
              <c:pt idx="0">
                <c:v>0.4099052662933455</c:v>
              </c:pt>
              <c:pt idx="1">
                <c:v>0.1439342092150771</c:v>
              </c:pt>
              <c:pt idx="2">
                <c:v>0.1208317337549265</c:v>
              </c:pt>
              <c:pt idx="3">
                <c:v>0.1042985894478563</c:v>
              </c:pt>
              <c:pt idx="4">
                <c:v>0.0699233163640305</c:v>
              </c:pt>
              <c:pt idx="5">
                <c:v>0.0524834350188661</c:v>
              </c:pt>
              <c:pt idx="6">
                <c:v>0.0337571523879141</c:v>
              </c:pt>
              <c:pt idx="7">
                <c:v>0.0316324764395653</c:v>
              </c:pt>
              <c:pt idx="8">
                <c:v>0.0147046046912176</c:v>
              </c:pt>
              <c:pt idx="9">
                <c:v>0.0134002418374053</c:v>
              </c:pt>
              <c:pt idx="10">
                <c:v>0.0050027929708808</c:v>
              </c:pt>
              <c:pt idx="11">
                <c:v>0.0001261815789142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7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Dez/23</c:v>
          </c:tx>
          <c:spPr>
            <a:ln xmlns:a="http://schemas.openxmlformats.org/drawingml/2006/main" w="28575">
              <a:solidFill>
                <a:srgbClr val="73787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Jun/26</c:v>
          </c:tx>
          <c:spPr>
            <a:ln xmlns:a="http://schemas.openxmlformats.org/drawingml/2006/main"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8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Dez/23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10"/>
              <c:pt idx="0">
                <c:v>Financeiro</c:v>
              </c:pt>
              <c:pt idx="1">
                <c:v>Comercial</c:v>
              </c:pt>
              <c:pt idx="2">
                <c:v>Cartão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Agronegócio</c:v>
              </c:pt>
              <c:pt idx="8">
                <c:v>Imobiliário</c:v>
              </c:pt>
              <c:pt idx="9">
                <c:v>Factoring</c:v>
              </c:pt>
            </c:strLit>
          </c:cat>
          <c:val>
            <c:numLit>
              <c:formatCode>0.0</c:formatCode>
              <c:ptCount val="10"/>
              <c:pt idx="0">
                <c:v>118.04530398702</c:v>
              </c:pt>
              <c:pt idx="1">
                <c:v>115.89580945848</c:v>
              </c:pt>
              <c:pt idx="2">
                <c:v>77.90442532195</c:v>
              </c:pt>
              <c:pt idx="3">
                <c:v>39.74983932099</c:v>
              </c:pt>
              <c:pt idx="4">
                <c:v>26.373186905759997</c:v>
              </c:pt>
              <c:pt idx="5">
                <c:v>19.27032074904</c:v>
              </c:pt>
              <c:pt idx="6">
                <c:v>26.30715069555</c:v>
              </c:pt>
              <c:pt idx="7">
                <c:v>14.24326332352</c:v>
              </c:pt>
              <c:pt idx="8">
                <c:v>1.5402300008699998</c:v>
              </c:pt>
              <c:pt idx="9">
                <c:v>0.16600309574000002</c:v>
              </c:pt>
            </c:numLit>
          </c:val>
        </c:ser>
        <c:ser>
          <c:idx val="1"/>
          <c:order val="1"/>
          <c:tx>
            <c:v>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10"/>
              <c:pt idx="0">
                <c:v>Financeiro</c:v>
              </c:pt>
              <c:pt idx="1">
                <c:v>Comercial</c:v>
              </c:pt>
              <c:pt idx="2">
                <c:v>Cartão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Agronegócio</c:v>
              </c:pt>
              <c:pt idx="8">
                <c:v>Imobiliário</c:v>
              </c:pt>
              <c:pt idx="9">
                <c:v>Factoring</c:v>
              </c:pt>
            </c:strLit>
          </c:cat>
          <c:val>
            <c:numLit>
              <c:formatCode>0.0</c:formatCode>
              <c:ptCount val="10"/>
              <c:pt idx="0">
                <c:v>326.76177442545</c:v>
              </c:pt>
              <c:pt idx="1">
                <c:v>123.12261035610001</c:v>
              </c:pt>
              <c:pt idx="2">
                <c:v>78.58984371139</c:v>
              </c:pt>
              <c:pt idx="3">
                <c:v>77.39724903534</c:v>
              </c:pt>
              <c:pt idx="4">
                <c:v>57.591468014120004</c:v>
              </c:pt>
              <c:pt idx="5">
                <c:v>34.27503303086</c:v>
              </c:pt>
              <c:pt idx="6">
                <c:v>27.36423282215</c:v>
              </c:pt>
              <c:pt idx="7">
                <c:v>9.12643607218</c:v>
              </c:pt>
              <c:pt idx="8">
                <c:v>3.0872617298200002</c:v>
              </c:pt>
              <c:pt idx="9">
                <c:v>0.09505420486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9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Dez/23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10"/>
              <c:pt idx="0">
                <c:v>Financeiro</c:v>
              </c:pt>
              <c:pt idx="1">
                <c:v>Comercial</c:v>
              </c:pt>
              <c:pt idx="2">
                <c:v>Cartão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Agronegócio</c:v>
              </c:pt>
              <c:pt idx="8">
                <c:v>Imobiliário</c:v>
              </c:pt>
              <c:pt idx="9">
                <c:v>Factoring</c:v>
              </c:pt>
            </c:strLit>
          </c:cat>
          <c:val>
            <c:numLit>
              <c:formatCode>0.0%</c:formatCode>
              <c:ptCount val="10"/>
              <c:pt idx="0">
                <c:v>0.2685927277101883</c:v>
              </c:pt>
              <c:pt idx="1">
                <c:v>0.26370190546551714</c:v>
              </c:pt>
              <c:pt idx="2">
                <c:v>0.17725874212004258</c:v>
              </c:pt>
              <c:pt idx="3">
                <c:v>0.09044423970004235</c:v>
              </c:pt>
              <c:pt idx="4">
                <c:v>0.06000786113615837</c:v>
              </c:pt>
              <c:pt idx="5">
                <c:v>0.04384645419189245</c:v>
              </c:pt>
              <c:pt idx="6">
                <c:v>0.05985760657092893</c:v>
              </c:pt>
              <c:pt idx="7">
                <c:v>0.032408209546221145</c:v>
              </c:pt>
              <c:pt idx="8">
                <c:v>0.0035045407420885447</c:v>
              </c:pt>
              <c:pt idx="9">
                <c:v>0.00037771281692022964</c:v>
              </c:pt>
            </c:numLit>
          </c:val>
        </c:ser>
        <c:ser>
          <c:idx val="1"/>
          <c:order val="1"/>
          <c:tx>
            <c:v>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10"/>
              <c:pt idx="0">
                <c:v>Financeiro</c:v>
              </c:pt>
              <c:pt idx="1">
                <c:v>Comercial</c:v>
              </c:pt>
              <c:pt idx="2">
                <c:v>Cartão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Agronegócio</c:v>
              </c:pt>
              <c:pt idx="8">
                <c:v>Imobiliário</c:v>
              </c:pt>
              <c:pt idx="9">
                <c:v>Factoring</c:v>
              </c:pt>
            </c:strLit>
          </c:cat>
          <c:val>
            <c:numLit>
              <c:formatCode>0.0%</c:formatCode>
              <c:ptCount val="10"/>
              <c:pt idx="0">
                <c:v>0.4431203096273956</c:v>
              </c:pt>
              <c:pt idx="1">
                <c:v>0.16696606975849174</c:v>
              </c:pt>
              <c:pt idx="2">
                <c:v>0.10657536653481774</c:v>
              </c:pt>
              <c:pt idx="3">
                <c:v>0.1049580937585254</c:v>
              </c:pt>
              <c:pt idx="4">
                <c:v>0.07809955489189396</c:v>
              </c:pt>
              <c:pt idx="5">
                <c:v>0.046480232505252836</c:v>
              </c:pt>
              <c:pt idx="6">
                <c:v>0.0371085245273501</c:v>
              </c:pt>
              <c:pt idx="7">
                <c:v>0.012376322736066207</c:v>
              </c:pt>
              <c:pt idx="8">
                <c:v>0.004186623040666466</c:v>
              </c:pt>
              <c:pt idx="9">
                <c:v>0.00012890261953990822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0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Dez/23</c:v>
          </c:tx>
          <c:spPr>
            <a:ln xmlns:a="http://schemas.openxmlformats.org/drawingml/2006/main" w="28575">
              <a:solidFill>
                <a:srgbClr val="73787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Jun/26</c:v>
          </c:tx>
          <c:spPr>
            <a:ln xmlns:a="http://schemas.openxmlformats.org/drawingml/2006/main"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Volume registrado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30353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0353A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EC7000"/>
              </a:solidFill>
            </c:spPr>
          </c:dPt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3"/>
              <c:pt idx="0">
                <c:v>2024FY</c:v>
              </c:pt>
              <c:pt idx="1">
                <c:v>2025FY</c:v>
              </c:pt>
              <c:pt idx="2">
                <c:v>2026YTD</c:v>
              </c:pt>
            </c:strLit>
          </c:cat>
          <c:val>
            <c:numLit>
              <c:formatCode>0.0</c:formatCode>
              <c:ptCount val="3"/>
              <c:pt idx="0">
                <c:v>95.41672613375</c:v>
              </c:pt>
              <c:pt idx="1">
                <c:v>116.92131905477001</c:v>
              </c:pt>
              <c:pt idx="2">
                <c:v>65.48811898356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2024</c:v>
          </c:tx>
          <c:spPr>
            <a:ln xmlns:a="http://schemas.openxmlformats.org/drawingml/2006/main" w="19050">
              <a:solidFill>
                <a:srgbClr val="8D9399"/>
              </a:solidFill>
              <a:prstDash val="solid"/>
            </a:ln>
          </c:spPr>
          <c:marker>
            <c:symbol val="none"/>
          </c:marker>
          <c:cat>
            <c:strLit>
              <c:ptCount val="12"/>
              <c:pt idx="0">
                <c:v>Jan</c:v>
              </c:pt>
              <c:pt idx="1">
                <c:v>​​</c:v>
              </c:pt>
              <c:pt idx="2">
                <c:v>Mar</c:v>
              </c:pt>
              <c:pt idx="3">
                <c:v>​​​​</c:v>
              </c:pt>
              <c:pt idx="4">
                <c:v>Mai</c:v>
              </c:pt>
              <c:pt idx="5">
                <c:v>Jun</c:v>
              </c:pt>
              <c:pt idx="6">
                <c:v>​​​​​​​</c:v>
              </c:pt>
              <c:pt idx="7">
                <c:v>Ago</c:v>
              </c:pt>
              <c:pt idx="8">
                <c:v>​​​​​​​​​</c:v>
              </c:pt>
              <c:pt idx="9">
                <c:v>Out</c:v>
              </c:pt>
              <c:pt idx="10">
                <c:v>​​​​​​​​​​​</c:v>
              </c:pt>
              <c:pt idx="11">
                <c:v>Dez</c:v>
              </c:pt>
            </c:strLit>
          </c:cat>
          <c:val>
            <c:numLit>
              <c:formatCode>0.0</c:formatCode>
              <c:ptCount val="12"/>
              <c:pt idx="0">
                <c:v>3.5776889819499997</c:v>
              </c:pt>
              <c:pt idx="1">
                <c:v>6.31697433342</c:v>
              </c:pt>
              <c:pt idx="2">
                <c:v>12.75231637649</c:v>
              </c:pt>
              <c:pt idx="3">
                <c:v>18.982994111559996</c:v>
              </c:pt>
              <c:pt idx="4">
                <c:v>35.57797349489</c:v>
              </c:pt>
              <c:pt idx="5">
                <c:v>40.869510061910006</c:v>
              </c:pt>
              <c:pt idx="6">
                <c:v>49.369269147820006</c:v>
              </c:pt>
              <c:pt idx="7">
                <c:v>54.50517684065001</c:v>
              </c:pt>
              <c:pt idx="8">
                <c:v>59.275357674750005</c:v>
              </c:pt>
              <c:pt idx="9">
                <c:v>68.67479071153001</c:v>
              </c:pt>
              <c:pt idx="10">
                <c:v>80.61445578144</c:v>
              </c:pt>
              <c:pt idx="11">
                <c:v>95.41672613375</c:v>
              </c:pt>
            </c:numLit>
          </c:val>
        </c:ser>
        <c:ser>
          <c:idx val="1"/>
          <c:order val="1"/>
          <c:tx>
            <c:v>2025</c:v>
          </c:tx>
          <c:spPr>
            <a:ln xmlns:a="http://schemas.openxmlformats.org/drawingml/2006/main" w="20955">
              <a:solidFill>
                <a:srgbClr val="30353A"/>
              </a:solidFill>
              <a:prstDash val="solid"/>
            </a:ln>
          </c:spPr>
          <c:marker>
            <c:symbol val="none"/>
          </c:marker>
          <c:cat>
            <c:strLit>
              <c:ptCount val="12"/>
              <c:pt idx="0">
                <c:v>Jan</c:v>
              </c:pt>
              <c:pt idx="1">
                <c:v>​​</c:v>
              </c:pt>
              <c:pt idx="2">
                <c:v>Mar</c:v>
              </c:pt>
              <c:pt idx="3">
                <c:v>​​​​</c:v>
              </c:pt>
              <c:pt idx="4">
                <c:v>Mai</c:v>
              </c:pt>
              <c:pt idx="5">
                <c:v>Jun</c:v>
              </c:pt>
              <c:pt idx="6">
                <c:v>​​​​​​​</c:v>
              </c:pt>
              <c:pt idx="7">
                <c:v>Ago</c:v>
              </c:pt>
              <c:pt idx="8">
                <c:v>​​​​​​​​​</c:v>
              </c:pt>
              <c:pt idx="9">
                <c:v>Out</c:v>
              </c:pt>
              <c:pt idx="10">
                <c:v>​​​​​​​​​​​</c:v>
              </c:pt>
              <c:pt idx="11">
                <c:v>Dez</c:v>
              </c:pt>
            </c:strLit>
          </c:cat>
          <c:val>
            <c:numLit>
              <c:formatCode>0.0</c:formatCode>
              <c:ptCount val="12"/>
              <c:pt idx="0">
                <c:v>4.69157717423</c:v>
              </c:pt>
              <c:pt idx="1">
                <c:v>13.28230156707</c:v>
              </c:pt>
              <c:pt idx="2">
                <c:v>21.89222074001</c:v>
              </c:pt>
              <c:pt idx="3">
                <c:v>36.243054840190005</c:v>
              </c:pt>
              <c:pt idx="4">
                <c:v>44.91558778326</c:v>
              </c:pt>
              <c:pt idx="5">
                <c:v>57.15870696836</c:v>
              </c:pt>
              <c:pt idx="6">
                <c:v>64.14446989868</c:v>
              </c:pt>
              <c:pt idx="7">
                <c:v>70.52665275716001</c:v>
              </c:pt>
              <c:pt idx="8">
                <c:v>78.53187842665001</c:v>
              </c:pt>
              <c:pt idx="9">
                <c:v>90.04350947167</c:v>
              </c:pt>
              <c:pt idx="10">
                <c:v>100.76052553320001</c:v>
              </c:pt>
              <c:pt idx="11">
                <c:v>116.92131905477002</c:v>
              </c:pt>
            </c:numLit>
          </c:val>
        </c:ser>
        <c:ser>
          <c:idx val="2"/>
          <c:order val="2"/>
          <c:tx>
            <c:v>2026</c:v>
          </c:tx>
          <c:spPr>
            <a:ln xmlns:a="http://schemas.openxmlformats.org/drawingml/2006/main"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2"/>
              <c:pt idx="0">
                <c:v>Jan</c:v>
              </c:pt>
              <c:pt idx="1">
                <c:v>​​</c:v>
              </c:pt>
              <c:pt idx="2">
                <c:v>Mar</c:v>
              </c:pt>
              <c:pt idx="3">
                <c:v>​​​​</c:v>
              </c:pt>
              <c:pt idx="4">
                <c:v>Mai</c:v>
              </c:pt>
              <c:pt idx="5">
                <c:v>Jun</c:v>
              </c:pt>
              <c:pt idx="6">
                <c:v>​​​​​​​</c:v>
              </c:pt>
              <c:pt idx="7">
                <c:v>Ago</c:v>
              </c:pt>
              <c:pt idx="8">
                <c:v>​​​​​​​​​</c:v>
              </c:pt>
              <c:pt idx="9">
                <c:v>Out</c:v>
              </c:pt>
              <c:pt idx="10">
                <c:v>​​​​​​​​​​​</c:v>
              </c:pt>
              <c:pt idx="11">
                <c:v>Dez</c:v>
              </c:pt>
            </c:strLit>
          </c:cat>
          <c:val>
            <c:numLit>
              <c:formatCode>0.0</c:formatCode>
              <c:ptCount val="6"/>
              <c:pt idx="0">
                <c:v>8.415778112109999</c:v>
              </c:pt>
              <c:pt idx="1">
                <c:v>15.828976040429998</c:v>
              </c:pt>
              <c:pt idx="2">
                <c:v>27.564315847659994</c:v>
              </c:pt>
              <c:pt idx="3">
                <c:v>44.609140465989995</c:v>
              </c:pt>
              <c:pt idx="4">
                <c:v>51.475115157089995</c:v>
              </c:pt>
              <c:pt idx="5">
                <c:v>65.48811898356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2024</c:v>
          </c:tx>
          <c:spPr>
            <a:ln xmlns:a="http://schemas.openxmlformats.org/drawingml/2006/main" w="28575">
              <a:solidFill>
                <a:srgbClr val="8D9399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2025</c:v>
          </c:tx>
          <c:spPr>
            <a:ln xmlns:a="http://schemas.openxmlformats.org/drawingml/2006/main" w="28575">
              <a:solidFill>
                <a:srgbClr val="30353A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2"/>
          <c:order val="2"/>
          <c:tx>
            <c:v>2026</c:v>
          </c:tx>
          <c:spPr>
            <a:ln xmlns:a="http://schemas.openxmlformats.org/drawingml/2006/main"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2024</c:v>
          </c:tx>
          <c:spPr>
            <a:solidFill xmlns:a="http://schemas.openxmlformats.org/drawingml/2006/main">
              <a:srgbClr val="8D9399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0%</c:formatCode>
              <c:ptCount val="7"/>
              <c:pt idx="0">
                <c:v>0.2289395441030723</c:v>
              </c:pt>
              <c:pt idx="1">
                <c:v>0.2348860257680872</c:v>
              </c:pt>
              <c:pt idx="2">
                <c:v>0.1734390485629336</c:v>
              </c:pt>
              <c:pt idx="3">
                <c:v>0.1565906838453915</c:v>
              </c:pt>
              <c:pt idx="4">
                <c:v>0.0931615460852329</c:v>
              </c:pt>
              <c:pt idx="5">
                <c:v>0.0822596630327056</c:v>
              </c:pt>
              <c:pt idx="6">
                <c:v>0.0307234886025768</c:v>
              </c:pt>
            </c:numLit>
          </c:val>
        </c:ser>
        <c:ser>
          <c:idx val="1"/>
          <c:order val="1"/>
          <c:tx>
            <c:v>2025</c:v>
          </c:tx>
          <c:spPr>
            <a:solidFill xmlns:a="http://schemas.openxmlformats.org/drawingml/2006/main">
              <a:srgbClr val="30353A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0%</c:formatCode>
              <c:ptCount val="7"/>
              <c:pt idx="0">
                <c:v>0.2376103190767141</c:v>
              </c:pt>
              <c:pt idx="1">
                <c:v>0.2545824847250509</c:v>
              </c:pt>
              <c:pt idx="2">
                <c:v>0.1629327902240326</c:v>
              </c:pt>
              <c:pt idx="3">
                <c:v>0.1575016972165648</c:v>
              </c:pt>
              <c:pt idx="4">
                <c:v>0.0950441276306856</c:v>
              </c:pt>
              <c:pt idx="5">
                <c:v>0.0678886625933469</c:v>
              </c:pt>
              <c:pt idx="6">
                <c:v>0.0244399185336048</c:v>
              </c:pt>
            </c:numLit>
          </c:val>
        </c:ser>
        <c:ser>
          <c:idx val="2"/>
          <c:order val="2"/>
          <c:tx>
            <c:v>Jan–jun/26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0%</c:formatCode>
              <c:ptCount val="7"/>
              <c:pt idx="0">
                <c:v>0.2399481193255512</c:v>
              </c:pt>
              <c:pt idx="1">
                <c:v>0.2684824902723735</c:v>
              </c:pt>
              <c:pt idx="2">
                <c:v>0.1530479896238651</c:v>
              </c:pt>
              <c:pt idx="3">
                <c:v>0.1569390402075227</c:v>
              </c:pt>
              <c:pt idx="4">
                <c:v>0.0933852140077821</c:v>
              </c:pt>
              <c:pt idx="5">
                <c:v>0.059662775616083</c:v>
              </c:pt>
              <c:pt idx="6">
                <c:v>0.0285343709468223</c:v>
              </c:pt>
            </c:numLit>
          </c:val>
        </c:ser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2024</c:v>
          </c:tx>
          <c:spPr>
            <a:solidFill xmlns:a="http://schemas.openxmlformats.org/drawingml/2006/main">
              <a:srgbClr val="8D9399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0%</c:formatCode>
              <c:ptCount val="7"/>
              <c:pt idx="0">
                <c:v>0.0103321633887131</c:v>
              </c:pt>
              <c:pt idx="1">
                <c:v>0.0361313295137315</c:v>
              </c:pt>
              <c:pt idx="2">
                <c:v>0.0618859371549046</c:v>
              </c:pt>
              <c:pt idx="3">
                <c:v>0.1088463666507672</c:v>
              </c:pt>
              <c:pt idx="4">
                <c:v>0.1257652142029994</c:v>
              </c:pt>
              <c:pt idx="5">
                <c:v>0.2452642827460449</c:v>
              </c:pt>
              <c:pt idx="6">
                <c:v>0.411774706342839</c:v>
              </c:pt>
            </c:numLit>
          </c:val>
        </c:ser>
        <c:ser>
          <c:idx val="1"/>
          <c:order val="1"/>
          <c:tx>
            <c:v>2025</c:v>
          </c:tx>
          <c:spPr>
            <a:solidFill xmlns:a="http://schemas.openxmlformats.org/drawingml/2006/main">
              <a:srgbClr val="30353A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0%</c:formatCode>
              <c:ptCount val="7"/>
              <c:pt idx="0">
                <c:v>0.011730951363519</c:v>
              </c:pt>
              <c:pt idx="1">
                <c:v>0.0474259703898181</c:v>
              </c:pt>
              <c:pt idx="2">
                <c:v>0.0704715892035931</c:v>
              </c:pt>
              <c:pt idx="3">
                <c:v>0.1291117427322091</c:v>
              </c:pt>
              <c:pt idx="4">
                <c:v>0.1527533319156595</c:v>
              </c:pt>
              <c:pt idx="5">
                <c:v>0.2413792875044426</c:v>
              </c:pt>
              <c:pt idx="6">
                <c:v>0.3471271268907585</c:v>
              </c:pt>
            </c:numLit>
          </c:val>
        </c:ser>
        <c:ser>
          <c:idx val="2"/>
          <c:order val="2"/>
          <c:tx>
            <c:v>Jan–jun/26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0%</c:formatCode>
              <c:ptCount val="7"/>
              <c:pt idx="0">
                <c:v>0.0122362463084512</c:v>
              </c:pt>
              <c:pt idx="1">
                <c:v>0.0464655965907937</c:v>
              </c:pt>
              <c:pt idx="2">
                <c:v>0.0609833624673594</c:v>
              </c:pt>
              <c:pt idx="3">
                <c:v>0.1209441922159701</c:v>
              </c:pt>
              <c:pt idx="4">
                <c:v>0.1441593207615259</c:v>
              </c:pt>
              <c:pt idx="5">
                <c:v>0.1929168497919684</c:v>
              </c:pt>
              <c:pt idx="6">
                <c:v>0.4222944318639312</c:v>
              </c:pt>
            </c:numLit>
          </c:val>
        </c:ser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2024</c:v>
          </c:tx>
          <c:spPr>
            <a:solidFill xmlns:a="http://schemas.openxmlformats.org/drawingml/2006/main">
              <a:srgbClr val="8D9399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0.0,,,</c:formatCode>
              <c:ptCount val="7"/>
              <c:pt idx="0">
                <c:v>985861204.43</c:v>
              </c:pt>
              <c:pt idx="1">
                <c:v>3447533173.06</c:v>
              </c:pt>
              <c:pt idx="2">
                <c:v>5904953517.04</c:v>
              </c:pt>
              <c:pt idx="3">
                <c:v>10385763957.37</c:v>
              </c:pt>
              <c:pt idx="4">
                <c:v>12000105000.76</c:v>
              </c:pt>
              <c:pt idx="5">
                <c:v>23402314897.17</c:v>
              </c:pt>
              <c:pt idx="6">
                <c:v>39290194383.92</c:v>
              </c:pt>
            </c:numLit>
          </c:val>
        </c:ser>
        <c:ser>
          <c:idx val="1"/>
          <c:order val="1"/>
          <c:tx>
            <c:v>2025</c:v>
          </c:tx>
          <c:spPr>
            <a:solidFill xmlns:a="http://schemas.openxmlformats.org/drawingml/2006/main">
              <a:srgbClr val="30353A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0.0,,,</c:formatCode>
              <c:ptCount val="7"/>
              <c:pt idx="0">
                <c:v>1371598307.19</c:v>
              </c:pt>
              <c:pt idx="1">
                <c:v>5545107015.43</c:v>
              </c:pt>
              <c:pt idx="2">
                <c:v>8239631165.57</c:v>
              </c:pt>
              <c:pt idx="3">
                <c:v>15095915265.71</c:v>
              </c:pt>
              <c:pt idx="4">
                <c:v>17860121057.590004</c:v>
              </c:pt>
              <c:pt idx="5">
                <c:v>28222384687.519997</c:v>
              </c:pt>
              <c:pt idx="6">
                <c:v>40586561555.76</c:v>
              </c:pt>
            </c:numLit>
          </c:val>
        </c:ser>
        <c:ser>
          <c:idx val="2"/>
          <c:order val="2"/>
          <c:tx>
            <c:v>Jan–jun/26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0.0,,,</c:formatCode>
              <c:ptCount val="7"/>
              <c:pt idx="0">
                <c:v>801328754.1599998</c:v>
              </c:pt>
              <c:pt idx="1">
                <c:v>3042944518.1800003</c:v>
              </c:pt>
              <c:pt idx="2">
                <c:v>3993685697.28</c:v>
              </c:pt>
              <c:pt idx="3">
                <c:v>7920407650.21</c:v>
              </c:pt>
              <c:pt idx="4">
                <c:v>9440722750.62</c:v>
              </c:pt>
              <c:pt idx="5">
                <c:v>12633761613.11</c:v>
              </c:pt>
              <c:pt idx="6">
                <c:v>27655268000</c:v>
              </c:pt>
            </c:numLit>
          </c:val>
        </c:ser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.0,,,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7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2024FY</c:v>
          </c:tx>
          <c:spPr>
            <a:ln xmlns:a="http://schemas.openxmlformats.org/drawingml/2006/main" w="28575">
              <a:solidFill>
                <a:srgbClr val="8D9399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2025FY</c:v>
          </c:tx>
          <c:spPr>
            <a:ln xmlns:a="http://schemas.openxmlformats.org/drawingml/2006/main" w="28575">
              <a:solidFill>
                <a:srgbClr val="30353A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2"/>
          <c:order val="2"/>
          <c:tx>
            <c:v>2026 jan–jun</c:v>
          </c:tx>
          <c:spPr>
            <a:ln xmlns:a="http://schemas.openxmlformats.org/drawingml/2006/main"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8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2026 jan–jun</c:v>
          </c:tx>
          <c:spPr>
            <a:solidFill xmlns:a="http://schemas.openxmlformats.org/drawingml/2006/main">
              <a:srgbClr val="EC7000"/>
            </a:solidFill>
          </c:spPr>
          <c:dLbls>
            <c:dLbl>
              <c:idx val="0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Não informado</c:v>
              </c:pt>
              <c:pt idx="1">
                <c:v>Misto</c:v>
              </c:pt>
              <c:pt idx="2">
                <c:v>Garantia firme</c:v>
              </c:pt>
              <c:pt idx="3">
                <c:v>Melhores esforços</c:v>
              </c:pt>
            </c:strLit>
          </c:cat>
          <c:val>
            <c:numLit>
              <c:formatCode>0.0%</c:formatCode>
              <c:ptCount val="4"/>
              <c:pt idx="0">
                <c:v>0</c:v>
              </c:pt>
              <c:pt idx="1">
                <c:v>0.0893902602618587</c:v>
              </c:pt>
              <c:pt idx="2">
                <c:v>0.2183600967923638</c:v>
              </c:pt>
              <c:pt idx="3">
                <c:v>0.6922496429457774</c:v>
              </c:pt>
            </c:numLit>
          </c:val>
        </c:ser>
        <c:ser>
          <c:idx val="1"/>
          <c:order val="1"/>
          <c:tx>
            <c:v>2025FY</c:v>
          </c:tx>
          <c:spPr>
            <a:solidFill xmlns:a="http://schemas.openxmlformats.org/drawingml/2006/main">
              <a:srgbClr val="30353A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Não informado</c:v>
              </c:pt>
              <c:pt idx="1">
                <c:v>Misto</c:v>
              </c:pt>
              <c:pt idx="2">
                <c:v>Garantia firme</c:v>
              </c:pt>
              <c:pt idx="3">
                <c:v>Melhores esforços</c:v>
              </c:pt>
            </c:strLit>
          </c:cat>
          <c:val>
            <c:numLit>
              <c:formatCode>0.0%</c:formatCode>
              <c:ptCount val="4"/>
              <c:pt idx="0">
                <c:v>0.0049007315742955</c:v>
              </c:pt>
              <c:pt idx="1">
                <c:v>0.0865092588312477</c:v>
              </c:pt>
              <c:pt idx="2">
                <c:v>0.1560715599269108</c:v>
              </c:pt>
              <c:pt idx="3">
                <c:v>0.7525184496675458</c:v>
              </c:pt>
            </c:numLit>
          </c:val>
        </c:ser>
        <c:ser>
          <c:idx val="2"/>
          <c:order val="2"/>
          <c:tx>
            <c:v>2024FY</c:v>
          </c:tx>
          <c:spPr>
            <a:solidFill xmlns:a="http://schemas.openxmlformats.org/drawingml/2006/main">
              <a:srgbClr val="8D9399"/>
            </a:solidFill>
          </c:spPr>
          <c:dLbls>
            <c:dLbl>
              <c:idx val="0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Não informado</c:v>
              </c:pt>
              <c:pt idx="1">
                <c:v>Misto</c:v>
              </c:pt>
              <c:pt idx="2">
                <c:v>Garantia firme</c:v>
              </c:pt>
              <c:pt idx="3">
                <c:v>Melhores esforços</c:v>
              </c:pt>
            </c:strLit>
          </c:cat>
          <c:val>
            <c:numLit>
              <c:formatCode>0.0%</c:formatCode>
              <c:ptCount val="4"/>
              <c:pt idx="0">
                <c:v>0</c:v>
              </c:pt>
              <c:pt idx="1">
                <c:v>0.1297392763466582</c:v>
              </c:pt>
              <c:pt idx="2">
                <c:v>0.1435448852101765</c:v>
              </c:pt>
              <c:pt idx="3">
                <c:v>0.7267158384431652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b"/>
        <c:numFmt formatCode="0%"/>
        <c:majorTickMark val="none"/>
        <c:minorTickMark val="none"/>
        <c:spPr>
          <a:ln xmlns:a="http://schemas.openxmlformats.org/drawingml/2006/main" w="571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9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QI Tech</c:v>
          </c:tx>
          <c:spPr>
            <a:ln xmlns:a="http://schemas.openxmlformats.org/drawingml/2006/main" w="28575">
              <a:solidFill>
                <a:srgbClr val="2456D6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BTG Pactual</c:v>
          </c:tx>
          <c:spPr>
            <a:ln xmlns:a="http://schemas.openxmlformats.org/drawingml/2006/main" w="28575">
              <a:solidFill>
                <a:srgbClr val="1D408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2"/>
          <c:order val="2"/>
          <c:tx>
            <c:v>Oliveira Trust</c:v>
          </c:tx>
          <c:spPr>
            <a:ln xmlns:a="http://schemas.openxmlformats.org/drawingml/2006/main" w="28575">
              <a:solidFill>
                <a:srgbClr val="7A1F3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3"/>
          <c:order val="3"/>
          <c:tx>
            <c:v>Itaú</c:v>
          </c:tx>
          <c:spPr>
            <a:ln xmlns:a="http://schemas.openxmlformats.org/drawingml/2006/main" w="28575">
              <a:solidFill>
                <a:srgbClr val="FF55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4"/>
          <c:order val="4"/>
          <c:tx>
            <c:v>Genial</c:v>
          </c:tx>
          <c:spPr>
            <a:ln xmlns:a="http://schemas.openxmlformats.org/drawingml/2006/main" w="28575">
              <a:solidFill>
                <a:srgbClr val="6EC5E9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5"/>
          <c:order val="5"/>
          <c:tx>
            <c:v>CBSF / REAG</c:v>
          </c:tx>
          <c:spPr>
            <a:ln xmlns:a="http://schemas.openxmlformats.org/drawingml/2006/main" w="28575">
              <a:solidFill>
                <a:srgbClr val="73C6A1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6"/>
          <c:order val="6"/>
          <c:tx>
            <c:v>Demais</c:v>
          </c:tx>
          <c:spPr>
            <a:ln xmlns:a="http://schemas.openxmlformats.org/drawingml/2006/main" w="28575">
              <a:solidFill>
                <a:srgbClr val="73787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0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030A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F550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EC2C5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7A1F3D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1D4080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2456D6"/>
              </a:solidFill>
            </c:spPr>
          </c:dPt>
          <c:cat>
            <c:strLit>
              <c:ptCount val="7"/>
              <c:pt idx="0">
                <c:v>Kanastra / Limine</c:v>
              </c:pt>
              <c:pt idx="1">
                <c:v>Itaú</c:v>
              </c:pt>
              <c:pt idx="2">
                <c:v>Daycoval</c:v>
              </c:pt>
              <c:pt idx="3">
                <c:v>Bradesco</c:v>
              </c:pt>
              <c:pt idx="4">
                <c:v>Oliveira Trust</c:v>
              </c:pt>
              <c:pt idx="5">
                <c:v>BTG Pactual</c:v>
              </c:pt>
              <c:pt idx="6">
                <c:v>QI Tech</c:v>
              </c:pt>
            </c:strLit>
          </c:cat>
          <c:val>
            <c:numLit>
              <c:formatCode>0.0</c:formatCode>
              <c:ptCount val="7"/>
              <c:pt idx="0">
                <c:v>12.84615693169</c:v>
              </c:pt>
              <c:pt idx="1">
                <c:v>27.05634936661</c:v>
              </c:pt>
              <c:pt idx="2">
                <c:v>49.75417439041</c:v>
              </c:pt>
              <c:pt idx="3">
                <c:v>49.77770817222</c:v>
              </c:pt>
              <c:pt idx="4">
                <c:v>56.87136007691</c:v>
              </c:pt>
              <c:pt idx="5">
                <c:v>107.91817098489999</c:v>
              </c:pt>
              <c:pt idx="6">
                <c:v>116.97439427594999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30353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454A4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5B6065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7A1F3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2456D6"/>
              </a:solidFill>
            </c:spPr>
          </c:dPt>
          <c:cat>
            <c:strLit>
              <c:ptCount val="5"/>
              <c:pt idx="0">
                <c:v>Hemera</c:v>
              </c:pt>
              <c:pt idx="1">
                <c:v>BRL Trust</c:v>
              </c:pt>
              <c:pt idx="2">
                <c:v>Finaxis</c:v>
              </c:pt>
              <c:pt idx="3">
                <c:v>Oliveira Trust</c:v>
              </c:pt>
              <c:pt idx="4">
                <c:v>QI Tech</c:v>
              </c:pt>
            </c:strLit>
          </c:cat>
          <c:val>
            <c:numLit>
              <c:formatCode>0.0</c:formatCode>
              <c:ptCount val="5"/>
              <c:pt idx="0">
                <c:v>21.00943573536</c:v>
              </c:pt>
              <c:pt idx="1">
                <c:v>21.26060727013</c:v>
              </c:pt>
              <c:pt idx="2">
                <c:v>22.30772786867</c:v>
              </c:pt>
              <c:pt idx="3">
                <c:v>56.87136007691</c:v>
              </c:pt>
              <c:pt idx="4">
                <c:v>116.97439427594999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030A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F550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67C9E6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7A1F3D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1D4080"/>
              </a:solidFill>
            </c:spPr>
          </c:dPt>
          <c:cat>
            <c:strLit>
              <c:ptCount val="7"/>
              <c:pt idx="0">
                <c:v>Kanastra / Limine</c:v>
              </c:pt>
              <c:pt idx="1">
                <c:v>Itaú</c:v>
              </c:pt>
              <c:pt idx="2">
                <c:v>Tercon Investimentos</c:v>
              </c:pt>
              <c:pt idx="3">
                <c:v>Genial</c:v>
              </c:pt>
              <c:pt idx="4">
                <c:v>Oliveira Trust</c:v>
              </c:pt>
              <c:pt idx="5">
                <c:v>Bradesco</c:v>
              </c:pt>
              <c:pt idx="6">
                <c:v>BTG Pactual</c:v>
              </c:pt>
            </c:strLit>
          </c:cat>
          <c:val>
            <c:numLit>
              <c:formatCode>0.0</c:formatCode>
              <c:ptCount val="7"/>
              <c:pt idx="0">
                <c:v>10.61117776359</c:v>
              </c:pt>
              <c:pt idx="1">
                <c:v>20.5830639885</c:v>
              </c:pt>
              <c:pt idx="2">
                <c:v>21.696113631950002</c:v>
              </c:pt>
              <c:pt idx="3">
                <c:v>26.87573463003</c:v>
              </c:pt>
              <c:pt idx="4">
                <c:v>35.02222544035998</c:v>
              </c:pt>
              <c:pt idx="5">
                <c:v>39.85656848075</c:v>
              </c:pt>
              <c:pt idx="6">
                <c:v>78.74983410723001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3C6A1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BEC2C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A7ACB0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8D9399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7A1F3D"/>
              </a:solidFill>
            </c:spPr>
          </c:dPt>
          <c:cat>
            <c:strLit>
              <c:ptCount val="5"/>
              <c:pt idx="0">
                <c:v>CBSF</c:v>
              </c:pt>
              <c:pt idx="1">
                <c:v>Solis Investimentos</c:v>
              </c:pt>
              <c:pt idx="2">
                <c:v>Integral Investimentos</c:v>
              </c:pt>
              <c:pt idx="3">
                <c:v>Tercon Investimentos</c:v>
              </c:pt>
              <c:pt idx="4">
                <c:v>Oliveira Trust</c:v>
              </c:pt>
            </c:strLit>
          </c:cat>
          <c:val>
            <c:numLit>
              <c:formatCode>0.0</c:formatCode>
              <c:ptCount val="5"/>
              <c:pt idx="0">
                <c:v>10.17441132442</c:v>
              </c:pt>
              <c:pt idx="1">
                <c:v>14.32953247391</c:v>
              </c:pt>
              <c:pt idx="2">
                <c:v>14.931875223759999</c:v>
              </c:pt>
              <c:pt idx="3">
                <c:v>21.696113631950002</c:v>
              </c:pt>
              <c:pt idx="4">
                <c:v>35.02222544035998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030A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F550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BEC2C5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7A1F3D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1D4080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2456D6"/>
              </a:solidFill>
            </c:spPr>
          </c:dPt>
          <c:cat>
            <c:strLit>
              <c:ptCount val="7"/>
              <c:pt idx="0">
                <c:v>Kanastra / Limine</c:v>
              </c:pt>
              <c:pt idx="1">
                <c:v>Itaú</c:v>
              </c:pt>
              <c:pt idx="2">
                <c:v>Bradesco</c:v>
              </c:pt>
              <c:pt idx="3">
                <c:v>Daycoval</c:v>
              </c:pt>
              <c:pt idx="4">
                <c:v>Oliveira Trust</c:v>
              </c:pt>
              <c:pt idx="5">
                <c:v>BTG Pactual</c:v>
              </c:pt>
              <c:pt idx="6">
                <c:v>QI Tech</c:v>
              </c:pt>
            </c:strLit>
          </c:cat>
          <c:val>
            <c:numLit>
              <c:formatCode>0.0</c:formatCode>
              <c:ptCount val="7"/>
              <c:pt idx="0">
                <c:v>19.494658191289997</c:v>
              </c:pt>
              <c:pt idx="1">
                <c:v>20.405586732159996</c:v>
              </c:pt>
              <c:pt idx="2">
                <c:v>48.43408476549</c:v>
              </c:pt>
              <c:pt idx="3">
                <c:v>55.81924378400999</c:v>
              </c:pt>
              <c:pt idx="4">
                <c:v>71.90092760434999</c:v>
              </c:pt>
              <c:pt idx="5">
                <c:v>107.26541902169001</c:v>
              </c:pt>
              <c:pt idx="6">
                <c:v>115.31244022541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5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454A4F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B606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3C6A1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7A1F3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2456D6"/>
              </a:solidFill>
            </c:spPr>
          </c:dPt>
          <c:cat>
            <c:strLit>
              <c:ptCount val="5"/>
              <c:pt idx="0">
                <c:v>BRL Trust</c:v>
              </c:pt>
              <c:pt idx="1">
                <c:v>Finaxis</c:v>
              </c:pt>
              <c:pt idx="2">
                <c:v>REAG</c:v>
              </c:pt>
              <c:pt idx="3">
                <c:v>Oliveira Trust</c:v>
              </c:pt>
              <c:pt idx="4">
                <c:v>QI Tech</c:v>
              </c:pt>
            </c:strLit>
          </c:cat>
          <c:val>
            <c:numLit>
              <c:formatCode>0.0</c:formatCode>
              <c:ptCount val="5"/>
              <c:pt idx="0">
                <c:v>21.26374598682</c:v>
              </c:pt>
              <c:pt idx="1">
                <c:v>22.30772786867</c:v>
              </c:pt>
              <c:pt idx="2">
                <c:v>25.04054022159</c:v>
              </c:pt>
              <c:pt idx="3">
                <c:v>71.90092760434999</c:v>
              </c:pt>
              <c:pt idx="4">
                <c:v>115.31244022541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6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Dez/25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3"/>
              <c:pt idx="0">
                <c:v>Admin.</c:v>
              </c:pt>
              <c:pt idx="1">
                <c:v>Gestão</c:v>
              </c:pt>
              <c:pt idx="2">
                <c:v>Custódia</c:v>
              </c:pt>
            </c:strLit>
          </c:cat>
          <c:val>
            <c:numLit>
              <c:formatCode>0.0%</c:formatCode>
              <c:ptCount val="3"/>
              <c:pt idx="0">
                <c:v>0.7168643095519629</c:v>
              </c:pt>
              <c:pt idx="1">
                <c:v>0.35810685850247875</c:v>
              </c:pt>
              <c:pt idx="2">
                <c:v>0.7169086306781982</c:v>
              </c:pt>
            </c:numLit>
          </c:val>
        </c:ser>
        <c:ser>
          <c:idx val="1"/>
          <c:order val="1"/>
          <c:tx>
            <c:v>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3"/>
              <c:pt idx="0">
                <c:v>Admin.</c:v>
              </c:pt>
              <c:pt idx="1">
                <c:v>Gestão</c:v>
              </c:pt>
              <c:pt idx="2">
                <c:v>Custódia</c:v>
              </c:pt>
            </c:strLit>
          </c:cat>
          <c:val>
            <c:numLit>
              <c:formatCode>0.0%</c:formatCode>
              <c:ptCount val="3"/>
              <c:pt idx="0">
                <c:v>0.7150145774372395</c:v>
              </c:pt>
              <c:pt idx="1">
                <c:v>0.3890568914241183</c:v>
              </c:pt>
              <c:pt idx="2">
                <c:v>0.7349339570479368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7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Dez/25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3"/>
              <c:pt idx="0">
                <c:v>Admin.</c:v>
              </c:pt>
              <c:pt idx="1">
                <c:v>Gestão</c:v>
              </c:pt>
              <c:pt idx="2">
                <c:v>Custódia</c:v>
              </c:pt>
            </c:strLit>
          </c:cat>
          <c:val>
            <c:numLit>
              <c:formatCode>0.0%</c:formatCode>
              <c:ptCount val="3"/>
              <c:pt idx="0">
                <c:v>0.497141395134468</c:v>
              </c:pt>
              <c:pt idx="1">
                <c:v>0.23645038550679134</c:v>
              </c:pt>
              <c:pt idx="2">
                <c:v>0.5170349888512263</c:v>
              </c:pt>
            </c:numLit>
          </c:val>
        </c:ser>
        <c:ser>
          <c:idx val="1"/>
          <c:order val="1"/>
          <c:tx>
            <c:v>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3"/>
              <c:pt idx="0">
                <c:v>Admin.</c:v>
              </c:pt>
              <c:pt idx="1">
                <c:v>Gestão</c:v>
              </c:pt>
              <c:pt idx="2">
                <c:v>Custódia</c:v>
              </c:pt>
            </c:strLit>
          </c:cat>
          <c:val>
            <c:numLit>
              <c:formatCode>0.0%</c:formatCode>
              <c:ptCount val="3"/>
              <c:pt idx="0">
                <c:v>0.5306014675789608</c:v>
              </c:pt>
              <c:pt idx="1">
                <c:v>0.2813769971812452</c:v>
              </c:pt>
              <c:pt idx="2">
                <c:v>0.5548653859259784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8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Contas</c:v>
          </c:tx>
          <c:spPr>
            <a:ln xmlns:a="http://schemas.openxmlformats.org/drawingml/2006/main"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2"/>
              <c:pt idx="0">
                <c:v>2015</c:v>
              </c:pt>
              <c:pt idx="1">
                <c:v>​​</c:v>
              </c:pt>
              <c:pt idx="2">
                <c:v>​​​</c:v>
              </c:pt>
              <c:pt idx="3">
                <c:v>2018</c:v>
              </c:pt>
              <c:pt idx="4">
                <c:v>​​​​​</c:v>
              </c:pt>
              <c:pt idx="5">
                <c:v>​​​​​​</c:v>
              </c:pt>
              <c:pt idx="6">
                <c:v>2021</c:v>
              </c:pt>
              <c:pt idx="7">
                <c:v>​​​​​​​​</c:v>
              </c:pt>
              <c:pt idx="8">
                <c:v>​​​​​​​​​</c:v>
              </c:pt>
              <c:pt idx="9">
                <c:v>2024</c:v>
              </c:pt>
              <c:pt idx="10">
                <c:v>​​​​​​​​​​​</c:v>
              </c:pt>
              <c:pt idx="11">
                <c:v>Jun/26</c:v>
              </c:pt>
            </c:strLit>
          </c:cat>
          <c:val>
            <c:numLit>
              <c:formatCode>0 "mil"</c:formatCode>
              <c:ptCount val="12"/>
              <c:pt idx="0">
                <c:v>12.508</c:v>
              </c:pt>
              <c:pt idx="1">
                <c:v>13.872</c:v>
              </c:pt>
              <c:pt idx="2">
                <c:v>16.049</c:v>
              </c:pt>
              <c:pt idx="3">
                <c:v>17.678</c:v>
              </c:pt>
              <c:pt idx="4">
                <c:v>25.781</c:v>
              </c:pt>
              <c:pt idx="5">
                <c:v>32.936</c:v>
              </c:pt>
              <c:pt idx="6">
                <c:v>31.626</c:v>
              </c:pt>
              <c:pt idx="7">
                <c:v>48.608</c:v>
              </c:pt>
              <c:pt idx="8">
                <c:v>61.735</c:v>
              </c:pt>
              <c:pt idx="9">
                <c:v>148.582</c:v>
              </c:pt>
              <c:pt idx="10">
                <c:v>387.159</c:v>
              </c:pt>
              <c:pt idx="11">
                <c:v>461.222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 &quot;mil&quot;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9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Profissional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4"/>
              <c:pt idx="0">
                <c:v>2023FY</c:v>
              </c:pt>
              <c:pt idx="1">
                <c:v>2024FY</c:v>
              </c:pt>
              <c:pt idx="2">
                <c:v>2025FY</c:v>
              </c:pt>
              <c:pt idx="3">
                <c:v>Jan–jun/26</c:v>
              </c:pt>
            </c:strLit>
          </c:cat>
          <c:val>
            <c:numLit>
              <c:formatCode>0.0%</c:formatCode>
              <c:ptCount val="4"/>
              <c:pt idx="0">
                <c:v>0.9684547923581838</c:v>
              </c:pt>
              <c:pt idx="1">
                <c:v>0.9441348233073096</c:v>
              </c:pt>
              <c:pt idx="2">
                <c:v>0.9282664027264255</c:v>
              </c:pt>
              <c:pt idx="3">
                <c:v>0.9378646364463225</c:v>
              </c:pt>
            </c:numLit>
          </c:val>
        </c:ser>
        <c:ser>
          <c:idx val="1"/>
          <c:order val="1"/>
          <c:tx>
            <c:v>Qualificado</c:v>
          </c:tx>
          <c:spPr>
            <a:solidFill xmlns:a="http://schemas.openxmlformats.org/drawingml/2006/main">
              <a:srgbClr val="30353A"/>
            </a:solidFill>
          </c:spPr>
          <c:cat>
            <c:strLit>
              <c:ptCount val="4"/>
              <c:pt idx="0">
                <c:v>2023FY</c:v>
              </c:pt>
              <c:pt idx="1">
                <c:v>2024FY</c:v>
              </c:pt>
              <c:pt idx="2">
                <c:v>2025FY</c:v>
              </c:pt>
              <c:pt idx="3">
                <c:v>Jan–jun/26</c:v>
              </c:pt>
            </c:strLit>
          </c:cat>
          <c:val>
            <c:numLit>
              <c:formatCode>0.0%</c:formatCode>
              <c:ptCount val="4"/>
              <c:pt idx="0">
                <c:v>0.020214315409922565</c:v>
              </c:pt>
              <c:pt idx="1">
                <c:v>0.0558127749786242</c:v>
              </c:pt>
              <c:pt idx="2">
                <c:v>0.06683286569927906</c:v>
              </c:pt>
              <c:pt idx="3">
                <c:v>0.057045463199635146</c:v>
              </c:pt>
            </c:numLit>
          </c:val>
        </c:ser>
        <c:ser>
          <c:idx val="2"/>
          <c:order val="2"/>
          <c:tx>
            <c:v>Geral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4"/>
              <c:pt idx="0">
                <c:v>2023FY</c:v>
              </c:pt>
              <c:pt idx="1">
                <c:v>2024FY</c:v>
              </c:pt>
              <c:pt idx="2">
                <c:v>2025FY</c:v>
              </c:pt>
              <c:pt idx="3">
                <c:v>Jan–jun/26</c:v>
              </c:pt>
            </c:strLit>
          </c:cat>
          <c:val>
            <c:numLit>
              <c:formatCode>0.0%</c:formatCode>
              <c:ptCount val="4"/>
              <c:pt idx="0">
                <c:v>0</c:v>
              </c:pt>
              <c:pt idx="1">
                <c:v>5.240171406626623E-05</c:v>
              </c:pt>
              <c:pt idx="2">
                <c:v>0</c:v>
              </c:pt>
              <c:pt idx="3">
                <c:v>0.005089900354042509</c:v>
              </c:pt>
            </c:numLit>
          </c:val>
        </c:ser>
        <c:ser>
          <c:idx val="3"/>
          <c:order val="3"/>
          <c:tx>
            <c:v>N/D</c:v>
          </c:tx>
          <c:spPr>
            <a:solidFill xmlns:a="http://schemas.openxmlformats.org/drawingml/2006/main">
              <a:srgbClr val="E7E9EB"/>
            </a:solidFill>
          </c:spPr>
          <c:cat>
            <c:strLit>
              <c:ptCount val="4"/>
              <c:pt idx="0">
                <c:v>2023FY</c:v>
              </c:pt>
              <c:pt idx="1">
                <c:v>2024FY</c:v>
              </c:pt>
              <c:pt idx="2">
                <c:v>2025FY</c:v>
              </c:pt>
              <c:pt idx="3">
                <c:v>Jan–jun/26</c:v>
              </c:pt>
            </c:strLit>
          </c:cat>
          <c:val>
            <c:numLit>
              <c:formatCode>0.0%</c:formatCode>
              <c:ptCount val="4"/>
              <c:pt idx="0">
                <c:v>0.01133089223189357</c:v>
              </c:pt>
              <c:pt idx="1">
                <c:v>0</c:v>
              </c:pt>
              <c:pt idx="2">
                <c:v>0.004900731574295591</c:v>
              </c:pt>
              <c:pt idx="3">
                <c:v>0</c:v>
              </c:pt>
            </c:numLit>
          </c:val>
        </c:ser>
        <c:gapWidth val="4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0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Contas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EC700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0353A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30353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30353A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30353A"/>
              </a:solidFill>
            </c:spPr>
          </c:dPt>
          <c:cat>
            <c:strLit>
              <c:ptCount val="5"/>
              <c:pt idx="0">
                <c:v>Fundos</c:v>
              </c:pt>
              <c:pt idx="1">
                <c:v>Empresas e outros</c:v>
              </c:pt>
              <c:pt idx="2">
                <c:v>Pessoa física</c:v>
              </c:pt>
              <c:pt idx="3">
                <c:v>Instituições financeiras</c:v>
              </c:pt>
              <c:pt idx="4">
                <c:v>Previdência e seguros</c:v>
              </c:pt>
            </c:strLit>
          </c:cat>
          <c:val>
            <c:numLit>
              <c:formatCode>0.0%</c:formatCode>
              <c:ptCount val="5"/>
              <c:pt idx="0">
                <c:v>0.442722471315705</c:v>
              </c:pt>
              <c:pt idx="1">
                <c:v>0.25706375155020944</c:v>
              </c:pt>
              <c:pt idx="2">
                <c:v>0.20520653559627777</c:v>
              </c:pt>
              <c:pt idx="3">
                <c:v>0.09422238025445116</c:v>
              </c:pt>
              <c:pt idx="4">
                <c:v>0.0007848612833566045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Dez/23</c:v>
          </c:tx>
          <c:spPr>
            <a:ln xmlns:a="http://schemas.openxmlformats.org/drawingml/2006/main" w="28575">
              <a:solidFill>
                <a:srgbClr val="73787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Jun/26</c:v>
          </c:tx>
          <c:spPr>
            <a:ln xmlns:a="http://schemas.openxmlformats.org/drawingml/2006/main"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Dez/23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</c:formatCode>
              <c:ptCount val="6"/>
              <c:pt idx="0">
                <c:v>3</c:v>
              </c:pt>
              <c:pt idx="1">
                <c:v>106</c:v>
              </c:pt>
              <c:pt idx="2">
                <c:v>104</c:v>
              </c:pt>
              <c:pt idx="3">
                <c:v>71</c:v>
              </c:pt>
              <c:pt idx="4">
                <c:v>50</c:v>
              </c:pt>
              <c:pt idx="5">
                <c:v>75</c:v>
              </c:pt>
            </c:numLit>
          </c:val>
        </c:ser>
        <c:ser>
          <c:idx val="1"/>
          <c:order val="1"/>
          <c:tx>
            <c:v>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</c:formatCode>
              <c:ptCount val="6"/>
              <c:pt idx="0">
                <c:v>2</c:v>
              </c:pt>
              <c:pt idx="1">
                <c:v>180</c:v>
              </c:pt>
              <c:pt idx="2">
                <c:v>123</c:v>
              </c:pt>
              <c:pt idx="3">
                <c:v>153</c:v>
              </c:pt>
              <c:pt idx="4">
                <c:v>128</c:v>
              </c:pt>
              <c:pt idx="5">
                <c:v>198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Dez/23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</c:formatCode>
              <c:ptCount val="6"/>
              <c:pt idx="0">
                <c:v>4.08011139709</c:v>
              </c:pt>
              <c:pt idx="1">
                <c:v>107.00408055976</c:v>
              </c:pt>
              <c:pt idx="2">
                <c:v>65.98513346480999</c:v>
              </c:pt>
              <c:pt idx="3">
                <c:v>87.13513028292</c:v>
              </c:pt>
              <c:pt idx="4">
                <c:v>27.89580794356</c:v>
              </c:pt>
              <c:pt idx="5">
                <c:v>84.79440519127</c:v>
              </c:pt>
            </c:numLit>
          </c:val>
        </c:ser>
        <c:ser>
          <c:idx val="1"/>
          <c:order val="1"/>
          <c:tx>
            <c:v>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</c:formatCode>
              <c:ptCount val="6"/>
              <c:pt idx="0">
                <c:v>2.04153385837</c:v>
              </c:pt>
              <c:pt idx="1">
                <c:v>174.97916627078</c:v>
              </c:pt>
              <c:pt idx="2">
                <c:v>85.07690883193</c:v>
              </c:pt>
              <c:pt idx="3">
                <c:v>174.00964091183</c:v>
              </c:pt>
              <c:pt idx="4">
                <c:v>80.62114320047</c:v>
              </c:pt>
              <c:pt idx="5">
                <c:v>216.35550333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Dez/23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0%</c:formatCode>
              <c:ptCount val="6"/>
              <c:pt idx="0">
                <c:v>0.007334963325183374</c:v>
              </c:pt>
              <c:pt idx="1">
                <c:v>0.2591687041564792</c:v>
              </c:pt>
              <c:pt idx="2">
                <c:v>0.254278728606357</c:v>
              </c:pt>
              <c:pt idx="3">
                <c:v>0.17359413202933985</c:v>
              </c:pt>
              <c:pt idx="4">
                <c:v>0.12224938875305623</c:v>
              </c:pt>
              <c:pt idx="5">
                <c:v>0.18337408312958436</c:v>
              </c:pt>
            </c:numLit>
          </c:val>
        </c:ser>
        <c:ser>
          <c:idx val="1"/>
          <c:order val="1"/>
          <c:tx>
            <c:v>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0%</c:formatCode>
              <c:ptCount val="6"/>
              <c:pt idx="0">
                <c:v>0.002551020408163265</c:v>
              </c:pt>
              <c:pt idx="1">
                <c:v>0.22959183673469388</c:v>
              </c:pt>
              <c:pt idx="2">
                <c:v>0.1568877551020408</c:v>
              </c:pt>
              <c:pt idx="3">
                <c:v>0.1951530612244898</c:v>
              </c:pt>
              <c:pt idx="4">
                <c:v>0.16326530612244897</c:v>
              </c:pt>
              <c:pt idx="5">
                <c:v>0.25255102040816324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0.3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1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Dez/23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0%</c:formatCode>
              <c:ptCount val="6"/>
              <c:pt idx="0">
                <c:v>0.010825601247303616</c:v>
              </c:pt>
              <c:pt idx="1">
                <c:v>0.28390977481656304</c:v>
              </c:pt>
              <c:pt idx="2">
                <c:v>0.1750757941681723</c:v>
              </c:pt>
              <c:pt idx="3">
                <c:v>0.23119226003179993</c:v>
              </c:pt>
              <c:pt idx="4">
                <c:v>0.07401486476171423</c:v>
              </c:pt>
              <c:pt idx="5">
                <c:v>0.22498170497444692</c:v>
              </c:pt>
            </c:numLit>
          </c:val>
        </c:ser>
        <c:ser>
          <c:idx val="1"/>
          <c:order val="1"/>
          <c:tx>
            <c:v>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0%</c:formatCode>
              <c:ptCount val="6"/>
              <c:pt idx="0">
                <c:v>0.002784857051677267</c:v>
              </c:pt>
              <c:pt idx="1">
                <c:v>0.23868914203306626</c:v>
              </c:pt>
              <c:pt idx="2">
                <c:v>0.11605344115363893</c:v>
              </c:pt>
              <c:pt idx="3">
                <c:v>0.23736661215114327</c:v>
              </c:pt>
              <c:pt idx="4">
                <c:v>0.10997532969419936</c:v>
              </c:pt>
              <c:pt idx="5">
                <c:v>0.29513061791627493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0.3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1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6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53.039866746449995</c:v>
              </c:pt>
              <c:pt idx="1">
                <c:v>66.99363287149001</c:v>
              </c:pt>
              <c:pt idx="2">
                <c:v>84.0510959145</c:v>
              </c:pt>
              <c:pt idx="3">
                <c:v>88.39237477025999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0A3B00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88.01231288842001</c:v>
              </c:pt>
              <c:pt idx="1">
                <c:v>110.78163928671</c:v>
              </c:pt>
              <c:pt idx="2">
                <c:v>134.72203186548</c:v>
              </c:pt>
              <c:pt idx="3">
                <c:v>142.63089658108998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EC7000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129.18585394483003</c:v>
              </c:pt>
              <c:pt idx="1">
                <c:v>180.63737830449</c:v>
              </c:pt>
              <c:pt idx="2">
                <c:v>237.58830139514</c:v>
              </c:pt>
              <c:pt idx="3">
                <c:v>282.39711243072</c:v>
              </c:pt>
            </c:numLit>
          </c:val>
        </c:ser>
        <c:ser>
          <c:idx val="3"/>
          <c:order val="3"/>
          <c:tx>
            <c:v>Precatórios / ações</c:v>
          </c:tx>
          <c:spPr>
            <a:solidFill xmlns:a="http://schemas.openxmlformats.org/drawingml/2006/main">
              <a:srgbClr val="151515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54.14687833335</c:v>
              </c:pt>
              <c:pt idx="1">
                <c:v>71.53991117332</c:v>
              </c:pt>
              <c:pt idx="2">
                <c:v>92.67004840915</c:v>
              </c:pt>
              <c:pt idx="3">
                <c:v>81.84740187933002</c:v>
              </c:pt>
            </c:numLit>
          </c:val>
        </c:ser>
        <c:ser>
          <c:idx val="4"/>
          <c:order val="4"/>
          <c:tx>
            <c:v>Multicedente / multisacado</c:v>
          </c:tx>
          <c:spPr>
            <a:solidFill xmlns:a="http://schemas.openxmlformats.org/drawingml/2006/main">
              <a:srgbClr val="7030A0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42.82259619404</c:v>
              </c:pt>
              <c:pt idx="1">
                <c:v>63.3543770927</c:v>
              </c:pt>
              <c:pt idx="2">
                <c:v>90.8173192781</c:v>
              </c:pt>
              <c:pt idx="3">
                <c:v>86.50477887797999</c:v>
              </c:pt>
            </c:numLit>
          </c:val>
        </c:ser>
        <c:ser>
          <c:idx val="5"/>
          <c:order val="5"/>
          <c:tx>
            <c:v>Recuperação / NP</c:v>
          </c:tx>
          <c:spPr>
            <a:solidFill xmlns:a="http://schemas.openxmlformats.org/drawingml/2006/main">
              <a:srgbClr val="E7E9EB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21.275962572810005</c:v>
              </c:pt>
              <c:pt idx="1">
                <c:v>33.66266718072</c:v>
              </c:pt>
              <c:pt idx="2">
                <c:v>33.97906413177999</c:v>
              </c:pt>
              <c:pt idx="3">
                <c:v>35.19928678253001</c:v>
              </c:pt>
            </c:numLit>
          </c:val>
        </c:ser>
        <c:ser>
          <c:idx val="6"/>
          <c:order val="6"/>
          <c:tx>
            <c:v>N/D</c:v>
          </c:tx>
          <c:spPr>
            <a:solidFill xmlns:a="http://schemas.openxmlformats.org/drawingml/2006/main">
              <a:srgbClr val="D7DADD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0.4925227090800001</c:v>
              </c:pt>
              <c:pt idx="1">
                <c:v>0.22197586637999997</c:v>
              </c:pt>
              <c:pt idx="2">
                <c:v>0.08320776646000001</c:v>
              </c:pt>
              <c:pt idx="3">
                <c:v>1.63869010794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/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7.xml><?xml version="1.0" encoding="utf-8"?>
<c:chartSpace xmlns:c="http://schemas.openxmlformats.org/drawingml/2006/chart">
  <c:lang val="en-US"/>
  <c:chart>
    <c:plotArea>
      <c:barChart>
        <c:barDir val="col"/>
        <c:grouping val="percent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0.1363576869727525</c:v>
              </c:pt>
              <c:pt idx="1">
                <c:v>0.1270764465658316</c:v>
              </c:pt>
              <c:pt idx="2">
                <c:v>0.1247213464961755</c:v>
              </c:pt>
              <c:pt idx="3">
                <c:v>0.123004561823407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0A3B00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0.2262666961053475</c:v>
              </c:pt>
              <c:pt idx="1">
                <c:v>0.2101354481297849</c:v>
              </c:pt>
              <c:pt idx="2">
                <c:v>0.1999106975839517</c:v>
              </c:pt>
              <c:pt idx="3">
                <c:v>0.1984814977766555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EC7000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0.3321178071152654</c:v>
              </c:pt>
              <c:pt idx="1">
                <c:v>0.3426408625418958</c:v>
              </c:pt>
              <c:pt idx="2">
                <c:v>0.3525514157707614</c:v>
              </c:pt>
              <c:pt idx="3">
                <c:v>0.3929765793148851</c:v>
              </c:pt>
            </c:numLit>
          </c:val>
        </c:ser>
        <c:ser>
          <c:idx val="3"/>
          <c:order val="3"/>
          <c:tx>
            <c:v>Precatórios / ações</c:v>
          </c:tx>
          <c:spPr>
            <a:solidFill xmlns:a="http://schemas.openxmlformats.org/drawingml/2006/main">
              <a:srgbClr val="151515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0.1392036507487046</c:v>
              </c:pt>
              <c:pt idx="1">
                <c:v>0.1357000256573569</c:v>
              </c:pt>
              <c:pt idx="2">
                <c:v>0.1375107973513174</c:v>
              </c:pt>
              <c:pt idx="3">
                <c:v>0.1138967454004706</c:v>
              </c:pt>
            </c:numLit>
          </c:val>
        </c:ser>
        <c:ser>
          <c:idx val="4"/>
          <c:order val="4"/>
          <c:tx>
            <c:v>Multicedente / multisacado</c:v>
          </c:tx>
          <c:spPr>
            <a:solidFill xmlns:a="http://schemas.openxmlformats.org/drawingml/2006/main">
              <a:srgbClr val="7030A0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0.1100905889356954</c:v>
              </c:pt>
              <c:pt idx="1">
                <c:v>0.1201733473802729</c:v>
              </c:pt>
              <c:pt idx="2">
                <c:v>0.134761578326829</c:v>
              </c:pt>
              <c:pt idx="3">
                <c:v>0.1203778317889099</c:v>
              </c:pt>
            </c:numLit>
          </c:val>
        </c:ser>
        <c:ser>
          <c:idx val="5"/>
          <c:order val="5"/>
          <c:tx>
            <c:v>Recuperação / NP</c:v>
          </c:tx>
          <c:spPr>
            <a:solidFill xmlns:a="http://schemas.openxmlformats.org/drawingml/2006/main">
              <a:srgbClr val="E7E9EB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0.0546973667640558</c:v>
              </c:pt>
              <c:pt idx="1">
                <c:v>0.0638528162140403</c:v>
              </c:pt>
              <c:pt idx="2">
                <c:v>0.0504206945202293</c:v>
              </c:pt>
              <c:pt idx="3">
                <c:v>0.0489824247672355</c:v>
              </c:pt>
            </c:numLit>
          </c:val>
        </c:ser>
        <c:ser>
          <c:idx val="6"/>
          <c:order val="6"/>
          <c:tx>
            <c:v>N/D</c:v>
          </c:tx>
          <c:spPr>
            <a:solidFill xmlns:a="http://schemas.openxmlformats.org/drawingml/2006/main">
              <a:srgbClr val="D7DADD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0.0012662033581786</c:v>
              </c:pt>
              <c:pt idx="1">
                <c:v>0.0004210535108172</c:v>
              </c:pt>
              <c:pt idx="2">
                <c:v>0.0001234699507355</c:v>
              </c:pt>
              <c:pt idx="3">
                <c:v>0.0022803591284361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/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8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4.355347460331231</c:v>
              </c:pt>
              <c:pt idx="1">
                <c:v>9.71514314594</c:v>
              </c:pt>
              <c:pt idx="2">
                <c:v>9.03480114906</c:v>
              </c:pt>
              <c:pt idx="3">
                <c:v>4.0599598731999995</c:v>
              </c:pt>
              <c:pt idx="4">
                <c:v>5.705318924819999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0A3B00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8.725651793954372</c:v>
              </c:pt>
              <c:pt idx="1">
                <c:v>19.803603508400002</c:v>
              </c:pt>
              <c:pt idx="2">
                <c:v>28.71965699961</c:v>
              </c:pt>
              <c:pt idx="3">
                <c:v>19.39381267632</c:v>
              </c:pt>
              <c:pt idx="4">
                <c:v>10.78363727233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EC7000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19.33358250441061</c:v>
              </c:pt>
              <c:pt idx="1">
                <c:v>46.91709152533</c:v>
              </c:pt>
              <c:pt idx="2">
                <c:v>52.42676092368</c:v>
              </c:pt>
              <c:pt idx="3">
                <c:v>21.60168209032</c:v>
              </c:pt>
              <c:pt idx="4">
                <c:v>40.39299902597</c:v>
              </c:pt>
            </c:numLit>
          </c:val>
        </c:ser>
        <c:ser>
          <c:idx val="3"/>
          <c:order val="3"/>
          <c:tx>
            <c:v>Outros</c:v>
          </c:tx>
          <c:spPr>
            <a:solidFill xmlns:a="http://schemas.openxmlformats.org/drawingml/2006/main">
              <a:srgbClr val="D7DADD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8.466997192079447</c:v>
              </c:pt>
              <c:pt idx="1">
                <c:v>11.950763954180001</c:v>
              </c:pt>
              <c:pt idx="2">
                <c:v>16.2821287893</c:v>
              </c:pt>
              <c:pt idx="3">
                <c:v>7.392147328559999</c:v>
              </c:pt>
              <c:pt idx="4">
                <c:v>5.79278421138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51515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9.xml><?xml version="1.0" encoding="utf-8"?>
<c:chartSpace xmlns:c="http://schemas.openxmlformats.org/drawingml/2006/chart">
  <c:lang val="en-US"/>
  <c:chart>
    <c:plotArea>
      <c:barChart>
        <c:barDir val="col"/>
        <c:grouping val="percent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0.10653569583443391</c:v>
              </c:pt>
              <c:pt idx="1">
                <c:v>0.10991646823607587</c:v>
              </c:pt>
              <c:pt idx="2">
                <c:v>0.0848630193444677</c:v>
              </c:pt>
              <c:pt idx="3">
                <c:v>0.07740982849218064</c:v>
              </c:pt>
              <c:pt idx="4">
                <c:v>0.09103059663746195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0A3B00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0.21343725017227638</c:v>
              </c:pt>
              <c:pt idx="1">
                <c:v>0.22405662204787577</c:v>
              </c:pt>
              <c:pt idx="2">
                <c:v>0.2697609794962622</c:v>
              </c:pt>
              <c:pt idx="3">
                <c:v>0.3697750125545281</c:v>
              </c:pt>
              <c:pt idx="4">
                <c:v>0.17205715364161575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EC7000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0.47291672681452995</c:v>
              </c:pt>
              <c:pt idx="1">
                <c:v>0.5308167798359323</c:v>
              </c:pt>
              <c:pt idx="2">
                <c:v>0.4924395294407706</c:v>
              </c:pt>
              <c:pt idx="3">
                <c:v>0.4118716829672241</c:v>
              </c:pt>
              <c:pt idx="4">
                <c:v>0.6444861102004874</c:v>
              </c:pt>
            </c:numLit>
          </c:val>
        </c:ser>
        <c:ser>
          <c:idx val="3"/>
          <c:order val="3"/>
          <c:tx>
            <c:v>Outros</c:v>
          </c:tx>
          <c:spPr>
            <a:solidFill xmlns:a="http://schemas.openxmlformats.org/drawingml/2006/main">
              <a:srgbClr val="D7DADD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0.20711032717875982</c:v>
              </c:pt>
              <c:pt idx="1">
                <c:v>0.13521012988011602</c:v>
              </c:pt>
              <c:pt idx="2">
                <c:v>0.1529364717184994</c:v>
              </c:pt>
              <c:pt idx="3">
                <c:v>0.14094347598606727</c:v>
              </c:pt>
              <c:pt idx="4">
                <c:v>0.0924261395204349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51515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50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 dos fundos · R$ bi</c:v>
          </c:tx>
          <c:spPr>
            <a:solidFill xmlns:a="http://schemas.openxmlformats.org/drawingml/2006/main">
              <a:srgbClr val="73787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EC700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0353A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7030A0"/>
              </a:solidFill>
            </c:spPr>
          </c:dPt>
          <c:cat>
            <c:strLit>
              <c:ptCount val="4"/>
              <c:pt idx="0">
                <c:v>Crédito PF*</c:v>
              </c:pt>
              <c:pt idx="1">
                <c:v>PJ / PF-PJ*</c:v>
              </c:pt>
              <c:pt idx="2">
                <c:v>Fomento Mercantil</c:v>
              </c:pt>
              <c:pt idx="3">
                <c:v>Multicedente / multisacado</c:v>
              </c:pt>
            </c:strLit>
          </c:cat>
          <c:val>
            <c:numLit>
              <c:formatCode>0.0</c:formatCode>
              <c:ptCount val="4"/>
              <c:pt idx="0">
                <c:v>39.1154211756</c:v>
              </c:pt>
              <c:pt idx="1">
                <c:v>14.61725605997</c:v>
              </c:pt>
              <c:pt idx="2">
                <c:v>88.39237477025999</c:v>
              </c:pt>
              <c:pt idx="3">
                <c:v>86.50477887798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5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Participação no PL ex-FIC</c:v>
          </c:tx>
          <c:spPr>
            <a:solidFill xmlns:a="http://schemas.openxmlformats.org/drawingml/2006/main">
              <a:srgbClr val="73787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EC700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0353A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7030A0"/>
              </a:solidFill>
            </c:spPr>
          </c:dPt>
          <c:cat>
            <c:strLit>
              <c:ptCount val="4"/>
              <c:pt idx="0">
                <c:v>Crédito PF*</c:v>
              </c:pt>
              <c:pt idx="1">
                <c:v>PJ / PF-PJ*</c:v>
              </c:pt>
              <c:pt idx="2">
                <c:v>Fomento Mercantil</c:v>
              </c:pt>
              <c:pt idx="3">
                <c:v>Multicedente / multisacado</c:v>
              </c:pt>
            </c:strLit>
          </c:cat>
          <c:val>
            <c:numLit>
              <c:formatCode>0.0%</c:formatCode>
              <c:ptCount val="4"/>
              <c:pt idx="0">
                <c:v>0.0476226586616451</c:v>
              </c:pt>
              <c:pt idx="1">
                <c:v>0.0177963722489085</c:v>
              </c:pt>
              <c:pt idx="2">
                <c:v>0.1076168878018412</c:v>
              </c:pt>
              <c:pt idx="3">
                <c:v>0.1053187574949828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0.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02FE5-BB8B-4D5D-892F-65A03134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2790C-C098-4727-9C02-FCDA1BFE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Indústria de FIDCs — ago-26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EB158-419A-4B36-9160-03D323DC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F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3C0E87-0F22-464A-BDEA-3ED8214D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Dados de referência: jun-26 · fechamento em 30 de junho de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48A6F-5686-45C6-BC03-D9D00566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022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E7E9E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7E9EB"/>
                </a:solidFill>
                <a:latin typeface="Arial"/>
                <a:ea typeface="Arial"/>
                <a:cs typeface="Arial"/>
              </a:rPr>
              <a:t>Ofertas CVM e comparativo ANBIMA até 30 de junho de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16B95-20DB-4CC0-A566-F98793F9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579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Itaú BBA · Agosto de 2026</a:t>
            </a:r>
          </a:p>
        </p:txBody>
      </p:sp>
    </p:spTree>
    <p:extLst>
      <p:ext uri="{BB962C8B-B14F-4D97-AF65-F5344CB8AC3E}">
        <p14:creationId xmlns:p14="http://schemas.microsoft.com/office/powerpoint/2010/main" val="17228041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172240-DDA3-43B8-86C3-203D5663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ESCALA DA INDÚSTRIA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1A5B0-4069-4381-83B3-4F940332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FIDCs ex-FIC somam R$ 821,0 bi; o crédito privado ampliado totaliza R$ 13,780 tri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7E9E1-461D-4D83-8A71-73D2E7F9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AB0C4-FF53-4460-ABC6-D815623E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7D035-41D2-4992-AB34-5CD0CA24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Fontes: CVM, Informe Mensal de FIDC (jun/26); BCB, SGS 28183–28192 (último mês comum: jun/26).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21330-2A42-4D96-B622-0ED7F349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3E509-16FB-45E2-A9E9-10C83FE6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66825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PL dos FIDCs ex-FIC · R$ bi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3112D2-6AD3-437A-B403-C882A097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33525"/>
            <a:ext cx="5191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523875" y="1571625"/>
          <a:ext xmlns:a="http://schemas.openxmlformats.org/drawingml/2006/main" cx="5286375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254a25e46846bd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4F3100-2EFD-420E-B36B-09187F53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6730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CAGR 2015–18 +16,7%   ·   2020/19 -9,0%   ·   2022/21 +22,1%   ·   2023/22 +25,1%   ·   2024/23 +44,0%   ·   2025/24 +18,5%   ·   2026 YTD +6,4%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639267-1A74-4763-8B9B-D97F9415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266825"/>
            <a:ext cx="547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Carteira de crédito privada ampliada · R$ bi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C28C16-7BA3-4D10-9FAD-B90796D4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533525"/>
            <a:ext cx="547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6048375" y="1571625"/>
          <a:ext xmlns:a="http://schemas.openxmlformats.org/drawingml/2006/main" cx="5572125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ffbdb5bc5240da"/>
          </a:graphicData>
        </a:graphic>
      </p:graphicFrame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6096000" y="4914900"/>
          <a:ext xmlns:a="http://schemas.openxmlformats.org/drawingml/2006/main" cx="5524500" cy="19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23b27d28cf4e69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CE4A6C-9654-431C-B83D-E24ED324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530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CAGR 2015–18 +1,6%   ·   2020/19 +16,0%   ·   2022/21 +10,9%   ·   2023/22 +7,6%   ·   2024/23 +17,9%   ·   2025/24 +8,0%   ·   2026 YTD +3,1%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62B59D-26C9-41FC-BCEF-8EA9B678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4355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95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Jun/26: total privado R$ 13,780 tri; securitização R$ 1.174 bi; carteira FIDC R$ 677 bi. O total BCB de R$ 21,681 tri inclui R$ 7.901 bi de títulos públicos e permanece no export para reconciliação.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895FC7-3EC2-4156-B7C6-AF203C2F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32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Banco Central do Brasil. Série de carteira de crédito ampliada, excluídos títulos públicos. Securitizações abertas entre FIDCs e demais securitizações (CRIs e CRAs). PL direto e carteira privada têm perímetros contábeis distintos.</a:t>
            </a:r>
          </a:p>
        </p:txBody>
      </p:sp>
    </p:spTree>
    <p:extLst>
      <p:ext uri="{BB962C8B-B14F-4D97-AF65-F5344CB8AC3E}">
        <p14:creationId xmlns:p14="http://schemas.microsoft.com/office/powerpoint/2010/main" val="19666890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D333F4-9B51-45DC-9DC6-48D9DC07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Emissões | FIDCs seguem ganhando escala nas emissões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991225-85F8-47A5-938A-0D0B9CF3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No 1S26, FIDCs +14,6%; demais instrumentos −7,8%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EC2D7-5E89-40EE-A050-038876EC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30B36-6420-46E1-81FD-DFFD69B9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50EF51-102E-4583-8552-8BF70FB9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CVM/SRE: R$ 65,5 bi registrado primário; ANBIMA: R$ 53,1 bi encerrado. Perímetros distintos; jan–jun/26, snapshot jun/26.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A2E035-85F4-43DC-825F-F3327937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F3CAA-F66B-46E7-88FB-9DD52915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FIDCs e demais instrumentos elegíveis · R$ bi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8E44D7-EE2C-4575-B870-6298EAC2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571500" y="1524000"/>
          <a:ext xmlns:a="http://schemas.openxmlformats.org/drawingml/2006/main" cx="5238750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19cb147fdf496f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496229-2245-4594-81AB-D72E8F54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573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Valor encerrado por instrumento · R$ bi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1CA7DE-7E05-45BF-99A8-5E931C92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6381750" y="1524000"/>
          <a:ext xmlns:a="http://schemas.openxmlformats.org/drawingml/2006/main" cx="5238750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f2f028327de45a1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31C354-78A6-4228-9C24-CFA9DDE3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48125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Crescimento por instrumento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669D05-BC7F-4AE0-9E64-949DE8A3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76725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4" name=""/>
          <p:cNvGraphicFramePr/>
          <p:nvPr/>
        </p:nvGraphicFramePr>
        <p:xfrm>
          <a:off xmlns:a="http://schemas.openxmlformats.org/drawingml/2006/main" x="2857500" y="4286250"/>
          <a:ext xmlns:a="http://schemas.openxmlformats.org/drawingml/2006/main" cx="6477000" cy="1743075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3429000"/>
                <a:gridCol w="1524000"/>
                <a:gridCol w="1524000"/>
              </a:tblGrid>
              <a:tr h="20002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Emissões por instrumento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2025 YoY %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1S26 YTD YoY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184547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007A3D"/>
                          </a:solidFill>
                          <a:latin typeface="Arial"/>
                          <a:ea typeface="Arial"/>
                          <a:cs typeface="Arial"/>
                        </a:rPr>
                        <a:t>+22,5%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007A3D"/>
                          </a:solidFill>
                          <a:latin typeface="Arial"/>
                          <a:ea typeface="Arial"/>
                          <a:cs typeface="Arial"/>
                        </a:rPr>
                        <a:t>+14,6%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184547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Demais Instr.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+4,4%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7A1F3D"/>
                          </a:solidFill>
                          <a:latin typeface="Arial"/>
                          <a:ea typeface="Arial"/>
                          <a:cs typeface="Arial"/>
                        </a:rPr>
                        <a:t>-7,8%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184547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Debêntures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-4,1%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-21,8%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84547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CRI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-5,8%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-18,4%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84547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Notas comerciais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+17,1%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-7,8%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84547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CRA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+12,8%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7A1F3D"/>
                          </a:solidFill>
                          <a:latin typeface="Arial"/>
                          <a:ea typeface="Arial"/>
                          <a:cs typeface="Arial"/>
                        </a:rPr>
                        <a:t>-44,5%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06931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61E9AB-3AAB-4D60-A962-0359578B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SALDO E TIPOS DE FIDCs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D8600-051A-44EB-A9B1-A9516BD2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Saldo e Tipos de FIDCs | Financeiros dominam saldo e novas emissões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B04F4-6FA2-421A-9C8A-6868027C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63DC9-A567-4D7D-8C16-93DFA0A1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FA90E-CFF1-47F3-BE28-1F26255E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Fontes: CVM, Informe Mensal (jun/26) e CVM/SRE, ofertas encerradas jan–jun/26. Outros emitidos: R$ 5,8 bi (9,2%).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893FC-6A38-45B2-9CDC-85DDAE61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9A593-2060-4D9A-9ED7-7335A4F8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Saldo ex-FIC · R$ bi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76576-5E4C-4742-80B6-5AF9ED4B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6" name="Chart"/>
          <p:cNvGraphicFramePr/>
          <p:nvPr/>
        </p:nvGraphicFramePr>
        <p:xfrm>
          <a:off xmlns:a="http://schemas.openxmlformats.org/drawingml/2006/main" x="571500" y="1495425"/>
          <a:ext xmlns:a="http://schemas.openxmlformats.org/drawingml/2006/main" cx="52387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f39789bc65d409b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45B6F-20C4-49D6-9BC3-5A08A966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573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Participação no saldo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39082C-861F-45DD-83A8-65F6FBDB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859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9" name="Chart"/>
          <p:cNvGraphicFramePr/>
          <p:nvPr/>
        </p:nvGraphicFramePr>
        <p:xfrm>
          <a:off xmlns:a="http://schemas.openxmlformats.org/drawingml/2006/main" x="6381750" y="1495425"/>
          <a:ext xmlns:a="http://schemas.openxmlformats.org/drawingml/2006/main" cx="52387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ac1c014f5a42ed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61F68-14C2-42D0-B53D-006B46FD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8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9FBE62-BD10-4639-B789-B1FD4768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Fomento Mercantil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0D87BE-32AB-4612-B3E5-E0C2CC50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3A7B0F-BD5F-4803-96B6-EB1A7027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Agro, Indústria e Comércio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40C4AB-E80B-419B-ABEB-BBD76BA6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9078F1-5E06-47BD-AE40-CC0BC454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Financeiro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EAED78-5235-4223-A570-3669391C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721392-2C47-427A-9F53-8C9A2495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Precatórios / ações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BE602E-0B58-437A-A3DA-BE9D600F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331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5063EB-9E03-4318-9F56-22CEBDC1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997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Multicedente / multisacado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BD86D3-B894-4005-BAD6-19F0FBEB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4331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D7763B-CD4E-488C-8F18-459E63FA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0997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Recuperação / NP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56C7A7-6C8D-494B-BE67-899C8D22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4331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8378BB-CD34-4835-9D88-6C8E74D1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0997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N/D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635A71-6306-4A65-A146-C1F77DC6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Novas emissões por setor · R$ bi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E147FD-66EE-4C7C-BEB8-AFC7FC59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576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66" name="Chart"/>
          <p:cNvGraphicFramePr/>
          <p:nvPr/>
        </p:nvGraphicFramePr>
        <p:xfrm>
          <a:off xmlns:a="http://schemas.openxmlformats.org/drawingml/2006/main" x="571500" y="4067175"/>
          <a:ext xmlns:a="http://schemas.openxmlformats.org/drawingml/2006/main" cx="523875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2bb4a63af564149"/>
          </a:graphicData>
        </a:graphic>
      </p:graphicFrame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AE2C19-A79F-4F3D-9BCA-DB4B4969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290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Novas emissões por setor · 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0FD437-ED88-4E7C-A48E-39E4EEB9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576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69" name="Chart"/>
          <p:cNvGraphicFramePr/>
          <p:nvPr/>
        </p:nvGraphicFramePr>
        <p:xfrm>
          <a:off xmlns:a="http://schemas.openxmlformats.org/drawingml/2006/main" x="6381750" y="4067175"/>
          <a:ext xmlns:a="http://schemas.openxmlformats.org/drawingml/2006/main" cx="523875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401586bd95d4ecc"/>
          </a:graphicData>
        </a:graphic>
      </p:graphicFrame>
    </p:spTree>
    <p:extLst>
      <p:ext uri="{BB962C8B-B14F-4D97-AF65-F5344CB8AC3E}">
        <p14:creationId xmlns:p14="http://schemas.microsoft.com/office/powerpoint/2010/main" val="9489900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62EA3B-7A86-4D48-9D99-62CAE42E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EMISSÕES POR CATEGORIA ANBIMA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5D2C7-503D-4633-9F20-41677F31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Emissões por setor | Financeiro respondeu por 64,4% do volume no 1S26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077521-05DA-4BA6-B486-2F421225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2B750-955B-4530-A00A-1761BB8D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ABD34E-5762-4587-B040-5439D1D2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CVM/SRE; FIDCs 2023 corrigidos pelo valor encerrado ANBIMA. Quatro tipos + FIC-FIDC reconciliam com o volume emitido.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277E6-7D2A-41A0-8983-DA52E6F7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EF326-DDA2-4670-B7B9-772767F8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Emissões por setor · R$ bi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C33C13-4A5F-401B-9D4B-722C83E2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571500" y="1562100"/>
          <a:ext xmlns:a="http://schemas.openxmlformats.org/drawingml/2006/main" cx="5238750" cy="1857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0e8f404291849fc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402148-8AD4-4902-BF93-C1C58AB9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573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Emissões por setor · % do total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C6F6A0-8024-4B30-8581-10D1F28A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6381750" y="1562100"/>
          <a:ext xmlns:a="http://schemas.openxmlformats.org/drawingml/2006/main" cx="5238750" cy="1857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7e91c8dfcc84f1f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1074BF-B3CA-44B7-A102-58AD8403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62350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Emissões por categoria ANBIMA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A09905-DBC4-4464-8132-317C0AC9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719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571500" y="3810000"/>
          <a:ext xmlns:a="http://schemas.openxmlformats.org/drawingml/2006/main" cx="11049000" cy="20383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2190750"/>
                <a:gridCol w="1000125"/>
                <a:gridCol w="1000125"/>
                <a:gridCol w="1000125"/>
                <a:gridCol w="1000125"/>
                <a:gridCol w="1000125"/>
                <a:gridCol w="1524000"/>
                <a:gridCol w="2333625"/>
              </a:tblGrid>
              <a:tr h="21431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Categoria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2023</a:t>
                      </a:r>
                    </a:p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2024</a:t>
                      </a:r>
                    </a:p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2025</a:t>
                      </a:r>
                    </a:p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1S25</a:t>
                      </a:r>
                    </a:p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1S26</a:t>
                      </a:r>
                    </a:p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1S26</a:t>
                      </a:r>
                    </a:p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%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1S26 YoY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26289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Fomento Mercantil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9,7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9,0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9,1%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007A3D"/>
                          </a:solidFill>
                          <a:latin typeface="Arial"/>
                          <a:ea typeface="Arial"/>
                          <a:cs typeface="Arial"/>
                        </a:rPr>
                        <a:t>+40,5%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Agro, Indústria e Comércio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8,7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19,8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28,7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19,4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10,8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17,2%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7A1F3D"/>
                          </a:solidFill>
                          <a:latin typeface="Arial"/>
                          <a:ea typeface="Arial"/>
                          <a:cs typeface="Arial"/>
                        </a:rPr>
                        <a:t>-44,4%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6289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Financeiro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19,3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46,9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52,4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21,6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40,4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64,4%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007A3D"/>
                          </a:solidFill>
                          <a:latin typeface="Arial"/>
                          <a:ea typeface="Arial"/>
                          <a:cs typeface="Arial"/>
                        </a:rPr>
                        <a:t>+87,0%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Outros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8,5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12,0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16,3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7,4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9,2%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7A1F3D"/>
                          </a:solidFill>
                          <a:latin typeface="Arial"/>
                          <a:ea typeface="Arial"/>
                          <a:cs typeface="Arial"/>
                        </a:rPr>
                        <a:t>-21,6%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6289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Total emitido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43,7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95,4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116,9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57,2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65,5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100,0%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+14,6%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487728-7880-4166-B27D-0F3C5D56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6AD8A5-395E-4CA7-A78D-7D531609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1078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CARTEIRA I · 0 CNPJs oficiais em Outros somam R$ 0,0 bi; o ledger os redistribui em 5 Agro e 1 Financeiro. Nas emissões, Outros permanece positivo: R$ 5,8 bi no 1S26.</a:t>
            </a:r>
          </a:p>
        </p:txBody>
      </p:sp>
    </p:spTree>
    <p:extLst>
      <p:ext uri="{BB962C8B-B14F-4D97-AF65-F5344CB8AC3E}">
        <p14:creationId xmlns:p14="http://schemas.microsoft.com/office/powerpoint/2010/main" val="17936461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11A4CD-7953-411E-B38F-87B6D9A3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Abrir "Outros" revela que 63% do mercado é crédito financeiro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C7551-676A-4BA6-8A9B-3268939E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Financeiro somado aos componentes de Outros, jun/26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90392-E887-49D6-B78B-F97196AF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CD366-A081-4A0C-8744-0702D6D0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981E7-20BC-46C8-B106-B1CFB5A1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ANBIMA Data (Tipo/Foco, dez/25), Informe Mensal CVM (jun/26) e ledger documental aprovado; classificação oficial preservada no workbook.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DF20B-3693-43CD-B2B3-20EF7E66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B0A5D-F366-41BD-BB8F-840DC880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PL ex-FIC · R$ bilhões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02A2D-8B60-4B2E-8BB7-73B32FCE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47825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52387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9f3ba68af524b53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E966C-90A1-4B2C-ADD9-72D8F25F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Participação no PL ex-FIC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561D7D-92AA-48F1-9537-12314A2F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47825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6381750" y="1762125"/>
          <a:ext xmlns:a="http://schemas.openxmlformats.org/drawingml/2006/main" cx="52387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8bb6f3b04345d3"/>
          </a:graphicData>
        </a:graphic>
      </p:graphicFrame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857250" y="5219700"/>
          <a:ext xmlns:a="http://schemas.openxmlformats.org/drawingml/2006/main" cx="10477500" cy="428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fef506028b4c40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D7B953-1C3C-4356-B72E-FF3B861B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Os sete blocos somam R$ 821,4 bi e fecham 100% do PL ex-FIC de jun/26.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71E68-8363-4785-A8E5-59F94F82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Rótulos de exibição: Poder Público → Precatórios e/ou Ações Judiciais; Multicarteira Outros e Multicedente/Multissacado → Multicedente/Multisacado; Recuperação → Recuperação / FIDCs NP. Recuperação e N/D ficam detalhados no workbook para evitar sobreposição.</a:t>
            </a:r>
          </a:p>
        </p:txBody>
      </p:sp>
    </p:spTree>
    <p:extLst>
      <p:ext uri="{BB962C8B-B14F-4D97-AF65-F5344CB8AC3E}">
        <p14:creationId xmlns:p14="http://schemas.microsoft.com/office/powerpoint/2010/main" val="15215106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56E8CA-222B-4C07-8E62-CA4D2C11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Adquirência é R$ 99 bi que a taxonomia oficial não mostra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571A19-44B7-44D9-9F3E-C196A3D4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33 CNPJs reclassificados, 12,1% do PL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53BC9C-D776-4083-B4D1-636D1705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0A059-C011-450E-9894-0321DA93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CE9BD-71CD-47F4-B5EE-B644671B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Informe Mensal e regulamentos no FundosNet. Curadoria em 21/jul/26; a categoria CVM original permanece preservada.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EE8B31-3EF3-41FB-9508-CE860D5F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2445A-E133-43C4-8C5B-66DCAD47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PL ex-FIC · R$ bi · dez/23 → jun/26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B4500F-E15E-4BDE-9287-43CBEDCA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52387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3339c27e6c8416f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2EBB07-1CC9-42C3-BEFB-8936A759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% do PL ex-FIC · dez/23 → jun/26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DD542-AD8C-44A3-AF88-83BD4918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954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381750" y="1762125"/>
          <a:ext xmlns:a="http://schemas.openxmlformats.org/drawingml/2006/main" cx="52387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6d38127d6df4360"/>
          </a:graphicData>
        </a:graphic>
      </p:graphicFrame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8858250" y="1200150"/>
          <a:ext xmlns:a="http://schemas.openxmlformats.org/drawingml/2006/main" cx="2762250" cy="20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1d0ceb5d4b4ea4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4E422E-7847-4281-A82A-FEDB4EC7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Bucket Cartão: 26 incluídos, 17 fora e 4 pendentes. Em jun/26, 31 dos 33 CNPJs selecionados têm reporte ativo; 2 não reportam.</a:t>
            </a:r>
          </a:p>
        </p:txBody>
      </p:sp>
    </p:spTree>
    <p:extLst>
      <p:ext uri="{BB962C8B-B14F-4D97-AF65-F5344CB8AC3E}">
        <p14:creationId xmlns:p14="http://schemas.microsoft.com/office/powerpoint/2010/main" val="10531814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795EF6-D473-44ED-94A4-896601C1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Financeiro explicou 70% do crescimento da carteira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74BE7-F485-4249-8758-28770AA6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Ganho de 17,5 p.p. de participação no período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125623-58E4-4871-8F61-05040DB2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21E649-B5A0-4D1E-BC74-BD7B85F3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B011A0-E01D-45D5-B48D-0C18EE06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Informe Mensal, Tabela II; dez/23 e jun/26. Percentuais sobre a soma dos segmentos reportados; contribuição = Δ Financeiro / Δ total líquido.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7CFAC-6B55-4D53-A3EC-69FFEF0F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42261-83C7-45A1-98BD-8A3C31B5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Valor reportado · R$ bi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778257-C720-41D8-9903-F1F725A0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571500" y="1743075"/>
          <a:ext xmlns:a="http://schemas.openxmlformats.org/drawingml/2006/main" cx="5238750" cy="4238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f90bb0e9ca244f2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565DE-D1C1-45B9-B3C6-226DF1E5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% do valor segmentado da tabela II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3C89CD-333E-4080-A9F0-3CC27C59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954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6381750" y="1743075"/>
          <a:ext xmlns:a="http://schemas.openxmlformats.org/drawingml/2006/main" cx="5238750" cy="4238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04b47060c34f38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CAF52-8F93-45E7-A3EE-B5C386D1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150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FC1019-2EAF-495D-980E-F799FFA6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48375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Diferença Tabela II − Tabela I: R$ 51,7 bi em dez/23 e R$ 60,4 bi em jun/26. Em jun/26, 0 fundos sem abertura (R$ 0,0 bi de PL); Top 20 explicam 40,5% do gap positivo.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9239250" y="1219200"/>
          <a:ext xmlns:a="http://schemas.openxmlformats.org/drawingml/2006/main" cx="2381250" cy="20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e6cd9578d3419c"/>
          </a:graphicData>
        </a:graphic>
      </p:graphicFrame>
    </p:spTree>
    <p:extLst>
      <p:ext uri="{BB962C8B-B14F-4D97-AF65-F5344CB8AC3E}">
        <p14:creationId xmlns:p14="http://schemas.microsoft.com/office/powerpoint/2010/main" val="10248593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89462D-05C6-4D0F-B0A7-8AC5BC1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RANKING · TOP 20 FIDCs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19639-5693-42A1-B4CD-2B8A23A0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Top 20 somam 27,5% do PL ex-FIC; Petrobras e TAPSO são 45,5% do bloco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A571B-EF63-498C-A251-EB28479F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4C89F-87A5-4C85-8859-8B16A12B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5CCC4-E6D9-44E1-B07F-8F03D44C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ANBIMA, ledger analítico e base Carteira 101, jun/26. * = cadastro conferido; N/D = originador/cedente não localizado.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E10B0-39F6-4078-BD30-B798F535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5429250" cy="4429125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2047875"/>
                <a:gridCol w="666750"/>
                <a:gridCol w="619125"/>
                <a:gridCol w="1809750"/>
              </a:tblGrid>
              <a:tr h="15716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Fundo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PL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Share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Originador / cedente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FIDC Sistema Petrobras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61,3 bi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7,5%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TAPSO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41,5 bi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5,1%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Stone*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PAN Auto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18,0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2,2%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CloudWalk Bela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10,0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1,2%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Cloudwalk*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MT Global · Consignado Privado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9,4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1,1%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MeuTudo*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Itaú Crédito Privado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8,7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1,1%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BTG Consignados II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8,0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Banco Pan*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Aetos Energia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7,4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0,9%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Cielo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6,5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0,8%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Cielo*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Rio Vermelho NP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6,4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0,8%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"/>
          <p:cNvGraphicFramePr/>
          <p:nvPr/>
        </p:nvGraphicFramePr>
        <p:xfrm>
          <a:off xmlns:a="http://schemas.openxmlformats.org/drawingml/2006/main" x="6191250" y="1428750"/>
          <a:ext xmlns:a="http://schemas.openxmlformats.org/drawingml/2006/main" cx="5429250" cy="4429125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2047875"/>
                <a:gridCol w="666750"/>
                <a:gridCol w="619125"/>
                <a:gridCol w="1809750"/>
              </a:tblGrid>
              <a:tr h="15716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Fundo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PL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Share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Originador / cedente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PagSeguro 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6,2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0,8%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PagBank · C: PagSeguro*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BTG Consignados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6,0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0,7%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Banco Pan*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Alternative Assets III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5,9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0,7%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Monee 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5,8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0,7%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Shopee*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PicPay 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4,8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0,6%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PicPay*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Marobá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4,5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0,5%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Itaú BBA*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Venda de Veículos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4,2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0,5%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Nissan, Renault e Geely*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Day Maxx 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4,0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0,5%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ACR BEM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3,7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0,4%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Stone*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HAVAN ECONÔMICO, FINANCEIRO E COMERCIAL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3,7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0,4%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Havan*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416090-9BBA-4212-B618-D2367369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* Cadastro conferido na base Carteira 101; o dado documental permanece prioritário. N/D não é inferido pelo nome do fundo.</a:t>
            </a:r>
          </a:p>
        </p:txBody>
      </p:sp>
    </p:spTree>
    <p:extLst>
      <p:ext uri="{BB962C8B-B14F-4D97-AF65-F5344CB8AC3E}">
        <p14:creationId xmlns:p14="http://schemas.microsoft.com/office/powerpoint/2010/main" val="4340291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4C252E-F477-4CBC-AF7D-3434D6C5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Fomento Mercantil: crescimento marginal em seis meses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86AEE-3E69-4A14-B9BD-10C6C4DC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Top 15 vai de R$ 30,4 bi a R$ 31,9 bi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BA02F-DD2C-459A-B984-CCC7A81E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4D25E-1AA0-48CB-9E90-87512808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07A8A0-2E29-49AA-838D-DCAC87BC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jun/26 · Top 15: R$ 27,4 bi. Comparação: R$ 26,7 bi em dez/25 e R$ 27,4 bi em jun/26.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61F7E7-F6AF-458F-B0EA-4BF79434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3C46A-0BC8-433C-A3C1-094A5372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jun/26 · Top 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D1DB28-6E90-4F43-A687-CC005BF8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571500" y="1438275"/>
          <a:ext xmlns:a="http://schemas.openxmlformats.org/drawingml/2006/main" cx="11049000" cy="42862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1857375"/>
                <a:gridCol w="1285875"/>
                <a:gridCol w="2095500"/>
                <a:gridCol w="952500"/>
                <a:gridCol w="2047875"/>
                <a:gridCol w="1762125"/>
                <a:gridCol w="762000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 / originador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Remuneração-alvo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DAY MAXX 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34197588000137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CDI+1,50% · 6 séries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PF/PJ/entes púb.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4,02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ATLANTA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11468186000124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Jr. 50%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3,09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CITY - 02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32321307000180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2,71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EUV SP1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44229197000100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2,18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MULTIPLICA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23216398000101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QI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CDI+4,10% · 4 séries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1,99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IOX II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24504464000101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CDI+6,75% · 2 séries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1,89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NÃO-PADRONIZADOS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12428086000137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PARANAPANEMA S.A - EM +2 ent.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103% CDI · 7 séries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1,63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CF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23200289000198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1,48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ALDEBARAN II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57833038000162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Estrut. 3%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1,48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SIFRA STAR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14166140000149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CDI+3,90% · 2 séries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1,28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NAGOYA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63465818000108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Devedor/endossador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1,25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SIFRA PLUS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08678936000188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CDI+3,60% · 2 séries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1,23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MULTIPLIKE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29469420000101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Multiplike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CDI+4,50% · 2 séries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1,18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IOX 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19388423000159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Estrut. 33%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CDI+6,0% · 19 séries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Devedores PF/PJ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CLIENTES BRF II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52720932000102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BRF S.A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CDI+3,00% · 3 séries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0,97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519DCE-7BBC-416D-B6D2-EC866FE3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104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5715">
            <a:solidFill>
              <a:srgbClr val="D7DA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7B9CBB-5BFD-43DD-A698-89A9132D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896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Prêmio de remuneração Mz.–Sr. · mesmo fundo e corte · base dos slides 10–17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A98A06-E885-49EC-86CA-240F5EC5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43600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N=20 fundo-corte · mediana +100 bps · faixa +50–300 bps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EA576C-745A-4BEE-81B7-68CE640F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104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C/O = cedente/originador; +N ent./séries = itens adicionais; comb./total = natureza do mínimo; * = complemento manual; N/D = lacuna. Texto integral: Auditoria emissões.</a:t>
            </a:r>
          </a:p>
        </p:txBody>
      </p:sp>
    </p:spTree>
    <p:extLst>
      <p:ext uri="{BB962C8B-B14F-4D97-AF65-F5344CB8AC3E}">
        <p14:creationId xmlns:p14="http://schemas.microsoft.com/office/powerpoint/2010/main" val="3919681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3126A1-AB90-4ED6-BB9E-7E4D17ED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Fomento Mercantil: crescimento marginal em seis meses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2C0CD-E950-4E78-8283-E370440C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Top 15 vai de R$ 30,4 bi a R$ 31,9 bi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D93AE-46CD-49F7-B624-ED13C8C2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75145-CF70-407E-A1D5-F33C0921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7799A0-B8A9-4167-BBE7-A9A87472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dez/25 · Top 15: R$ 26,7 bi. Comparação: R$ 26,7 bi em dez/25 e R$ 27,4 bi em jun/26.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9377BE-D45A-48E8-80A5-77AE41AE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B0DB4-E33D-4993-8BA6-767C9290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dez/25 · Top 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E2A893-2077-4CDA-AAD9-E720EA94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571500" y="1438275"/>
          <a:ext xmlns:a="http://schemas.openxmlformats.org/drawingml/2006/main" cx="11049000" cy="42862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1857375"/>
                <a:gridCol w="1285875"/>
                <a:gridCol w="2095500"/>
                <a:gridCol w="952500"/>
                <a:gridCol w="2047875"/>
                <a:gridCol w="1762125"/>
                <a:gridCol w="762000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 / originador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Remuneração-alvo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DAY MAXX 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34197588000137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CDI+1,50% · 6 séries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PF/PJ/entes púb.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4,03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ATLANTA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11468186000124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Jr. 50%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2,92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CITY - 02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32321307000180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2,58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EUV SP1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44229197000100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2,06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RHODONITE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41776416000183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1,88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MULTIPLICA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23216398000101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QI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CDI+4,10% · 4 séries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1,67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CF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23200289000198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1,66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ALDEBARAN II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57833038000162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Estrut. 3%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1,46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NÃO-PADRONIZADOS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12428086000137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PARANAPANEMA S.A - EM +2 ent.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103% CDI · 7 séries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1,43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MULTIPLIKE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29469420000101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Multiplike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CDI+4,50% · 2 séries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1,30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SIFRA STAR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14166140000149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CDI+3,90% · 2 séries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1,27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IOX II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24504464000101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CDI+6,75% · 2 séries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1,27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NAGOYA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63465818000108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Devedor/endossador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1,14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SIFRA PLUS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08678936000188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CDI+3,60% · 2 séries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9549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CLIENTES BRF II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52720932000102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BRF S.A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CDI+3,00% · 3 séries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0,97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C2D678-9C00-4356-98DF-324E0128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104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5715">
            <a:solidFill>
              <a:srgbClr val="D7DA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E0FA01-AD6E-43A5-AFAF-0A683238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896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Movimento semestral · mesma classe e CNPJ · amostra casada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240ADF-FE33-412B-81ED-66EC00B1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43600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N=22 fundo-classe · 1 mudança · SIFRA PLUS Sênior −50 bps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D501C0-DAEC-4F4F-B416-ED1ED9F2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104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C/O = cedente/originador; +N ent./séries = itens adicionais; comb./total = natureza do mínimo; * = complemento manual; N/D = lacuna. Texto integral: Auditoria emissões.</a:t>
            </a:r>
          </a:p>
        </p:txBody>
      </p:sp>
    </p:spTree>
    <p:extLst>
      <p:ext uri="{BB962C8B-B14F-4D97-AF65-F5344CB8AC3E}">
        <p14:creationId xmlns:p14="http://schemas.microsoft.com/office/powerpoint/2010/main" val="14085846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211E89-9E54-48FE-A349-266A6690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Agro, Indústria e Comércio: o maior salto absoluto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C89A3-F861-4D00-A112-39B1E077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Top 15 sobe R$ 18,2 bi, para R$ 112,2 bi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1A2A0-3B94-4DFE-B926-967B20E6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6356F-EEEE-4EB2-8EC6-93AA4B6C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9479D0-C927-47B1-B4CE-9086F3D2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jun/26 · Top 15: R$ 102,0 bi. Comparação: R$ 98,4 bi em dez/25 e R$ 102,0 bi em jun/26.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AC6A1-57E2-4FFB-9A12-DA86A1FB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B18B4-98FE-4A8F-8FE7-300BCDA4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jun/26 · Top 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C9DBF-33CF-4523-8C69-D67EA5E7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571500" y="1438275"/>
          <a:ext xmlns:a="http://schemas.openxmlformats.org/drawingml/2006/main" cx="11049000" cy="47053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1857375"/>
                <a:gridCol w="1285875"/>
                <a:gridCol w="2095500"/>
                <a:gridCol w="952500"/>
                <a:gridCol w="2047875"/>
                <a:gridCol w="1762125"/>
                <a:gridCol w="762000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 / originador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Remuneração-alvo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Sistema Petrobras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09195235000150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Petrobras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Clientes PJ cedentes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61,25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AETOS ENERGIA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52610624000124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BRF Energia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Compradores energia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7,35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VENDA DE VEÍCULOS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21126275000146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Renault +1 ent. · O: RCI*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4,24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OCCAM CRÉDITO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48349509000170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3,47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COMERCIAIS MEDICI 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62393829000159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CARGILL AGRICOLA S A +8 ent.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BRF*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3,09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FIDC GM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11230727000181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GM Brasil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2,98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GAZIN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29492605000129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Gazin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Jr. 51%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2,49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VITA AUTO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50095909000149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Stellantis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40% do CDI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2,49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59356753000187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Âmbar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2,46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AGRO FLEX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47228232000165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Syngenta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Coop./fornec./rev.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2,35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EB VESTA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40801446000130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2,20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HYUNDAI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52651831000127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Hyundai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2,19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IBCB-AF01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53300525000109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WHIRLPOOL S.A +1 ent.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Grupo Casas Bahia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1,91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AUTO-HONDA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28279473000199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Honda Brasil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85% do CDI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1,84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Caterpillar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05754060000113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Caterpillar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1,67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51CC8C-FADA-4FD6-AA84-72551729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104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C/O = cedente/originador; +N ent./séries = itens adicionais; comb./total = natureza do mínimo; * = complemento manual; N/D = lacuna. Texto integral: Auditoria emissões.</a:t>
            </a:r>
          </a:p>
        </p:txBody>
      </p:sp>
    </p:spTree>
    <p:extLst>
      <p:ext uri="{BB962C8B-B14F-4D97-AF65-F5344CB8AC3E}">
        <p14:creationId xmlns:p14="http://schemas.microsoft.com/office/powerpoint/2010/main" val="4062373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5CE2A6-DC7B-4BF3-A3FA-293F9BDE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Agro, Indústria e Comércio: o maior salto absoluto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37D3F-B347-4B80-9AF9-CA55CCBE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Top 15 sobe R$ 18,2 bi, para R$ 112,2 bi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75BDE-13F5-4573-B216-A435AA2A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5A8E8-C80B-4C4A-9D74-35F55101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43032-A64D-41C1-A9F2-05C27DC1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dez/25 · Top 15: R$ 98,4 bi. Comparação: R$ 98,4 bi em dez/25 e R$ 102,0 bi em jun/26.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612D0-13BA-4000-86DE-0B225DD0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6B00B7-4FDD-4986-BFDB-697973CF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dez/25 · Top 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F77AE0-B0D2-4187-A626-3D2836BE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571500" y="1438275"/>
          <a:ext xmlns:a="http://schemas.openxmlformats.org/drawingml/2006/main" cx="11049000" cy="47053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1857375"/>
                <a:gridCol w="1285875"/>
                <a:gridCol w="2095500"/>
                <a:gridCol w="952500"/>
                <a:gridCol w="2047875"/>
                <a:gridCol w="1762125"/>
                <a:gridCol w="762000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 / originador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Remuneração-alvo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Sistema Petrobras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09195235000150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Petrobras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Clientes PJ cedentes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61,56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AETOS ENERGIA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52610624000124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BRF Energia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Compradores energia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6,64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VENDA DE VEÍCULOS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21126275000146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Renault +1 ent. · O: RCI*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3,77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AGRO FLEX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47228232000165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Syngenta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Coop./fornec./rev.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3,06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OCCAM CRÉDITO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48349509000170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3,05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FIDC GM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11230727000181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GM Brasil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3,02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59356753000187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Âmbar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2,33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VITA AUTO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50095909000149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Stellantis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40% do CDI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2,22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COMERCIAIS MEDICI 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62393829000159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CARGILL AGRICOLA S A +8 ent.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BRF*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2,05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HYUNDAI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52651831000127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Hyundai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2,03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FRANQUIAS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09217024000171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2,00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CLASSE ÚNICA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34218864000104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1,80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AUTO-HONDA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28279473000199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Honda Brasil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85% do CDI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1,68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GAZIN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29492605000129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Gazin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Jr. 51%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1,62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EB VESTA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40801446000130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1,55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D98BE6-6E63-4197-8CD4-1E9E7E3C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104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C/O = cedente/originador; +N ent./séries = itens adicionais; comb./total = natureza do mínimo; * = complemento manual; N/D = lacuna. Texto integral: Auditoria emissões.</a:t>
            </a:r>
          </a:p>
        </p:txBody>
      </p:sp>
    </p:spTree>
    <p:extLst>
      <p:ext uri="{BB962C8B-B14F-4D97-AF65-F5344CB8AC3E}">
        <p14:creationId xmlns:p14="http://schemas.microsoft.com/office/powerpoint/2010/main" val="18942869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7530CA-D8E5-45CA-954C-E433D755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Financeiro: o maior bloco, e ainda crescendo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8D54A8-C1A5-4AF7-96C6-85E78F10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Top 15 vai a R$ 121,1 bi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38464-D9B2-4DEE-94F5-13CE6CC4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D2492-0841-47FB-888D-884216B5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03B4A-BCC4-4189-A784-E9703676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jun/26 · Top 15: R$ 120,0 bi. Comparação: R$ 105,2 bi em dez/25 e R$ 120,0 bi em jun/26.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A6FC8B-F5F4-48F2-B175-7446FE70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4F3FB3-BDB2-4CF3-A75F-8903807F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jun/26 · Top 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D756F-090C-4ED3-8C72-945D12A1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571500" y="1438275"/>
          <a:ext xmlns:a="http://schemas.openxmlformats.org/drawingml/2006/main" cx="11049000" cy="47053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1857375"/>
                <a:gridCol w="1285875"/>
                <a:gridCol w="2095500"/>
                <a:gridCol w="952500"/>
                <a:gridCol w="2047875"/>
                <a:gridCol w="1762125"/>
                <a:gridCol w="762000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 / originador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Remuneração-alvo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TAPSO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26287464000114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Stone/Pagar.me · O: Stone*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CDI+2,10%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Stone/Pagar.me/adq.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41,50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CLOUDWALK BELA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62393679000183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CloudWalk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1,0%→2,5%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CDI+1,35% · 3 séries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Emissores/IPs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10,01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MT Consignado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63953619000130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Parati Crédito · O: MeuTudo*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Empregados CLT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9,41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BTG Consignados II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52242420000188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Banco Pan*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PF · INSS/Aux./FGTS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8,03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CIELO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26286939000158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Cielo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Cielo (adquirente)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6,48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PAGSEGURO 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28169275000172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PagSeguro · O: PagBank*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Jr. 50%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CDI+1,85%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PagSeguro (devedor)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6,23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BTG Consignados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50906397000153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Banco Pan*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PF · INSS/FGTS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6,01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MONEE 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42922136000107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MAREE +2 ent. · O: SHPP Brasil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Tomadores PF/PJ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5,75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PICPAY 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32527650000186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PicPay IP · O: PicPay*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PicPay (pagador)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4,76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Marobá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61285603000171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Itaú BBA*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4,47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ACR Bem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54979779000168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Stone IP · O: Stone*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3,68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Havan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12817329000129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Havan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3,67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Seller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50473039000102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Estab./M.Cred. · O: Mercado Pago*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10,0%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Mercado Pago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3,66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CloudWalk PI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60356171000180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CloudWalk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2,5%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CDI+1,70% · 4 séries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Bancos/IPs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3,25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VTK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62588266000154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Facta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Jr. 5%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3,09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D32229-F32E-46F1-94FF-FB0617AA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104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C/O = cedente/originador; +N ent./séries = itens adicionais; comb./total = natureza do mínimo; * = complemento manual; N/D = lacuna. Texto integral: Auditoria emissões.</a:t>
            </a:r>
          </a:p>
        </p:txBody>
      </p:sp>
    </p:spTree>
    <p:extLst>
      <p:ext uri="{BB962C8B-B14F-4D97-AF65-F5344CB8AC3E}">
        <p14:creationId xmlns:p14="http://schemas.microsoft.com/office/powerpoint/2010/main" val="120529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7D5151-4E64-454A-9574-E3EFED6E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Financeiro: o maior bloco, e ainda crescendo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8DC94-987D-4235-AEA6-4BE28F50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Top 15 vai a R$ 121,1 bi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4B3FB-EDC8-4036-AEC4-93A05A4D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9223B6-2D6D-4101-83C9-D9EEE190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0D7F1-239E-4286-B995-0E6464B6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dez/25 · Top 15: R$ 105,2 bi. Comparação: R$ 105,2 bi em dez/25 e R$ 120,0 bi em jun/26.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D5212-BB3B-4728-871D-03B31C4E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110801-A7ED-4710-A329-E590E14F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dez/25 · Top 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D4343A-0FBC-445C-89EC-D96D9FD9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571500" y="1438275"/>
          <a:ext xmlns:a="http://schemas.openxmlformats.org/drawingml/2006/main" cx="11049000" cy="47053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1857375"/>
                <a:gridCol w="1285875"/>
                <a:gridCol w="2095500"/>
                <a:gridCol w="952500"/>
                <a:gridCol w="2047875"/>
                <a:gridCol w="1762125"/>
                <a:gridCol w="762000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 / originador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Remuneração-alvo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TAPSO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26287464000114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Stone/Pagar.me · O: Stone*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CDI+2,10%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Stone/Pagar.me/adq.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36,63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BTG Consignados II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52242420000188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Banco Pan*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PF · INSS/Aux./FGTS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9,05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ALEPO NÃO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36886028000115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8,75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CIELO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26286939000158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Cielo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Cielo (adquirente)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8,07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PAGSEGURO 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28169275000172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PagSeguro · O: PagBank*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Jr. 50%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CDI+1,85%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PagSeguro (devedor)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5,34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PICPAY 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32527650000186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PicPay IP · O: PicPay*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PicPay (pagador)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4,68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Seller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50473039000102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Estab./M.Cred. · O: Mercado Pago*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10,0%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Mercado Pago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4,68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CLOUDWALK BELA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62393679000183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CloudWalk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1,0%→2,5%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DI+0,75%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Emissores/IPs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4,36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MT CONSIGNADO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60010416000112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Parati Crédito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3,99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ACR Bem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54979779000168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Stone IP · O: Stone*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3,68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MONEE 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42922136000107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MAREE +2 ent. · O: SHPP Brasil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Tomadores PF/PJ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3,54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Havan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12817329000129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Havan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3,44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CloudWalk PI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60356171000180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CloudWalk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2,5%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CDI+1,70% · 4 séries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Bancos/IPs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3,25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FIDC SANTANDER AUTO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63662224000189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Santander SCFI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3,01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CLOUDWALK A.I.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57609282000146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CloudWalk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CDI+3,85% · 2 séries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Bancos/IPs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2,70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AA66E4-25C1-40E3-B7CC-C785557B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104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C/O = cedente/originador; +N ent./séries = itens adicionais; comb./total = natureza do mínimo; * = complemento manual; N/D = lacuna. Texto integral: Auditoria emissões.</a:t>
            </a:r>
          </a:p>
        </p:txBody>
      </p:sp>
    </p:spTree>
    <p:extLst>
      <p:ext uri="{BB962C8B-B14F-4D97-AF65-F5344CB8AC3E}">
        <p14:creationId xmlns:p14="http://schemas.microsoft.com/office/powerpoint/2010/main" val="19929976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524769-FE0E-4956-A66B-24255492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Outros: o único bloco que encolheu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01222-9105-4A24-AEE7-0BE31376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Top 15 recua de R$ 60,9 bi para R$ 55,1 bi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6B1092-4E77-4AB4-8C64-510ECDE7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CF558E-6E5F-4C40-A1CA-578D3AC5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07CB5B-736F-42D7-9269-D8A47FF6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jun/26 · Top 15: R$ 70,9 bi. Comparação: R$ 61,3 bi em dez/25 e R$ 70,9 bi em jun/26.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64C7F6-00C2-4125-B507-1F5A9A5E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6DBB9E-4EA4-4349-A771-FDEA30DD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jun/26 · Top 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7CD45-AAF5-479A-B4AD-2F4898EC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571500" y="1438275"/>
          <a:ext xmlns:a="http://schemas.openxmlformats.org/drawingml/2006/main" cx="11049000" cy="47053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1857375"/>
                <a:gridCol w="1285875"/>
                <a:gridCol w="2095500"/>
                <a:gridCol w="952500"/>
                <a:gridCol w="2047875"/>
                <a:gridCol w="1762125"/>
                <a:gridCol w="762000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 / originador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Remuneração-alvo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EC7000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PAN AUTO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65473848000183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Entes púb./precat.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17,97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ITAÚ CRÉDITO PRIVADO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53286499000101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8,72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Rio Vermelho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53216449000158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Entes púb. e PF/PJ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6,39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Alt. Assets III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29225241000110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WHIRLPOOL +3 ent.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Devedores PF/PJ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5,86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RSCRED MULTIESTRÉGIA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29301202000155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3,60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RED REAL LP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17250006000110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BMP SCD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CDI+2,75% · 4 séries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3,39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ASA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49826785000145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ASA SCD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3,36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FIDC PCG - BRASIL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07727002000126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CARNIVAL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51079269000146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3,06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Alt. Assets 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24194675000187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2R HOLDING S.A +1 ent.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3,03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GSR NÃO PADRONIZADOS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53029409000105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Estrut. 20%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2,94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FIDC MULTISEGMENTOS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26405883000103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2,63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Aconcágua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42358004000196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COMPANHIA ACUCAREIRA +2 ent.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2,34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Ital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55720253000121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2,30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RSG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57719370000109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2,14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D8741D-534D-448E-A030-D63961CF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104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C/O = cedente/originador; +N ent./séries = itens adicionais; comb./total = natureza do mínimo; * = complemento manual; N/D = lacuna. Texto integral: Auditoria emissões.</a:t>
            </a:r>
          </a:p>
        </p:txBody>
      </p:sp>
    </p:spTree>
    <p:extLst>
      <p:ext uri="{BB962C8B-B14F-4D97-AF65-F5344CB8AC3E}">
        <p14:creationId xmlns:p14="http://schemas.microsoft.com/office/powerpoint/2010/main" val="10878325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69DF8-8853-4CAC-87CE-0F372AE3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Outros: o único bloco que encolheu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C1C67-79CB-4F1C-B341-ADAE8E17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Top 15 recua de R$ 60,9 bi para R$ 55,1 bi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D704B-3DFA-4DC4-A855-6405E01F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87336-9C7E-4C0F-A934-4A5DA4FD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A8C9E-12A3-46AC-8C08-0043E2AD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dez/25 · Top 15: R$ 61,3 bi. Comparação: R$ 61,3 bi em dez/25 e R$ 70,9 bi em jun/26.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B56C1-2B4D-4423-991E-CCF5AD48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0167EB-2574-4C38-8180-0BF92A6E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dez/25 · Top 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12C49A-3337-4871-A276-6D035943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571500" y="1438275"/>
          <a:ext xmlns:a="http://schemas.openxmlformats.org/drawingml/2006/main" cx="11049000" cy="47053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1857375"/>
                <a:gridCol w="1285875"/>
                <a:gridCol w="2095500"/>
                <a:gridCol w="952500"/>
                <a:gridCol w="2047875"/>
                <a:gridCol w="1762125"/>
                <a:gridCol w="762000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 / originador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Remuneração-alvo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ITAÚ CRÉDITO PRIVADO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53286499000101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8,14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ESPERANZA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53263761000100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Entes púb./deved.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6,48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Rio Vermelho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53216449000158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Entes púb. e PF/PJ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6,38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NC 2025 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63700113000110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5,34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HIGH TOWER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51152102000163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Clientes das ced.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3,97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RSCRED MULTIESTRÉGIA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29301202000155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3,60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Aconcágua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42358004000196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COMPANHIA ACUCAREIRA +2 ent.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3,51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RED REAL LP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17250006000110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BMP SCD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3,49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GSR NÃO PADRONIZADOS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53029409000105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Estrut. 20%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3,20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CARNIVAL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51079269000146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3,06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Alt. Assets III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29225241000110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WHIRLPOOL +3 ent.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Devedores PF/PJ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2,99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FIDC PCG - BRASIL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07727002000126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2,85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JC DIVERSIFICADO III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29109350000172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2,82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Alt. Assets 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24194675000187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C: 2R HOLDING S.A +1 ent.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2,77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SCARLET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55344996000144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CDI+3,00%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75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2,72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8C1354-2D49-405B-9A06-3F44E373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104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C/O = cedente/originador; +N ent./séries = itens adicionais; comb./total = natureza do mínimo; * = complemento manual; N/D = lacuna. Texto integral: Auditoria emissões.</a:t>
            </a:r>
          </a:p>
        </p:txBody>
      </p:sp>
    </p:spTree>
    <p:extLst>
      <p:ext uri="{BB962C8B-B14F-4D97-AF65-F5344CB8AC3E}">
        <p14:creationId xmlns:p14="http://schemas.microsoft.com/office/powerpoint/2010/main" val="19690980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CDD19F-561E-4EB3-976A-D2C63853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RISCO ESTRUTURAL · CARTEIRA I · FINANCEIRO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68AE2-2892-409C-ABF6-7797C5D9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62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Financeiro | Sub atual e mínimos documentais por veículo; 12 estruturas exigem leitura separada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EADE4-406F-445D-A906-5B4CDF1A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58665-BC1D-47E7-9802-6C44FBA0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865964-CA19-489C-9F19-015A10F7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CVM, Informe Mensal, jun/26; pisos em regulamentos FundosNet/B3. Lacunas ficam fora do slide e permanecem no workbook/explorador.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3255F-46BC-4822-B486-89EE8B85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7" name="mvp-summary-structural_mvp_financeiro-1">
            <a:extLst xmlns:a="http://schemas.openxmlformats.org/drawingml/2006/main">
              <a:ext uri="{FF2B5EF4-FFF2-40B4-BE49-F238E27FC236}">
                <a16:creationId xmlns:a16="http://schemas.microsoft.com/office/drawing/2014/main" id="{6D154F75-E692-4660-A7C7-95A457D7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52525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0">
            <a:solidFill>
              <a:srgbClr val="EAF0F7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COBERTURA DO SLIDE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15/18 CNPJs · R$ 10,9 bi de R$ 11,4 bi</a:t>
            </a:r>
          </a:p>
        </p:txBody>
      </p:sp>
      <p:sp>
        <p:nvSpPr>
          <p:cNvPr id="8" name="mvp-summary-structural_mvp_financeiro-2">
            <a:extLst xmlns:a="http://schemas.openxmlformats.org/drawingml/2006/main">
              <a:ext uri="{FF2B5EF4-FFF2-40B4-BE49-F238E27FC236}">
                <a16:creationId xmlns:a16="http://schemas.microsoft.com/office/drawing/2014/main" id="{7DE1645C-3375-46E4-8EAD-D2EC5DEC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152525"/>
            <a:ext cx="4810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5D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REFERÊNCIA DE MERCADO · SUB/PL ATUAL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Referência ampla · 12 pares · med. carteira 31,8% vs. mercado 30,1%</a:t>
            </a:r>
          </a:p>
        </p:txBody>
      </p:sp>
      <p:sp>
        <p:nvSpPr>
          <p:cNvPr id="9" name="mvp-summary-structural_mvp_financeiro-3">
            <a:extLst xmlns:a="http://schemas.openxmlformats.org/drawingml/2006/main">
              <a:ext uri="{FF2B5EF4-FFF2-40B4-BE49-F238E27FC236}">
                <a16:creationId xmlns:a16="http://schemas.microsoft.com/office/drawing/2014/main" id="{0D124A67-DAE5-421D-B0AC-1A3AAE95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52525"/>
            <a:ext cx="2905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6"/>
          </a:solidFill>
          <a:ln xmlns:a="http://schemas.openxmlformats.org/drawingml/2006/main" w="0">
            <a:solidFill>
              <a:srgbClr val="FFF1E6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LEITURA RELATIVA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≈ Em linha na referência ampla*</a:t>
            </a:r>
          </a:p>
        </p:txBody>
      </p:sp>
      <p:sp>
        <p:nvSpPr>
          <p:cNvPr id="10" name="mvp-band-structural_mvp_financeiro-1">
            <a:extLst xmlns:a="http://schemas.openxmlformats.org/drawingml/2006/main">
              <a:ext uri="{FF2B5EF4-FFF2-40B4-BE49-F238E27FC236}">
                <a16:creationId xmlns:a16="http://schemas.microsoft.com/office/drawing/2014/main" id="{46A047B4-0DDE-4E3E-89ED-01F78E68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&lt; 10%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5A31F9-E686-46FE-8E1E-11718A4B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vp-card-structural_mvp_financeiro-62838025000116">
            <a:extLst xmlns:a="http://schemas.openxmlformats.org/drawingml/2006/main">
              <a:ext uri="{FF2B5EF4-FFF2-40B4-BE49-F238E27FC236}">
                <a16:creationId xmlns:a16="http://schemas.microsoft.com/office/drawing/2014/main" id="{2A3D74D4-8E06-4C22-8446-36BCE1D2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ENDURANCE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R$ 2,0 bi · Sub atual 9,5%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10,0% · Estr. N/D*</a:t>
            </a:r>
          </a:p>
        </p:txBody>
      </p:sp>
      <p:sp>
        <p:nvSpPr>
          <p:cNvPr id="13" name="mvp-card-structural_mvp_financeiro-50988212000105">
            <a:extLst xmlns:a="http://schemas.openxmlformats.org/drawingml/2006/main">
              <a:ext uri="{FF2B5EF4-FFF2-40B4-BE49-F238E27FC236}">
                <a16:creationId xmlns:a16="http://schemas.microsoft.com/office/drawing/2014/main" id="{8BD1DC8D-5AFE-499F-9768-34A16FEE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CARTÃO DE COMPRA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R$ 193,6 mi · Sub atual 7,0%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4,5%* · Estr. N/D*</a:t>
            </a:r>
          </a:p>
        </p:txBody>
      </p:sp>
      <p:sp>
        <p:nvSpPr>
          <p:cNvPr id="14" name="mvp-band-structural_mvp_financeiro-2">
            <a:extLst xmlns:a="http://schemas.openxmlformats.org/drawingml/2006/main">
              <a:ext uri="{FF2B5EF4-FFF2-40B4-BE49-F238E27FC236}">
                <a16:creationId xmlns:a16="http://schemas.microsoft.com/office/drawing/2014/main" id="{B199E0B5-D04A-4B43-8A4B-7136E7DF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10%–15%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EFFD7F-FB88-48F2-B19B-69A6DA76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vp-band-structural_mvp_financeiro-3">
            <a:extLst xmlns:a="http://schemas.openxmlformats.org/drawingml/2006/main">
              <a:ext uri="{FF2B5EF4-FFF2-40B4-BE49-F238E27FC236}">
                <a16:creationId xmlns:a16="http://schemas.microsoft.com/office/drawing/2014/main" id="{4EF5F14E-7B93-4EE7-A1B5-91652E13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15%–20%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D6377A-8449-4B22-89D0-19D096A8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vp-band-structural_mvp_financeiro-4">
            <a:extLst xmlns:a="http://schemas.openxmlformats.org/drawingml/2006/main">
              <a:ext uri="{FF2B5EF4-FFF2-40B4-BE49-F238E27FC236}">
                <a16:creationId xmlns:a16="http://schemas.microsoft.com/office/drawing/2014/main" id="{F6ADB2DF-EE1D-4B79-9928-FCAF05A8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20%–35%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852B0E-D02B-4C82-8E10-7C80E694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vp-card-structural_mvp_financeiro-57816252000100">
            <a:extLst xmlns:a="http://schemas.openxmlformats.org/drawingml/2006/main">
              <a:ext uri="{FF2B5EF4-FFF2-40B4-BE49-F238E27FC236}">
                <a16:creationId xmlns:a16="http://schemas.microsoft.com/office/drawing/2014/main" id="{67CC359D-6E8A-4A81-AA45-06F9C0F8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AFC5DD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NATURA PAY CRÉDITO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R$ 1,0 bi · Sub atual 28,3%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Jr 25,3% · Estr. 25,3%</a:t>
            </a:r>
          </a:p>
        </p:txBody>
      </p:sp>
      <p:sp>
        <p:nvSpPr>
          <p:cNvPr id="21" name="mvp-card-structural_mvp_financeiro-61288838000117">
            <a:extLst xmlns:a="http://schemas.openxmlformats.org/drawingml/2006/main">
              <a:ext uri="{FF2B5EF4-FFF2-40B4-BE49-F238E27FC236}">
                <a16:creationId xmlns:a16="http://schemas.microsoft.com/office/drawing/2014/main" id="{607FE8B6-3855-4F6C-B73E-AF79763A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384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IFOOD PAGO CRÉDITO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R$ 722,5 mi · Sub atual 30,3%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15,0% · Estr. N/D*</a:t>
            </a:r>
          </a:p>
        </p:txBody>
      </p:sp>
      <p:sp>
        <p:nvSpPr>
          <p:cNvPr id="22" name="mvp-card-structural_mvp_financeiro-37294759000134">
            <a:extLst xmlns:a="http://schemas.openxmlformats.org/drawingml/2006/main">
              <a:ext uri="{FF2B5EF4-FFF2-40B4-BE49-F238E27FC236}">
                <a16:creationId xmlns:a16="http://schemas.microsoft.com/office/drawing/2014/main" id="{97F61437-BE00-4A08-886A-54533698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956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AFC5DD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GALLERIA HOME EQUITY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R$ 513,2 mi · Sub atual 31,8%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Jr N/D · Estr. 4,8%*</a:t>
            </a:r>
          </a:p>
        </p:txBody>
      </p:sp>
      <p:sp>
        <p:nvSpPr>
          <p:cNvPr id="23" name="mvp-card-structural_mvp_financeiro-57028406000108">
            <a:extLst xmlns:a="http://schemas.openxmlformats.org/drawingml/2006/main">
              <a:ext uri="{FF2B5EF4-FFF2-40B4-BE49-F238E27FC236}">
                <a16:creationId xmlns:a16="http://schemas.microsoft.com/office/drawing/2014/main" id="{D556F285-3DE9-4CCC-9E69-08BADDAF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528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IS GREEN SOLFÁCIL VI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R$ 437,4 mi · Sub atual 26,6%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2,0% · Estr. N/D*</a:t>
            </a:r>
          </a:p>
        </p:txBody>
      </p:sp>
      <p:sp>
        <p:nvSpPr>
          <p:cNvPr id="24" name="mvp-card-structural_mvp_financeiro-47640584000123">
            <a:extLst xmlns:a="http://schemas.openxmlformats.org/drawingml/2006/main">
              <a:ext uri="{FF2B5EF4-FFF2-40B4-BE49-F238E27FC236}">
                <a16:creationId xmlns:a16="http://schemas.microsoft.com/office/drawing/2014/main" id="{11060EB7-D836-4BB9-9ADC-BD4710B0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100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SOL AGORA GREEN ESG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R$ 285,1 mi · Sub atual 30,4%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10,0% · Estr. N/D*</a:t>
            </a:r>
          </a:p>
        </p:txBody>
      </p:sp>
      <p:sp>
        <p:nvSpPr>
          <p:cNvPr id="25" name="mvp-card-structural_mvp_financeiro-42462306000100">
            <a:extLst xmlns:a="http://schemas.openxmlformats.org/drawingml/2006/main">
              <a:ext uri="{FF2B5EF4-FFF2-40B4-BE49-F238E27FC236}">
                <a16:creationId xmlns:a16="http://schemas.microsoft.com/office/drawing/2014/main" id="{2937FE6A-F29C-4AEA-8930-E841FFAB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67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IS GREEN SOLFÁCIL II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R$ 96,1 mi · Sub atual 24,7%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4,5% · Estr. N/D*</a:t>
            </a:r>
          </a:p>
        </p:txBody>
      </p:sp>
      <p:sp>
        <p:nvSpPr>
          <p:cNvPr id="26" name="mvp-band-structural_mvp_financeiro-5">
            <a:extLst xmlns:a="http://schemas.openxmlformats.org/drawingml/2006/main">
              <a:ext uri="{FF2B5EF4-FFF2-40B4-BE49-F238E27FC236}">
                <a16:creationId xmlns:a16="http://schemas.microsoft.com/office/drawing/2014/main" id="{60D2B7CE-51CF-4ED7-ADB0-5F2EA59E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35%–60%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D6DC48-8BAB-4126-80D5-6A6BE6B1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mvp-card-structural_mvp_financeiro-42154687000160">
            <a:extLst xmlns:a="http://schemas.openxmlformats.org/drawingml/2006/main">
              <a:ext uri="{FF2B5EF4-FFF2-40B4-BE49-F238E27FC236}">
                <a16:creationId xmlns:a16="http://schemas.microsoft.com/office/drawing/2014/main" id="{EBA4BD88-0AB0-45C6-BC84-9A87A68E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MULTIPLIKE PLUS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R$ 2,1 bi · Sub atual 42,3%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20,0% · Estr. N/D*</a:t>
            </a:r>
          </a:p>
        </p:txBody>
      </p:sp>
      <p:sp>
        <p:nvSpPr>
          <p:cNvPr id="29" name="mvp-card-structural_mvp_financeiro-41197066000109">
            <a:extLst xmlns:a="http://schemas.openxmlformats.org/drawingml/2006/main">
              <a:ext uri="{FF2B5EF4-FFF2-40B4-BE49-F238E27FC236}">
                <a16:creationId xmlns:a16="http://schemas.microsoft.com/office/drawing/2014/main" id="{4010CEA5-47D4-4178-A145-941248DC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6384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IFOOD PAGO CRÉDITO I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R$ 657,1 mi · Sub atual 36,5%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10,0% · Estr. N/D*</a:t>
            </a:r>
          </a:p>
        </p:txBody>
      </p:sp>
      <p:sp>
        <p:nvSpPr>
          <p:cNvPr id="30" name="mvp-card-structural_mvp_financeiro-58152340000118">
            <a:extLst xmlns:a="http://schemas.openxmlformats.org/drawingml/2006/main">
              <a:ext uri="{FF2B5EF4-FFF2-40B4-BE49-F238E27FC236}">
                <a16:creationId xmlns:a16="http://schemas.microsoft.com/office/drawing/2014/main" id="{4D8CE1DF-3D55-4D1B-A64A-7C4470B4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30956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AFC5DD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MONEE II SEGMENTO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R$ 442,2 mi · Sub atual 40,6%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Jr 30,0% · Estr. 30,0%</a:t>
            </a:r>
          </a:p>
        </p:txBody>
      </p:sp>
      <p:sp>
        <p:nvSpPr>
          <p:cNvPr id="31" name="mvp-card-structural_mvp_financeiro-63066147000102">
            <a:extLst xmlns:a="http://schemas.openxmlformats.org/drawingml/2006/main">
              <a:ext uri="{FF2B5EF4-FFF2-40B4-BE49-F238E27FC236}">
                <a16:creationId xmlns:a16="http://schemas.microsoft.com/office/drawing/2014/main" id="{11CA7D37-5E53-474B-BC8B-D415C436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35528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INCLUSÃO CREDIÁRIA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R$ 156,4 mi · Sub atual 52,0%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12,5% · Estr. N/D*</a:t>
            </a:r>
          </a:p>
        </p:txBody>
      </p:sp>
      <p:sp>
        <p:nvSpPr>
          <p:cNvPr id="32" name="mvp-card-structural_mvp_financeiro-49113994000141">
            <a:extLst xmlns:a="http://schemas.openxmlformats.org/drawingml/2006/main">
              <a:ext uri="{FF2B5EF4-FFF2-40B4-BE49-F238E27FC236}">
                <a16:creationId xmlns:a16="http://schemas.microsoft.com/office/drawing/2014/main" id="{556140F8-9B6A-4956-9B3F-97F93263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40100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CAP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R$ 99,3 mi · Sub atual 44,1%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14,0% · Estr. N/D*</a:t>
            </a:r>
          </a:p>
        </p:txBody>
      </p:sp>
      <p:sp>
        <p:nvSpPr>
          <p:cNvPr id="33" name="mvp-band-structural_mvp_financeiro-6">
            <a:extLst xmlns:a="http://schemas.openxmlformats.org/drawingml/2006/main">
              <a:ext uri="{FF2B5EF4-FFF2-40B4-BE49-F238E27FC236}">
                <a16:creationId xmlns:a16="http://schemas.microsoft.com/office/drawing/2014/main" id="{33356AA8-ACB3-4BBC-BDF9-71C812A0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≥ 60%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60199A-7162-4FE6-8378-4BE3E1A7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mvp-card-structural_mvp_financeiro-32526025000110">
            <a:extLst xmlns:a="http://schemas.openxmlformats.org/drawingml/2006/main">
              <a:ext uri="{FF2B5EF4-FFF2-40B4-BE49-F238E27FC236}">
                <a16:creationId xmlns:a16="http://schemas.microsoft.com/office/drawing/2014/main" id="{DDAA6CF5-76D6-4C8B-861C-6FCAC237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COBUCCIO DE RESPONS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R$ 1,8 bi · Sub atual 75,6%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75,0% · Estr. N/D*</a:t>
            </a:r>
          </a:p>
        </p:txBody>
      </p:sp>
      <p:sp>
        <p:nvSpPr>
          <p:cNvPr id="36" name="mvp-card-structural_mvp_financeiro-43193260000133">
            <a:extLst xmlns:a="http://schemas.openxmlformats.org/drawingml/2006/main">
              <a:ext uri="{FF2B5EF4-FFF2-40B4-BE49-F238E27FC236}">
                <a16:creationId xmlns:a16="http://schemas.microsoft.com/office/drawing/2014/main" id="{EB56070B-A0A6-46AA-8F40-70C95862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6384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RESIDENCE CLUB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R$ 403,4 mi · Sub atual 69,1%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15,0%* · Estr. 50,0%*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06929F-0465-4FE5-BCC7-4F2B908A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1104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879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Vinho = abaixo do mínimo estrutural · âmbar = até 2 p.p. acima · azul = mais de 2 p.p. acima · cinza = estrutura incomparável. * Categoria editorial ou piso total, combinado, calculado, ajustado ou sem equivalência direta.</a:t>
            </a:r>
          </a:p>
        </p:txBody>
      </p:sp>
    </p:spTree>
    <p:extLst>
      <p:ext uri="{BB962C8B-B14F-4D97-AF65-F5344CB8AC3E}">
        <p14:creationId xmlns:p14="http://schemas.microsoft.com/office/powerpoint/2010/main" val="45962786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EC9362-5203-4E70-9DF6-7281E6D3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RISCO ESTRUTURAL · CARTEIRA I · ADQUIRÊNCIA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5240BA-DB32-43E5-840D-9954F495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Adquirência | 2 veículos comparáveis estão até 2 p.p. acima do mínimo estrutural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3FDA30-A2C7-40D5-8BA8-BD803C9A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BED2A-7C39-403F-BFBD-325EBA3D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8305CA-AD5A-4DD6-86C8-93CC7E12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CVM, Informe Mensal, jun/26; pisos em regulamentos FundosNet/B3. Lacunas ficam fora do slide e permanecem no workbook/explorador.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7A7B4-6930-468B-AF2D-42778186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7" name="mvp-summary-structural_mvp_adquirencia-1">
            <a:extLst xmlns:a="http://schemas.openxmlformats.org/drawingml/2006/main">
              <a:ext uri="{FF2B5EF4-FFF2-40B4-BE49-F238E27FC236}">
                <a16:creationId xmlns:a16="http://schemas.microsoft.com/office/drawing/2014/main" id="{E0E22046-E2C1-4BA5-B412-7978AAA2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52525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0">
            <a:solidFill>
              <a:srgbClr val="EAF0F7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COBERTURA DO SLIDE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12/17 CNPJs · R$ 15,1 bi de R$ 15,1 bi</a:t>
            </a:r>
          </a:p>
        </p:txBody>
      </p:sp>
      <p:sp>
        <p:nvSpPr>
          <p:cNvPr id="8" name="mvp-summary-structural_mvp_adquirencia-2">
            <a:extLst xmlns:a="http://schemas.openxmlformats.org/drawingml/2006/main">
              <a:ext uri="{FF2B5EF4-FFF2-40B4-BE49-F238E27FC236}">
                <a16:creationId xmlns:a16="http://schemas.microsoft.com/office/drawing/2014/main" id="{363C4E1B-A407-4161-805C-28362718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152525"/>
            <a:ext cx="4810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5D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REFERÊNCIA DE MERCADO · SUB/PL ATUAL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15 pares · med. agregada carteira 11,7% vs. mercado 15,5%</a:t>
            </a:r>
          </a:p>
        </p:txBody>
      </p:sp>
      <p:sp>
        <p:nvSpPr>
          <p:cNvPr id="9" name="mvp-summary-structural_mvp_adquirencia-3">
            <a:extLst xmlns:a="http://schemas.openxmlformats.org/drawingml/2006/main">
              <a:ext uri="{FF2B5EF4-FFF2-40B4-BE49-F238E27FC236}">
                <a16:creationId xmlns:a16="http://schemas.microsoft.com/office/drawing/2014/main" id="{3AF8A55E-DD02-4396-A072-7EB8DBF0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52525"/>
            <a:ext cx="2905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6"/>
          </a:solidFill>
          <a:ln xmlns:a="http://schemas.openxmlformats.org/drawingml/2006/main" w="0">
            <a:solidFill>
              <a:srgbClr val="FFF1E6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LEITURA RELATIVA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N/D · mistura risco emissor e adquirente*</a:t>
            </a:r>
          </a:p>
        </p:txBody>
      </p:sp>
      <p:sp>
        <p:nvSpPr>
          <p:cNvPr id="10" name="mvp-band-structural_mvp_adquirencia-1">
            <a:extLst xmlns:a="http://schemas.openxmlformats.org/drawingml/2006/main">
              <a:ext uri="{FF2B5EF4-FFF2-40B4-BE49-F238E27FC236}">
                <a16:creationId xmlns:a16="http://schemas.microsoft.com/office/drawing/2014/main" id="{5E0DECA1-0F25-4255-9544-655C1859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&lt; 10%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BC2C7F-8FA6-4B74-85E3-2DC6F19D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vp-card-structural_mvp_adquirencia-48967719000122">
            <a:extLst xmlns:a="http://schemas.openxmlformats.org/drawingml/2006/main">
              <a:ext uri="{FF2B5EF4-FFF2-40B4-BE49-F238E27FC236}">
                <a16:creationId xmlns:a16="http://schemas.microsoft.com/office/drawing/2014/main" id="{85F59118-6099-4CF3-B344-B2F377ED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6"/>
          </a:solidFill>
          <a:ln xmlns:a="http://schemas.openxmlformats.org/drawingml/2006/main" w="9525">
            <a:solidFill>
              <a:srgbClr val="EC7000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SOULPAY*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R$ 78,4 mi · Sub atual 6,0%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Jr 5,0% · Estr. 5,0%</a:t>
            </a:r>
          </a:p>
        </p:txBody>
      </p:sp>
      <p:sp>
        <p:nvSpPr>
          <p:cNvPr id="13" name="mvp-card-structural_mvp_adquirencia-31739396000117">
            <a:extLst xmlns:a="http://schemas.openxmlformats.org/drawingml/2006/main">
              <a:ext uri="{FF2B5EF4-FFF2-40B4-BE49-F238E27FC236}">
                <a16:creationId xmlns:a16="http://schemas.microsoft.com/office/drawing/2014/main" id="{ED713087-520C-46B7-A098-D2EE898C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LF III*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R$ 1,4 bi · Sub atual 8,0%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0,5% · Estr. N/D*</a:t>
            </a:r>
          </a:p>
        </p:txBody>
      </p:sp>
      <p:sp>
        <p:nvSpPr>
          <p:cNvPr id="14" name="mvp-card-structural_mvp_adquirencia-62626887000185">
            <a:extLst xmlns:a="http://schemas.openxmlformats.org/drawingml/2006/main">
              <a:ext uri="{FF2B5EF4-FFF2-40B4-BE49-F238E27FC236}">
                <a16:creationId xmlns:a16="http://schemas.microsoft.com/office/drawing/2014/main" id="{F3328981-688E-462A-A53C-7AEF9AF7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956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SUMUP SMART IV FIDC*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R$ 356,8 mi · Sub atual 4,0%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2,9% · Estr. N/D*</a:t>
            </a:r>
          </a:p>
        </p:txBody>
      </p:sp>
      <p:sp>
        <p:nvSpPr>
          <p:cNvPr id="15" name="mvp-card-structural_mvp_adquirencia-42085830000109">
            <a:extLst xmlns:a="http://schemas.openxmlformats.org/drawingml/2006/main">
              <a:ext uri="{FF2B5EF4-FFF2-40B4-BE49-F238E27FC236}">
                <a16:creationId xmlns:a16="http://schemas.microsoft.com/office/drawing/2014/main" id="{9708C041-6710-46BF-AA32-5DE43EFE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528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AFC5DD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CLOUDWALK AKIRA I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R$ 308,2 mi · Sub atual 5,3%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Jr 3,0% · Estr. 3,0%</a:t>
            </a:r>
          </a:p>
        </p:txBody>
      </p:sp>
      <p:sp>
        <p:nvSpPr>
          <p:cNvPr id="16" name="mvp-band-structural_mvp_adquirencia-2">
            <a:extLst xmlns:a="http://schemas.openxmlformats.org/drawingml/2006/main">
              <a:ext uri="{FF2B5EF4-FFF2-40B4-BE49-F238E27FC236}">
                <a16:creationId xmlns:a16="http://schemas.microsoft.com/office/drawing/2014/main" id="{5A3F756B-4BBF-48F5-912D-B4404AB5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10%–15%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275B55-4B0D-4873-9421-9B81CCBF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vp-card-structural_mvp_adquirencia-54083697000130">
            <a:extLst xmlns:a="http://schemas.openxmlformats.org/drawingml/2006/main">
              <a:ext uri="{FF2B5EF4-FFF2-40B4-BE49-F238E27FC236}">
                <a16:creationId xmlns:a16="http://schemas.microsoft.com/office/drawing/2014/main" id="{03C63A2F-7626-43EC-8383-C5BFB015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6"/>
          </a:solidFill>
          <a:ln xmlns:a="http://schemas.openxmlformats.org/drawingml/2006/main" w="9525">
            <a:solidFill>
              <a:srgbClr val="EC7000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PERNAMBUCANAS FIDC*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R$ 226,6 mi · Sub atual 10,9%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Jr 10,0% · Estr. 10,0%</a:t>
            </a:r>
          </a:p>
        </p:txBody>
      </p:sp>
      <p:sp>
        <p:nvSpPr>
          <p:cNvPr id="19" name="mvp-card-structural_mvp_adquirencia-45598747000121">
            <a:extLst xmlns:a="http://schemas.openxmlformats.org/drawingml/2006/main">
              <a:ext uri="{FF2B5EF4-FFF2-40B4-BE49-F238E27FC236}">
                <a16:creationId xmlns:a16="http://schemas.microsoft.com/office/drawing/2014/main" id="{3318EAA4-BDD9-4F7D-8EA6-783296CD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26384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AFC5DD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SUMUP SOLO SEGMENTO*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R$ 378,1 mi · Sub atual 10,2%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Jr 4,8%* · Estr. 4,8%*</a:t>
            </a:r>
          </a:p>
        </p:txBody>
      </p:sp>
      <p:sp>
        <p:nvSpPr>
          <p:cNvPr id="20" name="mvp-card-structural_mvp_adquirencia-50857998000113">
            <a:extLst xmlns:a="http://schemas.openxmlformats.org/drawingml/2006/main">
              <a:ext uri="{FF2B5EF4-FFF2-40B4-BE49-F238E27FC236}">
                <a16:creationId xmlns:a16="http://schemas.microsoft.com/office/drawing/2014/main" id="{C652AA13-A059-48C7-814F-3E4CC29F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30956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LEO MADEIRAS FIDC*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R$ 177,0 mi · Sub atual 12,6%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5,0% · Estr. N/D*</a:t>
            </a:r>
          </a:p>
        </p:txBody>
      </p:sp>
      <p:sp>
        <p:nvSpPr>
          <p:cNvPr id="21" name="mvp-band-structural_mvp_adquirencia-3">
            <a:extLst xmlns:a="http://schemas.openxmlformats.org/drawingml/2006/main">
              <a:ext uri="{FF2B5EF4-FFF2-40B4-BE49-F238E27FC236}">
                <a16:creationId xmlns:a16="http://schemas.microsoft.com/office/drawing/2014/main" id="{FBB4C702-0B3A-4784-ACD2-517D75F9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15%–20%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8C5BD7-3B0F-4B63-8D4D-4F39E4E7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mvp-band-structural_mvp_adquirencia-4">
            <a:extLst xmlns:a="http://schemas.openxmlformats.org/drawingml/2006/main">
              <a:ext uri="{FF2B5EF4-FFF2-40B4-BE49-F238E27FC236}">
                <a16:creationId xmlns:a16="http://schemas.microsoft.com/office/drawing/2014/main" id="{62857E4F-AB8F-4DF8-B453-0F565571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20%–35%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35F9D9-5113-4199-A56A-45BFDA31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mvp-card-structural_mvp_adquirencia-52271464000136">
            <a:extLst xmlns:a="http://schemas.openxmlformats.org/drawingml/2006/main">
              <a:ext uri="{FF2B5EF4-FFF2-40B4-BE49-F238E27FC236}">
                <a16:creationId xmlns:a16="http://schemas.microsoft.com/office/drawing/2014/main" id="{51AC128A-F0A4-4653-9849-BC4B3258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KIWIFY SEGMENTO*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R$ 347,3 mi · Sub atual 20,2%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6,0% · Estr. N/D*</a:t>
            </a:r>
          </a:p>
        </p:txBody>
      </p:sp>
      <p:sp>
        <p:nvSpPr>
          <p:cNvPr id="26" name="mvp-band-structural_mvp_adquirencia-5">
            <a:extLst xmlns:a="http://schemas.openxmlformats.org/drawingml/2006/main">
              <a:ext uri="{FF2B5EF4-FFF2-40B4-BE49-F238E27FC236}">
                <a16:creationId xmlns:a16="http://schemas.microsoft.com/office/drawing/2014/main" id="{C145833F-1B90-4A51-8729-21FAFFB7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35%–60%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DF96E3-0289-4682-A812-CF1126A2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mvp-card-structural_mvp_adquirencia-50473039000102">
            <a:extLst xmlns:a="http://schemas.openxmlformats.org/drawingml/2006/main">
              <a:ext uri="{FF2B5EF4-FFF2-40B4-BE49-F238E27FC236}">
                <a16:creationId xmlns:a16="http://schemas.microsoft.com/office/drawing/2014/main" id="{5299CF72-74E7-47E7-BACD-520A4920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SELLER FIDC SEGMENTO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R$ 3,7 bi · Sub atual 51,3%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10,0% · Estr. N/D*</a:t>
            </a:r>
          </a:p>
        </p:txBody>
      </p:sp>
      <p:sp>
        <p:nvSpPr>
          <p:cNvPr id="29" name="mvp-band-structural_mvp_adquirencia-6">
            <a:extLst xmlns:a="http://schemas.openxmlformats.org/drawingml/2006/main">
              <a:ext uri="{FF2B5EF4-FFF2-40B4-BE49-F238E27FC236}">
                <a16:creationId xmlns:a16="http://schemas.microsoft.com/office/drawing/2014/main" id="{187C2325-4F65-4C0F-B6A6-9F2B0984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≥ 60%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C45079-0ED6-4388-B7EF-ACA7BCB4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mvp-card-structural_mvp_adquirencia-28169275000172">
            <a:extLst xmlns:a="http://schemas.openxmlformats.org/drawingml/2006/main">
              <a:ext uri="{FF2B5EF4-FFF2-40B4-BE49-F238E27FC236}">
                <a16:creationId xmlns:a16="http://schemas.microsoft.com/office/drawing/2014/main" id="{19B3C001-1CDC-4D3B-8F7B-373F3335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PAGSEGURO I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R$ 6,2 bi · Sub atual 63,2%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50,0% · Estr. N/D*</a:t>
            </a:r>
          </a:p>
        </p:txBody>
      </p:sp>
      <p:sp>
        <p:nvSpPr>
          <p:cNvPr id="32" name="mvp-card-structural_mvp_adquirencia-38376526000143">
            <a:extLst xmlns:a="http://schemas.openxmlformats.org/drawingml/2006/main">
              <a:ext uri="{FF2B5EF4-FFF2-40B4-BE49-F238E27FC236}">
                <a16:creationId xmlns:a16="http://schemas.microsoft.com/office/drawing/2014/main" id="{33193942-38DF-47F8-9C17-F8529C74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6384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HOTFUND SEGMENTO*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R$ 1,7 bi · Sub atual 76,4%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21,0% · Estr. N/D*</a:t>
            </a:r>
          </a:p>
        </p:txBody>
      </p:sp>
      <p:sp>
        <p:nvSpPr>
          <p:cNvPr id="33" name="mvp-card-structural_mvp_adquirencia-40919667000107">
            <a:extLst xmlns:a="http://schemas.openxmlformats.org/drawingml/2006/main">
              <a:ext uri="{FF2B5EF4-FFF2-40B4-BE49-F238E27FC236}">
                <a16:creationId xmlns:a16="http://schemas.microsoft.com/office/drawing/2014/main" id="{CD3F3780-84A5-42EA-B3AB-E2F2D73A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30956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AFC5DD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RECARGAPAY I*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R$ 281,5 mi · Sub atual 98,0%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Jr 50,0% · Estr. 50,0%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DBD6BF-6119-4157-A766-11C2A51F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1104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879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Vinho = abaixo do mínimo estrutural · âmbar = até 2 p.p. acima · azul = mais de 2 p.p. acima · cinza = estrutura incomparável. * Categoria editorial ou piso total, combinado, calculado, ajustado ou sem equivalência direta.</a:t>
            </a:r>
          </a:p>
        </p:txBody>
      </p:sp>
    </p:spTree>
    <p:extLst>
      <p:ext uri="{BB962C8B-B14F-4D97-AF65-F5344CB8AC3E}">
        <p14:creationId xmlns:p14="http://schemas.microsoft.com/office/powerpoint/2010/main" val="80174169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5AE615-D53F-4293-84D5-A1D9D097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RISCO ESTRUTURAL · CARTEIRA I · AGRO / REVENDA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DCC7AD-D5DF-447B-80D8-7DC8D1A8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Agro / Revenda | 2 veículos comparáveis estão abaixo do mínimo estrutural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AC8FF9-9600-4F1A-97A3-00FBA5D8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517CE-49D3-4D44-870A-A6A73D20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B799CE-9148-4C63-B312-7DD783EF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CVM, Informe Mensal, jun/26; pisos em regulamentos FundosNet/B3. Lacunas ficam fora do slide e permanecem no workbook/explorador.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A81BC-D3A9-43E1-8CC5-B35FEC1D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7" name="mvp-summary-structural_mvp_agro_revenda-1">
            <a:extLst xmlns:a="http://schemas.openxmlformats.org/drawingml/2006/main">
              <a:ext uri="{FF2B5EF4-FFF2-40B4-BE49-F238E27FC236}">
                <a16:creationId xmlns:a16="http://schemas.microsoft.com/office/drawing/2014/main" id="{F84B9820-66C3-42CC-B100-0B0F4CB8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52525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0">
            <a:solidFill>
              <a:srgbClr val="EAF0F7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COBERTURA DO SLIDE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17/35 CNPJs · R$ 6,5 bi de R$ 7,1 bi</a:t>
            </a:r>
          </a:p>
        </p:txBody>
      </p:sp>
      <p:sp>
        <p:nvSpPr>
          <p:cNvPr id="8" name="mvp-summary-structural_mvp_agro_revenda-2">
            <a:extLst xmlns:a="http://schemas.openxmlformats.org/drawingml/2006/main">
              <a:ext uri="{FF2B5EF4-FFF2-40B4-BE49-F238E27FC236}">
                <a16:creationId xmlns:a16="http://schemas.microsoft.com/office/drawing/2014/main" id="{F5375A06-087A-4305-B856-DEEF63F5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152525"/>
            <a:ext cx="4810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5D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REFERÊNCIA DE MERCADO · SUB/PL ATUAL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0 pares com Sub/PL atual</a:t>
            </a:r>
          </a:p>
        </p:txBody>
      </p:sp>
      <p:sp>
        <p:nvSpPr>
          <p:cNvPr id="9" name="mvp-summary-structural_mvp_agro_revenda-3">
            <a:extLst xmlns:a="http://schemas.openxmlformats.org/drawingml/2006/main">
              <a:ext uri="{FF2B5EF4-FFF2-40B4-BE49-F238E27FC236}">
                <a16:creationId xmlns:a16="http://schemas.microsoft.com/office/drawing/2014/main" id="{EC9BBF67-C83B-4B96-91C7-7C80407D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52525"/>
            <a:ext cx="2905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6"/>
          </a:solidFill>
          <a:ln xmlns:a="http://schemas.openxmlformats.org/drawingml/2006/main" w="0">
            <a:solidFill>
              <a:srgbClr val="FFF1E6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LEITURA RELATIVA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N/D · benchmark insuficiente</a:t>
            </a:r>
          </a:p>
        </p:txBody>
      </p:sp>
      <p:sp>
        <p:nvSpPr>
          <p:cNvPr id="10" name="mvp-band-structural_mvp_agro_revenda-1">
            <a:extLst xmlns:a="http://schemas.openxmlformats.org/drawingml/2006/main">
              <a:ext uri="{FF2B5EF4-FFF2-40B4-BE49-F238E27FC236}">
                <a16:creationId xmlns:a16="http://schemas.microsoft.com/office/drawing/2014/main" id="{58EBF793-E029-4FC1-94A4-1A2C17A0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&lt; 10%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3F38D4-A712-4A0C-BC9E-803F65F5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vp-card-structural_mvp_agro_revenda-52968533000165">
            <a:extLst xmlns:a="http://schemas.openxmlformats.org/drawingml/2006/main">
              <a:ext uri="{FF2B5EF4-FFF2-40B4-BE49-F238E27FC236}">
                <a16:creationId xmlns:a16="http://schemas.microsoft.com/office/drawing/2014/main" id="{75C0192C-9617-4A77-9DE4-2C57E489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1F3D"/>
          </a:solidFill>
          <a:ln xmlns:a="http://schemas.openxmlformats.org/drawingml/2006/main" w="9525">
            <a:solidFill>
              <a:srgbClr val="7A1F3D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MCPO*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R$ 113,3 mi · Sub atual 0,0%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Jr N/D · Estr. 20,0%*</a:t>
            </a:r>
          </a:p>
        </p:txBody>
      </p:sp>
      <p:sp>
        <p:nvSpPr>
          <p:cNvPr id="13" name="mvp-band-structural_mvp_agro_revenda-2">
            <a:extLst xmlns:a="http://schemas.openxmlformats.org/drawingml/2006/main">
              <a:ext uri="{FF2B5EF4-FFF2-40B4-BE49-F238E27FC236}">
                <a16:creationId xmlns:a16="http://schemas.microsoft.com/office/drawing/2014/main" id="{63A4F3D3-69BF-4E37-9C93-6E0A02F7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10%–15%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601942-5297-44F3-985F-8BA8A631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vp-band-structural_mvp_agro_revenda-3">
            <a:extLst xmlns:a="http://schemas.openxmlformats.org/drawingml/2006/main">
              <a:ext uri="{FF2B5EF4-FFF2-40B4-BE49-F238E27FC236}">
                <a16:creationId xmlns:a16="http://schemas.microsoft.com/office/drawing/2014/main" id="{11DC5888-4EC1-4E21-876D-F4759E39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15%–20%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6BAF46-B477-4CEE-B570-8FCB92EC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vp-card-structural_mvp_agro_revenda-57270666000187">
            <a:extLst xmlns:a="http://schemas.openxmlformats.org/drawingml/2006/main">
              <a:ext uri="{FF2B5EF4-FFF2-40B4-BE49-F238E27FC236}">
                <a16:creationId xmlns:a16="http://schemas.microsoft.com/office/drawing/2014/main" id="{4C67A0EB-BF5D-437A-A1D8-575A2B87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MOBILITAS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R$ 53,0 mi · Sub atual 15,1%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10,0% · Estr. N/D*</a:t>
            </a:r>
          </a:p>
        </p:txBody>
      </p:sp>
      <p:sp>
        <p:nvSpPr>
          <p:cNvPr id="18" name="mvp-band-structural_mvp_agro_revenda-4">
            <a:extLst xmlns:a="http://schemas.openxmlformats.org/drawingml/2006/main">
              <a:ext uri="{FF2B5EF4-FFF2-40B4-BE49-F238E27FC236}">
                <a16:creationId xmlns:a16="http://schemas.microsoft.com/office/drawing/2014/main" id="{FC1E6C78-9B16-4524-92AE-06956B6F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20%–35%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783151-157C-4A3E-9540-AB726A6D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vp-card-structural_mvp_agro_revenda-33076242000118">
            <a:extLst xmlns:a="http://schemas.openxmlformats.org/drawingml/2006/main">
              <a:ext uri="{FF2B5EF4-FFF2-40B4-BE49-F238E27FC236}">
                <a16:creationId xmlns:a16="http://schemas.microsoft.com/office/drawing/2014/main" id="{5D266E43-4A4A-49CA-BEB9-B8C6F945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6"/>
          </a:solidFill>
          <a:ln xmlns:a="http://schemas.openxmlformats.org/drawingml/2006/main" w="9525">
            <a:solidFill>
              <a:srgbClr val="EC7000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WORKCAP AGRO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R$ 443,2 mi · Sub atual 21,6%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Jr 20,0% · Estr. 20,0%</a:t>
            </a:r>
          </a:p>
        </p:txBody>
      </p:sp>
      <p:sp>
        <p:nvSpPr>
          <p:cNvPr id="21" name="mvp-card-structural_mvp_agro_revenda-47280025000150">
            <a:extLst xmlns:a="http://schemas.openxmlformats.org/drawingml/2006/main">
              <a:ext uri="{FF2B5EF4-FFF2-40B4-BE49-F238E27FC236}">
                <a16:creationId xmlns:a16="http://schemas.microsoft.com/office/drawing/2014/main" id="{75079D73-5278-426B-B982-F720E38A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384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AFC5DD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FIDC AGRO CAPITAL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R$ 522,1 mi · Sub atual 32,2%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Jr 30,0% · Estr. 30,0%</a:t>
            </a:r>
          </a:p>
        </p:txBody>
      </p:sp>
      <p:sp>
        <p:nvSpPr>
          <p:cNvPr id="22" name="mvp-card-structural_mvp_agro_revenda-58171340000165">
            <a:extLst xmlns:a="http://schemas.openxmlformats.org/drawingml/2006/main">
              <a:ext uri="{FF2B5EF4-FFF2-40B4-BE49-F238E27FC236}">
                <a16:creationId xmlns:a16="http://schemas.microsoft.com/office/drawing/2014/main" id="{F2D80E90-257F-473B-B07C-E40B353B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956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FRIMESA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R$ 357,7 mi · Sub atual 21,0%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1,0% · Estr. N/D*</a:t>
            </a:r>
          </a:p>
        </p:txBody>
      </p:sp>
      <p:sp>
        <p:nvSpPr>
          <p:cNvPr id="23" name="mvp-card-structural_mvp_agro_revenda-54857414000160">
            <a:extLst xmlns:a="http://schemas.openxmlformats.org/drawingml/2006/main">
              <a:ext uri="{FF2B5EF4-FFF2-40B4-BE49-F238E27FC236}">
                <a16:creationId xmlns:a16="http://schemas.microsoft.com/office/drawing/2014/main" id="{CF9EADC6-331F-459B-A21F-B3C71666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528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INDIE MERX RAIZ I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R$ 104,2 mi · Sub atual 27,5%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15,0% · Estr. N/D*</a:t>
            </a:r>
          </a:p>
        </p:txBody>
      </p:sp>
      <p:sp>
        <p:nvSpPr>
          <p:cNvPr id="24" name="mvp-card-structural_mvp_agro_revenda-57752597000148">
            <a:extLst xmlns:a="http://schemas.openxmlformats.org/drawingml/2006/main">
              <a:ext uri="{FF2B5EF4-FFF2-40B4-BE49-F238E27FC236}">
                <a16:creationId xmlns:a16="http://schemas.microsoft.com/office/drawing/2014/main" id="{8FE72DA2-6D4C-4C89-860D-140553E0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100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AGROMERCANTIL CRÉDITO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R$ 68,7 mi · Sub atual 32,5%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30,0% · Estr. N/D*</a:t>
            </a:r>
          </a:p>
        </p:txBody>
      </p:sp>
      <p:sp>
        <p:nvSpPr>
          <p:cNvPr id="25" name="mvp-band-structural_mvp_agro_revenda-5">
            <a:extLst xmlns:a="http://schemas.openxmlformats.org/drawingml/2006/main">
              <a:ext uri="{FF2B5EF4-FFF2-40B4-BE49-F238E27FC236}">
                <a16:creationId xmlns:a16="http://schemas.microsoft.com/office/drawing/2014/main" id="{A71B4885-2900-4211-B01D-4F47D673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35%–60%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BF05DD-DD2C-46D8-97E3-31B5F757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mvp-card-structural_mvp_agro_revenda-50536324000117">
            <a:extLst xmlns:a="http://schemas.openxmlformats.org/drawingml/2006/main">
              <a:ext uri="{FF2B5EF4-FFF2-40B4-BE49-F238E27FC236}">
                <a16:creationId xmlns:a16="http://schemas.microsoft.com/office/drawing/2014/main" id="{AD45D6BD-EAB1-4D2C-BD11-462E429C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1F3D"/>
          </a:solidFill>
          <a:ln xmlns:a="http://schemas.openxmlformats.org/drawingml/2006/main" w="9525">
            <a:solidFill>
              <a:srgbClr val="7A1F3D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MAQNELSON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R$ 100,0 mi · Sub atual 49,2%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Jr 50,0% · Estr. 50,0%</a:t>
            </a:r>
          </a:p>
        </p:txBody>
      </p:sp>
      <p:sp>
        <p:nvSpPr>
          <p:cNvPr id="28" name="mvp-card-structural_mvp_agro_revenda-37035970000132">
            <a:extLst xmlns:a="http://schemas.openxmlformats.org/drawingml/2006/main">
              <a:ext uri="{FF2B5EF4-FFF2-40B4-BE49-F238E27FC236}">
                <a16:creationId xmlns:a16="http://schemas.microsoft.com/office/drawing/2014/main" id="{E4DCE848-94CA-46BC-8364-B8E560F7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6384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CD CASH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R$ 291,8 mi · Sub atual 46,8%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30,0% · Estr. N/D*</a:t>
            </a:r>
          </a:p>
        </p:txBody>
      </p:sp>
      <p:sp>
        <p:nvSpPr>
          <p:cNvPr id="29" name="mvp-card-structural_mvp_agro_revenda-45523699000102">
            <a:extLst xmlns:a="http://schemas.openxmlformats.org/drawingml/2006/main">
              <a:ext uri="{FF2B5EF4-FFF2-40B4-BE49-F238E27FC236}">
                <a16:creationId xmlns:a16="http://schemas.microsoft.com/office/drawing/2014/main" id="{DCE144B0-BC9B-4903-BCDE-41DE6BE3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30956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VIXTRA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R$ 233,6 mi · Sub atual 38,2%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10,0% · Estr. N/D*</a:t>
            </a:r>
          </a:p>
        </p:txBody>
      </p:sp>
      <p:sp>
        <p:nvSpPr>
          <p:cNvPr id="30" name="mvp-card-structural_mvp_agro_revenda-47425750000179">
            <a:extLst xmlns:a="http://schemas.openxmlformats.org/drawingml/2006/main">
              <a:ext uri="{FF2B5EF4-FFF2-40B4-BE49-F238E27FC236}">
                <a16:creationId xmlns:a16="http://schemas.microsoft.com/office/drawing/2014/main" id="{4C230AB1-5C34-4625-9CFD-1C7285E4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35528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CEREALIS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R$ 215,3 mi · Sub atual 53,0%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25,0% · Estr. N/D*</a:t>
            </a:r>
          </a:p>
        </p:txBody>
      </p:sp>
      <p:sp>
        <p:nvSpPr>
          <p:cNvPr id="31" name="mvp-band-structural_mvp_agro_revenda-6">
            <a:extLst xmlns:a="http://schemas.openxmlformats.org/drawingml/2006/main">
              <a:ext uri="{FF2B5EF4-FFF2-40B4-BE49-F238E27FC236}">
                <a16:creationId xmlns:a16="http://schemas.microsoft.com/office/drawing/2014/main" id="{23B26335-E203-4749-81FB-E110ACE9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≥ 60%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218045-B0DA-4226-8DF4-A48105BD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mvp-card-structural_mvp_agro_revenda-29492605000129">
            <a:extLst xmlns:a="http://schemas.openxmlformats.org/drawingml/2006/main">
              <a:ext uri="{FF2B5EF4-FFF2-40B4-BE49-F238E27FC236}">
                <a16:creationId xmlns:a16="http://schemas.microsoft.com/office/drawing/2014/main" id="{8AAEBF3B-D5DD-46D0-BEA6-D6B794E8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AFC5DD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GAZIN MULTISSEGMENTOS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R$ 2,5 bi · Sub atual 67,6%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Jr 51,0% · Estr. 51,0%</a:t>
            </a:r>
          </a:p>
        </p:txBody>
      </p:sp>
      <p:sp>
        <p:nvSpPr>
          <p:cNvPr id="34" name="mvp-card-structural_mvp_agro_revenda-29226654000110">
            <a:extLst xmlns:a="http://schemas.openxmlformats.org/drawingml/2006/main">
              <a:ext uri="{FF2B5EF4-FFF2-40B4-BE49-F238E27FC236}">
                <a16:creationId xmlns:a16="http://schemas.microsoft.com/office/drawing/2014/main" id="{F93A49CF-CCD1-4618-A3FA-13603CB6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6384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AFC5DD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INVESTCRED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R$ 1,2 bi · Sub atual 79,6%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Jr 67,4%* · Estr. 67,4%*</a:t>
            </a:r>
          </a:p>
        </p:txBody>
      </p:sp>
      <p:sp>
        <p:nvSpPr>
          <p:cNvPr id="35" name="mvp-card-structural_mvp_agro_revenda-43866348000179">
            <a:extLst xmlns:a="http://schemas.openxmlformats.org/drawingml/2006/main">
              <a:ext uri="{FF2B5EF4-FFF2-40B4-BE49-F238E27FC236}">
                <a16:creationId xmlns:a16="http://schemas.microsoft.com/office/drawing/2014/main" id="{BF5AFB08-5856-4475-B977-127E294C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30956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OPEA AGRO SUMITOMO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R$ 256,0 mi · Sub atual 65,4%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5,0% · Estr. N/D*</a:t>
            </a:r>
          </a:p>
        </p:txBody>
      </p:sp>
      <p:sp>
        <p:nvSpPr>
          <p:cNvPr id="36" name="mvp-card-structural_mvp_agro_revenda-51554551000138">
            <a:extLst xmlns:a="http://schemas.openxmlformats.org/drawingml/2006/main">
              <a:ext uri="{FF2B5EF4-FFF2-40B4-BE49-F238E27FC236}">
                <a16:creationId xmlns:a16="http://schemas.microsoft.com/office/drawing/2014/main" id="{59640539-620A-4DA8-A944-0FFA338B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35528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AFC5DD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CLASSE ÚNICA DO FIDC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R$ 64,5 mi · Sub atual 100,0%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Jr N/D · Estr. 25,0%*</a:t>
            </a:r>
          </a:p>
        </p:txBody>
      </p:sp>
      <p:sp>
        <p:nvSpPr>
          <p:cNvPr id="37" name="mvp-card-structural_mvp_agro_revenda-47151680000108">
            <a:extLst xmlns:a="http://schemas.openxmlformats.org/drawingml/2006/main">
              <a:ext uri="{FF2B5EF4-FFF2-40B4-BE49-F238E27FC236}">
                <a16:creationId xmlns:a16="http://schemas.microsoft.com/office/drawing/2014/main" id="{C8DE9463-D15F-4501-AC48-AA850990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40100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AFC5DD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FARM TECH IBBA I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R$ 9,4 mi · Sub atual 100,1%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Jr N/D · Estr. 20,0%*</a:t>
            </a:r>
          </a:p>
        </p:txBody>
      </p:sp>
      <p:sp>
        <p:nvSpPr>
          <p:cNvPr id="38" name="mvp-card-structural_mvp_agro_revenda-43616659000180">
            <a:extLst xmlns:a="http://schemas.openxmlformats.org/drawingml/2006/main">
              <a:ext uri="{FF2B5EF4-FFF2-40B4-BE49-F238E27FC236}">
                <a16:creationId xmlns:a16="http://schemas.microsoft.com/office/drawing/2014/main" id="{7AD1B795-49CB-46EA-BC45-843A3FD6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4467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AFC5DD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TALÓ 1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R$ 7,0 mi · Sub atual 100,0%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Jr N/D · Estr. 25,0%*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7CEE52-D39A-4CE0-BE71-FD804DCB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1104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879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Vinho = abaixo do mínimo estrutural · âmbar = até 2 p.p. acima · azul = mais de 2 p.p. acima · cinza = estrutura incomparável. * Categoria editorial ou piso total, combinado, calculado, ajustado ou sem equivalência direta.</a:t>
            </a:r>
          </a:p>
        </p:txBody>
      </p:sp>
    </p:spTree>
    <p:extLst>
      <p:ext uri="{BB962C8B-B14F-4D97-AF65-F5344CB8AC3E}">
        <p14:creationId xmlns:p14="http://schemas.microsoft.com/office/powerpoint/2010/main" val="198729536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A163D8-C784-4261-916E-0D1F0246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RISCO ESTRUTURAL · CARTEIRA I · RISCO CORPORATIVO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BCC11-D420-4AD3-895E-96319A7A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Risco Corporativo | 1 veículo comparável está abaixo do mínimo estrutural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641A3-65A1-42DB-99A9-4807677A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E4B204-3E07-4177-93F9-0C77C1F5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21FC3-5AEB-4921-ADF6-EE2E8B6C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CVM, Informe Mensal, jun/26; pisos em regulamentos FundosNet/B3. Lacunas ficam fora do slide e permanecem no workbook/explorador.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16B88-B16A-4C4B-B34C-DA2EE243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7" name="mvp-summary-structural_mvp_risco_corporativo-1">
            <a:extLst xmlns:a="http://schemas.openxmlformats.org/drawingml/2006/main">
              <a:ext uri="{FF2B5EF4-FFF2-40B4-BE49-F238E27FC236}">
                <a16:creationId xmlns:a16="http://schemas.microsoft.com/office/drawing/2014/main" id="{B51C3A95-2489-46F7-BC3D-6D4685CB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52525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0">
            <a:solidFill>
              <a:srgbClr val="EAF0F7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COBERTURA DO SLIDE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11/13 CNPJs · R$ 5,5 bi de R$ 6,7 bi</a:t>
            </a:r>
          </a:p>
        </p:txBody>
      </p:sp>
      <p:sp>
        <p:nvSpPr>
          <p:cNvPr id="8" name="mvp-summary-structural_mvp_risco_corporativo-2">
            <a:extLst xmlns:a="http://schemas.openxmlformats.org/drawingml/2006/main">
              <a:ext uri="{FF2B5EF4-FFF2-40B4-BE49-F238E27FC236}">
                <a16:creationId xmlns:a16="http://schemas.microsoft.com/office/drawing/2014/main" id="{20F17326-F05A-4E42-BB7C-CCC74EA3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152525"/>
            <a:ext cx="4810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5D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REFERÊNCIA DE MERCADO · SUB/PL ATUAL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0 pares com Sub/PL atual</a:t>
            </a:r>
          </a:p>
        </p:txBody>
      </p:sp>
      <p:sp>
        <p:nvSpPr>
          <p:cNvPr id="9" name="mvp-summary-structural_mvp_risco_corporativo-3">
            <a:extLst xmlns:a="http://schemas.openxmlformats.org/drawingml/2006/main">
              <a:ext uri="{FF2B5EF4-FFF2-40B4-BE49-F238E27FC236}">
                <a16:creationId xmlns:a16="http://schemas.microsoft.com/office/drawing/2014/main" id="{42997448-E5CA-467C-B5AB-EE04C0FE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52525"/>
            <a:ext cx="2905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6"/>
          </a:solidFill>
          <a:ln xmlns:a="http://schemas.openxmlformats.org/drawingml/2006/main" w="0">
            <a:solidFill>
              <a:srgbClr val="FFF1E6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LEITURA RELATIVA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N/D · benchmark insuficiente</a:t>
            </a:r>
          </a:p>
        </p:txBody>
      </p:sp>
      <p:sp>
        <p:nvSpPr>
          <p:cNvPr id="10" name="mvp-band-structural_mvp_risco_corporativo-1">
            <a:extLst xmlns:a="http://schemas.openxmlformats.org/drawingml/2006/main">
              <a:ext uri="{FF2B5EF4-FFF2-40B4-BE49-F238E27FC236}">
                <a16:creationId xmlns:a16="http://schemas.microsoft.com/office/drawing/2014/main" id="{A36AF28C-2C80-41FC-9DFA-09DEFFEC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&lt; 10%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A2985-5905-4DD0-87C7-BE663800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vp-card-structural_mvp_risco_corporativo-62393829000159">
            <a:extLst xmlns:a="http://schemas.openxmlformats.org/drawingml/2006/main">
              <a:ext uri="{FF2B5EF4-FFF2-40B4-BE49-F238E27FC236}">
                <a16:creationId xmlns:a16="http://schemas.microsoft.com/office/drawing/2014/main" id="{C4AAD9F7-59C2-48EC-B73A-5FB275DD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6"/>
          </a:solidFill>
          <a:ln xmlns:a="http://schemas.openxmlformats.org/drawingml/2006/main" w="9525">
            <a:solidFill>
              <a:srgbClr val="EC7000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MÉDICI · BRF/MARFRIG*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R$ 3,1 bi · Sub atual 5,5%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Jr 5,0% · Estr. 5,0%</a:t>
            </a:r>
          </a:p>
        </p:txBody>
      </p:sp>
      <p:sp>
        <p:nvSpPr>
          <p:cNvPr id="13" name="mvp-band-structural_mvp_risco_corporativo-2">
            <a:extLst xmlns:a="http://schemas.openxmlformats.org/drawingml/2006/main">
              <a:ext uri="{FF2B5EF4-FFF2-40B4-BE49-F238E27FC236}">
                <a16:creationId xmlns:a16="http://schemas.microsoft.com/office/drawing/2014/main" id="{749453D1-CCCF-4399-A185-8D700E13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10%–15%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E95FB8-57FA-499D-A223-1410E925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vp-band-structural_mvp_risco_corporativo-3">
            <a:extLst xmlns:a="http://schemas.openxmlformats.org/drawingml/2006/main">
              <a:ext uri="{FF2B5EF4-FFF2-40B4-BE49-F238E27FC236}">
                <a16:creationId xmlns:a16="http://schemas.microsoft.com/office/drawing/2014/main" id="{953F6E23-F916-42A0-A4E2-A3877E7F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15%–20%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9FFEDF-6CFA-4756-8ABE-B5CCB3A6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vp-card-structural_mvp_risco_corporativo-65873297000145">
            <a:extLst xmlns:a="http://schemas.openxmlformats.org/drawingml/2006/main">
              <a:ext uri="{FF2B5EF4-FFF2-40B4-BE49-F238E27FC236}">
                <a16:creationId xmlns:a16="http://schemas.microsoft.com/office/drawing/2014/main" id="{35FB23BF-594A-4F0E-AAE8-D0B3916D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AFC5DD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ARCELORMITTAL*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R$ 162,6 mi · Sub atual 18,6%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Jr 12,0% · Estr. 12,0%</a:t>
            </a:r>
          </a:p>
        </p:txBody>
      </p:sp>
      <p:sp>
        <p:nvSpPr>
          <p:cNvPr id="18" name="mvp-card-structural_mvp_risco_corporativo-63679792000192">
            <a:extLst xmlns:a="http://schemas.openxmlformats.org/drawingml/2006/main">
              <a:ext uri="{FF2B5EF4-FFF2-40B4-BE49-F238E27FC236}">
                <a16:creationId xmlns:a16="http://schemas.microsoft.com/office/drawing/2014/main" id="{6C9A31A7-6780-4108-8EA1-959E01D4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6384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BLUE HEALTH FIDC*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R$ 142,2 mi · Sub atual 19,3%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20,0% · Estr. N/D*</a:t>
            </a:r>
          </a:p>
        </p:txBody>
      </p:sp>
      <p:sp>
        <p:nvSpPr>
          <p:cNvPr id="19" name="mvp-band-structural_mvp_risco_corporativo-4">
            <a:extLst xmlns:a="http://schemas.openxmlformats.org/drawingml/2006/main">
              <a:ext uri="{FF2B5EF4-FFF2-40B4-BE49-F238E27FC236}">
                <a16:creationId xmlns:a16="http://schemas.microsoft.com/office/drawing/2014/main" id="{E439332C-9412-45BE-9589-64B609E4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20%–35%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6E2369-6CCF-4EBB-A477-825A4C8C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mvp-card-structural_mvp_risco_corporativo-52100879000147">
            <a:extLst xmlns:a="http://schemas.openxmlformats.org/drawingml/2006/main">
              <a:ext uri="{FF2B5EF4-FFF2-40B4-BE49-F238E27FC236}">
                <a16:creationId xmlns:a16="http://schemas.microsoft.com/office/drawing/2014/main" id="{1489A741-362D-4311-9362-AB340CDC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1F3D"/>
          </a:solidFill>
          <a:ln xmlns:a="http://schemas.openxmlformats.org/drawingml/2006/main" w="9525">
            <a:solidFill>
              <a:srgbClr val="7A1F3D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SOTREQ*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R$ 205,2 mi · Sub atual 23,6%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Jr N/D · Estr. 25,0%*</a:t>
            </a:r>
          </a:p>
        </p:txBody>
      </p:sp>
      <p:sp>
        <p:nvSpPr>
          <p:cNvPr id="22" name="mvp-card-structural_mvp_risco_corporativo-31570767000180">
            <a:extLst xmlns:a="http://schemas.openxmlformats.org/drawingml/2006/main">
              <a:ext uri="{FF2B5EF4-FFF2-40B4-BE49-F238E27FC236}">
                <a16:creationId xmlns:a16="http://schemas.microsoft.com/office/drawing/2014/main" id="{3AF0B88D-7E63-47C8-9097-2747485A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384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TRADEPAY VAREJO I*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R$ 702,1 mi · Sub atual 23,3%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5,0% · Estr. N/D*</a:t>
            </a:r>
          </a:p>
        </p:txBody>
      </p:sp>
      <p:sp>
        <p:nvSpPr>
          <p:cNvPr id="23" name="mvp-card-structural_mvp_risco_corporativo-52340225000190">
            <a:extLst xmlns:a="http://schemas.openxmlformats.org/drawingml/2006/main">
              <a:ext uri="{FF2B5EF4-FFF2-40B4-BE49-F238E27FC236}">
                <a16:creationId xmlns:a16="http://schemas.microsoft.com/office/drawing/2014/main" id="{21181422-CB80-4AF1-9622-EF92175A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956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INOVA CREDTECH III*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R$ 86,1 mi · Sub atual 22,2%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7,5% · Estr. N/D*</a:t>
            </a:r>
          </a:p>
        </p:txBody>
      </p:sp>
      <p:sp>
        <p:nvSpPr>
          <p:cNvPr id="24" name="mvp-band-structural_mvp_risco_corporativo-5">
            <a:extLst xmlns:a="http://schemas.openxmlformats.org/drawingml/2006/main">
              <a:ext uri="{FF2B5EF4-FFF2-40B4-BE49-F238E27FC236}">
                <a16:creationId xmlns:a16="http://schemas.microsoft.com/office/drawing/2014/main" id="{B6B5ACE9-B5F8-411B-9EBE-B26C527C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35%–60%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9F5316-5C16-45BB-86AD-09A4C5FD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mvp-card-structural_mvp_risco_corporativo-63622842000103">
            <a:extLst xmlns:a="http://schemas.openxmlformats.org/drawingml/2006/main">
              <a:ext uri="{FF2B5EF4-FFF2-40B4-BE49-F238E27FC236}">
                <a16:creationId xmlns:a16="http://schemas.microsoft.com/office/drawing/2014/main" id="{3FB44187-E9D6-4304-8862-100B05BF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6"/>
          </a:solidFill>
          <a:ln xmlns:a="http://schemas.openxmlformats.org/drawingml/2006/main" w="9525">
            <a:solidFill>
              <a:srgbClr val="EC7000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DESBRAVA UNO ARTIGOS*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R$ 343,6 mi · Sub atual 50,4%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Jr 50,0% · Estr. 50,0%</a:t>
            </a:r>
          </a:p>
        </p:txBody>
      </p:sp>
      <p:sp>
        <p:nvSpPr>
          <p:cNvPr id="27" name="mvp-card-structural_mvp_risco_corporativo-63657457000193">
            <a:extLst xmlns:a="http://schemas.openxmlformats.org/drawingml/2006/main">
              <a:ext uri="{FF2B5EF4-FFF2-40B4-BE49-F238E27FC236}">
                <a16:creationId xmlns:a16="http://schemas.microsoft.com/office/drawing/2014/main" id="{6C002AEE-9B46-4EF4-BC28-C1DD1791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6384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MSV3 RECEBÍVEIS*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R$ 311,5 mi · Sub atual 36,3%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25,0% · Estr. N/D*</a:t>
            </a:r>
          </a:p>
        </p:txBody>
      </p:sp>
      <p:sp>
        <p:nvSpPr>
          <p:cNvPr id="28" name="mvp-card-structural_mvp_risco_corporativo-38658727000133">
            <a:extLst xmlns:a="http://schemas.openxmlformats.org/drawingml/2006/main">
              <a:ext uri="{FF2B5EF4-FFF2-40B4-BE49-F238E27FC236}">
                <a16:creationId xmlns:a16="http://schemas.microsoft.com/office/drawing/2014/main" id="{BFD9A93E-1B96-4541-9AEA-74108B36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30956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AFC5DD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FORNECEDORES MADEIRA*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R$ 196,7 mi · Sub atual 46,9%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Jr 26,7%* · Estr. 26,7%*</a:t>
            </a:r>
          </a:p>
        </p:txBody>
      </p:sp>
      <p:sp>
        <p:nvSpPr>
          <p:cNvPr id="29" name="mvp-card-structural_mvp_risco_corporativo-58476088000100">
            <a:extLst xmlns:a="http://schemas.openxmlformats.org/drawingml/2006/main">
              <a:ext uri="{FF2B5EF4-FFF2-40B4-BE49-F238E27FC236}">
                <a16:creationId xmlns:a16="http://schemas.microsoft.com/office/drawing/2014/main" id="{322680C6-3FB0-44F8-A60C-D1DF2652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35528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AFC5DD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SAGA CRÉDITO PRIVADO*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R$ 167,6 mi · Sub atual 38,7%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Jr 33,3% · Estr. 33,3%</a:t>
            </a:r>
          </a:p>
        </p:txBody>
      </p:sp>
      <p:sp>
        <p:nvSpPr>
          <p:cNvPr id="30" name="mvp-band-structural_mvp_risco_corporativo-6">
            <a:extLst xmlns:a="http://schemas.openxmlformats.org/drawingml/2006/main">
              <a:ext uri="{FF2B5EF4-FFF2-40B4-BE49-F238E27FC236}">
                <a16:creationId xmlns:a16="http://schemas.microsoft.com/office/drawing/2014/main" id="{2240442D-9D7B-45A5-9125-14D3CA07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≥ 60%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5DB29A-E7FB-47FB-87B2-29D95D2A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mvp-card-structural_mvp_risco_corporativo-58288437000152">
            <a:extLst xmlns:a="http://schemas.openxmlformats.org/drawingml/2006/main">
              <a:ext uri="{FF2B5EF4-FFF2-40B4-BE49-F238E27FC236}">
                <a16:creationId xmlns:a16="http://schemas.microsoft.com/office/drawing/2014/main" id="{CA293D8D-AFF5-42EB-81B1-C70EF484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ALTOMAX SEGMENTO*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R$ 89,9 mi · Sub atual 64,6%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20,0% · Estr. N/D*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C89DF2-CED2-4062-A740-7BA1D0CF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1104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879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Vinho = abaixo do mínimo estrutural · âmbar = até 2 p.p. acima · azul = mais de 2 p.p. acima · cinza = estrutura incomparável. * Categoria editorial ou piso total, combinado, calculado, ajustado ou sem equivalência direta.</a:t>
            </a:r>
          </a:p>
        </p:txBody>
      </p:sp>
    </p:spTree>
    <p:extLst>
      <p:ext uri="{BB962C8B-B14F-4D97-AF65-F5344CB8AC3E}">
        <p14:creationId xmlns:p14="http://schemas.microsoft.com/office/powerpoint/2010/main" val="47412468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9E577E-E88E-498B-BB53-2DFFAA2D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RISCO ESTRUTURAL · CARTEIRA I · CONSIGNADO INSS E FGTS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766DF9-754D-44E6-8994-7A3729E2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152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Consignado INSS e FGTS | Sub atual e mínimos documentais por veículo; 9 estruturas exigem leitura separada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6E2EC-3269-4B29-98B1-90393DE8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C4E72-E37B-4E6B-9F05-F0968F25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C9B65-A420-4313-A7AB-C22EB1FD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CVM, Informe Mensal, jun/26; pisos em regulamentos FundosNet/B3. Lacunas ficam fora do slide e permanecem no workbook/explorador.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936CF-B1D6-496F-AA4C-F7037AAD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7" name="mvp-summary-structural_mvp_consignado-1">
            <a:extLst xmlns:a="http://schemas.openxmlformats.org/drawingml/2006/main">
              <a:ext uri="{FF2B5EF4-FFF2-40B4-BE49-F238E27FC236}">
                <a16:creationId xmlns:a16="http://schemas.microsoft.com/office/drawing/2014/main" id="{23692BC2-3AAA-47CC-9EE3-14C99933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52525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0">
            <a:solidFill>
              <a:srgbClr val="EAF0F7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COBERTURA DO SLIDE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9/12 CNPJs · R$ 7,2 bi de R$ 10,5 bi</a:t>
            </a:r>
          </a:p>
        </p:txBody>
      </p:sp>
      <p:sp>
        <p:nvSpPr>
          <p:cNvPr id="8" name="mvp-summary-structural_mvp_consignado-2">
            <a:extLst xmlns:a="http://schemas.openxmlformats.org/drawingml/2006/main">
              <a:ext uri="{FF2B5EF4-FFF2-40B4-BE49-F238E27FC236}">
                <a16:creationId xmlns:a16="http://schemas.microsoft.com/office/drawing/2014/main" id="{B4B76D70-20AE-4CD0-9832-F1D80C71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152525"/>
            <a:ext cx="4810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5D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REFERÊNCIA DE MERCADO · SUB/PL ATUAL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INSS carteira 14,9% vs. pares 16,1% | FGTS carteira 18,3% vs. pares 17,2%</a:t>
            </a:r>
          </a:p>
        </p:txBody>
      </p:sp>
      <p:sp>
        <p:nvSpPr>
          <p:cNvPr id="9" name="mvp-summary-structural_mvp_consignado-3">
            <a:extLst xmlns:a="http://schemas.openxmlformats.org/drawingml/2006/main">
              <a:ext uri="{FF2B5EF4-FFF2-40B4-BE49-F238E27FC236}">
                <a16:creationId xmlns:a16="http://schemas.microsoft.com/office/drawing/2014/main" id="{A677FA70-B329-40D6-9710-590CA11A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52525"/>
            <a:ext cx="2905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6"/>
          </a:solidFill>
          <a:ln xmlns:a="http://schemas.openxmlformats.org/drawingml/2006/main" w="0">
            <a:solidFill>
              <a:srgbClr val="FFF1E6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LEITURA RELATIVA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≈ Em linha nos dois grupos</a:t>
            </a:r>
          </a:p>
        </p:txBody>
      </p:sp>
      <p:sp>
        <p:nvSpPr>
          <p:cNvPr id="10" name="mvp-band-structural_mvp_consignado-1">
            <a:extLst xmlns:a="http://schemas.openxmlformats.org/drawingml/2006/main">
              <a:ext uri="{FF2B5EF4-FFF2-40B4-BE49-F238E27FC236}">
                <a16:creationId xmlns:a16="http://schemas.microsoft.com/office/drawing/2014/main" id="{494895F3-480D-4B06-B305-0513FF5C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&lt; 10%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A8B532-75B3-418A-96FF-0F1146ED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vp-band-structural_mvp_consignado-2">
            <a:extLst xmlns:a="http://schemas.openxmlformats.org/drawingml/2006/main">
              <a:ext uri="{FF2B5EF4-FFF2-40B4-BE49-F238E27FC236}">
                <a16:creationId xmlns:a16="http://schemas.microsoft.com/office/drawing/2014/main" id="{378E939F-FE4A-4156-BA8E-09857948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10%–15%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D461F3-B7D2-4A00-A2AB-C06C5D36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vp-card-structural_mvp_consignado-63546406000194">
            <a:extLst xmlns:a="http://schemas.openxmlformats.org/drawingml/2006/main">
              <a:ext uri="{FF2B5EF4-FFF2-40B4-BE49-F238E27FC236}">
                <a16:creationId xmlns:a16="http://schemas.microsoft.com/office/drawing/2014/main" id="{8C4BDD6D-CDF2-47AB-9974-07ABA2A0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PINE INSS III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R$ 1,2 bi · Sub atual 14,9%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1,5% · Estr. N/D*</a:t>
            </a:r>
          </a:p>
        </p:txBody>
      </p:sp>
      <p:sp>
        <p:nvSpPr>
          <p:cNvPr id="15" name="mvp-card-structural_mvp_consignado-65347578000164">
            <a:extLst xmlns:a="http://schemas.openxmlformats.org/drawingml/2006/main">
              <a:ext uri="{FF2B5EF4-FFF2-40B4-BE49-F238E27FC236}">
                <a16:creationId xmlns:a16="http://schemas.microsoft.com/office/drawing/2014/main" id="{9CBF50A7-B867-448B-B9E7-2710AFB9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26384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ICRED INSS III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R$ 664,8 mi · Sub atual 13,5%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2,5% · Estr. N/D*</a:t>
            </a:r>
          </a:p>
        </p:txBody>
      </p:sp>
      <p:sp>
        <p:nvSpPr>
          <p:cNvPr id="16" name="mvp-band-structural_mvp_consignado-3">
            <a:extLst xmlns:a="http://schemas.openxmlformats.org/drawingml/2006/main">
              <a:ext uri="{FF2B5EF4-FFF2-40B4-BE49-F238E27FC236}">
                <a16:creationId xmlns:a16="http://schemas.microsoft.com/office/drawing/2014/main" id="{CB5BE569-AE46-429E-B1A2-F8F9A1CE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15%–20%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B897BB-8B32-4DCE-9538-78813153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vp-card-structural_mvp_consignado-65976848000104">
            <a:extLst xmlns:a="http://schemas.openxmlformats.org/drawingml/2006/main">
              <a:ext uri="{FF2B5EF4-FFF2-40B4-BE49-F238E27FC236}">
                <a16:creationId xmlns:a16="http://schemas.microsoft.com/office/drawing/2014/main" id="{30D86E2B-9144-4C3A-9F48-1D25CC48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AGIBANK II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R$ 3,0 bi · Sub atual 15,2%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5,0% · Estr. N/D*</a:t>
            </a:r>
          </a:p>
        </p:txBody>
      </p:sp>
      <p:sp>
        <p:nvSpPr>
          <p:cNvPr id="19" name="mvp-card-structural_mvp_consignado-54810968000102">
            <a:extLst xmlns:a="http://schemas.openxmlformats.org/drawingml/2006/main">
              <a:ext uri="{FF2B5EF4-FFF2-40B4-BE49-F238E27FC236}">
                <a16:creationId xmlns:a16="http://schemas.microsoft.com/office/drawing/2014/main" id="{3BB49480-97CF-44D8-9A5F-D08CECB4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6384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ANGÁ FGTS III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R$ 965,3 mi · Sub atual 16,1%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5,0% · Estr. N/D*</a:t>
            </a:r>
          </a:p>
        </p:txBody>
      </p:sp>
      <p:sp>
        <p:nvSpPr>
          <p:cNvPr id="20" name="mvp-card-structural_mvp_consignado-54464892000100">
            <a:extLst xmlns:a="http://schemas.openxmlformats.org/drawingml/2006/main">
              <a:ext uri="{FF2B5EF4-FFF2-40B4-BE49-F238E27FC236}">
                <a16:creationId xmlns:a16="http://schemas.microsoft.com/office/drawing/2014/main" id="{B02AC1BA-B5A3-4C5D-AB39-C48CA699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30956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MT FGTS RECEIVABLES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R$ 697,5 mi · Sub atual 19,4%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3,5% · Estr. N/D*</a:t>
            </a:r>
          </a:p>
        </p:txBody>
      </p:sp>
      <p:sp>
        <p:nvSpPr>
          <p:cNvPr id="21" name="mvp-card-structural_mvp_consignado-55401645000128">
            <a:extLst xmlns:a="http://schemas.openxmlformats.org/drawingml/2006/main">
              <a:ext uri="{FF2B5EF4-FFF2-40B4-BE49-F238E27FC236}">
                <a16:creationId xmlns:a16="http://schemas.microsoft.com/office/drawing/2014/main" id="{0A629FCA-D2AC-48C0-942E-CEEF1C4C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35528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QUATÁ FDC FGTS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R$ 225,0 mi · Sub atual 17,3%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3,0% · Estr. N/D*</a:t>
            </a:r>
          </a:p>
        </p:txBody>
      </p:sp>
      <p:sp>
        <p:nvSpPr>
          <p:cNvPr id="22" name="mvp-card-structural_mvp_consignado-54252144000164">
            <a:extLst xmlns:a="http://schemas.openxmlformats.org/drawingml/2006/main">
              <a:ext uri="{FF2B5EF4-FFF2-40B4-BE49-F238E27FC236}">
                <a16:creationId xmlns:a16="http://schemas.microsoft.com/office/drawing/2014/main" id="{F3461D42-3BA5-4242-9DC1-BCB62C5A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40100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J17 FGTS FINANCEIRO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R$ 213,6 mi · Sub atual 15,0%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5,0% · Estr. N/D*</a:t>
            </a:r>
          </a:p>
        </p:txBody>
      </p:sp>
      <p:sp>
        <p:nvSpPr>
          <p:cNvPr id="23" name="mvp-band-structural_mvp_consignado-4">
            <a:extLst xmlns:a="http://schemas.openxmlformats.org/drawingml/2006/main">
              <a:ext uri="{FF2B5EF4-FFF2-40B4-BE49-F238E27FC236}">
                <a16:creationId xmlns:a16="http://schemas.microsoft.com/office/drawing/2014/main" id="{C764BB41-447D-430D-A688-F68F4A8E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20%–35%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0CC38C-E243-4470-B1A6-7595C3EF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mvp-card-structural_mvp_consignado-53577135000180">
            <a:extLst xmlns:a="http://schemas.openxmlformats.org/drawingml/2006/main">
              <a:ext uri="{FF2B5EF4-FFF2-40B4-BE49-F238E27FC236}">
                <a16:creationId xmlns:a16="http://schemas.microsoft.com/office/drawing/2014/main" id="{41AEF530-6AA8-40DE-8BA1-F36AE73A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ANGÁ FGTS II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R$ 249,7 mi · Sub atual 22,0%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15,0% · Estr. N/D*</a:t>
            </a:r>
          </a:p>
        </p:txBody>
      </p:sp>
      <p:sp>
        <p:nvSpPr>
          <p:cNvPr id="26" name="mvp-card-structural_mvp_consignado-53270983000142">
            <a:extLst xmlns:a="http://schemas.openxmlformats.org/drawingml/2006/main">
              <a:ext uri="{FF2B5EF4-FFF2-40B4-BE49-F238E27FC236}">
                <a16:creationId xmlns:a16="http://schemas.microsoft.com/office/drawing/2014/main" id="{0DB40966-D3DC-4173-BD5C-B7791A98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384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ANGÁ FGTS +AG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R$ 71,1 mi · Sub atual 20,2%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8,0% · Estr. N/D*</a:t>
            </a:r>
          </a:p>
        </p:txBody>
      </p:sp>
      <p:sp>
        <p:nvSpPr>
          <p:cNvPr id="27" name="mvp-band-structural_mvp_consignado-5">
            <a:extLst xmlns:a="http://schemas.openxmlformats.org/drawingml/2006/main">
              <a:ext uri="{FF2B5EF4-FFF2-40B4-BE49-F238E27FC236}">
                <a16:creationId xmlns:a16="http://schemas.microsoft.com/office/drawing/2014/main" id="{EE3F24F9-0D36-4B67-A156-B31CDBFF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35%–60%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2D020F-05EB-4052-AC96-C5093366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mvp-band-structural_mvp_consignado-6">
            <a:extLst xmlns:a="http://schemas.openxmlformats.org/drawingml/2006/main">
              <a:ext uri="{FF2B5EF4-FFF2-40B4-BE49-F238E27FC236}">
                <a16:creationId xmlns:a16="http://schemas.microsoft.com/office/drawing/2014/main" id="{9FA456F9-F2E5-4640-9E9E-0AE4F3A3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≥ 60%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3D8BC8-EB96-4777-97C2-0473C2E4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C2131B-032B-4F20-807F-43365D2C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1104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879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Vinho = abaixo do mínimo estrutural · âmbar = até 2 p.p. acima · azul = mais de 2 p.p. acima · cinza = estrutura incomparável. * Categoria editorial ou piso total, combinado, calculado, ajustado ou sem equivalência direta.</a:t>
            </a:r>
          </a:p>
        </p:txBody>
      </p:sp>
    </p:spTree>
    <p:extLst>
      <p:ext uri="{BB962C8B-B14F-4D97-AF65-F5344CB8AC3E}">
        <p14:creationId xmlns:p14="http://schemas.microsoft.com/office/powerpoint/2010/main" val="170884713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86DB83-9347-4B02-8980-1A160C89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RISCO ESTRUTURAL · CARTEIRA I · FACTORING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B6647F-5540-456B-B939-37F4A63E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85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Factoring | Sub atual e mínimos documentais por veículo; 3 estruturas exigem leitura separada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72073D-098B-4D44-8751-70227D8D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FBCA9-1297-4AFE-85AD-AECCBB70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119EB9-2835-4632-B2CD-2A82F022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CVM, Informe Mensal, jun/26; pisos em regulamentos FundosNet/B3. Lacunas ficam fora do slide e permanecem no workbook/explorador.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B5815-32FA-47B8-8AAC-BBED6A68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7" name="mvp-summary-structural_mvp_factoring-1">
            <a:extLst xmlns:a="http://schemas.openxmlformats.org/drawingml/2006/main">
              <a:ext uri="{FF2B5EF4-FFF2-40B4-BE49-F238E27FC236}">
                <a16:creationId xmlns:a16="http://schemas.microsoft.com/office/drawing/2014/main" id="{A9720B49-44A3-47F7-82F1-DCDD7528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52525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0">
            <a:solidFill>
              <a:srgbClr val="EAF0F7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COBERTURA DO SLIDE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3/4 CNPJs · R$ 4,2 bi de R$ 4,4 bi</a:t>
            </a:r>
          </a:p>
        </p:txBody>
      </p:sp>
      <p:sp>
        <p:nvSpPr>
          <p:cNvPr id="8" name="mvp-summary-structural_mvp_factoring-2">
            <a:extLst xmlns:a="http://schemas.openxmlformats.org/drawingml/2006/main">
              <a:ext uri="{FF2B5EF4-FFF2-40B4-BE49-F238E27FC236}">
                <a16:creationId xmlns:a16="http://schemas.microsoft.com/office/drawing/2014/main" id="{3C0B5318-B5E5-467E-880E-BC911A72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152525"/>
            <a:ext cx="4810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5D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REFERÊNCIA DE MERCADO · SUB/PL ATUAL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2 pares com Sub/PL atual</a:t>
            </a:r>
          </a:p>
        </p:txBody>
      </p:sp>
      <p:sp>
        <p:nvSpPr>
          <p:cNvPr id="9" name="mvp-summary-structural_mvp_factoring-3">
            <a:extLst xmlns:a="http://schemas.openxmlformats.org/drawingml/2006/main">
              <a:ext uri="{FF2B5EF4-FFF2-40B4-BE49-F238E27FC236}">
                <a16:creationId xmlns:a16="http://schemas.microsoft.com/office/drawing/2014/main" id="{D19F5C3D-37E3-41BB-9B1A-C41FDDC5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52525"/>
            <a:ext cx="2905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6"/>
          </a:solidFill>
          <a:ln xmlns:a="http://schemas.openxmlformats.org/drawingml/2006/main" w="0">
            <a:solidFill>
              <a:srgbClr val="FFF1E6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LEITURA RELATIVA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7A1F3D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7A1F3D"/>
                </a:solidFill>
                <a:latin typeface="Arial"/>
                <a:ea typeface="Arial"/>
                <a:cs typeface="Arial"/>
              </a:rPr>
              <a:t>N/D · benchmark insuficiente</a:t>
            </a:r>
          </a:p>
        </p:txBody>
      </p:sp>
      <p:sp>
        <p:nvSpPr>
          <p:cNvPr id="10" name="mvp-band-structural_mvp_factoring-1">
            <a:extLst xmlns:a="http://schemas.openxmlformats.org/drawingml/2006/main">
              <a:ext uri="{FF2B5EF4-FFF2-40B4-BE49-F238E27FC236}">
                <a16:creationId xmlns:a16="http://schemas.microsoft.com/office/drawing/2014/main" id="{FA53D8F9-CDB0-4537-B767-D84F4939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&lt; 10%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6A50F-DDE1-4326-A590-0E1500D6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vp-band-structural_mvp_factoring-2">
            <a:extLst xmlns:a="http://schemas.openxmlformats.org/drawingml/2006/main">
              <a:ext uri="{FF2B5EF4-FFF2-40B4-BE49-F238E27FC236}">
                <a16:creationId xmlns:a16="http://schemas.microsoft.com/office/drawing/2014/main" id="{DB423B24-3023-42A3-BC6D-FF15DC54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10%–15%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2D3C64-EEAE-4AA5-A658-ABD067C8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vp-band-structural_mvp_factoring-3">
            <a:extLst xmlns:a="http://schemas.openxmlformats.org/drawingml/2006/main">
              <a:ext uri="{FF2B5EF4-FFF2-40B4-BE49-F238E27FC236}">
                <a16:creationId xmlns:a16="http://schemas.microsoft.com/office/drawing/2014/main" id="{CB904D3E-1B4B-494A-90EC-8C74FCFA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15%–20%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ECC4A1-F6DD-46DE-AAE2-FC2EE111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vp-band-structural_mvp_factoring-4">
            <a:extLst xmlns:a="http://schemas.openxmlformats.org/drawingml/2006/main">
              <a:ext uri="{FF2B5EF4-FFF2-40B4-BE49-F238E27FC236}">
                <a16:creationId xmlns:a16="http://schemas.microsoft.com/office/drawing/2014/main" id="{C2C5CE19-4E3F-4034-AC1C-BB177A89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20%–35%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02C568-F12C-4C96-915A-F190DE3D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vp-band-structural_mvp_factoring-5">
            <a:extLst xmlns:a="http://schemas.openxmlformats.org/drawingml/2006/main">
              <a:ext uri="{FF2B5EF4-FFF2-40B4-BE49-F238E27FC236}">
                <a16:creationId xmlns:a16="http://schemas.microsoft.com/office/drawing/2014/main" id="{697BDF59-90F6-434B-A801-AF7AF2A9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35%–60%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2E7B76-B9CF-4F7C-80B5-0A0D4EB8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vp-card-structural_mvp_factoring-18185812000114">
            <a:extLst xmlns:a="http://schemas.openxmlformats.org/drawingml/2006/main">
              <a:ext uri="{FF2B5EF4-FFF2-40B4-BE49-F238E27FC236}">
                <a16:creationId xmlns:a16="http://schemas.microsoft.com/office/drawing/2014/main" id="{230E71FB-A8CD-417E-B132-B400CC56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GAVEA SUL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R$ 562,0 mi · Sub atual 45,8%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22,0% · Estr. N/D*</a:t>
            </a:r>
          </a:p>
        </p:txBody>
      </p:sp>
      <p:sp>
        <p:nvSpPr>
          <p:cNvPr id="21" name="mvp-card-structural_mvp_factoring-17468142000180">
            <a:extLst xmlns:a="http://schemas.openxmlformats.org/drawingml/2006/main">
              <a:ext uri="{FF2B5EF4-FFF2-40B4-BE49-F238E27FC236}">
                <a16:creationId xmlns:a16="http://schemas.microsoft.com/office/drawing/2014/main" id="{C79B9086-64E4-4657-97EA-ABD33F1C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6384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VALOREM MULTISETORIAL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R$ 511,8 mi · Sub atual 47,1%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15,0% · Estr. N/D*</a:t>
            </a:r>
          </a:p>
        </p:txBody>
      </p:sp>
      <p:sp>
        <p:nvSpPr>
          <p:cNvPr id="22" name="mvp-band-structural_mvp_factoring-6">
            <a:extLst xmlns:a="http://schemas.openxmlformats.org/drawingml/2006/main">
              <a:ext uri="{FF2B5EF4-FFF2-40B4-BE49-F238E27FC236}">
                <a16:creationId xmlns:a16="http://schemas.microsoft.com/office/drawing/2014/main" id="{90D45DC2-DCA6-486E-A5C1-15653784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1885950"/>
            <a:ext cx="177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02B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2B5C"/>
                </a:solidFill>
                <a:latin typeface="Arial"/>
                <a:ea typeface="Arial"/>
                <a:cs typeface="Arial"/>
              </a:rPr>
              <a:t>≥ 60%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7F8685-9EFE-42CC-A0A3-4620B003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114550"/>
            <a:ext cx="177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mvp-card-structural_mvp_factoring-11468186000124">
            <a:extLst xmlns:a="http://schemas.openxmlformats.org/drawingml/2006/main">
              <a:ext uri="{FF2B5EF4-FFF2-40B4-BE49-F238E27FC236}">
                <a16:creationId xmlns:a16="http://schemas.microsoft.com/office/drawing/2014/main" id="{EA609FC0-99DD-4B11-9E6D-51ADF104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181225"/>
            <a:ext cx="177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DC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ATLANTA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R$ 3,1 bi · Sub atual 79,7%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00" b="1">
                <a:solidFill>
                  <a:srgbClr val="5E646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E646A"/>
                </a:solidFill>
                <a:latin typeface="Arial"/>
                <a:ea typeface="Arial"/>
                <a:cs typeface="Arial"/>
              </a:rPr>
              <a:t>Jr 50,0% · Estr. N/D*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8C3D17-831D-4260-A0B1-5FAA371B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1104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879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Vinho = abaixo do mínimo estrutural · âmbar = até 2 p.p. acima · azul = mais de 2 p.p. acima · cinza = estrutura incomparável. * Categoria editorial ou piso total, combinado, calculado, ajustado ou sem equivalência direta.</a:t>
            </a:r>
          </a:p>
        </p:txBody>
      </p:sp>
    </p:spTree>
    <p:extLst>
      <p:ext uri="{BB962C8B-B14F-4D97-AF65-F5344CB8AC3E}">
        <p14:creationId xmlns:p14="http://schemas.microsoft.com/office/powerpoint/2010/main" val="145322838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A35FAA-362A-461F-8585-1210FF95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Emissões crescem 15% no semestre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DE7B6-FB49-487A-9474-203FDCC0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R$ 65,5 bi em 771 ofertas no jan–jun/26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BBE51-6548-420D-A831-4D294861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31DD6-A17D-4371-9B08-5DC66916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64D60-1450-4DD1-BDBE-34814CA1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CVM/SRE, dois arquivos de ofertas, snapshot 24/jul/26. Primárias encerradas, todos os ritos; volume registrado.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11032-EA65-4209-ABFF-03DB5053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9A098-F884-4909-808C-37D6EBDB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Volume registrado e ticket · FY / YTD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6F7C26-2D36-4851-AE82-2BC89680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47825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571500" y="1714500"/>
          <a:ext xmlns:a="http://schemas.openxmlformats.org/drawingml/2006/main" cx="5238750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3925a4029f4ea4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614F27-CAA5-4607-A4B8-FE6AF40D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Volume acumulado · jan–dez · R$ bi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D6B698-F59E-4393-97C1-A0E23412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47825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6381750" y="1714500"/>
          <a:ext xmlns:a="http://schemas.openxmlformats.org/drawingml/2006/main" cx="5238750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fc3f5ffab1a4066"/>
          </a:graphicData>
        </a:graphic>
      </p:graphicFrame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7715250" y="4000500"/>
          <a:ext xmlns:a="http://schemas.openxmlformats.org/drawingml/2006/main" cx="3905250" cy="20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b911e7ea5b44c4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B1CD74-6825-4FF9-86A2-549A05F0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9575"/>
            <a:ext cx="523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2026 encerra em jun/26; as curvas de 2024 e 2025 seguem até dezembro.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571500" y="4286250"/>
          <a:ext xmlns:a="http://schemas.openxmlformats.org/drawingml/2006/main" cx="11049000" cy="16192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952500"/>
                <a:gridCol w="1476375"/>
                <a:gridCol w="1714500"/>
                <a:gridCol w="1476375"/>
                <a:gridCol w="1476375"/>
                <a:gridCol w="1952625"/>
                <a:gridCol w="2000250"/>
              </a:tblGrid>
              <a:tr h="2286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Ano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Ofertas encerradas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Volume registrado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Ticket médio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Ticket mediano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PF no volume colocado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Público profissional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1971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2022 FY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R$ 2,7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R$ 392,7 mi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R$ 200,0 mi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71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2023 FY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350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R$ 26,5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R$ 75,6 mi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R$ 23,3 mi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4,3%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96,8%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71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2024 FY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1.009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R$ 95,4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R$ 94,6 mi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R$ 30,0 mi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4,6%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94,4%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71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2025 FY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1.473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R$ 116,9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R$ 79,4 mi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R$ 25,0 mi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6,6%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92,8%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71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2026 YTD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771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R$ 65,5 bi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R$ 84,9 mi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R$ 22,5 mi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4,0%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93,8%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D46C5D-6397-4C8F-917D-44F26EC4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6265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PF representa 4,0% do proxy colocado; cobertura 97,3%. Público profissional usa o volume registrado total como denominador, incluindo N/D; 2022 = N/D por ausência de reporte.</a:t>
            </a:r>
          </a:p>
        </p:txBody>
      </p:sp>
    </p:spTree>
    <p:extLst>
      <p:ext uri="{BB962C8B-B14F-4D97-AF65-F5344CB8AC3E}">
        <p14:creationId xmlns:p14="http://schemas.microsoft.com/office/powerpoint/2010/main" val="47067683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8BE547-F3FB-4A79-9A34-1A32A091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22 ofertas concentram 42% de todo o volume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C4CA5-4093-4467-8A0D-4ECA844B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Tickets acima de R$ 500 mi, jan–jun/26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E41C5-C5B7-45CF-A3DD-D6818604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EFF3C-8BA5-40DE-A806-0513558D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7721B-5685-41C6-A9F7-9187B7F8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CVM/SRE, dois arquivos de ofertas; mesma coorte primária encerrada do slide anterior. 2026 = jan–jun.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39987-5A15-4746-BB44-EDC5BAE8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42526D-C5D0-4B03-A5B7-3BC5DFF1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% das ofertas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BFB3F-05D3-4499-BD2D-B6405580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47825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9" name="Chart"/>
          <p:cNvGraphicFramePr/>
          <p:nvPr/>
        </p:nvGraphicFramePr>
        <p:xfrm>
          <a:off xmlns:a="http://schemas.openxmlformats.org/drawingml/2006/main" x="571500" y="1743075"/>
          <a:ext xmlns:a="http://schemas.openxmlformats.org/drawingml/2006/main" cx="3429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42ed8fcf1f4bf0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8C3579-3850-476A-831A-1FCA6252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81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% do volume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D28D7F-3FE2-4B90-82F1-AE7BF106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47825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4286250" y="1743075"/>
          <a:ext xmlns:a="http://schemas.openxmlformats.org/drawingml/2006/main" cx="3429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13d7a53bb5d408f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894E98-AEF3-47EA-A93B-C82286AB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8112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Volume · R$ bi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2AAD74-8CFD-4B5A-AB93-FCDB7AB5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47825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5" name="Chart"/>
          <p:cNvGraphicFramePr/>
          <p:nvPr/>
        </p:nvGraphicFramePr>
        <p:xfrm>
          <a:off xmlns:a="http://schemas.openxmlformats.org/drawingml/2006/main" x="8001000" y="1743075"/>
          <a:ext xmlns:a="http://schemas.openxmlformats.org/drawingml/2006/main" cx="3619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8231e69239847a2"/>
          </a:graphicData>
        </a:graphic>
      </p:graphicFrame>
      <p:graphicFrame>
        <p:nvGraphicFramePr>
          <p:cNvPr id="46" name="Chart"/>
          <p:cNvGraphicFramePr/>
          <p:nvPr/>
        </p:nvGraphicFramePr>
        <p:xfrm>
          <a:off xmlns:a="http://schemas.openxmlformats.org/drawingml/2006/main" x="4048125" y="5486400"/>
          <a:ext xmlns:a="http://schemas.openxmlformats.org/drawingml/2006/main" cx="4095750" cy="20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5a411e56f84c7d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88C66E-6370-4215-9422-8F86090F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05475"/>
            <a:ext cx="1104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Faixas do eixo em R$ mi; fecham no limite inferior. “&gt; R$ 100 mi” é estrito e exclui ofertas exatamente iguais a R$ 100 mi.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9CD474-B742-4279-B8D5-B8838D09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2024FY · &gt; R$ 100 mi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D411DC-7CDB-4F2A-89B9-5AF0CB4F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48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R$ 72,0 bi · 75,5% do volume · 181 ofertas (17,9%)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2D7DDB-6A1A-4C2B-92A8-4A8BC4FA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8674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DB5519-165C-4273-B077-2BEB25F1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8674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2025FY · &gt; R$ 100 mi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9406DC-2702-4F74-931D-A6A16320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048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R$ 81,8 bi · 69,9% do volume · 227 ofertas (15,4%)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D74F10-1703-4344-B0AC-AB3CBCC0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8674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505F39-69A8-4A8D-95E3-F5252BB2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8674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2026 YTD · &gt; R$ 100 mi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A521DA-FAEE-44A7-B3CB-A2A03DD7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0483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R$ 47,7 bi · 72,9% do volume · 120 ofertas (15,6%)</a:t>
            </a:r>
          </a:p>
        </p:txBody>
      </p:sp>
    </p:spTree>
    <p:extLst>
      <p:ext uri="{BB962C8B-B14F-4D97-AF65-F5344CB8AC3E}">
        <p14:creationId xmlns:p14="http://schemas.microsoft.com/office/powerpoint/2010/main" val="62279625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38B117-7528-475C-8C71-F3AF669E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OFERTAS · VOLUME E REGIME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1A382E-2DA6-4BCE-8E3B-64AB4ECB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Emissões | Garantia firme cresceu 37% YoY YTD, de R$ 10,4 bi para R$ 14,3 bi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205BFB-8325-4292-8F7C-5A38489C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8A93A-1F5B-4070-8BFC-5294ED70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92CD9D-3182-4A2A-829D-F59E0AFA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CVM/SRE, dois arquivos de ofertas, snapshot 24/jul/26. Regime declarado; campo ausente = Não informado.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3C2152-D20C-4E70-AF38-5E331CE8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E941CE-69A3-464B-8F29-CD3CA506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Melhores esforços repr. 69,2% do volume em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888F6D-6786-4D0D-B764-CAC0835A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24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9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445BD0-6A88-49C1-9C4B-B96AD12D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57350"/>
            <a:ext cx="102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2024FY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D2DB65-9391-4903-87AA-0EA51F0D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8625" y="1724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E75B57-19C8-48A3-A636-F3AF24DA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2450" y="1657350"/>
            <a:ext cx="102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2025FY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450C15-4820-4166-AAEC-51C9F380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3375" y="1724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9A0A6A-694E-4356-AA55-2611906C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200" y="1657350"/>
            <a:ext cx="102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2026 jan–jun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8071EB-3B97-4DEB-9C22-B15B1A1F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Regime de colocação · participação no volume · % do total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072942-A70E-4DC9-BFFE-01001E6A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478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9973a1f2434aca"/>
          </a:graphicData>
        </a:graphic>
      </p:graphicFrame>
    </p:spTree>
    <p:extLst>
      <p:ext uri="{BB962C8B-B14F-4D97-AF65-F5344CB8AC3E}">
        <p14:creationId xmlns:p14="http://schemas.microsoft.com/office/powerpoint/2010/main" val="130962404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859F74-56C2-4EBB-9D31-DEAE228A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IBBA esteve em 8 das 15 maiores ofertas do semestre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758C7-FD55-4290-82DF-79FB541A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Liderou 5 delas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7C029-09F3-4B8D-AE14-5DC60827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6861B-7071-4ACC-8212-99225119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F73FDF-14CC-429C-B097-4E99B160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 e FundosNet. jan–jun/26, ofertas primárias encerradas; volume registrado.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3798E-FCBA-4D65-A423-F219066D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7C9BC-D51D-4333-9C86-25C3D742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jan–jun/26 · Top 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E43037-64C9-4B75-9552-71665F4B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571500" y="1438275"/>
          <a:ext xmlns:a="http://schemas.openxmlformats.org/drawingml/2006/main" cx="11049000" cy="47053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304800"/>
                <a:gridCol w="552450"/>
                <a:gridCol w="1333500"/>
                <a:gridCol w="2000250"/>
                <a:gridCol w="1190625"/>
                <a:gridCol w="1190625"/>
                <a:gridCol w="1047750"/>
                <a:gridCol w="1428750"/>
                <a:gridCol w="1285875"/>
                <a:gridCol w="714375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Emis.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Originador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Preço por cota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24947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62393679000183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CloudWalk Bela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CloudWalk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1,0% até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R$ 1.000,00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5,50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22244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62588266000154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VTK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Facta*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2,85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25826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65976848000104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AGIBANK II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Agibank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2,50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24712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50114948000146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DRIVER BRASIL SIX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Banco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2,00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24433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63572282000111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SELLER 3 MEIOS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Mercado Pago /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10,0%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R$ 1.000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1,50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25379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63546406000194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Pine INSS III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Banco Pine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1,5%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1,25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26277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65839682000176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INVESTIMENTOS PICPAY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PicPay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1,25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23614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63733796000101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ICRED INSS II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ICred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24212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64118207000148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JIVEMAUÁ BOSSANOVA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Não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24371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62393829000159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COMERCIAIS MEDICI 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Fornecedores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BRF*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25708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28169275000172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PagSeguro 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PagSeguro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PagSeguro*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24266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63505455000189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IS GREEN SOLFACIL VII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Solfácil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0,77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26532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66226355000101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DAYCOVAL D413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Não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0,75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23529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61669748000176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LAVORO FORNECEDORES DO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Lavoro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0,73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23032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44302112000172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CLASSE ÚNICA AGRO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Bayer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0,70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DC363B-0BE4-4944-B48F-AA884BF5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104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Subtotal: R$ 23,82 bi · 36,4% do período. * = exceção/múltiplas classes; campos integrais: aba Auditoria emissões.</a:t>
            </a:r>
          </a:p>
        </p:txBody>
      </p:sp>
    </p:spTree>
    <p:extLst>
      <p:ext uri="{BB962C8B-B14F-4D97-AF65-F5344CB8AC3E}">
        <p14:creationId xmlns:p14="http://schemas.microsoft.com/office/powerpoint/2010/main" val="102387370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5BB2A4-3347-4611-8082-80A8F728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As 15 maiores ofertas de 2025 mantêm a base anual de comparação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31329-7159-48F3-983B-720E146A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2025FY · ofertas primárias encerradas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E05AA-882E-495F-ACBC-B942626C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A62483-0572-4A45-927A-049F212D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B5015-BEAA-4FA2-8F1D-766D66D7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 e FundosNet. 2025FY, ofertas primárias encerradas; volume registrado.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920AB-FCD0-4DBD-9912-4ED59B29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F5DED6-47FE-4722-A5DB-96BDDFBA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2025 FY · Top 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437AA0-90AE-4C7E-8196-67564D75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571500" y="1438275"/>
          <a:ext xmlns:a="http://schemas.openxmlformats.org/drawingml/2006/main" cx="11049000" cy="47053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304800"/>
                <a:gridCol w="552450"/>
                <a:gridCol w="1333500"/>
                <a:gridCol w="2000250"/>
                <a:gridCol w="1190625"/>
                <a:gridCol w="1190625"/>
                <a:gridCol w="1047750"/>
                <a:gridCol w="1428750"/>
                <a:gridCol w="1285875"/>
                <a:gridCol w="714375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Emis.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Originador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Preço por cota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17862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47228232000165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AGRO FLEX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Carteira agro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3,40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20185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60356171000180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CW PI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CloudWalk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2,5%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R$ 1,00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3,14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23734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63662224000189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SANTANDER AUTO LOANS 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Banco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3,00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20351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60528786000146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AGIBANK 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Agibank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2,00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19640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59356753000187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ER - ENERGIA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Não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1,90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21258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56924942000110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ASA LP II COTAS LIM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Não aplicável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1,54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18230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47228232000165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AGRO FLEX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Carteira agro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1,50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20365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47228232000165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AGRO FLEX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Carteira agro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1,50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20694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50473039000102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Sellers 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Mercado Pago /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Mercado Livre*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10,0%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R$ 1.000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1,50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21550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60598366000136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BV AUTO II FINANCEIRO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Banco BV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1,50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22987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63321684000143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PINE INSS II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Banco Pine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1,25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19298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58349979000198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VOLKSWAGEN TERA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Banco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Volkswagen do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21006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61188091000125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BYX MOZART - CRÉDITO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Não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21036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61271872000189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PINE INSS FINANCEIRO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Banco Pine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21208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17250006000110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RED REAL LP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BB2D58-EACB-4BE1-A969-E3D2ED1E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104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Subtotal: R$ 26,23 bi · 22,4% do período. * = exceção/múltiplas classes; campos integrais: aba Auditoria emissões.</a:t>
            </a:r>
          </a:p>
        </p:txBody>
      </p:sp>
    </p:spTree>
    <p:extLst>
      <p:ext uri="{BB962C8B-B14F-4D97-AF65-F5344CB8AC3E}">
        <p14:creationId xmlns:p14="http://schemas.microsoft.com/office/powerpoint/2010/main" val="170643946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EB0EB7-CBA6-450D-8936-E447B670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TOP 15 · HISTÓRICO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C9A21-0B48-4A14-80C4-9B03F91C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As maiores ofertas de 2024, com agência e nota em colunas separadas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D28D8E-6FEE-4FF2-A711-FB7AAEC0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0D68D-7CDE-493B-93DE-284A440D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DEC742-7FB2-44CC-80CA-69F70814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 e FundosNet. 2024FY, ofertas primárias encerradas; volume registrado.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0D29E-0DA0-4615-A91D-D05D576D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6EE25-5DEE-4ED0-955C-8EC8D2AD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2024 FY · Top 15 · 1/2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D851C1-71AD-442C-BC61-BF3507D0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571500" y="1438275"/>
          <a:ext xmlns:a="http://schemas.openxmlformats.org/drawingml/2006/main" cx="11049000" cy="40957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571500"/>
                <a:gridCol w="1266825"/>
                <a:gridCol w="1428750"/>
                <a:gridCol w="952500"/>
                <a:gridCol w="952500"/>
                <a:gridCol w="876300"/>
                <a:gridCol w="1285875"/>
                <a:gridCol w="1095375"/>
                <a:gridCol w="857250"/>
                <a:gridCol w="904875"/>
                <a:gridCol w="571500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Emis.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Originador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Preço por cota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Agência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Rating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18162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57532556000146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CLASSE A DO BV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Banco BV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3,51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15612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54979779000168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ACR BEM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Stone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S&amp;P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brAAA (sf)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3,50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3627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47228232000165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AGRO FLEX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3,50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3794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32321307000180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CITY - 02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Liberum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CCC(FE)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3,00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4203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52256912000122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ACR 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Austin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brAAA(sf)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2,78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17739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57609282000146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CLOUDWALK AGI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CloudWalk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Moody's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AAA.br(sf)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2,59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15753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54810968000102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Angá FGTS III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BMG*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1,52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15714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47228232000165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AGRO FLEX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1,50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B25467-843C-4CC6-AB98-C673798F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Continua em 2/2. Preço = valor unitário por cota; quantidade fica fora. * = exceção ou múltiplas classes.</a:t>
            </a:r>
          </a:p>
        </p:txBody>
      </p:sp>
    </p:spTree>
    <p:extLst>
      <p:ext uri="{BB962C8B-B14F-4D97-AF65-F5344CB8AC3E}">
        <p14:creationId xmlns:p14="http://schemas.microsoft.com/office/powerpoint/2010/main" val="181696752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25AF27-BCC7-4608-8E45-E81B3D98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TOP 15 · HISTÓRICO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8FDC4-BC19-4E07-9534-0F19333D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As maiores ofertas de 2024, com agência e nota em colunas separadas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B69BC9-CB2C-45B9-929F-E3AC561E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974D4-6D51-409B-B525-0473FEE3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E3726-6253-4B5A-BBF5-D8288B29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 e FundosNet. 2024FY, ofertas primárias encerradas; volume registrado.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07586F-59EE-4C22-9135-34D5BDD1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21471E-DA0B-47EE-9EBD-3C3603DF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2024 FY · Top 15 · 2/2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A02186-F66F-40FD-8380-6F6F3270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571500" y="1438275"/>
          <a:ext xmlns:a="http://schemas.openxmlformats.org/drawingml/2006/main" cx="11049000" cy="40957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571500"/>
                <a:gridCol w="1266825"/>
                <a:gridCol w="1428750"/>
                <a:gridCol w="952500"/>
                <a:gridCol w="952500"/>
                <a:gridCol w="876300"/>
                <a:gridCol w="1285875"/>
                <a:gridCol w="1095375"/>
                <a:gridCol w="857250"/>
                <a:gridCol w="904875"/>
                <a:gridCol w="571500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Emis.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Originador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Preço por cota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Agência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Rating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40719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18270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46450551000158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D365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D365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1,50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40719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16416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55471753000177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SELLER II MEIOS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Mercado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33,3%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R$ 1.000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S&amp;P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brAAA (sf)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40719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18027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28169275000172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PagSeguro 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PagSeguro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PagSeguro*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40719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3687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46073195000109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AGRO CITI-SYNGENTA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0,90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40719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18122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57028406000108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IS GREEN SOLFACIL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Solfácil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Solfácil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Austin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brAA(sf)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0,90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40719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14966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54218673000141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CW Big Pic. 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CloudWalk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2,5%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R$ 1.000,00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Moody's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AAA.br(sf)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0,88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40719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15820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55070804000159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Estrat. Vinc. II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Banco IBM*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0,85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7802B2-81AD-4A04-9027-975826D3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Subtotal Top 15: R$ 28,93 bi · 30,3% do período. * = exceção ou múltiplas classes.</a:t>
            </a:r>
          </a:p>
        </p:txBody>
      </p:sp>
    </p:spTree>
    <p:extLst>
      <p:ext uri="{BB962C8B-B14F-4D97-AF65-F5344CB8AC3E}">
        <p14:creationId xmlns:p14="http://schemas.microsoft.com/office/powerpoint/2010/main" val="85299902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620B2A-48E6-4FC5-8A9A-77981104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TOP 15 · HISTÓRICO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F7FA7-6685-4B15-A56A-ECF542E3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As maiores ofertas de 2023, com agência e nota em colunas separadas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94987F-E673-4FD8-9016-05355C1B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425DC5-6AB4-4503-B152-4DDBF1C9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DCA85-F10F-4D32-89BA-83DC9685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 e FundosNet. 2023FY, ofertas primárias encerradas; volume registrado.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8A596-1B96-4078-A388-D61F6926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1BEB5E-2B69-4FC0-AEFF-C1453996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2023 FY · Top 15 · 1/2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DC7A52-AF4F-4013-9B73-13C8C79D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571500" y="1438275"/>
          <a:ext xmlns:a="http://schemas.openxmlformats.org/drawingml/2006/main" cx="11049000" cy="40957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571500"/>
                <a:gridCol w="1266825"/>
                <a:gridCol w="1428750"/>
                <a:gridCol w="952500"/>
                <a:gridCol w="952500"/>
                <a:gridCol w="876300"/>
                <a:gridCol w="1285875"/>
                <a:gridCol w="1095375"/>
                <a:gridCol w="857250"/>
                <a:gridCol w="904875"/>
                <a:gridCol w="571500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Emis.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Originador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Preço por cota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Agência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Rating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1758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50473039000102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SELLER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Mercado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Mercado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10,0%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R$ 1.000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1,50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3483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51983832000106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ACR IV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S&amp;P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brAAA (sf)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816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48905593000161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PÁTRIA INFRA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0,98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3468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52720932000102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CLIENTES BRF II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0,94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1744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50114948000146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DRIVER BRASIL SIX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0,70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2925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51957370000152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Angá FGTS 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Austin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brAA+(sf)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0,61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578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49306883000151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TERRAMAR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0,51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562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3491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47936340000192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OPEA AGRO INSUMOS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BASF*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0,50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24FAD-04BE-4991-A5A1-422E9B63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Continua em 2/2. Preço = valor unitário por cota; quantidade fica fora. * = exceção ou múltiplas classes.</a:t>
            </a:r>
          </a:p>
        </p:txBody>
      </p:sp>
    </p:spTree>
    <p:extLst>
      <p:ext uri="{BB962C8B-B14F-4D97-AF65-F5344CB8AC3E}">
        <p14:creationId xmlns:p14="http://schemas.microsoft.com/office/powerpoint/2010/main" val="67227159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78012-AD9A-48A5-9056-A48A2411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TOP 15 · HISTÓRICO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2B6DD-8E82-496D-9351-2DA9D7A9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As maiores ofertas de 2023, com agência e nota em colunas separadas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BBD39-4A00-4198-A43A-4C7FC61B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6435B-6E9F-4BC8-B567-BBE17A00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34A24D-4256-494F-8CF0-C1F4FCD3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 e FundosNet. 2023FY, ofertas primárias encerradas; volume registrado.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5013A-404F-4FD6-8D0A-DD312050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13BE4-DB09-4CF3-B138-7E004088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2023 FY · Top 15 · 2/2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5621B-4B0B-42D8-87E1-BBF84B2D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571500" y="1438275"/>
          <a:ext xmlns:a="http://schemas.openxmlformats.org/drawingml/2006/main" cx="11049000" cy="40957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571500"/>
                <a:gridCol w="1266825"/>
                <a:gridCol w="1428750"/>
                <a:gridCol w="952500"/>
                <a:gridCol w="952500"/>
                <a:gridCol w="876300"/>
                <a:gridCol w="1285875"/>
                <a:gridCol w="1095375"/>
                <a:gridCol w="857250"/>
                <a:gridCol w="904875"/>
                <a:gridCol w="571500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Emis.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Originador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Preço por cota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Agência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Rating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40719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3865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34850088000152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SUMUP I MEIOS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S&amp;P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brAAA (sf)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0,50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40719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2036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49920525000134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GREEN SOLFÁCIL III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Fitch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AA+sf(bra)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0,48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40719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2004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50098465000103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CHEMICAL XIII - -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Braskem*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0,44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40719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1131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24761946000139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CREDZ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0,40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40719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3138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50988212000105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SUPPLIER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Supplier*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0,40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40719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1519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50440392000188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PLATINUM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0,36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40719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1433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35159296000172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ATRANI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0,30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4501C7-D4A1-461E-8920-6FC547B9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Subtotal Top 15: R$ 9,65 bi · 36,5% do período. * = exceção ou múltiplas classes.</a:t>
            </a:r>
          </a:p>
        </p:txBody>
      </p:sp>
    </p:spTree>
    <p:extLst>
      <p:ext uri="{BB962C8B-B14F-4D97-AF65-F5344CB8AC3E}">
        <p14:creationId xmlns:p14="http://schemas.microsoft.com/office/powerpoint/2010/main" val="181894039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4B9CB6-55D0-48CF-A17C-EC2047E3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O que muda a leitura do mercado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700E8-3361-4C05-83A6-B1B5DE4B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Distribuição, prestadores, migração e ofertas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29A0D-3665-4FC9-8953-1054EB20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8D1981-E498-40F0-974F-1BA6B820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E3422-EF1E-419B-9ACB-AAE05514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562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Fontes: CVM, ANBIMA e BCB; coorte bancária curada a partir dos conglomerados prudenciais. PF: proxy com 97,3% de cobertura; contas não equivalem a investidores únicos. Verticalização no universo elegível; Top 10 ex-Petrobras/TAPSO. BTG: 30/32 raízes observadas; ofertas CVM e ANBIMA até 30/jun/26.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E17C69-4A95-4CC0-939D-F0F5D03C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6C11C-061B-456F-9184-B87A8E99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01 · DISTRIBUIÇÃO APÓS A RCVM 175 SEGUE INSTITUCIONAL E CONCENTRADA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8A103D-819A-4639-B660-05260459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95425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A mediana foi de R$ 22,5 mi, apenas 26% do ticket médio de R$ 84,9 mi; 22 ofertas de R$ 500 mi ou mais — 2,9% do total — concentraram 42,2% do volume.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Pessoas físicas responderam por apenas 4,0% do volume colocado estimado; entre os fundos com PL ≥ R$ 200 mi, 58,4% têm até dez contas.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53F50D-C0D5-4F96-B35A-951BF037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71725"/>
            <a:ext cx="5143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0A1CE-9B45-407B-949C-8F90AF3C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5730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02 · VERTICALIZAÇÃO DEFINE O MODELO OPERACIONAL DA INDÚSTRIA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5D0E1A-0273-407A-94C5-41D6D1B8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95425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Administração e custódia estão no mesmo conglomerado em 90,7% do PL: nove em cada dez reais da indústria.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Monoestruturas, com as três funções no mesmo grupo, já concentram 40,4% do PL.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87FA37-04BE-4D20-B2F0-B37AAFE9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71725"/>
            <a:ext cx="5143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48CC92-A3D6-42AF-BA7C-76B0E0E1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03 · ESCALA INDEPENDENTE ESTÁ CONCENTRADA EM POUCAS PLATAFORMAS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A8DDD7-E86F-4D26-BEAC-7B9CBB30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QI Tech lidera administração e está em empate técnico com o BTG em custódia; 96% de sua base administrativa em dez/24 veio do legado Singulare.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Oliveira Trust é a terceira maior gestora, com R$ 35,0 bi; na coorte CBSF/Reag, 35,1% do PL continuante já havia migrado de administrador até jun/26.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767C29-07D1-4997-BE7F-B6A65D83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90925"/>
            <a:ext cx="5143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EBA557-363E-4A68-9726-320677A8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04 · MOVIMENTAÇÃO DE ADMINISTRADORES FOI BAIXA E CONCENTRADA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BB7DE0-0F3D-463D-A958-F2C70D7B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14625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Apenas 7,6% do PL comparável trocou de administrador entre dez/24 e dez/25: R$ 32,4 bi em 243 fundos.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Os dois FIDCs Cielo responderam sozinhos por 28% do volume migrado, com R$ 8,9 bi transferidos de Oliveira Trust para Bradesco.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A2318A-AB8C-4D91-BB92-9EEC3D0F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90925"/>
            <a:ext cx="5143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284B1D-F449-41DE-819A-B4FDB464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9570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05 · GESTÃO É A FUNÇÃO MAIS PULVERIZADA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457A20-7B90-429B-B2BD-3B945DF7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33825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As dez maiores gestoras reúnem apenas 38,9% do PL ex-FIC; a líder, BTG, tem 11,0%.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Administração e custódia têm, respectivamente, 71,5% e 73,5% do PL nos dez maiores grupos, praticamente o dobro da concentração em gestão.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2CDE9C-1D47-4E9F-8C5B-816641CA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5143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7927A8-7835-4338-99D1-72F13045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06 · COORTE BANCÁRIA EXPLICA DOIS TERÇOS DO COMBO COMPLETO DO BTG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892CE6-196F-4521-B284-78C886F2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33825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Dos 30 FIDCs observados na coorte BTG, 22 concentram as três funções no grupo e representam 98% do PL da coorte — R$ 51,3 bi.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Os R$ 51,3 bi da coorte equivalem a 66,0% dos R$ 77,7 bi de PL ex-FIC atendidos pelo BTG nas três funções.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5F4DE1-94EB-4486-947D-D5BC95D1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10125"/>
            <a:ext cx="5143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4F5C0B-0ECB-4407-88DA-D4BC2B2D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1490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07 · EMISSÕES ACELERARAM; A MAIOR OFERTA EXPLICA DOIS TERÇOS DO AVANÇO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66084D-0EB0-4A1E-BAF1-AEE9C53C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53025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As 771 ofertas encerradas em jan–jun/26 somaram R$ 65,5 bi, avanço de 15% sobre jan–jun/25 e 60% sobre jan–jun/24.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A oferta CloudWalk Bela, de R$ 5,5 bi, representou 8,4% do volume e 66,0% do crescimento sobre jan–jun/25; na sensibilidade sem essa oferta, o mercado teria avançado 5,0%.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B89769-8B63-4BF2-B23C-03629BA4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29325"/>
            <a:ext cx="51435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1833964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7BE0B2-82F1-46AC-8B0C-3B4DB0C2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Volume por prestador | Itaú e Kanastra separados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E9EE8-D19D-4759-92FE-F8E2982A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Jun/26 · PL ex-FIC, em R$ bilhões · Top 5 + comparadores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CEAC6-5C19-4B02-A092-12CBEB4E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80984D-5593-4680-A252-9134170F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FFF56-0E51-4961-9E91-B2E283A6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802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jun/26. Sem Petrobras/TAPSO. Itaú inclui Intrag/Kinea; Kanastra inclui Limine. Independentes: curadoria original.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F0A0E-F496-4C18-8FC2-C71ED293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graphicFrame>
        <p:nvGraphicFramePr>
          <p:cNvPr id="36" name="Chart"/>
          <p:cNvGraphicFramePr/>
          <p:nvPr/>
        </p:nvGraphicFramePr>
        <p:xfrm>
          <a:off xmlns:a="http://schemas.openxmlformats.org/drawingml/2006/main" x="1524000" y="1133475"/>
          <a:ext xmlns:a="http://schemas.openxmlformats.org/drawingml/2006/main" cx="9144000" cy="20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0f0312fb694eca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E7FDF-3CCF-4A8D-A229-F008BF3D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62075"/>
            <a:ext cx="528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Top 5 + Itaú + Kanastra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08E78B-B77B-4CFB-8675-D25ABE49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62075"/>
            <a:ext cx="528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Independentes*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404795-4DA9-475E-A82E-FD304DE8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Administração · ranking geral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571500" y="1752600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dd417461b14ebc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F90D32-68FB-45D6-AD2B-97D48142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81150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Administração · ranking independente</a:t>
            </a:r>
          </a:p>
        </p:txBody>
      </p:sp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6334125" y="1752600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5769780dcab430e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98255B-6CFA-44E4-A5E4-D5BEED30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4675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Gestão · ranking geral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571500" y="3286125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7164731fc04091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46CE80-C243-4112-822C-10A1EA66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14675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Gestão · ranking independente</a:t>
            </a:r>
          </a:p>
        </p:txBody>
      </p:sp>
      <p:graphicFrame>
        <p:nvGraphicFramePr>
          <p:cNvPr id="46" name="Chart"/>
          <p:cNvGraphicFramePr/>
          <p:nvPr/>
        </p:nvGraphicFramePr>
        <p:xfrm>
          <a:off xmlns:a="http://schemas.openxmlformats.org/drawingml/2006/main" x="6334125" y="3286125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99226d765d249eb"/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DF51A5-29E1-4ACD-965A-8D3E316F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Custódia · ranking geral</a:t>
            </a:r>
          </a:p>
        </p:txBody>
      </p:sp>
      <p:graphicFrame>
        <p:nvGraphicFramePr>
          <p:cNvPr id="48" name="Chart"/>
          <p:cNvGraphicFramePr/>
          <p:nvPr/>
        </p:nvGraphicFramePr>
        <p:xfrm>
          <a:off xmlns:a="http://schemas.openxmlformats.org/drawingml/2006/main" x="571500" y="4819650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e3101192d7d411f"/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FEAD2D-C806-47D0-B279-4637EB44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48200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Custódia · ranking independente</a:t>
            </a:r>
          </a:p>
        </p:txBody>
      </p:sp>
      <p:graphicFrame>
        <p:nvGraphicFramePr>
          <p:cNvPr id="50" name="Chart"/>
          <p:cNvGraphicFramePr/>
          <p:nvPr/>
        </p:nvGraphicFramePr>
        <p:xfrm>
          <a:off xmlns:a="http://schemas.openxmlformats.org/drawingml/2006/main" x="6334125" y="4819650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3231602bd29404e"/>
          </a:graphicData>
        </a:graphic>
      </p:graphicFrame>
    </p:spTree>
    <p:extLst>
      <p:ext uri="{BB962C8B-B14F-4D97-AF65-F5344CB8AC3E}">
        <p14:creationId xmlns:p14="http://schemas.microsoft.com/office/powerpoint/2010/main" val="166968132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037A4E-57ED-4BEE-9B3F-EB4F1483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PRESTADORES · RANKING E CONCENTRAÇÃO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14CED-D956-4032-BEF9-51D33A99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Top 10 mantém cerca de 72% em administração e custódia; gestão subiu a 38,9%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4F1E9-16D8-4E42-A14B-40E2ED90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4EBC5-F596-4E5A-AD7F-5FEB5132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80BC5-8FD0-4F71-9F1D-516AE36D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876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dez/25 e jun/26. PL ex-FIC; Sistema Petrobras e TAPSO excluídos do numerador e denominador. Administração observada; gestão/custódia históricas reconstruídas com cadastro vigente.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A49FED-15D1-4B58-BFD8-C73C3CB9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86154-AA24-43D6-B2D7-3C88BB6A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Top 10 · % do PL ex-FIC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1EA82-62A0-4F81-8732-52CD8243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571500" y="1857375"/>
          <a:ext xmlns:a="http://schemas.openxmlformats.org/drawingml/2006/main" cx="514350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866177744947ac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8AAAAE-4DA5-4961-9E62-8AD84353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5143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428E07-EB9C-472B-8432-656B7FF9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763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Top 5 · % do PL ex-FIC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5D7017-DF58-4691-9A81-FC479CF6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4307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6" name="Chart"/>
          <p:cNvGraphicFramePr/>
          <p:nvPr/>
        </p:nvGraphicFramePr>
        <p:xfrm>
          <a:off xmlns:a="http://schemas.openxmlformats.org/drawingml/2006/main" x="6477000" y="1857375"/>
          <a:ext xmlns:a="http://schemas.openxmlformats.org/drawingml/2006/main" cx="514350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9522b4785254bf7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B9A7EC-ED95-4045-B937-33B23490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29150"/>
            <a:ext cx="5143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4A28FE-6528-4701-A33C-1E57549A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95DAD8-7CBF-4723-9A9F-645A65E2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Cobertura de PL, dez/25 → Jun/26: administração 100,0% → 100,0%; gestão 98,9% → 99,8%; custódia 97,8% → 98,8%.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73BC58-7893-49C9-BE79-D86A55C2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285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8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0701FB-A0D7-4C59-98C5-070BAC79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219200"/>
            <a:ext cx="1038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Dez/25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A2F10B-1813-4F26-8177-3BAD3742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285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CCEAAD-936D-430A-8F50-2E2575C8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219200"/>
            <a:ext cx="1038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Jun/26</a:t>
            </a:r>
          </a:p>
        </p:txBody>
      </p:sp>
    </p:spTree>
    <p:extLst>
      <p:ext uri="{BB962C8B-B14F-4D97-AF65-F5344CB8AC3E}">
        <p14:creationId xmlns:p14="http://schemas.microsoft.com/office/powerpoint/2010/main" val="43580780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207E02-174B-40D2-B4FB-FA9F25E5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Quase todo o volume vai para o investidor profissional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35537-A637-41FC-9D4A-D2EC0DEF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Entre 93% e 97% ao ano; a classificação mede elegibilidade, não alocação efetiva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5413B-7723-4E16-899A-D474D724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5BA3B5-E661-46F7-88D0-8AD50003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289B02-6848-430B-AF77-A065EB0F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CVM/SRE, dois arquivos de ofertas; 24/jul/26. Primárias encerradas, todos os ritos. Definições: RCVM 30.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2CD381-A1EE-4458-AA54-416A4008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99A10E-89C7-445C-8CB9-CBC765D2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Contas de cotistas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41DE6B-1C46-4225-87FA-E8C574F7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657225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987e244faa0440f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0F473D-67E0-48EF-BC8E-9E17E9AD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% do volume emitido por público-alvo CVM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B39B37-FE49-4D68-AA05-2D1266AF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571500" y="3971925"/>
          <a:ext xmlns:a="http://schemas.openxmlformats.org/drawingml/2006/main" cx="657225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fc5488a08d34815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0DE85F-DE2D-436F-96F5-B1E38D4C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333500"/>
            <a:ext cx="404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Composição das contas · jun/26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7F3BBE-5488-4B26-8835-708D12EF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600200"/>
            <a:ext cx="404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7524750" y="1714500"/>
          <a:ext xmlns:a="http://schemas.openxmlformats.org/drawingml/2006/main" cx="4095750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7076f7c0fe41ac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32E490-F48D-4DDD-8611-6A5C1CA0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095875"/>
            <a:ext cx="404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A emissão é majoritariamente elegível a investidores profissionais, padrão compatível com demanda institucional/gestoras. A base de público-alvo não separa pessoa física de pessoa jurídica; Público Geral foi 0,0% em 2024 e 0,5% em jan–jun/26. N/D: 1,1% em 2023 e 0,5% em 2025.</a:t>
            </a:r>
          </a:p>
        </p:txBody>
      </p:sp>
    </p:spTree>
    <p:extLst>
      <p:ext uri="{BB962C8B-B14F-4D97-AF65-F5344CB8AC3E}">
        <p14:creationId xmlns:p14="http://schemas.microsoft.com/office/powerpoint/2010/main" val="105284852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106BBD-E422-44D9-A48C-F85373E0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DISTRIBUIÇÃO POR NÚMERO DE COTISTAS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468E9-3DA8-408A-8F56-6CB8B937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97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Fundos com mais de 10 contas ganharam 11,0 p.p. do universo e 10,6 p.p. do PL desde dez/23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03E86D-A59D-4C9D-87F8-337432A9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8FBB28-5685-491C-A081-1D2DCF63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F8A594-1932-465C-B54D-EA449170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dez/23 e jun/26. Ex-FIC com PL ≥ R$ 200 mi: 409 → 784 fundos; contas por classe/série, não investidores únicos.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E50A7-8A39-4D2B-B6AB-55B7C1FF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9239250" y="1219200"/>
          <a:ext xmlns:a="http://schemas.openxmlformats.org/drawingml/2006/main" cx="2381250" cy="20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facf4815d14474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FABB6-0B2F-43CD-9880-04C9F93C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528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Quantidade de fundos · absoluto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B86F27-D026-46D6-B0D6-678300EE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90675"/>
            <a:ext cx="5286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571500" y="1724025"/>
          <a:ext xmlns:a="http://schemas.openxmlformats.org/drawingml/2006/main" cx="5286375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d5befc7b0d49fe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FF4EA8-1775-4060-AEE1-A527BDBE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23975"/>
            <a:ext cx="528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PL por faixa · R$ bi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8DF1A6-CD01-4787-B6B4-09458E8A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90675"/>
            <a:ext cx="5286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1" name="Chart"/>
          <p:cNvGraphicFramePr/>
          <p:nvPr/>
        </p:nvGraphicFramePr>
        <p:xfrm>
          <a:off xmlns:a="http://schemas.openxmlformats.org/drawingml/2006/main" x="6334125" y="1724025"/>
          <a:ext xmlns:a="http://schemas.openxmlformats.org/drawingml/2006/main" cx="5286375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851bf5aaf964698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E229A3-04A1-4A18-9504-678F77AA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33800"/>
            <a:ext cx="528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Quantidade de fundos · % do total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1C8547-1F42-4E4C-AECB-1C71530E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5286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571500" y="4076700"/>
          <a:ext xmlns:a="http://schemas.openxmlformats.org/drawingml/2006/main" cx="5286375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0c60f6335524024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64B37F-5774-472A-93DA-B76CF459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5285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Soma das barras = 100%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67B2AD-3EE1-4FBC-B44C-5C674654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33800"/>
            <a:ext cx="528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PL por faixa · % do total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BC4834-CD9E-472C-86D9-4E617303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00500"/>
            <a:ext cx="5286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8" name="Chart"/>
          <p:cNvGraphicFramePr/>
          <p:nvPr/>
        </p:nvGraphicFramePr>
        <p:xfrm>
          <a:off xmlns:a="http://schemas.openxmlformats.org/drawingml/2006/main" x="6334125" y="4076700"/>
          <a:ext xmlns:a="http://schemas.openxmlformats.org/drawingml/2006/main" cx="5286375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dbef349e8e24e69"/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8957AC-C720-4F20-A154-2C0D6A06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75285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Soma das barras = 100%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0D25C7-5F55-4411-82C6-B9A9F78B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Comparação de duas fotografias da indústria, não de coorte constante. Corte de R$ 200 mi em valores nominais; cada histograma percentual fecha em 100%.</a:t>
            </a:r>
          </a:p>
        </p:txBody>
      </p:sp>
    </p:spTree>
    <p:extLst>
      <p:ext uri="{BB962C8B-B14F-4D97-AF65-F5344CB8AC3E}">
        <p14:creationId xmlns:p14="http://schemas.microsoft.com/office/powerpoint/2010/main" val="193699907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61E9AB-3AAB-4D60-A962-0359578B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SALDO E TIPOS DE FIDCs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D8600-051A-44EB-A9B1-A9516BD2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Saldo e Tipos de FIDCs | Sem TAPSO e Sistema Petrobras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B04F4-6FA2-421A-9C8A-6868027C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63DC9-A567-4D7D-8C16-93DFA0A1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FA90E-CFF1-47F3-BE28-1F26255E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CVM/ANBIMA. Jun/26: PL de R$ 718,6 bi. Exclusão em todo o histórico; nenhuma oferta dos dois CNPJs na coorte.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893FC-6A38-45B2-9CDC-85DDAE61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9A593-2060-4D9A-9ED7-7335A4F8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Saldo ex-FIC · R$ bi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76576-5E4C-4742-80B6-5AF9ED4B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6" name="Chart"/>
          <p:cNvGraphicFramePr/>
          <p:nvPr/>
        </p:nvGraphicFramePr>
        <p:xfrm>
          <a:off xmlns:a="http://schemas.openxmlformats.org/drawingml/2006/main" x="571500" y="1495425"/>
          <a:ext xmlns:a="http://schemas.openxmlformats.org/drawingml/2006/main" cx="52387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03adb6f42b548d8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45B6F-20C4-49D6-9BC3-5A08A966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573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Participação no saldo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39082C-861F-45DD-83A8-65F6FBDB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859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9" name="Chart"/>
          <p:cNvGraphicFramePr/>
          <p:nvPr/>
        </p:nvGraphicFramePr>
        <p:xfrm>
          <a:off xmlns:a="http://schemas.openxmlformats.org/drawingml/2006/main" x="6381750" y="1495425"/>
          <a:ext xmlns:a="http://schemas.openxmlformats.org/drawingml/2006/main" cx="52387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73afa40035d4a45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61F68-14C2-42D0-B53D-006B46FD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8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9FBE62-BD10-4639-B789-B1FD4768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Fomento Mercantil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0D87BE-32AB-4612-B3E5-E0C2CC50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3A7B0F-BD5F-4803-96B6-EB1A7027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Agro, Indústria e Comércio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40C4AB-E80B-419B-ABEB-BBD76BA6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9078F1-5E06-47BD-AE40-CC0BC454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Financeiro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EAED78-5235-4223-A570-3669391C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721392-2C47-427A-9F53-8C9A2495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Precatórios / ações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BE602E-0B58-437A-A3DA-BE9D600F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331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5063EB-9E03-4318-9F56-22CEBDC1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997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Multicedente / multisacado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BD86D3-B894-4005-BAD6-19F0FBEB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4331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D7763B-CD4E-488C-8F18-459E63FA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0997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Recuperação / NP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56C7A7-6C8D-494B-BE67-899C8D22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4331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8378BB-CD34-4835-9D88-6C8E74D1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0997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N/D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635A71-6306-4A65-A146-C1F77DC6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Novas emissões por setor · R$ bi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E147FD-66EE-4C7C-BEB8-AFC7FC59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576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66" name="Chart"/>
          <p:cNvGraphicFramePr/>
          <p:nvPr/>
        </p:nvGraphicFramePr>
        <p:xfrm>
          <a:off xmlns:a="http://schemas.openxmlformats.org/drawingml/2006/main" x="571500" y="4067175"/>
          <a:ext xmlns:a="http://schemas.openxmlformats.org/drawingml/2006/main" cx="523875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c29bfab3ed4dc1"/>
          </a:graphicData>
        </a:graphic>
      </p:graphicFrame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AE2C19-A79F-4F3D-9BCA-DB4B4969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290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Novas emissões por setor · 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0FD437-ED88-4E7C-A48E-39E4EEB9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576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69" name="Chart"/>
          <p:cNvGraphicFramePr/>
          <p:nvPr/>
        </p:nvGraphicFramePr>
        <p:xfrm>
          <a:off xmlns:a="http://schemas.openxmlformats.org/drawingml/2006/main" x="6381750" y="4067175"/>
          <a:ext xmlns:a="http://schemas.openxmlformats.org/drawingml/2006/main" cx="523875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e5c58f70f064532"/>
          </a:graphicData>
        </a:graphic>
      </p:graphicFrame>
    </p:spTree>
    <p:extLst>
      <p:ext uri="{BB962C8B-B14F-4D97-AF65-F5344CB8AC3E}">
        <p14:creationId xmlns:p14="http://schemas.microsoft.com/office/powerpoint/2010/main" val="94899002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11A4CD-7953-411E-B38F-87B6D9A3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Crédito pulverizado PF/PJ | Triagem dos fundos candidatos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C7551-676A-4BA6-8A9B-3268939E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Jun/26 · PL dos fundos por classificação atual; pulverização ainda não validada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90392-E887-49D6-B78B-F97196AF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CD366-A081-4A0C-8744-0702D6D0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981E7-20BC-46C8-B106-B1CFB5A1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CVM/ANBIMA e ledger vigente. Base total: R$ 821,4 bi. Valores de triagem; ver CSV por CNPJ e relatório de evidências.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DF20B-3693-43CD-B2B3-20EF7E66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B0A5D-F366-41BD-BB8F-840DC880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PL dos fundos · R$ bilhões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02A2D-8B60-4B2E-8BB7-73B32FCE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47825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52387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d16179c5744956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E966C-90A1-4B2C-ADD9-72D8F25F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Participação no PL total ex-FIC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561D7D-92AA-48F1-9537-12314A2F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47825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381750" y="1762125"/>
          <a:ext xmlns:a="http://schemas.openxmlformats.org/drawingml/2006/main" cx="52387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49ec13e89454f55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D7B953-1C3C-4356-B72E-FF3B861B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*PF e PJ: R$ 53,7 bi em candidatos (6,5% do PL); total pulverizado validado = N/D.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71E68-8363-4785-A8E5-59F94F82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PF*: pessoal, estudantil e BNPL. Recorte não exaustivo; exclui consignado, veículos, imobiliário e meios de pagamento. CCB não comprova PJ nem pulverização; há conflitos documentais.</a:t>
            </a:r>
          </a:p>
        </p:txBody>
      </p:sp>
    </p:spTree>
    <p:extLst>
      <p:ext uri="{BB962C8B-B14F-4D97-AF65-F5344CB8AC3E}">
        <p14:creationId xmlns:p14="http://schemas.microsoft.com/office/powerpoint/2010/main" val="1521510672"/>
      </p:ext>
    </p:extLst>
  </p:cSld>
</p:sld>
</file>

<file path=ppt/theme/theme1.xml><?xml version="1.0" encoding="utf-8"?>
<a:theme xmlns:a="http://schemas.openxmlformats.org/drawingml/2006/main" name="ChatGPT">
  <a:themeElements>
    <a:clrScheme name="Itau BBA FIDC Editorial">
      <a:dk1>
        <a:srgbClr val="151515"/>
      </a:dk1>
      <a:lt1>
        <a:srgbClr val="FFFFFF"/>
      </a:lt1>
      <a:dk2>
        <a:srgbClr val="30353A"/>
      </a:dk2>
      <a:lt2>
        <a:srgbClr val="E7E9EB"/>
      </a:lt2>
      <a:accent1>
        <a:srgbClr val="EC7000"/>
      </a:accent1>
      <a:accent2>
        <a:srgbClr val="151515"/>
      </a:accent2>
      <a:accent3>
        <a:srgbClr val="30353A"/>
      </a:accent3>
      <a:accent4>
        <a:srgbClr val="73787D"/>
      </a:accent4>
      <a:accent5>
        <a:srgbClr val="8D9399"/>
      </a:accent5>
      <a:accent6>
        <a:srgbClr val="D7DADD"/>
      </a:accent6>
      <a:hlink>
        <a:srgbClr val="EC7000"/>
      </a:hlink>
      <a:folHlink>
        <a:srgbClr val="7378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tau BBA FIDC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2026-08-27T18:46:46.3370000Z</dcterms:created>
  <dcterms:modified xsi:type="dcterms:W3CDTF">2026-08-27T18:46:46.3370000Z</dcterms:modified>
</coreProperties>
</file>