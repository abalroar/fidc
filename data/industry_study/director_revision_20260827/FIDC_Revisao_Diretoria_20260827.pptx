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637098bb24313" /><Relationship Type="http://schemas.openxmlformats.org/officeDocument/2006/relationships/extended-properties" Target="/docProps/app.xml" Id="Re5fe50456aa04770" /><Relationship Type="http://schemas.openxmlformats.org/officeDocument/2006/relationships/officeDocument" Target="/ppt/presentation.xml" Id="Rf720403df403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3d9bdf4c874949"/>
  </p:sldMasterIdLst>
  <p:notesMasterIdLst>
    <p:notesMasterId xmlns:r="http://schemas.openxmlformats.org/officeDocument/2006/relationships" r:id="Rc8a7ed37f78c4172"/>
  </p:notesMasterIdLst>
  <p:sldIdLst>
    <p:sldId xmlns:r="http://schemas.openxmlformats.org/officeDocument/2006/relationships" id="256" r:id="R8f1186fcbf8949eb"/>
    <p:sldId xmlns:r="http://schemas.openxmlformats.org/officeDocument/2006/relationships" id="257" r:id="R7c88d3a5e1ba4631"/>
    <p:sldId xmlns:r="http://schemas.openxmlformats.org/officeDocument/2006/relationships" id="258" r:id="Rfa57c68db28f40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f518c776f44370" /><Relationship Type="http://schemas.openxmlformats.org/officeDocument/2006/relationships/slideMaster" Target="/ppt/slideMasters/slideMaster1.xml" Id="R773d9bdf4c874949" /><Relationship Type="http://schemas.openxmlformats.org/officeDocument/2006/relationships/notesMaster" Target="/ppt/notesMasters/notesMaster1.xml" Id="Rc8a7ed37f78c4172" /><Relationship Type="http://schemas.openxmlformats.org/officeDocument/2006/relationships/presProps" Target="/ppt/presProps.xml" Id="Ra32b2c6262cf48be" /><Relationship Type="http://schemas.openxmlformats.org/officeDocument/2006/relationships/tableStyles" Target="/ppt/tableStyles.xml" Id="Rf0de63d055bc43de" /><Relationship Type="http://schemas.openxmlformats.org/officeDocument/2006/relationships/slide" Target="/ppt/slides/slide1.xml" Id="R8f1186fcbf8949eb" /><Relationship Type="http://schemas.openxmlformats.org/officeDocument/2006/relationships/slide" Target="/ppt/slides/slide2.xml" Id="R7c88d3a5e1ba4631" /><Relationship Type="http://schemas.openxmlformats.org/officeDocument/2006/relationships/slide" Target="/ppt/slides/slide3.xml" Id="Rfa57c68db28f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20a842d6949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178fe418f34f0a" /><Relationship Type="http://schemas.openxmlformats.org/officeDocument/2006/relationships/notesMaster" Target="/ppt/notesMasters/notesMaster1.xml" Id="Rd8f0fe911ad5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9290e49434720" /><Relationship Type="http://schemas.openxmlformats.org/officeDocument/2006/relationships/notesMaster" Target="/ppt/notesMasters/notesMaster1.xml" Id="R3d1051460807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7db450a0f94e04" /><Relationship Type="http://schemas.openxmlformats.org/officeDocument/2006/relationships/notesMaster" Target="/ppt/notesMasters/notesMaster1.xml" Id="R2039e946f145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conforme curadoria existente. Kanastra/Limine: https://pt.linkedin.com/posts/kanastra_kanastra-compra-limine-dtvm-para-avan%C3%A7ar-activity-7181046721483816960-aUAG . Participação minoritária Itaú: https://www.itau.com.br/media/dam/m/36e80c6030c3408c/original/010425-intrag-volta-ao-negocio-de-fidcs-de-recebiveis-em-parceria-com-a-kanastra.pdf . Gestão/custódia: cadastro vigente; sem soma entre funções.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bases/exclusoes_por_cnpj.csv; bases/emissoes_cenario.csv. CNPJs 09195235000150 e 26287464000114 excluídos do numerador e denominador em todos os períodos. Coorte de ofertas verificada sem ocorrências dos dois fundos; valores de emissão mantidos. Original preservado.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CVM/ANBIMA e taxonomy_review_actions.csv congelados no manifesto. bases/credito_triagem_cnpj.csv e credito_triagem_resumo.csv. Nenhuma nova classificação aprovada. Exemplo de conflito: Mercado Crédito (33254370000104), regulamento 1128340, pp. 9 e 94, permite PF e PJ; Mercado Crédito I Brasil (37511828000114), regulamento 1200490, pp. 20 e 143, mandato consumidor/comerciante e limite de 0,5% por devedor nos critérios de enquadramento. Não mede composição efetiva de jun/26. Monee I (42922136000107): o regulamento 1159092, pp.30–33, trata de arranjos de pagamento; revalidar rótulo BNPL da curadoria. URLs: https://fnet.bmfbovespa.com.br/fnet/publico/downloadDocumento?id=1128340 ; https://fnet.bmfbovespa.com.br/fnet/publico/downloadDocumento?id=1200490 ; https://fnet.bmfbovespa.com.br/fnet/publico/downloadDocumento?id=1159092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c22eade7e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6f3c20fd8473a" /><Relationship Type="http://schemas.openxmlformats.org/officeDocument/2006/relationships/slideLayout" Target="/ppt/slideLayouts/slideLayout1.xml" Id="R84c40ae9cbe4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c40ae9cbe4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bda1b0b444e8d" /><Relationship Type="http://schemas.openxmlformats.org/officeDocument/2006/relationships/chart" Target="/ppt/slides/charts/chart1.xml" Id="R2c910efa03374511" /><Relationship Type="http://schemas.openxmlformats.org/officeDocument/2006/relationships/chart" Target="/ppt/slides/charts/chart2.xml" Id="R2b4b5aa7ff074c15" /><Relationship Type="http://schemas.openxmlformats.org/officeDocument/2006/relationships/chart" Target="/ppt/slides/charts/chart3.xml" Id="Rb9466ab7c8b34123" /><Relationship Type="http://schemas.openxmlformats.org/officeDocument/2006/relationships/chart" Target="/ppt/slides/charts/chart4.xml" Id="R0e0f0378073f47c7" /><Relationship Type="http://schemas.openxmlformats.org/officeDocument/2006/relationships/chart" Target="/ppt/slides/charts/chart5.xml" Id="R097a963ebac948d8" /><Relationship Type="http://schemas.openxmlformats.org/officeDocument/2006/relationships/chart" Target="/ppt/slides/charts/chart6.xml" Id="Rf3a36dbb62374d39" /><Relationship Type="http://schemas.openxmlformats.org/officeDocument/2006/relationships/chart" Target="/ppt/slides/charts/chart7.xml" Id="R49b1e0871f844cd5" /><Relationship Type="http://schemas.openxmlformats.org/officeDocument/2006/relationships/notesSlide" Target="/ppt/notesSlides/notesSlide1.xml" Id="Rb57b8a5933e14d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46cfdafe74e46" /><Relationship Type="http://schemas.openxmlformats.org/officeDocument/2006/relationships/chart" Target="/ppt/slides/charts/chart8.xml" Id="R10d78966781d4482" /><Relationship Type="http://schemas.openxmlformats.org/officeDocument/2006/relationships/chart" Target="/ppt/slides/charts/chart9.xml" Id="R8d44795f1d0d4f37" /><Relationship Type="http://schemas.openxmlformats.org/officeDocument/2006/relationships/chart" Target="/ppt/slides/charts/chart10.xml" Id="Rb8f27a3cf21d47b3" /><Relationship Type="http://schemas.openxmlformats.org/officeDocument/2006/relationships/chart" Target="/ppt/slides/charts/chart11.xml" Id="R4b021b7545454000" /><Relationship Type="http://schemas.openxmlformats.org/officeDocument/2006/relationships/notesSlide" Target="/ppt/notesSlides/notesSlide2.xml" Id="R26915c8c355242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098b0eecf44c8" /><Relationship Type="http://schemas.openxmlformats.org/officeDocument/2006/relationships/chart" Target="/ppt/slides/charts/chart12.xml" Id="R6e11540226bd4a90" /><Relationship Type="http://schemas.openxmlformats.org/officeDocument/2006/relationships/chart" Target="/ppt/slides/charts/chart13.xml" Id="Rb1f34d03646a40b2" /><Relationship Type="http://schemas.openxmlformats.org/officeDocument/2006/relationships/notesSlide" Target="/ppt/notesSlides/notesSlide3.xml" Id="Rad575457516449b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7C9E6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129.18585394483003</c:v>
              </c:pt>
              <c:pt idx="1">
                <c:v>180.63737830449</c:v>
              </c:pt>
              <c:pt idx="2">
                <c:v>237.58830139514</c:v>
              </c:pt>
              <c:pt idx="3">
                <c:v>282.39711243072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0.3321178071152654</c:v>
              </c:pt>
              <c:pt idx="1">
                <c:v>0.3426408625418958</c:v>
              </c:pt>
              <c:pt idx="2">
                <c:v>0.3525514157707614</c:v>
              </c:pt>
              <c:pt idx="3">
                <c:v>0.3929765793148851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4.355347460331231</c:v>
              </c:pt>
              <c:pt idx="1">
                <c:v>9.71514314594</c:v>
              </c:pt>
              <c:pt idx="2">
                <c:v>9.03480114906</c:v>
              </c:pt>
              <c:pt idx="3">
                <c:v>4.0599598731999995</c:v>
              </c:pt>
              <c:pt idx="4">
                <c:v>5.705318924819999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8.725651793954372</c:v>
              </c:pt>
              <c:pt idx="1">
                <c:v>19.803603508400002</c:v>
              </c:pt>
              <c:pt idx="2">
                <c:v>28.71965699961</c:v>
              </c:pt>
              <c:pt idx="3">
                <c:v>19.39381267632</c:v>
              </c:pt>
              <c:pt idx="4">
                <c:v>10.78363727233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19.33358250441061</c:v>
              </c:pt>
              <c:pt idx="1">
                <c:v>46.91709152533</c:v>
              </c:pt>
              <c:pt idx="2">
                <c:v>52.42676092368</c:v>
              </c:pt>
              <c:pt idx="3">
                <c:v>21.60168209032</c:v>
              </c:pt>
              <c:pt idx="4">
                <c:v>40.39299902597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8.466997192079447</c:v>
              </c:pt>
              <c:pt idx="1">
                <c:v>11.950763954180001</c:v>
              </c:pt>
              <c:pt idx="2">
                <c:v>16.2821287893</c:v>
              </c:pt>
              <c:pt idx="3">
                <c:v>7.392147328559999</c:v>
              </c:pt>
              <c:pt idx="4">
                <c:v>5.79278421138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0.10653569583443391</c:v>
              </c:pt>
              <c:pt idx="1">
                <c:v>0.10991646823607587</c:v>
              </c:pt>
              <c:pt idx="2">
                <c:v>0.0848630193444677</c:v>
              </c:pt>
              <c:pt idx="3">
                <c:v>0.07740982849218064</c:v>
              </c:pt>
              <c:pt idx="4">
                <c:v>0.09103059663746195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0.21343725017227638</c:v>
              </c:pt>
              <c:pt idx="1">
                <c:v>0.22405662204787577</c:v>
              </c:pt>
              <c:pt idx="2">
                <c:v>0.2697609794962622</c:v>
              </c:pt>
              <c:pt idx="3">
                <c:v>0.3697750125545281</c:v>
              </c:pt>
              <c:pt idx="4">
                <c:v>0.17205715364161575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0.47291672681452995</c:v>
              </c:pt>
              <c:pt idx="1">
                <c:v>0.5308167798359323</c:v>
              </c:pt>
              <c:pt idx="2">
                <c:v>0.4924395294407706</c:v>
              </c:pt>
              <c:pt idx="3">
                <c:v>0.4118716829672241</c:v>
              </c:pt>
              <c:pt idx="4">
                <c:v>0.6444861102004874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0.20711032717875982</c:v>
              </c:pt>
              <c:pt idx="1">
                <c:v>0.13521012988011602</c:v>
              </c:pt>
              <c:pt idx="2">
                <c:v>0.1529364717184994</c:v>
              </c:pt>
              <c:pt idx="3">
                <c:v>0.14094347598606727</c:v>
              </c:pt>
              <c:pt idx="4">
                <c:v>0.0924261395204349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 dos fundos · R$ bi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Crédito PF*</c:v>
              </c:pt>
              <c:pt idx="1">
                <c:v>PJ / PF-PJ*</c:v>
              </c:pt>
              <c:pt idx="2">
                <c:v>Fomento Mercantil</c:v>
              </c:pt>
              <c:pt idx="3">
                <c:v>Multicedente / multisacado</c:v>
              </c:pt>
            </c:strLit>
          </c:cat>
          <c:val>
            <c:numLit>
              <c:formatCode>0.0</c:formatCode>
              <c:ptCount val="4"/>
              <c:pt idx="0">
                <c:v>39.1154211756</c:v>
              </c:pt>
              <c:pt idx="1">
                <c:v>14.61725605997</c:v>
              </c:pt>
              <c:pt idx="2">
                <c:v>88.39237477025999</c:v>
              </c:pt>
              <c:pt idx="3">
                <c:v>86.50477887798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Participação no PL ex-FIC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Crédito PF*</c:v>
              </c:pt>
              <c:pt idx="1">
                <c:v>PJ / PF-PJ*</c:v>
              </c:pt>
              <c:pt idx="2">
                <c:v>Fomento Mercantil</c:v>
              </c:pt>
              <c:pt idx="3">
                <c:v>Multicedente / multisacado</c:v>
              </c:pt>
            </c:strLit>
          </c:cat>
          <c:val>
            <c:numLit>
              <c:formatCode>0.0%</c:formatCode>
              <c:ptCount val="4"/>
              <c:pt idx="0">
                <c:v>0.0476226586616451</c:v>
              </c:pt>
              <c:pt idx="1">
                <c:v>0.0177963722489085</c:v>
              </c:pt>
              <c:pt idx="2">
                <c:v>0.1076168878018412</c:v>
              </c:pt>
              <c:pt idx="3">
                <c:v>0.1053187574949828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EAC6-5C19-4B02-A092-12CBEB4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0984D-5593-4680-A252-9134170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0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910efa0337451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4b5aa7ff074c1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466ab7c8b34123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0f0378073f47c7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7a963ebac948d8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a36dbb62374d39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b1e0871f844cd5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Sem TAPSO e Sistema 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CVM/ANBIMA. Jun/26: PL de R$ 718,6 bi. Exclusão em todo o histórico; nenhuma oferta dos dois CNPJs na coorte.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d78966781d448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44795f1d0d4f3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N/D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f27a3cf21d47b3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021b7545454000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Crédito pulverizado PF/PJ | Triagem dos fundos candidatos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dos fundos por classificação atual; pulverização ainda não validada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CVM/ANBIMA e ledger vigente. Base total: R$ 821,4 bi. Valores de triagem; ver CSV por CNPJ e relatório de evidências.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fundos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11540226bd4a9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total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f34d03646a40b2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*PF e PJ: R$ 53,7 bi em candidatos (6,5% do PL); total pulverizado validado = N/D.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PF*: pessoal, estudantil e BNPL. Recorte não exaustivo; exclui consignado, veículos, imobiliário e meios de pagamento. CCB não comprova PJ nem pulverização; há conflitos documentais.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2026-08-27T18:46:40.6300000Z</dcterms:created>
  <dcterms:modified xsi:type="dcterms:W3CDTF">2026-08-27T18:46:40.6300000Z</dcterms:modified>
</coreProperties>
</file>