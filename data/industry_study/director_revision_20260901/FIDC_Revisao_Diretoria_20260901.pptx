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b21769664478c" /><Relationship Type="http://schemas.openxmlformats.org/officeDocument/2006/relationships/extended-properties" Target="/docProps/app.xml" Id="R67c6f76784794637" /><Relationship Type="http://schemas.openxmlformats.org/officeDocument/2006/relationships/officeDocument" Target="/ppt/presentation.xml" Id="R6e1340af52994e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bfb47091b42fe"/>
  </p:sldMasterIdLst>
  <p:notesMasterIdLst>
    <p:notesMasterId xmlns:r="http://schemas.openxmlformats.org/officeDocument/2006/relationships" r:id="Ra7aca84e728e4aeb"/>
  </p:notesMasterIdLst>
  <p:sldIdLst>
    <p:sldId xmlns:r="http://schemas.openxmlformats.org/officeDocument/2006/relationships" id="256" r:id="Rcf7dbd534b544c39"/>
    <p:sldId xmlns:r="http://schemas.openxmlformats.org/officeDocument/2006/relationships" id="257" r:id="R848bedefc1d74547"/>
    <p:sldId xmlns:r="http://schemas.openxmlformats.org/officeDocument/2006/relationships" id="258" r:id="R3600096488fc42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acb1601044f55" /><Relationship Type="http://schemas.openxmlformats.org/officeDocument/2006/relationships/slideMaster" Target="/ppt/slideMasters/slideMaster1.xml" Id="R315bfb47091b42fe" /><Relationship Type="http://schemas.openxmlformats.org/officeDocument/2006/relationships/notesMaster" Target="/ppt/notesMasters/notesMaster1.xml" Id="Ra7aca84e728e4aeb" /><Relationship Type="http://schemas.openxmlformats.org/officeDocument/2006/relationships/presProps" Target="/ppt/presProps.xml" Id="R2c265cb0f2c54262" /><Relationship Type="http://schemas.openxmlformats.org/officeDocument/2006/relationships/tableStyles" Target="/ppt/tableStyles.xml" Id="R14cd16f739af4ab8" /><Relationship Type="http://schemas.openxmlformats.org/officeDocument/2006/relationships/slide" Target="/ppt/slides/slide1.xml" Id="Rcf7dbd534b544c39" /><Relationship Type="http://schemas.openxmlformats.org/officeDocument/2006/relationships/slide" Target="/ppt/slides/slide2.xml" Id="R848bedefc1d74547" /><Relationship Type="http://schemas.openxmlformats.org/officeDocument/2006/relationships/slide" Target="/ppt/slides/slide3.xml" Id="R3600096488fc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124ebc9f054f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92ca2516b34c58" /><Relationship Type="http://schemas.openxmlformats.org/officeDocument/2006/relationships/notesMaster" Target="/ppt/notesMasters/notesMaster1.xml" Id="R60ec81164b0a4c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c54aaced4b4d36" /><Relationship Type="http://schemas.openxmlformats.org/officeDocument/2006/relationships/notesMaster" Target="/ppt/notesMasters/notesMaster1.xml" Id="Ra1c9161d0dc1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f5aad92c348e8" /><Relationship Type="http://schemas.openxmlformats.org/officeDocument/2006/relationships/notesMaster" Target="/ppt/notesMasters/notesMaster1.xml" Id="Rb989e9204565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e Kanastra/Limine conforme curadoria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jun/26, Tabelas I, II e VIII; regulamentos integrais; bases/pfpj_26_decisoes.csv e pfpj_24_incluidos.csv. PL dos fundos; exposição efetiva, PF/PJ split e total de devedores=N/D.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7e3fbc39541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01dc865bb40ee" /><Relationship Type="http://schemas.openxmlformats.org/officeDocument/2006/relationships/slideLayout" Target="/ppt/slideLayouts/slideLayout1.xml" Id="R7f4426b06fd3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4426b06fd3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63d8dbf0f4d7f" /><Relationship Type="http://schemas.openxmlformats.org/officeDocument/2006/relationships/chart" Target="/ppt/slides/charts/chart1.xml" Id="Rddf197cd21f242fd" /><Relationship Type="http://schemas.openxmlformats.org/officeDocument/2006/relationships/chart" Target="/ppt/slides/charts/chart2.xml" Id="Ree70f0d488004777" /><Relationship Type="http://schemas.openxmlformats.org/officeDocument/2006/relationships/chart" Target="/ppt/slides/charts/chart3.xml" Id="R7cd2ecc08811400d" /><Relationship Type="http://schemas.openxmlformats.org/officeDocument/2006/relationships/chart" Target="/ppt/slides/charts/chart4.xml" Id="R6443966076cc46dd" /><Relationship Type="http://schemas.openxmlformats.org/officeDocument/2006/relationships/chart" Target="/ppt/slides/charts/chart5.xml" Id="Ref802250fe734b57" /><Relationship Type="http://schemas.openxmlformats.org/officeDocument/2006/relationships/chart" Target="/ppt/slides/charts/chart6.xml" Id="R924bad661a3a4f40" /><Relationship Type="http://schemas.openxmlformats.org/officeDocument/2006/relationships/chart" Target="/ppt/slides/charts/chart7.xml" Id="R3ea9515863964514" /><Relationship Type="http://schemas.openxmlformats.org/officeDocument/2006/relationships/notesSlide" Target="/ppt/notesSlides/notesSlide1.xml" Id="Rd6f4c87d59c749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bb0094d544f03" /><Relationship Type="http://schemas.openxmlformats.org/officeDocument/2006/relationships/chart" Target="/ppt/slides/charts/chart8.xml" Id="R68504138c6904ae0" /><Relationship Type="http://schemas.openxmlformats.org/officeDocument/2006/relationships/chart" Target="/ppt/slides/charts/chart9.xml" Id="Rfa1446676aab4270" /><Relationship Type="http://schemas.openxmlformats.org/officeDocument/2006/relationships/chart" Target="/ppt/slides/charts/chart10.xml" Id="Rbd9314da4fc94a0b" /><Relationship Type="http://schemas.openxmlformats.org/officeDocument/2006/relationships/chart" Target="/ppt/slides/charts/chart11.xml" Id="R6f3976f84c1f4698" /><Relationship Type="http://schemas.openxmlformats.org/officeDocument/2006/relationships/notesSlide" Target="/ppt/notesSlides/notesSlide2.xml" Id="Rac54927fad0e46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749b6a7cf4f95" /><Relationship Type="http://schemas.openxmlformats.org/officeDocument/2006/relationships/chart" Target="/ppt/slides/charts/chart12.xml" Id="Rc8b3279e571e45d1" /><Relationship Type="http://schemas.openxmlformats.org/officeDocument/2006/relationships/chart" Target="/ppt/slides/charts/chart13.xml" Id="R4548cca2f4bb407d" /><Relationship Type="http://schemas.openxmlformats.org/officeDocument/2006/relationships/notesSlide" Target="/ppt/notesSlides/notesSlide3.xml" Id="R6ce2efd9c1b6417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R$ bi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</c:formatCode>
              <c:ptCount val="4"/>
              <c:pt idx="0">
                <c:v>7.10264044208</c:v>
              </c:pt>
              <c:pt idx="1">
                <c:v>275.29447198864</c:v>
              </c:pt>
              <c:pt idx="2">
                <c:v>88.39237477025999</c:v>
              </c:pt>
              <c:pt idx="3">
                <c:v>86.50477887797999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% do PL ex-FIC</c:v>
          </c:tx>
          <c:spPr>
            <a:solidFill xmlns:a="http://schemas.openxmlformats.org/drawingml/2006/main">
              <a:srgbClr val="73787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8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cat>
            <c:strLit>
              <c:ptCount val="4"/>
              <c:pt idx="0">
                <c:v>PF/PJ*</c:v>
              </c:pt>
              <c:pt idx="1">
                <c:v>Financeiro</c:v>
              </c:pt>
              <c:pt idx="2">
                <c:v>Fomento</c:v>
              </c:pt>
              <c:pt idx="3">
                <c:v>Multicedente</c:v>
              </c:pt>
            </c:strLit>
          </c:cat>
          <c:val>
            <c:numLit>
              <c:formatCode>0.0%</c:formatCode>
              <c:ptCount val="4"/>
              <c:pt idx="0">
                <c:v>0.0098838522851996</c:v>
              </c:pt>
              <c:pt idx="1">
                <c:v>0.3830927270296855</c:v>
              </c:pt>
              <c:pt idx="2">
                <c:v>0.123004561823407</c:v>
              </c:pt>
              <c:pt idx="3">
                <c:v>0.1203778317889099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EAC6-5C19-4B02-A092-12CBEB4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0984D-5593-4680-A252-9134170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80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f197cd21f242f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70f0d488004777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d2ecc08811400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3966076cc46dd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802250fe734b57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4bad661a3a4f40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a9515863964514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B04F4-6FA2-421A-9C8A-6868027C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3DC9-A567-4D7D-8C16-93DFA0A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76576-5E4C-4742-80B6-5AF9ED4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504138c6904ae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082C-861F-45DD-83A8-65F6FBDB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1446676aab4270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147FD-66EE-4C7C-BEB8-AFC7FC5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9314da4fc94a0b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FD437-ED88-4E7C-A48E-39E4EEB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3976f84c1f4698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Multicarteira Pulverizado PF/PJ | Decisão final de jun/26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24 fundos incluídos; Sólido e BizCapital permanecem em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0392-E887-49D6-B78B-F97196A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CD366-A081-4A0C-8744-0702D6D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jun/26, regulamentos e ledger de 26 decisões. Ver CSV dos 24 incluídos e prompt de atualização.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fundos · R$ bilhões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A2D-8B60-4B2E-8BB7-73B32FC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b3279e571e45d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total ex-FIC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1D7D-92AA-48F1-9537-12314A2F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48cca2f4bb407d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R$ 7,1 bi = PL integral dos 24 fundos (1,0% do PL sem TAPSO/Petrobras).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Regulamentos lidos integralmente; crédito direto PF/PJ confirmado; Top1 mensal &lt;=1% dos DC brutos. Foram reportadas 578 posições; isso não informa o total de devedores. Exposição efetiva PF/PJ, divisão PF/PJ e total de devedores: N/D. Taxonomia congelada em jun/26 e retroaplicada.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2026-09-01T15:05:13.4790000Z</dcterms:created>
  <dcterms:modified xsi:type="dcterms:W3CDTF">2026-09-01T15:05:13.4790000Z</dcterms:modified>
</coreProperties>
</file>