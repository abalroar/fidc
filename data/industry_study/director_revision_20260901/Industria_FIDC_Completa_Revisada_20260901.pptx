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28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fb43db9bae4469" /><Relationship Type="http://schemas.openxmlformats.org/officeDocument/2006/relationships/extended-properties" Target="/docProps/app.xml" Id="R6cff93488b354ca2" /><Relationship Type="http://schemas.openxmlformats.org/officeDocument/2006/relationships/officeDocument" Target="/ppt/presentation.xml" Id="Rfb53dd6e4ca540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ddfffb155d48ff"/>
  </p:sldMasterIdLst>
  <p:notesMasterIdLst>
    <p:notesMasterId xmlns:r="http://schemas.openxmlformats.org/officeDocument/2006/relationships" r:id="R369598ba9a9a46f8"/>
  </p:notesMasterIdLst>
  <p:sldIdLst>
    <p:sldId xmlns:r="http://schemas.openxmlformats.org/officeDocument/2006/relationships" id="256" r:id="Rec9013295be2485a"/>
    <p:sldId xmlns:r="http://schemas.openxmlformats.org/officeDocument/2006/relationships" id="257" r:id="R5ebe8ab8bae146b4"/>
    <p:sldId xmlns:r="http://schemas.openxmlformats.org/officeDocument/2006/relationships" id="258" r:id="Rfeeea129b78a4eec"/>
    <p:sldId xmlns:r="http://schemas.openxmlformats.org/officeDocument/2006/relationships" id="259" r:id="Rad62198e84434ee2"/>
    <p:sldId xmlns:r="http://schemas.openxmlformats.org/officeDocument/2006/relationships" id="260" r:id="Rfe95c12edbdf4572"/>
    <p:sldId xmlns:r="http://schemas.openxmlformats.org/officeDocument/2006/relationships" id="261" r:id="R33b243333eac45b6"/>
    <p:sldId xmlns:r="http://schemas.openxmlformats.org/officeDocument/2006/relationships" id="262" r:id="R02ebcb1617404031"/>
    <p:sldId xmlns:r="http://schemas.openxmlformats.org/officeDocument/2006/relationships" id="263" r:id="Rd293daa822234681"/>
    <p:sldId xmlns:r="http://schemas.openxmlformats.org/officeDocument/2006/relationships" id="264" r:id="Rd01bca626fff4ae1"/>
    <p:sldId xmlns:r="http://schemas.openxmlformats.org/officeDocument/2006/relationships" id="265" r:id="R25040a7138d74ee7"/>
    <p:sldId xmlns:r="http://schemas.openxmlformats.org/officeDocument/2006/relationships" id="266" r:id="R04b5db6613cc43f9"/>
    <p:sldId xmlns:r="http://schemas.openxmlformats.org/officeDocument/2006/relationships" id="267" r:id="R1611e2bd2c8f4649"/>
    <p:sldId xmlns:r="http://schemas.openxmlformats.org/officeDocument/2006/relationships" id="268" r:id="Rbc178542f13c49a2"/>
    <p:sldId xmlns:r="http://schemas.openxmlformats.org/officeDocument/2006/relationships" id="269" r:id="Rc787583af8a94c19"/>
    <p:sldId xmlns:r="http://schemas.openxmlformats.org/officeDocument/2006/relationships" id="270" r:id="Rdbb03387962c445b"/>
    <p:sldId xmlns:r="http://schemas.openxmlformats.org/officeDocument/2006/relationships" id="271" r:id="R7dffcb49bb6a4217"/>
    <p:sldId xmlns:r="http://schemas.openxmlformats.org/officeDocument/2006/relationships" id="272" r:id="R7137ad57bb924faa"/>
    <p:sldId xmlns:r="http://schemas.openxmlformats.org/officeDocument/2006/relationships" id="273" r:id="Rcdd68e3de10c49ed"/>
    <p:sldId xmlns:r="http://schemas.openxmlformats.org/officeDocument/2006/relationships" id="274" r:id="Ra1ae725fa8604dac"/>
    <p:sldId xmlns:r="http://schemas.openxmlformats.org/officeDocument/2006/relationships" id="275" r:id="R49138f6135ec4aba"/>
    <p:sldId xmlns:r="http://schemas.openxmlformats.org/officeDocument/2006/relationships" id="276" r:id="R27c1392f78b342b7"/>
    <p:sldId xmlns:r="http://schemas.openxmlformats.org/officeDocument/2006/relationships" id="277" r:id="Rde54b831c0f24ae8"/>
    <p:sldId xmlns:r="http://schemas.openxmlformats.org/officeDocument/2006/relationships" id="278" r:id="Rc50b6d143a934b1c"/>
    <p:sldId xmlns:r="http://schemas.openxmlformats.org/officeDocument/2006/relationships" id="279" r:id="R96ad40c12b564954"/>
    <p:sldId xmlns:r="http://schemas.openxmlformats.org/officeDocument/2006/relationships" id="280" r:id="Ra45318c065ef4615"/>
    <p:sldId xmlns:r="http://schemas.openxmlformats.org/officeDocument/2006/relationships" id="281" r:id="R0ad0c43abb144f62"/>
    <p:sldId xmlns:r="http://schemas.openxmlformats.org/officeDocument/2006/relationships" id="282" r:id="Re7fd01aeaf2d4837"/>
    <p:sldId xmlns:r="http://schemas.openxmlformats.org/officeDocument/2006/relationships" id="283" r:id="Rcd6070115614478e"/>
    <p:sldId xmlns:r="http://schemas.openxmlformats.org/officeDocument/2006/relationships" id="284" r:id="R7708484a82534182"/>
    <p:sldId xmlns:r="http://schemas.openxmlformats.org/officeDocument/2006/relationships" id="285" r:id="R387293c8a48d45cc"/>
    <p:sldId xmlns:r="http://schemas.openxmlformats.org/officeDocument/2006/relationships" id="286" r:id="Rc4e20b2717b348c2"/>
    <p:sldId xmlns:r="http://schemas.openxmlformats.org/officeDocument/2006/relationships" id="287" r:id="Rd1d5d492fd1845c4"/>
    <p:sldId xmlns:r="http://schemas.openxmlformats.org/officeDocument/2006/relationships" id="288" r:id="Rb29ec400ecaa4c96"/>
    <p:sldId xmlns:r="http://schemas.openxmlformats.org/officeDocument/2006/relationships" id="289" r:id="R0bb80e5100ce4462"/>
    <p:sldId xmlns:r="http://schemas.openxmlformats.org/officeDocument/2006/relationships" id="290" r:id="Rf3c780ee72434477"/>
    <p:sldId xmlns:r="http://schemas.openxmlformats.org/officeDocument/2006/relationships" id="291" r:id="R9791736ec4d14fc6"/>
    <p:sldId xmlns:r="http://schemas.openxmlformats.org/officeDocument/2006/relationships" id="292" r:id="R032ce8cdd7cc483d"/>
    <p:sldId xmlns:r="http://schemas.openxmlformats.org/officeDocument/2006/relationships" id="293" r:id="Rcde10e9358164abd"/>
    <p:sldId xmlns:r="http://schemas.openxmlformats.org/officeDocument/2006/relationships" id="294" r:id="Ra447a634fe344fa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a2ea2fd9c044fa" /><Relationship Type="http://schemas.openxmlformats.org/officeDocument/2006/relationships/slideMaster" Target="/ppt/slideMasters/slideMaster1.xml" Id="Rddddfffb155d48ff" /><Relationship Type="http://schemas.openxmlformats.org/officeDocument/2006/relationships/notesMaster" Target="/ppt/notesMasters/notesMaster1.xml" Id="R369598ba9a9a46f8" /><Relationship Type="http://schemas.openxmlformats.org/officeDocument/2006/relationships/presProps" Target="/ppt/presProps.xml" Id="Rc30cf6f1875e4604" /><Relationship Type="http://schemas.openxmlformats.org/officeDocument/2006/relationships/tableStyles" Target="/ppt/tableStyles.xml" Id="R9f60003e5d8a419d" /><Relationship Type="http://schemas.openxmlformats.org/officeDocument/2006/relationships/slide" Target="/ppt/slides/slide1.xml" Id="Rec9013295be2485a" /><Relationship Type="http://schemas.openxmlformats.org/officeDocument/2006/relationships/slide" Target="/ppt/slides/slide2.xml" Id="R5ebe8ab8bae146b4" /><Relationship Type="http://schemas.openxmlformats.org/officeDocument/2006/relationships/slide" Target="/ppt/slides/slide3.xml" Id="Rfeeea129b78a4eec" /><Relationship Type="http://schemas.openxmlformats.org/officeDocument/2006/relationships/slide" Target="/ppt/slides/slide4.xml" Id="Rad62198e84434ee2" /><Relationship Type="http://schemas.openxmlformats.org/officeDocument/2006/relationships/slide" Target="/ppt/slides/slide5.xml" Id="Rfe95c12edbdf4572" /><Relationship Type="http://schemas.openxmlformats.org/officeDocument/2006/relationships/slide" Target="/ppt/slides/slide6.xml" Id="R33b243333eac45b6" /><Relationship Type="http://schemas.openxmlformats.org/officeDocument/2006/relationships/slide" Target="/ppt/slides/slide7.xml" Id="R02ebcb1617404031" /><Relationship Type="http://schemas.openxmlformats.org/officeDocument/2006/relationships/slide" Target="/ppt/slides/slide8.xml" Id="Rd293daa822234681" /><Relationship Type="http://schemas.openxmlformats.org/officeDocument/2006/relationships/slide" Target="/ppt/slides/slide9.xml" Id="Rd01bca626fff4ae1" /><Relationship Type="http://schemas.openxmlformats.org/officeDocument/2006/relationships/slide" Target="/ppt/slides/slide10.xml" Id="R25040a7138d74ee7" /><Relationship Type="http://schemas.openxmlformats.org/officeDocument/2006/relationships/slide" Target="/ppt/slides/slide11.xml" Id="R04b5db6613cc43f9" /><Relationship Type="http://schemas.openxmlformats.org/officeDocument/2006/relationships/slide" Target="/ppt/slides/slide12.xml" Id="R1611e2bd2c8f4649" /><Relationship Type="http://schemas.openxmlformats.org/officeDocument/2006/relationships/slide" Target="/ppt/slides/slide13.xml" Id="Rbc178542f13c49a2" /><Relationship Type="http://schemas.openxmlformats.org/officeDocument/2006/relationships/slide" Target="/ppt/slides/slide14.xml" Id="Rc787583af8a94c19" /><Relationship Type="http://schemas.openxmlformats.org/officeDocument/2006/relationships/slide" Target="/ppt/slides/slide15.xml" Id="Rdbb03387962c445b" /><Relationship Type="http://schemas.openxmlformats.org/officeDocument/2006/relationships/slide" Target="/ppt/slides/slide16.xml" Id="R7dffcb49bb6a4217" /><Relationship Type="http://schemas.openxmlformats.org/officeDocument/2006/relationships/slide" Target="/ppt/slides/slide17.xml" Id="R7137ad57bb924faa" /><Relationship Type="http://schemas.openxmlformats.org/officeDocument/2006/relationships/slide" Target="/ppt/slides/slide18.xml" Id="Rcdd68e3de10c49ed" /><Relationship Type="http://schemas.openxmlformats.org/officeDocument/2006/relationships/slide" Target="/ppt/slides/slide19.xml" Id="Ra1ae725fa8604dac" /><Relationship Type="http://schemas.openxmlformats.org/officeDocument/2006/relationships/slide" Target="/ppt/slides/slide20.xml" Id="R49138f6135ec4aba" /><Relationship Type="http://schemas.openxmlformats.org/officeDocument/2006/relationships/slide" Target="/ppt/slides/slide21.xml" Id="R27c1392f78b342b7" /><Relationship Type="http://schemas.openxmlformats.org/officeDocument/2006/relationships/slide" Target="/ppt/slides/slide22.xml" Id="Rde54b831c0f24ae8" /><Relationship Type="http://schemas.openxmlformats.org/officeDocument/2006/relationships/slide" Target="/ppt/slides/slide23.xml" Id="Rc50b6d143a934b1c" /><Relationship Type="http://schemas.openxmlformats.org/officeDocument/2006/relationships/slide" Target="/ppt/slides/slide24.xml" Id="R96ad40c12b564954" /><Relationship Type="http://schemas.openxmlformats.org/officeDocument/2006/relationships/slide" Target="/ppt/slides/slide25.xml" Id="Ra45318c065ef4615" /><Relationship Type="http://schemas.openxmlformats.org/officeDocument/2006/relationships/slide" Target="/ppt/slides/slide26.xml" Id="R0ad0c43abb144f62" /><Relationship Type="http://schemas.openxmlformats.org/officeDocument/2006/relationships/slide" Target="/ppt/slides/slide27.xml" Id="Re7fd01aeaf2d4837" /><Relationship Type="http://schemas.openxmlformats.org/officeDocument/2006/relationships/slide" Target="/ppt/slides/slide28.xml" Id="Rcd6070115614478e" /><Relationship Type="http://schemas.openxmlformats.org/officeDocument/2006/relationships/slide" Target="/ppt/slides/slide29.xml" Id="R7708484a82534182" /><Relationship Type="http://schemas.openxmlformats.org/officeDocument/2006/relationships/slide" Target="/ppt/slides/slide30.xml" Id="R387293c8a48d45cc" /><Relationship Type="http://schemas.openxmlformats.org/officeDocument/2006/relationships/slide" Target="/ppt/slides/slide31.xml" Id="Rc4e20b2717b348c2" /><Relationship Type="http://schemas.openxmlformats.org/officeDocument/2006/relationships/slide" Target="/ppt/slides/slide32.xml" Id="Rd1d5d492fd1845c4" /><Relationship Type="http://schemas.openxmlformats.org/officeDocument/2006/relationships/slide" Target="/ppt/slides/slide33.xml" Id="Rb29ec400ecaa4c96" /><Relationship Type="http://schemas.openxmlformats.org/officeDocument/2006/relationships/slide" Target="/ppt/slides/slide34.xml" Id="R0bb80e5100ce4462" /><Relationship Type="http://schemas.openxmlformats.org/officeDocument/2006/relationships/slide" Target="/ppt/slides/slide35.xml" Id="Rf3c780ee72434477" /><Relationship Type="http://schemas.openxmlformats.org/officeDocument/2006/relationships/slide" Target="/ppt/slides/slide36.xml" Id="R9791736ec4d14fc6" /><Relationship Type="http://schemas.openxmlformats.org/officeDocument/2006/relationships/slide" Target="/ppt/slides/slide37.xml" Id="R032ce8cdd7cc483d" /><Relationship Type="http://schemas.openxmlformats.org/officeDocument/2006/relationships/slide" Target="/ppt/slides/slide38.xml" Id="Rcde10e9358164abd" /><Relationship Type="http://schemas.openxmlformats.org/officeDocument/2006/relationships/slide" Target="/ppt/slides/slide39.xml" Id="Ra447a634fe344f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f46281ff4a544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2e698d19804a22" /><Relationship Type="http://schemas.openxmlformats.org/officeDocument/2006/relationships/notesMaster" Target="/ppt/notesMasters/notesMaster1.xml" Id="Rc7523453a2ba48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2597249c4f47fa" /><Relationship Type="http://schemas.openxmlformats.org/officeDocument/2006/relationships/notesMaster" Target="/ppt/notesMasters/notesMaster1.xml" Id="R64864836f5564e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4184af8fc0403d" /><Relationship Type="http://schemas.openxmlformats.org/officeDocument/2006/relationships/notesMaster" Target="/ppt/notesMasters/notesMaster1.xml" Id="Rc546893a01384f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34d2c9de7c4197" /><Relationship Type="http://schemas.openxmlformats.org/officeDocument/2006/relationships/notesMaster" Target="/ppt/notesMasters/notesMaster1.xml" Id="Ra5602062370b4a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35134d29ca40cc" /><Relationship Type="http://schemas.openxmlformats.org/officeDocument/2006/relationships/notesMaster" Target="/ppt/notesMasters/notesMaster1.xml" Id="Reef487bd1ace4d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769400144f4f56" /><Relationship Type="http://schemas.openxmlformats.org/officeDocument/2006/relationships/notesMaster" Target="/ppt/notesMasters/notesMaster1.xml" Id="R5a904ed0c5984a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c8a8e6016c4465" /><Relationship Type="http://schemas.openxmlformats.org/officeDocument/2006/relationships/notesMaster" Target="/ppt/notesMasters/notesMaster1.xml" Id="R0e3c0fccee9041c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9fc2c6495c478b" /><Relationship Type="http://schemas.openxmlformats.org/officeDocument/2006/relationships/notesMaster" Target="/ppt/notesMasters/notesMaster1.xml" Id="R3973257064db4b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336b60748f8460d" /><Relationship Type="http://schemas.openxmlformats.org/officeDocument/2006/relationships/notesMaster" Target="/ppt/notesMasters/notesMaster1.xml" Id="Rbd62bf11330446d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763a1aa3e6142eb" /><Relationship Type="http://schemas.openxmlformats.org/officeDocument/2006/relationships/notesMaster" Target="/ppt/notesMasters/notesMaster1.xml" Id="R844acf0cb18641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dce45157a8746c2" /><Relationship Type="http://schemas.openxmlformats.org/officeDocument/2006/relationships/notesMaster" Target="/ppt/notesMasters/notesMaster1.xml" Id="R84a1d478353f4ae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fecc1bce994e32" /><Relationship Type="http://schemas.openxmlformats.org/officeDocument/2006/relationships/notesMaster" Target="/ppt/notesMasters/notesMaster1.xml" Id="Reef71dc7a26e473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f6cf959f23c4475" /><Relationship Type="http://schemas.openxmlformats.org/officeDocument/2006/relationships/notesMaster" Target="/ppt/notesMasters/notesMaster1.xml" Id="R2964356f1ea0440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1f932dc470d4875" /><Relationship Type="http://schemas.openxmlformats.org/officeDocument/2006/relationships/notesMaster" Target="/ppt/notesMasters/notesMaster1.xml" Id="R5fa79c61976648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70458c226b04773" /><Relationship Type="http://schemas.openxmlformats.org/officeDocument/2006/relationships/notesMaster" Target="/ppt/notesMasters/notesMaster1.xml" Id="Rb209e4687f314ef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74363367ee648fe" /><Relationship Type="http://schemas.openxmlformats.org/officeDocument/2006/relationships/notesMaster" Target="/ppt/notesMasters/notesMaster1.xml" Id="R369f842722d44a8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9c7dbe58f1f48be" /><Relationship Type="http://schemas.openxmlformats.org/officeDocument/2006/relationships/notesMaster" Target="/ppt/notesMasters/notesMaster1.xml" Id="R84394c4b409b419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f8c68e1f6a042e2" /><Relationship Type="http://schemas.openxmlformats.org/officeDocument/2006/relationships/notesMaster" Target="/ppt/notesMasters/notesMaster1.xml" Id="R1e228a2f721b49d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174b3c238644a11" /><Relationship Type="http://schemas.openxmlformats.org/officeDocument/2006/relationships/notesMaster" Target="/ppt/notesMasters/notesMaster1.xml" Id="R8af8d6cb4153432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7af2c6bb0754fda" /><Relationship Type="http://schemas.openxmlformats.org/officeDocument/2006/relationships/notesMaster" Target="/ppt/notesMasters/notesMaster1.xml" Id="Rf77ab0b24ff9456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3cf3fe3568843ac" /><Relationship Type="http://schemas.openxmlformats.org/officeDocument/2006/relationships/notesMaster" Target="/ppt/notesMasters/notesMaster1.xml" Id="R418231feafec489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3e9e48b22154f0e" /><Relationship Type="http://schemas.openxmlformats.org/officeDocument/2006/relationships/notesMaster" Target="/ppt/notesMasters/notesMaster1.xml" Id="Rfb2a4839d61a4e3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7bb42913e134b19" /><Relationship Type="http://schemas.openxmlformats.org/officeDocument/2006/relationships/notesMaster" Target="/ppt/notesMasters/notesMaster1.xml" Id="Rd5f007a2b591446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3628a25f4eb4aea" /><Relationship Type="http://schemas.openxmlformats.org/officeDocument/2006/relationships/notesMaster" Target="/ppt/notesMasters/notesMaster1.xml" Id="R0339c6230b3340a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86d1ba27c534b0c" /><Relationship Type="http://schemas.openxmlformats.org/officeDocument/2006/relationships/notesMaster" Target="/ppt/notesMasters/notesMaster1.xml" Id="R1ad7558e49bb4fa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2144deacdac4836" /><Relationship Type="http://schemas.openxmlformats.org/officeDocument/2006/relationships/notesMaster" Target="/ppt/notesMasters/notesMaster1.xml" Id="Rb9f7c7801159495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a17856f3a024255" /><Relationship Type="http://schemas.openxmlformats.org/officeDocument/2006/relationships/notesMaster" Target="/ppt/notesMasters/notesMaster1.xml" Id="R027f3f0b0d8d4b5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ddf94e150ee49cc" /><Relationship Type="http://schemas.openxmlformats.org/officeDocument/2006/relationships/notesMaster" Target="/ppt/notesMasters/notesMaster1.xml" Id="Rdf27c20f5d0e412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86aa18582dd421c" /><Relationship Type="http://schemas.openxmlformats.org/officeDocument/2006/relationships/notesMaster" Target="/ppt/notesMasters/notesMaster1.xml" Id="Ra3f9f4636557458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9fca880ee4f4a0e" /><Relationship Type="http://schemas.openxmlformats.org/officeDocument/2006/relationships/notesMaster" Target="/ppt/notesMasters/notesMaster1.xml" Id="Rd0bac66ef44c474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c33b5bc13f44bad" /><Relationship Type="http://schemas.openxmlformats.org/officeDocument/2006/relationships/notesMaster" Target="/ppt/notesMasters/notesMaster1.xml" Id="R4e5fc8c4b9fd429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4aedb09d8b74ef6" /><Relationship Type="http://schemas.openxmlformats.org/officeDocument/2006/relationships/notesMaster" Target="/ppt/notesMasters/notesMaster1.xml" Id="Rf63f607aa7b7459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abf5d86ca054a69" /><Relationship Type="http://schemas.openxmlformats.org/officeDocument/2006/relationships/notesMaster" Target="/ppt/notesMasters/notesMaster1.xml" Id="Red5b1e2b40aa430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4414b40c98b4c1a" /><Relationship Type="http://schemas.openxmlformats.org/officeDocument/2006/relationships/notesMaster" Target="/ppt/notesMasters/notesMaster1.xml" Id="R1418f688c73f46b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be5bc02a0ce4461" /><Relationship Type="http://schemas.openxmlformats.org/officeDocument/2006/relationships/notesMaster" Target="/ppt/notesMasters/notesMaster1.xml" Id="R648b2557390048a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7f1bf590c0449bf" /><Relationship Type="http://schemas.openxmlformats.org/officeDocument/2006/relationships/notesMaster" Target="/ppt/notesMasters/notesMaster1.xml" Id="R4fa3fe616e6f45f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5aca69af33841c2" /><Relationship Type="http://schemas.openxmlformats.org/officeDocument/2006/relationships/notesMaster" Target="/ppt/notesMasters/notesMaster1.xml" Id="R074faf2fadb0492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f20467e03994ecb" /><Relationship Type="http://schemas.openxmlformats.org/officeDocument/2006/relationships/notesMaster" Target="/ppt/notesMasters/notesMaster1.xml" Id="R5bcf5912adf1489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5007362e8a14949" /><Relationship Type="http://schemas.openxmlformats.org/officeDocument/2006/relationships/notesMaster" Target="/ppt/notesMasters/notesMaster1.xml" Id="R95bf9623cb6b43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 Informe Mensal jun/26; bases/saldo_cenarios.csv; bases/emissoes_por_categoria.csv; bases/exclusoes_por_cnpj.csv. PF/PJ via bases/pfpj_24_incluidos.csv. Cenário sem CNPJs 09195235000150 e 26287464000114.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CVM/SRE, ofertas encerradas; bases/emissoes_por_cnpj.csv, emissoes_por_categoria.csv e emissoes_auditoria.csv. Match por CNPJ do fundo e depois da classe; FIC fora; sem match=N/D. 2023 escalado ao total encerrado ANBIMA.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CVM/ANBIMA, regulamentos integrais, taxonomy_review_actions.csv, bases/criterios_categorias.csv e categorias_cnpj_jun26.csv. Taxonomia congelada em jun/26 e retroaplicada.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 Informe Mensal jun/26; bases/prestadores_separados.csv e prestadores_linhagem.csv. Itaú/Intrag/Kinea e Kanastra/Limine conforme curadoria documentada.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 Informe Mensal jun/26; bases/saldo_cenarios.csv; bases/emissoes_por_categoria.csv; bases/exclusoes_por_cnpj.csv. PF/PJ via bases/pfpj_24_incluidos.csv. Cenário sem CNPJs 09195235000150 e 26287464000114.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 Informe Mensal jun/26, Tabelas I, II e VIII; regulamentos integrais; bases/pfpj_26_decisoes.csv e pfpj_24_incluidos.csv. PL dos fundos; exposição efetiva, PF/PJ split e total de devedores=N/D.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d6cc5cc9b748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a243fccbbb4411" /><Relationship Type="http://schemas.openxmlformats.org/officeDocument/2006/relationships/slideLayout" Target="/ppt/slideLayouts/slideLayout1.xml" Id="R6dd8876bc1ed40f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d8876bc1ed40f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c5088f34884e93" /><Relationship Type="http://schemas.openxmlformats.org/officeDocument/2006/relationships/notesSlide" Target="/ppt/notesSlides/notesSlide1.xml" Id="R0d7bb0586a2f4b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50e02010104737" /><Relationship Type="http://schemas.openxmlformats.org/officeDocument/2006/relationships/chart" Target="/ppt/slides/charts/chart1.xml" Id="Re42ce52525d94279" /><Relationship Type="http://schemas.openxmlformats.org/officeDocument/2006/relationships/chart" Target="/ppt/slides/charts/chart2.xml" Id="Rf35bc62f5e224526" /><Relationship Type="http://schemas.openxmlformats.org/officeDocument/2006/relationships/chart" Target="/ppt/slides/charts/chart3.xml" Id="R85c87088f4f54429" /><Relationship Type="http://schemas.openxmlformats.org/officeDocument/2006/relationships/notesSlide" Target="/ppt/notesSlides/notesSlide2.xml" Id="Rade4f583fee042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2994b0dab4293" /><Relationship Type="http://schemas.openxmlformats.org/officeDocument/2006/relationships/chart" Target="/ppt/slides/charts/chart4.xml" Id="R0f920a93cda24c7e" /><Relationship Type="http://schemas.openxmlformats.org/officeDocument/2006/relationships/chart" Target="/ppt/slides/charts/chart5.xml" Id="Rc1ba19a9cf774c08" /><Relationship Type="http://schemas.openxmlformats.org/officeDocument/2006/relationships/notesSlide" Target="/ppt/notesSlides/notesSlide3.xml" Id="R5ef10176666d4b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2007553dd4a3a" /><Relationship Type="http://schemas.openxmlformats.org/officeDocument/2006/relationships/chart" Target="/ppt/slides/charts/chart6.xml" Id="Ra1ca0039a6b14a3b" /><Relationship Type="http://schemas.openxmlformats.org/officeDocument/2006/relationships/chart" Target="/ppt/slides/charts/chart7.xml" Id="R5e9c0df66b954ece" /><Relationship Type="http://schemas.openxmlformats.org/officeDocument/2006/relationships/chart" Target="/ppt/slides/charts/chart8.xml" Id="R71368e324a0e45ab" /><Relationship Type="http://schemas.openxmlformats.org/officeDocument/2006/relationships/chart" Target="/ppt/slides/charts/chart9.xml" Id="R255f8cff54c4474d" /><Relationship Type="http://schemas.openxmlformats.org/officeDocument/2006/relationships/notesSlide" Target="/ppt/notesSlides/notesSlide4.xml" Id="R3f113cc1a8bb40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8b07b90604504" /><Relationship Type="http://schemas.openxmlformats.org/officeDocument/2006/relationships/chart" Target="/ppt/slides/charts/chart10.xml" Id="Re19e91ad41ec4bed" /><Relationship Type="http://schemas.openxmlformats.org/officeDocument/2006/relationships/chart" Target="/ppt/slides/charts/chart11.xml" Id="R59d97f6d07f845a2" /><Relationship Type="http://schemas.openxmlformats.org/officeDocument/2006/relationships/notesSlide" Target="/ppt/notesSlides/notesSlide5.xml" Id="R9df225f46cfe44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5767ec965c4088" /><Relationship Type="http://schemas.openxmlformats.org/officeDocument/2006/relationships/chart" Target="/ppt/slides/charts/chart12.xml" Id="Reb3954da8d8b417e" /><Relationship Type="http://schemas.openxmlformats.org/officeDocument/2006/relationships/chart" Target="/ppt/slides/charts/chart13.xml" Id="R2fcb785cdea1429c" /><Relationship Type="http://schemas.openxmlformats.org/officeDocument/2006/relationships/chart" Target="/ppt/slides/charts/chart14.xml" Id="R78e2201b04cd4457" /><Relationship Type="http://schemas.openxmlformats.org/officeDocument/2006/relationships/notesSlide" Target="/ppt/notesSlides/notesSlide6.xml" Id="Rf2739146e2de4f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f6e69c5b549ef" /><Relationship Type="http://schemas.openxmlformats.org/officeDocument/2006/relationships/chart" Target="/ppt/slides/charts/chart15.xml" Id="R7ce1b390f1d54201" /><Relationship Type="http://schemas.openxmlformats.org/officeDocument/2006/relationships/chart" Target="/ppt/slides/charts/chart16.xml" Id="R1fb666fdbb4f46a4" /><Relationship Type="http://schemas.openxmlformats.org/officeDocument/2006/relationships/chart" Target="/ppt/slides/charts/chart17.xml" Id="Rdae13bb200484056" /><Relationship Type="http://schemas.openxmlformats.org/officeDocument/2006/relationships/notesSlide" Target="/ppt/notesSlides/notesSlide7.xml" Id="R1f2b3086222340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8323404284876" /><Relationship Type="http://schemas.openxmlformats.org/officeDocument/2006/relationships/chart" Target="/ppt/slides/charts/chart18.xml" Id="Rcb8050a0265c429e" /><Relationship Type="http://schemas.openxmlformats.org/officeDocument/2006/relationships/chart" Target="/ppt/slides/charts/chart19.xml" Id="Ra2495246c82b4128" /><Relationship Type="http://schemas.openxmlformats.org/officeDocument/2006/relationships/chart" Target="/ppt/slides/charts/chart20.xml" Id="R14ffbc4a037d4989" /><Relationship Type="http://schemas.openxmlformats.org/officeDocument/2006/relationships/notesSlide" Target="/ppt/notesSlides/notesSlide8.xml" Id="Rab33592ed3b748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0cbe51892a4033" /><Relationship Type="http://schemas.openxmlformats.org/officeDocument/2006/relationships/notesSlide" Target="/ppt/notesSlides/notesSlide9.xml" Id="Rf18673ff74874a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39256fc9646cb" /><Relationship Type="http://schemas.openxmlformats.org/officeDocument/2006/relationships/notesSlide" Target="/ppt/notesSlides/notesSlide10.xml" Id="R3b52d15c82a84e8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82ec41a3f14c34" /><Relationship Type="http://schemas.openxmlformats.org/officeDocument/2006/relationships/notesSlide" Target="/ppt/notesSlides/notesSlide11.xml" Id="Rceca24e474fe4dc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46315c62c432a" /><Relationship Type="http://schemas.openxmlformats.org/officeDocument/2006/relationships/notesSlide" Target="/ppt/notesSlides/notesSlide12.xml" Id="Rb6d15fa2a4564f9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5390845ed44f0" /><Relationship Type="http://schemas.openxmlformats.org/officeDocument/2006/relationships/notesSlide" Target="/ppt/notesSlides/notesSlide13.xml" Id="R5055316f45324be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e75fbfde64614" /><Relationship Type="http://schemas.openxmlformats.org/officeDocument/2006/relationships/notesSlide" Target="/ppt/notesSlides/notesSlide14.xml" Id="R4f651ef39a27436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a1d1a20f52416f" /><Relationship Type="http://schemas.openxmlformats.org/officeDocument/2006/relationships/notesSlide" Target="/ppt/notesSlides/notesSlide15.xml" Id="Rf7a3caf629ad4c6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d2d29ce8d84d10" /><Relationship Type="http://schemas.openxmlformats.org/officeDocument/2006/relationships/notesSlide" Target="/ppt/notesSlides/notesSlide16.xml" Id="R1fa9ab59e72441d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835d07821c4a0b" /><Relationship Type="http://schemas.openxmlformats.org/officeDocument/2006/relationships/notesSlide" Target="/ppt/notesSlides/notesSlide17.xml" Id="Rba911cb5d7a047c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9d05f3954d4df8" /><Relationship Type="http://schemas.openxmlformats.org/officeDocument/2006/relationships/notesSlide" Target="/ppt/notesSlides/notesSlide18.xml" Id="R2f5711b233f44c7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67e42d5ab54b1f" /><Relationship Type="http://schemas.openxmlformats.org/officeDocument/2006/relationships/notesSlide" Target="/ppt/notesSlides/notesSlide19.xml" Id="R798c148cda1a48b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d04def22014802" /><Relationship Type="http://schemas.openxmlformats.org/officeDocument/2006/relationships/notesSlide" Target="/ppt/notesSlides/notesSlide20.xml" Id="R8967946e2bf0420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e9ec7dea84e87" /><Relationship Type="http://schemas.openxmlformats.org/officeDocument/2006/relationships/notesSlide" Target="/ppt/notesSlides/notesSlide21.xml" Id="R6cd16a6f9f4146e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1aaaa7df654a84" /><Relationship Type="http://schemas.openxmlformats.org/officeDocument/2006/relationships/notesSlide" Target="/ppt/notesSlides/notesSlide22.xml" Id="R56e3ffd770ae422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c5f110a7c4e34" /><Relationship Type="http://schemas.openxmlformats.org/officeDocument/2006/relationships/notesSlide" Target="/ppt/notesSlides/notesSlide23.xml" Id="Re865b1ea0d96441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de5561016f48a0" /><Relationship Type="http://schemas.openxmlformats.org/officeDocument/2006/relationships/chart" Target="/ppt/slides/charts/chart21.xml" Id="Rae7bb6e55bd44ba2" /><Relationship Type="http://schemas.openxmlformats.org/officeDocument/2006/relationships/chart" Target="/ppt/slides/charts/chart22.xml" Id="R5176a1977a6c43ae" /><Relationship Type="http://schemas.openxmlformats.org/officeDocument/2006/relationships/chart" Target="/ppt/slides/charts/chart23.xml" Id="Rdc4af4563dc24ea4" /><Relationship Type="http://schemas.openxmlformats.org/officeDocument/2006/relationships/notesSlide" Target="/ppt/notesSlides/notesSlide24.xml" Id="R076c59fc0cf7452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a50960cfcb4892" /><Relationship Type="http://schemas.openxmlformats.org/officeDocument/2006/relationships/chart" Target="/ppt/slides/charts/chart24.xml" Id="Ra311b3de687e4457" /><Relationship Type="http://schemas.openxmlformats.org/officeDocument/2006/relationships/chart" Target="/ppt/slides/charts/chart25.xml" Id="R3ad59c0157a64ce0" /><Relationship Type="http://schemas.openxmlformats.org/officeDocument/2006/relationships/chart" Target="/ppt/slides/charts/chart26.xml" Id="Rae7bfbd3e3f344a3" /><Relationship Type="http://schemas.openxmlformats.org/officeDocument/2006/relationships/chart" Target="/ppt/slides/charts/chart27.xml" Id="Re27d309678b24325" /><Relationship Type="http://schemas.openxmlformats.org/officeDocument/2006/relationships/notesSlide" Target="/ppt/notesSlides/notesSlide25.xml" Id="Rf704cf9fb217412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f3377b74a44f7" /><Relationship Type="http://schemas.openxmlformats.org/officeDocument/2006/relationships/chart" Target="/ppt/slides/charts/chart28.xml" Id="Racd8c5cb7d9b409e" /><Relationship Type="http://schemas.openxmlformats.org/officeDocument/2006/relationships/notesSlide" Target="/ppt/notesSlides/notesSlide26.xml" Id="R616dcd03e7c849b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c78190110640a4" /><Relationship Type="http://schemas.openxmlformats.org/officeDocument/2006/relationships/notesSlide" Target="/ppt/notesSlides/notesSlide27.xml" Id="Ra71013bb86fd4de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b41e6004e40f2" /><Relationship Type="http://schemas.openxmlformats.org/officeDocument/2006/relationships/notesSlide" Target="/ppt/notesSlides/notesSlide28.xml" Id="R6fd1edf3f08c4a6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c4010579d41d8" /><Relationship Type="http://schemas.openxmlformats.org/officeDocument/2006/relationships/notesSlide" Target="/ppt/notesSlides/notesSlide29.xml" Id="R29dce8ea778d435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71e6111d94d8a" /><Relationship Type="http://schemas.openxmlformats.org/officeDocument/2006/relationships/notesSlide" Target="/ppt/notesSlides/notesSlide30.xml" Id="R53a49d6d1e43453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b47823aa14798" /><Relationship Type="http://schemas.openxmlformats.org/officeDocument/2006/relationships/notesSlide" Target="/ppt/notesSlides/notesSlide31.xml" Id="R83be05aea199408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c29fa6d514ff1" /><Relationship Type="http://schemas.openxmlformats.org/officeDocument/2006/relationships/notesSlide" Target="/ppt/notesSlides/notesSlide32.xml" Id="Rcdca30ad78d547f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6d54ac6dbf49b8" /><Relationship Type="http://schemas.openxmlformats.org/officeDocument/2006/relationships/notesSlide" Target="/ppt/notesSlides/notesSlide33.xml" Id="R607b99bef74c45a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7ed3873a954555" /><Relationship Type="http://schemas.openxmlformats.org/officeDocument/2006/relationships/chart" Target="/ppt/slides/charts/chart29.xml" Id="R0d9afa351d1d4ef9" /><Relationship Type="http://schemas.openxmlformats.org/officeDocument/2006/relationships/chart" Target="/ppt/slides/charts/chart30.xml" Id="Raa9d0f68ac6c4471" /><Relationship Type="http://schemas.openxmlformats.org/officeDocument/2006/relationships/chart" Target="/ppt/slides/charts/chart31.xml" Id="R8a9b285f110d44b7" /><Relationship Type="http://schemas.openxmlformats.org/officeDocument/2006/relationships/chart" Target="/ppt/slides/charts/chart32.xml" Id="R3cb0cccaa6db4ae7" /><Relationship Type="http://schemas.openxmlformats.org/officeDocument/2006/relationships/chart" Target="/ppt/slides/charts/chart33.xml" Id="R108e7d10fdc440cc" /><Relationship Type="http://schemas.openxmlformats.org/officeDocument/2006/relationships/chart" Target="/ppt/slides/charts/chart34.xml" Id="Rf57a8ac84b764662" /><Relationship Type="http://schemas.openxmlformats.org/officeDocument/2006/relationships/chart" Target="/ppt/slides/charts/chart35.xml" Id="R0d3dc1efa97f45cd" /><Relationship Type="http://schemas.openxmlformats.org/officeDocument/2006/relationships/notesSlide" Target="/ppt/notesSlides/notesSlide34.xml" Id="R2b4bd372705742f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203374eb04e14" /><Relationship Type="http://schemas.openxmlformats.org/officeDocument/2006/relationships/chart" Target="/ppt/slides/charts/chart36.xml" Id="R8bc3e54be7b74b04" /><Relationship Type="http://schemas.openxmlformats.org/officeDocument/2006/relationships/chart" Target="/ppt/slides/charts/chart37.xml" Id="Re29c68ff033b4da7" /><Relationship Type="http://schemas.openxmlformats.org/officeDocument/2006/relationships/notesSlide" Target="/ppt/notesSlides/notesSlide35.xml" Id="R2de0d61a47b24c4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c1a231e50468f" /><Relationship Type="http://schemas.openxmlformats.org/officeDocument/2006/relationships/chart" Target="/ppt/slides/charts/chart38.xml" Id="R13e3aa0cfe9e41ce" /><Relationship Type="http://schemas.openxmlformats.org/officeDocument/2006/relationships/chart" Target="/ppt/slides/charts/chart39.xml" Id="R412e048574004076" /><Relationship Type="http://schemas.openxmlformats.org/officeDocument/2006/relationships/chart" Target="/ppt/slides/charts/chart40.xml" Id="R7617f11d5c534efd" /><Relationship Type="http://schemas.openxmlformats.org/officeDocument/2006/relationships/notesSlide" Target="/ppt/notesSlides/notesSlide36.xml" Id="R75704817c274410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2ff2477b684ff4" /><Relationship Type="http://schemas.openxmlformats.org/officeDocument/2006/relationships/chart" Target="/ppt/slides/charts/chart41.xml" Id="R79c3cbe26856426a" /><Relationship Type="http://schemas.openxmlformats.org/officeDocument/2006/relationships/chart" Target="/ppt/slides/charts/chart42.xml" Id="R8a3a585014664676" /><Relationship Type="http://schemas.openxmlformats.org/officeDocument/2006/relationships/chart" Target="/ppt/slides/charts/chart43.xml" Id="R9638ec0ad10243dd" /><Relationship Type="http://schemas.openxmlformats.org/officeDocument/2006/relationships/chart" Target="/ppt/slides/charts/chart44.xml" Id="Rc13c0124322d44e0" /><Relationship Type="http://schemas.openxmlformats.org/officeDocument/2006/relationships/chart" Target="/ppt/slides/charts/chart45.xml" Id="R1c594e3badae4953" /><Relationship Type="http://schemas.openxmlformats.org/officeDocument/2006/relationships/notesSlide" Target="/ppt/notesSlides/notesSlide37.xml" Id="Rddc6b8f489b941e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47fe788c54b6f" /><Relationship Type="http://schemas.openxmlformats.org/officeDocument/2006/relationships/chart" Target="/ppt/slides/charts/chart46.xml" Id="Ra3c48064370b4252" /><Relationship Type="http://schemas.openxmlformats.org/officeDocument/2006/relationships/chart" Target="/ppt/slides/charts/chart47.xml" Id="R2f49ed1b3b8c4d9b" /><Relationship Type="http://schemas.openxmlformats.org/officeDocument/2006/relationships/chart" Target="/ppt/slides/charts/chart48.xml" Id="R3634c0b70b7b49a6" /><Relationship Type="http://schemas.openxmlformats.org/officeDocument/2006/relationships/chart" Target="/ppt/slides/charts/chart49.xml" Id="R0f5724b415e7472b" /><Relationship Type="http://schemas.openxmlformats.org/officeDocument/2006/relationships/notesSlide" Target="/ppt/notesSlides/notesSlide38.xml" Id="R729821c21f7c479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a2a6caef954ff6" /><Relationship Type="http://schemas.openxmlformats.org/officeDocument/2006/relationships/chart" Target="/ppt/slides/charts/chart50.xml" Id="Rceddd4cc135f4a1c" /><Relationship Type="http://schemas.openxmlformats.org/officeDocument/2006/relationships/chart" Target="/ppt/slides/charts/chart51.xml" Id="Rf4deb69c2d314172" /><Relationship Type="http://schemas.openxmlformats.org/officeDocument/2006/relationships/notesSlide" Target="/ppt/notesSlides/notesSlide39.xml" Id="Rd97c2f1381934375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 xmlns:a="http://schemas.openxmlformats.org/drawingml/2006/main">
              <a:noFill/>
            </a:ln>
          </c:spPr>
          <c:marker>
            <c:symbol val="none"/>
            <c:size val="2"/>
          </c:marker>
          <c:dLbls>
            <c:numFmt formatCode="[&gt;=1000]#\.##0;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Algn val="ctr"/>
        <c:noMultiLvlLbl val="0"/>
        <c:lblOffset val="10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Empréstimos</c:v>
          </c:tx>
          <c:spPr>
            <a:ln xmlns:a="http://schemas.openxmlformats.org/drawingml/2006/main"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xmlns:a="http://schemas.openxmlformats.org/drawingml/2006/main"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xmlns:a="http://schemas.openxmlformats.org/drawingml/2006/main"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xmlns:a="http://schemas.openxmlformats.org/drawingml/2006/main"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66.99363287149001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88.01231288842001</c:v>
              </c:pt>
              <c:pt idx="1">
                <c:v>110.78163928671</c:v>
              </c:pt>
              <c:pt idx="2">
                <c:v>134.72203186548</c:v>
              </c:pt>
              <c:pt idx="3">
                <c:v>142.63089658108998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126.14605664653</c:v>
              </c:pt>
              <c:pt idx="1">
                <c:v>176.82850856551002</c:v>
              </c:pt>
              <c:pt idx="2">
                <c:v>231.72616772613995</c:v>
              </c:pt>
              <c:pt idx="3">
                <c:v>275.29447198864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3.0397972983000003</c:v>
              </c:pt>
              <c:pt idx="1">
                <c:v>3.80886973898</c:v>
              </c:pt>
              <c:pt idx="2">
                <c:v>5.862133668999999</c:v>
              </c:pt>
              <c:pt idx="3">
                <c:v>7.10264044208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54.14687833335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86.50477887797999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21.275962572810005</c:v>
              </c:pt>
              <c:pt idx="1">
                <c:v>33.66266718072</c:v>
              </c:pt>
              <c:pt idx="2">
                <c:v>33.97906413177999</c:v>
              </c:pt>
              <c:pt idx="3">
                <c:v>35.19928678253001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0.4925227090800001</c:v>
              </c:pt>
              <c:pt idx="1">
                <c:v>0.22197586637999997</c:v>
              </c:pt>
              <c:pt idx="2">
                <c:v>0.08320776646000001</c:v>
              </c:pt>
              <c:pt idx="3">
                <c:v>1.63869010794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0.1363576869727525</c:v>
              </c:pt>
              <c:pt idx="1">
                <c:v>0.1270764465658316</c:v>
              </c:pt>
              <c:pt idx="2">
                <c:v>0.1247213464961755</c:v>
              </c:pt>
              <c:pt idx="3">
                <c:v>0.123004561823407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0.2262666961053475</c:v>
              </c:pt>
              <c:pt idx="1">
                <c:v>0.2101354481297849</c:v>
              </c:pt>
              <c:pt idx="2">
                <c:v>0.1999106975839517</c:v>
              </c:pt>
              <c:pt idx="3">
                <c:v>0.1984814977766555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0.324302935889369</c:v>
              </c:pt>
              <c:pt idx="1">
                <c:v>0.3354160321943587</c:v>
              </c:pt>
              <c:pt idx="2">
                <c:v>0.3438527403212231</c:v>
              </c:pt>
              <c:pt idx="3">
                <c:v>0.3830927270296855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0.0078148712258963</c:v>
              </c:pt>
              <c:pt idx="1">
                <c:v>0.0072248303475371</c:v>
              </c:pt>
              <c:pt idx="2">
                <c:v>0.0086986754495382</c:v>
              </c:pt>
              <c:pt idx="3">
                <c:v>0.0098838522851996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0.1392036507487046</c:v>
              </c:pt>
              <c:pt idx="1">
                <c:v>0.1357000256573569</c:v>
              </c:pt>
              <c:pt idx="2">
                <c:v>0.1375107973513174</c:v>
              </c:pt>
              <c:pt idx="3">
                <c:v>0.1138967454004706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0.1100905889356954</c:v>
              </c:pt>
              <c:pt idx="1">
                <c:v>0.1201733473802729</c:v>
              </c:pt>
              <c:pt idx="2">
                <c:v>0.134761578326829</c:v>
              </c:pt>
              <c:pt idx="3">
                <c:v>0.1203778317889099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0.0546973667640558</c:v>
              </c:pt>
              <c:pt idx="1">
                <c:v>0.0638528162140403</c:v>
              </c:pt>
              <c:pt idx="2">
                <c:v>0.0504206945202293</c:v>
              </c:pt>
              <c:pt idx="3">
                <c:v>0.0489824247672355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0.0012662033581786</c:v>
              </c:pt>
              <c:pt idx="1">
                <c:v>0.0004210535108172</c:v>
              </c:pt>
              <c:pt idx="2">
                <c:v>0.0001234699507355</c:v>
              </c:pt>
              <c:pt idx="3">
                <c:v>0.0022803591284361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4.272733645318789</c:v>
              </c:pt>
              <c:pt idx="1">
                <c:v>9.46084314594</c:v>
              </c:pt>
              <c:pt idx="2">
                <c:v>8.85980114902</c:v>
              </c:pt>
              <c:pt idx="3">
                <c:v>3.9604598731999996</c:v>
              </c:pt>
              <c:pt idx="4">
                <c:v>5.60231892482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4.81492197807918</c:v>
              </c:pt>
              <c:pt idx="1">
                <c:v>17.46136403561</c:v>
              </c:pt>
              <c:pt idx="2">
                <c:v>27.4106918537</c:v>
              </c:pt>
              <c:pt idx="3">
                <c:v>18.84859596717</c:v>
              </c:pt>
              <c:pt idx="4">
                <c:v>10.74513727233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15.42043709582751</c:v>
              </c:pt>
              <c:pt idx="1">
                <c:v>42.451896497339995</c:v>
              </c:pt>
              <c:pt idx="2">
                <c:v>51.61086148217</c:v>
              </c:pt>
              <c:pt idx="3">
                <c:v>21.28068209032</c:v>
              </c:pt>
              <c:pt idx="4">
                <c:v>37.7899990259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1.3295867388102478</c:v>
              </c:pt>
              <c:pt idx="1">
                <c:v>1.79225</c:v>
              </c:pt>
              <c:pt idx="2">
                <c:v>0.261</c:v>
              </c:pt>
              <c:pt idx="3">
                <c:v>0.13</c:v>
              </c:pt>
              <c:pt idx="4">
                <c:v>2.60300000007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3.339822969232049</c:v>
              </c:pt>
              <c:pt idx="1">
                <c:v>5.5087763108</c:v>
              </c:pt>
              <c:pt idx="2">
                <c:v>7.018108725239999</c:v>
              </c:pt>
              <c:pt idx="3">
                <c:v>3.2252896508299997</c:v>
              </c:pt>
              <c:pt idx="4">
                <c:v>2.07487987222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2.287448611391622</c:v>
              </c:pt>
              <c:pt idx="1">
                <c:v>1.90953225977</c:v>
              </c:pt>
              <c:pt idx="2">
                <c:v>3.5888690035</c:v>
              </c:pt>
              <c:pt idx="3">
                <c:v>1.15603067773</c:v>
              </c:pt>
              <c:pt idx="4">
                <c:v>1.21970179492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0.8743020042766778</c:v>
              </c:pt>
              <c:pt idx="1">
                <c:v>1.7879510000799999</c:v>
              </c:pt>
              <c:pt idx="2">
                <c:v>2.45979375898</c:v>
              </c:pt>
              <c:pt idx="3">
                <c:v>0.6778</c:v>
              </c:pt>
              <c:pt idx="4">
                <c:v>0.29309674031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8.542325907839587</c:v>
              </c:pt>
              <c:pt idx="1">
                <c:v>8.013988884309999</c:v>
              </c:pt>
              <c:pt idx="2">
                <c:v>5.23622188904</c:v>
              </c:pt>
              <c:pt idx="3">
                <c:v>3.15074370915</c:v>
              </c:pt>
              <c:pt idx="4">
                <c:v>2.3466058039299997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0.1045148880003745</c:v>
              </c:pt>
              <c:pt idx="1">
                <c:v>0.1070393353464678</c:v>
              </c:pt>
              <c:pt idx="2">
                <c:v>0.0832333336026609</c:v>
              </c:pt>
              <c:pt idx="3">
                <c:v>0.0755386217806311</c:v>
              </c:pt>
              <c:pt idx="4">
                <c:v>0.0893871913209126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0.1177772997436496</c:v>
              </c:pt>
              <c:pt idx="1">
                <c:v>0.1975566840907294</c:v>
              </c:pt>
              <c:pt idx="2">
                <c:v>0.2575095333365479</c:v>
              </c:pt>
              <c:pt idx="3">
                <c:v>0.359502938407396</c:v>
              </c:pt>
              <c:pt idx="4">
                <c:v>0.1714428710718376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0.3771976888269119</c:v>
              </c:pt>
              <c:pt idx="1">
                <c:v>0.480297867238432</c:v>
              </c:pt>
              <c:pt idx="2">
                <c:v>0.4848578403750447</c:v>
              </c:pt>
              <c:pt idx="3">
                <c:v>0.4058905902651357</c:v>
              </c:pt>
              <c:pt idx="4">
                <c:v>0.6029542263257991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0.0325228812813508</c:v>
              </c:pt>
              <c:pt idx="1">
                <c:v>0.0202773945001966</c:v>
              </c:pt>
              <c:pt idx="2">
                <c:v>0.0024519624881984</c:v>
              </c:pt>
              <c:pt idx="3">
                <c:v>0.0024795152951638</c:v>
              </c:pt>
              <c:pt idx="4">
                <c:v>0.0415318838746882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0.0816950581398393</c:v>
              </c:pt>
              <c:pt idx="1">
                <c:v>0.062325920193851</c:v>
              </c:pt>
              <c:pt idx="2">
                <c:v>0.0659315683233205</c:v>
              </c:pt>
              <c:pt idx="3">
                <c:v>0.0615165770812817</c:v>
              </c:pt>
              <c:pt idx="4">
                <c:v>0.0331055205165776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0.0559530397332714</c:v>
              </c:pt>
              <c:pt idx="1">
                <c:v>0.0216043180037429</c:v>
              </c:pt>
              <c:pt idx="2">
                <c:v>0.033715602190192</c:v>
              </c:pt>
              <c:pt idx="3">
                <c:v>0.0220491980546935</c:v>
              </c:pt>
              <c:pt idx="4">
                <c:v>0.0194608195570511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0.0213862093078498</c:v>
              </c:pt>
              <c:pt idx="1">
                <c:v>0.0202287559077379</c:v>
              </c:pt>
              <c:pt idx="2">
                <c:v>0.0231085135085195</c:v>
              </c:pt>
              <c:pt idx="3">
                <c:v>0.0129278112850927</c:v>
              </c:pt>
              <c:pt idx="4">
                <c:v>0.0046764732163954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0.2089529349667525</c:v>
              </c:pt>
              <c:pt idx="1">
                <c:v>0.090669724718842</c:v>
              </c:pt>
              <c:pt idx="2">
                <c:v>0.0491916461755159</c:v>
              </c:pt>
              <c:pt idx="3">
                <c:v>0.0600947478306052</c:v>
              </c:pt>
              <c:pt idx="4">
                <c:v>0.0374410141167381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4.272733645318789</c:v>
              </c:pt>
              <c:pt idx="1">
                <c:v>9.46084314594</c:v>
              </c:pt>
              <c:pt idx="2">
                <c:v>8.85980114902</c:v>
              </c:pt>
              <c:pt idx="3">
                <c:v>3.9604598731999996</c:v>
              </c:pt>
              <c:pt idx="4">
                <c:v>5.60231892482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4.81492197807918</c:v>
              </c:pt>
              <c:pt idx="1">
                <c:v>17.46136403561</c:v>
              </c:pt>
              <c:pt idx="2">
                <c:v>27.4106918537</c:v>
              </c:pt>
              <c:pt idx="3">
                <c:v>18.84859596717</c:v>
              </c:pt>
              <c:pt idx="4">
                <c:v>10.74513727233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15.42043709582751</c:v>
              </c:pt>
              <c:pt idx="1">
                <c:v>42.451896497339995</c:v>
              </c:pt>
              <c:pt idx="2">
                <c:v>51.61086148217</c:v>
              </c:pt>
              <c:pt idx="3">
                <c:v>21.28068209032</c:v>
              </c:pt>
              <c:pt idx="4">
                <c:v>37.7899990259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1.3295867388102478</c:v>
              </c:pt>
              <c:pt idx="1">
                <c:v>1.79225</c:v>
              </c:pt>
              <c:pt idx="2">
                <c:v>0.261</c:v>
              </c:pt>
              <c:pt idx="3">
                <c:v>0.13</c:v>
              </c:pt>
              <c:pt idx="4">
                <c:v>2.60300000007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3.339822969232049</c:v>
              </c:pt>
              <c:pt idx="1">
                <c:v>5.5087763108</c:v>
              </c:pt>
              <c:pt idx="2">
                <c:v>7.018108725239999</c:v>
              </c:pt>
              <c:pt idx="3">
                <c:v>3.2252896508299997</c:v>
              </c:pt>
              <c:pt idx="4">
                <c:v>2.07487987222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2.287448611391622</c:v>
              </c:pt>
              <c:pt idx="1">
                <c:v>1.90953225977</c:v>
              </c:pt>
              <c:pt idx="2">
                <c:v>3.5888690035</c:v>
              </c:pt>
              <c:pt idx="3">
                <c:v>1.15603067773</c:v>
              </c:pt>
              <c:pt idx="4">
                <c:v>1.21970179492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0.8743020042766778</c:v>
              </c:pt>
              <c:pt idx="1">
                <c:v>1.7879510000799999</c:v>
              </c:pt>
              <c:pt idx="2">
                <c:v>2.45979375898</c:v>
              </c:pt>
              <c:pt idx="3">
                <c:v>0.6778</c:v>
              </c:pt>
              <c:pt idx="4">
                <c:v>0.29309674031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8.542325907839587</c:v>
              </c:pt>
              <c:pt idx="1">
                <c:v>8.013988884309999</c:v>
              </c:pt>
              <c:pt idx="2">
                <c:v>5.23622188904</c:v>
              </c:pt>
              <c:pt idx="3">
                <c:v>3.15074370915</c:v>
              </c:pt>
              <c:pt idx="4">
                <c:v>2.3466058039299997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0.1045148880003745</c:v>
              </c:pt>
              <c:pt idx="1">
                <c:v>0.1070393353464678</c:v>
              </c:pt>
              <c:pt idx="2">
                <c:v>0.0832333336026609</c:v>
              </c:pt>
              <c:pt idx="3">
                <c:v>0.0755386217806311</c:v>
              </c:pt>
              <c:pt idx="4">
                <c:v>0.0893871913209126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0.1177772997436496</c:v>
              </c:pt>
              <c:pt idx="1">
                <c:v>0.1975566840907294</c:v>
              </c:pt>
              <c:pt idx="2">
                <c:v>0.2575095333365479</c:v>
              </c:pt>
              <c:pt idx="3">
                <c:v>0.359502938407396</c:v>
              </c:pt>
              <c:pt idx="4">
                <c:v>0.1714428710718376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0.3771976888269119</c:v>
              </c:pt>
              <c:pt idx="1">
                <c:v>0.480297867238432</c:v>
              </c:pt>
              <c:pt idx="2">
                <c:v>0.4848578403750447</c:v>
              </c:pt>
              <c:pt idx="3">
                <c:v>0.4058905902651357</c:v>
              </c:pt>
              <c:pt idx="4">
                <c:v>0.6029542263257991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0.0325228812813508</c:v>
              </c:pt>
              <c:pt idx="1">
                <c:v>0.0202773945001966</c:v>
              </c:pt>
              <c:pt idx="2">
                <c:v>0.0024519624881984</c:v>
              </c:pt>
              <c:pt idx="3">
                <c:v>0.0024795152951638</c:v>
              </c:pt>
              <c:pt idx="4">
                <c:v>0.0415318838746882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0.0816950581398393</c:v>
              </c:pt>
              <c:pt idx="1">
                <c:v>0.062325920193851</c:v>
              </c:pt>
              <c:pt idx="2">
                <c:v>0.0659315683233205</c:v>
              </c:pt>
              <c:pt idx="3">
                <c:v>0.0615165770812817</c:v>
              </c:pt>
              <c:pt idx="4">
                <c:v>0.0331055205165776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0.0559530397332714</c:v>
              </c:pt>
              <c:pt idx="1">
                <c:v>0.0216043180037429</c:v>
              </c:pt>
              <c:pt idx="2">
                <c:v>0.033715602190192</c:v>
              </c:pt>
              <c:pt idx="3">
                <c:v>0.0220491980546935</c:v>
              </c:pt>
              <c:pt idx="4">
                <c:v>0.0194608195570511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0.0213862093078498</c:v>
              </c:pt>
              <c:pt idx="1">
                <c:v>0.0202287559077379</c:v>
              </c:pt>
              <c:pt idx="2">
                <c:v>0.0231085135085195</c:v>
              </c:pt>
              <c:pt idx="3">
                <c:v>0.0129278112850927</c:v>
              </c:pt>
              <c:pt idx="4">
                <c:v>0.0046764732163954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0.2089529349667525</c:v>
              </c:pt>
              <c:pt idx="1">
                <c:v>0.090669724718842</c:v>
              </c:pt>
              <c:pt idx="2">
                <c:v>0.0491916461755159</c:v>
              </c:pt>
              <c:pt idx="3">
                <c:v>0.0600947478306052</c:v>
              </c:pt>
              <c:pt idx="4">
                <c:v>0.0374410141167381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66.99363287149001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88.01231288842001</c:v>
              </c:pt>
              <c:pt idx="1">
                <c:v>110.78163928671</c:v>
              </c:pt>
              <c:pt idx="2">
                <c:v>134.72203186548</c:v>
              </c:pt>
              <c:pt idx="3">
                <c:v>142.63089658108998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126.14605664653</c:v>
              </c:pt>
              <c:pt idx="1">
                <c:v>176.82850856551002</c:v>
              </c:pt>
              <c:pt idx="2">
                <c:v>231.72616772613995</c:v>
              </c:pt>
              <c:pt idx="3">
                <c:v>275.29447198864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3.0397972983000003</c:v>
              </c:pt>
              <c:pt idx="1">
                <c:v>3.80886973898</c:v>
              </c:pt>
              <c:pt idx="2">
                <c:v>5.862133668999999</c:v>
              </c:pt>
              <c:pt idx="3">
                <c:v>7.10264044208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54.14687833335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86.50477887797999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21.275962572810005</c:v>
              </c:pt>
              <c:pt idx="1">
                <c:v>33.66266718072</c:v>
              </c:pt>
              <c:pt idx="2">
                <c:v>33.97906413177999</c:v>
              </c:pt>
              <c:pt idx="3">
                <c:v>35.19928678253001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0.4925227090800001</c:v>
              </c:pt>
              <c:pt idx="1">
                <c:v>0.22197586637999997</c:v>
              </c:pt>
              <c:pt idx="2">
                <c:v>0.08320776646000001</c:v>
              </c:pt>
              <c:pt idx="3">
                <c:v>1.63869010794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0.1363576869727525</c:v>
              </c:pt>
              <c:pt idx="1">
                <c:v>0.1270764465658316</c:v>
              </c:pt>
              <c:pt idx="2">
                <c:v>0.1247213464961755</c:v>
              </c:pt>
              <c:pt idx="3">
                <c:v>0.123004561823407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0.2262666961053475</c:v>
              </c:pt>
              <c:pt idx="1">
                <c:v>0.2101354481297849</c:v>
              </c:pt>
              <c:pt idx="2">
                <c:v>0.1999106975839517</c:v>
              </c:pt>
              <c:pt idx="3">
                <c:v>0.1984814977766555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0.324302935889369</c:v>
              </c:pt>
              <c:pt idx="1">
                <c:v>0.3354160321943587</c:v>
              </c:pt>
              <c:pt idx="2">
                <c:v>0.3438527403212231</c:v>
              </c:pt>
              <c:pt idx="3">
                <c:v>0.3830927270296855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0.0078148712258963</c:v>
              </c:pt>
              <c:pt idx="1">
                <c:v>0.0072248303475371</c:v>
              </c:pt>
              <c:pt idx="2">
                <c:v>0.0086986754495382</c:v>
              </c:pt>
              <c:pt idx="3">
                <c:v>0.0098838522851996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0.1392036507487046</c:v>
              </c:pt>
              <c:pt idx="1">
                <c:v>0.1357000256573569</c:v>
              </c:pt>
              <c:pt idx="2">
                <c:v>0.1375107973513174</c:v>
              </c:pt>
              <c:pt idx="3">
                <c:v>0.1138967454004706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0.1100905889356954</c:v>
              </c:pt>
              <c:pt idx="1">
                <c:v>0.1201733473802729</c:v>
              </c:pt>
              <c:pt idx="2">
                <c:v>0.134761578326829</c:v>
              </c:pt>
              <c:pt idx="3">
                <c:v>0.1203778317889099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0.0546973667640558</c:v>
              </c:pt>
              <c:pt idx="1">
                <c:v>0.0638528162140403</c:v>
              </c:pt>
              <c:pt idx="2">
                <c:v>0.0504206945202293</c:v>
              </c:pt>
              <c:pt idx="3">
                <c:v>0.0489824247672355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0.0012662033581786</c:v>
              </c:pt>
              <c:pt idx="1">
                <c:v>0.0004210535108172</c:v>
              </c:pt>
              <c:pt idx="2">
                <c:v>0.0001234699507355</c:v>
              </c:pt>
              <c:pt idx="3">
                <c:v>0.0022803591284361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 w="28575">
              <a:solidFill>
                <a:srgbClr val="104B08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 w="28575">
              <a:solidFill>
                <a:srgbClr val="F078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 w="28575">
              <a:solidFill>
                <a:srgbClr val="4472C4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 w="28575">
              <a:solidFill>
                <a:srgbClr val="D7DAD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 w="28575">
              <a:solidFill>
                <a:srgbClr val="EEF0F2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Dez/23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Dez/23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xmlns:a="http://schemas.openxmlformats.org/drawingml/2006/main"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xmlns:a="http://schemas.openxmlformats.org/drawingml/2006/main"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2024FY</c:v>
          </c:tx>
          <c:spPr>
            <a:ln xmlns:a="http://schemas.openxmlformats.org/drawingml/2006/main"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xmlns:a="http://schemas.openxmlformats.org/drawingml/2006/main"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xmlns:a="http://schemas.openxmlformats.org/drawingml/2006/main" w="571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QI Tech</c:v>
          </c:tx>
          <c:spPr>
            <a:ln xmlns:a="http://schemas.openxmlformats.org/drawingml/2006/main"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xmlns:a="http://schemas.openxmlformats.org/drawingml/2006/main"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xmlns:a="http://schemas.openxmlformats.org/drawingml/2006/main"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xmlns:a="http://schemas.openxmlformats.org/drawingml/2006/main"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xmlns:a="http://schemas.openxmlformats.org/drawingml/2006/main"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xmlns:a="http://schemas.openxmlformats.org/drawingml/2006/main"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cat>
            <c:strLit>
              <c:ptCount val="7"/>
              <c:pt idx="0">
                <c:v>Kanastra / Limine</c:v>
              </c:pt>
              <c:pt idx="1">
                <c:v>Itaú</c:v>
              </c:pt>
              <c:pt idx="2">
                <c:v>Daycoval</c:v>
              </c:pt>
              <c:pt idx="3">
                <c:v>Bradesco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12.84615693169</c:v>
              </c:pt>
              <c:pt idx="1">
                <c:v>27.05634936661</c:v>
              </c:pt>
              <c:pt idx="2">
                <c:v>49.75417439041</c:v>
              </c:pt>
              <c:pt idx="3">
                <c:v>49.77770817222</c:v>
              </c:pt>
              <c:pt idx="4">
                <c:v>56.87136007691</c:v>
              </c:pt>
              <c:pt idx="5">
                <c:v>107.91817098489999</c:v>
              </c:pt>
              <c:pt idx="6">
                <c:v>116.97439427594999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cat>
            <c:strLit>
              <c:ptCount val="7"/>
              <c:pt idx="0">
                <c:v>Kanastra / Limine</c:v>
              </c:pt>
              <c:pt idx="1">
                <c:v>Itaú</c:v>
              </c:pt>
              <c:pt idx="2">
                <c:v>Tercon Investimentos</c:v>
              </c:pt>
              <c:pt idx="3">
                <c:v>Genial</c:v>
              </c:pt>
              <c:pt idx="4">
                <c:v>Oliveira Trust</c:v>
              </c:pt>
              <c:pt idx="5">
                <c:v>Bradesco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10.61117776359</c:v>
              </c:pt>
              <c:pt idx="1">
                <c:v>20.5830639885</c:v>
              </c:pt>
              <c:pt idx="2">
                <c:v>21.696113631950002</c:v>
              </c:pt>
              <c:pt idx="3">
                <c:v>26.87573463003</c:v>
              </c:pt>
              <c:pt idx="4">
                <c:v>35.02222544035998</c:v>
              </c:pt>
              <c:pt idx="5">
                <c:v>39.85656848075</c:v>
              </c:pt>
              <c:pt idx="6">
                <c:v>78.74983410723001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cat>
            <c:strLit>
              <c:ptCount val="7"/>
              <c:pt idx="0">
                <c:v>Kanastra / Limine</c:v>
              </c:pt>
              <c:pt idx="1">
                <c:v>Itaú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19.494658191289997</c:v>
              </c:pt>
              <c:pt idx="1">
                <c:v>20.405586732159996</c:v>
              </c:pt>
              <c:pt idx="2">
                <c:v>48.43408476549</c:v>
              </c:pt>
              <c:pt idx="3">
                <c:v>55.81924378400999</c:v>
              </c:pt>
              <c:pt idx="4">
                <c:v>71.90092760434999</c:v>
              </c:pt>
              <c:pt idx="5">
                <c:v>107.26541902169001</c:v>
              </c:pt>
              <c:pt idx="6">
                <c:v>115.31244022541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 xmlns:a="http://schemas.openxmlformats.org/drawingml/2006/main"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Dez/23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6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66.99363287149001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88.01231288842001</c:v>
              </c:pt>
              <c:pt idx="1">
                <c:v>110.78163928671</c:v>
              </c:pt>
              <c:pt idx="2">
                <c:v>134.72203186548</c:v>
              </c:pt>
              <c:pt idx="3">
                <c:v>142.63089658108998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126.14605664653</c:v>
              </c:pt>
              <c:pt idx="1">
                <c:v>176.82850856551002</c:v>
              </c:pt>
              <c:pt idx="2">
                <c:v>231.72616772613995</c:v>
              </c:pt>
              <c:pt idx="3">
                <c:v>275.29447198864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3.0397972983000003</c:v>
              </c:pt>
              <c:pt idx="1">
                <c:v>3.80886973898</c:v>
              </c:pt>
              <c:pt idx="2">
                <c:v>5.862133668999999</c:v>
              </c:pt>
              <c:pt idx="3">
                <c:v>7.10264044208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54.14687833335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86.50477887797999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21.275962572810005</c:v>
              </c:pt>
              <c:pt idx="1">
                <c:v>33.66266718072</c:v>
              </c:pt>
              <c:pt idx="2">
                <c:v>33.97906413177999</c:v>
              </c:pt>
              <c:pt idx="3">
                <c:v>35.19928678253001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0.4925227090800001</c:v>
              </c:pt>
              <c:pt idx="1">
                <c:v>0.22197586637999997</c:v>
              </c:pt>
              <c:pt idx="2">
                <c:v>0.08320776646000001</c:v>
              </c:pt>
              <c:pt idx="3">
                <c:v>1.63869010794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7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0.1363576869727525</c:v>
              </c:pt>
              <c:pt idx="1">
                <c:v>0.1270764465658316</c:v>
              </c:pt>
              <c:pt idx="2">
                <c:v>0.1247213464961755</c:v>
              </c:pt>
              <c:pt idx="3">
                <c:v>0.123004561823407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0.2262666961053475</c:v>
              </c:pt>
              <c:pt idx="1">
                <c:v>0.2101354481297849</c:v>
              </c:pt>
              <c:pt idx="2">
                <c:v>0.1999106975839517</c:v>
              </c:pt>
              <c:pt idx="3">
                <c:v>0.1984814977766555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0.324302935889369</c:v>
              </c:pt>
              <c:pt idx="1">
                <c:v>0.3354160321943587</c:v>
              </c:pt>
              <c:pt idx="2">
                <c:v>0.3438527403212231</c:v>
              </c:pt>
              <c:pt idx="3">
                <c:v>0.3830927270296855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0.0078148712258963</c:v>
              </c:pt>
              <c:pt idx="1">
                <c:v>0.0072248303475371</c:v>
              </c:pt>
              <c:pt idx="2">
                <c:v>0.0086986754495382</c:v>
              </c:pt>
              <c:pt idx="3">
                <c:v>0.0098838522851996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0.1392036507487046</c:v>
              </c:pt>
              <c:pt idx="1">
                <c:v>0.1357000256573569</c:v>
              </c:pt>
              <c:pt idx="2">
                <c:v>0.1375107973513174</c:v>
              </c:pt>
              <c:pt idx="3">
                <c:v>0.1138967454004706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0.1100905889356954</c:v>
              </c:pt>
              <c:pt idx="1">
                <c:v>0.1201733473802729</c:v>
              </c:pt>
              <c:pt idx="2">
                <c:v>0.134761578326829</c:v>
              </c:pt>
              <c:pt idx="3">
                <c:v>0.1203778317889099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0.0546973667640558</c:v>
              </c:pt>
              <c:pt idx="1">
                <c:v>0.0638528162140403</c:v>
              </c:pt>
              <c:pt idx="2">
                <c:v>0.0504206945202293</c:v>
              </c:pt>
              <c:pt idx="3">
                <c:v>0.0489824247672355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0.0012662033581786</c:v>
              </c:pt>
              <c:pt idx="1">
                <c:v>0.0004210535108172</c:v>
              </c:pt>
              <c:pt idx="2">
                <c:v>0.0001234699507355</c:v>
              </c:pt>
              <c:pt idx="3">
                <c:v>0.0022803591284361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8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4.272733645318789</c:v>
              </c:pt>
              <c:pt idx="1">
                <c:v>9.46084314594</c:v>
              </c:pt>
              <c:pt idx="2">
                <c:v>8.85980114902</c:v>
              </c:pt>
              <c:pt idx="3">
                <c:v>3.9604598731999996</c:v>
              </c:pt>
              <c:pt idx="4">
                <c:v>5.60231892482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4.81492197807918</c:v>
              </c:pt>
              <c:pt idx="1">
                <c:v>17.46136403561</c:v>
              </c:pt>
              <c:pt idx="2">
                <c:v>27.4106918537</c:v>
              </c:pt>
              <c:pt idx="3">
                <c:v>18.84859596717</c:v>
              </c:pt>
              <c:pt idx="4">
                <c:v>10.74513727233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15.42043709582751</c:v>
              </c:pt>
              <c:pt idx="1">
                <c:v>42.451896497339995</c:v>
              </c:pt>
              <c:pt idx="2">
                <c:v>51.61086148217</c:v>
              </c:pt>
              <c:pt idx="3">
                <c:v>21.28068209032</c:v>
              </c:pt>
              <c:pt idx="4">
                <c:v>37.7899990259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1.3295867388102478</c:v>
              </c:pt>
              <c:pt idx="1">
                <c:v>1.79225</c:v>
              </c:pt>
              <c:pt idx="2">
                <c:v>0.261</c:v>
              </c:pt>
              <c:pt idx="3">
                <c:v>0.13</c:v>
              </c:pt>
              <c:pt idx="4">
                <c:v>2.60300000007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3.339822969232049</c:v>
              </c:pt>
              <c:pt idx="1">
                <c:v>5.5087763108</c:v>
              </c:pt>
              <c:pt idx="2">
                <c:v>7.018108725239999</c:v>
              </c:pt>
              <c:pt idx="3">
                <c:v>3.2252896508299997</c:v>
              </c:pt>
              <c:pt idx="4">
                <c:v>2.07487987222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2.287448611391622</c:v>
              </c:pt>
              <c:pt idx="1">
                <c:v>1.90953225977</c:v>
              </c:pt>
              <c:pt idx="2">
                <c:v>3.5888690035</c:v>
              </c:pt>
              <c:pt idx="3">
                <c:v>1.15603067773</c:v>
              </c:pt>
              <c:pt idx="4">
                <c:v>1.21970179492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0.8743020042766778</c:v>
              </c:pt>
              <c:pt idx="1">
                <c:v>1.7879510000799999</c:v>
              </c:pt>
              <c:pt idx="2">
                <c:v>2.45979375898</c:v>
              </c:pt>
              <c:pt idx="3">
                <c:v>0.6778</c:v>
              </c:pt>
              <c:pt idx="4">
                <c:v>0.29309674031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8.542325907839587</c:v>
              </c:pt>
              <c:pt idx="1">
                <c:v>8.013988884309999</c:v>
              </c:pt>
              <c:pt idx="2">
                <c:v>5.23622188904</c:v>
              </c:pt>
              <c:pt idx="3">
                <c:v>3.15074370915</c:v>
              </c:pt>
              <c:pt idx="4">
                <c:v>2.3466058039299997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9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0.1045148880003745</c:v>
              </c:pt>
              <c:pt idx="1">
                <c:v>0.1070393353464678</c:v>
              </c:pt>
              <c:pt idx="2">
                <c:v>0.0832333336026609</c:v>
              </c:pt>
              <c:pt idx="3">
                <c:v>0.0755386217806311</c:v>
              </c:pt>
              <c:pt idx="4">
                <c:v>0.0893871913209126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0.1177772997436496</c:v>
              </c:pt>
              <c:pt idx="1">
                <c:v>0.1975566840907294</c:v>
              </c:pt>
              <c:pt idx="2">
                <c:v>0.2575095333365479</c:v>
              </c:pt>
              <c:pt idx="3">
                <c:v>0.359502938407396</c:v>
              </c:pt>
              <c:pt idx="4">
                <c:v>0.1714428710718376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0.3771976888269119</c:v>
              </c:pt>
              <c:pt idx="1">
                <c:v>0.480297867238432</c:v>
              </c:pt>
              <c:pt idx="2">
                <c:v>0.4848578403750447</c:v>
              </c:pt>
              <c:pt idx="3">
                <c:v>0.4058905902651357</c:v>
              </c:pt>
              <c:pt idx="4">
                <c:v>0.6029542263257991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0.0325228812813508</c:v>
              </c:pt>
              <c:pt idx="1">
                <c:v>0.0202773945001966</c:v>
              </c:pt>
              <c:pt idx="2">
                <c:v>0.0024519624881984</c:v>
              </c:pt>
              <c:pt idx="3">
                <c:v>0.0024795152951638</c:v>
              </c:pt>
              <c:pt idx="4">
                <c:v>0.0415318838746882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0.0816950581398393</c:v>
              </c:pt>
              <c:pt idx="1">
                <c:v>0.062325920193851</c:v>
              </c:pt>
              <c:pt idx="2">
                <c:v>0.0659315683233205</c:v>
              </c:pt>
              <c:pt idx="3">
                <c:v>0.0615165770812817</c:v>
              </c:pt>
              <c:pt idx="4">
                <c:v>0.0331055205165776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0.0559530397332714</c:v>
              </c:pt>
              <c:pt idx="1">
                <c:v>0.0216043180037429</c:v>
              </c:pt>
              <c:pt idx="2">
                <c:v>0.033715602190192</c:v>
              </c:pt>
              <c:pt idx="3">
                <c:v>0.0220491980546935</c:v>
              </c:pt>
              <c:pt idx="4">
                <c:v>0.0194608195570511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0.0213862093078498</c:v>
              </c:pt>
              <c:pt idx="1">
                <c:v>0.0202287559077379</c:v>
              </c:pt>
              <c:pt idx="2">
                <c:v>0.0231085135085195</c:v>
              </c:pt>
              <c:pt idx="3">
                <c:v>0.0129278112850927</c:v>
              </c:pt>
              <c:pt idx="4">
                <c:v>0.0046764732163954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0.2089529349667525</c:v>
              </c:pt>
              <c:pt idx="1">
                <c:v>0.090669724718842</c:v>
              </c:pt>
              <c:pt idx="2">
                <c:v>0.0491916461755159</c:v>
              </c:pt>
              <c:pt idx="3">
                <c:v>0.0600947478306052</c:v>
              </c:pt>
              <c:pt idx="4">
                <c:v>0.0374410141167381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R$ bi</c:v>
          </c:tx>
          <c:spPr>
            <a:solidFill xmlns:a="http://schemas.openxmlformats.org/drawingml/2006/main">
              <a:srgbClr val="73787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472C4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078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cat>
            <c:strLit>
              <c:ptCount val="4"/>
              <c:pt idx="0">
                <c:v>PF/PJ*</c:v>
              </c:pt>
              <c:pt idx="1">
                <c:v>Financeiro</c:v>
              </c:pt>
              <c:pt idx="2">
                <c:v>Fomento</c:v>
              </c:pt>
              <c:pt idx="3">
                <c:v>Multicedente</c:v>
              </c:pt>
            </c:strLit>
          </c:cat>
          <c:val>
            <c:numLit>
              <c:formatCode>0.0</c:formatCode>
              <c:ptCount val="4"/>
              <c:pt idx="0">
                <c:v>7.10264044208</c:v>
              </c:pt>
              <c:pt idx="1">
                <c:v>275.29447198864</c:v>
              </c:pt>
              <c:pt idx="2">
                <c:v>88.39237477025999</c:v>
              </c:pt>
              <c:pt idx="3">
                <c:v>86.50477887797999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% do PL ex-FIC</c:v>
          </c:tx>
          <c:spPr>
            <a:solidFill xmlns:a="http://schemas.openxmlformats.org/drawingml/2006/main">
              <a:srgbClr val="73787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472C4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078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cat>
            <c:strLit>
              <c:ptCount val="4"/>
              <c:pt idx="0">
                <c:v>PF/PJ*</c:v>
              </c:pt>
              <c:pt idx="1">
                <c:v>Financeiro</c:v>
              </c:pt>
              <c:pt idx="2">
                <c:v>Fomento</c:v>
              </c:pt>
              <c:pt idx="3">
                <c:v>Multicedente</c:v>
              </c:pt>
            </c:strLit>
          </c:cat>
          <c:val>
            <c:numLit>
              <c:formatCode>0.0%</c:formatCode>
              <c:ptCount val="4"/>
              <c:pt idx="0">
                <c:v>0.0098838522851996</c:v>
              </c:pt>
              <c:pt idx="1">
                <c:v>0.3830927270296855</c:v>
              </c:pt>
              <c:pt idx="2">
                <c:v>0.123004561823407</c:v>
              </c:pt>
              <c:pt idx="3">
                <c:v>0.1203778317889099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1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302FE5-BB8B-4D5D-892F-65A03134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2790C-C098-4727-9C02-FCDA1BFE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AEB158-419A-4B36-9160-03D323DC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3C0E87-0F22-464A-BDEA-3ED8214D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248A6F-5686-45C6-BC03-D9D00566B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616B95-20DB-4CC0-A566-F98793F9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17228041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172240-DDA3-43B8-86C3-203D5663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1A5B0-4069-4381-83B3-4F940332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17E9E1-461D-4D83-8A71-73D2E7F9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2AB0C4-FF53-4460-ABC6-D815623E0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E7D035-41D2-4992-AB34-5CD0CA2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521330-2A42-4D96-B622-0ED7F349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93E509-16FB-45E2-A9E9-10C83FE6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112D2-6AD3-437A-B403-C882A097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2ce52525d9427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4F3100-2EFD-420E-B36B-09187F53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639267-1A74-4763-8B9B-D97F9415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28C16-7BA3-4D10-9FAD-B90796D4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5bc62f5e224526"/>
          </a:graphicData>
        </a:graphic>
      </p:graphicFrame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c87088f4f54429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CE4A6C-9654-431C-B83D-E24ED324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62B59D-26C9-41FC-BCEF-8EA9B678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95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895FC7-3EC2-4156-B7C6-AF203C2F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327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19666890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D333F4-9B51-45DC-9DC6-48D9DC07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91225-85F8-47A5-938A-0D0B9CF3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5EC2D7-5E89-40EE-A050-038876EC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30B36-6420-46E1-81FD-DFFD69B9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50EF51-102E-4583-8552-8BF70FB9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A2E035-85F4-43DC-825F-F3327937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F3CAA-F66B-46E7-88FB-9DD52915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8E44D7-EE2C-4575-B870-6298EAC2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15240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920a93cda24c7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496229-2245-4594-81AB-D72E8F54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1CA7DE-7E05-45BF-99A8-5E931C92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240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81750" y="15240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ba19a9cf774c0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31C354-78A6-4228-9C24-CFA9DDE3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48125"/>
            <a:ext cx="647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669D05-BC7F-4AE0-9E64-949DE8A3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76725"/>
            <a:ext cx="647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"/>
          <p:cNvGraphicFramePr/>
          <p:nvPr/>
        </p:nvGraphicFramePr>
        <p:xfrm>
          <a:off xmlns:a="http://schemas.openxmlformats.org/drawingml/2006/main" x="2857500" y="4286250"/>
          <a:ext xmlns:a="http://schemas.openxmlformats.org/drawingml/2006/main" cx="6477000" cy="17430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6931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61E9AB-3AAB-4D60-A962-0359578B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D8600-051A-44EB-A9B1-A9516BD2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Abertura PF/PJ e cenário sem TAPSO/Petrobras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B04F4-6FA2-421A-9C8A-6868027C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63DC9-A567-4D7D-8C16-93DFA0A1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FA90E-CFF1-47F3-BE28-1F26255E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PF/PJ: 24 CNPJs; PL dos fundos, Top1 mensal &lt;=1%; Sólido e BizCapital em Financeiro. Emissões por CNPJ; FIC fora; 2023 escalado ANBIMA.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893FC-6A38-45B2-9CDC-85DDAE61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9A593-2060-4D9A-9ED7-7335A4F8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176576-5E4C-4742-80B6-5AF9ED4B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57150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ca0039a6b14a3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45B6F-20C4-49D6-9BC3-5A08A966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39082C-861F-45DD-83A8-65F6FBDB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859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Chart"/>
          <p:cNvGraphicFramePr/>
          <p:nvPr/>
        </p:nvGraphicFramePr>
        <p:xfrm>
          <a:off xmlns:a="http://schemas.openxmlformats.org/drawingml/2006/main" x="638175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e9c0df66b954ece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61F68-14C2-42D0-B53D-006B46FD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FBE62-BD10-4639-B789-B1FD4768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D87BE-32AB-4612-B3E5-E0C2CC50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3B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A7B0F-BD5F-4803-96B6-EB1A7027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40C4AB-E80B-419B-ABEB-BBD76BA6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9078F1-5E06-47BD-AE40-CC0BC454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AED78-5235-4223-A570-3669391C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721392-2C47-427A-9F53-8C9A2495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BE602E-0B58-437A-A3DA-BE9D600F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30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5063EB-9E03-4318-9F56-22CEBDC1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BD86D3-B894-4005-BAD6-19F0FBEB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D7763B-CD4E-488C-8F18-459E63FA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56C7A7-6C8D-494B-BE67-899C8D22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72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8378BB-CD34-4835-9D88-6C8E74D1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PF/PJ*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635A71-6306-4A65-A146-C1F77DC6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E147FD-66EE-4C7C-BEB8-AFC7FC59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576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368e324a0e45ab"/>
          </a:graphicData>
        </a:graphic>
      </p:graphicFrame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AE2C19-A79F-4F3D-9BCA-DB4B4969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0FD437-ED88-4E7C-A48E-39E4EEB9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576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9" name="Chart"/>
          <p:cNvGraphicFramePr/>
          <p:nvPr/>
        </p:nvGraphicFramePr>
        <p:xfrm>
          <a:off xmlns:a="http://schemas.openxmlformats.org/drawingml/2006/main" x="638175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5f8cff54c4474d"/>
          </a:graphicData>
        </a:graphic>
      </p:graphicFrame>
    </p:spTree>
    <p:extLst>
      <p:ext uri="{BB962C8B-B14F-4D97-AF65-F5344CB8AC3E}">
        <p14:creationId xmlns:p14="http://schemas.microsoft.com/office/powerpoint/2010/main" val="9489900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62EA3B-7A86-4D48-9D99-62CAE42E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15D2C7-503D-4633-9F20-41677F31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é 60,3% e PF/PJ 4,2% no 1S26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77521-05DA-4BA6-B486-2F421225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72B750-955B-4530-A00A-1761BB8D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BD34E-5762-4587-B040-5439D1D2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ANBIMA. Setores ex-FIC; 1S26 totaliza R$ 62,7 bi e reconcilia com R$ 65,5 bi incluindo R$ 2,8 bi de FIC-FIDC.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277E6-7D2A-41A0-8983-DA52E6F7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0EF326-DDA2-4670-B7B9-772767F8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C33C13-4A5F-401B-9D4B-722C83E2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562100"/>
          <a:ext xmlns:a="http://schemas.openxmlformats.org/drawingml/2006/main" cx="5238750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9e91ad41ec4be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402148-8AD4-4902-BF93-C1C58AB9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C6F6A0-8024-4B30-8581-10D1F28A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240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81750" y="1562100"/>
          <a:ext xmlns:a="http://schemas.openxmlformats.org/drawingml/2006/main" cx="5238750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d97f6d07f845a2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1074BF-B3CA-44B7-A102-58AD8403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analítica · taxonomia congelada em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A09905-DBC4-4464-8132-317C0AC9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19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571500" y="3810000"/>
          <a:ext xmlns:a="http://schemas.openxmlformats.org/drawingml/2006/main" cx="11049000" cy="2038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18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Pulv.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1.902,3%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Precatórios/ações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-35,7%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Multicedente/multissacado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Recuperação/NP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-56,8%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5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ex-FIC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106,4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487728-7880-4166-B27D-0F3C5D56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6AD8A5-395E-4CA7-A78D-7D531609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62650"/>
            <a:ext cx="1078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* Match por CNPJ do fundo e depois da classe; FIC fora; emissor não localizado=N/D; 2023 escalado ao total ANBIMA.</a:t>
            </a:r>
          </a:p>
        </p:txBody>
      </p:sp>
    </p:spTree>
    <p:extLst>
      <p:ext uri="{BB962C8B-B14F-4D97-AF65-F5344CB8AC3E}">
        <p14:creationId xmlns:p14="http://schemas.microsoft.com/office/powerpoint/2010/main" val="17936461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11A4CD-7953-411E-B38F-87B6D9A3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Taxonomia por CNPJ | Critérios aplicados ao saldo e às emissões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C7551-676A-4BA6-8A9B-3268939E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 · cenário sem TAPSO/Petrobras · série retroaplicada com taxonomia congelada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D90392-E887-49D6-B78B-F97196AF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CD366-A081-4A0C-8744-0702D6D0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981E7-20BC-46C8-B106-B1CFB5A1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regulamentos integrais e ledgers aprovados. Regras e prompt de atualização no pacote da revisão.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DF20B-3693-43CD-B2B3-20EF7E66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B0A5D-F366-41BD-BB8F-840DC880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02A2D-8B60-4B2E-8BB7-73B32FCE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b3954da8d8b417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E966C-90A1-4B2C-ADD9-72D8F25F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61D7D-92AA-48F1-9537-12314A2F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cb785cdea1429c"/>
          </a:graphicData>
        </a:graphic>
      </p:graphicFrame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857250" y="5219700"/>
          <a:ext xmlns:a="http://schemas.openxmlformats.org/drawingml/2006/main" cx="10477500" cy="42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e2201b04cd4457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D7B953-1C3C-4356-B72E-FF3B861B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76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Oito blocos fecham R$ 718,6 bi; PF/PJ soma R$ 7,1 bi (1,0%).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D71E68-8363-4785-A8E5-59F94F82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40000"/>
            <a:ext cx="10858500" cy="6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PF/PJ: crédito direto confirmado em regulamento + Top1 &lt;=1%; 24 CNPJs; Sólido/BizCapital em Financeiro; PL dos fundos, exposição e devedores N/D.
* Precatórios: Outros/Poder Público. Multicedente: Outros/Multicarteira Outros ou Multicedente/Multissacado. Recuperação: Outros/Recuperação.
* Emissões: mesmas listas de CNPJ; fundo &gt; classe &gt; N/D; FIC fora; 2023 escalado ANBIMA.</a:t>
            </a:r>
          </a:p>
        </p:txBody>
      </p:sp>
    </p:spTree>
    <p:extLst>
      <p:ext uri="{BB962C8B-B14F-4D97-AF65-F5344CB8AC3E}">
        <p14:creationId xmlns:p14="http://schemas.microsoft.com/office/powerpoint/2010/main" val="15215106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56E8CA-222B-4C07-8E62-CA4D2C11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71A19-44B7-44D9-9F3E-C196A3D4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3BC9C-D776-4083-B4D1-636D1705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C0A059-C011-450E-9894-0321DA93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7CE9BD-71CD-47F4-B5EE-B644671B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EE8B31-3EF3-41FB-9508-CE860D5F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2445A-E133-43C4-8C5B-66DCAD47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B4500F-E15E-4BDE-9287-43CBEDCA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e1b390f1d5420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2EBB07-1CC9-42C3-BEFB-8936A759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CDD542-AD8C-44A3-AF88-83BD4918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b666fdbb4f46a4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e13bb200484056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4E422E-7847-4281-A82A-FEDB4EC7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0531814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795EF6-D473-44ED-94A4-896601C1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774BE7-F485-4249-8758-28770AA6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125623-58E4-4871-8F61-05040DB2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1E649-B5A0-4D1E-BC74-BD7B85F3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011A0-E01D-45D5-B48D-0C18EE06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37CFAC-6B55-4D53-A3EC-69FFEF0F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642261-83C7-45A1-98BD-8A3C31B5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78257-C720-41D8-9903-F1F725A0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8050a0265c429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565DE-D1C1-45B9-B3C6-226DF1E5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3C89CD-333E-4080-A9F0-3CC27C59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495246c82b412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0CAF52-8F93-45E7-A3EE-B5C386D1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FC1019-2EAF-495D-980E-F799FFA6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4ffbc4a037d4989"/>
          </a:graphicData>
        </a:graphic>
      </p:graphicFrame>
    </p:spTree>
    <p:extLst>
      <p:ext uri="{BB962C8B-B14F-4D97-AF65-F5344CB8AC3E}">
        <p14:creationId xmlns:p14="http://schemas.microsoft.com/office/powerpoint/2010/main" val="10248593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9462D-05C6-4D0F-B0A7-8AC5BC19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19639-5693-42A1-B4CD-2B8A23A0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A571B-EF63-498C-A251-EB28479F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C4C89F-87A5-4C85-8859-8B16A12B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5CCC4-E6D9-44E1-B07F-8F03D44C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E10B0-39F6-4078-BD30-B798F535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429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429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416090-9BBA-4212-B618-D2367369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p:txBody>
      </p:sp>
    </p:spTree>
    <p:extLst>
      <p:ext uri="{BB962C8B-B14F-4D97-AF65-F5344CB8AC3E}">
        <p14:creationId xmlns:p14="http://schemas.microsoft.com/office/powerpoint/2010/main" val="4340291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4C252E-F477-4CBC-AF7D-3434D6C5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86AEE-3E69-4A14-B9BD-10C6C4DC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2BA02F-DD2C-459A-B984-CCC7A81E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4D25E-1AA0-48CB-9E90-87512808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7A8A0-2E29-49AA-838D-DCAC87BC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61F7E7-F6AF-458F-B0EA-4BF79434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3C46A-0BC8-433C-A3C1-094A5372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D1DB28-6E90-4F43-A687-CC005BF8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286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519DCE-7BBC-416D-B6D2-EC866FE3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104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7B9CBB-5BFD-43DD-A698-89A9132D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10250"/>
            <a:ext cx="108966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A98A06-E885-49EC-86CA-240F5EC5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43600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EA576C-745A-4BEE-81B7-68CE640F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3919681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3126A1-AB90-4ED6-BB9E-7E4D17ED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42C0CD-E950-4E78-8283-E370440C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4D93AE-46CD-49F7-B624-ED13C8C2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275145-CF70-407E-A1D5-F33C0921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7799A0-B8A9-4167-BBE7-A9A87472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377BE-D45A-48E8-80A5-77AE41AE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AB0DB4-E33D-4993-8BA6-767C9290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E2A893-2077-4CDA-AAD9-E720EA94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286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C2D678-9C00-4356-98DF-324E0128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104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E0FA01-AD6E-43A5-AFAF-0A683238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10250"/>
            <a:ext cx="108966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240ADF-FE33-412B-81ED-66EC00B1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43600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D501C0-DAEC-4F4F-B416-ED1ED9F2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4085846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211E89-9E54-48FE-A349-266A6690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BC89A3-F861-4D00-A112-39B1E077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F1A2A0-3B94-4DFE-B926-967B20E6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D6356F-EEEE-4EB2-8EC6-93AA4B6C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9479D0-C927-47B1-B4CE-9086F3D2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AC6A1-57E2-4FFB-9A12-DA86A1FB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7B18B4-98FE-4A8F-8FE7-300BCDA4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AC9DBF-33CF-4523-8C69-D67EA5E7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51CC8C-FADA-4FD6-AA84-72551729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4062373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5CE2A6-DC7B-4BF3-A3FA-293F9BDE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537D3F-B347-4B80-9AF9-CA55CCBE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B75BDE-13F5-4573-B216-A435AA2A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35A8E8-C80B-4C4A-9D74-35F55101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E43032-A64D-41C1-A9F2-05C27DC15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D612D0-13BA-4000-86DE-0B225DD09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6B00B7-4FDD-4986-BFDB-697973CF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F77AE0-B0D2-4187-A626-3D2836BE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D98BE6-6E63-4197-8CD4-1E9E7E3C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89428696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7530CA-D8E5-45CA-954C-E433D755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8D54A8-C1A5-4AF7-96C6-85E78F10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038464-D9B2-4DEE-94F5-13CE6CC4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D2492-0841-47FB-888D-884216B5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03B4A-BCC4-4189-A784-E9703676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A6FC8B-F5F4-48F2-B175-7446FE70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F3FB3-BDB2-4CF3-A75F-8903807F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CD756F-090C-4ED3-8C72-945D12A1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D32229-F32E-46F1-94FF-FB0617AA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205294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D5151-4E64-454A-9574-E3EFED6E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8DC94-987D-4235-AEA6-4BE28F50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44B3FB-EDC8-4036-AEC4-93A05A4D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9223B6-2D6D-4101-83C9-D9EEE190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0D7F1-239E-4286-B995-0E6464B6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D5212-BB3B-4728-871D-03B31C4E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10801-A7ED-4710-A329-E590E14F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D4343A-0FBC-445C-89EC-D96D9FD9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A66E4-25C1-40E3-B7CC-C785557B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99299764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524769-FE0E-4956-A66B-24255492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901222-9105-4A24-AEE7-0BE31376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B1092-4E77-4AB4-8C64-510ECDE7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F558E-6E5F-4C40-A1CA-578D3AC5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7CB5B-736F-42D7-9269-D8A47FF6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4C7F6-00C2-4125-B507-1F5A9A5E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6DBB9E-4EA4-4349-A771-FDEA30DD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7CD45-AAF5-479A-B4AD-2F4898EC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D8741D-534D-448E-A030-D63961CF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08783254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669DF8-8853-4CAC-87CE-0F372AE3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DC1C67-79CB-4F1C-B341-ADAE8E171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0D704B-3DFA-4DC4-A855-6405E01F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E87336-9C7E-4C0F-A934-4A5DA4FD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7A8C9E-12A3-46AC-8C08-0043E2AD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AB56C1-2B4D-4423-991E-CCF5AD48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167EB-2574-4C38-8180-0BF92A6E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12C49A-3337-4871-A276-6D035943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8C1354-2D49-405B-9A06-3F44E373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96909802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CDD19F-561E-4EB3-976A-D2C63853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FINANCEIRO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A68AE2-2892-409C-ABF6-7797C5D9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62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| Sub atual e mínimos documentais por veículo; 12 estruturas exigem leitura separada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EADE4-406F-445D-A906-5B4CDF1A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458665-BC1D-47E7-9802-6C44FBA0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65964-CA19-489C-9F19-015A10F7C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3255F-46BC-4822-B486-89EE8B85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mvp-summary-structural_mvp_financeiro-1">
            <a:extLst xmlns:a="http://schemas.openxmlformats.org/drawingml/2006/main">
              <a:ext uri="{FF2B5EF4-FFF2-40B4-BE49-F238E27FC236}">
                <a16:creationId xmlns:a16="http://schemas.microsoft.com/office/drawing/2014/main" id="{6D154F75-E692-4660-A7C7-95A457D7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52525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0">
            <a:solidFill>
              <a:srgbClr val="EAF0F7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15/18 CNPJs · R$ 10,9 bi de R$ 11,4 bi</a:t>
            </a:r>
          </a:p>
        </p:txBody>
      </p:sp>
      <p:sp>
        <p:nvSpPr>
          <p:cNvPr id="8" name="mvp-summary-structural_mvp_financeiro-2">
            <a:extLst xmlns:a="http://schemas.openxmlformats.org/drawingml/2006/main">
              <a:ext uri="{FF2B5EF4-FFF2-40B4-BE49-F238E27FC236}">
                <a16:creationId xmlns:a16="http://schemas.microsoft.com/office/drawing/2014/main" id="{7DE1645C-3375-46E4-8EAD-D2EC5DEC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152525"/>
            <a:ext cx="4810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ampla · 12 pares · med. carteira 31,8% vs. mercado 30,1%</a:t>
            </a:r>
          </a:p>
        </p:txBody>
      </p:sp>
      <p:sp>
        <p:nvSpPr>
          <p:cNvPr id="9" name="mvp-summary-structural_mvp_financeiro-3">
            <a:extLst xmlns:a="http://schemas.openxmlformats.org/drawingml/2006/main">
              <a:ext uri="{FF2B5EF4-FFF2-40B4-BE49-F238E27FC236}">
                <a16:creationId xmlns:a16="http://schemas.microsoft.com/office/drawing/2014/main" id="{0D124A67-DAE5-421D-B0AC-1A3AAE95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52525"/>
            <a:ext cx="2905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solidFill>
              <a:srgbClr val="FFF1E6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na referência ampla*</a:t>
            </a:r>
          </a:p>
        </p:txBody>
      </p:sp>
      <p:sp>
        <p:nvSpPr>
          <p:cNvPr id="10" name="mvp-band-structural_mvp_financeiro-1">
            <a:extLst xmlns:a="http://schemas.openxmlformats.org/drawingml/2006/main">
              <a:ext uri="{FF2B5EF4-FFF2-40B4-BE49-F238E27FC236}">
                <a16:creationId xmlns:a16="http://schemas.microsoft.com/office/drawing/2014/main" id="{46A047B4-0DDE-4E3E-89ED-01F78E68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5A31F9-E686-46FE-8E1E-11718A4B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vp-card-structural_mvp_financeiro-62838025000116">
            <a:extLst xmlns:a="http://schemas.openxmlformats.org/drawingml/2006/main">
              <a:ext uri="{FF2B5EF4-FFF2-40B4-BE49-F238E27FC236}">
                <a16:creationId xmlns:a16="http://schemas.microsoft.com/office/drawing/2014/main" id="{2A3D74D4-8E06-4C22-8446-36BCE1D2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ENDURANCE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R$ 2,0 bi · Sub atual 9,5%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p:txBody>
      </p:sp>
      <p:sp>
        <p:nvSpPr>
          <p:cNvPr id="13" name="mvp-card-structural_mvp_financeiro-50988212000105">
            <a:extLst xmlns:a="http://schemas.openxmlformats.org/drawingml/2006/main">
              <a:ext uri="{FF2B5EF4-FFF2-40B4-BE49-F238E27FC236}">
                <a16:creationId xmlns:a16="http://schemas.microsoft.com/office/drawing/2014/main" id="{8BD1DC8D-5AFE-499F-9768-34A16FEE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CARTÃO DE COMPRA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R$ 193,6 mi · Sub atual 7,0%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4,5%* · Estr. N/D*</a:t>
            </a:r>
          </a:p>
        </p:txBody>
      </p:sp>
      <p:sp>
        <p:nvSpPr>
          <p:cNvPr id="14" name="mvp-band-structural_mvp_financeiro-2">
            <a:extLst xmlns:a="http://schemas.openxmlformats.org/drawingml/2006/main">
              <a:ext uri="{FF2B5EF4-FFF2-40B4-BE49-F238E27FC236}">
                <a16:creationId xmlns:a16="http://schemas.microsoft.com/office/drawing/2014/main" id="{B199E0B5-D04A-4B43-8A4B-7136E7DF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EFFD7F-FB88-48F2-B19B-69A6DA76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vp-band-structural_mvp_financeiro-3">
            <a:extLst xmlns:a="http://schemas.openxmlformats.org/drawingml/2006/main">
              <a:ext uri="{FF2B5EF4-FFF2-40B4-BE49-F238E27FC236}">
                <a16:creationId xmlns:a16="http://schemas.microsoft.com/office/drawing/2014/main" id="{4EF5F14E-7B93-4EE7-A1B5-91652E13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D6377A-8449-4B22-89D0-19D096A8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vp-band-structural_mvp_financeiro-4">
            <a:extLst xmlns:a="http://schemas.openxmlformats.org/drawingml/2006/main">
              <a:ext uri="{FF2B5EF4-FFF2-40B4-BE49-F238E27FC236}">
                <a16:creationId xmlns:a16="http://schemas.microsoft.com/office/drawing/2014/main" id="{F6ADB2DF-EE1D-4B79-9928-FCAF05A8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852B0E-D02B-4C82-8E10-7C80E694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vp-card-structural_mvp_financeiro-57816252000100">
            <a:extLst xmlns:a="http://schemas.openxmlformats.org/drawingml/2006/main">
              <a:ext uri="{FF2B5EF4-FFF2-40B4-BE49-F238E27FC236}">
                <a16:creationId xmlns:a16="http://schemas.microsoft.com/office/drawing/2014/main" id="{67CC359D-6E8A-4A81-AA45-06F9C0F8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NATURA PAY CRÉDITO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R$ 1,0 bi · Sub atual 28,3%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25,3% · Estr. 25,3%</a:t>
            </a:r>
          </a:p>
        </p:txBody>
      </p:sp>
      <p:sp>
        <p:nvSpPr>
          <p:cNvPr id="21" name="mvp-card-structural_mvp_financeiro-61288838000117">
            <a:extLst xmlns:a="http://schemas.openxmlformats.org/drawingml/2006/main">
              <a:ext uri="{FF2B5EF4-FFF2-40B4-BE49-F238E27FC236}">
                <a16:creationId xmlns:a16="http://schemas.microsoft.com/office/drawing/2014/main" id="{607FE8B6-3855-4F6C-B73E-AF79763A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R$ 722,5 mi · Sub atual 30,3%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p:txBody>
      </p:sp>
      <p:sp>
        <p:nvSpPr>
          <p:cNvPr id="22" name="mvp-card-structural_mvp_financeiro-37294759000134">
            <a:extLst xmlns:a="http://schemas.openxmlformats.org/drawingml/2006/main">
              <a:ext uri="{FF2B5EF4-FFF2-40B4-BE49-F238E27FC236}">
                <a16:creationId xmlns:a16="http://schemas.microsoft.com/office/drawing/2014/main" id="{97F61437-BE00-4A08-886A-54533698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GALLERIA HOME EQUITY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R$ 513,2 mi · Sub atual 31,8%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4,8%*</a:t>
            </a:r>
          </a:p>
        </p:txBody>
      </p:sp>
      <p:sp>
        <p:nvSpPr>
          <p:cNvPr id="23" name="mvp-card-structural_mvp_financeiro-57028406000108">
            <a:extLst xmlns:a="http://schemas.openxmlformats.org/drawingml/2006/main">
              <a:ext uri="{FF2B5EF4-FFF2-40B4-BE49-F238E27FC236}">
                <a16:creationId xmlns:a16="http://schemas.microsoft.com/office/drawing/2014/main" id="{D556F285-3DE9-4CCC-9E69-08BADDAF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VI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R$ 437,4 mi · Sub atual 26,6%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2,0% · Estr. N/D*</a:t>
            </a:r>
          </a:p>
        </p:txBody>
      </p:sp>
      <p:sp>
        <p:nvSpPr>
          <p:cNvPr id="24" name="mvp-card-structural_mvp_financeiro-47640584000123">
            <a:extLst xmlns:a="http://schemas.openxmlformats.org/drawingml/2006/main">
              <a:ext uri="{FF2B5EF4-FFF2-40B4-BE49-F238E27FC236}">
                <a16:creationId xmlns:a16="http://schemas.microsoft.com/office/drawing/2014/main" id="{11060EB7-D836-4BB9-9ADC-BD4710B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100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SOL AGORA GREEN ESG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R$ 285,1 mi · Sub atual 30,4%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p:txBody>
      </p:sp>
      <p:sp>
        <p:nvSpPr>
          <p:cNvPr id="25" name="mvp-card-structural_mvp_financeiro-42462306000100">
            <a:extLst xmlns:a="http://schemas.openxmlformats.org/drawingml/2006/main">
              <a:ext uri="{FF2B5EF4-FFF2-40B4-BE49-F238E27FC236}">
                <a16:creationId xmlns:a16="http://schemas.microsoft.com/office/drawing/2014/main" id="{2937FE6A-F29C-4AEA-8930-E841FFAB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467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II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R$ 96,1 mi · Sub atual 24,7%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 · Estr. N/D*</a:t>
            </a:r>
          </a:p>
        </p:txBody>
      </p:sp>
      <p:sp>
        <p:nvSpPr>
          <p:cNvPr id="26" name="mvp-band-structural_mvp_financeiro-5">
            <a:extLst xmlns:a="http://schemas.openxmlformats.org/drawingml/2006/main">
              <a:ext uri="{FF2B5EF4-FFF2-40B4-BE49-F238E27FC236}">
                <a16:creationId xmlns:a16="http://schemas.microsoft.com/office/drawing/2014/main" id="{60D2B7CE-51CF-4ED7-ADB0-5F2EA59E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D6DC48-8BAB-4126-80D5-6A6BE6B1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mvp-card-structural_mvp_financeiro-42154687000160">
            <a:extLst xmlns:a="http://schemas.openxmlformats.org/drawingml/2006/main">
              <a:ext uri="{FF2B5EF4-FFF2-40B4-BE49-F238E27FC236}">
                <a16:creationId xmlns:a16="http://schemas.microsoft.com/office/drawing/2014/main" id="{EBA4BD88-0AB0-45C6-BC84-9A87A68E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MULTIPLIKE PLUS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R$ 2,1 bi · Sub atual 42,3%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p:txBody>
      </p:sp>
      <p:sp>
        <p:nvSpPr>
          <p:cNvPr id="29" name="mvp-card-structural_mvp_financeiro-41197066000109">
            <a:extLst xmlns:a="http://schemas.openxmlformats.org/drawingml/2006/main">
              <a:ext uri="{FF2B5EF4-FFF2-40B4-BE49-F238E27FC236}">
                <a16:creationId xmlns:a16="http://schemas.microsoft.com/office/drawing/2014/main" id="{4010CEA5-47D4-4178-A145-941248DC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 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R$ 657,1 mi · Sub atual 36,5%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p:txBody>
      </p:sp>
      <p:sp>
        <p:nvSpPr>
          <p:cNvPr id="30" name="mvp-card-structural_mvp_financeiro-58152340000118">
            <a:extLst xmlns:a="http://schemas.openxmlformats.org/drawingml/2006/main">
              <a:ext uri="{FF2B5EF4-FFF2-40B4-BE49-F238E27FC236}">
                <a16:creationId xmlns:a16="http://schemas.microsoft.com/office/drawing/2014/main" id="{4D8CE1DF-3D55-4D1B-A64A-7C4470B4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MONEE II SEGMENTO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R$ 442,2 mi · Sub atual 40,6%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p:txBody>
      </p:sp>
      <p:sp>
        <p:nvSpPr>
          <p:cNvPr id="31" name="mvp-card-structural_mvp_financeiro-63066147000102">
            <a:extLst xmlns:a="http://schemas.openxmlformats.org/drawingml/2006/main">
              <a:ext uri="{FF2B5EF4-FFF2-40B4-BE49-F238E27FC236}">
                <a16:creationId xmlns:a16="http://schemas.microsoft.com/office/drawing/2014/main" id="{11CA7D37-5E53-474B-BC8B-D415C436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INCLUSÃO CREDIÁRIA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R$ 156,4 mi · Sub atual 52,0%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12,5% · Estr. N/D*</a:t>
            </a:r>
          </a:p>
        </p:txBody>
      </p:sp>
      <p:sp>
        <p:nvSpPr>
          <p:cNvPr id="32" name="mvp-card-structural_mvp_financeiro-49113994000141">
            <a:extLst xmlns:a="http://schemas.openxmlformats.org/drawingml/2006/main">
              <a:ext uri="{FF2B5EF4-FFF2-40B4-BE49-F238E27FC236}">
                <a16:creationId xmlns:a16="http://schemas.microsoft.com/office/drawing/2014/main" id="{556140F8-9B6A-4956-9B3F-97F93263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40100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CAP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R$ 99,3 mi · Sub atual 44,1%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14,0% · Estr. N/D*</a:t>
            </a:r>
          </a:p>
        </p:txBody>
      </p:sp>
      <p:sp>
        <p:nvSpPr>
          <p:cNvPr id="33" name="mvp-band-structural_mvp_financeiro-6">
            <a:extLst xmlns:a="http://schemas.openxmlformats.org/drawingml/2006/main">
              <a:ext uri="{FF2B5EF4-FFF2-40B4-BE49-F238E27FC236}">
                <a16:creationId xmlns:a16="http://schemas.microsoft.com/office/drawing/2014/main" id="{33356AA8-ACB3-4BBC-BDF9-71C812A0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60199A-7162-4FE6-8378-4BE3E1A7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mvp-card-structural_mvp_financeiro-32526025000110">
            <a:extLst xmlns:a="http://schemas.openxmlformats.org/drawingml/2006/main">
              <a:ext uri="{FF2B5EF4-FFF2-40B4-BE49-F238E27FC236}">
                <a16:creationId xmlns:a16="http://schemas.microsoft.com/office/drawing/2014/main" id="{DDAA6CF5-76D6-4C8B-861C-6FCAC237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COBUCCIO DE RESPONS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R$ 1,8 bi · Sub atual 75,6%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75,0% · Estr. N/D*</a:t>
            </a:r>
          </a:p>
        </p:txBody>
      </p:sp>
      <p:sp>
        <p:nvSpPr>
          <p:cNvPr id="36" name="mvp-card-structural_mvp_financeiro-43193260000133">
            <a:extLst xmlns:a="http://schemas.openxmlformats.org/drawingml/2006/main">
              <a:ext uri="{FF2B5EF4-FFF2-40B4-BE49-F238E27FC236}">
                <a16:creationId xmlns:a16="http://schemas.microsoft.com/office/drawing/2014/main" id="{EB56070B-A0A6-46AA-8F40-70C95862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RESIDENCE CLUB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R$ 403,4 mi · Sub atual 69,1%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15,0%* · Estr. 50,0%*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06929F-0465-4FE5-BCC7-4F2B908A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79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p:txBody>
      </p:sp>
    </p:spTree>
    <p:extLst>
      <p:ext uri="{BB962C8B-B14F-4D97-AF65-F5344CB8AC3E}">
        <p14:creationId xmlns:p14="http://schemas.microsoft.com/office/powerpoint/2010/main" val="45962786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EC9362-5203-4E70-9DF6-7281E6D3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5240BA-DB32-43E5-840D-9954F495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| 2 veículos comparáveis estão até 2 p.p. acima do mínimo estrutural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3FDA30-A2C7-40D5-8BA8-BD803C9A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BED2A-7C39-403F-BFBD-325EBA3D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8305CA-AD5A-4DD6-86C8-93CC7E12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7A7B4-6930-468B-AF2D-42778186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mvp-summary-structural_mvp_adquirencia-1">
            <a:extLst xmlns:a="http://schemas.openxmlformats.org/drawingml/2006/main">
              <a:ext uri="{FF2B5EF4-FFF2-40B4-BE49-F238E27FC236}">
                <a16:creationId xmlns:a16="http://schemas.microsoft.com/office/drawing/2014/main" id="{E0E22046-E2C1-4BA5-B412-7978AAA2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52525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0">
            <a:solidFill>
              <a:srgbClr val="EAF0F7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12/17 CNPJs · R$ 15,1 bi de R$ 15,1 bi</a:t>
            </a:r>
          </a:p>
        </p:txBody>
      </p:sp>
      <p:sp>
        <p:nvSpPr>
          <p:cNvPr id="8" name="mvp-summary-structural_mvp_adquirencia-2">
            <a:extLst xmlns:a="http://schemas.openxmlformats.org/drawingml/2006/main">
              <a:ext uri="{FF2B5EF4-FFF2-40B4-BE49-F238E27FC236}">
                <a16:creationId xmlns:a16="http://schemas.microsoft.com/office/drawing/2014/main" id="{363C4E1B-A407-4161-805C-28362718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152525"/>
            <a:ext cx="4810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15 pares · med. agregada carteira 11,7% vs. mercado 15,5%</a:t>
            </a:r>
          </a:p>
        </p:txBody>
      </p:sp>
      <p:sp>
        <p:nvSpPr>
          <p:cNvPr id="9" name="mvp-summary-structural_mvp_adquirencia-3">
            <a:extLst xmlns:a="http://schemas.openxmlformats.org/drawingml/2006/main">
              <a:ext uri="{FF2B5EF4-FFF2-40B4-BE49-F238E27FC236}">
                <a16:creationId xmlns:a16="http://schemas.microsoft.com/office/drawing/2014/main" id="{3AF8A55E-DD02-4396-A072-7EB8DBF0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52525"/>
            <a:ext cx="2905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solidFill>
              <a:srgbClr val="FFF1E6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mistura risco emissor e adquirente*</a:t>
            </a:r>
          </a:p>
        </p:txBody>
      </p:sp>
      <p:sp>
        <p:nvSpPr>
          <p:cNvPr id="10" name="mvp-band-structural_mvp_adquirencia-1">
            <a:extLst xmlns:a="http://schemas.openxmlformats.org/drawingml/2006/main">
              <a:ext uri="{FF2B5EF4-FFF2-40B4-BE49-F238E27FC236}">
                <a16:creationId xmlns:a16="http://schemas.microsoft.com/office/drawing/2014/main" id="{5E0DECA1-0F25-4255-9544-655C1859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BC2C7F-8FA6-4B74-85E3-2DC6F19D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vp-card-structural_mvp_adquirencia-48967719000122">
            <a:extLst xmlns:a="http://schemas.openxmlformats.org/drawingml/2006/main">
              <a:ext uri="{FF2B5EF4-FFF2-40B4-BE49-F238E27FC236}">
                <a16:creationId xmlns:a16="http://schemas.microsoft.com/office/drawing/2014/main" id="{85F59118-6099-4CF3-B344-B2F377ED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SOULPAY*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R$ 78,4 mi · Sub atual 6,0%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p:txBody>
      </p:sp>
      <p:sp>
        <p:nvSpPr>
          <p:cNvPr id="13" name="mvp-card-structural_mvp_adquirencia-31739396000117">
            <a:extLst xmlns:a="http://schemas.openxmlformats.org/drawingml/2006/main">
              <a:ext uri="{FF2B5EF4-FFF2-40B4-BE49-F238E27FC236}">
                <a16:creationId xmlns:a16="http://schemas.microsoft.com/office/drawing/2014/main" id="{ED713087-520C-46B7-A098-D2EE898C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LF III*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R$ 1,4 bi · Sub atual 8,0%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0,5% · Estr. N/D*</a:t>
            </a:r>
          </a:p>
        </p:txBody>
      </p:sp>
      <p:sp>
        <p:nvSpPr>
          <p:cNvPr id="14" name="mvp-card-structural_mvp_adquirencia-62626887000185">
            <a:extLst xmlns:a="http://schemas.openxmlformats.org/drawingml/2006/main">
              <a:ext uri="{FF2B5EF4-FFF2-40B4-BE49-F238E27FC236}">
                <a16:creationId xmlns:a16="http://schemas.microsoft.com/office/drawing/2014/main" id="{F3328981-688E-462A-A53C-7AEF9AF7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SUMUP SMART IV FIDC*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R$ 356,8 mi · Sub atual 4,0%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2,9% · Estr. N/D*</a:t>
            </a:r>
          </a:p>
        </p:txBody>
      </p:sp>
      <p:sp>
        <p:nvSpPr>
          <p:cNvPr id="15" name="mvp-card-structural_mvp_adquirencia-42085830000109">
            <a:extLst xmlns:a="http://schemas.openxmlformats.org/drawingml/2006/main">
              <a:ext uri="{FF2B5EF4-FFF2-40B4-BE49-F238E27FC236}">
                <a16:creationId xmlns:a16="http://schemas.microsoft.com/office/drawing/2014/main" id="{9708C041-6710-46BF-AA32-5DE43EFE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CLOUDWALK AKIRA 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R$ 308,2 mi · Sub atual 5,3%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3,0% · Estr. 3,0%</a:t>
            </a:r>
          </a:p>
        </p:txBody>
      </p:sp>
      <p:sp>
        <p:nvSpPr>
          <p:cNvPr id="16" name="mvp-band-structural_mvp_adquirencia-2">
            <a:extLst xmlns:a="http://schemas.openxmlformats.org/drawingml/2006/main">
              <a:ext uri="{FF2B5EF4-FFF2-40B4-BE49-F238E27FC236}">
                <a16:creationId xmlns:a16="http://schemas.microsoft.com/office/drawing/2014/main" id="{5A3F756B-4BBF-48F5-912D-B4404AB5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275B55-4B0D-4873-9421-9B81CCBF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vp-card-structural_mvp_adquirencia-54083697000130">
            <a:extLst xmlns:a="http://schemas.openxmlformats.org/drawingml/2006/main">
              <a:ext uri="{FF2B5EF4-FFF2-40B4-BE49-F238E27FC236}">
                <a16:creationId xmlns:a16="http://schemas.microsoft.com/office/drawing/2014/main" id="{03C63A2F-7626-43EC-8383-C5BFB015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PERNAMBUCANAS FIDC*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R$ 226,6 mi · Sub atual 10,9%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Jr 10,0% · Estr. 10,0%</a:t>
            </a:r>
          </a:p>
        </p:txBody>
      </p:sp>
      <p:sp>
        <p:nvSpPr>
          <p:cNvPr id="19" name="mvp-card-structural_mvp_adquirencia-45598747000121">
            <a:extLst xmlns:a="http://schemas.openxmlformats.org/drawingml/2006/main">
              <a:ext uri="{FF2B5EF4-FFF2-40B4-BE49-F238E27FC236}">
                <a16:creationId xmlns:a16="http://schemas.microsoft.com/office/drawing/2014/main" id="{3318EAA4-BDD9-4F7D-8EA6-783296CD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SUMUP SOLO SEGMENTO*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R$ 378,1 mi · Sub atual 10,2%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4,8%* · Estr. 4,8%*</a:t>
            </a:r>
          </a:p>
        </p:txBody>
      </p:sp>
      <p:sp>
        <p:nvSpPr>
          <p:cNvPr id="20" name="mvp-card-structural_mvp_adquirencia-50857998000113">
            <a:extLst xmlns:a="http://schemas.openxmlformats.org/drawingml/2006/main">
              <a:ext uri="{FF2B5EF4-FFF2-40B4-BE49-F238E27FC236}">
                <a16:creationId xmlns:a16="http://schemas.microsoft.com/office/drawing/2014/main" id="{C652AA13-A059-48C7-814F-3E4CC29F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LEO MADEIRAS FIDC*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R$ 177,0 mi · Sub atual 12,6%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p:txBody>
      </p:sp>
      <p:sp>
        <p:nvSpPr>
          <p:cNvPr id="21" name="mvp-band-structural_mvp_adquirencia-3">
            <a:extLst xmlns:a="http://schemas.openxmlformats.org/drawingml/2006/main">
              <a:ext uri="{FF2B5EF4-FFF2-40B4-BE49-F238E27FC236}">
                <a16:creationId xmlns:a16="http://schemas.microsoft.com/office/drawing/2014/main" id="{FBB4C702-0B3A-4784-ACD2-517D75F9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8C5BD7-3B0F-4B63-8D4D-4F39E4E7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mvp-band-structural_mvp_adquirencia-4">
            <a:extLst xmlns:a="http://schemas.openxmlformats.org/drawingml/2006/main">
              <a:ext uri="{FF2B5EF4-FFF2-40B4-BE49-F238E27FC236}">
                <a16:creationId xmlns:a16="http://schemas.microsoft.com/office/drawing/2014/main" id="{62857E4F-AB8F-4DF8-B453-0F565571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35F9D9-5113-4199-A56A-45BFDA31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vp-card-structural_mvp_adquirencia-52271464000136">
            <a:extLst xmlns:a="http://schemas.openxmlformats.org/drawingml/2006/main">
              <a:ext uri="{FF2B5EF4-FFF2-40B4-BE49-F238E27FC236}">
                <a16:creationId xmlns:a16="http://schemas.microsoft.com/office/drawing/2014/main" id="{51AC128A-F0A4-4653-9849-BC4B3258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KIWIFY SEGMENTO*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R$ 347,3 mi · Sub atual 20,2%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6,0% · Estr. N/D*</a:t>
            </a:r>
          </a:p>
        </p:txBody>
      </p:sp>
      <p:sp>
        <p:nvSpPr>
          <p:cNvPr id="26" name="mvp-band-structural_mvp_adquirencia-5">
            <a:extLst xmlns:a="http://schemas.openxmlformats.org/drawingml/2006/main">
              <a:ext uri="{FF2B5EF4-FFF2-40B4-BE49-F238E27FC236}">
                <a16:creationId xmlns:a16="http://schemas.microsoft.com/office/drawing/2014/main" id="{C145833F-1B90-4A51-8729-21FAFFB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DF96E3-0289-4682-A812-CF1126A2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mvp-card-structural_mvp_adquirencia-50473039000102">
            <a:extLst xmlns:a="http://schemas.openxmlformats.org/drawingml/2006/main">
              <a:ext uri="{FF2B5EF4-FFF2-40B4-BE49-F238E27FC236}">
                <a16:creationId xmlns:a16="http://schemas.microsoft.com/office/drawing/2014/main" id="{5299CF72-74E7-47E7-BACD-520A4920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SELLER FIDC SEGMENTO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R$ 3,7 bi · Sub atual 51,3%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p:txBody>
      </p:sp>
      <p:sp>
        <p:nvSpPr>
          <p:cNvPr id="29" name="mvp-band-structural_mvp_adquirencia-6">
            <a:extLst xmlns:a="http://schemas.openxmlformats.org/drawingml/2006/main">
              <a:ext uri="{FF2B5EF4-FFF2-40B4-BE49-F238E27FC236}">
                <a16:creationId xmlns:a16="http://schemas.microsoft.com/office/drawing/2014/main" id="{187C2325-4F65-4C0F-B6A6-9F2B0984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C45079-0ED6-4388-B7EF-ACA7BCB4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mvp-card-structural_mvp_adquirencia-28169275000172">
            <a:extLst xmlns:a="http://schemas.openxmlformats.org/drawingml/2006/main">
              <a:ext uri="{FF2B5EF4-FFF2-40B4-BE49-F238E27FC236}">
                <a16:creationId xmlns:a16="http://schemas.microsoft.com/office/drawing/2014/main" id="{19B3C001-1CDC-4D3B-8F7B-373F3335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PAGSEGURO 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R$ 6,2 bi · Sub atual 63,2%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p:txBody>
      </p:sp>
      <p:sp>
        <p:nvSpPr>
          <p:cNvPr id="32" name="mvp-card-structural_mvp_adquirencia-38376526000143">
            <a:extLst xmlns:a="http://schemas.openxmlformats.org/drawingml/2006/main">
              <a:ext uri="{FF2B5EF4-FFF2-40B4-BE49-F238E27FC236}">
                <a16:creationId xmlns:a16="http://schemas.microsoft.com/office/drawing/2014/main" id="{33193942-38DF-47F8-9C17-F8529C74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HOTFUND SEGMENTO*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R$ 1,7 bi · Sub atual 76,4%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21,0% · Estr. N/D*</a:t>
            </a:r>
          </a:p>
        </p:txBody>
      </p:sp>
      <p:sp>
        <p:nvSpPr>
          <p:cNvPr id="33" name="mvp-card-structural_mvp_adquirencia-40919667000107">
            <a:extLst xmlns:a="http://schemas.openxmlformats.org/drawingml/2006/main">
              <a:ext uri="{FF2B5EF4-FFF2-40B4-BE49-F238E27FC236}">
                <a16:creationId xmlns:a16="http://schemas.microsoft.com/office/drawing/2014/main" id="{CD3F3780-84A5-42EA-B3AB-E2F2D73A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RECARGAPAY I*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R$ 281,5 mi · Sub atual 98,0%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50,0% · Estr. 50,0%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DBD6BF-6119-4157-A766-11C2A51F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79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p:txBody>
      </p:sp>
    </p:spTree>
    <p:extLst>
      <p:ext uri="{BB962C8B-B14F-4D97-AF65-F5344CB8AC3E}">
        <p14:creationId xmlns:p14="http://schemas.microsoft.com/office/powerpoint/2010/main" val="80174169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5AE615-D53F-4293-84D5-A1D9D097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AGRO / REVENDA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DCC7AD-D5DF-447B-80D8-7DC8D1A8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 | 2 veículos comparáveis estão abaixo do mínimo estrutural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AC8FF9-9600-4F1A-97A3-00FBA5D8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517CE-49D3-4D44-870A-A6A73D20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B799CE-9148-4C63-B312-7DD783EF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7A81BC-D3A9-43E1-8CC5-B35FEC1D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mvp-summary-structural_mvp_agro_revenda-1">
            <a:extLst xmlns:a="http://schemas.openxmlformats.org/drawingml/2006/main">
              <a:ext uri="{FF2B5EF4-FFF2-40B4-BE49-F238E27FC236}">
                <a16:creationId xmlns:a16="http://schemas.microsoft.com/office/drawing/2014/main" id="{F84B9820-66C3-42CC-B100-0B0F4CB8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52525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0">
            <a:solidFill>
              <a:srgbClr val="EAF0F7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17/35 CNPJs · R$ 6,5 bi de R$ 7,1 bi</a:t>
            </a:r>
          </a:p>
        </p:txBody>
      </p:sp>
      <p:sp>
        <p:nvSpPr>
          <p:cNvPr id="8" name="mvp-summary-structural_mvp_agro_revenda-2">
            <a:extLst xmlns:a="http://schemas.openxmlformats.org/drawingml/2006/main">
              <a:ext uri="{FF2B5EF4-FFF2-40B4-BE49-F238E27FC236}">
                <a16:creationId xmlns:a16="http://schemas.microsoft.com/office/drawing/2014/main" id="{F5375A06-087A-4305-B856-DEEF63F5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152525"/>
            <a:ext cx="4810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p:txBody>
      </p:sp>
      <p:sp>
        <p:nvSpPr>
          <p:cNvPr id="9" name="mvp-summary-structural_mvp_agro_revenda-3">
            <a:extLst xmlns:a="http://schemas.openxmlformats.org/drawingml/2006/main">
              <a:ext uri="{FF2B5EF4-FFF2-40B4-BE49-F238E27FC236}">
                <a16:creationId xmlns:a16="http://schemas.microsoft.com/office/drawing/2014/main" id="{EC9BBF67-C83B-4B96-91C7-7C80407D6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52525"/>
            <a:ext cx="2905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solidFill>
              <a:srgbClr val="FFF1E6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p:txBody>
      </p:sp>
      <p:sp>
        <p:nvSpPr>
          <p:cNvPr id="10" name="mvp-band-structural_mvp_agro_revenda-1">
            <a:extLst xmlns:a="http://schemas.openxmlformats.org/drawingml/2006/main">
              <a:ext uri="{FF2B5EF4-FFF2-40B4-BE49-F238E27FC236}">
                <a16:creationId xmlns:a16="http://schemas.microsoft.com/office/drawing/2014/main" id="{58EBF793-E029-4FC1-94A4-1A2C17A0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3F38D4-A712-4A0C-BC9E-803F65F5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vp-card-structural_mvp_agro_revenda-52968533000165">
            <a:extLst xmlns:a="http://schemas.openxmlformats.org/drawingml/2006/main">
              <a:ext uri="{FF2B5EF4-FFF2-40B4-BE49-F238E27FC236}">
                <a16:creationId xmlns:a16="http://schemas.microsoft.com/office/drawing/2014/main" id="{75C0192C-9617-4A77-9DE4-2C57E489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9525">
            <a:solidFill>
              <a:srgbClr val="7A1F3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MCPO*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R$ 113,3 mi · Sub atual 0,0%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20,0%*</a:t>
            </a:r>
          </a:p>
        </p:txBody>
      </p:sp>
      <p:sp>
        <p:nvSpPr>
          <p:cNvPr id="13" name="mvp-band-structural_mvp_agro_revenda-2">
            <a:extLst xmlns:a="http://schemas.openxmlformats.org/drawingml/2006/main">
              <a:ext uri="{FF2B5EF4-FFF2-40B4-BE49-F238E27FC236}">
                <a16:creationId xmlns:a16="http://schemas.microsoft.com/office/drawing/2014/main" id="{63A4F3D3-69BF-4E37-9C93-6E0A02F7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601942-5297-44F3-985F-8BA8A631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vp-band-structural_mvp_agro_revenda-3">
            <a:extLst xmlns:a="http://schemas.openxmlformats.org/drawingml/2006/main">
              <a:ext uri="{FF2B5EF4-FFF2-40B4-BE49-F238E27FC236}">
                <a16:creationId xmlns:a16="http://schemas.microsoft.com/office/drawing/2014/main" id="{11DC5888-4EC1-4E21-876D-F4759E39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6BAF46-B477-4CEE-B570-8FCB92EC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vp-card-structural_mvp_agro_revenda-57270666000187">
            <a:extLst xmlns:a="http://schemas.openxmlformats.org/drawingml/2006/main">
              <a:ext uri="{FF2B5EF4-FFF2-40B4-BE49-F238E27FC236}">
                <a16:creationId xmlns:a16="http://schemas.microsoft.com/office/drawing/2014/main" id="{4C67A0EB-BF5D-437A-A1D8-575A2B87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MOBILITAS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R$ 53,0 mi · Sub atual 15,1%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p:txBody>
      </p:sp>
      <p:sp>
        <p:nvSpPr>
          <p:cNvPr id="18" name="mvp-band-structural_mvp_agro_revenda-4">
            <a:extLst xmlns:a="http://schemas.openxmlformats.org/drawingml/2006/main">
              <a:ext uri="{FF2B5EF4-FFF2-40B4-BE49-F238E27FC236}">
                <a16:creationId xmlns:a16="http://schemas.microsoft.com/office/drawing/2014/main" id="{FC1E6C78-9B16-4524-92AE-06956B6FD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783151-157C-4A3E-9540-AB726A6D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vp-card-structural_mvp_agro_revenda-33076242000118">
            <a:extLst xmlns:a="http://schemas.openxmlformats.org/drawingml/2006/main">
              <a:ext uri="{FF2B5EF4-FFF2-40B4-BE49-F238E27FC236}">
                <a16:creationId xmlns:a16="http://schemas.microsoft.com/office/drawing/2014/main" id="{5D266E43-4A4A-49CA-BEB9-B8C6F945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WORKCAP AGRO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R$ 443,2 mi · Sub atual 21,6%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Jr 20,0% · Estr. 20,0%</a:t>
            </a:r>
          </a:p>
        </p:txBody>
      </p:sp>
      <p:sp>
        <p:nvSpPr>
          <p:cNvPr id="21" name="mvp-card-structural_mvp_agro_revenda-47280025000150">
            <a:extLst xmlns:a="http://schemas.openxmlformats.org/drawingml/2006/main">
              <a:ext uri="{FF2B5EF4-FFF2-40B4-BE49-F238E27FC236}">
                <a16:creationId xmlns:a16="http://schemas.microsoft.com/office/drawing/2014/main" id="{75079D73-5278-426B-B982-F720E38A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FIDC AGRO CAPITAL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R$ 522,1 mi · Sub atual 32,2%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p:txBody>
      </p:sp>
      <p:sp>
        <p:nvSpPr>
          <p:cNvPr id="22" name="mvp-card-structural_mvp_agro_revenda-58171340000165">
            <a:extLst xmlns:a="http://schemas.openxmlformats.org/drawingml/2006/main">
              <a:ext uri="{FF2B5EF4-FFF2-40B4-BE49-F238E27FC236}">
                <a16:creationId xmlns:a16="http://schemas.microsoft.com/office/drawing/2014/main" id="{F2D80E90-257F-473B-B07C-E40B353B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FRIMESA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R$ 357,7 mi · Sub atual 21,0%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1,0% · Estr. N/D*</a:t>
            </a:r>
          </a:p>
        </p:txBody>
      </p:sp>
      <p:sp>
        <p:nvSpPr>
          <p:cNvPr id="23" name="mvp-card-structural_mvp_agro_revenda-54857414000160">
            <a:extLst xmlns:a="http://schemas.openxmlformats.org/drawingml/2006/main">
              <a:ext uri="{FF2B5EF4-FFF2-40B4-BE49-F238E27FC236}">
                <a16:creationId xmlns:a16="http://schemas.microsoft.com/office/drawing/2014/main" id="{CF9EADC6-331F-459B-A21F-B3C71666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INDIE MERX RAIZ 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R$ 104,2 mi · Sub atual 27,5%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p:txBody>
      </p:sp>
      <p:sp>
        <p:nvSpPr>
          <p:cNvPr id="24" name="mvp-card-structural_mvp_agro_revenda-57752597000148">
            <a:extLst xmlns:a="http://schemas.openxmlformats.org/drawingml/2006/main">
              <a:ext uri="{FF2B5EF4-FFF2-40B4-BE49-F238E27FC236}">
                <a16:creationId xmlns:a16="http://schemas.microsoft.com/office/drawing/2014/main" id="{8FE72DA2-6D4C-4C89-860D-140553E0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100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AGROMERCANTIL CRÉDITO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R$ 68,7 mi · Sub atual 32,5%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p:txBody>
      </p:sp>
      <p:sp>
        <p:nvSpPr>
          <p:cNvPr id="25" name="mvp-band-structural_mvp_agro_revenda-5">
            <a:extLst xmlns:a="http://schemas.openxmlformats.org/drawingml/2006/main">
              <a:ext uri="{FF2B5EF4-FFF2-40B4-BE49-F238E27FC236}">
                <a16:creationId xmlns:a16="http://schemas.microsoft.com/office/drawing/2014/main" id="{A71B4885-2900-4211-B01D-4F47D673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BF05DD-DD2C-46D8-97E3-31B5F757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mvp-card-structural_mvp_agro_revenda-50536324000117">
            <a:extLst xmlns:a="http://schemas.openxmlformats.org/drawingml/2006/main">
              <a:ext uri="{FF2B5EF4-FFF2-40B4-BE49-F238E27FC236}">
                <a16:creationId xmlns:a16="http://schemas.microsoft.com/office/drawing/2014/main" id="{AD45D6BD-EAB1-4D2C-BD11-462E429C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9525">
            <a:solidFill>
              <a:srgbClr val="7A1F3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MAQNELSON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R$ 100,0 mi · Sub atual 49,2%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Jr 50,0% · Estr. 50,0%</a:t>
            </a:r>
          </a:p>
        </p:txBody>
      </p:sp>
      <p:sp>
        <p:nvSpPr>
          <p:cNvPr id="28" name="mvp-card-structural_mvp_agro_revenda-37035970000132">
            <a:extLst xmlns:a="http://schemas.openxmlformats.org/drawingml/2006/main">
              <a:ext uri="{FF2B5EF4-FFF2-40B4-BE49-F238E27FC236}">
                <a16:creationId xmlns:a16="http://schemas.microsoft.com/office/drawing/2014/main" id="{E4DCE848-94CA-46BC-8364-B8E560F7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CD CASH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R$ 291,8 mi · Sub atual 46,8%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p:txBody>
      </p:sp>
      <p:sp>
        <p:nvSpPr>
          <p:cNvPr id="29" name="mvp-card-structural_mvp_agro_revenda-45523699000102">
            <a:extLst xmlns:a="http://schemas.openxmlformats.org/drawingml/2006/main">
              <a:ext uri="{FF2B5EF4-FFF2-40B4-BE49-F238E27FC236}">
                <a16:creationId xmlns:a16="http://schemas.microsoft.com/office/drawing/2014/main" id="{DCE144B0-BC9B-4903-BCDE-41DE6BE3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VIXTRA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R$ 233,6 mi · Sub atual 38,2%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p:txBody>
      </p:sp>
      <p:sp>
        <p:nvSpPr>
          <p:cNvPr id="30" name="mvp-card-structural_mvp_agro_revenda-47425750000179">
            <a:extLst xmlns:a="http://schemas.openxmlformats.org/drawingml/2006/main">
              <a:ext uri="{FF2B5EF4-FFF2-40B4-BE49-F238E27FC236}">
                <a16:creationId xmlns:a16="http://schemas.microsoft.com/office/drawing/2014/main" id="{4C230AB1-5C34-4625-9CFD-1C7285E4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CEREALIS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R$ 215,3 mi · Sub atual 53,0%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p:txBody>
      </p:sp>
      <p:sp>
        <p:nvSpPr>
          <p:cNvPr id="31" name="mvp-band-structural_mvp_agro_revenda-6">
            <a:extLst xmlns:a="http://schemas.openxmlformats.org/drawingml/2006/main">
              <a:ext uri="{FF2B5EF4-FFF2-40B4-BE49-F238E27FC236}">
                <a16:creationId xmlns:a16="http://schemas.microsoft.com/office/drawing/2014/main" id="{23B26335-E203-4749-81FB-E110ACE9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218045-B0DA-4226-8DF4-A48105BD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mvp-card-structural_mvp_agro_revenda-29492605000129">
            <a:extLst xmlns:a="http://schemas.openxmlformats.org/drawingml/2006/main">
              <a:ext uri="{FF2B5EF4-FFF2-40B4-BE49-F238E27FC236}">
                <a16:creationId xmlns:a16="http://schemas.microsoft.com/office/drawing/2014/main" id="{8AAEBF3B-D5DD-46D0-BEA6-D6B794E8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GAZIN MULTISSEGMENTOS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R$ 2,5 bi · Sub atual 67,6%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51,0% · Estr. 51,0%</a:t>
            </a:r>
          </a:p>
        </p:txBody>
      </p:sp>
      <p:sp>
        <p:nvSpPr>
          <p:cNvPr id="34" name="mvp-card-structural_mvp_agro_revenda-29226654000110">
            <a:extLst xmlns:a="http://schemas.openxmlformats.org/drawingml/2006/main">
              <a:ext uri="{FF2B5EF4-FFF2-40B4-BE49-F238E27FC236}">
                <a16:creationId xmlns:a16="http://schemas.microsoft.com/office/drawing/2014/main" id="{F93A49CF-CCD1-4618-A3FA-13603CB6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INVESTCRED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R$ 1,2 bi · Sub atual 79,6%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67,4%* · Estr. 67,4%*</a:t>
            </a:r>
          </a:p>
        </p:txBody>
      </p:sp>
      <p:sp>
        <p:nvSpPr>
          <p:cNvPr id="35" name="mvp-card-structural_mvp_agro_revenda-43866348000179">
            <a:extLst xmlns:a="http://schemas.openxmlformats.org/drawingml/2006/main">
              <a:ext uri="{FF2B5EF4-FFF2-40B4-BE49-F238E27FC236}">
                <a16:creationId xmlns:a16="http://schemas.microsoft.com/office/drawing/2014/main" id="{BF5AFB08-5856-4475-B977-127E294C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OPEA AGRO SUMITOMO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R$ 256,0 mi · Sub atual 65,4%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p:txBody>
      </p:sp>
      <p:sp>
        <p:nvSpPr>
          <p:cNvPr id="36" name="mvp-card-structural_mvp_agro_revenda-51554551000138">
            <a:extLst xmlns:a="http://schemas.openxmlformats.org/drawingml/2006/main">
              <a:ext uri="{FF2B5EF4-FFF2-40B4-BE49-F238E27FC236}">
                <a16:creationId xmlns:a16="http://schemas.microsoft.com/office/drawing/2014/main" id="{59640539-620A-4DA8-A944-0FFA338B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CLASSE ÚNICA DO FIDC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R$ 64,5 mi · Sub atual 100,0%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p:txBody>
      </p:sp>
      <p:sp>
        <p:nvSpPr>
          <p:cNvPr id="37" name="mvp-card-structural_mvp_agro_revenda-47151680000108">
            <a:extLst xmlns:a="http://schemas.openxmlformats.org/drawingml/2006/main">
              <a:ext uri="{FF2B5EF4-FFF2-40B4-BE49-F238E27FC236}">
                <a16:creationId xmlns:a16="http://schemas.microsoft.com/office/drawing/2014/main" id="{C8DE9463-D15F-4501-AC48-AA850990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40100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FARM TECH IBBA 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R$ 9,4 mi · Sub atual 100,1%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20,0%*</a:t>
            </a:r>
          </a:p>
        </p:txBody>
      </p:sp>
      <p:sp>
        <p:nvSpPr>
          <p:cNvPr id="38" name="mvp-card-structural_mvp_agro_revenda-43616659000180">
            <a:extLst xmlns:a="http://schemas.openxmlformats.org/drawingml/2006/main">
              <a:ext uri="{FF2B5EF4-FFF2-40B4-BE49-F238E27FC236}">
                <a16:creationId xmlns:a16="http://schemas.microsoft.com/office/drawing/2014/main" id="{7AD1B795-49CB-46EA-BC45-843A3FD6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4467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TALÓ 1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R$ 7,0 mi · Sub atual 100,0%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7CEE52-D39A-4CE0-BE71-FD804DCB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79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p:txBody>
      </p:sp>
    </p:spTree>
    <p:extLst>
      <p:ext uri="{BB962C8B-B14F-4D97-AF65-F5344CB8AC3E}">
        <p14:creationId xmlns:p14="http://schemas.microsoft.com/office/powerpoint/2010/main" val="198729536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A163D8-C784-4261-916E-0D1F0246B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RISCO CORPORATIVO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4BCC11-D420-4AD3-895E-96319A7A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Risco Corporativo | 1 veículo comparável está abaixo do mínimo estrutural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641A3-65A1-42DB-99A9-4807677A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E4B204-3E07-4177-93F9-0C77C1F5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321FC3-5AEB-4921-ADF6-EE2E8B6C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16B88-B16A-4C4B-B34C-DA2EE243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mvp-summary-structural_mvp_risco_corporativo-1">
            <a:extLst xmlns:a="http://schemas.openxmlformats.org/drawingml/2006/main">
              <a:ext uri="{FF2B5EF4-FFF2-40B4-BE49-F238E27FC236}">
                <a16:creationId xmlns:a16="http://schemas.microsoft.com/office/drawing/2014/main" id="{B51C3A95-2489-46F7-BC3D-6D4685CB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52525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0">
            <a:solidFill>
              <a:srgbClr val="EAF0F7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11/13 CNPJs · R$ 5,5 bi de R$ 6,7 bi</a:t>
            </a:r>
          </a:p>
        </p:txBody>
      </p:sp>
      <p:sp>
        <p:nvSpPr>
          <p:cNvPr id="8" name="mvp-summary-structural_mvp_risco_corporativo-2">
            <a:extLst xmlns:a="http://schemas.openxmlformats.org/drawingml/2006/main">
              <a:ext uri="{FF2B5EF4-FFF2-40B4-BE49-F238E27FC236}">
                <a16:creationId xmlns:a16="http://schemas.microsoft.com/office/drawing/2014/main" id="{20F17326-F05A-4E42-BB7C-CCC74EA3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152525"/>
            <a:ext cx="4810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p:txBody>
      </p:sp>
      <p:sp>
        <p:nvSpPr>
          <p:cNvPr id="9" name="mvp-summary-structural_mvp_risco_corporativo-3">
            <a:extLst xmlns:a="http://schemas.openxmlformats.org/drawingml/2006/main">
              <a:ext uri="{FF2B5EF4-FFF2-40B4-BE49-F238E27FC236}">
                <a16:creationId xmlns:a16="http://schemas.microsoft.com/office/drawing/2014/main" id="{42997448-E5CA-467C-B5AB-EE04C0FEC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52525"/>
            <a:ext cx="2905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solidFill>
              <a:srgbClr val="FFF1E6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p:txBody>
      </p:sp>
      <p:sp>
        <p:nvSpPr>
          <p:cNvPr id="10" name="mvp-band-structural_mvp_risco_corporativo-1">
            <a:extLst xmlns:a="http://schemas.openxmlformats.org/drawingml/2006/main">
              <a:ext uri="{FF2B5EF4-FFF2-40B4-BE49-F238E27FC236}">
                <a16:creationId xmlns:a16="http://schemas.microsoft.com/office/drawing/2014/main" id="{A36AF28C-2C80-41FC-9DFA-09DEFFEC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CA2985-5905-4DD0-87C7-BE663800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vp-card-structural_mvp_risco_corporativo-62393829000159">
            <a:extLst xmlns:a="http://schemas.openxmlformats.org/drawingml/2006/main">
              <a:ext uri="{FF2B5EF4-FFF2-40B4-BE49-F238E27FC236}">
                <a16:creationId xmlns:a16="http://schemas.microsoft.com/office/drawing/2014/main" id="{C4AAD9F7-59C2-48EC-B73A-5FB275DD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MÉDICI · BRF/MARFRIG*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R$ 3,1 bi · Sub atual 5,5%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p:txBody>
      </p:sp>
      <p:sp>
        <p:nvSpPr>
          <p:cNvPr id="13" name="mvp-band-structural_mvp_risco_corporativo-2">
            <a:extLst xmlns:a="http://schemas.openxmlformats.org/drawingml/2006/main">
              <a:ext uri="{FF2B5EF4-FFF2-40B4-BE49-F238E27FC236}">
                <a16:creationId xmlns:a16="http://schemas.microsoft.com/office/drawing/2014/main" id="{749453D1-CCCF-4399-A185-8D700E13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E95FB8-57FA-499D-A223-1410E925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vp-band-structural_mvp_risco_corporativo-3">
            <a:extLst xmlns:a="http://schemas.openxmlformats.org/drawingml/2006/main">
              <a:ext uri="{FF2B5EF4-FFF2-40B4-BE49-F238E27FC236}">
                <a16:creationId xmlns:a16="http://schemas.microsoft.com/office/drawing/2014/main" id="{953F6E23-F916-42A0-A4E2-A3877E7F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9FFEDF-6CFA-4756-8ABE-B5CCB3A6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vp-card-structural_mvp_risco_corporativo-65873297000145">
            <a:extLst xmlns:a="http://schemas.openxmlformats.org/drawingml/2006/main">
              <a:ext uri="{FF2B5EF4-FFF2-40B4-BE49-F238E27FC236}">
                <a16:creationId xmlns:a16="http://schemas.microsoft.com/office/drawing/2014/main" id="{35FB23BF-594A-4F0E-AAE8-D0B3916D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ARCELORMITTAL*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R$ 162,6 mi · Sub atual 18,6%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12,0% · Estr. 12,0%</a:t>
            </a:r>
          </a:p>
        </p:txBody>
      </p:sp>
      <p:sp>
        <p:nvSpPr>
          <p:cNvPr id="18" name="mvp-card-structural_mvp_risco_corporativo-63679792000192">
            <a:extLst xmlns:a="http://schemas.openxmlformats.org/drawingml/2006/main">
              <a:ext uri="{FF2B5EF4-FFF2-40B4-BE49-F238E27FC236}">
                <a16:creationId xmlns:a16="http://schemas.microsoft.com/office/drawing/2014/main" id="{6C9A31A7-6780-4108-8EA1-959E01D4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BLUE HEALTH FIDC*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R$ 142,2 mi · Sub atual 19,3%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p:txBody>
      </p:sp>
      <p:sp>
        <p:nvSpPr>
          <p:cNvPr id="19" name="mvp-band-structural_mvp_risco_corporativo-4">
            <a:extLst xmlns:a="http://schemas.openxmlformats.org/drawingml/2006/main">
              <a:ext uri="{FF2B5EF4-FFF2-40B4-BE49-F238E27FC236}">
                <a16:creationId xmlns:a16="http://schemas.microsoft.com/office/drawing/2014/main" id="{E439332C-9412-45BE-9589-64B609E4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6E2369-6CCF-4EBB-A477-825A4C8C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mvp-card-structural_mvp_risco_corporativo-52100879000147">
            <a:extLst xmlns:a="http://schemas.openxmlformats.org/drawingml/2006/main">
              <a:ext uri="{FF2B5EF4-FFF2-40B4-BE49-F238E27FC236}">
                <a16:creationId xmlns:a16="http://schemas.microsoft.com/office/drawing/2014/main" id="{1489A741-362D-4311-9362-AB340CDC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9525">
            <a:solidFill>
              <a:srgbClr val="7A1F3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SOTREQ*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R$ 205,2 mi · Sub atual 23,6%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25,0%*</a:t>
            </a:r>
          </a:p>
        </p:txBody>
      </p:sp>
      <p:sp>
        <p:nvSpPr>
          <p:cNvPr id="22" name="mvp-card-structural_mvp_risco_corporativo-31570767000180">
            <a:extLst xmlns:a="http://schemas.openxmlformats.org/drawingml/2006/main">
              <a:ext uri="{FF2B5EF4-FFF2-40B4-BE49-F238E27FC236}">
                <a16:creationId xmlns:a16="http://schemas.microsoft.com/office/drawing/2014/main" id="{3AF0B88D-7E63-47C8-9097-2747485A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TRADEPAY VAREJO I*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R$ 702,1 mi · Sub atual 23,3%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p:txBody>
      </p:sp>
      <p:sp>
        <p:nvSpPr>
          <p:cNvPr id="23" name="mvp-card-structural_mvp_risco_corporativo-52340225000190">
            <a:extLst xmlns:a="http://schemas.openxmlformats.org/drawingml/2006/main">
              <a:ext uri="{FF2B5EF4-FFF2-40B4-BE49-F238E27FC236}">
                <a16:creationId xmlns:a16="http://schemas.microsoft.com/office/drawing/2014/main" id="{21181422-CB80-4AF1-9622-EF92175A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INOVA CREDTECH III*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R$ 86,1 mi · Sub atual 22,2%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7,5% · Estr. N/D*</a:t>
            </a:r>
          </a:p>
        </p:txBody>
      </p:sp>
      <p:sp>
        <p:nvSpPr>
          <p:cNvPr id="24" name="mvp-band-structural_mvp_risco_corporativo-5">
            <a:extLst xmlns:a="http://schemas.openxmlformats.org/drawingml/2006/main">
              <a:ext uri="{FF2B5EF4-FFF2-40B4-BE49-F238E27FC236}">
                <a16:creationId xmlns:a16="http://schemas.microsoft.com/office/drawing/2014/main" id="{B6B5ACE9-B5F8-411B-9EBE-B26C527C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9F5316-5C16-45BB-86AD-09A4C5FD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mvp-card-structural_mvp_risco_corporativo-63622842000103">
            <a:extLst xmlns:a="http://schemas.openxmlformats.org/drawingml/2006/main">
              <a:ext uri="{FF2B5EF4-FFF2-40B4-BE49-F238E27FC236}">
                <a16:creationId xmlns:a16="http://schemas.microsoft.com/office/drawing/2014/main" id="{3FB44187-E9D6-4304-8862-100B05BF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DESBRAVA UNO ARTIGOS*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R$ 343,6 mi · Sub atual 50,4%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50,0% · Estr. 50,0%</a:t>
            </a:r>
          </a:p>
        </p:txBody>
      </p:sp>
      <p:sp>
        <p:nvSpPr>
          <p:cNvPr id="27" name="mvp-card-structural_mvp_risco_corporativo-63657457000193">
            <a:extLst xmlns:a="http://schemas.openxmlformats.org/drawingml/2006/main">
              <a:ext uri="{FF2B5EF4-FFF2-40B4-BE49-F238E27FC236}">
                <a16:creationId xmlns:a16="http://schemas.microsoft.com/office/drawing/2014/main" id="{6C002AEE-9B46-4EF4-BC28-C1DD17916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MSV3 RECEBÍVEIS*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R$ 311,5 mi · Sub atual 36,3%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p:txBody>
      </p:sp>
      <p:sp>
        <p:nvSpPr>
          <p:cNvPr id="28" name="mvp-card-structural_mvp_risco_corporativo-38658727000133">
            <a:extLst xmlns:a="http://schemas.openxmlformats.org/drawingml/2006/main">
              <a:ext uri="{FF2B5EF4-FFF2-40B4-BE49-F238E27FC236}">
                <a16:creationId xmlns:a16="http://schemas.microsoft.com/office/drawing/2014/main" id="{BFD9A93E-1B96-4541-9AEA-74108B36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FORNECEDORES MADEIRA*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R$ 196,7 mi · Sub atual 46,9%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26,7%* · Estr. 26,7%*</a:t>
            </a:r>
          </a:p>
        </p:txBody>
      </p:sp>
      <p:sp>
        <p:nvSpPr>
          <p:cNvPr id="29" name="mvp-card-structural_mvp_risco_corporativo-58476088000100">
            <a:extLst xmlns:a="http://schemas.openxmlformats.org/drawingml/2006/main">
              <a:ext uri="{FF2B5EF4-FFF2-40B4-BE49-F238E27FC236}">
                <a16:creationId xmlns:a16="http://schemas.microsoft.com/office/drawing/2014/main" id="{322680C6-3FB0-44F8-A60C-D1DF2652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SAGA CRÉDITO PRIVADO*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R$ 167,6 mi · Sub atual 38,7%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33,3% · Estr. 33,3%</a:t>
            </a:r>
          </a:p>
        </p:txBody>
      </p:sp>
      <p:sp>
        <p:nvSpPr>
          <p:cNvPr id="30" name="mvp-band-structural_mvp_risco_corporativo-6">
            <a:extLst xmlns:a="http://schemas.openxmlformats.org/drawingml/2006/main">
              <a:ext uri="{FF2B5EF4-FFF2-40B4-BE49-F238E27FC236}">
                <a16:creationId xmlns:a16="http://schemas.microsoft.com/office/drawing/2014/main" id="{2240442D-9D7B-45A5-9125-14D3CA07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5DB29A-E7FB-47FB-87B2-29D95D2A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mvp-card-structural_mvp_risco_corporativo-58288437000152">
            <a:extLst xmlns:a="http://schemas.openxmlformats.org/drawingml/2006/main">
              <a:ext uri="{FF2B5EF4-FFF2-40B4-BE49-F238E27FC236}">
                <a16:creationId xmlns:a16="http://schemas.microsoft.com/office/drawing/2014/main" id="{CA293D8D-AFF5-42EB-81B1-C70EF484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ALTOMAX SEGMENTO*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R$ 89,9 mi · Sub atual 64,6%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C89DF2-CED2-4062-A740-7BA1D0CF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79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p:txBody>
      </p:sp>
    </p:spTree>
    <p:extLst>
      <p:ext uri="{BB962C8B-B14F-4D97-AF65-F5344CB8AC3E}">
        <p14:creationId xmlns:p14="http://schemas.microsoft.com/office/powerpoint/2010/main" val="47412468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9E577E-E88E-498B-BB53-2DFFAA2D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CONSIGNADO INSS E FGTS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766DF9-754D-44E6-8994-7A3729E2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152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INSS e FGTS | Sub atual e mínimos documentais por veículo; 9 estruturas exigem leitura separada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6E2EC-3269-4B29-98B1-90393DE8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EC4E72-E37B-4E6B-9F05-F0968F25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EC9B65-A420-4313-A7AB-C22EB1FD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0936CF-B1D6-496F-AA4C-F7037AAD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mvp-summary-structural_mvp_consignado-1">
            <a:extLst xmlns:a="http://schemas.openxmlformats.org/drawingml/2006/main">
              <a:ext uri="{FF2B5EF4-FFF2-40B4-BE49-F238E27FC236}">
                <a16:creationId xmlns:a16="http://schemas.microsoft.com/office/drawing/2014/main" id="{23692BC2-3AAA-47CC-9EE3-14C99933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52525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0">
            <a:solidFill>
              <a:srgbClr val="EAF0F7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9/12 CNPJs · R$ 7,2 bi de R$ 10,5 bi</a:t>
            </a:r>
          </a:p>
        </p:txBody>
      </p:sp>
      <p:sp>
        <p:nvSpPr>
          <p:cNvPr id="8" name="mvp-summary-structural_mvp_consignado-2">
            <a:extLst xmlns:a="http://schemas.openxmlformats.org/drawingml/2006/main">
              <a:ext uri="{FF2B5EF4-FFF2-40B4-BE49-F238E27FC236}">
                <a16:creationId xmlns:a16="http://schemas.microsoft.com/office/drawing/2014/main" id="{B4B76D70-20AE-4CD0-9832-F1D80C71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152525"/>
            <a:ext cx="4810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INSS carteira 14,9% vs. pares 16,1% | FGTS carteira 18,3% vs. pares 17,2%</a:t>
            </a:r>
          </a:p>
        </p:txBody>
      </p:sp>
      <p:sp>
        <p:nvSpPr>
          <p:cNvPr id="9" name="mvp-summary-structural_mvp_consignado-3">
            <a:extLst xmlns:a="http://schemas.openxmlformats.org/drawingml/2006/main">
              <a:ext uri="{FF2B5EF4-FFF2-40B4-BE49-F238E27FC236}">
                <a16:creationId xmlns:a16="http://schemas.microsoft.com/office/drawing/2014/main" id="{A677FA70-B329-40D6-9710-590CA11A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52525"/>
            <a:ext cx="2905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solidFill>
              <a:srgbClr val="FFF1E6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nos dois grupos</a:t>
            </a:r>
          </a:p>
        </p:txBody>
      </p:sp>
      <p:sp>
        <p:nvSpPr>
          <p:cNvPr id="10" name="mvp-band-structural_mvp_consignado-1">
            <a:extLst xmlns:a="http://schemas.openxmlformats.org/drawingml/2006/main">
              <a:ext uri="{FF2B5EF4-FFF2-40B4-BE49-F238E27FC236}">
                <a16:creationId xmlns:a16="http://schemas.microsoft.com/office/drawing/2014/main" id="{494895F3-480D-4B06-B305-0513FF5C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A8B532-75B3-418A-96FF-0F1146ED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vp-band-structural_mvp_consignado-2">
            <a:extLst xmlns:a="http://schemas.openxmlformats.org/drawingml/2006/main">
              <a:ext uri="{FF2B5EF4-FFF2-40B4-BE49-F238E27FC236}">
                <a16:creationId xmlns:a16="http://schemas.microsoft.com/office/drawing/2014/main" id="{378E939F-FE4A-4156-BA8E-09857948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D461F3-B7D2-4A00-A2AB-C06C5D36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mvp-card-structural_mvp_consignado-63546406000194">
            <a:extLst xmlns:a="http://schemas.openxmlformats.org/drawingml/2006/main">
              <a:ext uri="{FF2B5EF4-FFF2-40B4-BE49-F238E27FC236}">
                <a16:creationId xmlns:a16="http://schemas.microsoft.com/office/drawing/2014/main" id="{8C4BDD6D-CDF2-47AB-9974-07ABA2A0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PINE INSS III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R$ 1,2 bi · Sub atual 14,9%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1,5% · Estr. N/D*</a:t>
            </a:r>
          </a:p>
        </p:txBody>
      </p:sp>
      <p:sp>
        <p:nvSpPr>
          <p:cNvPr id="15" name="mvp-card-structural_mvp_consignado-65347578000164">
            <a:extLst xmlns:a="http://schemas.openxmlformats.org/drawingml/2006/main">
              <a:ext uri="{FF2B5EF4-FFF2-40B4-BE49-F238E27FC236}">
                <a16:creationId xmlns:a16="http://schemas.microsoft.com/office/drawing/2014/main" id="{9CBF50A7-B867-448B-B9E7-2710AFB9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ICRED INSS III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R$ 664,8 mi · Sub atual 13,5%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2,5% · Estr. N/D*</a:t>
            </a:r>
          </a:p>
        </p:txBody>
      </p:sp>
      <p:sp>
        <p:nvSpPr>
          <p:cNvPr id="16" name="mvp-band-structural_mvp_consignado-3">
            <a:extLst xmlns:a="http://schemas.openxmlformats.org/drawingml/2006/main">
              <a:ext uri="{FF2B5EF4-FFF2-40B4-BE49-F238E27FC236}">
                <a16:creationId xmlns:a16="http://schemas.microsoft.com/office/drawing/2014/main" id="{CB5BE569-AE46-429E-B1A2-F8F9A1CE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B897BB-8B32-4DCE-9538-78813153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vp-card-structural_mvp_consignado-65976848000104">
            <a:extLst xmlns:a="http://schemas.openxmlformats.org/drawingml/2006/main">
              <a:ext uri="{FF2B5EF4-FFF2-40B4-BE49-F238E27FC236}">
                <a16:creationId xmlns:a16="http://schemas.microsoft.com/office/drawing/2014/main" id="{30D86E2B-9144-4C3A-9F48-1D25CC48C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AGIBANK II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R$ 3,0 bi · Sub atual 15,2%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p:txBody>
      </p:sp>
      <p:sp>
        <p:nvSpPr>
          <p:cNvPr id="19" name="mvp-card-structural_mvp_consignado-54810968000102">
            <a:extLst xmlns:a="http://schemas.openxmlformats.org/drawingml/2006/main">
              <a:ext uri="{FF2B5EF4-FFF2-40B4-BE49-F238E27FC236}">
                <a16:creationId xmlns:a16="http://schemas.microsoft.com/office/drawing/2014/main" id="{3BB49480-97CF-44D8-9A5F-D08CECB4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R$ 965,3 mi · Sub atual 16,1%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p:txBody>
      </p:sp>
      <p:sp>
        <p:nvSpPr>
          <p:cNvPr id="20" name="mvp-card-structural_mvp_consignado-54464892000100">
            <a:extLst xmlns:a="http://schemas.openxmlformats.org/drawingml/2006/main">
              <a:ext uri="{FF2B5EF4-FFF2-40B4-BE49-F238E27FC236}">
                <a16:creationId xmlns:a16="http://schemas.microsoft.com/office/drawing/2014/main" id="{B02AC1BA-B5A3-4C5D-AB39-C48CA699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MT FGTS RECEIVABLES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R$ 697,5 mi · Sub atual 19,4%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3,5% · Estr. N/D*</a:t>
            </a:r>
          </a:p>
        </p:txBody>
      </p:sp>
      <p:sp>
        <p:nvSpPr>
          <p:cNvPr id="21" name="mvp-card-structural_mvp_consignado-55401645000128">
            <a:extLst xmlns:a="http://schemas.openxmlformats.org/drawingml/2006/main">
              <a:ext uri="{FF2B5EF4-FFF2-40B4-BE49-F238E27FC236}">
                <a16:creationId xmlns:a16="http://schemas.microsoft.com/office/drawing/2014/main" id="{0A629FCA-D2AC-48C0-942E-CEEF1C4C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QUATÁ FDC FGTS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R$ 225,0 mi · Sub atual 17,3%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3,0% · Estr. N/D*</a:t>
            </a:r>
          </a:p>
        </p:txBody>
      </p:sp>
      <p:sp>
        <p:nvSpPr>
          <p:cNvPr id="22" name="mvp-card-structural_mvp_consignado-54252144000164">
            <a:extLst xmlns:a="http://schemas.openxmlformats.org/drawingml/2006/main">
              <a:ext uri="{FF2B5EF4-FFF2-40B4-BE49-F238E27FC236}">
                <a16:creationId xmlns:a16="http://schemas.microsoft.com/office/drawing/2014/main" id="{F3461D42-3BA5-4242-9DC1-BCB62C5A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40100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J17 FGTS 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R$ 213,6 mi · Sub atual 15,0%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p:txBody>
      </p:sp>
      <p:sp>
        <p:nvSpPr>
          <p:cNvPr id="23" name="mvp-band-structural_mvp_consignado-4">
            <a:extLst xmlns:a="http://schemas.openxmlformats.org/drawingml/2006/main">
              <a:ext uri="{FF2B5EF4-FFF2-40B4-BE49-F238E27FC236}">
                <a16:creationId xmlns:a16="http://schemas.microsoft.com/office/drawing/2014/main" id="{C764BB41-447D-430D-A688-F68F4A8E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CC38C-E243-4470-B1A6-7595C3EF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vp-card-structural_mvp_consignado-53577135000180">
            <a:extLst xmlns:a="http://schemas.openxmlformats.org/drawingml/2006/main">
              <a:ext uri="{FF2B5EF4-FFF2-40B4-BE49-F238E27FC236}">
                <a16:creationId xmlns:a16="http://schemas.microsoft.com/office/drawing/2014/main" id="{41AEF530-6AA8-40DE-8BA1-F36AE73A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R$ 249,7 mi · Sub atual 22,0%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p:txBody>
      </p:sp>
      <p:sp>
        <p:nvSpPr>
          <p:cNvPr id="26" name="mvp-card-structural_mvp_consignado-53270983000142">
            <a:extLst xmlns:a="http://schemas.openxmlformats.org/drawingml/2006/main">
              <a:ext uri="{FF2B5EF4-FFF2-40B4-BE49-F238E27FC236}">
                <a16:creationId xmlns:a16="http://schemas.microsoft.com/office/drawing/2014/main" id="{0DB40966-D3DC-4173-BD5C-B7791A98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+AG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R$ 71,1 mi · Sub atual 20,2%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8,0% · Estr. N/D*</a:t>
            </a:r>
          </a:p>
        </p:txBody>
      </p:sp>
      <p:sp>
        <p:nvSpPr>
          <p:cNvPr id="27" name="mvp-band-structural_mvp_consignado-5">
            <a:extLst xmlns:a="http://schemas.openxmlformats.org/drawingml/2006/main">
              <a:ext uri="{FF2B5EF4-FFF2-40B4-BE49-F238E27FC236}">
                <a16:creationId xmlns:a16="http://schemas.microsoft.com/office/drawing/2014/main" id="{EE3F24F9-0D36-4B67-A156-B31CDBFF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2D020F-05EB-4052-AC96-C5093366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mvp-band-structural_mvp_consignado-6">
            <a:extLst xmlns:a="http://schemas.openxmlformats.org/drawingml/2006/main">
              <a:ext uri="{FF2B5EF4-FFF2-40B4-BE49-F238E27FC236}">
                <a16:creationId xmlns:a16="http://schemas.microsoft.com/office/drawing/2014/main" id="{9FA456F9-F2E5-4640-9E9E-0AE4F3A3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3D8BC8-EB96-4777-97C2-0473C2E47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C2131B-032B-4F20-807F-43365D2C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79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p:txBody>
      </p:sp>
    </p:spTree>
    <p:extLst>
      <p:ext uri="{BB962C8B-B14F-4D97-AF65-F5344CB8AC3E}">
        <p14:creationId xmlns:p14="http://schemas.microsoft.com/office/powerpoint/2010/main" val="170884713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86DB83-9347-4B02-8980-1A160C89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FACTORING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B6647F-5540-456B-B939-37F4A63E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Factoring | Sub atual e mínimos documentais por veículo; 3 estruturas exigem leitura separada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2073D-098B-4D44-8751-70227D8D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FBCA9-1297-4AFE-85AD-AECCBB70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119EB9-2835-4632-B2CD-2A82F022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2B5815-32FA-47B8-8AAC-BBED6A68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mvp-summary-structural_mvp_factoring-1">
            <a:extLst xmlns:a="http://schemas.openxmlformats.org/drawingml/2006/main">
              <a:ext uri="{FF2B5EF4-FFF2-40B4-BE49-F238E27FC236}">
                <a16:creationId xmlns:a16="http://schemas.microsoft.com/office/drawing/2014/main" id="{A9720B49-44A3-47F7-82F1-DCDD7528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52525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0">
            <a:solidFill>
              <a:srgbClr val="EAF0F7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3/4 CNPJs · R$ 4,2 bi de R$ 4,4 bi</a:t>
            </a:r>
          </a:p>
        </p:txBody>
      </p:sp>
      <p:sp>
        <p:nvSpPr>
          <p:cNvPr id="8" name="mvp-summary-structural_mvp_factoring-2">
            <a:extLst xmlns:a="http://schemas.openxmlformats.org/drawingml/2006/main">
              <a:ext uri="{FF2B5EF4-FFF2-40B4-BE49-F238E27FC236}">
                <a16:creationId xmlns:a16="http://schemas.microsoft.com/office/drawing/2014/main" id="{3C0B5318-B5E5-467E-880E-BC911A72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152525"/>
            <a:ext cx="4810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 pares com Sub/PL atual</a:t>
            </a:r>
          </a:p>
        </p:txBody>
      </p:sp>
      <p:sp>
        <p:nvSpPr>
          <p:cNvPr id="9" name="mvp-summary-structural_mvp_factoring-3">
            <a:extLst xmlns:a="http://schemas.openxmlformats.org/drawingml/2006/main">
              <a:ext uri="{FF2B5EF4-FFF2-40B4-BE49-F238E27FC236}">
                <a16:creationId xmlns:a16="http://schemas.microsoft.com/office/drawing/2014/main" id="{D19F5C3D-37E3-41BB-9B1A-C41FDDC5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52525"/>
            <a:ext cx="2905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solidFill>
              <a:srgbClr val="FFF1E6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p:txBody>
      </p:sp>
      <p:sp>
        <p:nvSpPr>
          <p:cNvPr id="10" name="mvp-band-structural_mvp_factoring-1">
            <a:extLst xmlns:a="http://schemas.openxmlformats.org/drawingml/2006/main">
              <a:ext uri="{FF2B5EF4-FFF2-40B4-BE49-F238E27FC236}">
                <a16:creationId xmlns:a16="http://schemas.microsoft.com/office/drawing/2014/main" id="{FA53D8F9-CDB0-4537-B767-D84F4939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76A50F-DDE1-4326-A590-0E1500D6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vp-band-structural_mvp_factoring-2">
            <a:extLst xmlns:a="http://schemas.openxmlformats.org/drawingml/2006/main">
              <a:ext uri="{FF2B5EF4-FFF2-40B4-BE49-F238E27FC236}">
                <a16:creationId xmlns:a16="http://schemas.microsoft.com/office/drawing/2014/main" id="{DB423B24-3023-42A3-BC6D-FF15DC54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D3C64-EEAE-4AA5-A658-ABD067C8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mvp-band-structural_mvp_factoring-3">
            <a:extLst xmlns:a="http://schemas.openxmlformats.org/drawingml/2006/main">
              <a:ext uri="{FF2B5EF4-FFF2-40B4-BE49-F238E27FC236}">
                <a16:creationId xmlns:a16="http://schemas.microsoft.com/office/drawing/2014/main" id="{CB904D3E-1B4B-494A-90EC-8C74FCFA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ECC4A1-F6DD-46DE-AAE2-FC2EE111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vp-band-structural_mvp_factoring-4">
            <a:extLst xmlns:a="http://schemas.openxmlformats.org/drawingml/2006/main">
              <a:ext uri="{FF2B5EF4-FFF2-40B4-BE49-F238E27FC236}">
                <a16:creationId xmlns:a16="http://schemas.microsoft.com/office/drawing/2014/main" id="{C2C5CE19-4E3F-4034-AC1C-BB177A89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02C568-F12C-4C96-915A-F190DE3D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vp-band-structural_mvp_factoring-5">
            <a:extLst xmlns:a="http://schemas.openxmlformats.org/drawingml/2006/main">
              <a:ext uri="{FF2B5EF4-FFF2-40B4-BE49-F238E27FC236}">
                <a16:creationId xmlns:a16="http://schemas.microsoft.com/office/drawing/2014/main" id="{697BDF59-90F6-434B-A801-AF7AF2A9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2E7B76-B9CF-4F7C-80B5-0A0D4EB8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vp-card-structural_mvp_factoring-18185812000114">
            <a:extLst xmlns:a="http://schemas.openxmlformats.org/drawingml/2006/main">
              <a:ext uri="{FF2B5EF4-FFF2-40B4-BE49-F238E27FC236}">
                <a16:creationId xmlns:a16="http://schemas.microsoft.com/office/drawing/2014/main" id="{230E71FB-A8CD-417E-B132-B400CC56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GAVEA SUL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R$ 562,0 mi · Sub atual 45,8%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22,0% · Estr. N/D*</a:t>
            </a:r>
          </a:p>
        </p:txBody>
      </p:sp>
      <p:sp>
        <p:nvSpPr>
          <p:cNvPr id="21" name="mvp-card-structural_mvp_factoring-17468142000180">
            <a:extLst xmlns:a="http://schemas.openxmlformats.org/drawingml/2006/main">
              <a:ext uri="{FF2B5EF4-FFF2-40B4-BE49-F238E27FC236}">
                <a16:creationId xmlns:a16="http://schemas.microsoft.com/office/drawing/2014/main" id="{C79B9086-64E4-4657-97EA-ABD33F1C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VALOREM MULTISETORIAL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R$ 511,8 mi · Sub atual 47,1%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p:txBody>
      </p:sp>
      <p:sp>
        <p:nvSpPr>
          <p:cNvPr id="22" name="mvp-band-structural_mvp_factoring-6">
            <a:extLst xmlns:a="http://schemas.openxmlformats.org/drawingml/2006/main">
              <a:ext uri="{FF2B5EF4-FFF2-40B4-BE49-F238E27FC236}">
                <a16:creationId xmlns:a16="http://schemas.microsoft.com/office/drawing/2014/main" id="{90D45DC2-DCA6-486E-A5C1-15653784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7F8685-9EFE-42CC-A0A3-4620B003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mvp-card-structural_mvp_factoring-11468186000124">
            <a:extLst xmlns:a="http://schemas.openxmlformats.org/drawingml/2006/main">
              <a:ext uri="{FF2B5EF4-FFF2-40B4-BE49-F238E27FC236}">
                <a16:creationId xmlns:a16="http://schemas.microsoft.com/office/drawing/2014/main" id="{EA609FC0-99DD-4B11-9E6D-51ADF104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ATLANTA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R$ 3,1 bi · Sub atual 79,7%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8C3D17-831D-4260-A0B1-5FAA371B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79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p:txBody>
      </p:sp>
    </p:spTree>
    <p:extLst>
      <p:ext uri="{BB962C8B-B14F-4D97-AF65-F5344CB8AC3E}">
        <p14:creationId xmlns:p14="http://schemas.microsoft.com/office/powerpoint/2010/main" val="145322838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A35FAA-362A-461F-8585-1210FF95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DE7B6-FB49-487A-9474-203FDCC0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1BBE51-6548-420D-A831-4D294861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F31DD6-A17D-4371-9B08-5DC66916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64D60-1450-4DD1-BDBE-34814CA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D11032-EA65-4209-ABFF-03DB5053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9A098-F884-4909-808C-37D6EBDB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6F7C26-2D36-4851-AE82-2BC89680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7bb6e55bd44ba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614F27-CAA5-4607-A4B8-FE6AF40D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D6B698-F59E-4393-97C1-A0E23412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76a1977a6c43ae"/>
          </a:graphicData>
        </a:graphic>
      </p:graphicFrame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4af4563dc24ea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B1CD74-6825-4FF9-86A2-549A05F0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571500" y="4286250"/>
          <a:ext xmlns:a="http://schemas.openxmlformats.org/drawingml/2006/main" cx="11049000" cy="1619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D46C5D-6397-4C8F-917D-44F26EC4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47067683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8BE547-F3FB-4A79-9A34-1A32A091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9C4CA5-4093-4467-8A0D-4ECA844B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4E41C5-C5B7-45CF-A3DD-D6818604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2EFF3C-8BA5-40DE-A806-0513558D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7721B-5685-41C6-A9F7-9187B7F8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39987-5A15-4746-BB44-EDC5BAE8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2526D-C5D0-4B03-A5B7-3BC5DFF1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BFB3F-05D3-4499-BD2D-B6405580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11b3de687e445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8C3579-3850-476A-831A-1FCA6252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D28D7F-3FE2-4B90-82F1-AE7BF106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d59c0157a64ce0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894E98-AEF3-47EA-A93B-C82286AB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2AAD74-8CFD-4B5A-AB93-FCDB7AB5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7bfbd3e3f344a3"/>
          </a:graphicData>
        </a:graphic>
      </p:graphicFrame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7d309678b24325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8C66E-6370-4215-9422-8F86090F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9CD474-B742-4279-B8D5-B8838D092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D411DC-7CDB-4F2A-89B9-5AF0CB4F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D7DDB-6A1A-4C2B-92A8-4A8BC4FA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DB5519-165C-4273-B077-2BEB25F1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9406DC-2702-4F74-931D-A6A16320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D74F10-1703-4344-B0AC-AB3CBCC0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505F39-69A8-4A8D-95E3-F5252BB2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A521DA-FAEE-44A7-B3CB-A2A03DD7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62279625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8B117-7528-475C-8C71-F3AF669E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A382E-2DA6-4BCE-8E3B-64AB4ECB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205BFB-8325-4292-8F7C-5A38489C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8A93A-1F5B-4070-8BFC-5294ED70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92CD9D-3182-4A2A-829D-F59E0AFA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C2152-D20C-4E70-AF38-5E331CE8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E941CE-69A3-464B-8F29-CD3CA506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7632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88F6D-6786-4D0D-B764-CAC0835AA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724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445BD0-6A88-49C1-9C4B-B96AD12D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57350"/>
            <a:ext cx="102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D2DB65-9391-4903-87AA-0EA51F0D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8625" y="1724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E75B57-19C8-48A3-A636-F3AF24DA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2450" y="1657350"/>
            <a:ext cx="102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50C15-4820-4166-AAEC-51C9F380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375" y="1724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9A0A6A-694E-4356-AA55-2611906C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7200" y="1657350"/>
            <a:ext cx="102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8071EB-3B97-4DEB-9C22-B15B1A1F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072942-A70E-4DC9-BFFE-01001E6A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952625"/>
          <a:ext xmlns:a="http://schemas.openxmlformats.org/drawingml/2006/main" cx="1104900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cd8c5cb7d9b409e"/>
          </a:graphicData>
        </a:graphic>
      </p:graphicFrame>
    </p:spTree>
    <p:extLst>
      <p:ext uri="{BB962C8B-B14F-4D97-AF65-F5344CB8AC3E}">
        <p14:creationId xmlns:p14="http://schemas.microsoft.com/office/powerpoint/2010/main" val="130962404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859F74-56C2-4EBB-9D31-DEAE228A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3758C7-FD55-4290-82DF-79FB541A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97C029-09F3-4B8D-AE14-5DC60827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66861B-7071-4ACC-8212-99225119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73FDF-14CC-429C-B097-4E99B160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3798E-FCBA-4D65-A423-F219066D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37C9BC-D51D-4333-9C86-25C3D742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E43037-64C9-4B75-9552-71665F4B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DC363B-0BE4-4944-B48F-AA884BF5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02387370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5BB2A4-3347-4611-8082-80A8F728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B31329-7159-48F3-983B-720E146A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0E05AA-882E-495F-ACBC-B942626C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62483-0572-4A45-927A-049F212D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8B5015-BEAA-4FA2-8F1D-766D66D7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920AB-FCD0-4DBD-9912-4ED59B29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5DED6-47FE-4722-A5DB-96BDDFBA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437AA0-90AE-4C7E-8196-67564D75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BB2D58-EACB-4BE1-A969-E3D2ED1E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70643946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EB0EB7-CBA6-450D-8936-E447B670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C9A21-0B48-4A14-80C4-9B03F91C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28D8E-6FEE-4FF2-A711-FB7AAEC0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0D68D-7CDE-493B-93DE-284A440D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DEC742-7FB2-44CC-80CA-69F70814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0D29E-0DA0-4615-A91D-D05D576D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26EE25-5DEE-4ED0-955C-8EC8D2AD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D851C1-71AD-442C-BC61-BF3507D0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B25467-843C-4CC6-AB98-C673798F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p:txBody>
      </p:sp>
    </p:spTree>
    <p:extLst>
      <p:ext uri="{BB962C8B-B14F-4D97-AF65-F5344CB8AC3E}">
        <p14:creationId xmlns:p14="http://schemas.microsoft.com/office/powerpoint/2010/main" val="181696752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25AF27-BCC7-4608-8E45-E81B3D98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38FDC4-BC19-4E07-9534-0F19333D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69BC9-CB2C-45B9-929F-E3AC561E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7974D4-6D51-409B-B525-0473FEE3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7E3726-6253-4B5A-BBF5-D8288B29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07586F-59EE-4C22-9135-34D5BDD1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1471E-DA0B-47EE-9EBD-3C3603DF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A02186-F66F-40FD-8380-6F6F3270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7802B2-81AD-4A04-9027-975826D3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p:txBody>
      </p:sp>
    </p:spTree>
    <p:extLst>
      <p:ext uri="{BB962C8B-B14F-4D97-AF65-F5344CB8AC3E}">
        <p14:creationId xmlns:p14="http://schemas.microsoft.com/office/powerpoint/2010/main" val="85299902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620B2A-48E6-4FC5-8A9A-77981104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FF7FA7-6685-4B15-A56A-ECF542E3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94987F-E673-4FD8-9016-05355C1B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25DC5-6AB4-4503-B152-4DDBF1C9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2DCA85-F10F-4D32-89BA-83DC9685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8A596-1B96-4078-A388-D61F6926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1BEB5E-2B69-4FC0-AEFF-C1453996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DC7A52-AF4F-4013-9B73-13C8C79D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524FAD-04BE-4991-A5A1-422E9B63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p:txBody>
      </p:sp>
    </p:spTree>
    <p:extLst>
      <p:ext uri="{BB962C8B-B14F-4D97-AF65-F5344CB8AC3E}">
        <p14:creationId xmlns:p14="http://schemas.microsoft.com/office/powerpoint/2010/main" val="67227159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78012-AD9A-48A5-9056-A48A2411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12B6DD-8E82-496D-9351-2DA9D7A9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BBD39-4A00-4198-A43A-4C7FC61B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6435B-6E9F-4BC8-B567-BBE17A00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34A24D-4256-494F-8CF0-C1F4FCD3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5013A-404F-4FD6-8D0A-DD312050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13BE4-DB09-4CF3-B138-7E004088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5621B-4B0B-42D8-87E1-BBF84B2D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4501C7-D4A1-461E-8920-6FC547B9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p:txBody>
      </p:sp>
    </p:spTree>
    <p:extLst>
      <p:ext uri="{BB962C8B-B14F-4D97-AF65-F5344CB8AC3E}">
        <p14:creationId xmlns:p14="http://schemas.microsoft.com/office/powerpoint/2010/main" val="181894039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4B9CB6-55D0-48CF-A17C-EC2047E3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E700E8-3361-4C05-83A6-B1B5DE4B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229A0D-3665-4FC9-8953-1054EB20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D1981-E498-40F0-974F-1BA6B820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5E3422-EF1E-419B-9ACB-AAE05514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5628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E17C69-4A95-4CC0-939D-F0F5D03C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6C11C-061B-456F-9184-B87A8E99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A103D-819A-4639-B660-0526045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3F50D-C0D5-4F96-B35A-951BF037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50A1CE-9B45-407B-949C-8F90AF3C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5D0E1A-0273-407A-94C5-41D6D1B8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87FA37-04BE-4D20-B2F0-B37AAFE9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48CC92-A3D6-42AF-BA7C-76B0E0E1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A8DDD7-E86F-4D26-BEAC-7B9CBB30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767C29-07D1-4997-BE7F-B6A65D83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EBA557-363E-4A68-9726-320677A8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BB7DE0-0F3D-463D-A958-F2C70D7B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A2318A-AB8C-4D91-BB92-9EEC3D0F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284B1D-F449-41DE-819A-B4FDB464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457A20-7B90-429B-B2BD-3B945DF7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2CDE9C-1D47-4E9F-8C5B-816641CAE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7927A8-7835-4338-99D1-72F13045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892CE6-196F-4521-B284-78C886F2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5F4DE1-94EB-4486-947D-D5BC95D1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4F5C0B-0ECB-4407-88DA-D4BC2B2D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7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66084D-0EB0-4A1E-BAF1-AEE9C53C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B89769-8B63-4BF2-B23C-03629BA4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1833964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7BE0B2-82F1-46AC-8B0C-3B4DB0C2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Volume por prestador | Itaú e Kanastra separados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E9EE8-D19D-4759-92FE-F8E2982A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 · PL ex-FIC, em R$ bilhões · Top 5 + comparadores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CEAC6-5C19-4B02-A092-12CBEB4E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80984D-5593-4680-A252-9134170F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5FFF56-0E51-4961-9E91-B2E283A6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8028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Sem Petrobras/TAPSO. Itaú inclui Intrag/Kinea; Kanastra inclui Limine. Independentes: curadoria original.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6F0A0E-F496-4C18-8FC2-C71ED293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9afa351d1d4ef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5E7FDF-3CCF-4A8D-A229-F008BF3D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+ Itaú + Kanastra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08E78B-B77B-4CFB-8675-D25ABE49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404795-4DA9-475E-A82E-FD304DE8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a9d0f68ac6c4471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90D32-68FB-45D6-AD2B-97D48142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a9b285f110d44b7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98255B-6CFA-44E4-A5E4-D5BEED30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b0cccaa6db4ae7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46CE80-C243-4112-822C-10A1EA66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8e7d10fdc440cc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DF51A5-29E1-4ACD-965A-8D3E316F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7a8ac84b764662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FEAD2D-C806-47D0-B279-4637EB44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50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3dc1efa97f45cd"/>
          </a:graphicData>
        </a:graphic>
      </p:graphicFrame>
    </p:spTree>
    <p:extLst>
      <p:ext uri="{BB962C8B-B14F-4D97-AF65-F5344CB8AC3E}">
        <p14:creationId xmlns:p14="http://schemas.microsoft.com/office/powerpoint/2010/main" val="166968132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037A4E-57ED-4BEE-9B3F-EB4F1483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714CED-D956-4032-BEF9-51D33A99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34F1E9-16D8-4E42-A14B-40E2ED90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4EBC5-F596-4E5A-AD7F-5FEB5132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80BC5-8FD0-4F71-9F1D-516AE36D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876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A49FED-15D1-4B58-BFD8-C73C3CB9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86154-AA24-43D6-B2D7-3C88BB6A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61EA82-62A0-4F81-8732-52CD8243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c3e54be7b74b0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8AAAAE-4DA5-4961-9E62-8AD84353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428E07-EB9C-472B-8432-656B7FF9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5D7017-DF58-4691-9A81-FC479CF63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9c68ff033b4da7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B9A7EC-ED95-4045-B937-33B23490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4A28FE-6528-4701-A33C-1E57549A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95DAD8-7CBF-4723-9A9F-645A65E2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73BC58-7893-49C9-BE79-D86A55C2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85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0701FB-A0D7-4C59-98C5-070BAC79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219200"/>
            <a:ext cx="1038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A2F10B-1813-4F26-8177-3BAD3742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85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CCEAAD-936D-430A-8F50-2E2575C8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219200"/>
            <a:ext cx="1038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43580780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207E02-174B-40D2-B4FB-FA9F25E5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35537-A637-41FC-9D4A-D2EC0DEF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15413B-7723-4E16-899A-D474D724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5BA3B5-E661-46F7-88D0-8AD50003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289B02-6848-430B-AF77-A065EB0F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2CD381-A1EE-4458-AA54-416A4008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99A10E-89C7-445C-8CB9-CBC765D2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41DE6B-1C46-4225-87FA-E8C574F7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e3aa0cfe9e41c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0F473D-67E0-48EF-BC8E-9E17E9AD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39B37-FE49-4D68-AA05-2D1266AF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2e048574004076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0DE85F-DE2D-436F-96F5-B1E38D4C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7F3BBE-5488-4B26-8835-708D12EF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17f11d5c534efd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32E490-F48D-4DDD-8611-6A5C1CA0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77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105284852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106BBD-E422-44D9-A48C-F85373E0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468E9-3DA8-408A-8F56-6CB8B937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03E86D-A59D-4C9D-87F8-337432A9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FBB28-5685-491C-A081-1D2DCF63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8A594-1932-465C-B54D-EA449170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E50A7-8A39-4D2B-B6AB-55B7C1FF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c3cbe26856426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FABB6-0B2F-43CD-9880-04C9F93C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86F27-D026-46D6-B0D6-678300EE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a3a585014664676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F4EA8-1775-4060-AEE1-A527BDBE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8DF1A6-CD01-4787-B6B4-09458E8A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38ec0ad10243dd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229A3-04A1-4A18-9504-678F77AA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1C8547-1F42-4E4C-AECB-1C71530E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3c0124322d44e0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64B37F-5774-472A-93DA-B76CF459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67B2AD-3EE1-4FBC-B44C-5C674654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BC4834-CD9E-472C-86D9-4E617303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594e3badae4953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8957AC-C720-4F20-A154-2C0D6A06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0D25C7-5F55-4411-82C6-B9A9F78B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93699907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61E9AB-3AAB-4D60-A962-0359578B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D8600-051A-44EB-A9B1-A9516BD2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Abertura PF/PJ e cenário sem TAPSO/Petrobras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B04F4-6FA2-421A-9C8A-6868027C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63DC9-A567-4D7D-8C16-93DFA0A1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FA90E-CFF1-47F3-BE28-1F26255E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PF/PJ: 24 CNPJs; PL dos fundos, Top1 mensal &lt;=1%; Sólido e BizCapital em Financeiro. Emissões por CNPJ; FIC fora; 2023 escalado ANBIMA.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893FC-6A38-45B2-9CDC-85DDAE61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9A593-2060-4D9A-9ED7-7335A4F8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176576-5E4C-4742-80B6-5AF9ED4B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57150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c48064370b425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45B6F-20C4-49D6-9BC3-5A08A966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39082C-861F-45DD-83A8-65F6FBDB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859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Chart"/>
          <p:cNvGraphicFramePr/>
          <p:nvPr/>
        </p:nvGraphicFramePr>
        <p:xfrm>
          <a:off xmlns:a="http://schemas.openxmlformats.org/drawingml/2006/main" x="638175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49ed1b3b8c4d9b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61F68-14C2-42D0-B53D-006B46FD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FBE62-BD10-4639-B789-B1FD4768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D87BE-32AB-4612-B3E5-E0C2CC50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3B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A7B0F-BD5F-4803-96B6-EB1A7027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40C4AB-E80B-419B-ABEB-BBD76BA6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9078F1-5E06-47BD-AE40-CC0BC454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AED78-5235-4223-A570-3669391C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721392-2C47-427A-9F53-8C9A2495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BE602E-0B58-437A-A3DA-BE9D600F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30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5063EB-9E03-4318-9F56-22CEBDC1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BD86D3-B894-4005-BAD6-19F0FBEB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D7763B-CD4E-488C-8F18-459E63FA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56C7A7-6C8D-494B-BE67-899C8D22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72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8378BB-CD34-4835-9D88-6C8E74D1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PF/PJ*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635A71-6306-4A65-A146-C1F77DC6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E147FD-66EE-4C7C-BEB8-AFC7FC59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576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34c0b70b7b49a6"/>
          </a:graphicData>
        </a:graphic>
      </p:graphicFrame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AE2C19-A79F-4F3D-9BCA-DB4B4969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0FD437-ED88-4E7C-A48E-39E4EEB9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576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9" name="Chart"/>
          <p:cNvGraphicFramePr/>
          <p:nvPr/>
        </p:nvGraphicFramePr>
        <p:xfrm>
          <a:off xmlns:a="http://schemas.openxmlformats.org/drawingml/2006/main" x="638175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5724b415e7472b"/>
          </a:graphicData>
        </a:graphic>
      </p:graphicFrame>
    </p:spTree>
    <p:extLst>
      <p:ext uri="{BB962C8B-B14F-4D97-AF65-F5344CB8AC3E}">
        <p14:creationId xmlns:p14="http://schemas.microsoft.com/office/powerpoint/2010/main" val="94899002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11A4CD-7953-411E-B38F-87B6D9A3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Multicarteira Pulverizado PF/PJ | Decisão final de jun/26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C7551-676A-4BA6-8A9B-3268939E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24 fundos incluídos; Sólido e BizCapital permanecem em Financeiro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D90392-E887-49D6-B78B-F97196AF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CD366-A081-4A0C-8744-0702D6D0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981E7-20BC-46C8-B106-B1CFB5A1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jun/26, regulamentos e ledger de 26 decisões. Ver CSV dos 24 incluídos e prompt de atualização.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DF20B-3693-43CD-B2B3-20EF7E66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B0A5D-F366-41BD-BB8F-840DC880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fundos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02A2D-8B60-4B2E-8BB7-73B32FCE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ddd4cc135f4a1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E966C-90A1-4B2C-ADD9-72D8F25F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total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61D7D-92AA-48F1-9537-12314A2F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deb69c2d314172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D7B953-1C3C-4356-B72E-FF3B861B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76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* R$ 7,1 bi = PL integral dos 24 fundos (1,0% do PL sem TAPSO/Petrobras).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D71E68-8363-4785-A8E5-59F94F82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858500" cy="5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Regulamentos lidos integralmente; crédito direto PF/PJ confirmado; Top1 mensal &lt;=1% dos DC brutos. Foram reportadas 578 posições; isso não informa o total de devedores. Exposição efetiva PF/PJ, divisão PF/PJ e total de devedores: N/D. Taxonomia congelada em jun/26 e retroaplicada.</a:t>
            </a:r>
          </a:p>
        </p:txBody>
      </p:sp>
    </p:spTree>
    <p:extLst>
      <p:ext uri="{BB962C8B-B14F-4D97-AF65-F5344CB8AC3E}">
        <p14:creationId xmlns:p14="http://schemas.microsoft.com/office/powerpoint/2010/main" val="1521510672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2026-09-01T15:05:15.7670000Z</dcterms:created>
  <dcterms:modified xsi:type="dcterms:W3CDTF">2026-09-01T15:05:15.7670000Z</dcterms:modified>
</coreProperties>
</file>