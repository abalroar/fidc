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2026-10-07T16:18:13-03:00</a:t>
            </a:r>
          </a:p>
          <a:p>
            <a:r>
              <a:t>Listo LF III: CNPJ 31739396000117</a:t>
            </a:r>
          </a:p>
          <a:p>
            <a:r>
              <a:t>Fontes:</a:t>
            </a:r>
          </a:p>
          <a:p>
            <a:r>
              <a:t>CNPJ 31739396000117 · Natureza dos recebíveis · Recebíveis de cartões devidos pelos emissores à credenciadora Listo · data/raw/31739396000117/1146939_regulamento.pdf | Fundos.NET ID 1146939 | 27/03/2026 | regulamento | p. 40-42 · Observação: Cláusula documental; confirmar versão aplicável e instrumento específico antes de ativar controle.</a:t>
            </a:r>
          </a:p>
          <a:p>
            <a:r>
              <a:t>CNPJ 31739396000117 · Originador/endossante · Listo Instituição de Pagamento; CNPJ32.971.064/0001-26 · data/raw/31739396000117/1146939_regulamento.pdf | Fundos.NET ID 1146939 | 27/03/2026 | regulamento | p. 6 · Observação: Cláusula documental; confirmar versão aplicável e instrumento específico antes de ativar controle.</a:t>
            </a:r>
          </a:p>
          <a:p>
            <a:r>
              <a:t>CNPJ 31739396000117 · Devedor · Emissores dos instrumentos de pagamento, conforme limites individuais · data/raw/31739396000117/1146939_regulamento.pdf | Fundos.NET ID 1146939 | 27/03/2026 | regulamento | p. 36-37,40 · Observação: Cláusula documental; confirmar versão aplicável e instrumento específico antes de ativar controle.</a:t>
            </a:r>
          </a:p>
          <a:p>
            <a:r>
              <a:t>CNPJ 31739396000117 · Garantia · Não localizado nas cláusulas revisadas; requer documento aplicável · data/raw/31739396000117/1146939_regulamento.pdf | Fundos.NET ID 1146939 | 27/03/2026; data/raw/31739396000117/1088682_emissao.pdf | Fundos.NET ID 1088682 | 20/01/2026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31739396000117 · Elegibilidade · Reais; adimplentes e livres de ônus; prazo≤720 dias; transações presenciais chip+PIN · data/raw/31739396000117/1146939_regulamento.pdf | Fundos.NET ID 1146939 | 27/03/2026 | regulamento | p. 43-44 · Observação: Devedor sem atraso&gt;3 DU perante o fundo; taxa mínima de cessão ligada ao custo ponderado das cotas e encargos.</a:t>
            </a:r>
          </a:p>
          <a:p>
            <a:r>
              <a:t>CNPJ 31739396000117 · Concentração · Limites por emissor: bancos listados até 100% PL; PAN10% PL; Digio2,5% PL; outros usam cotas subordinadas · data/raw/31739396000117/1146939_regulamento.pdf | Fundos.NET ID 1146939 | 27/03/2026 | regulamento | p. 36-37 · Observação: Nu:15% das seniores+100% subordinadas; vários bancos usam saldo subordinado, não PL. Preservar denominadores.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2026-10-07T16:18:13-03:00</a:t>
            </a:r>
          </a:p>
          <a:p>
            <a:r>
              <a:t>Listo LF III: CNPJ 31739396000117</a:t>
            </a:r>
          </a:p>
          <a:p>
            <a:r>
              <a:t>Fontes:</a:t>
            </a:r>
          </a:p>
          <a:p>
            <a:r>
              <a:t>CNPJ 31739396000117 · Subordinação mínima · Sênior: mezanino+júnior/PL ≥5%; mezanino1: (júnior+mezaninoC)/mezanino1 ≥33,33% · data/raw/31739396000117/1146939_regulamento.pdf | Fundos.NET ID 1146939 | 27/03/2026 | regulamento | p. 14 · Observação: Cláusula documental; confirmar versão aplicável e instrumento específico antes de ativar controle.</a:t>
            </a:r>
          </a:p>
          <a:p>
            <a:r>
              <a:t>CNPJ 31739396000117 · Gatilhos de avaliação/liquidação · Não localizado nas cláusulas revisadas; requer documento aplicável · data/raw/31739396000117/1146939_regulamento.pdf | Fundos.NET ID 1146939 | 27/03/2026; data/raw/31739396000117/1088682_emissao.pdf | Fundos.NET ID 1088682 | 20/01/2026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31739396000117 · Reserva de caixa · Não localizado nas cláusulas revisadas; requer documento aplicável · data/raw/31739396000117/1146939_regulamento.pdf | Fundos.NET ID 1146939 | 27/03/2026; data/raw/31739396000117/1088682_emissao.pdf | Fundos.NET ID 1088682 | 20/01/2026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31739396000117 · Derivativos/hedge · Somente proteção de posições à vista, até seu limite · data/raw/31739396000117/1146939_regulamento.pdf | Fundos.NET ID 1146939 | 27/03/2026 | regulamento | p. 36 · Observação: Cláusula documental; confirmar versão aplicável e instrumento específico antes de ativar controle.</a:t>
            </a:r>
          </a:p>
          <a:p>
            <a:r>
              <a:t>CNPJ 31739396000117 · PDD · Não localizado nas cláusulas revisadas; requer documento aplicável · data/raw/31739396000117/1146939_regulamento.pdf | Fundos.NET ID 1146939 | 27/03/2026; data/raw/31739396000117/1088682_emissao.pdf | Fundos.NET ID 1088682 | 20/01/2026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2026-10-07T16:18:13-03:00</a:t>
            </a:r>
          </a:p>
          <a:p>
            <a:r>
              <a:t>Listo LF III: CNPJ 31739396000117</a:t>
            </a:r>
          </a:p>
          <a:p>
            <a:r>
              <a:t>Fontes:</a:t>
            </a:r>
          </a:p>
          <a:p>
            <a:r>
              <a:t>CNPJ 31739396000117 · Alocação mínima · DC ≥50% PL em180 dias; melhores esforços para67% tributários · data/raw/31739396000117/1146939_regulamento.pdf | Fundos.NET ID 1146939 | 27/03/2026 | regulamento | p. 4,34-35 · Observação: Cláusula documental; confirmar versão aplicável e instrumento específico antes de ativar controle.</a:t>
            </a:r>
          </a:p>
          <a:p>
            <a:r>
              <a:t>CNPJ 31739396000117 · Pool/revolvência · Revolvência permitida durante a duração do fundo · data/raw/31739396000117/1146939_regulamento.pdf | Fundos.NET ID 1146939 | 27/03/2026 | regulamento | p. 42 · Observação: Cláusula documental; confirmar versão aplicável e instrumento específico antes de ativar controle.</a:t>
            </a:r>
          </a:p>
          <a:p>
            <a:r>
              <a:t>CNPJ 31739396000117 · Duração/público-alvo · Não localizado nas cláusulas revisadas; requer documento aplicável · data/raw/31739396000117/1146939_regulamento.pdf | Fundos.NET ID 1146939 | 27/03/2026; data/raw/31739396000117/1088682_emissao.pdf | Fundos.NET ID 1088682 | 20/01/2026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31739396000117 · Cessão/recompra · Cessão definitiva; índice de recompra ≤1,50% PL, verificação mensal · data/raw/31739396000117/1146939_regulamento.pdf | Fundos.NET ID 1146939 | 27/03/2026 | regulamento | p. 13,42 · Observação: Cláusula documental; confirmar versão aplicável e instrumento específico antes de ativar controle.</a:t>
            </a:r>
          </a:p>
          <a:p>
            <a:r>
              <a:t>CNPJ 31739396000117 · Coobrigação · Sem regresso/coobrigação da Listo; responsabilidade pela existência e formalização do crédito · data/raw/31739396000117/1146939_regulamento.pdf | Fundos.NET ID 1146939 | 27/03/2026 | regulamento | p. 42 · Observação: Cláusula documental; confirmar versão aplicável e instrumento específico antes de ativar controle.</a:t>
            </a:r>
          </a:p>
          <a:p>
            <a:r>
              <a:t>CNPJ 31739396000117 · Waterfall · Não localizado nas cláusulas revisadas; requer documento aplicável · data/raw/31739396000117/1146939_regulamento.pdf | Fundos.NET ID 1146939 | 27/03/2026; data/raw/31739396000117/1088682_emissao.pdf | Fundos.NET ID 1088682 | 20/01/2026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2026-10-07T16:18:13-03:00</a:t>
            </a:r>
          </a:p>
          <a:p>
            <a:r>
              <a:t>Listo LF III: CNPJ 31739396000117</a:t>
            </a:r>
          </a:p>
          <a:p>
            <a:r>
              <a:t>Fontes:</a:t>
            </a:r>
          </a:p>
          <a:p>
            <a:r>
              <a:t>CNPJ 31739396000117 · Classes/séries · 5ª série sênior; mezz B eC · data/raw/31739396000117/1088682_emissao.pdf | Fundos.NET ID 1088682 | 20/01/2026 | emissao | p. 2-3 · Observação: Cláusula documental; confirmar versão aplicável e instrumento específico antes de ativar controle.</a:t>
            </a:r>
          </a:p>
          <a:p>
            <a:r>
              <a:t>CNPJ 31739396000117 · Remuneração · Spread final não localizado nas cláusulas revisadas; requer suplemento ou ato específico · data/raw/31739396000117/1146939_regulamento.pdf | Fundos.NET ID 1146939 | 27/03/2026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31739396000117 · Volume/VNU · R$ 525 mi sênior; R$ 50 mi mezz B; R$ 25 mi mezz C · data/raw/31739396000117/1088682_emissao.pdf | Fundos.NET ID 1088682 | 20/01/2026 | emissao | p. 2-3 · Observação: Cláusula documental; confirmar versão aplicável e instrumento específico antes de ativar controle.</a:t>
            </a:r>
          </a:p>
          <a:p>
            <a:r>
              <a:t>CNPJ 31739396000117 · Ofertas · Não localizado nas cláusulas revisadas; requer documento aplicável · data/raw/31739396000117/1146939_regulamento.pdf | Fundos.NET ID 1146939 | 27/03/2026; data/raw/31739396000117/1088682_emissao.pdf | Fundos.NET ID 1088682 | 20/01/2026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2026-10-07T16:18:13-03:00</a:t>
            </a:r>
          </a:p>
          <a:p>
            <a:r>
              <a:t>Listo LF III: CNPJ 31739396000117</a:t>
            </a:r>
          </a:p>
          <a:p>
            <a:r>
              <a:t>Fontes:</a:t>
            </a:r>
          </a:p>
          <a:p>
            <a:r>
              <a:t>CNPJ 31739396000117 · Carência · Não localizado nas cláusulas revisadas; requer documento aplicável · data/raw/31739396000117/1146939_regulamento.pdf | Fundos.NET ID 1146939 | 27/03/2026; data/raw/31739396000117/1088682_emissao.pdf | Fundos.NET ID 1088682 | 20/01/2026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31739396000117 · Juros/amortização · Não localizado nas cláusulas revisadas; requer documento aplicável · data/raw/31739396000117/1146939_regulamento.pdf | Fundos.NET ID 1146939 | 27/03/2026; data/raw/31739396000117/1088682_emissao.pdf | Fundos.NET ID 1088682 | 20/01/2026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31739396000117 · Vencimento · Não localizado nas cláusulas revisadas; requer documento aplicável · data/raw/31739396000117/1146939_regulamento.pdf | Fundos.NET ID 1146939 | 27/03/2026; data/raw/31739396000117/1088682_emissao.pdf | Fundos.NET ID 1088682 | 20/01/2026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2026-10-07T16:18:13-03:00</a:t>
            </a:r>
          </a:p>
          <a:p>
            <a:r>
              <a:t>Listo LF III: CNPJ 31739396000117</a:t>
            </a:r>
          </a:p>
          <a:p>
            <a:r>
              <a:t>Fontes:</a:t>
            </a:r>
          </a:p>
          <a:p>
            <a:r>
              <a:t>CNPJ 31739396000117 · Administração · Faixas marginais:0,20%/0,17%/0,15%/0,13% a.a. PL; mínimo R$ 25 mil/mês · data/raw/31739396000117/1146939_regulamento.pdf | Fundos.NET ID 1146939 | 27/03/2026 | regulamento | p. 27-28 · Observação: Faixas até 500/700/1.000 mi e excedente; IGP-M positivo anual; inclui administração, gestão, custódia, controladoria e escrituração.</a:t>
            </a:r>
          </a:p>
          <a:p>
            <a:r>
              <a:t>CNPJ 31739396000117 · Gestão · Parcela da taxa conjunta; rateio no Acordo Operacional não acessível · data/raw/31739396000117/1146939_regulamento.pdf | Fundos.NET ID 1146939 | 27/03/2026 | regulamento | p. 27 · Observação: Cláusula documental; confirmar versão aplicável e instrumento específico antes de ativar controle.</a:t>
            </a:r>
          </a:p>
          <a:p>
            <a:r>
              <a:t>CNPJ 31739396000117 · Custódia · Incluída na taxa conjunta; eventos adicionais conforme suplementoA · data/raw/31739396000117/1146939_regulamento.pdf | Fundos.NET ID 1146939 | 27/03/2026 | regulamento | p. 27-28 · Observação: Cláusula documental; confirmar versão aplicável e instrumento específico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2026-10-07T16:18:13-03:00</a:t>
            </a:r>
          </a:p>
          <a:p>
            <a:r>
              <a:t>Listo LF III: CNPJ 31739396000117</a:t>
            </a:r>
          </a:p>
          <a:p>
            <a:r>
              <a:t>Fontes:</a:t>
            </a:r>
          </a:p>
          <a:p>
            <a:r>
              <a:t>CNPJ 31739396000117 · Alocação/subordinação IME · DC/PL e composição de cotas ajudam; validar numerador, denominador e versão contratual · data/raw/31739396000117/1146939_regulamento.pdf | Fundos.NET ID 1146939 | 27/03/2026; data/raw/31739396000117/1088682_emissao.pdf | Fundos.NET ID 1088682 | 20/01/2026 · Observação: Proxy metodológica. FIC investe em cotas: não usar DC/PL como substituto da alocação em fundos-alvo. Nenhum saldo observado nesta revisão documental.</a:t>
            </a:r>
          </a:p>
          <a:p>
            <a:r>
              <a:t>CNPJ 31739396000117 · Inadimplência/PDD IME · Over e PDD agregados são alertas; fórmulas contratuais exigem validação · data/raw/31739396000117/1146939_regulamento.pdf | Fundos.NET ID 1146939 | 27/03/2026; data/raw/31739396000117/1088682_emissao.pdf | Fundos.NET ID 1088682 | 20/01/2026 · Observação: Não reproduzem médias móveis, coortes, exposição individual, motivo de recompra, chargeback e perdas históricas sem dados adicionais.</a:t>
            </a:r>
          </a:p>
          <a:p>
            <a:r>
              <a:t>CNPJ 31739396000117 · Controles documentais · Elegibilidade, concentração, lastro e eventos exigem controles por contrato · data/raw/31739396000117/1146939_regulamento.pdf | Fundos.NET ID 1146939 | 27/03/2026; data/raw/31739396000117/1088682_emissao.pdf | Fundos.NET ID 1088682 | 20/01/2026 · Observação: IME público agregado não certifica devedor/cedente/grupo nem alterações de prestadores e cross default.</a:t>
            </a:r>
          </a:p>
          <a:p>
            <a:r>
              <a:t>CNPJ 31739396000117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Listo LF III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281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Listo LF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de cartões devidos pelos emissores à credenciadora Listo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Listo Instituição de Pagamento; CNPJ32.971.064/0001-26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Emissores dos instrumentos de pagamento, conforme limites individuais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Reais; adimplentes e livres de ônus; prazo≤720 dias; transações presenciais chip+PIN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Limites por emissor: bancos listados até 100% PL; PAN10% PL; Digio2,5% PL; outros usam cotas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Listo LF III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Listo LF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Sênior: mezanino+júnior/PL ≥5%; mezanino1: (júnior+mezaninoC)/mezanino1 ≥33,33%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Somente proteção de posições à vista, até seu limite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Listo LF III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Listo LF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≥50% PL em180 dias; melhores esforços para67% tributários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Revolvência permitida durante a duração do fundo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definitiva; índice de recompra ≤1,50% PL, verificação mensal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regresso/coobrigação da Listo; responsabilidade pela existência e formalização do 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Listo LF III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Listo LF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série sênior; mezz B eC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 localizado nas cláusulas revisadas; requer suplemento ou ato específico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R$ 525 mi sênior; R$ 50 mi mezz B; R$ 25 mi mezz 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Listo LF III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Listo LF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 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Listo LF III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Listo LF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marginais:0,20%/0,17%/0,15%/0,13% a.a. PL; mínimo R$ 25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Parcela da taxa conjunta; rateio no Acordo Operacional não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taxa conjunta; eventos adicionais conforme suplementoA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Listo LF III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Listo LF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ajudam; validar numerador, denominador e versão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