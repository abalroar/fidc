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Recebíveis e elegibilidade</a:t>
            </a:r>
          </a:p>
          <a:p>
            <a:r>
              <a:t>Leitura documental: 2026-10-07T16:56:22-03:00</a:t>
            </a:r>
          </a:p>
          <a:p>
            <a:r>
              <a:t>Pagaleve: CNPJ 50059866000146</a:t>
            </a:r>
          </a:p>
          <a:p>
            <a:r>
              <a:t>Fontes:</a:t>
            </a:r>
          </a:p>
          <a:p>
            <a:r>
              <a:t>CNPJ 50059866000146 · Natureza dos recebíveis · Pagamentos parcelados no Sistema Pagaleve; créditos Pagaleve, Bancarizador e antecipação · data/raw/50059866000146/1337370_documentary_review.pdf | Fundos.NET ID 1337370 | 01/10/2026 | regulamento | p. 36,40-41 · Observação: Regra da versão citada; leitura dirigida. Validar documento vigente e controles por contrato.</a:t>
            </a:r>
          </a:p>
          <a:p>
            <a:r>
              <a:t>CNPJ 50059866000146 · Originador/endossante · Cedentes Pagaleve, Bancarizador ou estabelecimentos, conforme modalidade · data/raw/50059866000146/1337370_documentary_review.pdf | Fundos.NET ID 1337370 | 01/10/2026 | regulamento | p. 41 · Observação: Regra da versão citada; leitura dirigida. Validar documento vigente e controles por contrato.</a:t>
            </a:r>
          </a:p>
          <a:p>
            <a:r>
              <a:t>CNPJ 50059866000146 · Devedor · Pagaleve/Bancarizador: PF adulta; antecipação liquidada pela Pagaleve · data/raw/50059866000146/1337370_documentary_review.pdf | Fundos.NET ID 1337370 | 01/10/2026 | regulamento | p. 41,43 · Observação: Regra da versão citada; leitura dirigida. Validar documento vigente e controles por contrato.</a:t>
            </a:r>
          </a:p>
          <a:p>
            <a:r>
              <a:t>CNPJ 50059866000146 · Garantia · Garantias do crédito conforme instrumento; sem garantia dos prestadores/FGC · data/raw/50059866000146/1337370_documentary_review.pdf | Fundos.NET ID 1337370 | 01/10/2026 | regulamento | p. 34,42 · Observação: Regra da versão citada; leitura dirigida. Validar documento vigente e controles por contrato.</a:t>
            </a:r>
          </a:p>
          <a:p>
            <a:r>
              <a:t>CNPJ 50059866000146 · Elegibilidade · Crédito adimplente, em reais; PF ≥18 anos; prazos 50 dias Pagaleve e 370 dias demais modalidades · data/raw/50059866000146/1337370_documentary_review.pdf | Fundos.NET ID 1337370 | 01/10/2026 | regulamento | p. 43-44 · Observação: Regra da versão citada; leitura dirigida. Validar documento vigente e controles por contrato.</a:t>
            </a:r>
          </a:p>
          <a:p>
            <a:r>
              <a:t>CNPJ 50059866000146 · Concentração · Top10/Top100 devedores: 2%/5% PL; antecipação ≤20% carteira · data/raw/50059866000146/1337370_documentary_review.pdf | Fundos.NET ID 1337370 | 01/10/2026 | regulamento | p. 44 · Observação: Regras por devedor usam redação ambígua no agrupamento Top10/Top100; concentração do maior estabelecimento ≤15% carteira e Top5 ≤50% (p.19). Controle exige dados individuais.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Subordinação, gatilhos e proteção</a:t>
            </a:r>
          </a:p>
          <a:p>
            <a:r>
              <a:t>Leitura documental: 2026-10-07T16:56:22-03:00</a:t>
            </a:r>
          </a:p>
          <a:p>
            <a:r>
              <a:t>Pagaleve: CNPJ 50059866000146</a:t>
            </a:r>
          </a:p>
          <a:p>
            <a:r>
              <a:t>Fontes:</a:t>
            </a:r>
          </a:p>
          <a:p>
            <a:r>
              <a:t>CNPJ 50059866000146 · Subordinação mínima · Júnior/PL ≥15,79%; amortização extraordinária condicionada a júnior &gt;20% PL · data/raw/50059866000146/1337370_documentary_review.pdf | Fundos.NET ID 1337370 | 01/10/2026 | regulamento | p. 10,53,57 · Observação: Regra da versão citada; leitura dirigida. Validar documento vigente e controles por contrato.</a:t>
            </a:r>
          </a:p>
          <a:p>
            <a:r>
              <a:t>CNPJ 50059866000146 · Gatilhos de avaliação/liquidação · Pagaleve: média ponderada de 4 meses &gt;6%, ou índice &gt;8% em 2 de 4 meses · data/raw/50059866000146/1337370_documentary_review.pdf | Fundos.NET ID 1337370 | 01/10/2026 | regulamento | p. 10,63-64 · Observação: Índice usa parcelas vencidas no mês anterior e ainda não liquidadas, dividido pelos vencimentos daquele mês. Bancarizador tem regras Short/Long próprias, condicionadas à participação na carteira; caixa do conglomerado &lt;R$ 1 milhão é evento documental (p.62).</a:t>
            </a:r>
          </a:p>
          <a:p>
            <a:r>
              <a:t>CNPJ 50059866000146 · Reserva de caixa · Encargos/operacionalização e remuneração sênior por 3 meses; amortização: 1% da próxima estimativa, limitada a R$ 250 mil · data/raw/50059866000146/1337370_documentary_review.pdf | Fundos.NET ID 1337370 | 01/10/2026 | regulamento | p. 58 · Observação: Regra da versão citada; leitura dirigida. Validar documento vigente e controles por contrato.</a:t>
            </a:r>
          </a:p>
          <a:p>
            <a:r>
              <a:t>CNPJ 50059866000146 · Derivativos/hedge · Exclusivamente proteção; sem contraparte central, gestor/relacionadas ≤20% PL · data/raw/50059866000146/1337370_documentary_review.pdf | Fundos.NET ID 1337370 | 01/10/2026 | regulamento | p. 35 · Observação: Regra da versão citada; leitura dirigida. Validar documento vigente e controles por contrato.</a:t>
            </a:r>
          </a:p>
          <a:p>
            <a:r>
              <a:t>CNPJ 50059866000146 · PDD · PCLD por atraso: 2,5% em dia; 10% até 15 dias; 40% até 30; 60% até 90; 90% até 120; write-off &gt;120 · data/raw/50059866000146/1337370_documentary_review.pdf | Fundos.NET ID 1337370 | 01/10/2026 | regulamento | p. 60 · Observação: Tabela contratual por aging não é índice de cobertura PDD mínimo; aplicar efeito vagão por devedor (p.9).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Alocação e mecânica contratual</a:t>
            </a:r>
          </a:p>
          <a:p>
            <a:r>
              <a:t>Leitura documental: 2026-10-07T16:56:22-03:00</a:t>
            </a:r>
          </a:p>
          <a:p>
            <a:r>
              <a:t>Pagaleve: CNPJ 50059866000146</a:t>
            </a:r>
          </a:p>
          <a:p>
            <a:r>
              <a:t>Fontes:</a:t>
            </a:r>
          </a:p>
          <a:p>
            <a:r>
              <a:t>CNPJ 50059866000146 · Alocação mínima · DC/PL ≥67% após 180 dias de operação · data/raw/50059866000146/1337370_documentary_review.pdf | Fundos.NET ID 1337370 | 01/10/2026 | regulamento | p. 5,34 · Observação: Regra da versão citada; leitura dirigida. Validar documento vigente e controles por contrato.</a:t>
            </a:r>
          </a:p>
          <a:p>
            <a:r>
              <a:t>CNPJ 50059866000146 · Pool/revolvência · Aquisição de novos créditos prevista na ordem de alocação; suspensa em evento de avaliação · data/raw/50059866000146/1337370_documentary_review.pdf | Fundos.NET ID 1337370 | 01/10/2026 | regulamento | p. 59,64 · Observação: Regra da versão citada; leitura dirigida. Validar documento vigente e controles por contrato.</a:t>
            </a:r>
          </a:p>
          <a:p>
            <a:r>
              <a:t>CNPJ 50059866000146 · Duração/público-alvo · Duração indeterminada; qualificados na classe; oferta-modelo sênior para profissionais · data/raw/50059866000146/1337370_documentary_review.pdf | Fundos.NET ID 1337370 | 01/10/2026 | regulamento | p. 30,68 · Observação: Regra da versão citada; leitura dirigida. Validar documento vigente e controles por contrato.</a:t>
            </a:r>
          </a:p>
          <a:p>
            <a:r>
              <a:t>CNPJ 50059866000146 · Cessão/recompra · Vício/elegibilidade e média 3 meses de atraso &gt;30 dias líquida de PCLD &gt;4% PL exigem recompra em 5 DU · data/raw/50059866000146/1337370_documentary_review.pdf | Fundos.NET ID 1337370 | 01/10/2026 | regulamento | p. 43 · Observação: Recompra por Pagaleve/Bancarizador ao preço de aquisição; não substitui obrigação de solvência universal.</a:t>
            </a:r>
          </a:p>
          <a:p>
            <a:r>
              <a:t>CNPJ 50059866000146 · Coobrigação · Aquisição com ou sem coobrigação; existência é responsabilidade do cedente · data/raw/50059866000146/1337370_documentary_review.pdf | Fundos.NET ID 1337370 | 01/10/2026 | regulamento | p. 40-41 · Observação: Regra da versão citada; leitura dirigida. Validar documento vigente e controles por contrato.</a:t>
            </a:r>
          </a:p>
          <a:p>
            <a:r>
              <a:t>CNPJ 50059866000146 · Waterfall · Encargos/derivativos; reservas; remuneração e principal sênior; extraordinária júnior; reinvestimento · data/raw/50059866000146/1337370_documentary_review.pdf | Fundos.NET ID 1337370 | 01/10/2026 | regulamento | p. 59 · Observação: Regra da versão citada; leitura dirigida. Validar documento vigente e controles por contrato.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Emissões e remuneração</a:t>
            </a:r>
          </a:p>
          <a:p>
            <a:r>
              <a:t>Leitura documental: 2026-10-07T16:56:22-03:00</a:t>
            </a:r>
          </a:p>
          <a:p>
            <a:r>
              <a:t>Pagaleve: CNPJ 50059866000146</a:t>
            </a:r>
          </a:p>
          <a:p>
            <a:r>
              <a:t>Fontes:</a:t>
            </a:r>
          </a:p>
          <a:p>
            <a:r>
              <a:t>CNPJ 50059866000146 · Classes/séries · Seniores por série e júnior; modelos de apêndices não preenchidos · data/raw/50059866000146/1337370_documentary_review.pdf | Fundos.NET ID 1337370 | 01/10/2026 | regulamento | p. 51,68-71 · Observação: Regra da versão citada; leitura dirigida. Validar documento vigente e controles por contrato.</a:t>
            </a:r>
          </a:p>
          <a:p>
            <a:r>
              <a:t>CNPJ 50059866000146 · Remuneração · Índice e spread não preenchidos no modelo; spread final não localizado · data/raw/50059866000146/1337370_documentary_review.pdf | Fundos.NET ID 1337370 | 01/10/2026 | regulamento | p. 69 · Observação: Regra da versão citada; leitura dirigida. Validar documento vigente e controles por contrato.</a:t>
            </a:r>
          </a:p>
          <a:p>
            <a:r>
              <a:t>CNPJ 50059866000146 · Volume/VNU · Encerramento declara R$ 40 milhões/40 mil cotas; VNU R$ 1 incompatível com esse volume · data/raw/50059866000146/909370_documentary_review.pdf | Fundos.NET ID 909370 | 21/05/2025 | emissao | p. 1-2 · Observação: Tabela soma 40 mil cotas subscritas por 3 investidores. Não corrigir VNU para R$ 1 mil por inferência.</a:t>
            </a:r>
          </a:p>
          <a:p>
            <a:r>
              <a:t>CNPJ 50059866000146 · Ofertas · 2ª série sênior, 1ª emissão; encerramento em 21/05/2025; profissionais · data/raw/50059866000146/909370_documentary_review.pdf | Fundos.NET ID 909370 | 21/05/2025 | emissao | p. 1-3 · Observação: Cláusula documental; confirmar versão aplicável e instrumento específico antes de ativar controle.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Amortização e calendário de pagamentos</a:t>
            </a:r>
          </a:p>
          <a:p>
            <a:r>
              <a:t>Leitura documental: 2026-10-07T16:56:22-03:00</a:t>
            </a:r>
          </a:p>
          <a:p>
            <a:r>
              <a:t>Pagaleve: CNPJ 50059866000146</a:t>
            </a:r>
          </a:p>
          <a:p>
            <a:r>
              <a:t>Fontes:</a:t>
            </a:r>
          </a:p>
          <a:p>
            <a:r>
              <a:t>CNPJ 50059866000146 · Carência · Prazo remetido ao apêndice; campos do modelo não preenchidos · data/raw/50059866000146/1337370_documentary_review.pdf | Fundos.NET ID 1337370 | 01/10/2026 | regulamento | p. 69 · Observação: Regra da versão citada; leitura dirigida. Validar documento vigente e controles por contrato.</a:t>
            </a:r>
          </a:p>
          <a:p>
            <a:r>
              <a:t>CNPJ 50059866000146 · Juros/amortização · Cronograma fechado não identificado; modelo de apêndice não preenchido · data/raw/50059866000146/1337370_documentary_review.pdf | Fundos.NET ID 1337370 | 01/10/2026 | regulamento | p. 69 · Observação: Regra da versão citada; leitura dirigida. Validar documento vigente e controles por contrato.</a:t>
            </a:r>
          </a:p>
          <a:p>
            <a:r>
              <a:t>CNPJ 50059866000146 · Vencimento · Última amortização conforme apêndice; vencimento civil não localizado · data/raw/50059866000146/1337370_documentary_review.pdf | Fundos.NET ID 1337370 | 01/10/2026 | regulamento | p. 69 · Observação: Regra da versão citada; leitura dirigida. Validar documento vigente e controles por contrato.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Custos estruturais</a:t>
            </a:r>
          </a:p>
          <a:p>
            <a:r>
              <a:t>Leitura documental: 2026-10-07T16:56:22-03:00</a:t>
            </a:r>
          </a:p>
          <a:p>
            <a:r>
              <a:t>Pagaleve: CNPJ 50059866000146</a:t>
            </a:r>
          </a:p>
          <a:p>
            <a:r>
              <a:t>Fontes:</a:t>
            </a:r>
          </a:p>
          <a:p>
            <a:r>
              <a:t>CNPJ 50059866000146 · Administração · Faixas 0,30%/0,20%/0,10% a.a. PL (R$ 150/R$ 300 mi); mínimo R$ 20 mil/mês · data/raw/50059866000146/1337370_documentary_review.pdf | Fundos.NET ID 1337370 | 01/10/2026 | regulamento | p. 32 · Observação: Confirmar aplicação de faixas; o texto não individualiza regra marginal. Reajuste IPCA positivo; R$ 770/h por assembleia (p.33).</a:t>
            </a:r>
          </a:p>
          <a:p>
            <a:r>
              <a:t>CNPJ 50059866000146 · Gestão · Faixas 0,21%/0,25%/0,30% a.a. PL (R$ 150/R$ 300 mi); mínimo R$ 10 mil/mês · data/raw/50059866000146/1337370_documentary_review.pdf | Fundos.NET ID 1337370 | 01/10/2026 | regulamento | p. 33 · Observação: Comissão inicial R$ 50 mil; reajuste IPCA positivo; não inferir aplicação marginal das faixas.</a:t>
            </a:r>
          </a:p>
          <a:p>
            <a:r>
              <a:t>CNPJ 50059866000146 · Custódia · VERT DTVM; taxa separada não individualizada nas cláusulas de remuneração · data/raw/50059866000146/1337370_documentary_review.pdf | Fundos.NET ID 1337370 | 01/10/2026 | regulamento | p. 31-33 · Observação: Regra da versão citada; leitura dirigida. Validar documento vigente e controles por contrato.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Monitoramento IME e controles documentais</a:t>
            </a:r>
          </a:p>
          <a:p>
            <a:r>
              <a:t>Leitura documental: 2026-10-07T16:56:22-03:00</a:t>
            </a:r>
          </a:p>
          <a:p>
            <a:r>
              <a:t>Pagaleve: CNPJ 50059866000146</a:t>
            </a:r>
          </a:p>
          <a:p>
            <a:r>
              <a:t>Fontes:</a:t>
            </a:r>
          </a:p>
          <a:p>
            <a:r>
              <a:t>CNPJ 50059866000146 · Alocação/subordinação IME · DC/PL e composição de cotas ajudam; validar numerador, denominador e versão contratual · data/raw/50059866000146/1337370_documentary_review.pdf | Fundos.NET ID 1337370 | 01/10/2026; data/raw/50059866000146/1337278_documentary_review.pdf | Fundos.NET ID 1337278 | 23/09/2026 15:00; data/raw/50059866000146/909370_documentary_review.pdf | Fundos.NET ID 909370 | 21/05/2025 · Observação: Proxy metodológica. FIC investe em cotas: não usar DC/PL como substituto da alocação em fundos-alvo. Nenhum saldo observado nesta revisão documental.</a:t>
            </a:r>
          </a:p>
          <a:p>
            <a:r>
              <a:t>CNPJ 50059866000146 · Inadimplência/PDD IME · Over e PDD agregados são alertas; fórmulas contratuais exigem validação · data/raw/50059866000146/1337370_documentary_review.pdf | Fundos.NET ID 1337370 | 01/10/2026; data/raw/50059866000146/1337278_documentary_review.pdf | Fundos.NET ID 1337278 | 23/09/2026 15:00; data/raw/50059866000146/909370_documentary_review.pdf | Fundos.NET ID 909370 | 21/05/2025 · Observação: Não reproduzem médias móveis, coortes, exposição individual, motivo de recompra, chargeback e perdas históricas sem dados adicionais.</a:t>
            </a:r>
          </a:p>
          <a:p>
            <a:r>
              <a:t>CNPJ 50059866000146 · Controles documentais · Elegibilidade, concentração, lastro e eventos exigem controles por contrato · data/raw/50059866000146/1337370_documentary_review.pdf | Fundos.NET ID 1337370 | 01/10/2026; data/raw/50059866000146/1337278_documentary_review.pdf | Fundos.NET ID 1337278 | 23/09/2026 15:00; data/raw/50059866000146/909370_documentary_review.pdf | Fundos.NET ID 909370 | 21/05/2025 · Observação: IME público agregado não certifica devedor/cedente/grupo nem alterações de prestadores e cross default.</a:t>
            </a:r>
          </a:p>
          <a:p>
            <a:r>
              <a:t>CNPJ 50059866000146 · Competência IME · Sem competência IME carregada em cache local · Inventário de .cache/fundonet em 2026-10-07 · Observação: Leitura documental preservada. Carregar competência no Monitoramento para avaliar enquadramento.</a:t>
            </a:r>
          </a:p>
          <a:p>
            <a:r>
              <a:t>CNPJ 50059866000146 · Troca de prestadores · Limine/Kanastra substituídas por VERT DTVM/VERT Gestora a partir de 01/10/2026 · data/raw/50059866000146/1337278_documentary_review.pdf | Fundos.NET ID 1337278 | 23/09/2026 15:00 | assembleia | p. 1-2 · Observação: AGE 23/09/2026; eficácia condicionada ao integral cumprimento dos procedimentos de transferência. Controle documental, não observável pelo IME agregado.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Pagaleve FIDC – Recebíveis e elegibilidade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09397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Pagaleve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Natureza dos recebíveis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Pagamentos parcelados no Sistema Pagaleve; créditos Pagaleve, Bancarizador e antecipação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Originador/endossante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Cedentes Pagaleve, Bancarizador ou estabelecimentos, conforme modalidade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Devedor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Pagaleve/Bancarizador: PF adulta; antecipação liquidada pela Pagaleve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Garantia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Garantias do crédito conforme instrumento; sem garantia dos prestadores/FGC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Elegibilidade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Crédito adimplente, em reais; PF ≥18 anos; prazos 50 dias Pagaleve e 370 dias demais modalidades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Concentração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Top10/Top100 devedores: 2%/5% PL; antecipação ≤20% carteira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1/7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Pagaleve FIDC – Subordinação, gatilhos e proteção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185416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Pagaleve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Subordinação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Júnior/PL ≥15,79%; amortização extraordinária condicionada a júnior &gt;20% PL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Gatilhos de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avaliação/liquidação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Pagaleve: média ponderada de 4 meses &gt;6%, ou índice &gt;8% em 2 de 4 meses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Reserva de caixa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Encargos/operacionalização e remuneração sênior por 3 meses; amortização: 1% da próxima estimativa,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limitada a R$ 250 mil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Derivativos/hedge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Exclusivamente proteção; sem contraparte central, gestor/relacionadas ≤20% PL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PDD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PCLD por atraso: 2,5% em dia; 10% até 15 dias; 40% até 30; 60% até 90; 90% até 120; write-off &gt;120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2/7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Pagaleve FIDC – Alocação e mecânica contratual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2468880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Pagaleve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 mínima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DC/PL ≥67% após 180 dias de operação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Pool/revolvência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Aquisição de novos créditos prevista na ordem de alocação; suspensa em evento de avaliação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Duração/público-alvo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Duração indeterminada; qualificados na classe; oferta-modelo sênior para profissionais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Cessão/recompra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Vício/elegibilidade e média 3 meses de atraso &gt;30 dias líquida de PCLD &gt;4% PL exigem recompra em 5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Coobrigação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Aquisição com ou sem coobrigação; existência é responsabilidade do cedente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Waterfall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Encargos/derivativos; reservas; remuneração e principal sênior; extraordinária júnior;</a:t>
                      </a:r>
                    </a:p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reinvestimento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3/7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Pagaleve FIDC – Emissões e remuneração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527048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Pagaleve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Classes/séries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Seniores por série e júnior; modelos de apêndices não preenchidos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Índice e spread não preenchidos no modelo; spread final não localizado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Volume/VNU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Encerramento declara R$ 40 milhões/40 mil cotas; VNU R$ 1 incompatível com esse volume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Ofertas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2ª série sênior, 1ª emissão; encerramento em 21/05/2025; profissionais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4/7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Pagaleve FIDC – Amortização e calendário de pagamentos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Pagaleve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Carência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Prazo remetido ao apêndice; campos do modelo não preenchidos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Juros/amortização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Cronograma fechado não identificado; modelo de apêndice não preenchido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Vencimento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Última amortização conforme apêndice; vencimento civil não localizado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5/7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Pagaleve FIDC – Custos estruturais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24358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Pagaleve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Administração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Faixas 0,30%/0,20%/0,10% a.a. PL (R$ 150/R$ 300 mi); mínimo R$ 20 mil/mês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Gestão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Faixas 0,21%/0,25%/0,30% a.a. PL (R$ 150/R$ 300 mi); mínimo R$ 10 mil/mês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Custódia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VERT DTVM; taxa separada não individualizada nas cláusulas de remuneração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6/7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438912" y="292608"/>
            <a:ext cx="11313871" cy="557784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2300" b="1">
                <a:solidFill>
                  <a:srgbClr val="EC7000"/>
                </a:solidFill>
                <a:latin typeface="Calibri"/>
              </a:rPr>
              <a:t>Curadoria Pagaleve FIDC – Monitoramento IME e controles documentais</a:t>
            </a:r>
          </a:p>
        </p:txBody>
      </p:sp>
      <p:graphicFrame>
        <p:nvGraphicFramePr>
          <p:cNvPr id="3" name="Table 2"/>
          <p:cNvGraphicFramePr>
            <a:graphicFrameLocks noGrp="1"/>
          </p:cNvGraphicFramePr>
          <p:nvPr/>
        </p:nvGraphicFramePr>
        <p:xfrm>
          <a:off x="438912" y="932688"/>
          <a:ext cx="11313871" cy="1997964"/>
        </p:xfrm>
        <a:graphic>
          <a:graphicData uri="http://schemas.openxmlformats.org/drawingml/2006/table">
            <a:tbl>
              <a:tblPr>
                <a:tableStyleId>{5C22544A-7EE6-4342-B048-85BDC9FD1C3A}</a:tableStyleId>
              </a:tblPr>
              <a:tblGrid>
                <a:gridCol w="2331720"/>
                <a:gridCol w="8982151"/>
              </a:tblGrid>
              <a:tr h="393192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Critério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Pagaleve</a:t>
                      </a:r>
                    </a:p>
                  </a:txBody>
                  <a:tcPr marL="91440" marR="91440" marT="41148" marB="41148" anchor="ctr">
                    <a:solidFill>
                      <a:srgbClr val="EC7000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  <a:tr h="470916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Alocação/subordinação</a:t>
                      </a:r>
                    </a:p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DC/PL e composição de cotas ajudam; validar numerador, denominador e versão contratual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Inadimplência/PDD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Over e PDD agregados são alertas; fórmulas contratuais exigem validação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Controles documentais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Elegibilidade, concentração, lastro e eventos exigem controles por contrato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Competência IME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Sem competência IME carregada em cache local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</a:tcPr>
                </a:tc>
              </a:tr>
              <a:tr h="283464">
                <a:tc>
                  <a:txBody>
                    <a:bodyPr wrap="square">
                      <a:noAutofit/>
                    </a:bodyPr>
                    <a:lstStyle/>
                    <a:p>
                      <a:pPr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1">
                          <a:solidFill>
                            <a:srgbClr val="1F1F1F"/>
                          </a:solidFill>
                          <a:latin typeface="Calibri"/>
                        </a:rPr>
                        <a:t>Troca de prestadores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  <a:tc>
                  <a:txBody>
                    <a:bodyPr wrap="square">
                      <a:noAutofit/>
                    </a:bodyPr>
                    <a:lstStyle/>
                    <a:p>
                      <a:pPr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</a:pPr>
                      <a:r>
                        <a:rPr sz="1300" b="0">
                          <a:solidFill>
                            <a:srgbClr val="1F1F1F"/>
                          </a:solidFill>
                          <a:latin typeface="Calibri"/>
                        </a:rPr>
                        <a:t>Limine/Kanastra substituídas por VERT DTVM/VERT Gestora a partir de 01/10/2026</a:t>
                      </a:r>
                    </a:p>
                  </a:txBody>
                  <a:tcPr marL="91440" marR="91440" marT="41148" marB="41148" anchor="ctr">
                    <a:solidFill>
                      <a:srgbClr val="FFFFFF"/>
                    </a:solidFill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 w="6350">
                      <a:solidFill>
                        <a:srgbClr val="D9DEE5"/>
                      </a:solidFill>
                    </a:lnB>
                  </a:tcPr>
                </a:tc>
              </a:tr>
            </a:tbl>
          </a:graphicData>
        </a:graphic>
      </p:graphicFrame>
      <p:sp>
        <p:nvSpPr>
          <p:cNvPr id="4" name="TextBox 3"/>
          <p:cNvSpPr txBox="1"/>
          <p:nvPr/>
        </p:nvSpPr>
        <p:spPr>
          <a:xfrm>
            <a:off x="438912" y="6428232"/>
            <a:ext cx="10399471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l"/>
            <a:r>
              <a:rPr sz="850" b="0">
                <a:solidFill>
                  <a:srgbClr val="6B7280"/>
                </a:solidFill>
                <a:latin typeface="Calibri"/>
              </a:rPr>
              <a:t>Leitura documental: 07/10/2026. Fontes e referências nas notas do slide.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112703" y="6428232"/>
            <a:ext cx="640080" cy="164592"/>
          </a:xfrm>
          <a:prstGeom prst="rect">
            <a:avLst/>
          </a:prstGeom>
          <a:noFill/>
        </p:spPr>
        <p:txBody>
          <a:bodyPr wrap="square" lIns="0" rIns="0" tIns="0" bIns="0">
            <a:noAutofit/>
          </a:bodyPr>
          <a:lstStyle/>
          <a:p>
            <a:pPr algn="r"/>
            <a:r>
              <a:rPr sz="850" b="0">
                <a:solidFill>
                  <a:srgbClr val="6B7280"/>
                </a:solidFill>
                <a:latin typeface="Calibri"/>
              </a:rPr>
              <a:t>7/7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