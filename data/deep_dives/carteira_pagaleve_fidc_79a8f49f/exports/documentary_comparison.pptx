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Natureza dos recebíveis · Pagamentos parcelados no Sistema Pagaleve; créditos Pagaleve, Bancarizador e antecipação · data/raw/50059866000146/1337370_documentary_review.pdf | Fundos.NET ID 1337370 | 01/10/2026 | regulamento | p. 36,40-41 · Observação: Regra da versão citada; leitura dirigida. Validar documento vigente e controles por contrato.</a:t>
            </a:r>
          </a:p>
          <a:p>
            <a:r>
              <a:t>CNPJ 50059866000146 · Originador/endossante · Cedentes Pagaleve, Bancarizador ou estabelecimentos, conforme modalidade · data/raw/50059866000146/1337370_documentary_review.pdf | Fundos.NET ID 1337370 | 01/10/2026 | regulamento | p. 41 · Observação: Regra da versão citada; leitura dirigida. Validar documento vigente e controles por contrato.</a:t>
            </a:r>
          </a:p>
          <a:p>
            <a:r>
              <a:t>CNPJ 50059866000146 · Devedor · Pagaleve/Bancarizador: PF adulta; antecipação liquidada pela Pagaleve · data/raw/50059866000146/1337370_documentary_review.pdf | Fundos.NET ID 1337370 | 01/10/2026 | regulamento | p. 41,43 · Observação: Regra da versão citada; leitura dirigida. Validar documento vigente e controles por contrato.</a:t>
            </a:r>
          </a:p>
          <a:p>
            <a:r>
              <a:t>CNPJ 50059866000146 · Garantia · Garantias do crédito conforme instrumento; sem garantia dos prestadores/FGC · data/raw/50059866000146/1337370_documentary_review.pdf | Fundos.NET ID 1337370 | 01/10/2026 | regulamento | p. 34,42 · Observação: Regra da versão citada; leitura dirigida. Validar documento vigente e controles por contrato.</a:t>
            </a:r>
          </a:p>
          <a:p>
            <a:r>
              <a:t>CNPJ 50059866000146 · Elegibilidade · Crédito adimplente, em reais; PF ≥18 anos; prazos 50 dias Pagaleve e 370 dias demais modalidades · data/raw/50059866000146/1337370_documentary_review.pdf | Fundos.NET ID 1337370 | 01/10/2026 | regulamento | p. 43-44 · Observação: Regra da versão citada; leitura dirigida. Validar documento vigente e controles por contrato.</a:t>
            </a:r>
          </a:p>
          <a:p>
            <a:r>
              <a:t>CNPJ 50059866000146 · Concentração · Top10/Top100 devedores: 2%/5% PL; antecipação ≤20% carteira · data/raw/50059866000146/1337370_documentary_review.pdf | Fundos.NET ID 1337370 | 01/10/2026 | regulamento | p. 44 · Observação: Regras por devedor usam redação ambígua no agrupamento Top10/Top100; concentração do maior estabelecimento ≤15% carteira e Top5 ≤50% (p.19). Controle exige dados individuais.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Subordinação mínima · Júnior/PL ≥15,79%; amortização extraordinária condicionada a júnior &gt;20% PL · data/raw/50059866000146/1337370_documentary_review.pdf | Fundos.NET ID 1337370 | 01/10/2026 | regulamento | p. 10,53,57 · Observação: Regra da versão citada; leitura dirigida. Validar documento vigente e controles por contrato.</a:t>
            </a:r>
          </a:p>
          <a:p>
            <a:r>
              <a:t>CNPJ 50059866000146 · Gatilhos de avaliação/liquidação · Pagaleve: média ponderada de 4 meses &gt;6%, ou índice &gt;8% em 2 de 4 meses · data/raw/50059866000146/1337370_documentary_review.pdf | Fundos.NET ID 1337370 | 01/10/2026 | regulamento | p. 10,63-64 · Observação: Índice usa parcelas vencidas no mês anterior e ainda não liquidadas, dividido pelos vencimentos daquele mês. Bancarizador tem regras Short/Long próprias, condicionadas à participação na carteira; caixa do conglomerado &lt;R$ 1 milhão é evento documental (p.62).</a:t>
            </a:r>
          </a:p>
          <a:p>
            <a:r>
              <a:t>CNPJ 50059866000146 · Reserva de caixa · Encargos/operacionalização e remuneração sênior por 3 meses; amortização: 1% da próxima estimativa, limitada a R$ 250 mil · data/raw/50059866000146/1337370_documentary_review.pdf | Fundos.NET ID 1337370 | 01/10/2026 | regulamento | p. 58 · Observação: Regra da versão citada; leitura dirigida. Validar documento vigente e controles por contrato.</a:t>
            </a:r>
          </a:p>
          <a:p>
            <a:r>
              <a:t>CNPJ 50059866000146 · Derivativos/hedge · Exclusivamente proteção; sem contraparte central, gestor/relacionadas ≤20% PL · data/raw/50059866000146/1337370_documentary_review.pdf | Fundos.NET ID 1337370 | 01/10/2026 | regulamento | p. 35 · Observação: Regra da versão citada; leitura dirigida. Validar documento vigente e controles por contrato.</a:t>
            </a:r>
          </a:p>
          <a:p>
            <a:r>
              <a:t>CNPJ 50059866000146 · PDD · PCLD por atraso: 2,5% em dia; 10% até 15 dias; 40% até 30; 60% até 90; 90% até 120; write-off &gt;120 · data/raw/50059866000146/1337370_documentary_review.pdf | Fundos.NET ID 1337370 | 01/10/2026 | regulamento | p. 60 · Observação: Tabela contratual por aging não é índice de cobertura PDD mínimo; aplicar efeito vagão por devedor (p.9).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Alocação mínima · DC/PL ≥67% após 180 dias de operação · data/raw/50059866000146/1337370_documentary_review.pdf | Fundos.NET ID 1337370 | 01/10/2026 | regulamento | p. 5,34 · Observação: Regra da versão citada; leitura dirigida. Validar documento vigente e controles por contrato.</a:t>
            </a:r>
          </a:p>
          <a:p>
            <a:r>
              <a:t>CNPJ 50059866000146 · Pool/revolvência · Aquisição de novos créditos prevista na ordem de alocação; suspensa em evento de avaliação · data/raw/50059866000146/1337370_documentary_review.pdf | Fundos.NET ID 1337370 | 01/10/2026 | regulamento | p. 59,64 · Observação: Regra da versão citada; leitura dirigida. Validar documento vigente e controles por contrato.</a:t>
            </a:r>
          </a:p>
          <a:p>
            <a:r>
              <a:t>CNPJ 50059866000146 · Duração/público-alvo · Duração indeterminada; qualificados na classe; oferta-modelo sênior para profissionais · data/raw/50059866000146/1337370_documentary_review.pdf | Fundos.NET ID 1337370 | 01/10/2026 | regulamento | p. 30,68 · Observação: Regra da versão citada; leitura dirigida. Validar documento vigente e controles por contrato.</a:t>
            </a:r>
          </a:p>
          <a:p>
            <a:r>
              <a:t>CNPJ 50059866000146 · Cessão/recompra · Vício/elegibilidade e média 3 meses de atraso &gt;30 dias líquida de PCLD &gt;4% PL exigem recompra em 5 DU · data/raw/50059866000146/1337370_documentary_review.pdf | Fundos.NET ID 1337370 | 01/10/2026 | regulamento | p. 43 · Observação: Recompra por Pagaleve/Bancarizador ao preço de aquisição; não substitui obrigação de solvência universal.</a:t>
            </a:r>
          </a:p>
          <a:p>
            <a:r>
              <a:t>CNPJ 50059866000146 · Coobrigação · Aquisição com ou sem coobrigação; existência é responsabilidade do cedente · data/raw/50059866000146/1337370_documentary_review.pdf | Fundos.NET ID 1337370 | 01/10/2026 | regulamento | p. 40-41 · Observação: Regra da versão citada; leitura dirigida. Validar documento vigente e controles por contrato.</a:t>
            </a:r>
          </a:p>
          <a:p>
            <a:r>
              <a:t>CNPJ 50059866000146 · Waterfall · Encargos/derivativos; reservas; remuneração e principal sênior; extraordinária júnior; reinvestimento · data/raw/50059866000146/1337370_documentary_review.pdf | Fundos.NET ID 1337370 | 01/10/2026 | regulamento | p. 59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Classes/séries · Seniores por série e júnior; modelos de apêndices não preenchidos · data/raw/50059866000146/1337370_documentary_review.pdf | Fundos.NET ID 1337370 | 01/10/2026 | regulamento | p. 51,68-71 · Observação: Regra da versão citada; leitura dirigida. Validar documento vigente e controles por contrato.</a:t>
            </a:r>
          </a:p>
          <a:p>
            <a:r>
              <a:t>CNPJ 50059866000146 · Remuneração · Índice e spread não preenchidos no modelo; spread final não localizado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  <a:p>
            <a:r>
              <a:t>CNPJ 50059866000146 · Volume/VNU · Encerramento declara R$ 40 milhões/40 mil cotas; VNU R$ 1 incompatível com esse volume · data/raw/50059866000146/909370_documentary_review.pdf | Fundos.NET ID 909370 | 21/05/2025 | emissao | p. 1-2 · Observação: Tabela soma 40 mil cotas subscritas por 3 investidores. Não corrigir VNU para R$ 1 mil por inferência.</a:t>
            </a:r>
          </a:p>
          <a:p>
            <a:r>
              <a:t>CNPJ 50059866000146 · Ofertas · 2ª série sênior, 1ª emissão; encerramento em 21/05/2025; profissionais · data/raw/50059866000146/909370_documentary_review.pdf | Fundos.NET ID 909370 | 21/05/2025 | emissao | p. 1-3 · Observação: Cláusula documental; confirmar versão aplicável e instrumento específico antes de ativar controle.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Carência · Prazo remetido ao apêndice; campos do modelo não preenchidos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  <a:p>
            <a:r>
              <a:t>CNPJ 50059866000146 · Juros/amortização · Cronograma fechado não identificado; modelo de apêndice não preenchido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  <a:p>
            <a:r>
              <a:t>CNPJ 50059866000146 · Vencimento · Última amortização conforme apêndice; vencimento civil não localizado · data/raw/50059866000146/1337370_documentary_review.pdf | Fundos.NET ID 1337370 | 01/10/2026 | regulamento | p. 69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Administração · Faixas 0,30%/0,20%/0,10% a.a. PL (R$ 150/R$ 300 mi); mínimo R$ 20 mil/mês · data/raw/50059866000146/1337370_documentary_review.pdf | Fundos.NET ID 1337370 | 01/10/2026 | regulamento | p. 32 · Observação: Confirmar aplicação de faixas; o texto não individualiza regra marginal. Reajuste IPCA positivo; R$ 770/h por assembleia (p.33).</a:t>
            </a:r>
          </a:p>
          <a:p>
            <a:r>
              <a:t>CNPJ 50059866000146 · Gestão · Faixas 0,21%/0,25%/0,30% a.a. PL (R$ 150/R$ 300 mi); mínimo R$ 10 mil/mês · data/raw/50059866000146/1337370_documentary_review.pdf | Fundos.NET ID 1337370 | 01/10/2026 | regulamento | p. 33 · Observação: Comissão inicial R$ 50 mil; reajuste IPCA positivo; não inferir aplicação marginal das faixas.</a:t>
            </a:r>
          </a:p>
          <a:p>
            <a:r>
              <a:t>CNPJ 50059866000146 · Custódia · VERT DTVM; taxa separada não individualizada nas cláusulas de remuneração · data/raw/50059866000146/1337370_documentary_review.pdf | Fundos.NET ID 1337370 | 01/10/2026 | regulamento | p. 31-33 · Observação: Regra da versão citada; leitura dirigida. Validar documento vigente e controles por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2026-10-07T16:56:22-03:00</a:t>
            </a:r>
          </a:p>
          <a:p>
            <a:r>
              <a:t>Pagaleve: CNPJ 50059866000146</a:t>
            </a:r>
          </a:p>
          <a:p>
            <a:r>
              <a:t>Fontes:</a:t>
            </a:r>
          </a:p>
          <a:p>
            <a:r>
              <a:t>CNPJ 50059866000146 · Alocação/subordinação IME · DC/PL e composição de cotas ajudam; validar numerador, denominador e versão contratual · data/raw/50059866000146/1337370_documentary_review.pdf | Fundos.NET ID 1337370 | 01/10/2026; data/raw/50059866000146/1337278_documentary_review.pdf | Fundos.NET ID 1337278 | 23/09/2026 15:00; data/raw/50059866000146/909370_documentary_review.pdf | Fundos.NET ID 909370 | 21/05/2025 · Observação: Proxy metodológica. FIC investe em cotas: não usar DC/PL como substituto da alocação em fundos-alvo. Nenhum saldo observado nesta revisão documental.</a:t>
            </a:r>
          </a:p>
          <a:p>
            <a:r>
              <a:t>CNPJ 50059866000146 · Inadimplência/PDD IME · Over e PDD agregados são alertas; fórmulas contratuais exigem validação · data/raw/50059866000146/1337370_documentary_review.pdf | Fundos.NET ID 1337370 | 01/10/2026; data/raw/50059866000146/1337278_documentary_review.pdf | Fundos.NET ID 1337278 | 23/09/2026 15:00; data/raw/50059866000146/909370_documentary_review.pdf | Fundos.NET ID 909370 | 21/05/2025 · Observação: Não reproduzem médias móveis, coortes, exposição individual, motivo de recompra, chargeback e perdas históricas sem dados adicionais.</a:t>
            </a:r>
          </a:p>
          <a:p>
            <a:r>
              <a:t>CNPJ 50059866000146 · Controles documentais · Elegibilidade, concentração, lastro e eventos exigem controles por contrato · data/raw/50059866000146/1337370_documentary_review.pdf | Fundos.NET ID 1337370 | 01/10/2026; data/raw/50059866000146/1337278_documentary_review.pdf | Fundos.NET ID 1337278 | 23/09/2026 15:00; data/raw/50059866000146/909370_documentary_review.pdf | Fundos.NET ID 909370 | 21/05/2025 · Observação: IME público agregado não certifica devedor/cedente/grupo nem alterações de prestadores e cross default.</a:t>
            </a:r>
          </a:p>
          <a:p>
            <a:r>
              <a:t>CNPJ 50059866000146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  <a:p>
            <a:r>
              <a:t>CNPJ 50059866000146 · Troca de prestadores · Limine/Kanastra substituídas por VERT DTVM/VERT Gestora a partir de 01/10/2026 · data/raw/50059866000146/1337278_documentary_review.pdf | Fundos.NET ID 1337278 | 23/09/2026 15:00 | assembleia | p. 1-2 · Observação: AGE 23/09/2026; eficácia condicionada ao integral cumprimento dos procedimentos de transferência. Controle documental, não observável pelo IME agregado.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Pagaleve FIDC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Pagamentos parcelados no Sistema Pagaleve; créditos Pagaleve, Bancarizador e antecipação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Cedentes Pagaleve, Bancarizador ou estabelecimentos, conforme modalidade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Pagaleve/Bancarizador: PF adulta; antecipação liquidada pela Pagaleve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Garantias do crédito conforme instrumento; sem garantia dos prestadores/FGC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Crédito adimplente, em reais; PF ≥18 anos; prazos 50 dias Pagaleve e 370 dias demais modalidades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Top10/Top100 devedores: 2%/5% PL; antecipação ≤20% carteira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Pagaleve FIDC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18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Júnior/PL ≥15,79%; amortização extraordinária condicionada a júnior &gt;20%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Pagaleve: média ponderada de 4 meses &gt;6%, ou índice &gt;8% em 2 de 4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Encargos/operacionalização e remuneração sênior por 3 meses; amortização: 1% da próxima estimativa,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limitada a R$ 250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Exclusivamente proteção; sem contraparte central, gestor/relacionadas ≤20%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PCLD por atraso: 2,5% em dia; 10% até 15 dias; 40% até 30; 60% até 90; 90% até 120; write-off &gt;120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Pagaleve FIDC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4688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≥67% após 180 dias de operação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de novos créditos prevista na ordem de alocação; suspensa em evento de avaliação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Duração indeterminada; qualificados na classe; oferta-modelo sênior para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Vício/elegibilidade e média 3 meses de atraso &gt;30 dias líquida de PCLD &gt;4% PL exigem recompra em 5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Aquisição com ou sem coobrigação; existência é responsabilidade do cedente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Encargos/derivativos; reservas; remuneração e principal sênior; extraordinária júnior;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reinvestimento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Pagaleve FIDC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Seniores por série e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Encerramento declara R$ 40 milhões/40 mil cotas; VNU R$ 1 incompatível com esse volume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2ª série sênior, 1ª emissão; encerramento em 21/05/2025; profissionais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Pagaleve FIDC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Última amortização conforme apêndice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Pagaleve FIDC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0,30%/0,20%/0,10% a.a. PL (R$ 150/R$ 300 mi); mínimo R$ 20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Faixas 0,21%/0,25%/0,30% a.a. PL (R$ 150/R$ 300 mi); mínimo R$ 10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VERT DTVM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Pagaleve FIDC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Pagaleve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Troca de prestadores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Limine/Kanastra substituídas por VERT DTVM/VERT Gestora a partir de 01/10/2026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