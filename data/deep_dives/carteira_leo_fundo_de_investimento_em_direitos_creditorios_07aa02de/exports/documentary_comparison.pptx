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2026-10-07T16:29:10-03:00</a:t>
            </a:r>
          </a:p>
          <a:p>
            <a:r>
              <a:t>LEO MADEIRAS: CNPJ 50857998000113</a:t>
            </a:r>
          </a:p>
          <a:p>
            <a:r>
              <a:t>Fontes:</a:t>
            </a:r>
          </a:p>
          <a:p>
            <a:r>
              <a:t>CNPJ 50857998000113 · Natureza dos recebíveis · Cartões à vista/parcelados dos clientes de marceneiros e entidades da Rede Leo · Fundos.NET ID 1338023 | 01/10/2026 | regulamento | p. 16,19; Definição Direitos Creditórios;3.2–3.5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Originador/endossante · Cedentes: marceneiros e entidades da Rede Leo · Fundos.NET ID 1338023 | 01/10/2026 | regulamento | p. 16,56; Definições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Devedor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Garantia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Elegibilidade · Prazo≤540 dias, média≤145; título≤R$ 1 mi e comprometimento≤99% do valor de face · Fundos.NET ID 1338023 | 01/10/2026 | regulamento | p. 22; 4.1;4.6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Concentração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2026-10-07T16:29:10-03:00</a:t>
            </a:r>
          </a:p>
          <a:p>
            <a:r>
              <a:t>LEO MADEIRAS: CNPJ 50857998000113</a:t>
            </a:r>
          </a:p>
          <a:p>
            <a:r>
              <a:t>Fontes:</a:t>
            </a:r>
          </a:p>
          <a:p>
            <a:r>
              <a:t>CNPJ 50857998000113 · Subordinação mínima · Subordinadas / PL≥10%; júnior / PL≥5% para mezanino · Fundos.NET ID 1338023 | 01/10/2026 | regulamento | p. 62; Definições Índices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Gatilhos de avaliação/liquidação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Reserva de caixa · 3 meses de despesas; próxima amortização constituída desdeD-30 · Fundos.NET ID 1338023 | 01/10/2026 | regulamento | p. 23–24; 5.2–5.3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Derivativos/hedge · Operações com derivativos vedadas · Fundos.NET ID 1338023 | 01/10/2026 | regulamento | p. 20; 3.15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PDD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2026-10-07T16:29:10-03:00</a:t>
            </a:r>
          </a:p>
          <a:p>
            <a:r>
              <a:t>LEO MADEIRAS: CNPJ 50857998000113</a:t>
            </a:r>
          </a:p>
          <a:p>
            <a:r>
              <a:t>Fontes:</a:t>
            </a:r>
          </a:p>
          <a:p>
            <a:r>
              <a:t>CNPJ 50857998000113 · Alocação mínima · DC≥67% PL após 180 dias; adicional≥80% PL após 120 dias, cura 90 dias para novo aporte · Fundos.NET ID 1338023 | 01/10/2026 | regulamento | p. 20; 3.9–3.10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Pool/revolvência · Revolvência permitida conforme ordem de alocação · Fundos.NET ID 1338023 | 01/10/2026 | regulamento | p. 20; 3.11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Duração/público-alvo · Classe fechada, indeterminada; investidores profissionais · Fundos.NET ID 1338023 | 01/10/2026 | regulamento | p. 18–19; 2.9–2.14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Cessão/recompra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Coobrigação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Waterfall · Encargos; despesas; sênior; mezanino; reserva de amortização; júnior · Fundos.NET ID 1338023 | 01/10/2026 | regulamento | p. 23; 5.1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2026-10-07T16:29:10-03:00</a:t>
            </a:r>
          </a:p>
          <a:p>
            <a:r>
              <a:t>LEO MADEIRAS: CNPJ 50857998000113</a:t>
            </a:r>
          </a:p>
          <a:p>
            <a:r>
              <a:t>Fontes:</a:t>
            </a:r>
          </a:p>
          <a:p>
            <a:r>
              <a:t>CNPJ 50857998000113 · Classes/séries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Remuneração · Spread final não localizado; benchmark remetido ao apêndice de cada série · Fundos.NET ID 1338023 | 01/10/2026 | regulamento | p. 37; 9.11(vii)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Volume/VNU · 3ª sênior: R$ 60 mi;60 mil cotas; VNU R$ 1 mil · Fundos.NET ID 1076194 | 05/01/2026 | emissao | p. 1–2; Anúncio encerramento | data/raw/50857998000113/1076194_emissao_review_20261007.pdf | https://fnet.bmfbovespa.com.br/fnet/publico/visualizarDocumento?id=1076194 · Observação: Regra da versão indicada; resumo sujeito às condições completas da cláusula. IME agregado não comprova elegibilidade individual.</a:t>
            </a:r>
          </a:p>
          <a:p>
            <a:r>
              <a:t>CNPJ 50857998000113 · Ofertas · 3ª sênior: registro 24/10/2025; anúncio encerramento 05/01/2026; garantia firme · Fundos.NET ID 1076194 | 05/01/2026 | emissao | p. 1–3; Anúncio encerramento | data/raw/50857998000113/1076194_emissao_review_20261007.pdf | https://fnet.bmfbovespa.com.br/fnet/publico/visualizarDocumento?id=1076194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2026-10-07T16:29:10-03:00</a:t>
            </a:r>
          </a:p>
          <a:p>
            <a:r>
              <a:t>LEO MADEIRAS: CNPJ 50857998000113</a:t>
            </a:r>
          </a:p>
          <a:p>
            <a:r>
              <a:t>Fontes:</a:t>
            </a:r>
          </a:p>
          <a:p>
            <a:r>
              <a:t>CNPJ 50857998000113 · Carência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Juros/amortização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  <a:p>
            <a:r>
              <a:t>CNPJ 50857998000113 · Vencimento · Não localizado nas fontes acessíveis desta leitura · data/raw/50857998000113/access_status_20261007.txt | Consulta Fundos.NET por CNPJ 50857998000113 em 07/10/2026; inventário completo com 87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2026-10-07T16:29:10-03:00</a:t>
            </a:r>
          </a:p>
          <a:p>
            <a:r>
              <a:t>LEO MADEIRAS: CNPJ 50857998000113</a:t>
            </a:r>
          </a:p>
          <a:p>
            <a:r>
              <a:t>Fontes:</a:t>
            </a:r>
          </a:p>
          <a:p>
            <a:r>
              <a:t>CNPJ 50857998000113 · Administração · Faixas marginais 0,17%/0,15%/0,13%/0,09% a.a. PL (300/650/1.000 mi); mínimo R$ 30 mil/mês · Fundos.NET ID 1338023 | 01/10/2026 | regulamento | p. 35; 7.1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Gestão · 10% da taxa de administração, limitada a R$ 4 mil/mês; já incluída · Fundos.NET ID 1338023 | 01/10/2026 | regulamento | p. 35; 7.3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  <a:p>
            <a:r>
              <a:t>CNPJ 50857998000113 · Custódia · 0,02% a.a. PL, mínimo R$ 5 mil/mês +R$ 4 mil/mês de lastro · Fundos.NET ID 1338023 | 01/10/2026 | regulamento | p. 35; 7.4 | data/raw/50857998000113/1338023_regulamento_review_20261007.pdf | https://fnet.bmfbovespa.com.br/fnet/publico/visualizarDocumento?id=1338023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2026-10-07T16:29:10-03:00</a:t>
            </a:r>
          </a:p>
          <a:p>
            <a:r>
              <a:t>LEO MADEIRAS: CNPJ 50857998000113</a:t>
            </a:r>
          </a:p>
          <a:p>
            <a:r>
              <a:t>Fontes:</a:t>
            </a:r>
          </a:p>
          <a:p>
            <a:r>
              <a:t>CNPJ 50857998000113 · Alocação/subordinação IME · Direitos creditórios / PL e cotas subordinadas / PL; validar ativo elegível, subclasses e fórmula contratual · data/raw/50857998000113/access_status_20261007.txt | Consulta Fundos.NET por CNPJ 50857998000113 em 07/10/2026; inventário completo com 87 registros · Observação: Avaliação metodológica do IME público; dados de cache e monitoramento ao vivo são apresentados separadamente.</a:t>
            </a:r>
          </a:p>
          <a:p>
            <a:r>
              <a:t>CNPJ 50857998000113 · Inadimplência/PDD IME · Over 30/60/90 e PDD / crédito: indicadores agregados; gatilhos dependem de denominador e janela contratual · data/raw/50857998000113/access_status_20261007.txt | Consulta Fundos.NET por CNPJ 50857998000113 em 07/10/2026; inventário completo com 87 registros · Observação: Avaliação metodológica do IME público; dados de cache e monitoramento ao vivo são apresentados separadamente.</a:t>
            </a:r>
          </a:p>
          <a:p>
            <a:r>
              <a:t>CNPJ 50857998000113 · Controles documentais · Elegibilidade, concentração por devedor/grupo, lastro, prestadores e eventos: validação documental e operacional · data/raw/50857998000113/access_status_20261007.txt | Consulta Fundos.NET por CNPJ 50857998000113 em 07/10/2026; inventário completo com 87 registros · Observação: Avaliação metodológica do IME público; dados de cache e monitoramento ao vivo são apresentados separadamente.</a:t>
            </a:r>
          </a:p>
          <a:p>
            <a:r>
              <a:t>CNPJ 50857998000113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LEO FUNDO DE INVESTIMENTO EM DIREITOS CREDITORIOS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LEO MADEIRAS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Cartões à vista/parcelados dos clientes de marceneiros e entidades da Rede Leo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Cedentes: marceneiros e entidades da Rede Leo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Prazo≤540 dias, média≤145; título≤R$ 1 mi e comprometimento≤99% do valor de face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LEO FUNDO DE INVESTIMENTO EM DIREITOS CREDITORIOS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LEO MADEIRAS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PL≥10%; júnior / PL≥5% para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despesas; próxima amortização constituída desdeD-30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LEO FUNDO DE INVESTIMENTO EM DIREITOS CREDITORIOS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LEO MADEIRAS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DC≥67% PL após 180 dias; adicional≥80% PL após 120 dias, cura 90 dias para novo aporte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permitida conforme ordem de alocação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indeterminada; investidores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Encargos; despesas; sênior; mezanino; reserva de amortização;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LEO FUNDO DE INVESTIMENTO EM DIREITOS CREDITORIOS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LEO MADEIRAS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R$ 60 mi;60 mil cotas;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sênior: registro 24/10/2025; anúncio encerramento 05/01/2026; garantia firme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LEO FUNDO DE INVESTIMENTO EM DIREITOS CREDITORIOS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LEO MADEIRAS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LEO FUNDO DE INVESTIMENTO EM DIREITOS CREDITORIOS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LEO MADEIRAS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0,17%/0,15%/0,13%/0,09% a.a. PL (300/650/1.000 mi); mínimo R$ 30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da taxa de administração, limitada a R$ 4 mil/mês; já incluída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 PL, mínimo R$ 5 mil/mês +R$ 4 mil/mês de lastro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>
                <a:solidFill>
                  <a:srgbClr val="EC7000"/>
                </a:solidFill>
                <a:latin typeface="Calibri"/>
              </a:rPr>
              <a:t>Curadoria LEO FUNDO DE INVESTIMENTO EM DIREITOS CREDITORIOS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LEO MADEIRAS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