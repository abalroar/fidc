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Natureza dos recebíveis · Crédito estudantil para matrículas e semestralidades; empréstimos/financiamentos e programas elegíveis. · Fundos.NET ID 784311; referência 18/11/2024; data/raw/08417544000165/784311_regulamento_cache_integral.txt; direitos creditórios; contratos de empréstimo e definições;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Natureza dos recebíveis · Crédito estudantil para matrículas e semestralidades; empréstimos/financiamentos e programas elegíveis. · Fundos.NET ID 1149324; referência 26/03/2026; data/raw/55983705000168/1149324_regulamento_cache_integral.txt; direitos creditórios; contratos de empréstimo e definições;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Natureza dos recebíveis · Crédito estudantil para matrículas e semestralidades; empréstimos/financiamentos e programas elegíveis. · Fundos.NET ID 1203913; referência 25/05/2026; data/raw/34408539000104/1203913_regulamento_cache_integral.txt; direitos creditórios; contratos de empréstimo e definições;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Originador/endossante · Cedentes bancos/instituições financeiras e instituições de ensino, conforme contrato; Pravaler presta gestão/originação operacional. · Fundos.NET ID 784311; referência 18/11/2024; data/raw/08417544000165/784311_regulamento_cache_integral.txt; definições de Cedentes; capítulo Direitos Creditórios; https://fnet.bmfbovespa.com.br/fnet/publico/exibirDocumento?id=784311&amp;cvm=true · Observação: Não atribuir toda cessão à Pravaler sem identificar o cedente econômico e jurídico.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55983705000168 · Originador/endossante · Cedentes bancos/instituições financeiras e instituições de ensino, conforme contrato; Pravaler presta gestão/originação operacional. · Fundos.NET ID 1149324; referência 26/03/2026; data/raw/55983705000168/1149324_regulamento_cache_integral.txt; definições de Cedentes; capítulo Direitos Creditórios; https://fnet.bmfbovespa.com.br/fnet/publico/exibirDocumento?id=1149324&amp;cvm=true · Observação: Não atribuir toda cessão à Pravaler sem identificar o cedente econômico e jurídico.</a:t>
            </a:r>
          </a:p>
          <a:p>
            <a:r>
              <a:t>CNPJ 34408539000104 · Originador/endossante · Cedentes bancos/instituições financeiras e instituições de ensino, conforme contrato; Pravaler presta gestão/originação operacional. · Fundos.NET ID 1203913; referência 25/05/2026; data/raw/34408539000104/1203913_regulamento_cache_integral.txt; definições de Cedentes; capítulo Direitos Creditórios; https://fnet.bmfbovespa.com.br/fnet/publico/exibirDocumento?id=1203913&amp;cvm=true · Observação: Não atribuir toda cessão à Pravaler sem identificar o cedente econômico e jurídico.</a:t>
            </a:r>
          </a:p>
          <a:p>
            <a:r>
              <a:t>CNPJ 08417544000165 · Devedor · Alunos ou representantes, com devedor solidário nos contratos sujeitos à condição contratual. · Fundos.NET ID 784311; referência 18/11/2024; data/raw/08417544000165/784311_regulamento_cache_integral.txt; Direitos Creditórios e Condições de Cessão;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Devedor · Alunos ou representantes, com devedor solidário nos contratos sujeitos à condição contratual. · Fundos.NET ID 1149324; referência 26/03/2026; data/raw/55983705000168/1149324_regulamento_cache_integral.txt; Direitos Creditórios e Condições de Cessão;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Devedor · Alunos ou representantes, com devedor solidário nos contratos sujeitos à condição contratual. · Fundos.NET ID 1203913; referência 25/05/2026; data/raw/34408539000104/1203913_regulamento_cache_integral.txt; Direitos Creditórios e Condições de Cessão;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Garantia · Garantias contratuais e devedores solidários; garantia real uniforme não demonstrada. · Fundos.NET ID 784311; referência 18/11/2024; data/raw/08417544000165/784311_regulamento_cache_integral.txt; Direitos Creditórios; Condições de Cessão; https://fnet.bmfbovespa.com.br/fnet/publico/exibirDocumento?id=784311&amp;cvm=true · Observação: O valor de recuperação depende do contrato e da cobrança; não presumir alienação fiduciária de bens.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55983705000168 · Garantia · Garantias contratuais e devedores solidários; garantia real uniforme não demonstrada. · Fundos.NET ID 1149324; referência 26/03/2026; data/raw/55983705000168/1149324_regulamento_cache_integral.txt; Direitos Creditórios; Condições de Cessão; https://fnet.bmfbovespa.com.br/fnet/publico/exibirDocumento?id=1149324&amp;cvm=true · Observação: O valor de recuperação depende do contrato e da cobrança; não presumir alienação fiduciária de bens.</a:t>
            </a:r>
          </a:p>
          <a:p>
            <a:r>
              <a:t>CNPJ 34408539000104 · Garantia · Garantias contratuais e devedores solidários; garantia real uniforme não demonstrada. · Fundos.NET ID 1203913; referência 25/05/2026; data/raw/34408539000104/1203913_regulamento_cache_integral.txt; Direitos Creditórios; Condições de Cessão; https://fnet.bmfbovespa.com.br/fnet/publico/exibirDocumento?id=1203913&amp;cvm=true · Observação: O valor de recuperação depende do contrato e da cobrança; não presumir alienação fiduciária de bens.</a:t>
            </a:r>
          </a:p>
          <a:p>
            <a:r>
              <a:t>CNPJ 08417544000165 · Elegibilidade · Crédito vincendo e validação de contratos/lastro na cessão; regras especiais por etapa e espécie. · Fundos.NET ID 784311; referência 18/11/2024; data/raw/08417544000165/784311_regulamento_cache_integral.txt; Critérios de Elegibilidade e Condições de Cessão; https://fnet.bmfbovespa.com.br/fnet/publico/exibirDocumento?id=784311&amp;cvm=true · Observação: Aquisição na cessão não garante manutenção posterior dos critérios; renegociações e substituições dependem de regras específicas.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55983705000168 · Elegibilidade · Primeiras duas cessões admitem até 20% vencidos (valor presente); cessões seguintes têm critérios próprios. · Fundos.NET ID 1149324; referência 26/03/2026; data/raw/55983705000168/1149324_regulamento_cache_integral.txt; 12.1(a–b); https://fnet.bmfbovespa.com.br/fnet/publico/exibirDocumento?id=1149324&amp;cvm=true · Observação: Não qualificar todo o fundo como exclusivamente adimplente; teto aplica-se somente às duas primeiras datas.</a:t>
            </a:r>
          </a:p>
          <a:p>
            <a:r>
              <a:t>CNPJ 34408539000104 · Elegibilidade · Crédito vincendo e validação de contratos/lastro na cessão; regras especiais por etapa e espécie. · Fundos.NET ID 1203913; referência 25/05/2026; data/raw/34408539000104/1203913_regulamento_cache_integral.txt; Critérios de Elegibilidade e Condições de Cessão; https://fnet.bmfbovespa.com.br/fnet/publico/exibirDocumento?id=1203913&amp;cvm=true · Observação: Aquisição na cessão não garante manutenção posterior dos critérios; renegociações e substituições dependem de regras específicas.</a:t>
            </a:r>
          </a:p>
          <a:p>
            <a:r>
              <a:t>CNPJ 08417544000165 · Concentração · Limites por devedor/coobrigado e tipo de crédito exigem consulta individual; IME agregado não valida concentração. · Fundos.NET ID 784311; referência 18/11/2024; data/raw/08417544000165/784311_regulamento_cache_integral.txt; política de investimento e composição/diversificação; https://fnet.bmfbovespa.com.br/fnet/publico/exibirDocumento?id=784311&amp;cvm=true · Observação: Tetos específicos não transcritos sem reconciliar anexos; lacuna desta revisão.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55983705000168 · Concentração · Mesmo devedor/coobrigado até 20%/PL, sujeito às demais condições de cessão. · Fundos.NET ID 1149324; referência 26/03/2026; data/raw/55983705000168/1149324_regulamento_cache_integral.txt; 10.4 / limites de composição; https://fnet.bmfbovespa.com.br/fnet/publico/exibirDocumento?id=1149324&amp;cvm=true · Observação: Monitoramento precisa da carteira individual; IME público não valida o limite.</a:t>
            </a:r>
          </a:p>
          <a:p>
            <a:r>
              <a:t>CNPJ 34408539000104 · Concentração · Limites por devedor/coobrigado e tipo de crédito exigem consulta individual; IME agregado não valida concentração. · Fundos.NET ID 1203913; referência 25/05/2026; data/raw/34408539000104/1203913_regulamento_cache_integral.txt; política de investimento e composição/diversificação; https://fnet.bmfbovespa.com.br/fnet/publico/exibirDocumento?id=1203913&amp;cvm=true · Observação: Tetos específicos não transcritos sem reconciliar anexos; lacuna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Natureza dos recebíveis · Crédito estudantil para matrículas e semestralidades; empréstimos/financiamentos e programas elegíveis. · Fundos.NET ID 784311; referência 18/11/2024; data/raw/08417544000165/784311_regulamento_cache_integral.txt; direitos creditórios; contratos de empréstimo e definições;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Natureza dos recebíveis · Crédito estudantil para matrículas e semestralidades; empréstimos/financiamentos e programas elegíveis. · Fundos.NET ID 1061833; referência 19/11/2025; data/raw/26749095000134/1061833_regulamento_cache_integral.txt; direitos creditórios; contratos de empréstimo e definições;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Natureza dos recebíveis · Crédito estudantil para matrículas e semestralidades; empréstimos/financiamentos e programas elegíveis. · Fundos.NET ID 1149324; referência 26/03/2026; data/raw/55983705000168/1149324_regulamento_cache_integral.txt; direitos creditórios; contratos de empréstimo e definições;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Natureza dos recebíveis · Crédito estudantil para matrículas e semestralidades; empréstimos/financiamentos e programas elegíveis. · Fundos.NET ID 1203913; referência 25/05/2026; data/raw/34408539000104/1203913_regulamento_cache_integral.txt; direitos creditórios; contratos de empréstimo e definições;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Originador/endossante · Cedentes bancos/instituições financeiras e instituições de ensino, conforme contrato; Pravaler presta gestão/originação operacional. · Fundos.NET ID 784311; referência 18/11/2024; data/raw/08417544000165/784311_regulamento_cache_integral.txt; definições de Cedentes; capítulo Direitos Creditórios; https://fnet.bmfbovespa.com.br/fnet/publico/exibirDocumento?id=784311&amp;cvm=true · Observação: Não atribuir toda cessão à Pravaler sem identificar o cedente econômico e jurídico.</a:t>
            </a:r>
          </a:p>
          <a:p>
            <a:r>
              <a:t>CNPJ 26749095000134 · Originador/endossante · Cedentes bancos/instituições financeiras e instituições de ensino, conforme contrato; Pravaler presta gestão/originação operacional. · Fundos.NET ID 1061833; referência 19/11/2025; data/raw/26749095000134/1061833_regulamento_cache_integral.txt; definições de Cedentes; capítulo Direitos Creditórios; https://fnet.bmfbovespa.com.br/fnet/publico/exibirDocumento?id=1061833&amp;cvm=true · Observação: Não atribuir toda cessão à Pravaler sem identificar o cedente econômico e jurídico.</a:t>
            </a:r>
          </a:p>
          <a:p>
            <a:r>
              <a:t>CNPJ 55983705000168 · Originador/endossante · Cedentes bancos/instituições financeiras e instituições de ensino, conforme contrato; Pravaler presta gestão/originação operacional. · Fundos.NET ID 1149324; referência 26/03/2026; data/raw/55983705000168/1149324_regulamento_cache_integral.txt; definições de Cedentes; capítulo Direitos Creditórios; https://fnet.bmfbovespa.com.br/fnet/publico/exibirDocumento?id=1149324&amp;cvm=true · Observação: Não atribuir toda cessão à Pravaler sem identificar o cedente econômico e jurídico.</a:t>
            </a:r>
          </a:p>
          <a:p>
            <a:r>
              <a:t>CNPJ 34408539000104 · Originador/endossante · Cedentes bancos/instituições financeiras e instituições de ensino, conforme contrato; Pravaler presta gestão/originação operacional. · Fundos.NET ID 1203913; referência 25/05/2026; data/raw/34408539000104/1203913_regulamento_cache_integral.txt; definições de Cedentes; capítulo Direitos Creditórios; https://fnet.bmfbovespa.com.br/fnet/publico/exibirDocumento?id=1203913&amp;cvm=true · Observação: Não atribuir toda cessão à Pravaler sem identificar o cedente econômico e jurídico.</a:t>
            </a:r>
          </a:p>
          <a:p>
            <a:r>
              <a:t>CNPJ 08417544000165 · Devedor · Alunos ou representantes, com devedor solidário nos contratos sujeitos à condição contratual. · Fundos.NET ID 784311; referência 18/11/2024; data/raw/08417544000165/784311_regulamento_cache_integral.txt; Direitos Creditórios e Condições de Cessão;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Devedor · Alunos ou representantes, com devedor solidário nos contratos sujeitos à condição contratual. · Fundos.NET ID 1061833; referência 19/11/2025; data/raw/26749095000134/1061833_regulamento_cache_integral.txt; Direitos Creditórios e Condições de Cessão;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Devedor · Alunos ou representantes, com devedor solidário nos contratos sujeitos à condição contratual. · Fundos.NET ID 1149324; referência 26/03/2026; data/raw/55983705000168/1149324_regulamento_cache_integral.txt; Direitos Creditórios e Condições de Cessão;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Devedor · Alunos ou representantes, com devedor solidário nos contratos sujeitos à condição contratual. · Fundos.NET ID 1203913; referência 25/05/2026; data/raw/34408539000104/1203913_regulamento_cache_integral.txt; Direitos Creditórios e Condições de Cessão;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Garantia · Garantias contratuais e devedores solidários; garantia real uniforme não demonstrada. · Fundos.NET ID 784311; referência 18/11/2024; data/raw/08417544000165/784311_regulamento_cache_integral.txt; Direitos Creditórios; Condições de Cessão; https://fnet.bmfbovespa.com.br/fnet/publico/exibirDocumento?id=784311&amp;cvm=true · Observação: O valor de recuperação depende do contrato e da cobrança; não presumir alienação fiduciária de bens.</a:t>
            </a:r>
          </a:p>
          <a:p>
            <a:r>
              <a:t>CNPJ 26749095000134 · Garantia · Garantias contratuais e devedores solidários; garantia real uniforme não demonstrada. · Fundos.NET ID 1061833; referência 19/11/2025; data/raw/26749095000134/1061833_regulamento_cache_integral.txt; Direitos Creditórios; Condições de Cessão; https://fnet.bmfbovespa.com.br/fnet/publico/exibirDocumento?id=1061833&amp;cvm=true · Observação: O valor de recuperação depende do contrato e da cobrança; não presumir alienação fiduciária de bens.</a:t>
            </a:r>
          </a:p>
          <a:p>
            <a:r>
              <a:t>CNPJ 55983705000168 · Garantia · Garantias contratuais e devedores solidários; garantia real uniforme não demonstrada. · Fundos.NET ID 1149324; referência 26/03/2026; data/raw/55983705000168/1149324_regulamento_cache_integral.txt; Direitos Creditórios; Condições de Cessão; https://fnet.bmfbovespa.com.br/fnet/publico/exibirDocumento?id=1149324&amp;cvm=true · Observação: O valor de recuperação depende do contrato e da cobrança; não presumir alienação fiduciária de bens.</a:t>
            </a:r>
          </a:p>
          <a:p>
            <a:r>
              <a:t>CNPJ 34408539000104 · Garantia · Garantias contratuais e devedores solidários; garantia real uniforme não demonstrada. · Fundos.NET ID 1203913; referência 25/05/2026; data/raw/34408539000104/1203913_regulamento_cache_integral.txt; Direitos Creditórios; Condições de Cessão; https://fnet.bmfbovespa.com.br/fnet/publico/exibirDocumento?id=1203913&amp;cvm=true · Observação: O valor de recuperação depende do contrato e da cobrança; não presumir alienação fiduciária de bens.</a:t>
            </a:r>
          </a:p>
          <a:p>
            <a:r>
              <a:t>CNPJ 08417544000165 · Elegibilidade · Crédito vincendo e validação de contratos/lastro na cessão; regras especiais por etapa e espécie. · Fundos.NET ID 784311; referência 18/11/2024; data/raw/08417544000165/784311_regulamento_cache_integral.txt; Critérios de Elegibilidade e Condições de Cessão; https://fnet.bmfbovespa.com.br/fnet/publico/exibirDocumento?id=784311&amp;cvm=true · Observação: Aquisição na cessão não garante manutenção posterior dos critérios; renegociações e substituições dependem de regras específicas.</a:t>
            </a:r>
          </a:p>
          <a:p>
            <a:r>
              <a:t>CNPJ 26749095000134 · Elegibilidade · Crédito vincendo e validação de contratos/lastro na cessão; regras especiais por etapa e espécie. · Fundos.NET ID 1061833; referência 19/11/2025; data/raw/26749095000134/1061833_regulamento_cache_integral.txt; Critérios de Elegibilidade e Condições de Cessão; https://fnet.bmfbovespa.com.br/fnet/publico/exibirDocumento?id=1061833&amp;cvm=true · Observação: Aquisição na cessão não garante manutenção posterior dos critérios; renegociações e substituições dependem de regras específicas.</a:t>
            </a:r>
          </a:p>
          <a:p>
            <a:r>
              <a:t>CNPJ 55983705000168 · Elegibilidade · Primeiras duas cessões admitem até 20% vencidos (valor presente); cessões seguintes têm critérios próprios. · Fundos.NET ID 1149324; referência 26/03/2026; data/raw/55983705000168/1149324_regulamento_cache_integral.txt; 12.1(a–b); https://fnet.bmfbovespa.com.br/fnet/publico/exibirDocumento?id=1149324&amp;cvm=true · Observação: Não qualificar todo o fundo como exclusivamente adimplente; teto aplica-se somente às duas primeiras datas.</a:t>
            </a:r>
          </a:p>
          <a:p>
            <a:r>
              <a:t>CNPJ 34408539000104 · Elegibilidade · Crédito vincendo e validação de contratos/lastro na cessão; regras especiais por etapa e espécie. · Fundos.NET ID 1203913; referência 25/05/2026; data/raw/34408539000104/1203913_regulamento_cache_integral.txt; Critérios de Elegibilidade e Condições de Cessão; https://fnet.bmfbovespa.com.br/fnet/publico/exibirDocumento?id=1203913&amp;cvm=true · Observação: Aquisição na cessão não garante manutenção posterior dos critérios; renegociações e substituições dependem de regras específicas.</a:t>
            </a:r>
          </a:p>
          <a:p>
            <a:r>
              <a:t>CNPJ 08417544000165 · Concentração · Limites por devedor/coobrigado e tipo de crédito exigem consulta individual; IME agregado não valida concentração. · Fundos.NET ID 784311; referência 18/11/2024; data/raw/08417544000165/784311_regulamento_cache_integral.txt; política de investimento e composição/diversificação; https://fnet.bmfbovespa.com.br/fnet/publico/exibirDocumento?id=784311&amp;cvm=true · Observação: Tetos específicos não transcritos sem reconciliar anexos; lacuna desta revisão.</a:t>
            </a:r>
          </a:p>
          <a:p>
            <a:r>
              <a:t>CNPJ 26749095000134 · Concentração · Limites por devedor/coobrigado e tipo de crédito exigem consulta individual; IME agregado não valida concentração. · Fundos.NET ID 1061833; referência 19/11/2025; data/raw/26749095000134/1061833_regulamento_cache_integral.txt; política de investimento e composição/diversificação; https://fnet.bmfbovespa.com.br/fnet/publico/exibirDocumento?id=1061833&amp;cvm=true · Observação: Tetos específicos não transcritos sem reconciliar anexos; lacuna desta revisão.</a:t>
            </a:r>
          </a:p>
          <a:p>
            <a:r>
              <a:t>CNPJ 55983705000168 · Concentração · Mesmo devedor/coobrigado até 20%/PL, sujeito às demais condições de cessão. · Fundos.NET ID 1149324; referência 26/03/2026; data/raw/55983705000168/1149324_regulamento_cache_integral.txt; 10.4 / limites de composição; https://fnet.bmfbovespa.com.br/fnet/publico/exibirDocumento?id=1149324&amp;cvm=true · Observação: Monitoramento precisa da carteira individual; IME público não valida o limite.</a:t>
            </a:r>
          </a:p>
          <a:p>
            <a:r>
              <a:t>CNPJ 34408539000104 · Concentração · Limites por devedor/coobrigado e tipo de crédito exigem consulta individual; IME agregado não valida concentração. · Fundos.NET ID 1203913; referência 25/05/2026; data/raw/34408539000104/1203913_regulamento_cache_integral.txt; política de investimento e composição/diversificação; https://fnet.bmfbovespa.com.br/fnet/publico/exibirDocumento?id=1203913&amp;cvm=true · Observação: Tetos específicos não transcritos sem reconciliar anexos; lacuna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Subordinação mínima · Relação de proteção contratual exige cálculo de ativos/obrigações e condições por emissão; percentual uniforme não confirmado. · Fundos.NET ID 784311; referência 18/11/2024; data/raw/08417544000165/784311_regulamento_cache_integral.txt; Relação Mínima / Índice de Subordinação / condições de integralização; https://fnet.bmfbovespa.com.br/fnet/publico/exibirDocumento?id=784311&amp;cvm=true · Observação: Retenção de 50% das cotas júnior pela gestora, quando prevista, é alinhamento de interesses, com denominador distinto de PL.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55983705000168 · Subordinação mínima · Relação de proteção contratual exige cálculo de ativos/obrigações e condições por emissão; percentual uniforme não confirmado. · Fundos.NET ID 1149324; referência 26/03/2026; data/raw/55983705000168/1149324_regulamento_cache_integral.txt; Relação Mínima / Índice de Subordinação / condições de integralização; https://fnet.bmfbovespa.com.br/fnet/publico/exibirDocumento?id=1149324&amp;cvm=true · Observação: Retenção de 50% das cotas júnior pela gestora, quando prevista, é alinhamento de interesses, com denominador distinto de PL.</a:t>
            </a:r>
          </a:p>
          <a:p>
            <a:r>
              <a:t>CNPJ 34408539000104 · Subordinação mínima · Subordinadas ≥10%/PL; júnior ≥6%/PL. · Fundos.NET ID 1203913; referência 25/05/2026; data/raw/34408539000104/1203913_regulamento_cache_integral.txt; definições Razão de Subordinação Sênior/Mezanino;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Gatilhos de avaliação/liquidação · Atrasos30/60/90/180: 14%/12%/10,5%/8%; recorrência em 2 datas consecutivas, 3/6 meses ou 4/12. · Fundos.NET ID 784311; referência 18/11/2024; data/raw/08417544000165/784311_regulamento_cache_integral.txt; 13.1(b) do Anexo Descritivo; https://fnet.bmfbovespa.com.br/fnet/publico/exibirDocumento?id=784311&amp;cvm=true · Observação: Índices com defasagem e fórmula própria; divergências de vintage devem ser reconciliadas com IME.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Gatilhos de avaliação/liquidação · Desenquadramentos, descumprimentos e eventos de prestadores; aquisição em desacordo com critérios &gt;5%/PL aparece como evento. · Fundos.NET ID 1149324; referência 26/03/2026; data/raw/55983705000168/1149324_regulamento_cache_integral.txt; capítulo 20, eventos; https://fnet.bmfbovespa.com.br/fnet/publico/exibirDocumento?id=1149324&amp;cvm=true · Observação: Limites de aging específicos não transcritos sem confirmar fórmula; não usar taxas de outros Pravaler.</a:t>
            </a:r>
          </a:p>
          <a:p>
            <a:r>
              <a:t>CNPJ 34408539000104 · Gatilhos de avaliação/liquidação · Atrasos30/60/90/180: 14%/12%/10,5%/8%; evento de avaliação aciona sequencial e assembleia. · Fundos.NET ID 1203913; referência 25/05/2026; data/raw/34408539000104/1203913_regulamento_cache_integral.txt; 26.2(o)/26.2.1;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Reserva de caixa · Despesas de 1 mês; reserva da próxima amortização de 100%; liquidez igual ao maior entre despesas+amortização e fluxo futuro. · Fundos.NET ID 784311; referência 18/11/2024; data/raw/08417544000165/784311_regulamento_cache_integral.txt; 8.6–8.9 do Anexo Descritivo;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Reserva de caixa · Despesas de 1 mês; próxima amortização de 100% até 5 DU antes; maior entre despesas+amortização e fluxo futuro. · Fundos.NET ID 1149324; referência 26/03/2026; data/raw/55983705000168/1149324_regulamento_cache_integral.txt; 15.6–15.9;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Reserva de caixa · 3 meses de despesas; reserva de alavancagem de 15% do Contas a Pagar, com divergência nominal/presente no documento. · Fundos.NET ID 1203913; referência 25/05/2026; data/raw/34408539000104/1203913_regulamento_cache_integral.txt; 17.9.5–17.9.6 e definições; https://fnet.bmfbovespa.com.br/fnet/publico/exibirDocumento?id=1203913&amp;cvm=true · Observação: Definição cita valor presente; cláusula 17.9.6 cita nominal. Requer reconciliação documental; não substituir uma base pela outra.</a:t>
            </a:r>
          </a:p>
          <a:p>
            <a:r>
              <a:t>CNPJ 08417544000165 · Derivativos/hedge · Finalidade de proteção de posições à vista; conformidade exige contrato/posição individual. · Fundos.NET ID 784311; referência 18/11/2024; data/raw/08417544000165/784311_regulamento_cache_integral.txt; política de investimento / riscos de instrumentos derivativos; https://fnet.bmfbovespa.com.br/fnet/publico/exibirDocumento?id=784311&amp;cvm=true · Observação: Não inferir hedge contratado da permissão regulatória.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55983705000168 · Derivativos/hedge · Finalidade de proteção de posições à vista; conformidade exige contrato/posição individual. · Fundos.NET ID 1149324; referência 26/03/2026; data/raw/55983705000168/1149324_regulamento_cache_integral.txt; política de investimento / riscos de instrumentos derivativos; https://fnet.bmfbovespa.com.br/fnet/publico/exibirDocumento?id=1149324&amp;cvm=true · Observação: Não inferir hedge contratado da permissão regulatória.</a:t>
            </a:r>
          </a:p>
          <a:p>
            <a:r>
              <a:t>CNPJ 34408539000104 · Derivativos/hedge · Finalidade de proteção de posições à vista; conformidade exige contrato/posição individual. · Fundos.NET ID 1203913; referência 25/05/2026; data/raw/34408539000104/1203913_regulamento_cache_integral.txt; política de investimento / riscos de instrumentos derivativos; https://fnet.bmfbovespa.com.br/fnet/publico/exibirDocumento?id=1203913&amp;cvm=true · Observação: Não inferir hedge contratado da permissão regulatória.</a:t>
            </a:r>
          </a:p>
          <a:p>
            <a:r>
              <a:t>CNPJ 08417544000165 · PDD · Renegociados mantêm provisionamento de inadimplência; exceção para atraso &lt;90 dias e fluxo sem novo inadimplemento. · Fundos.NET ID 784311; referência 18/11/2024; data/raw/08417544000165/784311_regulamento_cache_integral.txt; metodologia de avaliação dos ativos / provisões; https://fnet.bmfbovespa.com.br/fnet/publico/exibirDocumento?id=784311&amp;cvm=true · Observação: Não equivale a piso de PDD/PL; aging e PDD agregados são proxies parciais.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55983705000168 · PDD · Renegociados mantêm provisionamento de inadimplência; exceção para atraso &lt;90 dias e fluxo sem novo inadimplemento. · Fundos.NET ID 1149324; referência 26/03/2026; data/raw/55983705000168/1149324_regulamento_cache_integral.txt; metodologia de avaliação dos ativos / provisões; https://fnet.bmfbovespa.com.br/fnet/publico/exibirDocumento?id=1149324&amp;cvm=true · Observação: Não equivale a piso de PDD/PL; aging e PDD agregados são proxies parciais.</a:t>
            </a:r>
          </a:p>
          <a:p>
            <a:r>
              <a:t>CNPJ 34408539000104 · PDD · Renegociados mantêm provisionamento de inadimplência; exceção para atraso &lt;90 dias e fluxo sem novo inadimplemento. · Fundos.NET ID 1203913; referência 25/05/2026; data/raw/34408539000104/1203913_regulamento_cache_integral.txt; metodologia de avaliação dos ativos / provisões; https://fnet.bmfbovespa.com.br/fnet/publico/exibirDocumento?id=1203913&amp;cvm=true · Observação: Não equivale a piso de PDD/PL; aging e PDD agregados são proxies parciais.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Subordinação mínima · Relação de proteção contratual exige cálculo de ativos/obrigações e condições por emissão; percentual uniforme não confirmado. · Fundos.NET ID 784311; referência 18/11/2024; data/raw/08417544000165/784311_regulamento_cache_integral.txt; Relação Mínima / Índice de Subordinação / condições de integralização; https://fnet.bmfbovespa.com.br/fnet/publico/exibirDocumento?id=784311&amp;cvm=true · Observação: Retenção de 50% das cotas júnior pela gestora, quando prevista, é alinhamento de interesses, com denominador distinto de PL.</a:t>
            </a:r>
          </a:p>
          <a:p>
            <a:r>
              <a:t>CNPJ 26749095000134 · Subordinação mínima · Relação de proteção contratual exige cálculo de ativos/obrigações e condições por emissão; percentual uniforme não confirmado. · Fundos.NET ID 1061833; referência 19/11/2025; data/raw/26749095000134/1061833_regulamento_cache_integral.txt; Relação Mínima / Índice de Subordinação / condições de integralização; https://fnet.bmfbovespa.com.br/fnet/publico/exibirDocumento?id=1061833&amp;cvm=true · Observação: Retenção de 50% das cotas júnior pela gestora, quando prevista, é alinhamento de interesses, com denominador distinto de PL.</a:t>
            </a:r>
          </a:p>
          <a:p>
            <a:r>
              <a:t>CNPJ 55983705000168 · Subordinação mínima · Relação de proteção contratual exige cálculo de ativos/obrigações e condições por emissão; percentual uniforme não confirmado. · Fundos.NET ID 1149324; referência 26/03/2026; data/raw/55983705000168/1149324_regulamento_cache_integral.txt; Relação Mínima / Índice de Subordinação / condições de integralização; https://fnet.bmfbovespa.com.br/fnet/publico/exibirDocumento?id=1149324&amp;cvm=true · Observação: Retenção de 50% das cotas júnior pela gestora, quando prevista, é alinhamento de interesses, com denominador distinto de PL.</a:t>
            </a:r>
          </a:p>
          <a:p>
            <a:r>
              <a:t>CNPJ 34408539000104 · Subordinação mínima · Subordinadas ≥10%/PL; júnior ≥6%/PL. · Fundos.NET ID 1203913; referência 25/05/2026; data/raw/34408539000104/1203913_regulamento_cache_integral.txt; definições Razão de Subordinação Sênior/Mezanino;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Gatilhos de avaliação/liquidação · Atrasos30/60/90/180: 14%/12%/10,5%/8%; recorrência em 2 datas consecutivas, 3/6 meses ou 4/12. · Fundos.NET ID 784311; referência 18/11/2024; data/raw/08417544000165/784311_regulamento_cache_integral.txt; 13.1(b) do Anexo Descritivo; https://fnet.bmfbovespa.com.br/fnet/publico/exibirDocumento?id=784311&amp;cvm=true · Observação: Índices com defasagem e fórmula própria; divergências de vintage devem ser reconciliadas com IME.</a:t>
            </a:r>
          </a:p>
          <a:p>
            <a:r>
              <a:t>CNPJ 26749095000134 · Gatilhos de avaliação/liquidação · Atrasos30/60/90/180: 12%/10%/8,5%/6%; recorrência em 2 datas consecutivas, 3/6 meses ou 4/12. · Fundos.NET ID 1061833; referência 19/11/2025; data/raw/26749095000134/1061833_regulamento_cache_integral.txt; 13.1(b)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Gatilhos de avaliação/liquidação · Desenquadramentos, descumprimentos e eventos de prestadores; aquisição em desacordo com critérios &gt;5%/PL aparece como evento. · Fundos.NET ID 1149324; referência 26/03/2026; data/raw/55983705000168/1149324_regulamento_cache_integral.txt; capítulo 20, eventos; https://fnet.bmfbovespa.com.br/fnet/publico/exibirDocumento?id=1149324&amp;cvm=true · Observação: Limites de aging específicos não transcritos sem confirmar fórmula; não usar taxas de outros Pravaler.</a:t>
            </a:r>
          </a:p>
          <a:p>
            <a:r>
              <a:t>CNPJ 34408539000104 · Gatilhos de avaliação/liquidação · Atrasos30/60/90/180: 14%/12%/10,5%/8%; evento de avaliação aciona sequencial e assembleia. · Fundos.NET ID 1203913; referência 25/05/2026; data/raw/34408539000104/1203913_regulamento_cache_integral.txt; 26.2(o)/26.2.1;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Reserva de caixa · Despesas de 1 mês; reserva da próxima amortização de 100%; liquidez igual ao maior entre despesas+amortização e fluxo futuro. · Fundos.NET ID 784311; referência 18/11/2024; data/raw/08417544000165/784311_regulamento_cache_integral.txt; 8.6–8.9 do Anexo Descritivo;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Reserva de caixa · Despesas de 1 mês; 100% da próxima amortização até 5 DU antes; maior entre despesas+amortização e fluxo futuro. · Fundos.NET ID 1061833; referência 19/11/2025; data/raw/26749095000134/1061833_regulamento_cache_integral.txt; 8.6–8.9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Reserva de caixa · Despesas de 1 mês; próxima amortização de 100% até 5 DU antes; maior entre despesas+amortização e fluxo futuro. · Fundos.NET ID 1149324; referência 26/03/2026; data/raw/55983705000168/1149324_regulamento_cache_integral.txt; 15.6–15.9;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Reserva de caixa · 3 meses de despesas; reserva de alavancagem de 15% do Contas a Pagar, com divergência nominal/presente no documento. · Fundos.NET ID 1203913; referência 25/05/2026; data/raw/34408539000104/1203913_regulamento_cache_integral.txt; 17.9.5–17.9.6 e definições; https://fnet.bmfbovespa.com.br/fnet/publico/exibirDocumento?id=1203913&amp;cvm=true · Observação: Definição cita valor presente; cláusula 17.9.6 cita nominal. Requer reconciliação documental; não substituir uma base pela outra.</a:t>
            </a:r>
          </a:p>
          <a:p>
            <a:r>
              <a:t>CNPJ 08417544000165 · Derivativos/hedge · Finalidade de proteção de posições à vista; conformidade exige contrato/posição individual. · Fundos.NET ID 784311; referência 18/11/2024; data/raw/08417544000165/784311_regulamento_cache_integral.txt; política de investimento / riscos de instrumentos derivativos; https://fnet.bmfbovespa.com.br/fnet/publico/exibirDocumento?id=784311&amp;cvm=true · Observação: Não inferir hedge contratado da permissão regulatória.</a:t>
            </a:r>
          </a:p>
          <a:p>
            <a:r>
              <a:t>CNPJ 26749095000134 · Derivativos/hedge · Finalidade de proteção de posições à vista; conformidade exige contrato/posição individual. · Fundos.NET ID 1061833; referência 19/11/2025; data/raw/26749095000134/1061833_regulamento_cache_integral.txt; política de investimento / riscos de instrumentos derivativos; https://fnet.bmfbovespa.com.br/fnet/publico/exibirDocumento?id=1061833&amp;cvm=true · Observação: Não inferir hedge contratado da permissão regulatória.</a:t>
            </a:r>
          </a:p>
          <a:p>
            <a:r>
              <a:t>CNPJ 55983705000168 · Derivativos/hedge · Finalidade de proteção de posições à vista; conformidade exige contrato/posição individual. · Fundos.NET ID 1149324; referência 26/03/2026; data/raw/55983705000168/1149324_regulamento_cache_integral.txt; política de investimento / riscos de instrumentos derivativos; https://fnet.bmfbovespa.com.br/fnet/publico/exibirDocumento?id=1149324&amp;cvm=true · Observação: Não inferir hedge contratado da permissão regulatória.</a:t>
            </a:r>
          </a:p>
          <a:p>
            <a:r>
              <a:t>CNPJ 34408539000104 · Derivativos/hedge · Finalidade de proteção de posições à vista; conformidade exige contrato/posição individual. · Fundos.NET ID 1203913; referência 25/05/2026; data/raw/34408539000104/1203913_regulamento_cache_integral.txt; política de investimento / riscos de instrumentos derivativos; https://fnet.bmfbovespa.com.br/fnet/publico/exibirDocumento?id=1203913&amp;cvm=true · Observação: Não inferir hedge contratado da permissão regulatória.</a:t>
            </a:r>
          </a:p>
          <a:p>
            <a:r>
              <a:t>CNPJ 08417544000165 · PDD · Renegociados mantêm provisionamento de inadimplência; exceção para atraso &lt;90 dias e fluxo sem novo inadimplemento. · Fundos.NET ID 784311; referência 18/11/2024; data/raw/08417544000165/784311_regulamento_cache_integral.txt; metodologia de avaliação dos ativos / provisões; https://fnet.bmfbovespa.com.br/fnet/publico/exibirDocumento?id=784311&amp;cvm=true · Observação: Não equivale a piso de PDD/PL; aging e PDD agregados são proxies parciais.</a:t>
            </a:r>
          </a:p>
          <a:p>
            <a:r>
              <a:t>CNPJ 26749095000134 · PDD · Renegociados mantêm provisionamento de inadimplência; exceção para atraso &lt;90 dias e fluxo sem novo inadimplemento. · Fundos.NET ID 1061833; referência 19/11/2025; data/raw/26749095000134/1061833_regulamento_cache_integral.txt; metodologia de avaliação dos ativos / provisões; https://fnet.bmfbovespa.com.br/fnet/publico/exibirDocumento?id=1061833&amp;cvm=true · Observação: Não equivale a piso de PDD/PL; aging e PDD agregados são proxies parciais.</a:t>
            </a:r>
          </a:p>
          <a:p>
            <a:r>
              <a:t>CNPJ 55983705000168 · PDD · Renegociados mantêm provisionamento de inadimplência; exceção para atraso &lt;90 dias e fluxo sem novo inadimplemento. · Fundos.NET ID 1149324; referência 26/03/2026; data/raw/55983705000168/1149324_regulamento_cache_integral.txt; metodologia de avaliação dos ativos / provisões; https://fnet.bmfbovespa.com.br/fnet/publico/exibirDocumento?id=1149324&amp;cvm=true · Observação: Não equivale a piso de PDD/PL; aging e PDD agregados são proxies parciais.</a:t>
            </a:r>
          </a:p>
          <a:p>
            <a:r>
              <a:t>CNPJ 34408539000104 · PDD · Renegociados mantêm provisionamento de inadimplência; exceção para atraso &lt;90 dias e fluxo sem novo inadimplemento. · Fundos.NET ID 1203913; referência 25/05/2026; data/raw/34408539000104/1203913_regulamento_cache_integral.txt; metodologia de avaliação dos ativos / provisões; https://fnet.bmfbovespa.com.br/fnet/publico/exibirDocumento?id=1203913&amp;cvm=true · Observação: Não equivale a piso de PDD/PL; aging e PDD agregados são proxies parciais.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Alocação mínima · Alocação Mínima definida no regulamento; percentual não transcrito sem reconciliar definições e anexos. · Fundos.NET ID 784311; referência 18/11/2024; data/raw/08417544000165/784311_regulamento_cache_integral.txt; política de investimento / definição de Alocação Mínima;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Alocação mínima · 67%/PL em DC elegíveis. · Fundos.NET ID 1149324; referência 26/03/2026; data/raw/55983705000168/1149324_regulamento_cache_integral.txt; definição de Alocação Mínima; 10.1;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Alocação mínima · 67%/PL em DC, após prazo inicial previsto no contrato. · Fundos.NET ID 1203913; referência 25/05/2026; data/raw/34408539000104/1203913_regulamento_cache_integral.txt; 11.1.1 e definição de Alocação Mínima;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Pool/revolvência · Novas cessões permitidas sob critérios/reservas; suspensas por eventos; fluxo longo de crédito estudantil. · Fundos.NET ID 784311; referência 18/11/2024; data/raw/08417544000165/784311_regulamento_cache_integral.txt; política de investimento e ordem de alocação;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Pool/revolvência · Novas cessões permitidas sob critérios/reservas; suspensas por eventos; fluxo longo de crédito estudantil. · Fundos.NET ID 1149324; referência 26/03/2026; data/raw/55983705000168/1149324_regulamento_cache_integral.txt; política de investimento e ordem de alocação;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Pool/revolvência · Novas cessões permitidas sob critérios/reservas; suspensas por eventos; fluxo longo de crédito estudantil. · Fundos.NET ID 1203913; referência 25/05/2026; data/raw/34408539000104/1203913_regulamento_cache_integral.txt; política de investimento e ordem de alocação;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Duração/público-alvo · Classe fechada de prazo indeterminado; cotas/séries com prazo próprio; investidores autorizados. · Fundos.NET ID 784311; referência 18/11/2024; data/raw/08417544000165/784311_regulamento_cache_integral.txt; características da classe e cotas;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Duração/público-alvo · Classe fechada de prazo indeterminado; cotas/séries com prazo próprio; investidores autorizados. · Fundos.NET ID 1149324; referência 26/03/2026; data/raw/55983705000168/1149324_regulamento_cache_integral.txt; características da classe e cotas;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Duração/público-alvo · Classe fechada de prazo indeterminado; cotas/séries com prazo próprio; investidores autorizados. · Fundos.NET ID 1203913; referência 25/05/2026; data/raw/34408539000104/1203913_regulamento_cache_integral.txt; características da classe e cotas;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Cessão/recompra · Condições de cessão, resolução e recompra em contratos; vícios/culpa/dolo sujeitos a responsabilização. · Fundos.NET ID 784311; referência 18/11/2024; data/raw/08417544000165/784311_regulamento_cache_integral.txt; Direitos Creditórios / Condições de Cessão; https://fnet.bmfbovespa.com.br/fnet/publico/exibirDocumento?id=784311&amp;cvm=true · Observação: IME de recompras não comprova motivo jurídico ou indenização.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55983705000168 · Cessão/recompra · Condições de cessão, resolução e recompra em contratos; vícios/culpa/dolo sujeitos a responsabilização. · Fundos.NET ID 1149324; referência 26/03/2026; data/raw/55983705000168/1149324_regulamento_cache_integral.txt; Direitos Creditórios / Condições de Cessão; https://fnet.bmfbovespa.com.br/fnet/publico/exibirDocumento?id=1149324&amp;cvm=true · Observação: IME de recompras não comprova motivo jurídico ou indenização.</a:t>
            </a:r>
          </a:p>
          <a:p>
            <a:r>
              <a:t>CNPJ 34408539000104 · Cessão/recompra · Condições de cessão, resolução e recompra em contratos; vícios/culpa/dolo sujeitos a responsabilização. · Fundos.NET ID 1203913; referência 25/05/2026; data/raw/34408539000104/1203913_regulamento_cache_integral.txt; Direitos Creditórios / Condições de Cessão; https://fnet.bmfbovespa.com.br/fnet/publico/exibirDocumento?id=1203913&amp;cvm=true · Observação: IME de recompras não comprova motivo jurídico ou indenização.</a:t>
            </a:r>
          </a:p>
          <a:p>
            <a:r>
              <a:t>CNPJ 08417544000165 · Coobrigação · Devedores solidários e responsabilidades por vícios são distintos de coobrigação irrestrita do cedente. · Fundos.NET ID 784311; referência 18/11/2024; data/raw/08417544000165/784311_regulamento_cache_integral.txt; Condições de Cessão; riscos de créditos e cedentes; https://fnet.bmfbovespa.com.br/fnet/publico/exibirDocumento?id=784311&amp;cvm=true · Observação: Coobrigação integral do cedente não foi confirmada nesta revisão.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55983705000168 · Coobrigação · Devedores solidários e responsabilidades por vícios são distintos de coobrigação irrestrita do cedente. · Fundos.NET ID 1149324; referência 26/03/2026; data/raw/55983705000168/1149324_regulamento_cache_integral.txt; Condições de Cessão; riscos de créditos e cedentes; https://fnet.bmfbovespa.com.br/fnet/publico/exibirDocumento?id=1149324&amp;cvm=true · Observação: Coobrigação integral do cedente não foi confirmada nesta revisão.</a:t>
            </a:r>
          </a:p>
          <a:p>
            <a:r>
              <a:t>CNPJ 34408539000104 · Coobrigação · Devedores solidários e responsabilidades por vícios são distintos de coobrigação irrestrita do cedente. · Fundos.NET ID 1203913; referência 25/05/2026; data/raw/34408539000104/1203913_regulamento_cache_integral.txt; Condições de Cessão; riscos de créditos e cedentes; https://fnet.bmfbovespa.com.br/fnet/publico/exibirDocumento?id=1203913&amp;cvm=true · Observação: Coobrigação integral do cedente não foi confirmada nesta revisão.</a:t>
            </a:r>
          </a:p>
          <a:p>
            <a:r>
              <a:t>CNPJ 08417544000165 · Waterfall · Despesas/reservas e cotas prioritárias antes de júnior; evento altera alocação e suspende novas aquisições. · Fundos.NET ID 784311; referência 18/11/2024; data/raw/08417544000165/784311_regulamento_cache_integral.txt; ordem de alocação de recursos / eventos de avaliação;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Waterfall · Despesas/reservas e cotas prioritárias antes de júnior; evento altera alocação e suspende novas aquisições. · Fundos.NET ID 1149324; referência 26/03/2026; data/raw/55983705000168/1149324_regulamento_cache_integral.txt; ordem de alocação de recursos / eventos de avaliação;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Waterfall · Despesas/reservas e cotas prioritárias antes de júnior; evento altera alocação e suspende novas aquisições. · Fundos.NET ID 1203913; referência 25/05/2026; data/raw/34408539000104/1203913_regulamento_cache_integral.txt; ordem de alocação de recursos / eventos de avaliação; https://fnet.bmfbovespa.com.br/fnet/publico/exibirDocumento?id=1203913&amp;cvm=true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Alocação mínima · Alocação Mínima definida no regulamento; percentual não transcrito sem reconciliar definições e anexos. · Fundos.NET ID 784311; referência 18/11/2024; data/raw/08417544000165/784311_regulamento_cache_integral.txt; política de investimento / definição de Alocação Mínima;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Alocação mínima · Alocação Mínima contratual após prazo de enquadramento; piso exato não transcrito sem reconciliação das definições. · Fundos.NET ID 1061833; referência 19/11/2025; data/raw/26749095000134/1061833_regulamento_cache_integral.txt; 3.2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Alocação mínima · 67%/PL em DC elegíveis. · Fundos.NET ID 1149324; referência 26/03/2026; data/raw/55983705000168/1149324_regulamento_cache_integral.txt; definição de Alocação Mínima; 10.1;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Alocação mínima · 67%/PL em DC, após prazo inicial previsto no contrato. · Fundos.NET ID 1203913; referência 25/05/2026; data/raw/34408539000104/1203913_regulamento_cache_integral.txt; 11.1.1 e definição de Alocação Mínima;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Pool/revolvência · Novas cessões permitidas sob critérios/reservas; suspensas por eventos; fluxo longo de crédito estudantil. · Fundos.NET ID 784311; referência 18/11/2024; data/raw/08417544000165/784311_regulamento_cache_integral.txt; política de investimento e ordem de alocação;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Pool/revolvência · Novas cessões permitidas sob critérios/reservas; suspensas por eventos; fluxo longo de crédito estudantil. · Fundos.NET ID 1061833; referência 19/11/2025; data/raw/26749095000134/1061833_regulamento_cache_integral.txt; política de investimento e ordem de alocação;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Pool/revolvência · Novas cessões permitidas sob critérios/reservas; suspensas por eventos; fluxo longo de crédito estudantil. · Fundos.NET ID 1149324; referência 26/03/2026; data/raw/55983705000168/1149324_regulamento_cache_integral.txt; política de investimento e ordem de alocação;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Pool/revolvência · Novas cessões permitidas sob critérios/reservas; suspensas por eventos; fluxo longo de crédito estudantil. · Fundos.NET ID 1203913; referência 25/05/2026; data/raw/34408539000104/1203913_regulamento_cache_integral.txt; política de investimento e ordem de alocação;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Duração/público-alvo · Classe fechada de prazo indeterminado; cotas/séries com prazo próprio; investidores autorizados. · Fundos.NET ID 784311; referência 18/11/2024; data/raw/08417544000165/784311_regulamento_cache_integral.txt; características da classe e cotas;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Duração/público-alvo · Classe fechada de prazo indeterminado; cotas/séries com prazo próprio; investidores autorizados. · Fundos.NET ID 1061833; referência 19/11/2025; data/raw/26749095000134/1061833_regulamento_cache_integral.txt; características da classe 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Duração/público-alvo · Classe fechada de prazo indeterminado; cotas/séries com prazo próprio; investidores autorizados. · Fundos.NET ID 1149324; referência 26/03/2026; data/raw/55983705000168/1149324_regulamento_cache_integral.txt; características da classe e cotas;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Duração/público-alvo · Classe fechada de prazo indeterminado; cotas/séries com prazo próprio; investidores autorizados. · Fundos.NET ID 1203913; referência 25/05/2026; data/raw/34408539000104/1203913_regulamento_cache_integral.txt; características da classe e cotas;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Cessão/recompra · Condições de cessão, resolução e recompra em contratos; vícios/culpa/dolo sujeitos a responsabilização. · Fundos.NET ID 784311; referência 18/11/2024; data/raw/08417544000165/784311_regulamento_cache_integral.txt; Direitos Creditórios / Condições de Cessão; https://fnet.bmfbovespa.com.br/fnet/publico/exibirDocumento?id=784311&amp;cvm=true · Observação: IME de recompras não comprova motivo jurídico ou indenização.</a:t>
            </a:r>
          </a:p>
          <a:p>
            <a:r>
              <a:t>CNPJ 26749095000134 · Cessão/recompra · Condições de cessão, resolução e recompra em contratos; vícios/culpa/dolo sujeitos a responsabilização. · Fundos.NET ID 1061833; referência 19/11/2025; data/raw/26749095000134/1061833_regulamento_cache_integral.txt; Direitos Creditórios / Condições de Cessão; https://fnet.bmfbovespa.com.br/fnet/publico/exibirDocumento?id=1061833&amp;cvm=true · Observação: IME de recompras não comprova motivo jurídico ou indenização.</a:t>
            </a:r>
          </a:p>
          <a:p>
            <a:r>
              <a:t>CNPJ 55983705000168 · Cessão/recompra · Condições de cessão, resolução e recompra em contratos; vícios/culpa/dolo sujeitos a responsabilização. · Fundos.NET ID 1149324; referência 26/03/2026; data/raw/55983705000168/1149324_regulamento_cache_integral.txt; Direitos Creditórios / Condições de Cessão; https://fnet.bmfbovespa.com.br/fnet/publico/exibirDocumento?id=1149324&amp;cvm=true · Observação: IME de recompras não comprova motivo jurídico ou indenização.</a:t>
            </a:r>
          </a:p>
          <a:p>
            <a:r>
              <a:t>CNPJ 34408539000104 · Cessão/recompra · Condições de cessão, resolução e recompra em contratos; vícios/culpa/dolo sujeitos a responsabilização. · Fundos.NET ID 1203913; referência 25/05/2026; data/raw/34408539000104/1203913_regulamento_cache_integral.txt; Direitos Creditórios / Condições de Cessão; https://fnet.bmfbovespa.com.br/fnet/publico/exibirDocumento?id=1203913&amp;cvm=true · Observação: IME de recompras não comprova motivo jurídico ou indenização.</a:t>
            </a:r>
          </a:p>
          <a:p>
            <a:r>
              <a:t>CNPJ 08417544000165 · Coobrigação · Devedores solidários e responsabilidades por vícios são distintos de coobrigação irrestrita do cedente. · Fundos.NET ID 784311; referência 18/11/2024; data/raw/08417544000165/784311_regulamento_cache_integral.txt; Condições de Cessão; riscos de créditos e cedentes; https://fnet.bmfbovespa.com.br/fnet/publico/exibirDocumento?id=784311&amp;cvm=true · Observação: Coobrigação integral do cedente não foi confirmada nesta revisão.</a:t>
            </a:r>
          </a:p>
          <a:p>
            <a:r>
              <a:t>CNPJ 26749095000134 · Coobrigação · Devedores solidários e responsabilidades por vícios são distintos de coobrigação irrestrita do cedente. · Fundos.NET ID 1061833; referência 19/11/2025; data/raw/26749095000134/1061833_regulamento_cache_integral.txt; Condições de Cessão; riscos de créditos e cedentes; https://fnet.bmfbovespa.com.br/fnet/publico/exibirDocumento?id=1061833&amp;cvm=true · Observação: Coobrigação integral do cedente não foi confirmada nesta revisão.</a:t>
            </a:r>
          </a:p>
          <a:p>
            <a:r>
              <a:t>CNPJ 55983705000168 · Coobrigação · Devedores solidários e responsabilidades por vícios são distintos de coobrigação irrestrita do cedente. · Fundos.NET ID 1149324; referência 26/03/2026; data/raw/55983705000168/1149324_regulamento_cache_integral.txt; Condições de Cessão; riscos de créditos e cedentes; https://fnet.bmfbovespa.com.br/fnet/publico/exibirDocumento?id=1149324&amp;cvm=true · Observação: Coobrigação integral do cedente não foi confirmada nesta revisão.</a:t>
            </a:r>
          </a:p>
          <a:p>
            <a:r>
              <a:t>CNPJ 34408539000104 · Coobrigação · Devedores solidários e responsabilidades por vícios são distintos de coobrigação irrestrita do cedente. · Fundos.NET ID 1203913; referência 25/05/2026; data/raw/34408539000104/1203913_regulamento_cache_integral.txt; Condições de Cessão; riscos de créditos e cedentes; https://fnet.bmfbovespa.com.br/fnet/publico/exibirDocumento?id=1203913&amp;cvm=true · Observação: Coobrigação integral do cedente não foi confirmada nesta revisão.</a:t>
            </a:r>
          </a:p>
          <a:p>
            <a:r>
              <a:t>CNPJ 08417544000165 · Waterfall · Despesas/reservas e cotas prioritárias antes de júnior; evento altera alocação e suspende novas aquisições. · Fundos.NET ID 784311; referência 18/11/2024; data/raw/08417544000165/784311_regulamento_cache_integral.txt; ordem de alocação de recursos / eventos de avaliação;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Waterfall · Despesas/reservas e cotas prioritárias antes de júnior; evento altera alocação e suspende novas aquisições. · Fundos.NET ID 1061833; referência 19/11/2025; data/raw/26749095000134/1061833_regulamento_cache_integral.txt; ordem de alocação de recursos / eventos de avaliação;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Waterfall · Despesas/reservas e cotas prioritárias antes de júnior; evento altera alocação e suspende novas aquisições. · Fundos.NET ID 1149324; referência 26/03/2026; data/raw/55983705000168/1149324_regulamento_cache_integral.txt; ordem de alocação de recursos / eventos de avaliação;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Waterfall · Despesas/reservas e cotas prioritárias antes de júnior; evento altera alocação e suspende novas aquisições. · Fundos.NET ID 1203913; referência 25/05/2026; data/raw/34408539000104/1203913_regulamento_cache_integral.txt; ordem de alocação de recursos / eventos de avaliação; https://fnet.bmfbovespa.com.br/fnet/publico/exibirDocumento?id=1203913&amp;cvm=true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Classes/séries · Sênior, subordinadas mezanino e júnior; termos finais por série devem ser confirmados em apêndices. · Fundos.NET ID 784311; referência 18/11/2024; data/raw/08417544000165/784311_regulamento_cache_integral.txt; capítulo de cotas;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Classes/séries · Sênior, subordinadas mezanino e júnior; termos finais por série devem ser confirmados em apêndices. · Fundos.NET ID 1061833; referência 19/11/2025; data/raw/26749095000134/1061833_regulamento_cache_integral.txt; capítulo de cotas;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Classes/séries · Sênior, subordinadas mezanino e júnior; termos finais por série devem ser confirmados em apêndices. · Fundos.NET ID 1149324; referência 26/03/2026; data/raw/55983705000168/1149324_regulamento_cache_integral.txt; capítulo de cotas;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Classes/séries · 4ª sênior e 3ª mezanino com apêndices preenchidos; demais termos de séries anteriores não confirmados. · Fundos.NET ID 1203913; referência 25/05/2026; data/raw/34408539000104/1203913_regulamento_cache_integral.txt; Anexos II e III da ata/regulamento;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Remuneração · Spread final não localizado no texto disponível, salvo apêndices III identificados nesta revisão. · Fundos.NET ID 784311; referência 18/11/2024; data/raw/08417544000165/784311_regulamento_cache_integral.txt; valoração das cotas e suplementos/apêndices;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Remuneração · Spread final não localizado no texto disponível, salvo apêndices III identificados nesta revisão. · Fundos.NET ID 1061833; referência 19/11/2025; data/raw/26749095000134/1061833_regulamento_cache_integral.txt; valoração das cotas e suplementos/apêndices;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Remuneração · Spread final não localizado no texto disponível, salvo apêndices III identificados nesta revisão. · Fundos.NET ID 1149324; referência 26/03/2026; data/raw/55983705000168/1149324_regulamento_cache_integral.txt; valoração das cotas e suplementos/apêndices;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Remuneração · 4ª sênior DI + 1,50% a.a.; 3ª mezanino DI + 2,70% a.a. · Fundos.NET ID 1203913; referência 25/05/2026; data/raw/34408539000104/1203913_regulamento_cache_integral.txt; Anexos II e III, Meta de Remuneração;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Volume/VNU · Volume por série não confirmado; VNU geral R$ 1,00. · Fundos.NET ID 784311; referência 18/11/2024; data/raw/08417544000165/784311_regulamento_cache_integral.txt; 3.1.4 do Anexo Descritivo;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Volume/VNU · Volume por série não confirmado; VNU geral R$ 1.000,00. · Fundos.NET ID 1061833; referência 19/11/2025; data/raw/26749095000134/1061833_regulamento_cache_integral.txt; 6.1.4 do Anexo Descritivo;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Volume/VNU · Volume por série não confirmado; VNU geral R$ 1.000,00. · Fundos.NET ID 1149324; referência 26/03/2026; data/raw/55983705000168/1149324_regulamento_cache_integral.txt; capítulo de emissão/cotas;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Volume/VNU · 4ª sênior até R$ 119,7 mi; 3ª mezanino até R$ 5,32 mi; VNU R$ 1 mil. · Fundos.NET ID 1203913; referência 25/05/2026; data/raw/34408539000104/1203913_regulamento_cache_integral.txt; Anexos II e III, montante e quantidade;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Ofertas · Início, encerramento e distribuição efetiva não confirmados por anúncios nesta revisão. · Fundos.NET ID 784311; referência 18/11/2024; data/raw/08417544000165/784311_regulamento_cache_integral.txt; parâmetros de oferta / apêndices;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Ofertas · Início, encerramento e distribuição efetiva não confirmados por anúncios nesta revisão. · Fundos.NET ID 1061833; referência 19/11/2025; data/raw/26749095000134/1061833_regulamento_cache_integral.txt; parâmetros de oferta / apêndices;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Ofertas · Início, encerramento e distribuição efetiva não confirmados por anúncios nesta revisão. · Fundos.NET ID 1149324; referência 26/03/2026; data/raw/55983705000168/1149324_regulamento_cache_integral.txt; parâmetros de oferta / apêndices;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Ofertas · Início, encerramento e distribuição efetiva não confirmados por anúncios nesta revisão. · Fundos.NET ID 1203913; referência 25/05/2026; data/raw/34408539000104/1203913_regulamento_cache_integral.txt; parâmetros de oferta / apêndices; https://fnet.bmfbovespa.com.br/fnet/publico/exibirDocumento?id=1203913&amp;cvm=true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Carência · Prazo remetido ao apêndice/suplemento; carência real por série não confirmada. · Fundos.NET ID 784311; referência 18/11/2024; data/raw/08417544000165/784311_regulamento_cache_integral.txt; pagamento de remuneração, amortização e resgate;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Carência · Prazo remetido ao apêndice/suplemento; carência real por série não confirmada. · Fundos.NET ID 1061833; referência 19/11/2025; data/raw/26749095000134/1061833_regulamento_cache_integral.txt; pagamento de remuneração, amortização e resgate;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Carência · Prazo remetido ao apêndice/suplemento; carência real por série não confirmada. · Fundos.NET ID 1149324; referência 26/03/2026; data/raw/55983705000168/1149324_regulamento_cache_integral.txt; pagamento de remuneração, amortização e resgate;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Carência · 4ª sênior/3ª mezanino: 12 primeiras parcelas de principal. · Fundos.NET ID 1203913; referência 25/05/2026; data/raw/34408539000104/1203913_regulamento_cache_integral.txt; Anexos II e III, Período de Carência;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Juros/amortização · Metas condicionadas a caixa, prioridades e regime pro rata/sequencial; cronograma fechado não identificado. · Fundos.NET ID 784311; referência 18/11/2024; data/raw/08417544000165/784311_regulamento_cache_integral.txt; pagamento de remuneração, amortização e resgate / waterfall;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Juros/amortização · Metas condicionadas a caixa, prioridades e regime pro rata/sequencial; cronograma fechado não identificado. · Fundos.NET ID 1061833; referência 19/11/2025; data/raw/26749095000134/1061833_regulamento_cache_integral.txt; pagamento de remuneração, amortização e resgate / waterfall;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Juros/amortização · Metas condicionadas a caixa, prioridades e regime pro rata/sequencial; cronograma fechado não identificado. · Fundos.NET ID 1149324; referência 26/03/2026; data/raw/55983705000168/1149324_regulamento_cache_integral.txt; pagamento de remuneração, amortização e resgate / waterfall;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Juros/amortização · Mensal na data de aniversário; principal linear 1/48 a partir da 13ª parcela até 60ª, com prioridades contratuais. · Fundos.NET ID 1203913; referência 25/05/2026; data/raw/34408539000104/1203913_regulamento_cache_integral.txt; Anexos II e III, Proporção de Meta de Amortização;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Vencimento · Vencimento por série no apêndice; primeira integralização não confirmada. · Fundos.NET ID 784311; referência 18/11/2024; data/raw/08417544000165/784311_regulamento_cache_integral.txt; cotas e prazo de duração;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Vencimento · Vencimento por série no apêndice; primeira integralização não confirmada. · Fundos.NET ID 1061833; referência 19/11/2025; data/raw/26749095000134/1061833_regulamento_cache_integral.txt; cotas e prazo de duração;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Vencimento · Vencimento por série no apêndice; primeira integralização não confirmada. · Fundos.NET ID 1149324; referência 26/03/2026; data/raw/55983705000168/1149324_regulamento_cache_integral.txt; cotas e prazo de duração;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Vencimento · 60 meses da primeira integralização e resgate na 60ª data de pagamento após 1º mês completo de alocação. · Fundos.NET ID 1203913; referência 25/05/2026; data/raw/34408539000104/1203913_regulamento_cache_integral.txt; Anexos II e III; https://fnet.bmfbovespa.com.br/fnet/publico/exibirDocumento?id=1203913&amp;cvm=true · Observação: As duas âncoras dependem da primeira integralização/alocação efetiva; data do calendário civil não confirmada.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Administração · Faixas marginais: 0,23% a.a. até R$ 300 mi, 0,16% sobre excesso até R$ 500 mi e 0,15% acima; mínimo R$ 25 mil/mês. · Fundos.NET ID 784311; referência 18/11/2024; data/raw/08417544000165/784311_regulamento_cache_integral.txt; capítulo 4, remuneração dos prestadores; https://fnet.bmfbovespa.com.br/fnet/publico/exibirDocumento?id=784311&amp;cvm=true · Observação: Inclui serviços citados de custódia/controladoria/escrituração; mínimos com reajuste e tributos previstos no contrato.</a:t>
            </a:r>
          </a:p>
          <a:p>
            <a:r>
              <a:t>CNPJ 26749095000134 · Administração · 0,50% a.a./PL, mínimo R$ 25,6 mil/mês; taxa agrega administração e controladoria, com componentes próprios. · Fundos.NET ID 1061833; referência 19/11/2025; data/raw/26749095000134/1061833_regulamento_cache_integral.txt; 4.1 da parte geral; https://fnet.bmfbovespa.com.br/fnet/publico/exibirDocumento?id=1061833&amp;cvm=true · Observação: Componente administração: 0,20% até R$ 300 mi + 0,15% sobre excesso, mínimo R$ 16,2 mil. Não somar componente ao total.</a:t>
            </a:r>
          </a:p>
          <a:p>
            <a:r>
              <a:t>CNPJ 55983705000168 · Administração · 0,17% a.a./PL; mínimo R$ 19 mil/mês; lastro/escrituração e setup constituem adicionais previstos. · Fundos.NET ID 1149324; referência 26/03/2026; data/raw/55983705000168/1149324_regulamento_cache_integral.txt; 6.1;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Administração · 0,17% a.a./PL; mínimo R$ 19 mil/mês. · Fundos.NET ID 1203913; referência 25/05/2026; data/raw/34408539000104/1203913_regulamento_cache_integral.txt; 7.1;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Gestão · 0,05% a.a./PL; mínimo mensal não identificado na cláusula. · Fundos.NET ID 784311; referência 18/11/2024; data/raw/08417544000165/784311_regulamento_cache_integral.txt; capítulo 4, remuneração dos prestadores;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Gestão · 0,05% a.a./PL; mínimo mensal não identificado. · Fundos.NET ID 1061833; referência 19/11/2025; data/raw/26749095000134/1061833_regulamento_cache_integral.txt; 4.2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Gestão · 0,10% ao mês/PL; pagamento até 5º DU do mês seguinte. · Fundos.NET ID 1149324; referência 26/03/2026; data/raw/55983705000168/1149324_regulamento_cache_integral.txt; 6.2; https://fnet.bmfbovespa.com.br/fnet/publico/exibirDocumento?id=1149324&amp;cvm=true · Observação: Frequência mensal é literal do contrato; equivalente nominal simples de 1,20% em 12 meses, sem assumir capitalização anual.</a:t>
            </a:r>
          </a:p>
          <a:p>
            <a:r>
              <a:t>CNPJ 34408539000104 · Gestão · 0,05% a.a./PL; pagamento mensal até 5º DU. · Fundos.NET ID 1203913; referência 25/05/2026; data/raw/34408539000104/1203913_regulamento_cache_integral.txt; 7.2; https://fnet.bmfbovespa.com.br/fnet/publico/exibirDocumento?id=1203913&amp;cvm=true · Observação: Conclusão documental; validade limitada à versão citada e às ressalvas desta revisão.</a:t>
            </a:r>
          </a:p>
          <a:p>
            <a:r>
              <a:t>CNPJ 08417544000165 · Custódia · Serviços de custódia incluídos na taxa de administração; tarifa separada não identificada. · Fundos.NET ID 784311; referência 18/11/2024; data/raw/08417544000165/784311_regulamento_cache_integral.txt; capítulo 4, remuneração dos prestadores; https://fnet.bmfbovespa.com.br/fnet/publico/exibirDocumento?id=784311&amp;cvm=true · Observação: Conclusão documental; validade limitada à versão citada e às ressalvas desta revisão.</a:t>
            </a:r>
          </a:p>
          <a:p>
            <a:r>
              <a:t>CNPJ 26749095000134 · Custódia · Serviços incluídos no escopo da taxa de administração; tarifa isolada não confirmada. · Fundos.NET ID 1061833; referência 19/11/2025; data/raw/26749095000134/1061833_regulamento_cache_integral.txt; 4.1 da parte geral; https://fnet.bmfbovespa.com.br/fnet/publico/exibirDocumento?id=1061833&amp;cvm=true · Observação: Conclusão documental; validade limitada à versão citada e às ressalvas desta revisão.</a:t>
            </a:r>
          </a:p>
          <a:p>
            <a:r>
              <a:t>CNPJ 55983705000168 · Custódia · 0,17% a.a./PL; mínimo R$ 19 mil/mês; tributos acrescidos. · Fundos.NET ID 1149324; referência 26/03/2026; data/raw/55983705000168/1149324_regulamento_cache_integral.txt; 6.3–6.3.1; https://fnet.bmfbovespa.com.br/fnet/publico/exibirDocumento?id=1149324&amp;cvm=true · Observação: Conclusão documental; validade limitada à versão citada e às ressalvas desta revisão.</a:t>
            </a:r>
          </a:p>
          <a:p>
            <a:r>
              <a:t>CNPJ 34408539000104 · Custódia · 0,17% a.a./PL; mínimo R$ 19 mil/mês; lastro e escrituração com encargos adicionais. · Fundos.NET ID 1203913; referência 25/05/2026; data/raw/34408539000104/1203913_regulamento_cache_integral.txt; 7.3–7.3.3; https://fnet.bmfbovespa.com.br/fnet/publico/exibirDocumento?id=1203913&amp;cvm=true · Observação: Conclusão documental; validade limitada à versão citada e às ressalvas desta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2026-10-07T14:50:59-03:00</a:t>
            </a:r>
          </a:p>
          <a:p>
            <a:r>
              <a:t>Pravaler I: CNPJ 08417544000165</a:t>
            </a:r>
          </a:p>
          <a:p>
            <a:r>
              <a:t>Pravaler II: CNPJ 26749095000134</a:t>
            </a:r>
          </a:p>
          <a:p>
            <a:r>
              <a:t>Pravaler IV: CNPJ 55983705000168</a:t>
            </a:r>
          </a:p>
          <a:p>
            <a:r>
              <a:t>Pravaler III: CNPJ 34408539000104</a:t>
            </a:r>
          </a:p>
          <a:p>
            <a:r>
              <a:t>Fontes:</a:t>
            </a:r>
          </a:p>
          <a:p>
            <a:r>
              <a:t>CNPJ 08417544000165 · Alocação/subordinação IME · DC/PL e cotas subordinadas/PL: cálculo agregado com validação de classes e do denominador. · Corpus do CNPJ 08417544000165, revisão 2026-10-07T14:50:59-03:00; Fundos.NET ID 784311, referência 18/11/2024, arquivo data/raw/08417544000165/784311_regulamento_cache_integral.txt · Observação: Monitorável com ressalva: IME mensal não prova cumprimento diário nem composição jurídica por série.</a:t>
            </a:r>
          </a:p>
          <a:p>
            <a:r>
              <a:t>CNPJ 26749095000134 · Alocação/subordinação IME · DC/PL e cotas subordinadas/PL: cálculo agregado com validação de classes e do denominador. · Corpus do CNPJ 26749095000134, revisão 2026-10-07T14:50:59-03:00; Fundos.NET ID 1061833, referência 19/11/2025, arquivo data/raw/26749095000134/1061833_regulamento_cache_integral.txt · Observação: Monitorável com ressalva: IME mensal não prova cumprimento diário nem composição jurídica por série.</a:t>
            </a:r>
          </a:p>
          <a:p>
            <a:r>
              <a:t>CNPJ 55983705000168 · Alocação/subordinação IME · DC/PL e cotas subordinadas/PL: cálculo agregado com validação de classes e do denominador. · Corpus do CNPJ 55983705000168, revisão 2026-10-07T14:50:59-03:00; Fundos.NET ID 1149324, referência 26/03/2026, arquivo data/raw/55983705000168/1149324_regulamento_cache_integral.txt · Observação: Monitorável com ressalva: IME mensal não prova cumprimento diário nem composição jurídica por série.</a:t>
            </a:r>
          </a:p>
          <a:p>
            <a:r>
              <a:t>CNPJ 34408539000104 · Alocação/subordinação IME · DC/PL e cotas subordinadas/PL: cálculo agregado com validação de classes e do denominador. · Corpus do CNPJ 34408539000104, revisão 2026-10-07T14:50:59-03:00; Fundos.NET ID 1203913, referência 25/05/2026, arquivo data/raw/34408539000104/1203913_regulamento_cache_integral.txt · Observação: Monitorável com ressalva: IME mensal não prova cumprimento diário nem composição jurídica por série.</a:t>
            </a:r>
          </a:p>
          <a:p>
            <a:r>
              <a:t>CNPJ 08417544000165 · Inadimplência/PDD IME · Over 30/60/90/180/crédito e PDD/crédito: proxies agregados; gatilhos contratuais exigem fórmula própria. · Corpus do CNPJ 08417544000165, revisão 2026-10-07T14:50:59-03:00; Fundos.NET ID 784311, referência 18/11/2024, arquivo data/raw/08417544000165/784311_regulamento_cache_integral.txt · Observação: Parcial: não equiparar índices de estoque/vintage/rolagem à carteira atual sem reconciliação de denominadores.</a:t>
            </a:r>
          </a:p>
          <a:p>
            <a:r>
              <a:t>CNPJ 26749095000134 · Inadimplência/PDD IME · Over 30/60/90/180/crédito e PDD/crédito: proxies agregados; gatilhos contratuais exigem fórmula própria. · Corpus do CNPJ 26749095000134, revisão 2026-10-07T14:50:59-03:00; Fundos.NET ID 1061833, referência 19/11/2025, arquivo data/raw/26749095000134/1061833_regulamento_cache_integral.txt · Observação: Parcial: não equiparar índices de estoque/vintage/rolagem à carteira atual sem reconciliação de denominadores.</a:t>
            </a:r>
          </a:p>
          <a:p>
            <a:r>
              <a:t>CNPJ 55983705000168 · Inadimplência/PDD IME · Over 30/60/90/180/crédito e PDD/crédito: proxies agregados; gatilhos contratuais exigem fórmula própria. · Corpus do CNPJ 55983705000168, revisão 2026-10-07T14:50:59-03:00; Fundos.NET ID 1149324, referência 26/03/2026, arquivo data/raw/55983705000168/1149324_regulamento_cache_integral.txt · Observação: Parcial: não equiparar índices de estoque/vintage/rolagem à carteira atual sem reconciliação de denominadores.</a:t>
            </a:r>
          </a:p>
          <a:p>
            <a:r>
              <a:t>CNPJ 34408539000104 · Inadimplência/PDD IME · Over 30/60/90/180/crédito e PDD/crédito: proxies agregados; gatilhos contratuais exigem fórmula própria. · Corpus do CNPJ 34408539000104, revisão 2026-10-07T14:50:59-03:00; Fundos.NET ID 1203913, referência 25/05/2026, arquivo data/raw/34408539000104/1203913_regulamento_cache_integral.txt · Observação: Parcial: não equiparar índices de estoque/vintage/rolagem à carteira atual sem reconciliação de denominadores.</a:t>
            </a:r>
          </a:p>
          <a:p>
            <a:r>
              <a:t>CNPJ 08417544000165 · Controles documentais · Elegibilidade, concentração individual, lastro, finalidade do hedge e troca de prestadores exigem controle documental. · Corpus do CNPJ 08417544000165, revisão 2026-10-07T14:50:59-03:00; Fundos.NET ID 784311, referência 18/11/2024, arquivo data/raw/08417544000165/784311_regulamento_cache_integral.txt · Observação: Não monitorável pelo IME público sem dados individualizados; caixa e recompras ajudam apenas como proxies.</a:t>
            </a:r>
          </a:p>
          <a:p>
            <a:r>
              <a:t>CNPJ 26749095000134 · Controles documentais · Elegibilidade, concentração individual, lastro, finalidade do hedge e troca de prestadores exigem controle documental. · Corpus do CNPJ 26749095000134, revisão 2026-10-07T14:50:59-03:00; Fundos.NET ID 1061833, referência 19/11/2025, arquivo data/raw/26749095000134/1061833_regulamento_cache_integral.txt · Observação: Não monitorável pelo IME público sem dados individualizados; caixa e recompras ajudam apenas como proxies.</a:t>
            </a:r>
          </a:p>
          <a:p>
            <a:r>
              <a:t>CNPJ 55983705000168 · Controles documentais · Elegibilidade, concentração individual, lastro, finalidade do hedge e troca de prestadores exigem controle documental. · Corpus do CNPJ 55983705000168, revisão 2026-10-07T14:50:59-03:00; Fundos.NET ID 1149324, referência 26/03/2026, arquivo data/raw/55983705000168/1149324_regulamento_cache_integral.txt · Observação: Não monitorável pelo IME público sem dados individualizados; caixa e recompras ajudam apenas como proxies.</a:t>
            </a:r>
          </a:p>
          <a:p>
            <a:r>
              <a:t>CNPJ 34408539000104 · Controles documentais · Elegibilidade, concentração individual, lastro, finalidade do hedge e troca de prestadores exigem controle documental. · Corpus do CNPJ 34408539000104, revisão 2026-10-07T14:50:59-03:00; Fundos.NET ID 1203913, referência 25/05/2026, arquivo data/raw/34408539000104/1203913_regulamento_cache_integral.txt · Observação: Não monitorável pelo IME público sem dados individualizados; caixa e recompras ajudam apenas como proxies.</a:t>
            </a:r>
          </a:p>
          <a:p>
            <a:r>
              <a:t>CNPJ 08417544000165 · Competência IME · Cache local: 03/2026; selecionar competência para monitorar · .cache/fundonet-ime/d48fc9925e2f9d97bf53b1bbc3a03dc9f5bf1efa99947956ef8db72d43376840/manifest.json · Observação: Dado offline do IME; não representa atualização ao vivo nem comprovação dos critérios jurídicos.</a:t>
            </a:r>
          </a:p>
          <a:p>
            <a:r>
              <a:t>CNPJ 26749095000134 · Competência IME · Cache local: 03/2026; selecionar competência para monitorar · .cache/fundonet-ime/f2706bde6615f580ffd7e5f956811080ba6a1804aaa39ca6c83e8b9bcbb60383/manifest.json · Observação: Dado offline do IME; não representa atualização ao vivo nem comprovação dos critérios jurídicos.</a:t>
            </a:r>
          </a:p>
          <a:p>
            <a:r>
              <a:t>CNPJ 55983705000168 · Competência IME · Cache local: 03/2026; selecionar competência para monitorar · .cache/fundonet-ime/2d1f16bfb138570697fc35c0674bd9c367d6eb8d6cea5d6dca1cf38dbb0c6b44/manifest.json · Observação: Dado offline do IME; não representa atualização ao vivo nem comprovação dos critérios jurídicos.</a:t>
            </a:r>
          </a:p>
          <a:p>
            <a:r>
              <a:t>CNPJ 34408539000104 · Competência IME · Cache local: 03/2026; selecionar competência para monitorar · .cache/fundonet-ime/6749a65d24e566171d199c7dca98374658db9a2bebffff56cc11e51862da13a3/manifest.json · Observação: Dado offline do IME; não representa atualização ao vivo nem comprovação dos critérios jurídicos.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53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estudantil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matrículas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semestralidades; emprés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timos/financiamentos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programas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estudantil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matrículas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semestralidades; emprés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timos/financiamentos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programas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estudantil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matrículas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semestralidades; emprés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timos/financiamentos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programas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estudantil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matrículas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semestralidades; emprés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timos/financiamentos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programas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5956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bancos/instituições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de ensino,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Pravaler presta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gestão/originação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bancos/instituições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de ensino,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Pravaler presta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gestão/originação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bancos/instituições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de ensino,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Pravaler presta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gestão/originação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bancos/instituições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financeiras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instituições de ensino,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conforme contrato;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Pravaler presta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gestão/originação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operacional.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Alunos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representantes,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solidário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Alunos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representantes,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solidário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Alunos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representantes,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solidário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Alunos ou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representantes,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 solidário nos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 sujeitos à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condição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6804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contratuais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real uniforme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contratuais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real uniforme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contratuais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real uniforme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contratuais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 real uniforme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demonstrada.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vincendo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contratos/lastro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cessão; regras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especiais por etapa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espécie.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vincendo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contratos/lastro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cessão; regras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especiais por etapa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espécie.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Primeiras duas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admitem até 20%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vencidos (valor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presente);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seguintes têm critérios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vincendo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contratos/lastro na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cessão; regras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especiais por etapa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espécie.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tipo de crédito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consulta individual;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 não valida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tipo de crédito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consulta individual;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 não valida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Mesmo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20%/PL, sujeito às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demais condições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cessão.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devedor/coobrigado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tipo de crédito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consulta individual;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IME agregado não valida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6471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ativos/obrigações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por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ativos/obrigações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por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Relação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ativos/obrigações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condições por emissão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 ≥10%/PL;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 ≥6%/PL.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Atrasos30/60/90/180: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14%/12%/10,5%/8%;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recorrência em 2 datas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consecutivas, 3/6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4/12.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Atrasos30/60/90/180: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12%/10%/8,5%/6%;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recorrência em 2 datas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consecutivas, 3/6 meses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ou 4/12.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Desenquadramentos,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descumprimentos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eventos de prestadores;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em desacordo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critérios &gt;5%/PL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aparece como evento.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Atrasos30/60/90/180: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14%/12%/10,5%/8%;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evento de avaliação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aciona sequencial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assembleia.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0553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de 1 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da próxima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 de 100%;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liquidez igual ao maior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despesas+amortização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futuro.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de 1 mês; 100%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da próxima amortização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até 5 DU antes; maior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despesas+amortização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futuro.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 de 1 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próxima amortização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100% até 5 DU antes;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maior entre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despesas+amortização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futuro.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 meses de despesas;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reserva de alavancagem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15% do Contas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Pagar, com divergência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nominal/presente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conformidade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contrato/posição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conformidade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contrato/posição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conformidade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contrato/posição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de proteção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posições à vista;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conformidade exige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contrato/posição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Renegociados mantêm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provisionamento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inadimplência;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atraso &lt;90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sem novo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Renegociados mantêm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provisionamento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inadimplência;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atraso &lt;90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sem novo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Renegociados mantêm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provisionamento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inadimplência;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atraso &lt;90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sem novo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Renegociados mantêm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provisionamento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inadimplência; exceção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atraso &lt;90 dias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sem novo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inadimplemento.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05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definida no regulamento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contratual após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enquadramento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67%/PL em DC, após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inicial previsto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 contrato.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permitidas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suspensas por eventos;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longo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estudantil.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permitidas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suspensas por eventos;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longo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estudantil.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permitidas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suspensas por eventos;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longo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estudantil.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Novas cessões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permitidas sob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critérios/reservas;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suspensas por eventos;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fluxo longo de crédito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estudantil.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cotas/séries com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cotas/séries com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cotas/séries com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Classe fechada de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indeterminado;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cotas/séries com prazo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próprio; investidores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autorizados.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05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vícios/culpa/dolo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vícios/culpa/dolo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vícios/culpa/dolo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vícios/culpa/dolo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sujeitos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responsabilização.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são distintos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irrestrita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cedente.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são distintos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irrestrita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cedente.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são distintos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irrestrita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cedente.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Devedores solidários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responsabilidades por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vícios são distintos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coobrigação irrestrita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cedente.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prioritárias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antes de júnior; evento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 alocação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suspende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prioritárias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antes de júnior; evento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 alocação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suspende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prioritárias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antes de júnior; evento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 alocação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suspende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Despesas/reservas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cotas prioritárias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antes de júnior; evento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altera alocação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suspende novas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aquisições.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Sênior, subordinadas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mezanino e júnior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 e 3ª mezanino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apêndices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 DI + 1,50%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a.a.; 3ª mezanino DI +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2,70% a.a.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geral R$ 1,00.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geral R$ 1.000,00.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VNU geral R$ 1.000,00.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 até R$ 119,7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mi; 3ª mezanino até R$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5,32 mi; VNU R$ 1 mil.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Pravaler (Cred. Universitário I, II, III e IV)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3055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4ª sênior/3ª mezanino: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12 primeiras parcelas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 principal.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Metas 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caixa, prioridades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pro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rata/sequencial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Metas 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caixa, prioridades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pro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rata/sequencial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Metas condicionadas 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caixa, prioridades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regime pro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rata/sequencial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Mensal na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aniversário; principal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linear 1/48 a partir da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13ª parcela até 60ª,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 prioridades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60 meses da primeira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integralização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resgate na 60ª data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após 1º mês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completo de alocação.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Pravaler (Cred. Universitário I, II, III e IV)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31181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marginais: 0,23%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a.a. até R$ 300 mi,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0,16% sobre excesso até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R$ 500 mi e 0,15%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acima; mínimo R$ 25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0,50% a.a./PL,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R$ 25,6 mil/mês; taxa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 administração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controladoria,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componentes próprios.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R$ 19 mil/mês;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lastro/escrituração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setup constituem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adicionais previstos.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R$ 19 mil/mês.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a.a./PL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0,10% ao mês/PL;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até 5º DU do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mês seguinte.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0,05% a.a./PL;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 mensal até 5º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845819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de custódia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incluídos na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Serviços incluídos no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escopo da taxa de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R$ 19 mil/mês; tributos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acrescidos.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0,17% a.a./PL; mínimo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R$ 19 mil/mês; lastro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escrituração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 adicionais.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000" b="1">
                <a:solidFill>
                  <a:srgbClr val="EC7000"/>
                </a:solidFill>
                <a:latin typeface="Calibri"/>
              </a:rPr>
              <a:t>Curadoria Pravaler (Cred. Universitário I, II, III e IV)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68" cy="47137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2245537"/>
                <a:gridCol w="2245537"/>
                <a:gridCol w="2245537"/>
                <a:gridCol w="2245537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Pravaler III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1033271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subordinadas/PL: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cálculo agregado com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validação de classes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2207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30/60/90/180/crédito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PDD/crédito: proxies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agregados; gatilhos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contratuais exigem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fórmula própria.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14081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individual, lastro,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finalidade do hedge 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exigem controle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documental.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5836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03/2026;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selecionar competência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para 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