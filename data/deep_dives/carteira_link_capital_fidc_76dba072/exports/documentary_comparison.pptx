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Natureza dos recebíveis · Títulos de recebíveis de agro, indústria e comércio; performados e padronizados · Fundos.NET ID 1143277; referência 24/03/2026; data/raw/59699204000105/1143277_documentary_review.txt; Anexo,7.1, p28;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Originador/endossante · Cedentes PF/PJ; originação de prestadores e partes relacionadas vedada · Fundos.NET ID 1143277; referência 24/03/2026; data/raw/59699204000105/1143277_documentary_review.txt; Glossário Cedente, p2; Anexo,6.5, p27;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Devedor · Devedores dos títulos comerciais elegíveis; sem inadimplência perante o fundo · Fundos.NET ID 1143277; referência 24/03/2026; data/raw/59699204000105/1143277_documentary_review.txt; Anexo,7–8, pp28–30;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Garantia · Garantias reais/fidejussórias por contrato, sem garantia dos prestadores/FGC · Fundos.NET ID 1143277; referência 24/03/2026; data/raw/59699204000105/1143277_documentary_review.txt; Anexo,6.8 e7.1(c), pp27–28;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Elegibilidade · Créditos em reais, líquidos/exigíveis, vincendos; prazo mínimo 5 dias úteis; devedor adimplente · Fundos.NET ID 1143277; referência 24/03/2026; data/raw/59699204000105/1143277_documentary_review.txt; Anexo,8.1, p30;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Concentração · Não localizado nas fontes acessíveis desta leitura · Fundos.NET ID 1143277; referência 24/03/2026; data/raw/59699204000105/1143277_documentary_review.txt; Inventário das fontes consultadas; https://fnet.bmfbovespa.com.br/fnet/publico/exibirDocumento?id=1143277&amp;cvm=true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Subordinação mínima · Cotas únicas em igualdade; sem subordinação entre subclasses · Fundos.NET ID 1143277; referência 24/03/2026; data/raw/59699204000105/1143277_documentary_review.txt; Anexo,11.1, p37;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Gatilhos de avaliação/liquidação · Reserva desenquadrada, aquisição inelegível ou rebaixamento de rating; indisponibilidade de créditos elegíveis · Fundos.NET ID 1143277; referência 24/03/2026; data/raw/59699204000105/1143277_documentary_review.txt; Anexo,16.2–16.3, p41;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Reserva de caixa · 6 meses de encargos estimados · Fundos.NET ID 1143277; referência 24/03/2026; data/raw/59699204000105/1143277_documentary_review.txt; Anexo,14.1, p40;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Derivativos/hedge · Permitidos exclusivamente para proteção patrimonial, com contraparte central · Fundos.NET ID 1143277; referência 24/03/2026; data/raw/59699204000105/1143277_documentary_review.txt; Anexo,6.4, p27;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PDD · Não localizado nas fontes acessíveis desta leitura · Fundos.NET ID 1143277; referência 24/03/2026; data/raw/59699204000105/1143277_documentary_review.txt; Inventário das fontes consultadas; https://fnet.bmfbovespa.com.br/fnet/publico/exibirDocumento?id=1143277&amp;cvm=true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Alocação mínima · Direitos creditórios ≥ 67% PL após 180 dias; objetivo tributário qualificado · Fundos.NET ID 1143277; referência 24/03/2026; data/raw/59699204000105/1143277_documentary_review.txt; Glossário Alocação Mínima, p1; Anexo,6.2 e6.9;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Pool/revolvência · Novas aquisições com recebimentos da carteira permitidas · Fundos.NET ID 1143277; referência 24/03/2026; data/raw/59699204000105/1143277_documentary_review.txt; Anexo,7.3, p29;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Duração/público-alvo · Classe aberta, prazo indeterminado; investidores profissionais · Fundos.NET ID 1143277; referência 24/03/2026; data/raw/59699204000105/1143277_documentary_review.txt; Anexo,1–3, p21;11.9 e13.1, pp38–39;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Cessão/recompra · Cedente responde pela existência; desenquadramento posterior não cria regresso contra prestadores · Fundos.NET ID 1143277; referência 24/03/2026; data/raw/59699204000105/1143277_documentary_review.txt; Anexo,7.2 e8.2, pp29–30;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Coobrigação · Com ou sem coobrigação conforme contrato · Fundos.NET ID 1143277; referência 24/03/2026; data/raw/59699204000105/1143277_documentary_review.txt; Anexo,7.2(a), p29;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Waterfall · Encargos → derivativos → reserva → resgates → aquisições · Fundos.NET ID 1143277; referência 24/03/2026; data/raw/59699204000105/1143277_documentary_review.txt; Anexo,15.1, p40; https://fnet.bmfbovespa.com.br/fnet/publico/exibirDocumento?id=1143277&amp;cvm=true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Classes/séries · Cotas únicas; VNU inicial R$ 1 mil · Fundos.NET ID 1143277; referência 24/03/2026; data/raw/59699204000105/1143277_documentary_review.txt; Anexo,11.1, p37;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Remuneração · Valorização patrimonial; sem promessa de rendimentos ou spread identificado · Fundos.NET ID 1143277; referência 24/03/2026; data/raw/59699204000105/1143277_documentary_review.txt; Anexo,12.1–12.2, p38;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Volume/VNU · VNU inicial R$ 1 mil; emissão contínua nas condições; volume não localizado · Fundos.NET ID 1143277; referência 24/03/2026; data/raw/59699204000105/1143277_documentary_review.txt; Anexo,11, p37;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Ofertas · Distribuição de cotas independe de prévio registro na CVM · Fundos.NET ID 1143277; referência 24/03/2026; data/raw/59699204000105/1143277_documentary_review.txt; Anexo,11.3, p37; https://fnet.bmfbovespa.com.br/fnet/publico/exibirDocumento?id=1143277&amp;cvm=true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Carência · Resgate solicitado a qualquer tempo; pagamento em até 30 dias · Fundos.NET ID 1143277; referência 24/03/2026; data/raw/59699204000105/1143277_documentary_review.txt; Anexo,13.1, p38;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Juros/amortização · Resgates por solicitação, sujeitos à liquidez e ordem de recursos · Fundos.NET ID 1143277; referência 24/03/2026; data/raw/59699204000105/1143277_documentary_review.txt; Anexo,13, pp38–40; https://fnet.bmfbovespa.com.br/fnet/publico/exibirDocumento?id=1143277&amp;cvm=true · Observação: Conclusão limitada à versão citada; inventário completo não equivale a leitura integral de todos os documentos.</a:t>
            </a:r>
          </a:p>
          <a:p>
            <a:r>
              <a:t>CNPJ 59699204000105 · Vencimento · Prazo indeterminado; possibilidade de suspensão de resgates por iliquidez · Fundos.NET ID 1143277; referência 24/03/2026; data/raw/59699204000105/1143277_documentary_review.txt; Anexo,2 e13; https://fnet.bmfbovespa.com.br/fnet/publico/exibirDocumento?id=1143277&amp;cvm=true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Administração · 0, 18% a.a./PL; mínimo R$ 4 mil/mês; IGP-M · Fundos.NET ID 1143277; referência 24/03/2026; data/raw/59699204000105/1143277_documentary_review.txt; Anexo,5.1, p24; https://fnet.bmfbovespa.com.br/fnet/publico/exibirDocumento?id=1143277&amp;cvm=true; identificação/alteração comprovada também pelo ato ID1143276,24/03/2026,p1,data/raw/59699204000105/1143276_documentary_review.txt · Observação: Ato ID 1143276 reduz mínimo de R$ 5 mil paraR$ 4 mil e aprova versão; permite reconciliar identidade do regulamento sem CNPJ no cabeçalho.</a:t>
            </a:r>
          </a:p>
          <a:p>
            <a:r>
              <a:t>CNPJ 59699204000105 · Gestão · 0, 66%/0, 56%/0, 46% a.a. por faixas; mínimos R$ 12/13, 5/15/18 mil por estágio mensal · Fundos.NET ID 1143277; referência 24/03/2026; data/raw/59699204000105/1143277_documentary_review.txt; Anexo,5.2, p25; https://fnet.bmfbovespa.com.br/fnet/publico/exibirDocumento?id=1143277&amp;cvm=true · Observação: Faixas R$ 50 mi e 100 mi; mínimo 18 mil desde 4º mês; IGP-M.</a:t>
            </a:r>
          </a:p>
          <a:p>
            <a:r>
              <a:t>CNPJ 59699204000105 · Custódia · 0, 06% a.a./PL; inclui escrituração/controladoria · Fundos.NET ID 1143277; referência 24/03/2026; data/raw/59699204000105/1143277_documentary_review.txt; Anexo,5.3, p25; https://fnet.bmfbovespa.com.br/fnet/publico/exibirDocumento?id=1143277&amp;cvm=true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2026-10-07T16:50:54-03:00</a:t>
            </a:r>
          </a:p>
          <a:p>
            <a:r>
              <a:t>Link Capital: CNPJ 59699204000105</a:t>
            </a:r>
          </a:p>
          <a:p>
            <a:r>
              <a:t>Fontes:</a:t>
            </a:r>
          </a:p>
          <a:p>
            <a:r>
              <a:t>CNPJ 59699204000105 · Alocação/subordinação IME · Direitos creditórios / PL e cotas subordinadas / PL; validar fórmula contratual antes de comparar · Fundos.NET ID 1143277; referência 24/03/2026; data/raw/59699204000105/1143277_documentary_review.txt; Inventário das fontes consultadas; https://fnet.bmfbovespa.com.br/fnet/publico/exibirDocumento?id=1143277&amp;cvm=true · Observação: Métricas padronizadas são proxies; data, unidade e denominador precisam coincidir com a regra jurídica.</a:t>
            </a:r>
          </a:p>
          <a:p>
            <a:r>
              <a:t>CNPJ 59699204000105 · Inadimplência/PDD IME · Aging e PDD agregados ajudam no alerta; índice contratual exige reconciliação · Fundos.NET ID 1143277; referência 24/03/2026; data/raw/59699204000105/1143277_documentary_review.txt; Inventário das fontes consultadas; https://fnet.bmfbovespa.com.br/fnet/publico/exibirDocumento?id=1143277&amp;cvm=true · Observação: O IME não substitui bases por devedor, cedente, vintage ou fluxo de vencimentos.</a:t>
            </a:r>
          </a:p>
          <a:p>
            <a:r>
              <a:t>CNPJ 59699204000105 · Controles documentais · Elegibilidade, concentração, recompra jurídica e troca de prestadores exigem documentos individuais · Fundos.NET ID 1143277; referência 24/03/2026; data/raw/59699204000105/1143277_documentary_review.txt; Inventário das fontes consultadas; https://fnet.bmfbovespa.com.br/fnet/publico/exibirDocumento?id=1143277&amp;cvm=true · Observação: Controle documental separado de posições agregadas do IME; lacuna não deve produzir enquadramento presumido.</a:t>
            </a:r>
          </a:p>
          <a:p>
            <a:r>
              <a:t>CNPJ 59699204000105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Títulos de recebíveis de agro, indústria e comércio; performados e padronizados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PF/PJ; originação de prestadores e partes relacionadas vedada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dos títulos comerciais elegíveis; sem inadimplência perante o fundo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reais/fidejussórias por contrato, sem garantia dos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em reais, líquidos/exigíveis, vincendos; prazo mínimo 5 dias úteis; devedor adimplente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únicas em igualdade; sem subordinação entre 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desenquadrada, aquisição inelegível ou rebaixamento de rating; indisponibilidade de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 meses de encargos estimados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Permitidos exclusivamente para proteção patrimonial, com 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≥ 67% PL após 180 dias; objetivo tributário qualificado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aquisições com recebimentos da carteira permitidas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aberta, prazo indeterminado;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responde pela existência; desenquadramento posterior não cria regresso contra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ou sem coobrigação 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derivativos → reserva → resgates → 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únicas; VNU inicial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Valorização patrimonial; sem promessa de rendimentos ou spread 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inicial R$ 1 mil; emissão contínua nas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de cotas independe de prévio registro na CVM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solicitado a qualquer tempo; pagamento em até 30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Resgates por solicitação, sujeitos à liquidez e ordem de recursos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 possibilidade de suspensão de resgates por iliquidez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18% a.a./PL; mínimo R$ 4 mil/mês; 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66%/0, 56%/0, 46% a.a. por faixas; mínimos R$ 12/13, 5/15/18 mil por estágio 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06% a.a./PL; inclui escrituração/controladoria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LINK CAPITAL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Link Capital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