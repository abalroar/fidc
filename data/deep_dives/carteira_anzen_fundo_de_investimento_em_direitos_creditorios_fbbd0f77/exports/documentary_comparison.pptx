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Natureza dos recebíveis · Créditos de vendas/serviços performados ou a performar; inclui CCB e cartão · data/raw/60043514000156/1027083_regulamento.pdf | Fundos.NET ID 1027083 | 03/11/2025 | regulamento | p. 25 · Observação: Regra da versão citada; contratos e séries exigem seus instrumentos próprios.</a:t>
            </a:r>
          </a:p>
          <a:p>
            <a:r>
              <a:t>CNPJ 60043514000156 · Originador/endossante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Devedor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Garantia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Elegibilidade · Cedente em recuperação permitido com plano homologado e crédito sem entrega futura · data/raw/60043514000156/1027083_regulamento.pdf | Fundos.NET ID 1027083 | 03/11/2025 | regulamento | p. 25 · Observação: Regra da versão citada; contratos e séries exigem seus instrumentos próprios.</a:t>
            </a:r>
          </a:p>
          <a:p>
            <a:r>
              <a:t>CNPJ 60043514000156 · Concentração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Subordinação mínima · Subordinadas/PL ≥30% · data/raw/60043514000156/1027083_regulamento.pdf | Fundos.NET ID 1027083 | 03/11/2025 | regulamento | p. 8 · Observação: Regra da versão citada; contratos e séries exigem seus instrumentos próprios.</a:t>
            </a:r>
          </a:p>
          <a:p>
            <a:r>
              <a:t>CNPJ 60043514000156 · Gatilhos de avaliação/liquidação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Reserva de caixa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Derivativos/hedge · Proteção de posições; exposição limitada ao PL · data/raw/60043514000156/1027083_regulamento.pdf | Fundos.NET ID 1027083 | 03/11/2025 | regulamento | p. 27 · Observação: Regra da versão citada; contratos e séries exigem seus instrumentos próprios.</a:t>
            </a:r>
          </a:p>
          <a:p>
            <a:r>
              <a:t>CNPJ 60043514000156 · PDD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Alocação mínima · DC &gt;50% PL após 180 dias · data/raw/60043514000156/1027083_regulamento.pdf | Fundos.NET ID 1027083 | 03/11/2025 | regulamento | p. 26 · Observação: Regra da versão citada; contratos e séries exigem seus instrumentos próprios.</a:t>
            </a:r>
          </a:p>
          <a:p>
            <a:r>
              <a:t>CNPJ 60043514000156 · Pool/revolvência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Duração/público-alvo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Cessão/recompra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Coobrigação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Waterfall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Classes/séries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Remuneração · Spread final não localizado nas cláusulas revisadas; requer suplemento ou ato específico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Volume/VNU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Ofertas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Carência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Juros/amortização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60043514000156 · Vencimento · Não localizado nas cláusulas revisadas; requer documento aplicável · data/raw/60043514000156/1027083_regulamento.pdf | Fundos.NET ID 1027083 | 03/11/2025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Administração · Apêndice júnior: R$ 4 mil/mês; R$ 2 mil nos primeiros 6 meses · data/raw/60043514000156/1027083_regulamento.pdf | Fundos.NET ID 1027083 | 03/11/2025 | regulamento | p. 57 · Observação: Valor do apêndice júnior. Confirmar composição por subclasse antes de somar custos totais.</a:t>
            </a:r>
          </a:p>
          <a:p>
            <a:r>
              <a:t>CNPJ 60043514000156 · Gestão · Apêndice júnior: 0,30% a.a. PL da classe; mínimo R$ 8 mil/mês, com desconto inicial · data/raw/60043514000156/1027083_regulamento.pdf | Fundos.NET ID 1027083 | 03/11/2025 | regulamento | p. 57-58 · Observação: Desconto de 50% no mínimo por 6 meses. Cogestão adicional 0,40% PL com mínimo divergente R$ 10 mil numérico e R$ 15 mil extenso.</a:t>
            </a:r>
          </a:p>
          <a:p>
            <a:r>
              <a:t>CNPJ 60043514000156 · Custódia · Apêndice júnior: R$ 1 mil/mês; R$ 500 nos primeiros 6 meses · data/raw/60043514000156/1027083_regulamento.pdf | Fundos.NET ID 1027083 | 03/11/2025 | regulamento | p. 58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2026-10-07T16:30:31-03:00</a:t>
            </a:r>
          </a:p>
          <a:p>
            <a:r>
              <a:t>Anzen: CNPJ 60043514000156</a:t>
            </a:r>
          </a:p>
          <a:p>
            <a:r>
              <a:t>Fontes:</a:t>
            </a:r>
          </a:p>
          <a:p>
            <a:r>
              <a:t>CNPJ 60043514000156 · Alocação/subordinação IME · DC/PL e composição de cotas ajudam; validar numerador, denominador e versão contratual · data/raw/60043514000156/1027083_regulamento.pdf | Fundos.NET ID 1027083 | 03/11/2025 · Observação: Proxy metodológica. FIC investe em cotas: não usar DC/PL como substituto da alocação em fundos-alvo. Nenhum saldo observado nesta revisão documental.</a:t>
            </a:r>
          </a:p>
          <a:p>
            <a:r>
              <a:t>CNPJ 60043514000156 · Inadimplência/PDD IME · Over e PDD agregados são alertas; fórmulas contratuais exigem validação · data/raw/60043514000156/1027083_regulamento.pdf | Fundos.NET ID 1027083 | 03/11/2025 · Observação: Não reproduzem médias móveis, coortes, exposição individual, motivo de recompra, chargeback e perdas históricas sem dados adicionais.</a:t>
            </a:r>
          </a:p>
          <a:p>
            <a:r>
              <a:t>CNPJ 60043514000156 · Controles documentais · Elegibilidade, concentração, lastro e eventos exigem controles por contrato · data/raw/60043514000156/1027083_regulamento.pdf | Fundos.NET ID 1027083 | 03/11/2025 · Observação: IME público agregado não certifica devedor/cedente/grupo nem alterações de prestadores e cross default.</a:t>
            </a:r>
          </a:p>
          <a:p>
            <a:r>
              <a:t>CNPJ 60043514000156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ANZEN FUNDO DE INVESTIMENTO EM DIREITOS CREDITÓRIOS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vendas/serviços performados ou a performar; inclui CCB e cartão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em recuperação permitido com plano homologado e crédito sem entrega futura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ANZEN FUNDO DE INVESTIMENTO EM DIREITOS CREDITÓRIOS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≥30%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posições; exposição limitada ao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ANZEN FUNDO DE INVESTIMENTO EM DIREITOS CREDITÓRIOS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&gt;50% PL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ANZEN FUNDO DE INVESTIMENTO EM DIREITOS CREDITÓRIOS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ANZEN FUNDO DE INVESTIMENTO EM DIREITOS CREDITÓRIOS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ANZEN FUNDO DE INVESTIMENTO EM DIREITOS CREDITÓRIOS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 júnior: R$ 4 mil/mês; R$ 2 mil nos primeiros 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 júnior: 0,30% a.a. PL da classe; mínimo R$ 8 mil/mês, com desconto 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 júnior: R$ 1 mil/mês; R$ 500 nos primeiros 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ANZEN FUNDO DE INVESTIMENTO EM DIREITOS CREDITÓRIOS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Anzen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