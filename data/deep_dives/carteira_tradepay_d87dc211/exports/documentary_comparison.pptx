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2026-10-07T16:31:11-03:00</a:t>
            </a:r>
          </a:p>
          <a:p>
            <a:r>
              <a:t>Tradepay Varejo I: CNPJ 31570767000180</a:t>
            </a:r>
          </a:p>
          <a:p>
            <a:r>
              <a:t>Fontes:</a:t>
            </a:r>
          </a:p>
          <a:p>
            <a:r>
              <a:t>CNPJ 31570767000180 · Natureza dos recebíveis · Créditos comerciais performados originados em convênios · Fundos.NET ID 1203635; referência 25/05/2026; data/raw/31570767000180/1203635_documentary_review.txt; Anexo,5.2 e9.1;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Originador/endossante · Cedente e conveniados comerciais conforme contratos · Fundos.NET ID 1203635; referência 25/05/2026; data/raw/31570767000180/1203635_documentary_review.txt; Anexo,definições e9;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Devedor · Devedores dos créditos comerciais cedidos · Fundos.NET ID 1203635; referência 25/05/2026; data/raw/31570767000180/1203635_documentary_review.txt; Anexo,definições e6;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Garantia · Créditos&gt; R$ 5 mi cobertos porseguro; crédito semseguro limitado a 50% · Fundos.NET ID 1203635; referência 25/05/2026; data/raw/31570767000180/1203635_documentary_review.txt; Anexo,5.1; https://fnet.bmfbovespa.com.br/fnet/publico/exibirDocumento?id=1203635&amp;cvm=true · Observação: Validar a base exata deaquisição; não generalizar cobertura atodos oscontratos.</a:t>
            </a:r>
          </a:p>
          <a:p>
            <a:r>
              <a:t>CNPJ 31570767000180 · Elegibilidade · Performados; mínimo 200 devedores; prazo médio/cessão eformalização contratual · Fundos.NET ID 1203635; referência 25/05/2026; data/raw/31570767000180/1203635_documentary_review.txt; Anexo,6.1;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Concentração · Convênio≤ 30%, um até 40%; devedor≤ 5% PL, cai a 4% apósPLR$ 800 mi; top 5≤ 15% · Fundos.NET ID 1203635; referência 25/05/2026; data/raw/31570767000180/1203635_documentary_review.txt; Anexo,5.2.1 e6.1; https://fnet.bmfbovespa.com.br/fnet/publico/exibirDocumento?id=1203635&amp;cvm=true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2026-10-07T16:31:11-03:00</a:t>
            </a:r>
          </a:p>
          <a:p>
            <a:r>
              <a:t>Tradepay Varejo I: CNPJ 31570767000180</a:t>
            </a:r>
          </a:p>
          <a:p>
            <a:r>
              <a:t>Fontes:</a:t>
            </a:r>
          </a:p>
          <a:p>
            <a:r>
              <a:t>CNPJ 31570767000180 · Subordinação mínima · Total subordinado≥ 20% PL; júnior≥ 5%; júnior+mezaninoA≥ 10% · Fundos.NET ID 1203635; referência 25/05/2026; data/raw/31570767000180/1203635_documentary_review.txt; Anexo,13.1;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Gatilhos de avaliação/liquidação · Recompra mensal&gt; 10% carteira; NPL/média móvel e repasses; liquidação over 30&gt; 15%, over 60&gt; 12, 5% · Fundos.NET ID 1203635; referência 25/05/2026; data/raw/31570767000180/1203635_documentary_review.txt; Anexo,17–18; https://fnet.bmfbovespa.com.br/fnet/publico/exibirDocumento?id=1203635&amp;cvm=true · Observação: Indicadores NPL e média móvel têm fórmulas específicas; não equivalem automaticamente ao aging doIME.</a:t>
            </a:r>
          </a:p>
          <a:p>
            <a:r>
              <a:t>CNPJ 31570767000180 · Reserva de caixa · Não localizado nas fontes acessíveis desta leitura · Fundos.NET ID 1203635; referência 25/05/2026; data/raw/31570767000180/1203635_documentary_review.txt; Inventário das fontes consultadas; https://fnet.bmfbovespa.com.br/fnet/publico/exibirDocumento?id=1203635&amp;cvm=true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31570767000180 · Derivativos/hedge · Derivativos vedados · Fundos.NET ID 1203635; referência 25/05/2026; data/raw/31570767000180/1203635_documentary_review.txt; Anexo,5.17;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PDD · Não localizado nas fontes acessíveis desta leitura · Fundos.NET ID 1203635; referência 25/05/2026; data/raw/31570767000180/1203635_documentary_review.txt; Inventário das fontes consultadas; https://fnet.bmfbovespa.com.br/fnet/publico/exibirDocumento?id=1203635&amp;cvm=true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2026-10-07T16:31:11-03:00</a:t>
            </a:r>
          </a:p>
          <a:p>
            <a:r>
              <a:t>Tradepay Varejo I: CNPJ 31570767000180</a:t>
            </a:r>
          </a:p>
          <a:p>
            <a:r>
              <a:t>Fontes:</a:t>
            </a:r>
          </a:p>
          <a:p>
            <a:r>
              <a:t>CNPJ 31570767000180 · Alocação mínima · Direitos creditórios≥ 50% PL ematé 180 dias · Fundos.NET ID 1203635; referência 25/05/2026; data/raw/31570767000180/1203635_documentary_review.txt; Anexo,5.3;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Pool/revolvência · Aquisições sucessivas; suspensão nos eventos de avaliação/liquidação · Fundos.NET ID 1203635; referência 25/05/2026; data/raw/31570767000180/1203635_documentary_review.txt; Anexo,5 e17–18;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Duração/público-alvo · Classe fechada, prazo indeterminado; público específico conforme suplemento · Fundos.NET ID 1203635; referência 25/05/2026; data/raw/31570767000180/1203635_documentary_review.txt; Anexo,2–3;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Cessão/recompra · Cessão irrevogável; limites e eventos derecompra; contratação individual necessária · Fundos.NET ID 1203635; referência 25/05/2026; data/raw/31570767000180/1203635_documentary_review.txt; Anexo,5.5 e17;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Coobrigação · Não localizado nas fontes acessíveis desta leitura · Fundos.NET ID 1203635; referência 25/05/2026; data/raw/31570767000180/1203635_documentary_review.txt; Inventário das fontes consultadas; https://fnet.bmfbovespa.com.br/fnet/publico/exibirDocumento?id=1203635&amp;cvm=true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31570767000180 · Waterfall · Não localizado nas fontes acessíveis desta leitura · Fundos.NET ID 1203635; referência 25/05/2026; data/raw/31570767000180/1203635_documentary_review.txt; Inventário das fontes consultadas; https://fnet.bmfbovespa.com.br/fnet/publico/exibirDocumento?id=1203635&amp;cvm=true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2026-10-07T16:31:11-03:00</a:t>
            </a:r>
          </a:p>
          <a:p>
            <a:r>
              <a:t>Tradepay Varejo I: CNPJ 31570767000180</a:t>
            </a:r>
          </a:p>
          <a:p>
            <a:r>
              <a:t>Fontes:</a:t>
            </a:r>
          </a:p>
          <a:p>
            <a:r>
              <a:t>CNPJ 31570767000180 · Classes/séries · Sênior; mezaninoA/B e júnior · Fundos.NET ID 1203635; referência 25/05/2026; data/raw/31570767000180/1203635_documentary_review.txt; Anexo,13 eapêndices;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Remuneração · Spread por série remetido aos suplementos; spread final não localizado nesta leitura · Fundos.NET ID 1203635; referência 25/05/2026; data/raw/31570767000180/1203635_documentary_review.txt; Anexo,modelos desuplemento; https://fnet.bmfbovespa.com.br/fnet/publico/exibirDocumento?id=1203635&amp;cvm=true · Observação: DI + 6, 30% a.a. é taxa média mínima dos direitos creditórios; não usar como remuneração da cota.</a:t>
            </a:r>
          </a:p>
          <a:p>
            <a:r>
              <a:t>CNPJ 31570767000180 · Volume/VNU · VNU sênior inicialR$ 1.000; volume atualizado por emissão · Fundos.NET ID 1203635; referência 25/05/2026; data/raw/31570767000180/1203635_documentary_review.txt; Anexo,apêndice sênior,1.9;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Ofertas · Não localizado nas fontes acessíveis desta leitura · Fundos.NET ID 1203635; referência 25/05/2026; data/raw/31570767000180/1203635_documentary_review.txt; Inventário das fontes consultadas; https://fnet.bmfbovespa.com.br/fnet/publico/exibirDocumento?id=1203635&amp;cvm=true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2026-10-07T16:31:11-03:00</a:t>
            </a:r>
          </a:p>
          <a:p>
            <a:r>
              <a:t>Tradepay Varejo I: CNPJ 31570767000180</a:t>
            </a:r>
          </a:p>
          <a:p>
            <a:r>
              <a:t>Fontes:</a:t>
            </a:r>
          </a:p>
          <a:p>
            <a:r>
              <a:t>CNPJ 31570767000180 · Carência · Conforme série/suplemento; cronograma fechado não identificado nesta leitura · Fundos.NET ID 1203635; referência 25/05/2026; data/raw/31570767000180/1203635_documentary_review.txt; Anexo,apêndices;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Juros/amortização · Conforme suplementos; júnior sujeita asubordinação eeventos · Fundos.NET ID 1203635; referência 25/05/2026; data/raw/31570767000180/1203635_documentary_review.txt; Anexo,13 eapêndices;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Vencimento · Não localizado nas fontes acessíveis desta leitura · Fundos.NET ID 1203635; referência 25/05/2026; data/raw/31570767000180/1203635_documentary_review.txt; Inventário das fontes consultadas; https://fnet.bmfbovespa.com.br/fnet/publico/exibirDocumento?id=1203635&amp;cvm=true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2026-10-07T16:31:11-03:00</a:t>
            </a:r>
          </a:p>
          <a:p>
            <a:r>
              <a:t>Tradepay Varejo I: CNPJ 31570767000180</a:t>
            </a:r>
          </a:p>
          <a:p>
            <a:r>
              <a:t>Fontes:</a:t>
            </a:r>
          </a:p>
          <a:p>
            <a:r>
              <a:t>CNPJ 31570767000180 · Administração · 0, 22% a.a./PL +R$ 750/mês; tributos acrescidos · Fundos.NET ID 1203635; referência 25/05/2026; data/raw/31570767000180/1203635_documentary_review.txt; Anexo,12.1; https://fnet.bmfbovespa.com.br/fnet/publico/exibirDocumento?id=1203635&amp;cvm=true · Observação: Conclusão limitada à versão citada; inventário completo não equivale a leitura integral de todos os documentos.</a:t>
            </a:r>
          </a:p>
          <a:p>
            <a:r>
              <a:t>CNPJ 31570767000180 · Gestão · 0, 63% /0, 50% /0, 375% a.a. por faixas de PL · Fundos.NET ID 1203635; referência 25/05/2026; data/raw/31570767000180/1203635_documentary_review.txt; Anexo,12.2; https://fnet.bmfbovespa.com.br/fnet/publico/exibirDocumento?id=1203635&amp;cvm=true · Observação: Faixas: R$ 0–200 mi, R$ 200–500 mi eacima; fonte não autoriza assumir ausência demínimo.</a:t>
            </a:r>
          </a:p>
          <a:p>
            <a:r>
              <a:t>CNPJ 31570767000180 · Custódia · Custódia/controladoria/escrituração no pacote de administração · Fundos.NET ID 1203635; referência 25/05/2026; data/raw/31570767000180/1203635_documentary_review.txt; Anexo,12.1; https://fnet.bmfbovespa.com.br/fnet/publico/exibirDocumento?id=1203635&amp;cvm=true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2026-10-07T16:31:11-03:00</a:t>
            </a:r>
          </a:p>
          <a:p>
            <a:r>
              <a:t>Tradepay Varejo I: CNPJ 31570767000180</a:t>
            </a:r>
          </a:p>
          <a:p>
            <a:r>
              <a:t>Fontes:</a:t>
            </a:r>
          </a:p>
          <a:p>
            <a:r>
              <a:t>CNPJ 31570767000180 · Alocação/subordinação IME · Direitos creditórios / PL e cotas subordinadas / PL; validar fórmula contratual antes de comparar · Fundos.NET ID 1203635; referência 25/05/2026; data/raw/31570767000180/1203635_documentary_review.txt; Inventário das fontes consultadas; https://fnet.bmfbovespa.com.br/fnet/publico/exibirDocumento?id=1203635&amp;cvm=true · Observação: Métricas padronizadas são proxies; data, unidade e denominador precisam coincidir com a regra jurídica.</a:t>
            </a:r>
          </a:p>
          <a:p>
            <a:r>
              <a:t>CNPJ 31570767000180 · Inadimplência/PDD IME · Aging e PDD agregados ajudam no alerta; índice contratual exige reconciliação · Fundos.NET ID 1203635; referência 25/05/2026; data/raw/31570767000180/1203635_documentary_review.txt; Inventário das fontes consultadas; https://fnet.bmfbovespa.com.br/fnet/publico/exibirDocumento?id=1203635&amp;cvm=true · Observação: O IME não substitui bases por devedor, cedente, vintage ou fluxo de vencimentos.</a:t>
            </a:r>
          </a:p>
          <a:p>
            <a:r>
              <a:t>CNPJ 31570767000180 · Controles documentais · Elegibilidade, concentração, recompra jurídica e troca de prestadores exigem documentos individuais · Fundos.NET ID 1203635; referência 25/05/2026; data/raw/31570767000180/1203635_documentary_review.txt; Inventário das fontes consultadas; https://fnet.bmfbovespa.com.br/fnet/publico/exibirDocumento?id=1203635&amp;cvm=true · Observação: Controle documental separado de posições agregadas do IME; lacuna não deve produzir enquadramento presumido.</a:t>
            </a:r>
          </a:p>
          <a:p>
            <a:r>
              <a:t>CNPJ 31570767000180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Tradepay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Tradepay Varejo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comerciais performados originados em convênios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e conveniados comerciais conforme 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dos créditos comerciais cedidos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Créditos&gt; R$ 5 mi cobertos porseguro; crédito semseguro limitado a 50%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Performados; mínimo 200 devedores; prazo médio/cessão eformalização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Convênio≤ 30%, um até 40%; devedor≤ 5% PL, cai a 4% apósPLR$ 800 mi; top 5≤ 15%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Tradepay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Tradepay Varejo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Total subordinado≥ 20% PL; júnior≥ 5%; júnior+mezaninoA≥ 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 mensal&gt; 10% carteira; NPL/média móvel e repasses; liquidação over 30&gt; 15%, over 60&gt; 12, 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Tradepay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Tradepay Varejo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creditórios≥ 50% PL ematé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sucessivas; suspensão nos eventos de 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prazo indeterminado; público específico conforme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irrevogável; limites e eventos derecompra; contratação individual necessária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Tradepay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Tradepay Varejo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mezaninoA/B 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sênior inicialR$ 1.000; volume atualizado por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Tradepay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Tradepay Varejo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sujeita asubordinação eeventos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Tradepay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Tradepay Varejo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22% a.a./PL +R$ 750/mês; tributos acrescidos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63% /0, 50% /0, 375% a.a. por faixas de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Custódia/controladoria/escrituração no pacote de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Tradepay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Tradepay Varejo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