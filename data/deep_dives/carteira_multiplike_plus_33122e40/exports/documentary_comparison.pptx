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Natureza dos recebíveis · Recebíveis comerciais/industriais/serviços e crédito financeiro: duplicatas, CCBs, CPRs, notas comerciais e contratos. · Fundos.NET ID 1223029; referência 08/06/2026; data/raw/42154687000160/1223029_regulamento.txt; pp.23–24, 4.1–4.2;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Originador/endossante · Múltiplos credores brasileiros aprovados pela gestora; Multiplike Consultoria e Cobrança atua na seleção/cobrança. · Fundos.NET ID 1223029; referência 08/06/2026; data/raw/42154687000160/1223029_regulamento.txt; 4.1–4.4; anexo de prestadores;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Devedor · Múltiplos sacados/devedores; em CCB bancarizada, concentração considera devedor econômico, sob condições. · Fundos.NET ID 1223029; referência 08/06/2026; data/raw/42154687000160/1223029_regulamento.txt; pp.28–29, 5.1(j);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Garantia · Carteira CCB/CPR/NCC com colaterais mínimos de 60%; crédito sem garantia tem limite próprio. · Fundos.NET ID 1223029; referência 08/06/2026; data/raw/42154687000160/1223029_regulamento.txt; p.29, 5.1(n–o); https://fnet.bmfbovespa.com.br/fnet/publico/exibirDocumento?id=1223029&amp;cvm=true · Observação: Garantias contratuais não equivalem a cobertura financeira certa; mensuração individual pela gestora.</a:t>
            </a:r>
          </a:p>
          <a:p>
            <a:r>
              <a:t>CNPJ 42154687000160 · Elegibilidade · Crédito adimplente na aquisição; devedor sem atraso &gt;12 dias úteis; prazos médios de 540 DU (CCB/CPR/NCC) e 70 DU (demais). · Fundos.NET ID 1223029; referência 08/06/2026; data/raw/42154687000160/1223029_regulamento.txt; pp.25–28, 5.1;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Concentração · CCB/CPR/NCC: mesmo devedor ≤3,5%/PL, top10 ≤20%/PL; não cobertos por garantias ≤2%/PL. · Fundos.NET ID 1223029; referência 08/06/2026; data/raw/42154687000160/1223029_regulamento.txt; p.29, 5.1(k–n); https://fnet.bmfbovespa.com.br/fnet/publico/exibirDocumento?id=1223029&amp;cvm=true · Observação: Limites adicionais por credor/grupo continuam aplicáveis; bancarizador não é originador econômico quando atendido 5.1(j).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Subordinação mínima · Subordinadas ≥40%/PL; júnior ≥50% do patrimônio das subordinadas. · Fundos.NET ID 1223029; referência 08/06/2026; data/raw/42154687000160/1223029_regulamento.txt; p.54, 8.9–8.10; https://fnet.bmfbovespa.com.br/fnet/publico/exibirDocumento?id=1223029&amp;cvm=true · Observação: Bases diferentes: 50% refere-se à parcela subordinada. O valor histórico 166,7% não representa piso de subordinadas/PL.</a:t>
            </a:r>
          </a:p>
          <a:p>
            <a:r>
              <a:t>CNPJ 42154687000160 · Gatilhos de avaliação/liquidação · Desenquadramento exige aviso e decisão em 5 DU; cura em 10 DU; falhas persistentes sujeitas à avaliação/liquidação. · Fundos.NET ID 1223029; referência 08/06/2026; data/raw/42154687000160/1223029_regulamento.txt; pp.54–55, 8.12; capítulo de eventos;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Reserva de caixa · Despesas: maior entre 90 dias estimados e 1%/PL; amortização 50% a 30 dias e 100% a 7 DU. · Fundos.NET ID 1223029; referência 08/06/2026; data/raw/42154687000160/1223029_regulamento.txt; p.62, 9.1–9.4;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Derivativos/hedge · Somente proteção de posições à vista, até o limite destas; day trade vedado. · Fundos.NET ID 1223029; referência 08/06/2026; data/raw/42154687000160/1223029_regulamento.txt; p.21, 3.4–3.4.1;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PDD · Perda esperada/recuperabilidade e precificação; piso uniforme de PDD/crédito não confirmado. · Fundos.NET ID 1223029; referência 08/06/2026; data/raw/42154687000160/1223029_regulamento.txt; p.63, 10.6; https://fnet.bmfbovespa.com.br/fnet/publico/exibirDocumento?id=1223029&amp;cvm=true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Alocação mínima · 50%/PL em DC após 180 dias da primeira integralização. · Fundos.NET ID 1223029; referência 08/06/2026; data/raw/42154687000160/1223029_regulamento.txt; p.20, 3.1; p.80, Alocação Mínima;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Pool/revolvência · Carteira com novas aquisições, sujeita a reservas e eventos; múltiplos credores e devedores. · Fundos.NET ID 1223029; referência 08/06/2026; data/raw/42154687000160/1223029_regulamento.txt; pp.64–65, 12.1–12.2;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Duração/público-alvo · Classe fechada, prazo indeterminado; investidores autorizados e prazo próprio de cada série. · Fundos.NET ID 1223029; referência 08/06/2026; data/raw/42154687000160/1223029_regulamento.txt; p.20, 1.3/2.1;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Cessão/recompra · Transferência definitiva com ou sem regresso; recompra e lastro regidos pelo Contrato de Aquisição. · Fundos.NET ID 1223029; referência 08/06/2026; data/raw/42154687000160/1223029_regulamento.txt; pp.23–24, 4.3–4.4;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Coobrigação · Com ou sem coobrigação; cedente responde por constituição/validade e pelo pagamento quando coobrigado. · Fundos.NET ID 1223029; referência 08/06/2026; data/raw/42154687000160/1223029_regulamento.txt; p.24, 4.3–4.4;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Waterfall · Liquidação: despesas → reserva de despesas → sênior → mezanino → júnior. · Fundos.NET ID 1223029; referência 08/06/2026; data/raw/42154687000160/1223029_regulamento.txt; p.65, 12.2; https://fnet.bmfbovespa.com.br/fnet/publico/exibirDocumento?id=1223029&amp;cvm=true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Classes/séries · 21ª/22ª sênior no prospecto; 5ª emissão júnior aprovada em junho; demais séries identificadas no rating histórico. · Fundos.NET ID 1160029; prospecto 01/04/2026; data/raw/42154687000160/1160029_prospecto_ou_l_mina.txt; pp.6–7,12; https://fnet.bmfbovespa.com.br/fnet/publico/exibirDocumento?id=1160029&amp;cvm=true; Fundos.NET ID 1237432; 30/06/2026; data/raw/42154687000160/1237432_instrumento_de_emiss_o.txt; pp.1–2; https://fnet.bmfbovespa.com.br/fnet/publico/exibirDocumento?id=1237432&amp;cvm=true; Fundos.NET ID 1237281; 30/06/2026; data/raw/42154687000160/1237281_relat_rio_de_rating.txt; pp.1–2; https://fnet.bmfbovespa.com.br/fnet/publico/exibirDocumento?id=1237281&amp;cvm=true · Observação: Conclusão documental da cláusula citada; não representa posição IME.</a:t>
            </a:r>
          </a:p>
          <a:p>
            <a:r>
              <a:t>CNPJ 42154687000160 · Remuneração · 21ª sênior CDI + 2,00% a.a.; 22ª CDI + 1,25% a.a.; júnior residual. · Fundos.NET ID 1160029; prospecto 01/04/2026; data/raw/42154687000160/1160029_prospecto_ou_l_mina.txt; pp.6–7,12; https://fnet.bmfbovespa.com.br/fnet/publico/exibirDocumento?id=1160029&amp;cvm=true; Fundos.NET ID 1237432; 30/06/2026; data/raw/42154687000160/1237432_instrumento_de_emiss_o.txt; pp.1–2; https://fnet.bmfbovespa.com.br/fnet/publico/exibirDocumento?id=1237432&amp;cvm=true · Observação: Conclusão documental da cláusula citada; não representa posição IME.</a:t>
            </a:r>
          </a:p>
          <a:p>
            <a:r>
              <a:t>CNPJ 42154687000160 · Volume/VNU · 21ª até R$ 200 mi; 22ª até R$ 10 mi; VNU R$ 1 mil; 5ª júnior até R$ 100 mi (ato posterior). · Fundos.NET ID 1160029; prospecto 01/04/2026; data/raw/42154687000160/1160029_prospecto_ou_l_mina.txt; pp.6–7,12; https://fnet.bmfbovespa.com.br/fnet/publico/exibirDocumento?id=1160029&amp;cvm=true; Fundos.NET ID 1237432; 30/06/2026; data/raw/42154687000160/1237432_instrumento_de_emiss_o.txt; pp.1–2; https://fnet.bmfbovespa.com.br/fnet/publico/exibirDocumento?id=1237432&amp;cvm=true · Observação: Valores ofertados/aprovados; distribuição efetiva não confirmada por encerramento.</a:t>
            </a:r>
          </a:p>
          <a:p>
            <a:r>
              <a:t>CNPJ 42154687000160 · Ofertas · 21ª/22ª no prospecto automático; 5ª júnior restrita a cotistas existentes, com cancelamento do saldo. · Fundos.NET ID 1160029; prospecto 01/04/2026; data/raw/42154687000160/1160029_prospecto_ou_l_mina.txt; pp.6–7,12; https://fnet.bmfbovespa.com.br/fnet/publico/exibirDocumento?id=1160029&amp;cvm=true; Fundos.NET ID 1237432; 30/06/2026; data/raw/42154687000160/1237432_instrumento_de_emiss_o.txt; pp.1–2; https://fnet.bmfbovespa.com.br/fnet/publico/exibirDocumento?id=1237432&amp;cvm=true · Observação: Encerramento e volumes efetivamente distribuídos não confirmados.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Carência · 21ª/22ª: 24 meses de principal, juros mensais; divergência interna sobre número de parcelas. · Fundos.NET ID 1160029; prospecto 01/04/2026; data/raw/42154687000160/1160029_prospecto_ou_l_mina.txt; pp.6–7,12; https://fnet.bmfbovespa.com.br/fnet/publico/exibirDocumento?id=1160029&amp;cvm=true · Observação: Conclusão documental da cláusula citada; não representa posição IME.</a:t>
            </a:r>
          </a:p>
          <a:p>
            <a:r>
              <a:t>CNPJ 42154687000160 · Juros/amortização · Amortização indicada desde 15/05/2028; documento diverge entre 24 parcelas e meses 25–36. · Fundos.NET ID 1160029; prospecto 01/04/2026; data/raw/42154687000160/1160029_prospecto_ou_l_mina.txt; pp.6–7,12; https://fnet.bmfbovespa.com.br/fnet/publico/exibirDocumento?id=1160029&amp;cvm=true · Observação: Necessário suplemento/instrumento final para fechar calendário.</a:t>
            </a:r>
          </a:p>
          <a:p>
            <a:r>
              <a:t>CNPJ 42154687000160 · Vencimento · Prospecto informa 1.825 dias; incompatibilidade aparente com texto de meses 25–36. · Fundos.NET ID 1160029; prospecto 01/04/2026; data/raw/42154687000160/1160029_prospecto_ou_l_mina.txt; pp.6–7,12; https://fnet.bmfbovespa.com.br/fnet/publico/exibirDocumento?id=1160029&amp;cvm=true · Observação: Conclusão documental da cláusula citada; não representa posição 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Administração · Componente V1: 0,215% a.a./PL; mínimo numérico R$ 15,5 mil/mês inclui custódia/controladoria/escrituração; TA agrega gestão e REA. · Fundos.NET ID 1223029; referência 08/06/2026; data/raw/42154687000160/1223029_regulamento.txt; p.10, 7.1; https://fnet.bmfbovespa.com.br/fnet/publico/exibirDocumento?id=1223029&amp;cvm=true · Observação: Mínimo contraditório com extenso quatro mil reais; confirmado somente como valor numérico do documento.</a:t>
            </a:r>
          </a:p>
          <a:p>
            <a:r>
              <a:t>CNPJ 42154687000160 · Gestão · 1,20% a.a./PL; mínimo R$ 6 mil/mês; componente da TA; IPCA anual. · Fundos.NET ID 1223029; referência 08/06/2026; data/raw/42154687000160/1223029_regulamento.txt; pp.10–11, 7.1–7.2;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Custódia · Incluída no componente V1/serviços da administradora; taxa separada não identificada. · Fundos.NET ID 1223029; referência 08/06/2026; data/raw/42154687000160/1223029_regulamento.txt; p.10, 7.1; https://fnet.bmfbovespa.com.br/fnet/publico/exibirDocumento?id=1223029&amp;cvm=true · Observação: Conclusão documental; validade limitada à versão citada e às ressalvas desta revisão.</a:t>
            </a:r>
          </a:p>
          <a:p>
            <a:r>
              <a:t>CNPJ 42154687000160 · Consultoria/cobrança · 0,75% ao mês sobre valor de aquisição dos DC, conforme anexo de consultoria. · Fundos.NET ID 1223029; referência 08/06/2026; data/raw/42154687000160/1223029_regulamento.txt; anexo de Consultor Especializado, 7.3; https://fnet.bmfbovespa.com.br/fnet/publico/exibirDocumento?id=1223029&amp;cvm=true · Observação: Base de aquisição, não PL; verificar volume de cessões para apurar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2026-10-07T14:50:59-03:00</a:t>
            </a:r>
          </a:p>
          <a:p>
            <a:r>
              <a:t>Multiplike Plus: CNPJ 42154687000160</a:t>
            </a:r>
          </a:p>
          <a:p>
            <a:r>
              <a:t>Fontes:</a:t>
            </a:r>
          </a:p>
          <a:p>
            <a:r>
              <a:t>CNPJ 42154687000160 · Alocação/subordinação IME · DC/PL e cotas subordinadas/PL: cálculo agregado com validação de classes e do denominador. · Corpus do CNPJ 42154687000160, revisão 2026-10-07T14:50:59-03:00; Fundos.NET ID 1223029, referência 08/06/2026, arquivo data/raw/42154687000160/1223029_regulamento.txt · Observação: Monitorável com ressalva: IME mensal não prova cumprimento diário nem composição jurídica por série.</a:t>
            </a:r>
          </a:p>
          <a:p>
            <a:r>
              <a:t>CNPJ 42154687000160 · Inadimplência/PDD IME · Over 30/60/90/180/crédito e PDD/crédito: proxies agregados; gatilhos contratuais exigem fórmula própria. · Corpus do CNPJ 42154687000160, revisão 2026-10-07T14:50:59-03:00; Fundos.NET ID 1223029, referência 08/06/2026, arquivo data/raw/42154687000160/1223029_regulamento.txt · Observação: Parcial: não equiparar índices de estoque/vintage/rolagem à carteira atual sem reconciliação de denominadores.</a:t>
            </a:r>
          </a:p>
          <a:p>
            <a:r>
              <a:t>CNPJ 42154687000160 · Controles documentais · Elegibilidade, concentração individual, lastro, finalidade do hedge e troca de prestadores exigem controle documental. · Corpus do CNPJ 42154687000160, revisão 2026-10-07T14:50:59-03:00; Fundos.NET ID 1223029, referência 08/06/2026, arquivo data/raw/42154687000160/1223029_regulamento.txt · Observação: Não monitorável pelo IME público sem dados individualizados; caixa e recompras ajudam apenas como proxies.</a:t>
            </a:r>
          </a:p>
          <a:p>
            <a:r>
              <a:t>CNPJ 42154687000160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843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Recebíveis comerciais/industriais/serviços e crédito financeiro: duplicatas, CCBs, CPRs, notas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comerciais e contratos.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credores brasileiros aprovados pela gestora; Multiplike Consultoria e Cobrança atua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seleção/cobrança.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sacados/devedores; em CCB bancarizada, concentração considera devedor econômico, sob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 CCB/CPR/NCC com colaterais mínimos de 60%; crédito sem garantia tem limite próprio.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adimplente na aquisição; devedor sem atraso &gt;12 dias úteis; prazos médios de 540 DU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(CCB/CPR/NCC) e 70 DU (demais).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CCB/CPR/NCC: mesmo devedor ≤3,5%/PL, top10 ≤20%/PL; não cobertos por garantias ≤2%/PL.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≥40%/PL; júnior ≥50% do patrimônio das subordinadas.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 exige aviso e decisão em 5 DU; cura em 10 DU; falhas persistentes sujeitas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Despesas: maior entre 90 dias estimados e 1%/PL; amortização 50% a 30 dias e 100% a 7 DU.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de posições à vista, até o limite destas; day trade vedado.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Perda esperada/recuperabilidade e precificação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50%/PL em DC após 180 dias da primeira integralização.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Carteira com novas aquisições, sujeita a reservas e eventos; múltiplos credores e devedores.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fechada, prazo indeterminado; investidores autorizados e prazo próprio de cada série.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definitiva com ou sem regresso; recompra e lastro regidos pelo Contrato de Aquisição.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ou sem coobrigação; cedente responde por constituição/validade e pelo pagamento quando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coobrigado.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Liquidação: despesas → reserva de despesas → sênior → mezanino → júnior.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21ª/22ª sênior no prospecto; 5ª emissão júnior aprovada em junho; demais séries identificadas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rating histórico.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21ª sênior CDI + 2,00% a.a.; 22ª CDI + 1,25% a.a.; júnior residual.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21ª até R$ 200 mi; 22ª até R$ 10 mi; VNU R$ 1 mil; 5ª júnior até R$ 100 mi (ato posterior).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21ª/22ª no prospecto automático; 5ª júnior restrita a cotistas existentes, com cancelamento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21ª/22ª: 24 meses de principal, juros mensais; divergência interna sobre número de parcelas.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indicada desde 15/05/2028; documento diverge entre 24 parcelas e meses 25–36.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Prospecto informa 1.825 dias; incompatibilidade aparente com texto de meses 25–36.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 V1: 0,215% a.a./PL; mínimo numérico R$ 15,5 mil/mês inclui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custódia/controladoria/escrituração; TA agrega gestão e REA.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1,20% a.a./PL; mínimo R$ 6 mil/mês; componente da TA; IPCA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componente V1/serviços da administradora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Consultoria/cobrança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0,75% ao mês sobre valor de aquisição dos DC, conforme anexo de consultoria.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MULTIPLIKE PLUS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Multiplike Plus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 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 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 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