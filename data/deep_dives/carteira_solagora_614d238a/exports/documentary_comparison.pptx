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Natureza dos recebíveis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Natureza dos recebíveis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Natureza dos recebíveis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Natureza dos recebíveis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Natureza dos recebíveis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Originador/endossante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Originador/endossante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Originador/endossante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Originador/endossante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Originador/endossante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Devedor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Devedor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Devedor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Devedor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Devedor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Garantia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Garantia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Garantia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Garantia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Garantia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Elegibilidade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Elegibilidade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Elegibilidade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Elegibilidade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Elegibilidade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Concentração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Concentração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Concentração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Concentração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Concentração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Natureza dos recebíveis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Natureza dos recebíveis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Natureza dos recebíveis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Natureza dos recebíveis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Natureza dos recebíveis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Originador/endossante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Originador/endossante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Originador/endossante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Originador/endossante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Originador/endossante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Devedor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Devedor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Devedor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Devedor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Devedor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Garantia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Garantia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Garantia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Garantia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Garantia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Elegibilidade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Elegibilidade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Elegibilidade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Elegibilidade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Elegibilidade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Concentração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Concentração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Concentração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Concentração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Concentração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Natureza dos recebíveis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Natureza dos recebíveis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Natureza dos recebíveis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Natureza dos recebíveis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Natureza dos recebíveis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Originador/endossante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Originador/endossante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Originador/endossante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Originador/endossante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Originador/endossante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Devedor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Devedor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Devedor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Devedor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Devedor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Garantia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Garantia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Garantia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Garantia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Garantia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Elegibilidade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Elegibilidade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Elegibilidade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Elegibilidade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Elegibilidade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Concentração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Concentração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Concentração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Concentração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Concentração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Subordinação mínima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Subordinação mínima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Subordinação mínima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Subordinação mínima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Subordinação mínima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Gatilhos de avaliação/liquidação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Gatilhos de avaliação/liquidação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Gatilhos de avaliação/liquidação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Gatilhos de avaliação/liquidação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Gatilhos de avaliação/liquidação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Reserva de caixa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Reserva de caixa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Reserva de caixa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Reserva de caixa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Reserva de caixa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Derivativos/hedge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Derivativos/hedge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Derivativos/hedge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Derivativos/hedge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Derivativos/hedge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PDD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PDD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PDD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PDD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PDD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Subordinação mínima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Subordinação mínima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Subordinação mínima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Subordinação mínima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Subordinação mínima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Gatilhos de avaliação/liquidação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Gatilhos de avaliação/liquidação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Gatilhos de avaliação/liquidação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Gatilhos de avaliação/liquidação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Gatilhos de avaliação/liquidação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Reserva de caixa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Reserva de caixa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Reserva de caixa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Reserva de caixa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Reserva de caixa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Derivativos/hedge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Derivativos/hedge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Derivativos/hedge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Derivativos/hedge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Derivativos/hedge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PDD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PDD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PDD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PDD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PDD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Alocação mínima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Alocação mínima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Alocação mínima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Alocação mínima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Alocação mínima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Pool/revolvência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Pool/revolvência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Pool/revolvência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Pool/revolvência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Pool/revolvência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Duração/público-alvo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Duração/público-alvo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Duração/público-alvo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Duração/público-alvo · Sênior/mezaninos A e B: 108 meses da primeira integralização; ofertas para profissionais. · Fundos.NET ID 1157550; referência 23/03/2026; data/raw/65473122000140/1157550_regulamento.txt; pp.4,6,8, apêndices; https://fnet.bmfbovespa.com.br/fnet/publico/exibirDocumento?id=1157550&amp;cvm=true · Observação: Primeira integralização efetiva não localizada; classe/fundo e duração das séries têm unidades distintas.</a:t>
            </a:r>
          </a:p>
          <a:p>
            <a:r>
              <a:t>CNPJ 64330030000149 · Duração/público-alvo · Condomínio fechado; júnior em colocação privada. Prazo do fundo/classe não localizado. · Fundos.NET ID 1132983; referência 20/02/2026; data/raw/64330030000149/1132983_documento.txt; pp.1,4,6;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Cessão/recompra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Cessão/recompra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Cessão/recompra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Cessão/recompra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Cessão/recompra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Coobrigação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Coobrigação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Coobrigação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Coobrigação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Coobrigação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Waterfall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Waterfall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Waterfall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Waterfall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Waterfall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Prestadores essenciais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53164652000128 · Prestadores essenciais · Genial Investimentos substitui Banco Genial na administração com eficácia em 01/10/2026. · Fundos.NET ID 1337687; referência 01/10/2026; data/raw/53164652000128/1337687_documento.txt; p.2, item(i) e Data de Eficácia; https://fnet.bmfbovespa.com.br/fnet/publico/exibirDocumento?id=1337687&amp;cvm=true · Observação: Conclusão documental; validade limitada à versão citada e às ressalvas desta revisão.</a:t>
            </a:r>
          </a:p>
          <a:p>
            <a:r>
              <a:t>CNPJ 58510255000184 · Prestadores essenciais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65473122000140 · Prestadores essenciais · Gestão substituída por Augme Capital; administração Genial Investimentos, conforme ato. · Fundos.NET ID 1157550; referência 23/03/2026; data/raw/65473122000140/1157550_regulamento.txt; p.1, deliberações; https://fnet.bmfbovespa.com.br/fnet/publico/exibirDocumento?id=1157550&amp;cvm=true · Observação: Evento documental; não monitorável pelo IME agregado.</a:t>
            </a:r>
          </a:p>
          <a:p>
            <a:r>
              <a:t>CNPJ 64330030000149 · Prestadores essenciais · Administração Genial Investimentos; gestão Augme Capital. · Fundos.NET ID 1132983; referência 20/02/2026; data/raw/64330030000149/1132983_documento.txt; pp.1,4;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Custódia e serviços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53164652000128 · Custódia e serviços · Escrituração, controladoria, tesouraria, custódia e processamento migrados para novo administrador/terceiro autorizado, com transição operacional. · Fundos.NET ID 1337687; referência 01/10/2026; data/raw/53164652000128/1337687_documento.txt; p.2, item(ii); https://fnet.bmfbovespa.com.br/fnet/publico/exibirDocumento?id=1337687&amp;cvm=true · Observação: Prestador efetivo durante transição precisa de cadastro e regulamento novo; ato não individualiza todos.</a:t>
            </a:r>
          </a:p>
          <a:p>
            <a:r>
              <a:t>CNPJ 58510255000184 · Custódia e serviços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65473122000140 · Custódia e serviços · Não localizado nas fontes acessíveis desta leitura · ID 1157550 · 23/03/2026 · data/raw/65473122000140/1157550_regulamento.txt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64330030000149 · Custódia e serviços · Não localizado nas fontes acessíveis desta leitura · ID 1132983 · 20/02/2026 · data/raw/64330030000149/1132983_documento.txt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Alocação mínima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Alocação mínima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Alocação mínima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Alocação mínima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Alocação mínima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Pool/revolvência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Pool/revolvência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Pool/revolvência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Pool/revolvência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Pool/revolvência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Duração/público-alvo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Duração/público-alvo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Duração/público-alvo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Duração/público-alvo · Sênior/mezaninos A e B: 108 meses da primeira integralização; ofertas para profissionais. · Fundos.NET ID 1157550; referência 23/03/2026; data/raw/65473122000140/1157550_regulamento.txt; pp.4,6,8, apêndices; https://fnet.bmfbovespa.com.br/fnet/publico/exibirDocumento?id=1157550&amp;cvm=true · Observação: Primeira integralização efetiva não localizada; classe/fundo e duração das séries têm unidades distintas.</a:t>
            </a:r>
          </a:p>
          <a:p>
            <a:r>
              <a:t>CNPJ 64330030000149 · Duração/público-alvo · Condomínio fechado; júnior em colocação privada. Prazo do fundo/classe não localizado. · Fundos.NET ID 1132983; referência 20/02/2026; data/raw/64330030000149/1132983_documento.txt; pp.1,4,6;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Cessão/recompra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Cessão/recompra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Cessão/recompra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Cessão/recompra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Cessão/recompra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Coobrigação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Coobrigação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Coobrigação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Coobrigação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Coobrigação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Waterfall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Waterfall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Waterfall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Waterfall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Waterfall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Prestadores essenciais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53164652000128 · Prestadores essenciais · Genial Investimentos substitui Banco Genial na administração com eficácia em 01/10/2026. · Fundos.NET ID 1337687; referência 01/10/2026; data/raw/53164652000128/1337687_documento.txt; p.2, item(i) e Data de Eficácia; https://fnet.bmfbovespa.com.br/fnet/publico/exibirDocumento?id=1337687&amp;cvm=true · Observação: Conclusão documental; validade limitada à versão citada e às ressalvas desta revisão.</a:t>
            </a:r>
          </a:p>
          <a:p>
            <a:r>
              <a:t>CNPJ 58510255000184 · Prestadores essenciais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65473122000140 · Prestadores essenciais · Gestão substituída por Augme Capital; administração Genial Investimentos, conforme ato. · Fundos.NET ID 1157550; referência 23/03/2026; data/raw/65473122000140/1157550_regulamento.txt; p.1, deliberações; https://fnet.bmfbovespa.com.br/fnet/publico/exibirDocumento?id=1157550&amp;cvm=true · Observação: Evento documental; não monitorável pelo IME agregado.</a:t>
            </a:r>
          </a:p>
          <a:p>
            <a:r>
              <a:t>CNPJ 64330030000149 · Prestadores essenciais · Administração Genial Investimentos; gestão Augme Capital. · Fundos.NET ID 1132983; referência 20/02/2026; data/raw/64330030000149/1132983_documento.txt; pp.1,4;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Custódia e serviços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53164652000128 · Custódia e serviços · Escrituração, controladoria, tesouraria, custódia e processamento migrados para novo administrador/terceiro autorizado, com transição operacional. · Fundos.NET ID 1337687; referência 01/10/2026; data/raw/53164652000128/1337687_documento.txt; p.2, item(ii); https://fnet.bmfbovespa.com.br/fnet/publico/exibirDocumento?id=1337687&amp;cvm=true · Observação: Prestador efetivo durante transição precisa de cadastro e regulamento novo; ato não individualiza todos.</a:t>
            </a:r>
          </a:p>
          <a:p>
            <a:r>
              <a:t>CNPJ 58510255000184 · Custódia e serviços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65473122000140 · Custódia e serviços · Não localizado nas fontes acessíveis desta leitura · ID 1157550 · 23/03/2026 · data/raw/65473122000140/1157550_regulamento.txt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64330030000149 · Custódia e serviços · Não localizado nas fontes acessíveis desta leitura · ID 1132983 · 20/02/2026 · data/raw/64330030000149/1132983_documento.txt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Alocação mínima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Alocação mínima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Alocação mínima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Alocação mínima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Alocação mínima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Pool/revolvência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Pool/revolvência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Pool/revolvência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Pool/revolvência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Pool/revolvência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Duração/público-alvo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Duração/público-alvo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Duração/público-alvo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Duração/público-alvo · Sênior/mezaninos A e B: 108 meses da primeira integralização; ofertas para profissionais. · Fundos.NET ID 1157550; referência 23/03/2026; data/raw/65473122000140/1157550_regulamento.txt; pp.4,6,8, apêndices; https://fnet.bmfbovespa.com.br/fnet/publico/exibirDocumento?id=1157550&amp;cvm=true · Observação: Primeira integralização efetiva não localizada; classe/fundo e duração das séries têm unidades distintas.</a:t>
            </a:r>
          </a:p>
          <a:p>
            <a:r>
              <a:t>CNPJ 64330030000149 · Duração/público-alvo · Condomínio fechado; júnior em colocação privada. Prazo do fundo/classe não localizado. · Fundos.NET ID 1132983; referência 20/02/2026; data/raw/64330030000149/1132983_documento.txt; pp.1,4,6;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Cessão/recompra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Cessão/recompra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Cessão/recompra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Cessão/recompra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Cessão/recompra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Coobrigação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Coobrigação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Coobrigação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Coobrigação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Coobrigação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Waterfall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Waterfall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Waterfall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Waterfall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Waterfall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Prestadores essenciais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53164652000128 · Prestadores essenciais · Genial Investimentos substitui Banco Genial na administração com eficácia em 01/10/2026. · Fundos.NET ID 1337687; referência 01/10/2026; data/raw/53164652000128/1337687_documento.txt; p.2, item(i) e Data de Eficácia; https://fnet.bmfbovespa.com.br/fnet/publico/exibirDocumento?id=1337687&amp;cvm=true · Observação: Conclusão documental; validade limitada à versão citada e às ressalvas desta revisão.</a:t>
            </a:r>
          </a:p>
          <a:p>
            <a:r>
              <a:t>CNPJ 58510255000184 · Prestadores essenciais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65473122000140 · Prestadores essenciais · Gestão substituída por Augme Capital; administração Genial Investimentos, conforme ato. · Fundos.NET ID 1157550; referência 23/03/2026; data/raw/65473122000140/1157550_regulamento.txt; p.1, deliberações; https://fnet.bmfbovespa.com.br/fnet/publico/exibirDocumento?id=1157550&amp;cvm=true · Observação: Evento documental; não monitorável pelo IME agregado.</a:t>
            </a:r>
          </a:p>
          <a:p>
            <a:r>
              <a:t>CNPJ 64330030000149 · Prestadores essenciais · Administração Genial Investimentos; gestão Augme Capital. · Fundos.NET ID 1132983; referência 20/02/2026; data/raw/64330030000149/1132983_documento.txt; pp.1,4;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Custódia e serviços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53164652000128 · Custódia e serviços · Escrituração, controladoria, tesouraria, custódia e processamento migrados para novo administrador/terceiro autorizado, com transição operacional. · Fundos.NET ID 1337687; referência 01/10/2026; data/raw/53164652000128/1337687_documento.txt; p.2, item(ii); https://fnet.bmfbovespa.com.br/fnet/publico/exibirDocumento?id=1337687&amp;cvm=true · Observação: Prestador efetivo durante transição precisa de cadastro e regulamento novo; ato não individualiza todos.</a:t>
            </a:r>
          </a:p>
          <a:p>
            <a:r>
              <a:t>CNPJ 58510255000184 · Custódia e serviços · Não localizado nas fontes acessíveis desta leitura · Revisão dirigida de cláusulas e termos materiais dos documentos locais acessíveis. A data desta revisão não atesta atualização completa do inventário CVM. Lacunas e falhas de acesso estão descritas; nenhuma posição IME foi transformada em volume de emissão.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65473122000140 · Custódia e serviços · Não localizado nas fontes acessíveis desta leitura · ID 1157550 · 23/03/2026 · data/raw/65473122000140/1157550_regulamento.txt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  <a:p>
            <a:r>
              <a:t>CNPJ 64330030000149 · Custódia e serviços · Não localizado nas fontes acessíveis desta leitura · ID 1132983 · 20/02/2026 · data/raw/64330030000149/1132983_documento.txt · Observação: Revisão dirigida de cláusulas e termos materiais dos documentos locais acessíveis. A data desta revisão não atesta atualização completa do inventário CVM. Lacunas e falhas de acesso estão descritas; nenhuma posição IME foi transformada em volume de emissão.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Classes/séries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Classes/séries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Classes/séries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Classes/séries · 1ª sênior, 1ª mezanino A, 1ª mezanino B e subordinadas júnior aprovadas. · Fundos.NET ID 1157550; referência 23/03/2026; data/raw/65473122000140/1157550_regulamento.txt; p.2, deliberações; pp.4–10, apêndices; https://fnet.bmfbovespa.com.br/fnet/publico/exibirDocumento?id=1157550&amp;cvm=true · Observação: Conclusão documental; validade limitada à versão citada e às ressalvas desta revisão.</a:t>
            </a:r>
          </a:p>
          <a:p>
            <a:r>
              <a:t>CNPJ 64330030000149 · Classes/séries · 1ª emissão de cotas subordinadas júnior aprovada. Outras séries não confirmadas. · Fundos.NET ID 1132983; referência 20/02/2026; data/raw/64330030000149/1132983_documento.txt; pp.4,6;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Remuneração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Remuneração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Remuneração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Remuneração · Sênior DI + 1,75% a.a.; mezanino A DI + 4,80%; mezanino B DI + 8,00%; júnior sem benchmark no apêndice. · Fundos.NET ID 1157550; referência 23/03/2026; data/raw/65473122000140/1157550_regulamento.txt; pp.4,6,8,10; https://fnet.bmfbovespa.com.br/fnet/publico/exibirDocumento?id=1157550&amp;cvm=true · Observação: Conclusão documental; validade limitada à versão citada e às ressalvas desta revisão.</a:t>
            </a:r>
          </a:p>
          <a:p>
            <a:r>
              <a:t>CNPJ 64330030000149 · Remuneração · Benchmark/spread não definido no apêndice júnior acessível. · Fundos.NET ID 1132983; referência 20/02/2026; data/raw/64330030000149/1132983_documento.txt; p.6, apêndice;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Volume/VNU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Volume/VNU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Volume/VNU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Volume/VNU · Sênior R$ 450 mi; A R$ 75 mi; B R$ 37,5 mi; júnior R$ 37,5 mi; VNU R$ 1 mil. · Fundos.NET ID 1157550; referência 23/03/2026; data/raw/65473122000140/1157550_regulamento.txt; p.2; pp.4,6,8,10; https://fnet.bmfbovespa.com.br/fnet/publico/exibirDocumento?id=1157550&amp;cvm=true · Observação: Montantes aprovados, total de R$ 600 mi calculado pela soma; distribuição efetiva não confirmada.</a:t>
            </a:r>
          </a:p>
          <a:p>
            <a:r>
              <a:t>CNPJ 64330030000149 · Volume/VNU · 25 mil cotas, R$ 25 mi aprovados; VNU R$ 1 mil. · Fundos.NET ID 1132983; referência 20/02/2026; data/raw/64330030000149/1132983_documento.txt; pp.4,6;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Ofertas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Ofertas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Ofertas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Ofertas · Sênior/A com garantia firme; B melhores esforços; júnior privada. Ofertas públicas sem distribuição parcial, até 180 dias. · Fundos.NET ID 1157550; referência 23/03/2026; data/raw/65473122000140/1157550_regulamento.txt; pp.2,4,6,8,10; https://fnet.bmfbovespa.com.br/fnet/publico/exibirDocumento?id=1157550&amp;cvm=true · Observação: Não confundir garantia firme de colocação com garantia de pagamento das cotas.</a:t>
            </a:r>
          </a:p>
          <a:p>
            <a:r>
              <a:t>CNPJ 64330030000149 · Ofertas · Colocação privada; integralização conforme boletim; data de distribuição efetiva não confirmada. · Fundos.NET ID 1132983; referência 20/02/2026; data/raw/64330030000149/1132983_documento.txt; pp.4,6; https://fnet.bmfbovespa.com.br/fnet/publico/exibirDocumento?id=1132983&amp;cvm=true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Classes/séries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Classes/séries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Classes/séries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Classes/séries · 1ª sênior, 1ª mezanino A, 1ª mezanino B e subordinadas júnior aprovadas. · Fundos.NET ID 1157550; referência 23/03/2026; data/raw/65473122000140/1157550_regulamento.txt; p.2, deliberações; pp.4–10, apêndices; https://fnet.bmfbovespa.com.br/fnet/publico/exibirDocumento?id=1157550&amp;cvm=true · Observação: Conclusão documental; validade limitada à versão citada e às ressalvas desta revisão.</a:t>
            </a:r>
          </a:p>
          <a:p>
            <a:r>
              <a:t>CNPJ 64330030000149 · Classes/séries · 1ª emissão de cotas subordinadas júnior aprovada. Outras séries não confirmadas. · Fundos.NET ID 1132983; referência 20/02/2026; data/raw/64330030000149/1132983_documento.txt; pp.4,6;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Remuneração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Remuneração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Remuneração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Remuneração · Sênior DI + 1,75% a.a.; mezanino A DI + 4,80%; mezanino B DI + 8,00%; júnior sem benchmark no apêndice. · Fundos.NET ID 1157550; referência 23/03/2026; data/raw/65473122000140/1157550_regulamento.txt; pp.4,6,8,10; https://fnet.bmfbovespa.com.br/fnet/publico/exibirDocumento?id=1157550&amp;cvm=true · Observação: Conclusão documental; validade limitada à versão citada e às ressalvas desta revisão.</a:t>
            </a:r>
          </a:p>
          <a:p>
            <a:r>
              <a:t>CNPJ 64330030000149 · Remuneração · Benchmark/spread não definido no apêndice júnior acessível. · Fundos.NET ID 1132983; referência 20/02/2026; data/raw/64330030000149/1132983_documento.txt; p.6, apêndice;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Volume/VNU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Volume/VNU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Volume/VNU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Volume/VNU · Sênior R$ 450 mi; A R$ 75 mi; B R$ 37,5 mi; júnior R$ 37,5 mi; VNU R$ 1 mil. · Fundos.NET ID 1157550; referência 23/03/2026; data/raw/65473122000140/1157550_regulamento.txt; p.2; pp.4,6,8,10; https://fnet.bmfbovespa.com.br/fnet/publico/exibirDocumento?id=1157550&amp;cvm=true · Observação: Montantes aprovados, total de R$ 600 mi calculado pela soma; distribuição efetiva não confirmada.</a:t>
            </a:r>
          </a:p>
          <a:p>
            <a:r>
              <a:t>CNPJ 64330030000149 · Volume/VNU · 25 mil cotas, R$ 25 mi aprovados; VNU R$ 1 mil. · Fundos.NET ID 1132983; referência 20/02/2026; data/raw/64330030000149/1132983_documento.txt; pp.4,6;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Ofertas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Ofertas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Ofertas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Ofertas · Sênior/A com garantia firme; B melhores esforços; júnior privada. Ofertas públicas sem distribuição parcial, até 180 dias. · Fundos.NET ID 1157550; referência 23/03/2026; data/raw/65473122000140/1157550_regulamento.txt; pp.2,4,6,8,10; https://fnet.bmfbovespa.com.br/fnet/publico/exibirDocumento?id=1157550&amp;cvm=true · Observação: Não confundir garantia firme de colocação com garantia de pagamento das cotas.</a:t>
            </a:r>
          </a:p>
          <a:p>
            <a:r>
              <a:t>CNPJ 64330030000149 · Ofertas · Colocação privada; integralização conforme boletim; data de distribuição efetiva não confirmada. · Fundos.NET ID 1132983; referência 20/02/2026; data/raw/64330030000149/1132983_documento.txt; pp.4,6; https://fnet.bmfbovespa.com.br/fnet/publico/exibirDocumento?id=1132983&amp;cvm=true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Carência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Carência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Carência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Carência · Duração remetida ao regulamento ausente; principal não amortiza durante carência. · Fundos.NET ID 1157550; referência 23/03/2026; data/raw/65473122000140/1157550_regulamento.txt; pp.5,7,9; p.11; https://fnet.bmfbovespa.com.br/fnet/publico/exibirDocumento?id=1157550&amp;cvm=true · Observação: Conclusão documental; validade limitada à versão citada e às ressalvas desta revisão.</a:t>
            </a:r>
          </a:p>
          <a:p>
            <a:r>
              <a:t>CNPJ 64330030000149 · Carência · Não definida no apêndice; regulamento/boletim necessário. · Fundos.NET ID 1132983; referência 20/02/2026; data/raw/64330030000149/1132983_documento.txt; p.6;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Juros/amortização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Juros/amortização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Juros/amortização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Juros/amortização · Sênior/A/B: pagamento mensal no 7º dia útil; amortização após carência segue item 14.2 do regulamento ausente. · Fundos.NET ID 1157550; referência 23/03/2026; data/raw/65473122000140/1157550_regulamento.txt; pp.4–9; https://fnet.bmfbovespa.com.br/fnet/publico/exibirDocumento?id=1157550&amp;cvm=true · Observação: Cronograma fechado não identificado; regra mensal não define datas civis sem marco de integralização.</a:t>
            </a:r>
          </a:p>
          <a:p>
            <a:r>
              <a:t>CNPJ 64330030000149 · Juros/amortização · Datas de pagamento remetidas ao regulamento ausente. · Fundos.NET ID 1132983; referência 20/02/2026; data/raw/64330030000149/1132983_documento.txt; p.6;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Vencimento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Vencimento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Vencimento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Vencimento · Sênior/A/B: 108 meses da primeira integralização, com referência ao 108º mês completo de alocação; júnior não localizado. · Fundos.NET ID 1157550; referência 23/03/2026; data/raw/65473122000140/1157550_regulamento.txt; pp.4,6,8; https://fnet.bmfbovespa.com.br/fnet/publico/exibirDocumento?id=1157550&amp;cvm=true · Observação: Datas efetivas precisam do primeiro aporte/alocação; prazo e amortização podem estender-se até pagamento integral conforme termo.</a:t>
            </a:r>
          </a:p>
          <a:p>
            <a:r>
              <a:t>CNPJ 64330030000149 · Vencimento · Data final não informada no apêndice disponível. · Fundos.NET ID 1132983; referência 20/02/2026; data/raw/64330030000149/1132983_documento.txt; p.6; https://fnet.bmfbovespa.com.br/fnet/publico/exibirDocumento?id=1132983&amp;cvm=true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Carência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Carência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Carência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Carência · Duração remetida ao regulamento ausente; principal não amortiza durante carência. · Fundos.NET ID 1157550; referência 23/03/2026; data/raw/65473122000140/1157550_regulamento.txt; pp.5,7,9; p.11; https://fnet.bmfbovespa.com.br/fnet/publico/exibirDocumento?id=1157550&amp;cvm=true · Observação: Conclusão documental; validade limitada à versão citada e às ressalvas desta revisão.</a:t>
            </a:r>
          </a:p>
          <a:p>
            <a:r>
              <a:t>CNPJ 64330030000149 · Carência · Não definida no apêndice; regulamento/boletim necessário. · Fundos.NET ID 1132983; referência 20/02/2026; data/raw/64330030000149/1132983_documento.txt; p.6;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Juros/amortização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Juros/amortização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Juros/amortização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Juros/amortização · Sênior/A/B: pagamento mensal no 7º dia útil; amortização após carência segue item 14.2 do regulamento ausente. · Fundos.NET ID 1157550; referência 23/03/2026; data/raw/65473122000140/1157550_regulamento.txt; pp.4–9; https://fnet.bmfbovespa.com.br/fnet/publico/exibirDocumento?id=1157550&amp;cvm=true · Observação: Cronograma fechado não identificado; regra mensal não define datas civis sem marco de integralização.</a:t>
            </a:r>
          </a:p>
          <a:p>
            <a:r>
              <a:t>CNPJ 64330030000149 · Juros/amortização · Datas de pagamento remetidas ao regulamento ausente. · Fundos.NET ID 1132983; referência 20/02/2026; data/raw/64330030000149/1132983_documento.txt; p.6; https://fnet.bmfbovespa.com.br/fnet/publico/exibirDocumento?id=1132983&amp;cvm=true · Observação: Conclusão documental; validade limitada à versão citada e às ressalvas desta revisão.</a:t>
            </a:r>
          </a:p>
          <a:p>
            <a:r>
              <a:t>CNPJ 47640584000123 · Vencimento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Vencimento · Termos por série não localizados no ato de alteração; suplemento/encerramento necessário. · Fundos.NET ID 1337687; referência 01/10/2026; data/raw/53164652000128/1337687_documento.txt; pp.1–3, ato de alteração; https://fnet.bmfbovespa.com.br/fnet/publico/exibirDocumento?id=1337687&amp;cvm=true · Observação: Este documento não fornece emissão, spread ou calendário final.</a:t>
            </a:r>
          </a:p>
          <a:p>
            <a:r>
              <a:t>CNPJ 58510255000184 · Vencimento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Vencimento · Sênior/A/B: 108 meses da primeira integralização, com referência ao 108º mês completo de alocação; júnior não localizado. · Fundos.NET ID 1157550; referência 23/03/2026; data/raw/65473122000140/1157550_regulamento.txt; pp.4,6,8; https://fnet.bmfbovespa.com.br/fnet/publico/exibirDocumento?id=1157550&amp;cvm=true · Observação: Datas efetivas precisam do primeiro aporte/alocação; prazo e amortização podem estender-se até pagamento integral conforme termo.</a:t>
            </a:r>
          </a:p>
          <a:p>
            <a:r>
              <a:t>CNPJ 64330030000149 · Vencimento · Data final não informada no apêndice disponível. · Fundos.NET ID 1132983; referência 20/02/2026; data/raw/64330030000149/1132983_documento.txt; p.6; https://fnet.bmfbovespa.com.br/fnet/publico/exibirDocumento?id=1132983&amp;cvm=true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Administração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Administração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Administração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Administração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Administração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Gestão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Gestão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Gestão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Gestão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Gestão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Custódia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Custódia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Custódia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Custódia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Custódia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Administração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Administração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Administração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Administração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Administração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Gestão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Gestão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Gestão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Gestão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Gestão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  <a:p>
            <a:r>
              <a:t>CNPJ 47640584000123 · Custódia · Não confirmado: acesso documental do CNPJ falhou nesta revisão. · Corpus do CNPJ 47640584000123, revisão 2026-10-07T14:53:15-03:00; acesso documental não concluído; detalhes em data/raw/47640584000123/access_status_20261007.txt · Observação: Lacuna documental; exige documento/ato específico do mesmo CNPJ.</a:t>
            </a:r>
          </a:p>
          <a:p>
            <a:r>
              <a:t>CNPJ 53164652000128 · Custódia · Não confirmado: regulamento consolidado não acessível nesta revisão. · Fundos.NET ID 1337687; referência 01/10/2026; data/raw/53164652000128/1337687_documento.txt; pp.1–3, ato de substituição; https://fnet.bmfbovespa.com.br/fnet/publico/exibirDocumento?id=1337687&amp;cvm=true · Observação: Ato informa preservação de políticas/taxas, sem reproduzir respectivos termos; não importar limites de outro CNPJ.</a:t>
            </a:r>
          </a:p>
          <a:p>
            <a:r>
              <a:t>CNPJ 58510255000184 · Custódia · Não confirmado: acesso documental do CNPJ falhou nesta revisão. · Corpus do CNPJ 58510255000184, revisão 2026-10-07T14:53:15-03:00; acesso documental não concluído; detalhes em data/raw/58510255000184/access_status_20261007.txt · Observação: Lacuna documental; exige documento/ato específico do mesmo CNPJ.</a:t>
            </a:r>
          </a:p>
          <a:p>
            <a:r>
              <a:t>CNPJ 65473122000140 · Custódia · Não confirmado: Anexo V do regulamento ausente no PDF disponível. · Fundos.NET ID 1157550; referência 23/03/2026; data/raw/65473122000140/1157550_regulamento.txt; p.11, Anexo V; https://fnet.bmfbovespa.com.br/fnet/publico/exibirDocumento?id=1157550&amp;cvm=true · Observação: Lacuna de acesso ao anexo, sem atribuir inexistência da regra contratual.</a:t>
            </a:r>
          </a:p>
          <a:p>
            <a:r>
              <a:t>CNPJ 64330030000149 · Custódia · Não confirmado: corpo do regulamento não acompanha o PDF acessível. · Fundos.NET ID 1132983; referência 20/02/2026; data/raw/64330030000149/1132983_documento.txt; p.3, Anexo I; https://fnet.bmfbovespa.com.br/fnet/publico/exibirDocumento?id=1132983&amp;cvm=true · Observação: Não inferir tipo de recebível, subordinação ou taxas a partir do nome Warehouse SolAgora.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Alocação/subordinação IME · DC/PL e cotas subordinadas/PL: cálculo agregado com validação de classes e do denominador. · Corpus do CNPJ 47640584000123, revisão 2026-10-07T14:53:15-03:00; acesso documental não concluído; detalhes em data/raw/47640584000123/access_status_20261007.txt · Observação: Monitorável com ressalva: IME mensal não prova cumprimento diário nem composição jurídica por série.</a:t>
            </a:r>
          </a:p>
          <a:p>
            <a:r>
              <a:t>CNPJ 53164652000128 · Alocação/subordinação IME · DC/PL e cotas subordinadas/PL: cálculo agregado com validação de classes e do denominador. · Corpus do CNPJ 53164652000128, revisão 2026-10-07T14:53:15-03:00; Fundos.NET ID 1337687, referência 01/10/2026, arquivo data/raw/53164652000128/1337687_documento.txt · Observação: Monitorável com ressalva: IME mensal não prova cumprimento diário nem composição jurídica por série.</a:t>
            </a:r>
          </a:p>
          <a:p>
            <a:r>
              <a:t>CNPJ 58510255000184 · Alocação/subordinação IME · DC/PL e cotas subordinadas/PL: cálculo agregado com validação de classes e do denominador. · Corpus do CNPJ 58510255000184, revisão 2026-10-07T14:53:15-03:00; acesso documental não concluído; detalhes em data/raw/58510255000184/access_status_20261007.txt · Observação: Monitorável com ressalva: IME mensal não prova cumprimento diário nem composição jurídica por série.</a:t>
            </a:r>
          </a:p>
          <a:p>
            <a:r>
              <a:t>CNPJ 65473122000140 · Alocação/subordinação IME · DC/PL e cotas subordinadas/PL: cálculo agregado com validação de classes e do denominador. · Corpus do CNPJ 65473122000140, revisão 2026-10-07T14:53:15-03:00; Fundos.NET ID 1157550, referência 23/03/2026, arquivo data/raw/65473122000140/1157550_regulamento.txt · Observação: Monitorável com ressalva: IME mensal não prova cumprimento diário nem composição jurídica por série.</a:t>
            </a:r>
          </a:p>
          <a:p>
            <a:r>
              <a:t>CNPJ 64330030000149 · Alocação/subordinação IME · DC/PL e cotas subordinadas/PL: cálculo agregado com validação de classes e do denominador. · Corpus do CNPJ 64330030000149, revisão 2026-10-07T14:53:15-03:00; Fundos.NET ID 1132983, referência 20/02/2026, arquivo data/raw/64330030000149/1132983_documento.txt · Observação: Monitorável com ressalva: IME mensal não prova cumprimento diário nem composição jurídica por série.</a:t>
            </a:r>
          </a:p>
          <a:p>
            <a:r>
              <a:t>CNPJ 47640584000123 · Inadimplência/PDD IME · Over 30/60/90/180/crédito e PDD/crédito: proxies agregados; gatilhos contratuais exigem fórmula própria. · Corpus do CNPJ 47640584000123, revisão 2026-10-07T14:53:15-03:00; acesso documental não concluído; detalhes em data/raw/47640584000123/access_status_20261007.txt · Observação: Parcial: não equiparar índices de estoque/vintage/rolagem à carteira atual sem reconciliação de denominadores.</a:t>
            </a:r>
          </a:p>
          <a:p>
            <a:r>
              <a:t>CNPJ 53164652000128 · Inadimplência/PDD IME · Over 30/60/90/180/crédito e PDD/crédito: proxies agregados; gatilhos contratuais exigem fórmula própria. · Corpus do CNPJ 53164652000128, revisão 2026-10-07T14:53:15-03:00; Fundos.NET ID 1337687, referência 01/10/2026, arquivo data/raw/53164652000128/1337687_documento.txt · Observação: Parcial: não equiparar índices de estoque/vintage/rolagem à carteira atual sem reconciliação de denominadores.</a:t>
            </a:r>
          </a:p>
          <a:p>
            <a:r>
              <a:t>CNPJ 58510255000184 · Inadimplência/PDD IME · Over 30/60/90/180/crédito e PDD/crédito: proxies agregados; gatilhos contratuais exigem fórmula própria. · Corpus do CNPJ 58510255000184, revisão 2026-10-07T14:53:15-03:00; acesso documental não concluído; detalhes em data/raw/58510255000184/access_status_20261007.txt · Observação: Parcial: não equiparar índices de estoque/vintage/rolagem à carteira atual sem reconciliação de denominadores.</a:t>
            </a:r>
          </a:p>
          <a:p>
            <a:r>
              <a:t>CNPJ 65473122000140 · Inadimplência/PDD IME · Over 30/60/90/180/crédito e PDD/crédito: proxies agregados; gatilhos contratuais exigem fórmula própria. · Corpus do CNPJ 65473122000140, revisão 2026-10-07T14:53:15-03:00; Fundos.NET ID 1157550, referência 23/03/2026, arquivo data/raw/65473122000140/1157550_regulamento.txt · Observação: Parcial: não equiparar índices de estoque/vintage/rolagem à carteira atual sem reconciliação de denominadores.</a:t>
            </a:r>
          </a:p>
          <a:p>
            <a:r>
              <a:t>CNPJ 64330030000149 · Inadimplência/PDD IME · Over 30/60/90/180/crédito e PDD/crédito: proxies agregados; gatilhos contratuais exigem fórmula própria. · Corpus do CNPJ 64330030000149, revisão 2026-10-07T14:53:15-03:00; Fundos.NET ID 1132983, referência 20/02/2026, arquivo data/raw/64330030000149/1132983_documento.txt · Observação: Parcial: não equiparar índices de estoque/vintage/rolagem à carteira atual sem reconciliação de denominadores.</a:t>
            </a:r>
          </a:p>
          <a:p>
            <a:r>
              <a:t>CNPJ 47640584000123 · Controles documentais · Elegibilidade, concentração individual, lastro, finalidade do hedge e troca de prestadores exigem controle documental. · Corpus do CNPJ 47640584000123, revisão 2026-10-07T14:53:15-03:00; acesso documental não concluído; detalhes em data/raw/47640584000123/access_status_20261007.txt · Observação: Não monitorável pelo IME público sem dados individualizados; caixa e recompras ajudam apenas como proxies.</a:t>
            </a:r>
          </a:p>
          <a:p>
            <a:r>
              <a:t>CNPJ 53164652000128 · Controles documentais · Elegibilidade, concentração individual, lastro, finalidade do hedge e troca de prestadores exigem controle documental. · Corpus do CNPJ 53164652000128, revisão 2026-10-07T14:53:15-03:00; Fundos.NET ID 1337687, referência 01/10/2026, arquivo data/raw/53164652000128/1337687_documento.txt · Observação: Não monitorável pelo IME público sem dados individualizados; caixa e recompras ajudam apenas como proxies.</a:t>
            </a:r>
          </a:p>
          <a:p>
            <a:r>
              <a:t>CNPJ 58510255000184 · Controles documentais · Elegibilidade, concentração individual, lastro, finalidade do hedge e troca de prestadores exigem controle documental. · Corpus do CNPJ 58510255000184, revisão 2026-10-07T14:53:15-03:00; acesso documental não concluído; detalhes em data/raw/58510255000184/access_status_20261007.txt · Observação: Não monitorável pelo IME público sem dados individualizados; caixa e recompras ajudam apenas como proxies.</a:t>
            </a:r>
          </a:p>
          <a:p>
            <a:r>
              <a:t>CNPJ 65473122000140 · Controles documentais · Elegibilidade, concentração individual, lastro, finalidade do hedge e troca de prestadores exigem controle documental. · Corpus do CNPJ 65473122000140, revisão 2026-10-07T14:53:15-03:00; Fundos.NET ID 1157550, referência 23/03/2026, arquivo data/raw/65473122000140/1157550_regulamento.txt · Observação: Não monitorável pelo IME público sem dados individualizados; caixa e recompras ajudam apenas como proxies.</a:t>
            </a:r>
          </a:p>
          <a:p>
            <a:r>
              <a:t>CNPJ 64330030000149 · Controles documentais · Elegibilidade, concentração individual, lastro, finalidade do hedge e troca de prestadores exigem controle documental. · Corpus do CNPJ 64330030000149, revisão 2026-10-07T14:53:15-03:00; Fundos.NET ID 1132983, referência 20/02/2026, arquivo data/raw/64330030000149/1132983_documento.txt · Observação: Não monitorável pelo IME público sem dados individualizados; caixa e recompras ajudam apenas como proxies.</a:t>
            </a:r>
          </a:p>
          <a:p>
            <a:r>
              <a:t>CNPJ 47640584000123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53164652000128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58510255000184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65473122000140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64330030000149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2026-10-07T14:53:15-03:00</a:t>
            </a:r>
          </a:p>
          <a:p>
            <a:r>
              <a:t>SolAgora I: CNPJ 47640584000123</a:t>
            </a:r>
          </a:p>
          <a:p>
            <a:r>
              <a:t>SolAgora II: CNPJ 53164652000128</a:t>
            </a:r>
          </a:p>
          <a:p>
            <a:r>
              <a:t>SolAgora III: CNPJ 58510255000184</a:t>
            </a:r>
          </a:p>
          <a:p>
            <a:r>
              <a:t>SolAgora IV: CNPJ 65473122000140</a:t>
            </a:r>
          </a:p>
          <a:p>
            <a:r>
              <a:t>Warehouse SolAgora: CNPJ 64330030000149</a:t>
            </a:r>
          </a:p>
          <a:p>
            <a:r>
              <a:t>Fontes:</a:t>
            </a:r>
          </a:p>
          <a:p>
            <a:r>
              <a:t>CNPJ 47640584000123 · Alocação/subordinação IME · DC/PL e cotas subordinadas/PL: cálculo agregado com validação de classes e do denominador. · Corpus do CNPJ 47640584000123, revisão 2026-10-07T14:53:15-03:00; acesso documental não concluído; detalhes em data/raw/47640584000123/access_status_20261007.txt · Observação: Monitorável com ressalva: IME mensal não prova cumprimento diário nem composição jurídica por série.</a:t>
            </a:r>
          </a:p>
          <a:p>
            <a:r>
              <a:t>CNPJ 53164652000128 · Alocação/subordinação IME · DC/PL e cotas subordinadas/PL: cálculo agregado com validação de classes e do denominador. · Corpus do CNPJ 53164652000128, revisão 2026-10-07T14:53:15-03:00; Fundos.NET ID 1337687, referência 01/10/2026, arquivo data/raw/53164652000128/1337687_documento.txt · Observação: Monitorável com ressalva: IME mensal não prova cumprimento diário nem composição jurídica por série.</a:t>
            </a:r>
          </a:p>
          <a:p>
            <a:r>
              <a:t>CNPJ 58510255000184 · Alocação/subordinação IME · DC/PL e cotas subordinadas/PL: cálculo agregado com validação de classes e do denominador. · Corpus do CNPJ 58510255000184, revisão 2026-10-07T14:53:15-03:00; acesso documental não concluído; detalhes em data/raw/58510255000184/access_status_20261007.txt · Observação: Monitorável com ressalva: IME mensal não prova cumprimento diário nem composição jurídica por série.</a:t>
            </a:r>
          </a:p>
          <a:p>
            <a:r>
              <a:t>CNPJ 65473122000140 · Alocação/subordinação IME · DC/PL e cotas subordinadas/PL: cálculo agregado com validação de classes e do denominador. · Corpus do CNPJ 65473122000140, revisão 2026-10-07T14:53:15-03:00; Fundos.NET ID 1157550, referência 23/03/2026, arquivo data/raw/65473122000140/1157550_regulamento.txt · Observação: Monitorável com ressalva: IME mensal não prova cumprimento diário nem composição jurídica por série.</a:t>
            </a:r>
          </a:p>
          <a:p>
            <a:r>
              <a:t>CNPJ 64330030000149 · Alocação/subordinação IME · DC/PL e cotas subordinadas/PL: cálculo agregado com validação de classes e do denominador. · Corpus do CNPJ 64330030000149, revisão 2026-10-07T14:53:15-03:00; Fundos.NET ID 1132983, referência 20/02/2026, arquivo data/raw/64330030000149/1132983_documento.txt · Observação: Monitorável com ressalva: IME mensal não prova cumprimento diário nem composição jurídica por série.</a:t>
            </a:r>
          </a:p>
          <a:p>
            <a:r>
              <a:t>CNPJ 47640584000123 · Inadimplência/PDD IME · Over 30/60/90/180/crédito e PDD/crédito: proxies agregados; gatilhos contratuais exigem fórmula própria. · Corpus do CNPJ 47640584000123, revisão 2026-10-07T14:53:15-03:00; acesso documental não concluído; detalhes em data/raw/47640584000123/access_status_20261007.txt · Observação: Parcial: não equiparar índices de estoque/vintage/rolagem à carteira atual sem reconciliação de denominadores.</a:t>
            </a:r>
          </a:p>
          <a:p>
            <a:r>
              <a:t>CNPJ 53164652000128 · Inadimplência/PDD IME · Over 30/60/90/180/crédito e PDD/crédito: proxies agregados; gatilhos contratuais exigem fórmula própria. · Corpus do CNPJ 53164652000128, revisão 2026-10-07T14:53:15-03:00; Fundos.NET ID 1337687, referência 01/10/2026, arquivo data/raw/53164652000128/1337687_documento.txt · Observação: Parcial: não equiparar índices de estoque/vintage/rolagem à carteira atual sem reconciliação de denominadores.</a:t>
            </a:r>
          </a:p>
          <a:p>
            <a:r>
              <a:t>CNPJ 58510255000184 · Inadimplência/PDD IME · Over 30/60/90/180/crédito e PDD/crédito: proxies agregados; gatilhos contratuais exigem fórmula própria. · Corpus do CNPJ 58510255000184, revisão 2026-10-07T14:53:15-03:00; acesso documental não concluído; detalhes em data/raw/58510255000184/access_status_20261007.txt · Observação: Parcial: não equiparar índices de estoque/vintage/rolagem à carteira atual sem reconciliação de denominadores.</a:t>
            </a:r>
          </a:p>
          <a:p>
            <a:r>
              <a:t>CNPJ 65473122000140 · Inadimplência/PDD IME · Over 30/60/90/180/crédito e PDD/crédito: proxies agregados; gatilhos contratuais exigem fórmula própria. · Corpus do CNPJ 65473122000140, revisão 2026-10-07T14:53:15-03:00; Fundos.NET ID 1157550, referência 23/03/2026, arquivo data/raw/65473122000140/1157550_regulamento.txt · Observação: Parcial: não equiparar índices de estoque/vintage/rolagem à carteira atual sem reconciliação de denominadores.</a:t>
            </a:r>
          </a:p>
          <a:p>
            <a:r>
              <a:t>CNPJ 64330030000149 · Inadimplência/PDD IME · Over 30/60/90/180/crédito e PDD/crédito: proxies agregados; gatilhos contratuais exigem fórmula própria. · Corpus do CNPJ 64330030000149, revisão 2026-10-07T14:53:15-03:00; Fundos.NET ID 1132983, referência 20/02/2026, arquivo data/raw/64330030000149/1132983_documento.txt · Observação: Parcial: não equiparar índices de estoque/vintage/rolagem à carteira atual sem reconciliação de denominadores.</a:t>
            </a:r>
          </a:p>
          <a:p>
            <a:r>
              <a:t>CNPJ 47640584000123 · Controles documentais · Elegibilidade, concentração individual, lastro, finalidade do hedge e troca de prestadores exigem controle documental. · Corpus do CNPJ 47640584000123, revisão 2026-10-07T14:53:15-03:00; acesso documental não concluído; detalhes em data/raw/47640584000123/access_status_20261007.txt · Observação: Não monitorável pelo IME público sem dados individualizados; caixa e recompras ajudam apenas como proxies.</a:t>
            </a:r>
          </a:p>
          <a:p>
            <a:r>
              <a:t>CNPJ 53164652000128 · Controles documentais · Elegibilidade, concentração individual, lastro, finalidade do hedge e troca de prestadores exigem controle documental. · Corpus do CNPJ 53164652000128, revisão 2026-10-07T14:53:15-03:00; Fundos.NET ID 1337687, referência 01/10/2026, arquivo data/raw/53164652000128/1337687_documento.txt · Observação: Não monitorável pelo IME público sem dados individualizados; caixa e recompras ajudam apenas como proxies.</a:t>
            </a:r>
          </a:p>
          <a:p>
            <a:r>
              <a:t>CNPJ 58510255000184 · Controles documentais · Elegibilidade, concentração individual, lastro, finalidade do hedge e troca de prestadores exigem controle documental. · Corpus do CNPJ 58510255000184, revisão 2026-10-07T14:53:15-03:00; acesso documental não concluído; detalhes em data/raw/58510255000184/access_status_20261007.txt · Observação: Não monitorável pelo IME público sem dados individualizados; caixa e recompras ajudam apenas como proxies.</a:t>
            </a:r>
          </a:p>
          <a:p>
            <a:r>
              <a:t>CNPJ 65473122000140 · Controles documentais · Elegibilidade, concentração individual, lastro, finalidade do hedge e troca de prestadores exigem controle documental. · Corpus do CNPJ 65473122000140, revisão 2026-10-07T14:53:15-03:00; Fundos.NET ID 1157550, referência 23/03/2026, arquivo data/raw/65473122000140/1157550_regulamento.txt · Observação: Não monitorável pelo IME público sem dados individualizados; caixa e recompras ajudam apenas como proxies.</a:t>
            </a:r>
          </a:p>
          <a:p>
            <a:r>
              <a:t>CNPJ 64330030000149 · Controles documentais · Elegibilidade, concentração individual, lastro, finalidade do hedge e troca de prestadores exigem controle documental. · Corpus do CNPJ 64330030000149, revisão 2026-10-07T14:53:15-03:00; Fundos.NET ID 1132983, referência 20/02/2026, arquivo data/raw/64330030000149/1132983_documento.txt · Observação: Não monitorável pelo IME público sem dados individualizados; caixa e recompras ajudam apenas como proxies.</a:t>
            </a:r>
          </a:p>
          <a:p>
            <a:r>
              <a:t>CNPJ 47640584000123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53164652000128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58510255000184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65473122000140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64330030000149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9306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9306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Warehouse SolAgora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6222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Warehouse SolAgora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6222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Sênior/mezaninos A e B: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108 meses da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integralização; ofertas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profissionais.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8679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Genial Investimentos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substitui Banco Genial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administração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eficácia em 01/10/2026.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 substituída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Augme Capital;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Genial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Investimentos,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5956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 e serviços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Escrituração,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controladoria,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tesouraria, custódia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processamento migrados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novo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administrador/terceiro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transição operacional.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660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Warehouse SolAgora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Condomínio fechado; júnior em colocação privada. Prazo do fundo/classe não localizado.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Genial Investimentos; gestão Augme Capital.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 e serviços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9011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localizados no 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suplemento/encerramento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necessário.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sênior, 1ª 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A, 1ª mezanino B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aprovadas.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localizados no 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suplemento/encerramento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necessário.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DI + 1,75% a.a.;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A DI + 4,80%;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B DI + 8,00%;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sem benchmark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localizados no 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suplemento/encerramento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necessário.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R$ 450 mi; A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75 mi; B R$ 37,5 mi;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R$ 37,5 mi; VNU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localizados no 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suplemento/encerramento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necessário.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Sênior/A com garantia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firme; B melhores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esforços;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privada. Ofertas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públicas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distribuição parcial,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180 dias.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Warehouse SolAgora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 de cotas subordinadas júnior aprovada. Outras séries não confirmadas.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Benchmark/spread não definido no apêndice júnior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25 mil cotas, R$ 25 mi aprovados; VNU R$ 1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Colocação privada; integralização conforme boletim; data de distribuição efetiva não 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8679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localizados no 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suplemento/encerramento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necessário.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Duração remetida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ausente;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não amortiza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durante carência.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localizados no 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suplemento/encerramento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necessário.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Sênior/A/B: pagamento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 no 7º dia útil;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após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 segue item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14.2 do regulamento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ausente.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localizados no 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suplemento/encerramento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necessário.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Sênior/A/B: 108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referência ao 108º mês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completo de alocação;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não localizado.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Warehouse SolAgora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definida no apêndice; regulamento/boletim necessário.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Datas de pagamento remetidas ao regulamento ausente.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 final não informada no apêndice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9306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consolidado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acessível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do CNPJ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falhou nesta 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Anexo 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regulamento ausente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PDF disponível.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Warehouse SolAgora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confirmado: corpo do regulamento não acompanha o PDF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7137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SolAgora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SolAgora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Warehouse SolAgora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subordinadas/PL: cálculo agregado com validação de classes e 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30/60/90/180/crédito e PDD/crédito: proxies agregados; gatilhos contratuais exigem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individual, lastro, finalidade do hedge e troca de prestadores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