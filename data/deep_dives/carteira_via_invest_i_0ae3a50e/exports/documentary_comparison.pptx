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2026-10-07T16:31:10-03:00</a:t>
            </a:r>
          </a:p>
          <a:p>
            <a:r>
              <a:t>Via Invest I: CNPJ 12167116000107</a:t>
            </a:r>
          </a:p>
          <a:p>
            <a:r>
              <a:t>Fontes:</a:t>
            </a:r>
          </a:p>
          <a:p>
            <a:r>
              <a:t>CNPJ 12167116000107 · Natureza dos recebíveis · Direitos creditórios de naturezas diversas; classe multicarteira · Fundos.NET ID 1016878; referência 17/10/2025; data/raw/12167116000107/1016878_documentary_review.txt; Anexo I, 7.1–7.4;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Originador/endossante · Múltiplos cedentes e endossantes; instituições financeiras ou emissores conforme operação · Fundos.NET ID 1016878; referência 17/10/2025; data/raw/12167116000107/1016878_documentary_review.txt; Glossário e Anexo I, 7.16–7.18;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Devedor · PF, PJ ou entes despersonalizados com CPF/CNPJ; fundos e condomínios admitidos · Fundos.NET ID 1016878; referência 17/10/2025; data/raw/12167116000107/1016878_documentary_review.txt; Anexo I, 8.2(a);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Garantia · Cessão inclui garantias e acessórios; ausência de garantia dos prestadores/FGC · Fundos.NET ID 1016878; referência 17/10/2025; data/raw/12167116000107/1016878_documentary_review.txt; Anexo I, 7.4, 7.12, 7.26–7.29;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Elegibilidade · Crédito vincendo; prazo 3–1.060 dias úteis; cessão ≥ 120% CDI; prazo médio ≤ 200 dias úteis · Fundos.NET ID 1016878; referência 17/10/2025; data/raw/12167116000107/1016878_documentary_review.txt; Anexo I, 8.1–8.2; https://fnet.bmfbovespa.com.br/fnet/publico/exibirDocumento?id=1016878&amp;cvm=true · Observação: 120% CDI é fator multiplicativo da taxa de cessão, não spread aditivo da cota. Exceções de adimplência exigem bases individuais.</a:t>
            </a:r>
          </a:p>
          <a:p>
            <a:r>
              <a:t>CNPJ 12167116000107 · Concentração · Devedor/grupo: 20% PL; exceções regulatórias até 100%; partes relacionadas sem elevação automática · Fundos.NET ID 1016878; referência 17/10/2025; data/raw/12167116000107/1016878_documentary_review.txt; Anexo I, 7.6–7.15; https://fnet.bmfbovespa.com.br/fnet/publico/exibirDocumento?id=1016878&amp;cvm=true · Observação: Monitoramento agregado não identifica contraparte/grupo.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2026-10-07T16:31:10-03:00</a:t>
            </a:r>
          </a:p>
          <a:p>
            <a:r>
              <a:t>Via Invest I: CNPJ 12167116000107</a:t>
            </a:r>
          </a:p>
          <a:p>
            <a:r>
              <a:t>Fontes:</a:t>
            </a:r>
          </a:p>
          <a:p>
            <a:r>
              <a:t>CNPJ 12167116000107 · Subordinação mínima · Razão sênior ≥ 150%; subordinadas 33, 33% PL; razão mezanino ≥ 125% · Fundos.NET ID 1016878; referência 17/10/2025; data/raw/12167116000107/1016878_documentary_review.txt; Anexo I, 5.1–5.5; https://fnet.bmfbovespa.com.br/fnet/publico/exibirDocumento?id=1016878&amp;cvm=true · Observação: Razões de garantia têm denominadores próprios; validar mezanino e proteção júnior antes de usar PL agregado.</a:t>
            </a:r>
          </a:p>
          <a:p>
            <a:r>
              <a:t>CNPJ 12167116000107 · Gatilhos de avaliação/liquidação · Recompra&gt; 25% carteira; índice recompra&gt; 10% e diluição&gt; 3%, com recorrência; falhas de prestadores/PL negativo · Fundos.NET ID 1016878; referência 17/10/2025; data/raw/12167116000107/1016878_documentary_review.txt; Anexo I, 13.2–13.6; https://fnet.bmfbovespa.com.br/fnet/publico/exibirDocumento?id=1016878&amp;cvm=true · Observação: Índices recompra/diluição divididos pelo fluxo de vencimentos mensal: 2 meses consecutivos ou 4 alternados/12. Não usar Recompras/Crédito como réplica.</a:t>
            </a:r>
          </a:p>
          <a:p>
            <a:r>
              <a:t>CNPJ 12167116000107 · Reserva de caixa · Despesas do mês seguinte; reserva de amortização/resgate conforme obrigações · Fundos.NET ID 1016878; referência 17/10/2025; data/raw/12167116000107/1016878_documentary_review.txt; Anexo I, 9.1 e10.1–10.4;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Derivativos/hedge · Operações com derivativos vedadas · Fundos.NET ID 1016878; referência 17/10/2025; data/raw/12167116000107/1016878_documentary_review.txt; Anexo I, 7.20;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PDD · Piso quantitativo de PDD não confirmado; perda absorvida primeiro por júnior, depois mezanino e sênior · Fundos.NET ID 1016878; referência 17/10/2025; data/raw/12167116000107/1016878_documentary_review.txt; Anexo I,12.2–12.4; https://fnet.bmfbovespa.com.br/fnet/publico/exibirDocumento?id=1016878&amp;cvm=true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2026-10-07T16:31:10-03:00</a:t>
            </a:r>
          </a:p>
          <a:p>
            <a:r>
              <a:t>Via Invest I: CNPJ 12167116000107</a:t>
            </a:r>
          </a:p>
          <a:p>
            <a:r>
              <a:t>Fontes:</a:t>
            </a:r>
          </a:p>
          <a:p>
            <a:r>
              <a:t>CNPJ 12167116000107 · Alocação mínima · Direitos creditórios &gt; 50% PL até 180 dias do início · Fundos.NET ID 1016878; referência 17/10/2025; data/raw/12167116000107/1016878_documentary_review.txt; Anexo I,7.5;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Pool/revolvência · Aquisições sucessivas elegíveis; regras de vencimento e liquidez por suplemento · Fundos.NET ID 1016878; referência 17/10/2025; data/raw/12167116000107/1016878_documentary_review.txt; Anexo I,7–8;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Duração/público-alvo · Prazo indeterminado; classe fechada para qualificados/profissionais · Fundos.NET ID 1016878; referência 17/10/2025; data/raw/12167116000107/1016878_documentary_review.txt; Anexo I,1–3;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Cessão/recompra · Cessão irrevogável; recompras sujeitas a índices/gatilhos; desenquadramento posterior não impõe regresso · Fundos.NET ID 1016878; referência 17/10/2025; data/raw/12167116000107/1016878_documentary_review.txt; Anexo I,7.12,8.1(iii),8.2.2,13.2;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Coobrigação · Prestadores não respondem pela solvência; responsabilidade do cedente depende do instrumento de transferência · Fundos.NET ID 1016878; referência 17/10/2025; data/raw/12167116000107/1016878_documentary_review.txt; Anexo I,7.27 e8.2.2;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Waterfall · Despesas/reservas → sênior → mezanino → reserva de liquidação → júnior · Fundos.NET ID 1016878; referência 17/10/2025; data/raw/12167116000107/1016878_documentary_review.txt; Anexo I,9.1; https://fnet.bmfbovespa.com.br/fnet/publico/exibirDocumento?id=1016878&amp;cvm=true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2026-10-07T16:31:10-03:00</a:t>
            </a:r>
          </a:p>
          <a:p>
            <a:r>
              <a:t>Via Invest I: CNPJ 12167116000107</a:t>
            </a:r>
          </a:p>
          <a:p>
            <a:r>
              <a:t>Fontes:</a:t>
            </a:r>
          </a:p>
          <a:p>
            <a:r>
              <a:t>CNPJ 12167116000107 · Classes/séries · Sênior, mezanino e júnior; sênior 12ª série identificada · Fundos.NET ID 1280972; referência 17/07/2026 10:00; data/raw/12167116000107/1280972_documentary_review.txt; Suplemento da12ªsérie, p2; https://fnet.bmfbovespa.com.br/fnet/publico/exibirDocumento?id=1280972&amp;cvm=true · Observação: Conclusão limitada à versão citada; inventário completo não equivale a leitura integral de todos os documentos.</a:t>
            </a:r>
          </a:p>
          <a:p>
            <a:r>
              <a:t>CNPJ 12167116000107 · Remuneração · Sênior 12ª série: CDI + 0, 60% a.a. · Fundos.NET ID 1280972; referência 17/07/2026 10:00; data/raw/12167116000107/1280972_documentary_review.txt; Suplemento,m; https://fnet.bmfbovespa.com.br/fnet/publico/exibirDocumento?id=1280972&amp;cvm=true · Observação: Conclusão limitada à versão citada; inventário completo não equivale a leitura integral de todos os documentos.</a:t>
            </a:r>
          </a:p>
          <a:p>
            <a:r>
              <a:t>CNPJ 12167116000107 · Volume/VNU · 12ª série: R$ 50 mi; 2.000 cotas de R$ 25 mil · Fundos.NET ID 1280972; referência 17/07/2026 10:00; data/raw/12167116000107/1280972_documentary_review.txt; Suplemento,g–i; https://fnet.bmfbovespa.com.br/fnet/publico/exibirDocumento?id=1280972&amp;cvm=true · Observação: Conclusão limitada à versão citada; inventário completo não equivale a leitura integral de todos os documentos.</a:t>
            </a:r>
          </a:p>
          <a:p>
            <a:r>
              <a:t>CNPJ 12167116000107 · Ofertas · Deliberação17/07/2026; oferta para profissionais, RCVM160 · Fundos.NET ID 1280972; referência 17/07/2026 10:00; data/raw/12167116000107/1280972_documentary_review.txt; Suplemento,d–e eassinatura; https://fnet.bmfbovespa.com.br/fnet/publico/exibirDocumento?id=1280972&amp;cvm=true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2026-10-07T16:31:10-03:00</a:t>
            </a:r>
          </a:p>
          <a:p>
            <a:r>
              <a:t>Via Invest I: CNPJ 12167116000107</a:t>
            </a:r>
          </a:p>
          <a:p>
            <a:r>
              <a:t>Fontes:</a:t>
            </a:r>
          </a:p>
          <a:p>
            <a:r>
              <a:t>CNPJ 12167116000107 · Carência · 12ª série: sem carência; juros nos primeiros 12 meses · Fundos.NET ID 1280972; referência 17/07/2026 10:00; data/raw/12167116000107/1280972_documentary_review.txt; Suplemento,j–k; https://fnet.bmfbovespa.com.br/fnet/publico/exibirDocumento?id=1280972&amp;cvm=true · Observação: Conclusão limitada à versão citada; inventário completo não equivale a leitura integral de todos os documentos.</a:t>
            </a:r>
          </a:p>
          <a:p>
            <a:r>
              <a:t>CNPJ 12167116000107 · Juros/amortização · 12 meses de juros; depois 12 parcelas mensais de principal+juros · Fundos.NET ID 1280972; referência 17/07/2026 10:00; data/raw/12167116000107/1280972_documentary_review.txt; Suplemento,k; https://fnet.bmfbovespa.com.br/fnet/publico/exibirDocumento?id=1280972&amp;cvm=true · Observação: Conclusão limitada à versão citada; inventário completo não equivale a leitura integral de todos os documentos.</a:t>
            </a:r>
          </a:p>
          <a:p>
            <a:r>
              <a:t>CNPJ 12167116000107 · Vencimento · 12ª série: 24 meses da primeira integralização; data fechada não localizada · Fundos.NET ID 1280972; referência 17/07/2026 10:00; data/raw/12167116000107/1280972_documentary_review.txt; Suplemento,f,l; https://fnet.bmfbovespa.com.br/fnet/publico/exibirDocumento?id=1280972&amp;cvm=true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2026-10-07T16:31:10-03:00</a:t>
            </a:r>
          </a:p>
          <a:p>
            <a:r>
              <a:t>Via Invest I: CNPJ 12167116000107</a:t>
            </a:r>
          </a:p>
          <a:p>
            <a:r>
              <a:t>Fontes:</a:t>
            </a:r>
          </a:p>
          <a:p>
            <a:r>
              <a:t>CNPJ 12167116000107 · Administração · 0, 30% a.a./PL; mínimo R$ 32.393, 27/mês; reajusteIGP-M · Fundos.NET ID 1016878; referência 17/10/2025; data/raw/12167116000107/1016878_documentary_review.txt; Anexo I,6.1;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Gestão · 0, 50% a.a./PL; mínimos R$ 3 mil/3, 5 mil/4 mil por estágio; IPCA · Fundos.NET ID 1016878; referência 17/10/2025; data/raw/12167116000107/1016878_documentary_review.txt; Anexo I,6.2; https://fnet.bmfbovespa.com.br/fnet/publico/exibirDocumento?id=1016878&amp;cvm=true · Observação: Conclusão limitada à versão citada; inventário completo não equivale a leitura integral de todos os documentos.</a:t>
            </a:r>
          </a:p>
          <a:p>
            <a:r>
              <a:t>CNPJ 12167116000107 · Custódia · Incluída na taxa de administração · Fundos.NET ID 1016878; referência 17/10/2025; data/raw/12167116000107/1016878_documentary_review.txt; Anexo I,6.4; https://fnet.bmfbovespa.com.br/fnet/publico/exibirDocumento?id=1016878&amp;cvm=true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2026-10-07T16:31:10-03:00</a:t>
            </a:r>
          </a:p>
          <a:p>
            <a:r>
              <a:t>Via Invest I: CNPJ 12167116000107</a:t>
            </a:r>
          </a:p>
          <a:p>
            <a:r>
              <a:t>Fontes:</a:t>
            </a:r>
          </a:p>
          <a:p>
            <a:r>
              <a:t>CNPJ 12167116000107 · Alocação/subordinação IME · Direitos creditórios / PL e cotas subordinadas / PL; validar fórmula contratual antes de comparar · Fundos.NET ID 1280972; referência 17/07/2026 10:00; data/raw/12167116000107/1280972_documentary_review.txt; Inventário das fontes consultadas; https://fnet.bmfbovespa.com.br/fnet/publico/exibirDocumento?id=1280972&amp;cvm=true; Fundos.NET ID 1016878; referência 17/10/2025; data/raw/12167116000107/1016878_documentary_review.txt; Inventário das fontes consultadas; https://fnet.bmfbovespa.com.br/fnet/publico/exibirDocumento?id=1016878&amp;cvm=true · Observação: Métricas padronizadas são proxies; data, unidade e denominador precisam coincidir com a regra jurídica.</a:t>
            </a:r>
          </a:p>
          <a:p>
            <a:r>
              <a:t>CNPJ 12167116000107 · Inadimplência/PDD IME · Aging e PDD agregados ajudam no alerta; índice contratual exige reconciliação · Fundos.NET ID 1280972; referência 17/07/2026 10:00; data/raw/12167116000107/1280972_documentary_review.txt; Inventário das fontes consultadas; https://fnet.bmfbovespa.com.br/fnet/publico/exibirDocumento?id=1280972&amp;cvm=true; Fundos.NET ID 1016878; referência 17/10/2025; data/raw/12167116000107/1016878_documentary_review.txt; Inventário das fontes consultadas; https://fnet.bmfbovespa.com.br/fnet/publico/exibirDocumento?id=1016878&amp;cvm=true · Observação: O IME não substitui bases por devedor, cedente, vintage ou fluxo de vencimentos.</a:t>
            </a:r>
          </a:p>
          <a:p>
            <a:r>
              <a:t>CNPJ 12167116000107 · Controles documentais · Elegibilidade, concentração, recompra jurídica e troca de prestadores exigem documentos individuais · Fundos.NET ID 1280972; referência 17/07/2026 10:00; data/raw/12167116000107/1280972_documentary_review.txt; Inventário das fontes consultadas; https://fnet.bmfbovespa.com.br/fnet/publico/exibirDocumento?id=1280972&amp;cvm=true; Fundos.NET ID 1016878; referência 17/10/2025; data/raw/12167116000107/1016878_documentary_review.txt; Inventário das fontes consultadas; https://fnet.bmfbovespa.com.br/fnet/publico/exibirDocumento?id=1016878&amp;cvm=true · Observação: Controle documental separado de posições agregadas do IME; lacuna não deve produzir enquadramento presumido.</a:t>
            </a:r>
          </a:p>
          <a:p>
            <a:r>
              <a:t>CNPJ 12167116000107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I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Via Invest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de naturezas diversas; classe multicarteira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Múltiplos cedentes e endossantes; instituições financeiras ou emissores conforme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PF, PJ ou entes despersonalizados com CPF/CNPJ; fundos e condomínios admitidos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inclui garantias e acessórios; ausência de garantia dos prestadores/FGC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vincendo; prazo 3–1.060 dias úteis; cessão ≥ 120% CDI; prazo médio ≤ 200 dias úteis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Devedor/grupo: 20% PL; exceções regulatórias até 100%; partes relacionadas sem elevação automática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I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Via Invest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Razão sênior ≥ 150%; subordinadas 33, 33% PL; razão mezanino ≥ 125%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Recompra&gt; 25% carteira; índice recompra&gt; 10% e diluição&gt; 3%, com recorrência; falhas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prestadores/PL negativo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do mês seguinte; reserva de amortização/resgate conforme obrigações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 absorvida primeiro por júnior, depois mezanino e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I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Via Invest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 50% PL até 180 dias do início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sucessivas elegíveis; regras de vencimento e liquidez por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indeterminado; classe fechada para qualificados/profissionais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irrevogável; recompras sujeitas a índices/gatilhos; desenquadramento posterior não impõe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não respondem pela solvência; responsabilidade do cedente depende do instrumento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Despesas/reservas → sênior → mezanino → reserva de liquidação →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I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Via Invest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 sênior 12ª série identificada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12ª série: CDI + 0, 60%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12ª série: R$ 50 mi; 2.000 cotas de R$ 25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Deliberação17/07/2026; oferta para profissionais, RCVM160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I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Via Invest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12ª série: sem carência; juros nos primeiros 12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 meses de juros; depois 12 parcelas mensais de principal+juros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12ª série: 24 meses da primeira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I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Via Invest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30% a.a./PL; mínimo R$ 32.393, 27/mês; reajusteIGP-M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50% a.a./PL; mínimos R$ 3 mil/3, 5 mil/4 mil por estágio;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Via Invest I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Via Invest 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