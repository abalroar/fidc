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2026-10-07T16:48:43-03:00</a:t>
            </a:r>
          </a:p>
          <a:p>
            <a:r>
              <a:t>IOX Real (antigo IOX III): CNPJ 52298532000150</a:t>
            </a:r>
          </a:p>
          <a:p>
            <a:r>
              <a:t>Fontes:</a:t>
            </a:r>
          </a:p>
          <a:p>
            <a:r>
              <a:t>CNPJ 52298532000150 · Natureza dos recebíveis · Títulos e contratos industriais, comerciais, agro, financeiros e de serviços; carteira diversificada. · Fundos.NET ID 1307382; referência 01/09/2026; data/raw/52298532000150/1307382_documentary_review.txt; p.45,7.1;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Originador/endossante · Não localizado nas fontes acessíveis desta leitura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52298532000150 · Devedor · Não localizado nas fontes acessíveis desta leitura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52298532000150 · Garantia · Aval ≤20%/PL; máquinas/equipamentos/estoque ≤30%; outras garantias reais até 100%. · Fundos.NET ID 1307381; referência 17/08/2026 16:00; data/raw/52298532000150/1307381_documentary_review.txt; p.49,8.1; ata p.2; https://fnet.bmfbovespa.com.br/fnet/publico/exibirDocumento?id=1307381&amp;cvm=true; Fonte complementar: Fundos.NET ID 1307382; 01/09/2026; data/raw/52298532000150/1307382_documentary_review.txt; p.49,8.1;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Elegibilidade · Vincendos; valor R$ 10 a R$ 100 mi; prazo máximo 60 meses; exclusões de litígio/recuperação. · Fundos.NET ID 1307382; referência 01/09/2026; data/raw/52298532000150/1307382_documentary_review.txt; pp.46,49,7.5/8.2;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Concentração · Devedor/grupo 20%/PL; exceções mediante condições documentais. · Fundos.NET ID 1307382; referência 01/09/2026; data/raw/52298532000150/1307382_documentary_review.txt; pp.45–46,7.4; https://fnet.bmfbovespa.com.br/fnet/publico/exibirDocumento?id=1307382&amp;cvm=true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2026-10-07T16:48:43-03:00</a:t>
            </a:r>
          </a:p>
          <a:p>
            <a:r>
              <a:t>IOX Real (antigo IOX III): CNPJ 52298532000150</a:t>
            </a:r>
          </a:p>
          <a:p>
            <a:r>
              <a:t>Fontes:</a:t>
            </a:r>
          </a:p>
          <a:p>
            <a:r>
              <a:t>CNPJ 52298532000150 · Subordinação mínima · Subordinadas ≥30%/PL; júnior ≥20%/PL, diariamente. · Fundos.NET ID 1307382; referência 01/09/2026; data/raw/52298532000150/1307382_documentary_review.txt; pp.42–43,5.1–5.2;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Gatilhos de avaliação/liquidação · Rebaixamento de rating, desenquadramento &gt;15 DU, PL negativo ou subordinação sem cura. · Fundos.NET ID 1307382; referência 01/09/2026; data/raw/52298532000150/1307382_documentary_review.txt; pp.52–53,13.2–13.6;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Reserva de caixa · Maior entre despesas de 90 dias e 1%/PL; pagamentos 30% em D−30 e 100% em D−15. · Fundos.NET ID 1307382; referência 01/09/2026; data/raw/52298532000150/1307382_documentary_review.txt; pp.50–51,10.1–10.3;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Derivativos/hedge · Permitidos exclusivamente para proteção patrimonial. · Fundos.NET ID 1307382; referência 01/09/2026; data/raw/52298532000150/1307382_documentary_review.txt; p.47,7.13;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PDD · Não localizado nas fontes acessíveis desta leitura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2026-10-07T16:48:43-03:00</a:t>
            </a:r>
          </a:p>
          <a:p>
            <a:r>
              <a:t>IOX Real (antigo IOX III): CNPJ 52298532000150</a:t>
            </a:r>
          </a:p>
          <a:p>
            <a:r>
              <a:t>Fontes:</a:t>
            </a:r>
          </a:p>
          <a:p>
            <a:r>
              <a:t>CNPJ 52298532000150 · Alocação mínima · Direitos creditórios &gt;50%/PL até 180 dias; tributária ≥67%/PL. · Fundos.NET ID 1307382; referência 01/09/2026; data/raw/52298532000150/1307382_documentary_review.txt; p.45,7.3–7.3.1;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Pool/revolvência · Não localizado nas fontes acessíveis desta leitura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52298532000150 · Duração/público-alvo · Classe fechada; cotas para qualificados; responsabilidade ilimitada. · Fundos.NET ID 1307382; referência 01/09/2026; data/raw/52298532000150/1307382_documentary_review.txt; pp.40,42,52,4.6/12.1;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Cessão/recompra · Cessão irrevogável com acessórios; desenquadramento posterior não cria regresso automático. · Fundos.NET ID 1307382; referência 01/09/2026; data/raw/52298532000150/1307382_documentary_review.txt; pp.46,49,7.6/8.2.2;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Coobrigação · Não localizado nas fontes acessíveis desta leitura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52298532000150 · Waterfall · Encargos → reservas → sênior → mezanino → júnior → novas aquisições. · Fundos.NET ID 1307382; referência 01/09/2026; data/raw/52298532000150/1307382_documentary_review.txt; p.50,9.1; https://fnet.bmfbovespa.com.br/fnet/publico/exibirDocumento?id=1307382&amp;cvm=true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2026-10-07T16:48:43-03:00</a:t>
            </a:r>
          </a:p>
          <a:p>
            <a:r>
              <a:t>IOX Real (antigo IOX III): CNPJ 52298532000150</a:t>
            </a:r>
          </a:p>
          <a:p>
            <a:r>
              <a:t>Fontes:</a:t>
            </a:r>
          </a:p>
          <a:p>
            <a:r>
              <a:t>CNPJ 52298532000150 · Classes/séries · Sênior 3 e mezanino 3, ofertas iniciadas 01/10/2026. · Fundos.NET ID 1338011; referência 01/10/2026; data/raw/52298532000150/1338011_documentary_review.txt; pp.1–4; https://fnet.bmfbovespa.com.br/fnet/publico/exibirDocumento?id=1338011&amp;cvm=true · Observação: Conclusão limitada à versão citada; inventário completo não equivale a leitura integral de todos os documentos.</a:t>
            </a:r>
          </a:p>
          <a:p>
            <a:r>
              <a:t>CNPJ 52298532000150 · Remuneração · Spread final não localizado nos anúncios; obter suplementos das séries 2 e 3. · Fundos.NET ID 1338011; referência 01/10/2026; data/raw/52298532000150/1338011_documentary_review.txt; pp.1–4; https://fnet.bmfbovespa.com.br/fnet/publico/exibirDocumento?id=1338011&amp;cvm=true · Observação: Conclusão limitada à versão citada; inventário completo não equivale a leitura integral de todos os documentos.</a:t>
            </a:r>
          </a:p>
          <a:p>
            <a:r>
              <a:t>CNPJ 52298532000150 · Volume/VNU · Ofertados R$ 300 mi sênior e R$ 100 mi mezanino; VNU R$ 1 mil. · Fundos.NET ID 1338011; referência 01/10/2026; data/raw/52298532000150/1338011_documentary_review.txt; pp.1,3; https://fnet.bmfbovespa.com.br/fnet/publico/exibirDocumento?id=1338011&amp;cvm=true · Observação: Conclusão limitada à versão citada; inventário completo não equivale a leitura integral de todos os documentos.</a:t>
            </a:r>
          </a:p>
          <a:p>
            <a:r>
              <a:t>CNPJ 52298532000150 · Ofertas · Séries 3: término estimado 30/03/2027; séries 2 encerradas 01/10/2026 com números inconciliados. · Fundos.NET ID 1338009; referência 01/10/2026; data/raw/52298532000150/1338009_documentary_review.txt; pp.1–6; https://fnet.bmfbovespa.com.br/fnet/publico/exibirDocumento?id=1338009&amp;cvm=true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2026-10-07T16:48:43-03:00</a:t>
            </a:r>
          </a:p>
          <a:p>
            <a:r>
              <a:t>IOX Real (antigo IOX III): CNPJ 52298532000150</a:t>
            </a:r>
          </a:p>
          <a:p>
            <a:r>
              <a:t>Fontes:</a:t>
            </a:r>
          </a:p>
          <a:p>
            <a:r>
              <a:t>CNPJ 52298532000150 · Carência · Não localizado nas fontes acessíveis desta leitura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Lacuna desta revisão; ausência de extração não representa inexistência de regra contratual. Obter cláusula/anexo/suplemento antes de ativar controle.</a:t>
            </a:r>
          </a:p>
          <a:p>
            <a:r>
              <a:t>CNPJ 52298532000150 · Juros/amortização · Datas e valores por apêndice; cronograma fechado não identificado nas fontes desta leitura. · Fundos.NET ID 1307382; referência 01/09/2026; data/raw/52298532000150/1307382_documentary_review.txt; p.41,4.8;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Vencimento · Não localizado nas fontes acessíveis desta leitura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Lacuna desta revisão; ausência de extração não representa inexistência de regra contratual. Obter cláusula/anexo/suplemento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2026-10-07T16:48:43-03:00</a:t>
            </a:r>
          </a:p>
          <a:p>
            <a:r>
              <a:t>IOX Real (antigo IOX III): CNPJ 52298532000150</a:t>
            </a:r>
          </a:p>
          <a:p>
            <a:r>
              <a:t>Fontes:</a:t>
            </a:r>
          </a:p>
          <a:p>
            <a:r>
              <a:t>CNPJ 52298532000150 · Administração · 0,55%/PL, provisionada 1/252; piso R$ 15,5 mil/mês; IPCA; unidade anual não expressa. · Fundos.NET ID 1307382; referência 01/09/2026; data/raw/52298532000150/1307382_documentary_review.txt; p.44,6.1–6.1.3;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Gestão · 1,00%/PL, provisionada 1/252; piso R$ 25 mil/mês; IPCA; unidade anual não expressa. · Fundos.NET ID 1307382; referência 01/09/2026; data/raw/52298532000150/1307382_documentary_review.txt; p.44,6.2–6.2.2; https://fnet.bmfbovespa.com.br/fnet/publico/exibirDocumento?id=1307382&amp;cvm=true · Observação: Conclusão limitada à versão citada; inventário completo não equivale a leitura integral de todos os documentos.</a:t>
            </a:r>
          </a:p>
          <a:p>
            <a:r>
              <a:t>CNPJ 52298532000150 · Custódia · Incluída na administração; consultoria adicional R$ 15 mil/mês. · Fundos.NET ID 1307382; referência 01/09/2026; data/raw/52298532000150/1307382_documentary_review.txt; p.44,6.1/6.4; https://fnet.bmfbovespa.com.br/fnet/publico/exibirDocumento?id=1307382&amp;cvm=true · Observação: Conclusão limitada à versão citada; inventário completo não equivale a leitura integral de todos os documentos.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2026-10-07T16:48:43-03:00</a:t>
            </a:r>
          </a:p>
          <a:p>
            <a:r>
              <a:t>IOX Real (antigo IOX III): CNPJ 52298532000150</a:t>
            </a:r>
          </a:p>
          <a:p>
            <a:r>
              <a:t>Fontes:</a:t>
            </a:r>
          </a:p>
          <a:p>
            <a:r>
              <a:t>CNPJ 52298532000150 · Alocação/subordinação IME · Direitos creditórios / PL e cotas subordinadas / PL; validar fórmula contratual antes de comparar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Métricas padronizadas são proxies; data, unidade e denominador precisam coincidir com a regra jurídica.</a:t>
            </a:r>
          </a:p>
          <a:p>
            <a:r>
              <a:t>CNPJ 52298532000150 · Inadimplência/PDD IME · Aging e PDD agregados ajudam no alerta; índice contratual exige reconciliação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O IME não substitui bases por devedor, cedente, vintage ou fluxo de vencimentos.</a:t>
            </a:r>
          </a:p>
          <a:p>
            <a:r>
              <a:t>CNPJ 52298532000150 · Controles documentais · Elegibilidade, concentração, recompra jurídica e troca de prestadores exigem documentos individuais · Fundos.NET ID 1338011; referência 01/10/2026; data/raw/52298532000150/1338011_documentary_review.txt; Inventário das fontes consultadas; https://fnet.bmfbovespa.com.br/fnet/publico/exibirDocumento?id=1338011&amp;cvm=true; Fundos.NET ID 1338009; referência 01/10/2026; data/raw/52298532000150/1338009_documentary_review.txt; Inventário das fontes consultadas; https://fnet.bmfbovespa.com.br/fnet/publico/exibirDocumento?id=1338009&amp;cvm=true; Fundos.NET ID 1307382; referência 01/09/2026; data/raw/52298532000150/1307382_documentary_review.txt; Inventário das fontes consultadas; https://fnet.bmfbovespa.com.br/fnet/publico/exibirDocumento?id=1307382&amp;cvm=true; Fundos.NET ID 1307381; referência 17/08/2026 16:00; data/raw/52298532000150/1307381_documentary_review.txt; Inventário das fontes consultadas; https://fnet.bmfbovespa.com.br/fnet/publico/exibirDocumento?id=1307381&amp;cvm=true · Observação: Controle documental separado de posições agregadas do IME; lacuna não deve produzir enquadramento presumido.</a:t>
            </a:r>
          </a:p>
          <a:p>
            <a:r>
              <a:t>CNPJ 52298532000150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IOX Real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IOX Real (antigo IOX III)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Títulos e contratos industriais, comerciais, agro, financeiros e de serviços; carteira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diversificada.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 ≤20%/PL; máquinas/equipamentos/estoque ≤30%; outras garantias reais até 100%.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Vincendos; valor R$ 10 a R$ 100 mi; prazo máximo 60 meses; exclusões de litígio/recuperação.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20%/PL; exceções mediante condições documentais.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IOX Real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IOX Real (antigo IOX III)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≥30%/PL; júnior ≥20%/PL, diariamente.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Rebaixamento de rating, desenquadramento &gt;15 DU, PL negativo ou subordinação sem cura.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despesas de 90 dias e 1%/PL; pagamentos 30% em D−30 e 100% em D−15.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Permitidos exclusivamente para proteção patrimonial.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IOX Real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IOX Real (antigo IOX III)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&gt;50%/PL até 180 dias; tributária ≥67%/PL.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cotas para qualificados; responsabilidade ilimitada.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Cessão irrevogável com acessórios; desenquadramento posterior não cria regresso automático.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 → reservas → sênior → mezanino → júnior → novas aquisições.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IOX Real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IOX Real (antigo IOX III)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 e mezanino 3, ofertas iniciadas 01/10/2026.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Spread final não localizado nos anúncios; obter suplementos das séries 2 e 3.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Ofertados R$ 300 mi sênior e R$ 100 mi mezanino; VNU R$ 1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Séries 3: término estimado 30/03/2027; séries 2 encerradas 01/10/2026 com números inconciliados.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IOX Real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IOX Real (antigo IOX III)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Datas e valores por apêndice; cronograma fechado não identificado nas fontes desta leitura.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Não localizado nas fontes acessíveis desta leitura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IOX Real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IOX Real (antigo IOX III)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0,55%/PL, provisionada 1/252; piso R$ 15,5 mil/mês; IPCA; unidade anual não expressa.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1,00%/PL, provisionada 1/252; piso R$ 25 mil/mês; IPCA; unidade anual não expressa.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administração; consultoria adicional R$ 15 mil/mês.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IOX Real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IOX Real (antigo IOX III)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PL; validar fórmula contratual antes de comparar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 agregados ajudam no alerta; índice contratual exige reconciliação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recompra jurídica e troca de prestadores exigem documentos individuais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competência IME carregada em cache local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