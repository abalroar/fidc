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2026-10-07T16:29:10-03:00</a:t>
            </a:r>
          </a:p>
          <a:p>
            <a:r>
              <a:t>TURBI I: CNPJ 49936440000144</a:t>
            </a:r>
          </a:p>
          <a:p>
            <a:r>
              <a:t>Fontes:</a:t>
            </a:r>
          </a:p>
          <a:p>
            <a:r>
              <a:t>CNPJ 49936440000144 · Natureza dos recebíveis · Debêntures e notas comerciais emitidas pela devedora; uso dos recursos definido nos instrumentos · Fundos.NET ID 982237 | 28/08/2025 | regulamento | p. 39; 7.1 | data/raw/49936440000144/982237_regulamento_review_20261007.pdf | https://fnet.bmfbovespa.com.br/fnet/publico/visualizarDocumento?id=982237 · Observação: Regra da versão indicada; resumo sujeito às condições completas da cláusula. IME agregado não comprova elegibilidade individual.</a:t>
            </a:r>
          </a:p>
          <a:p>
            <a:r>
              <a:t>CNPJ 49936440000144 · Originador/endossante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  <a:p>
            <a:r>
              <a:t>CNPJ 49936440000144 · Devedor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  <a:p>
            <a:r>
              <a:t>CNPJ 49936440000144 · Garantia · Alienação fiduciária de veículos, cessão fiduciária de recebíveis de cartões e/ou fiança · Fundos.NET ID 982237 | 28/08/2025 | regulamento | p. 39; 7.1.2–7.1.4 | data/raw/49936440000144/982237_regulamento_review_20261007.pdf | https://fnet.bmfbovespa.com.br/fnet/publico/visualizarDocumento?id=982237 · Observação: Regra da versão indicada; resumo sujeito às condições completas da cláusula. IME agregado não comprova elegibilidade individual.</a:t>
            </a:r>
          </a:p>
          <a:p>
            <a:r>
              <a:t>CNPJ 49936440000144 · Elegibilidade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  <a:p>
            <a:r>
              <a:t>CNPJ 49936440000144 · Concentração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2026-10-07T16:29:10-03:00</a:t>
            </a:r>
          </a:p>
          <a:p>
            <a:r>
              <a:t>TURBI I: CNPJ 49936440000144</a:t>
            </a:r>
          </a:p>
          <a:p>
            <a:r>
              <a:t>Fontes:</a:t>
            </a:r>
          </a:p>
          <a:p>
            <a:r>
              <a:t>CNPJ 49936440000144 · Subordinação mínima · Sênior:20% PL subordinado; mezanino:10% PL júnior; regra textual com relação mezanino 10% · Fundos.NET ID 982237 | 28/08/2025 | regulamento | p. 55; 11.26 | data/raw/49936440000144/982237_regulamento_review_20261007.pdf | https://fnet.bmfbovespa.com.br/fnet/publico/visualizarDocumento?id=982237 · Observação: Fórmula completa e redação da relação PL/mezanino devem ser validadas; não calcular automaticamente.</a:t>
            </a:r>
          </a:p>
          <a:p>
            <a:r>
              <a:t>CNPJ 49936440000144 · Gatilhos de avaliação/liquidação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  <a:p>
            <a:r>
              <a:t>CNPJ 49936440000144 · Reserva de caixa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  <a:p>
            <a:r>
              <a:t>CNPJ 49936440000144 · Derivativos/hedge · Swaps, termos e opções para proteção de posições à vista, até o limite destas · Fundos.NET ID 982237 | 28/08/2025 | regulamento | p. 8; Definição Operações de Derivativos | data/raw/49936440000144/982237_regulamento_review_20261007.pdf | https://fnet.bmfbovespa.com.br/fnet/publico/visualizarDocumento?id=982237 · Observação: Regra da versão indicada; resumo sujeito às condições completas da cláusula. IME agregado não comprova elegibilidade individual.</a:t>
            </a:r>
          </a:p>
          <a:p>
            <a:r>
              <a:t>CNPJ 49936440000144 · PDD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2026-10-07T16:29:10-03:00</a:t>
            </a:r>
          </a:p>
          <a:p>
            <a:r>
              <a:t>TURBI I: CNPJ 49936440000144</a:t>
            </a:r>
          </a:p>
          <a:p>
            <a:r>
              <a:t>Fontes:</a:t>
            </a:r>
          </a:p>
          <a:p>
            <a:r>
              <a:t>CNPJ 49936440000144 · Alocação mínima · Direitos creditórios≥67% PL, conforme definição contratual · Fundos.NET ID 982237 | 28/08/2025 | regulamento | p. 2; Definição Alocação Mínima | data/raw/49936440000144/982237_regulamento_review_20261007.pdf | https://fnet.bmfbovespa.com.br/fnet/publico/visualizarDocumento?id=982237 · Observação: Regra da versão indicada; resumo sujeito às condições completas da cláusula. IME agregado não comprova elegibilidade individual.</a:t>
            </a:r>
          </a:p>
          <a:p>
            <a:r>
              <a:t>CNPJ 49936440000144 · Pool/revolvência · Revolvência durante duração da classe, respeitada ordem de pagamentos · Fundos.NET ID 982237 | 28/08/2025 | regulamento | p. 39–40; 7.3 | data/raw/49936440000144/982237_regulamento_review_20261007.pdf | https://fnet.bmfbovespa.com.br/fnet/publico/visualizarDocumento?id=982237 · Observação: Regra da versão indicada; resumo sujeito às condições completas da cláusula. IME agregado não comprova elegibilidade individual.</a:t>
            </a:r>
          </a:p>
          <a:p>
            <a:r>
              <a:t>CNPJ 49936440000144 · Duração/público-alvo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  <a:p>
            <a:r>
              <a:t>CNPJ 49936440000144 · Cessão/recompra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  <a:p>
            <a:r>
              <a:t>CNPJ 49936440000144 · Coobrigação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  <a:p>
            <a:r>
              <a:t>CNPJ 49936440000144 · Waterfall · Não localizado nas fontes acessíveis desta leitura · data/raw/49936440000144/access_status_20261007.txt | Consulta Fundos.NET por CNPJ 49936440000144 em 07/10/2026; inventário completo com 112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2026-10-07T16:29:10-03:00</a:t>
            </a:r>
          </a:p>
          <a:p>
            <a:r>
              <a:t>TURBI I: CNPJ 49936440000144</a:t>
            </a:r>
          </a:p>
          <a:p>
            <a:r>
              <a:t>Fontes:</a:t>
            </a:r>
          </a:p>
          <a:p>
            <a:r>
              <a:t>CNPJ 49936440000144 · Classes/séries · Ato 06/08/2026: sênior 7 e mezanino 5; proposta de conversões em outubro ainda pendente · Fundos.NET ID 1280111 | 06/08/2026 | emissao | p. 3–8; Apêndices | data/raw/49936440000144/1280111_emissao_review_20261007.pdf | https://fnet.bmfbovespa.com.br/fnet/publico/visualizarDocumento?id=1280111 · Observação: Regra da versão indicada; resumo sujeito às condições completas da cláusula. IME agregado não comprova elegibilidade individual.</a:t>
            </a:r>
          </a:p>
          <a:p>
            <a:r>
              <a:t>CNPJ 49936440000144 · Remuneração · CDI +5,1481% a.a. sênior 7; CDI +7,1509% a.a. mezanino 5 · Fundos.NET ID 1280111 | 06/08/2026 | emissao | p. 4,8; Índice referencial | data/raw/49936440000144/1280111_emissao_review_20261007.pdf | https://fnet.bmfbovespa.com.br/fnet/publico/visualizarDocumento?id=1280111 · Observação: Regra da versão indicada; resumo sujeito às condições completas da cláusula. IME agregado não comprova elegibilidade individual.</a:t>
            </a:r>
          </a:p>
          <a:p>
            <a:r>
              <a:t>CNPJ 49936440000144 · Volume/VNU · Ato agosto: sênior 7 atéR$ 98 mi; mezanino 5 atéR$ 25,5 mi; VNU R$ 1 mil · Fundos.NET ID 1280111 | 06/08/2026 | emissao | p. 3,7; Apêndices | data/raw/49936440000144/1280111_emissao_review_20261007.pdf | https://fnet.bmfbovespa.com.br/fnet/publico/visualizarDocumento?id=1280111 · Observação: Regra da versão indicada; resumo sujeito às condições completas da cláusula. IME agregado não comprova elegibilidade individual.</a:t>
            </a:r>
          </a:p>
          <a:p>
            <a:r>
              <a:t>CNPJ 49936440000144 · Ofertas · Consulta 02/10/2026 propõe sênior 7 atéR$ 400 mi; votação 13/19 outubro ainda não concluída nesta leitura · Fundos.NET ID 1339776 | 02/10/2026 22:00 | assembleia | p. 1–4; Consulta formal | data/raw/49936440000144/1339776_assembleia_review_20261007.pdf | https://fnet.bmfbovespa.com.br/fnet/publico/visualizarDocumento?id=1339776 · Observação: Anexo à consulta é minuta proposta. Não tratar conversões, novos limites e volumes como aprovados.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2026-10-07T16:29:10-03:00</a:t>
            </a:r>
          </a:p>
          <a:p>
            <a:r>
              <a:t>TURBI I: CNPJ 49936440000144</a:t>
            </a:r>
          </a:p>
          <a:p>
            <a:r>
              <a:t>Fontes:</a:t>
            </a:r>
          </a:p>
          <a:p>
            <a:r>
              <a:t>CNPJ 49936440000144 · Carência · Sênior 7: principal sem amortização nos primeiros 27 pagamentos · Fundos.NET ID 1280111 | 06/08/2026 | emissao | p. 6; AnexoI-A | data/raw/49936440000144/1280111_emissao_review_20261007.pdf | https://fnet.bmfbovespa.com.br/fnet/publico/visualizarDocumento?id=1280111 · Observação: Regra da versão indicada; resumo sujeito às condições completas da cláusula. IME agregado não comprova elegibilidade individual.</a:t>
            </a:r>
          </a:p>
          <a:p>
            <a:r>
              <a:t>CNPJ 49936440000144 · Juros/amortização · Sênior 7: juros mensais desde 31/08/2026; principal em 6 parcelas de 30/11/2028 a 30/04/2029 · Fundos.NET ID 1280111 | 06/08/2026 | emissao | p. 6; AnexoI-A | data/raw/49936440000144/1280111_emissao_review_20261007.pdf | https://fnet.bmfbovespa.com.br/fnet/publico/visualizarDocumento?id=1280111 · Observação: Regra da versão indicada; resumo sujeito às condições completas da cláusula. IME agregado não comprova elegibilidade individual.</a:t>
            </a:r>
          </a:p>
          <a:p>
            <a:r>
              <a:t>CNPJ 49936440000144 · Vencimento · Sênior 7 e mezanino 5:30/04/2029, conforme ato de agosto · Fundos.NET ID 1280111 | 06/08/2026 | emissao | p. 6,8; Cronograma e resgate | data/raw/49936440000144/1280111_emissao_review_20261007.pdf | https://fnet.bmfbovespa.com.br/fnet/publico/visualizarDocumento?id=1280111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2026-10-07T16:29:10-03:00</a:t>
            </a:r>
          </a:p>
          <a:p>
            <a:r>
              <a:t>TURBI I: CNPJ 49936440000144</a:t>
            </a:r>
          </a:p>
          <a:p>
            <a:r>
              <a:t>Fontes:</a:t>
            </a:r>
          </a:p>
          <a:p>
            <a:r>
              <a:t>CNPJ 49936440000144 · Administração · 0,11% a.a. PL, mínimo R$ 14 mil/mês · Fundos.NET ID 982237 | 28/08/2025 | regulamento | p. 33; 5.1 | data/raw/49936440000144/982237_regulamento_review_20261007.pdf | https://fnet.bmfbovespa.com.br/fnet/publico/visualizarDocumento?id=982237 · Observação: Regra da versão indicada; resumo sujeito às condições completas da cláusula. IME agregado não comprova elegibilidade individual.</a:t>
            </a:r>
          </a:p>
          <a:p>
            <a:r>
              <a:t>CNPJ 49936440000144 · Gestão · 0,55%/0,45%/0,40% a.a. PL por faixas R$ 500 mi/1 bi; mínimo R$ 20 mil/mês · Fundos.NET ID 982237 | 28/08/2025 | regulamento | p. 33–34; 5.2 | data/raw/49936440000144/982237_regulamento_review_20261007.pdf | https://fnet.bmfbovespa.com.br/fnet/publico/visualizarDocumento?id=982237 · Observação: Regra da versão indicada; resumo sujeito às condições completas da cláusula. IME agregado não comprova elegibilidade individual.</a:t>
            </a:r>
          </a:p>
          <a:p>
            <a:r>
              <a:t>CNPJ 49936440000144 · Custódia · 0,04% a.a. PL, mínimo R$ 3 mil/mês · Fundos.NET ID 982237 | 28/08/2025 | regulamento | p. 34; 5.3 | data/raw/49936440000144/982237_regulamento_review_20261007.pdf | https://fnet.bmfbovespa.com.br/fnet/publico/visualizarDocumento?id=982237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2026-10-07T16:29:10-03:00</a:t>
            </a:r>
          </a:p>
          <a:p>
            <a:r>
              <a:t>TURBI I: CNPJ 49936440000144</a:t>
            </a:r>
          </a:p>
          <a:p>
            <a:r>
              <a:t>Fontes:</a:t>
            </a:r>
          </a:p>
          <a:p>
            <a:r>
              <a:t>CNPJ 49936440000144 · Alocação/subordinação IME · Direitos creditórios / PL e cotas subordinadas / PL; validar ativo elegível, subclasses e fórmula contratual · data/raw/49936440000144/access_status_20261007.txt | Consulta Fundos.NET por CNPJ 49936440000144 em 07/10/2026; inventário completo com 112 registros · Observação: Avaliação metodológica do IME público; dados de cache e monitoramento ao vivo são apresentados separadamente.</a:t>
            </a:r>
          </a:p>
          <a:p>
            <a:r>
              <a:t>CNPJ 49936440000144 · Inadimplência/PDD IME · Over 30/60/90 e PDD / crédito: indicadores agregados; gatilhos dependem de denominador e janela contratual · data/raw/49936440000144/access_status_20261007.txt | Consulta Fundos.NET por CNPJ 49936440000144 em 07/10/2026; inventário completo com 112 registros · Observação: Avaliação metodológica do IME público; dados de cache e monitoramento ao vivo são apresentados separadamente.</a:t>
            </a:r>
          </a:p>
          <a:p>
            <a:r>
              <a:t>CNPJ 49936440000144 · Controles documentais · Elegibilidade, concentração por devedor/grupo, lastro, prestadores e eventos: validação documental e operacional · data/raw/49936440000144/access_status_20261007.txt | Consulta Fundos.NET por CNPJ 49936440000144 em 07/10/2026; inventário completo com 112 registros · Observação: Avaliação metodológica do IME público; dados de cache e monitoramento ao vivo são apresentados separadamente.</a:t>
            </a:r>
          </a:p>
          <a:p>
            <a:r>
              <a:t>CNPJ 49936440000144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Turbi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TURBI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Debêntures e notas comerciais emitidas pela devedora; uso dos recursos definido nos instrumentos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 de veículos, cessão fiduciária de recebíveis de cartões e/ou fiança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Turbi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TURBI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Sênior:20% PL subordinado; mezanino:10% PL júnior; regra textual com relação mezanino 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Swaps, termos e opções para proteção de posições à vista, até o limite destas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Turbi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TURBI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creditórios≥67% PL, conforme definição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durante duração da classe, respeitada ordem de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Turbi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TURBI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 06/08/2026: sênior 7 e mezanino 5; proposta de conversões em outubro ainda pendente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CDI +5,1481% a.a. sênior 7; CDI +7,1509% a.a. mezanino 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 agosto: sênior 7 atéR$ 98 mi; mezanino 5 atéR$ 25,5 mi;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Consulta 02/10/2026 propõe sênior 7 atéR$ 400 mi; votação 13/19 outubro ainda não concluída nesta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Turbi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TURBI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7: principal sem amortização nos primeiros 27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7: juros mensais desde 31/08/2026; principal em 6 parcelas de 30/11/2028 a 30/04/2029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7 e mezanino 5:30/04/2029, conforme ato de agosto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Turbi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TURBI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0,11% a.a. PL, mínimo R$ 14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0,55%/0,45%/0,40% a.a. PL por faixas R$ 500 mi/1 bi; mínimo R$ 20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0,04% a.a. PL, mínimo R$ 3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Turbi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TURBI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ativo elegível, subclasses e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