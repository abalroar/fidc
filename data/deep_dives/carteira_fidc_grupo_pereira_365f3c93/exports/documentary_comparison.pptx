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2026-10-07T16:31:11-03:00</a:t>
            </a:r>
          </a:p>
          <a:p>
            <a:r>
              <a:t>Fiper / Grupo Pereira: CNPJ 21093180000173</a:t>
            </a:r>
          </a:p>
          <a:p>
            <a:r>
              <a:t>Fontes:</a:t>
            </a:r>
          </a:p>
          <a:p>
            <a:r>
              <a:t>CNPJ 21093180000173 · Natureza dos recebíveis · Faturas, acordos e CCBs de compras parceladas/cartões Vuon · Fundos.NET ID 1315005; referência 14/04/2026; data/raw/21093180000173/1315005_documentary_review.txt; Anexo, 6.1 e 7.1; https://fnet.bmfbovespa.com.br/fnet/publico/exibirDocumento?id=1315005&amp;cvm=true · Observação: Conclusão limitada à versão citada; inventário completo não equivale a leitura integral de todos os documentos.</a:t>
            </a:r>
          </a:p>
          <a:p>
            <a:r>
              <a:t>CNPJ 21093180000173 · Originador/endossante · Vuon Card; endossante conforme CCB e contrato · Fundos.NET ID 1315005; referência 14/04/2026; data/raw/21093180000173/1315005_documentary_review.txt; Anexo, 7; Glossário Contrato de Cessão/Endosso; https://fnet.bmfbovespa.com.br/fnet/publico/exibirDocumento?id=1315005&amp;cvm=true · Observação: Conclusão limitada à versão citada; inventário completo não equivale a leitura integral de todos os documentos.</a:t>
            </a:r>
          </a:p>
          <a:p>
            <a:r>
              <a:t>CNPJ 21093180000173 · Devedor · Pessoas físicas portadoras de cartões Vuon · Fundos.NET ID 1315005; referência 14/04/2026; data/raw/21093180000173/1315005_documentary_review.txt; Anexo, 7.1; https://fnet.bmfbovespa.com.br/fnet/publico/exibirDocumento?id=1315005&amp;cvm=true · Observação: Conclusão limitada à versão citada; inventário completo não equivale a leitura integral de todos os documentos.</a:t>
            </a:r>
          </a:p>
          <a:p>
            <a:r>
              <a:t>CNPJ 21093180000173 · Garantia · Direitos e garantias transferidos no instrumento; garantia uniforme não confirmada · Fundos.NET ID 1315005; referência 14/04/2026; data/raw/21093180000173/1315005_documentary_review.txt; Anexo, 7.2 e 7.4; https://fnet.bmfbovespa.com.br/fnet/publico/exibirDocumento?id=1315005&amp;cvm=true · Observação: Conclusão limitada à versão citada; inventário completo não equivale a leitura integral de todos os documentos.</a:t>
            </a:r>
          </a:p>
          <a:p>
            <a:r>
              <a:t>CNPJ 21093180000173 · Elegibilidade · Créditos formalizados em reais, com custódia/registro; vencimento até 24 meses · Fundos.NET ID 1315005; referência 14/04/2026; data/raw/21093180000173/1315005_documentary_review.txt; Anexo, 8.1–8.5; https://fnet.bmfbovespa.com.br/fnet/publico/exibirDocumento?id=1315005&amp;cvm=true · Observação: Conclusão limitada à versão citada; inventário completo não equivale a leitura integral de todos os documentos.</a:t>
            </a:r>
          </a:p>
          <a:p>
            <a:r>
              <a:t>CNPJ 21093180000173 · Concentração · Devedor/coobrigado: até 20% PL; cedente: até 100% PL · Fundos.NET ID 1315005; referência 14/04/2026; data/raw/21093180000173/1315005_documentary_review.txt; Anexo, 6.5; https://fnet.bmfbovespa.com.br/fnet/publico/exibirDocumento?id=1315005&amp;cvm=true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2026-10-07T16:31:11-03:00</a:t>
            </a:r>
          </a:p>
          <a:p>
            <a:r>
              <a:t>Fiper / Grupo Pereira: CNPJ 21093180000173</a:t>
            </a:r>
          </a:p>
          <a:p>
            <a:r>
              <a:t>Fontes:</a:t>
            </a:r>
          </a:p>
          <a:p>
            <a:r>
              <a:t>CNPJ 21093180000173 · Subordinação mínima · Subordinadas ≥ 20% PL; júnior ≥ 20% patrimônio subordinado · Fundos.NET ID 1315005; referência 14/04/2026; data/raw/21093180000173/1315005_documentary_review.txt; Anexo, 11.1–11.5; https://fnet.bmfbovespa.com.br/fnet/publico/exibirDocumento?id=1315005&amp;cvm=true · Observação: Texto também menciona 125% como índice: definição interna inconsistente exige validação jurídica; não lançar 125% como subordinadas/PL.</a:t>
            </a:r>
          </a:p>
          <a:p>
            <a:r>
              <a:t>CNPJ 21093180000173 · Gatilhos de avaliação/liquidação · Rating, desenquadramento &gt; 15 dias úteis, PL negativo, insolvência, repasse atrasado e falhas de prestadores · Fundos.NET ID 1315005; referência 14/04/2026; data/raw/21093180000173/1315005_documentary_review.txt; Anexo, 16.2–16.8; https://fnet.bmfbovespa.com.br/fnet/publico/exibirDocumento?id=1315005&amp;cvm=true · Observação: Conclusão limitada à versão citada; inventário completo não equivale a leitura integral de todos os documentos.</a:t>
            </a:r>
          </a:p>
          <a:p>
            <a:r>
              <a:t>CNPJ 21093180000173 · Reserva de caixa · Maior entre 90 dias de despesas e 1% PL; amortização: 30% em D–30 e 100% em D–15 · Fundos.NET ID 1315005; referência 14/04/2026; data/raw/21093180000173/1315005_documentary_review.txt; Anexo,13.1–13.5; https://fnet.bmfbovespa.com.br/fnet/publico/exibirDocumento?id=1315005&amp;cvm=true · Observação: Conclusão limitada à versão citada; inventário completo não equivale a leitura integral de todos os documentos.</a:t>
            </a:r>
          </a:p>
          <a:p>
            <a:r>
              <a:t>CNPJ 21093180000173 · Derivativos/hedge · Cláusulas conflitantes: 6.7 veda; 6.14 permite proteção/troca de indexador · Fundos.NET ID 1315005; referência 14/04/2026; data/raw/21093180000173/1315005_documentary_review.txt; Anexo,6.7 e6.14; https://fnet.bmfbovespa.com.br/fnet/publico/exibirDocumento?id=1315005&amp;cvm=true · Observação: Obter esclarecimento do administrador antes de concluir permissão ou vedação.</a:t>
            </a:r>
          </a:p>
          <a:p>
            <a:r>
              <a:t>CNPJ 21093180000173 · PDD · PDD por atraso: 1% até 15 dias; 3% até 30; 10% até 60; 60% até 90; 100% após 360 · Fundos.NET ID 1315005; referência 14/04/2026; data/raw/21093180000173/1315005_documentary_review.txt; Anexo,13.6; https://fnet.bmfbovespa.com.br/fnet/publico/exibirDocumento?id=1315005&amp;cvm=true · Observação: Tabela completa na fonte; proporções por faixa do crédito, não piso de PDD/PL.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2026-10-07T16:31:11-03:00</a:t>
            </a:r>
          </a:p>
          <a:p>
            <a:r>
              <a:t>Fiper / Grupo Pereira: CNPJ 21093180000173</a:t>
            </a:r>
          </a:p>
          <a:p>
            <a:r>
              <a:t>Fontes:</a:t>
            </a:r>
          </a:p>
          <a:p>
            <a:r>
              <a:t>CNPJ 21093180000173 · Alocação mínima · Direitos creditórios &gt; 67% PL até 180 dias do início · Fundos.NET ID 1315005; referência 14/04/2026; data/raw/21093180000173/1315005_documentary_review.txt; Anexo,6.3; https://fnet.bmfbovespa.com.br/fnet/publico/exibirDocumento?id=1315005&amp;cvm=true · Observação: Conclusão limitada à versão citada; inventário completo não equivale a leitura integral de todos os documentos.</a:t>
            </a:r>
          </a:p>
          <a:p>
            <a:r>
              <a:t>CNPJ 21093180000173 · Pool/revolvência · Aquisições sucessivas sujeitas a elegibilidade, reservas e amortizações · Fundos.NET ID 1315005; referência 14/04/2026; data/raw/21093180000173/1315005_documentary_review.txt; Anexo,7 e12; https://fnet.bmfbovespa.com.br/fnet/publico/exibirDocumento?id=1315005&amp;cvm=true · Observação: Conclusão limitada à versão citada; inventário completo não equivale a leitura integral de todos os documentos.</a:t>
            </a:r>
          </a:p>
          <a:p>
            <a:r>
              <a:t>CNPJ 21093180000173 · Duração/público-alvo · Classe fechada, prazo indeterminado; investidores profissionais · Fundos.NET ID 1315005; referência 14/04/2026; data/raw/21093180000173/1315005_documentary_review.txt; Anexo,1–3; https://fnet.bmfbovespa.com.br/fnet/publico/exibirDocumento?id=1315005&amp;cvm=true · Observação: Conclusão limitada à versão citada; inventário completo não equivale a leitura integral de todos os documentos.</a:t>
            </a:r>
          </a:p>
          <a:p>
            <a:r>
              <a:t>CNPJ 21093180000173 · Cessão/recompra · Transferência definitiva; cedente responde por existência/veracidade/formalização · Fundos.NET ID 1315005; referência 14/04/2026; data/raw/21093180000173/1315005_documentary_review.txt; Anexo,7.4–7.5; https://fnet.bmfbovespa.com.br/fnet/publico/exibirDocumento?id=1315005&amp;cvm=true · Observação: Conclusão limitada à versão citada; inventário completo não equivale a leitura integral de todos os documentos.</a:t>
            </a:r>
          </a:p>
          <a:p>
            <a:r>
              <a:t>CNPJ 21093180000173 · Coobrigação · Cessão/endosso sem coobrigação e sem regresso por inadimplência · Fundos.NET ID 1315005; referência 14/04/2026; data/raw/21093180000173/1315005_documentary_review.txt; Anexo,7.4; Glossário Contrato de Cessão e Endosso; https://fnet.bmfbovespa.com.br/fnet/publico/exibirDocumento?id=1315005&amp;cvm=true · Observação: Conclusão limitada à versão citada; inventário completo não equivale a leitura integral de todos os documentos.</a:t>
            </a:r>
          </a:p>
          <a:p>
            <a:r>
              <a:t>CNPJ 21093180000173 · Waterfall · Encargos → reservas → sênior → mezanino → júnior; aquisição conforme saldo · Fundos.NET ID 1315005; referência 14/04/2026; data/raw/21093180000173/1315005_documentary_review.txt; Anexo,12.1; https://fnet.bmfbovespa.com.br/fnet/publico/exibirDocumento?id=1315005&amp;cvm=true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2026-10-07T16:31:11-03:00</a:t>
            </a:r>
          </a:p>
          <a:p>
            <a:r>
              <a:t>Fiper / Grupo Pereira: CNPJ 21093180000173</a:t>
            </a:r>
          </a:p>
          <a:p>
            <a:r>
              <a:t>Fontes:</a:t>
            </a:r>
          </a:p>
          <a:p>
            <a:r>
              <a:t>CNPJ 21093180000173 · Classes/séries · Júnior: 2ª emissão retificada; estrutura também sênior/mezanino · Fundos.NET ID 523464; referência 14/09/2023; data/raw/21093180000173/523464_documentary_review.txt; Ato de14/09/2023, pp1–2; https://fnet.bmfbovespa.com.br/fnet/publico/exibirDocumento?id=523464&amp;cvm=true · Observação: Conclusão limitada à versão citada; inventário completo não equivale a leitura integral de todos os documentos.</a:t>
            </a:r>
          </a:p>
          <a:p>
            <a:r>
              <a:t>CNPJ 21093180000173 · Remuneração · Júnior residual; spread sênior/mezanino remetido a suplementos não individualizados · Fundos.NET ID 523464; referência 14/09/2023; data/raw/21093180000173/523464_documentary_review.txt; Ato de14/09/2023; regulamento,12.2–12.4; https://fnet.bmfbovespa.com.br/fnet/publico/exibirDocumento?id=523464&amp;cvm=true · Observação: Conclusão limitada à versão citada; inventário completo não equivale a leitura integral de todos os documentos.</a:t>
            </a:r>
          </a:p>
          <a:p>
            <a:r>
              <a:t>CNPJ 21093180000173 · Volume/VNU · 2ª júnior: R$ 40 milhões; 40 mil cotas de R$ 1.000 · Fundos.NET ID 523464; referência 14/09/2023; data/raw/21093180000173/523464_documentary_review.txt; Ato de14/09/2023, pp1–2; https://fnet.bmfbovespa.com.br/fnet/publico/exibirDocumento?id=523464&amp;cvm=true · Observação: Correção documental: valor anterior de R$ 40 mil estava errado; quantidade 40 mil cotas é distinta do volume.</a:t>
            </a:r>
          </a:p>
          <a:p>
            <a:r>
              <a:t>CNPJ 21093180000173 · Ofertas · Ato 14/09/2023 retifica emissão aprovada em 04/07/2023 · Fundos.NET ID 523464; referência 14/09/2023; data/raw/21093180000173/523464_documentary_review.txt; Ato, p1; https://fnet.bmfbovespa.com.br/fnet/publico/exibirDocumento?id=523464&amp;cvm=true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2026-10-07T16:31:11-03:00</a:t>
            </a:r>
          </a:p>
          <a:p>
            <a:r>
              <a:t>Fiper / Grupo Pereira: CNPJ 21093180000173</a:t>
            </a:r>
          </a:p>
          <a:p>
            <a:r>
              <a:t>Fontes:</a:t>
            </a:r>
          </a:p>
          <a:p>
            <a:r>
              <a:t>CNPJ 21093180000173 · Carência · Remetida aos suplementos de cada série; carência fechada não localizada · Fundos.NET ID 1315005; referência 14/04/2026; data/raw/21093180000173/1315005_documentary_review.txt; Anexo,10; https://fnet.bmfbovespa.com.br/fnet/publico/exibirDocumento?id=1315005&amp;cvm=true · Observação: Conclusão limitada à versão citada; inventário completo não equivale a leitura integral de todos os documentos.</a:t>
            </a:r>
          </a:p>
          <a:p>
            <a:r>
              <a:t>CNPJ 21093180000173 · Juros/amortização · Sênior/mezanino conforme suplementos; júnior subordinada e sujeita a excesso de proteção · Fundos.NET ID 1315005; referência 14/04/2026; data/raw/21093180000173/1315005_documentary_review.txt; Anexo,10.9–10.18; https://fnet.bmfbovespa.com.br/fnet/publico/exibirDocumento?id=1315005&amp;cvm=true · Observação: Conclusão limitada à versão citada; inventário completo não equivale a leitura integral de todos os documentos.</a:t>
            </a:r>
          </a:p>
          <a:p>
            <a:r>
              <a:t>CNPJ 21093180000173 · Vencimento · Prazo por subclasse/série remetido ao suplemento; classe indeterminada · Fundos.NET ID 1315005; referência 14/04/2026; data/raw/21093180000173/1315005_documentary_review.txt; Anexo,3 e10; https://fnet.bmfbovespa.com.br/fnet/publico/exibirDocumento?id=1315005&amp;cvm=true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2026-10-07T16:31:11-03:00</a:t>
            </a:r>
          </a:p>
          <a:p>
            <a:r>
              <a:t>Fiper / Grupo Pereira: CNPJ 21093180000173</a:t>
            </a:r>
          </a:p>
          <a:p>
            <a:r>
              <a:t>Fontes:</a:t>
            </a:r>
          </a:p>
          <a:p>
            <a:r>
              <a:t>CNPJ 21093180000173 · Administração · 0, 15% /0, 10% /0, 09% a.a. por faixas de PL; mínimoR$ 17 mil/mês + serviços · Fundos.NET ID 1315005; referência 14/04/2026; data/raw/21093180000173/1315005_documentary_review.txt; Anexo,4.1; https://fnet.bmfbovespa.com.br/fnet/publico/exibirDocumento?id=1315005&amp;cvm=true · Observação: Faixas incrementais atéR$ 150 mi, R$ 150–400 mi e acima de R$ 400 mi; IGP-M, tributos e escrituração adicionais.</a:t>
            </a:r>
          </a:p>
          <a:p>
            <a:r>
              <a:t>CNPJ 21093180000173 · Gestão · 0, 15% /0, 10% /0, 09% a.a. por faixas de PL; mínimoR$ 17 mil/mês + lastro/registro · Fundos.NET ID 1315005; referência 14/04/2026; data/raw/21093180000173/1315005_documentary_review.txt; Anexo,4.2; https://fnet.bmfbovespa.com.br/fnet/publico/exibirDocumento?id=1315005&amp;cvm=true · Observação: LastroR$ 5 mil/mês, registroR$ 4.250/mês e transferênciaR$ 35 mil; IGP-M e tributos.</a:t>
            </a:r>
          </a:p>
          <a:p>
            <a:r>
              <a:t>CNPJ 21093180000173 · Custódia · Incluída na administração fiduciária/controladoria · Fundos.NET ID 1315005; referência 14/04/2026; data/raw/21093180000173/1315005_documentary_review.txt; Anexo,4.1; https://fnet.bmfbovespa.com.br/fnet/publico/exibirDocumento?id=1315005&amp;cvm=true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2026-10-07T16:31:11-03:00</a:t>
            </a:r>
          </a:p>
          <a:p>
            <a:r>
              <a:t>Fiper / Grupo Pereira: CNPJ 21093180000173</a:t>
            </a:r>
          </a:p>
          <a:p>
            <a:r>
              <a:t>Fontes:</a:t>
            </a:r>
          </a:p>
          <a:p>
            <a:r>
              <a:t>CNPJ 21093180000173 · Alocação/subordinação IME · Direitos creditórios / PL e cotas subordinadas / PL; validar fórmula contratual antes de comparar · Fundos.NET ID 1315005; referência 14/04/2026; data/raw/21093180000173/1315005_documentary_review.txt; Inventário das fontes consultadas; https://fnet.bmfbovespa.com.br/fnet/publico/exibirDocumento?id=1315005&amp;cvm=true; Fundos.NET ID 523464; referência 14/09/2023; data/raw/21093180000173/523464_documentary_review.txt; Inventário das fontes consultadas; https://fnet.bmfbovespa.com.br/fnet/publico/exibirDocumento?id=523464&amp;cvm=true · Observação: Métricas padronizadas são proxies; data, unidade e denominador precisam coincidir com a regra jurídica.</a:t>
            </a:r>
          </a:p>
          <a:p>
            <a:r>
              <a:t>CNPJ 21093180000173 · Inadimplência/PDD IME · Aging e PDD agregados ajudam no alerta; índice contratual exige reconciliação · Fundos.NET ID 1315005; referência 14/04/2026; data/raw/21093180000173/1315005_documentary_review.txt; Inventário das fontes consultadas; https://fnet.bmfbovespa.com.br/fnet/publico/exibirDocumento?id=1315005&amp;cvm=true; Fundos.NET ID 523464; referência 14/09/2023; data/raw/21093180000173/523464_documentary_review.txt; Inventário das fontes consultadas; https://fnet.bmfbovespa.com.br/fnet/publico/exibirDocumento?id=523464&amp;cvm=true · Observação: O IME não substitui bases por devedor, cedente, vintage ou fluxo de vencimentos.</a:t>
            </a:r>
          </a:p>
          <a:p>
            <a:r>
              <a:t>CNPJ 21093180000173 · Controles documentais · Elegibilidade, concentração, recompra jurídica e troca de prestadores exigem documentos individuais · Fundos.NET ID 1315005; referência 14/04/2026; data/raw/21093180000173/1315005_documentary_review.txt; Inventário das fontes consultadas; https://fnet.bmfbovespa.com.br/fnet/publico/exibirDocumento?id=1315005&amp;cvm=true; Fundos.NET ID 523464; referência 14/09/2023; data/raw/21093180000173/523464_documentary_review.txt; Inventário das fontes consultadas; https://fnet.bmfbovespa.com.br/fnet/publico/exibirDocumento?id=523464&amp;cvm=true · Observação: Controle documental separado de posições agregadas do IME; lacuna não deve produzir enquadramento presumido.</a:t>
            </a:r>
          </a:p>
          <a:p>
            <a:r>
              <a:t>CNPJ 21093180000173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GRUPO PEREIRA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Fiper / Grupo Pereira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Faturas, acordos e CCBs de compras parceladas/cartões Vuon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Vuon Card; endossante conforme CCB e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físicas portadoras de cartões Vuon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e garantias transferidos no instrumento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formalizados em reais, com custódia/registro; vencimento até 24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Devedor/coobrigado: até 20% PL; cedente: até 100%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GRUPO PEREIRA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Fiper / Grupo Pereira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≥ 20% PL; júnior ≥ 20% patrimônio subordinado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Rating, desenquadramento &gt; 15 dias úteis, PL negativo, insolvência, repasse atrasado e falhas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Maior entre 90 dias de despesas e 1% PL; amortização: 30% em D–30 e 100% em D–15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Cláusulas conflitantes: 6.7 veda; 6.14 permite proteção/troca de indexador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 por atraso: 1% até 15 dias; 3% até 30; 10% até 60; 60% até 90; 100% após 360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GRUPO PEREIRA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Fiper / Grupo Pereira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&gt; 67% PL até 180 dias do início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sucessivas sujeitas a elegibilidade, reservas e amortizações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fechada, prazo indeterminado; investidores 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 definitiva; cedente responde por existência/veracidade/formalização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Cessão/endosso sem coobrigação e sem regresso por inadimplência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→ reservas → sênior → mezanino → júnior; aquisição conforme saldo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GRUPO PEREIRA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Fiper / Grupo Pereira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Júnior: 2ª emissão retificada; estrutura também sênior/mezanino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residual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júnior: R$ 40 milhões; 40 mil cotas de R$ 1.000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Ato 14/09/2023 retifica emissão aprovada em 04/07/2023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GRUPO PEREIRA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Fiper / Grupo Pereira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Sênior/mezanino conforme suplementos; júnior subordinada e sujeita a excesso de proteção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indeterminada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GRUPO PEREIRA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Fiper / Grupo Pereira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15% /0, 10% /0, 09% a.a. por faixas de PL; mínimoR$ 17 mil/mês + serviços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15% /0, 10% /0, 09% a.a. por faixas de PL; mínimoR$ 17 mil/mês + lastro/registro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administração fiduciária/controladoria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GRUPO PEREIRA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Fiper / Grupo Pereira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 ajudam no alerta; índice contratual exige reconciliação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recompra jurídica e troca de prestadores exigem documentos individuais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