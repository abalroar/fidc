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Natureza dos recebíveis · Financiamento de sistemas solares, representado por CCBs. · Fundos.NET ID 1202319; referência 21/05/2026; data/raw/57028406000108/1202319_regulamento_21-05-2026.txt; política de investimento / condições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Originador/endossante · Solfácil origina pela plataforma; instituições financeiras endossantes nos termos da versão contratual. · Fundos.NET ID 1202319; referência 21/05/2026; data/raw/57028406000108/1202319_regulamento_21-05-2026.txt; definições de Originador, Endossante e Instituição Financeira Parceira; https://fnet.bmfbovespa.com.br/fnet/publico/exibirDocumento?id=1202319&amp;cvm=true · Observação: Identidade dos endossantes depende da versão do contrato; não inferida do nome do fundo.</a:t>
            </a:r>
          </a:p>
          <a:p>
            <a:r>
              <a:t>CNPJ 57028406000108 · Devedor · Pessoas físicas e jurídicas que financiam sistemas solares. · Fundos.NET ID 1202319; referência 21/05/2026; data/raw/57028406000108/1202319_regulamento_21-05-2026.txt; definições de Devedores e Financiamento Solar;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Garantia · Equipamentos solares em alienação fiduciária; formalização e registro sujeitos às condições contratuais. · Fundos.NET ID 1202319; referência 21/05/2026; data/raw/57028406000108/1202319_regulamento_21-05-2026.txt; condições de cessão / definições de Equipamentos; https://fnet.bmfbovespa.com.br/fnet/publico/exibirDocumento?id=1202319&amp;cvm=true · Observação: Não equivale a garantia de recuperação integral; registro e lastro exigem documentos individualizados.</a:t>
            </a:r>
          </a:p>
          <a:p>
            <a:r>
              <a:t>CNPJ 57028406000108 · Elegibilidade · CCBs prefixadas em reais, adimplentes; prazo médio ≤2.400 dias; original ≤126 meses; carência ≤185 dias; nominal PF R$ 350 mil/PJ R$ 700 mil. · Fundos.NET ID 1202319; referência 21/05/2026; data/raw/57028406000108/1202319_regulamento_21-05-2026.txt; pp.108–110, condições/critério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Concentração · Limite nominal também agregado por devedor: PF R$ 350 mil/PJ R$ 700 mil; preço ≤101% do saldo contábil. · Fundos.NET ID 1202319; referência 21/05/2026; data/raw/57028406000108/1202319_regulamento_21-05-2026.txt; pp.108–110; https://fnet.bmfbovespa.com.br/fnet/publico/exibirDocumento?id=1202319&amp;cvm=true · Observação: Monitorar contratos e devedor individual; IME público não oferece essa granularidade.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Subordinação mínima · Índices mínimos das subclasses: mezanino A 5%/PL; mezanino B 2,5%/PL; júnior 2%/PL. · Fundos.NET ID 1202319; referência 21/05/2026; data/raw/57028406000108/1202319_regulamento_21-05-2026.txt; p.112; https://fnet.bmfbovespa.com.br/fnet/publico/exibirDocumento?id=1202319&amp;cvm=true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57028406000108 · Gatilhos de avaliação/liquidação · Cobertura sênior/A/B: 133,33%/111,11%/104,17%; atraso90 &gt;15%; rolagem90 &gt;1,6%; patamares adicionais por regime. · Fundos.NET ID 1202319; referência 21/05/2026; data/raw/57028406000108/1202319_regulamento_21-05-2026.txt; p.113, patamares de risco; https://fnet.bmfbovespa.com.br/fnet/publico/exibirDocumento?id=1202319&amp;cvm=true · Observação: Aging IME/crédito não reproduz fórmula de cobertura/rolagem/vintage; valores contratuais, sem conclusão de enquadramento ao vivo.</a:t>
            </a:r>
          </a:p>
          <a:p>
            <a:r>
              <a:t>CNPJ 57028406000108 · Reserva de caixa · 3 meses de despesas futuras; reserva de MTM negativo limitada ao menor entre valor absoluto do MTM e 1% do nocional agregado. · Fundos.NET ID 1202319; referência 21/05/2026; data/raw/57028406000108/1202319_regulamento_21-05-2026.txt; pp.58–59, 17.1–17.2; https://fnet.bmfbovespa.com.br/fnet/publico/exibirDocumento?id=1202319&amp;cvm=true · Observação: Reserva de MTM depende da posição derivativa e da aplicabilidade indicada no anexo.</a:t>
            </a:r>
          </a:p>
          <a:p>
            <a:r>
              <a:t>CNPJ 57028406000108 · Derivativos/hedge · Proteção de posições à vista; sem exposição descoberta/alavancagem; limite agregado de exposição contratual. · Fundos.NET ID 1202319; referência 21/05/2026; data/raw/57028406000108/1202319_regulamento_21-05-2026.txt; p.111, política de derivativos; https://fnet.bmfbovespa.com.br/fnet/publico/exibirDocumento?id=1202319&amp;cvm=true · Observação: IME agregado não prova finalidade, nocional, MTM por contraparte ou aderência à cobertura contratual.</a:t>
            </a:r>
          </a:p>
          <a:p>
            <a:r>
              <a:t>CNPJ 57028406000108 · PDD · Política de provisão em anexo; faixa por atraso e renegociação exige aplicação ao contrato. · Fundos.NET ID 1202319; referência 21/05/2026; data/raw/57028406000108/1202319_regulamento_21-05-2026.txt; anexo de política de provisão para devedores duvidosos; https://fnet.bmfbovespa.com.br/fnet/publico/exibirDocumento?id=1202319&amp;cvm=true · Observação: PDD/crédito e PDD/vencidos são proxies. Não foi encontrado um piso uniforme de PDD/PL aplicável a todas as versões.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Alocação mínima · 50%/PL em DC; 67%/PL para enquadramento tributário. · Fundos.NET ID 1202319; referência 21/05/2026; data/raw/57028406000108/1202319_regulamento_21-05-2026.txt; política de investimento e definição de Alocação Mínima;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Pool/revolvência · Aquisições e amortização conforme regimes; período de carência/desinvestimento depende das séries. · Fundos.NET ID 1202319; referência 21/05/2026; data/raw/57028406000108/1202319_regulamento_21-05-2026.txt; p.86, carência/desinvestimento;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Duração/público-alvo · Classe fechada; prazos e remuneração de séries nos apêndices; investidores autorizados. · Fundos.NET ID 1202319; referência 21/05/2026; data/raw/57028406000108/1202319_regulamento_21-05-2026.txt; modelos de apêndices / características da classe;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Cessão/recompra · Endosso definitivo; recompra/resolução e indenização condicionadas ao contrato de transferência. · Fundos.NET ID 1202319; referência 21/05/2026; data/raw/57028406000108/1202319_regulamento_21-05-2026.txt; política de investimento; Contrato de Endosso / Transferência; https://fnet.bmfbovespa.com.br/fnet/publico/exibirDocumento?id=1202319&amp;cvm=true · Observação: IME Recompras/crédito não identifica vício de lastro, motivo ou cumprimento da indenização.</a:t>
            </a:r>
          </a:p>
          <a:p>
            <a:r>
              <a:t>CNPJ 57028406000108 · Coobrigação · Transferência sem coobrigação do endossante; responsabilidades por vícios seguem contrato específico. · Fundos.NET ID 1202319; referência 21/05/2026; data/raw/57028406000108/1202319_regulamento_21-05-2026.txt; política de investimento / definição de Contrato de Transferência;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Waterfall · Pro rata sujeito a metas; desalavancagem aciona sequencial com prioridade sênior → mezanino A → B → júnior. · Fundos.NET ID 1202319; referência 21/05/2026; data/raw/57028406000108/1202319_regulamento_21-05-2026.txt; pp.46–47, alocação e regimes; https://fnet.bmfbovespa.com.br/fnet/publico/exibirDocumento?id=1202319&amp;cvm=true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Classes/séries · Sênior, subordinadas mezanino e júnior; modelos de emissão não comprovam todas as séries em circulação. · Fundos.NET ID 1202319; referência 21/05/2026; data/raw/57028406000108/1202319_regulamento_21-05-2026.txt; capítulo de cotas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Remuneração · Spread final não localizado; taxa e benchmark remetidos ao apêndice/suplemento de cada série. · Fundos.NET ID 1202319; referência 21/05/2026; data/raw/57028406000108/1202319_regulamento_21-05-2026.txt; parâmetros de pagamento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Volume/VNU · Volume aprovado/distribuído por série não confirmado pelos modelos; VNU depende do suplemento preenchido. · Fundos.NET ID 1202319; referência 21/05/2026; data/raw/57028406000108/1202319_regulamento_21-05-2026.txt; parâmetros da oferta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Ofertas · Rito, público e montante por emissão remetidos aos respectivos atos e anúncios; encerramentos não confirmados. · Fundos.NET ID 1202319; referência 21/05/2026; data/raw/57028406000108/1202319_regulamento_21-05-2026.txt; modelos de apêndices / parâmetros da oferta; https://fnet.bmfbovespa.com.br/fnet/publico/exibirDocumento?id=1202319&amp;cvm=true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Carência · Prazo remetido ao suplemento; carência efetiva por série não confirmada. · Fundos.NET ID 1202319; referência 21/05/2026; data/raw/57028406000108/1202319_regulamento_21-05-2026.txt; parâmetros de pagamento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Juros/amortização · Pagamentos sujeitos à disponibilidade de caixa e waterfall; cronograma fechado não identificado. · Fundos.NET ID 1202319; referência 21/05/2026; data/raw/57028406000108/1202319_regulamento_21-05-2026.txt; capítulo de amortização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Vencimento · Data final por série remetida ao suplemento; primeira integralização efetiva não confirmada. · Fundos.NET ID 1202319; referência 21/05/2026; data/raw/57028406000108/1202319_regulamento_21-05-2026.txt; parâmetros de pagamento / modelos de apêndices; https://fnet.bmfbovespa.com.br/fnet/publico/exibirDocumento?id=1202319&amp;cvm=true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Administração · 0,10% a.a./PL; mínimo R$ 10.833,33/mês;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Gestão · 0,20% a.a./PL; mínimo R$ 18,5 mil/mês;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57028406000108 · Custódia · 0,02% a.a./PL; mínimo R$ 2.166,67/mês;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2026-10-07T14:46:12-03:00</a:t>
            </a:r>
          </a:p>
          <a:p>
            <a:r>
              <a:t>Solfácil VI: CNPJ 57028406000108</a:t>
            </a:r>
          </a:p>
          <a:p>
            <a:r>
              <a:t>Fontes:</a:t>
            </a:r>
          </a:p>
          <a:p>
            <a:r>
              <a:t>CNPJ 57028406000108 · Alocação/subordinação IME · DC/PL e cotas subordinadas/PL: cálculo agregado com validação de classes e do denominador. · Corpus do CNPJ 57028406000108, revisão 2026-10-07T14:46:12-03:00; Fundos.NET ID 1202319, referência 21/05/2026, arquivo data/raw/57028406000108/1202319_regulamento_21-05-2026.txt · Observação: Monitorável com ressalva: IME mensal não prova cumprimento diário nem composição jurídica por série.</a:t>
            </a:r>
          </a:p>
          <a:p>
            <a:r>
              <a:t>CNPJ 57028406000108 · Inadimplência/PDD IME · Over 30/60/90/180/crédito e PDD/crédito: proxies agregados; gatilhos contratuais exigem fórmula própria. · Corpus do CNPJ 57028406000108, revisão 2026-10-07T14:46:12-03:00; Fundos.NET ID 1202319, referência 21/05/2026, arquivo data/raw/57028406000108/1202319_regulamento_21-05-2026.txt · Observação: Parcial: não equiparar índices de estoque/vintage/rolagem à carteira atual sem reconciliação de denominadores.</a:t>
            </a:r>
          </a:p>
          <a:p>
            <a:r>
              <a:t>CNPJ 57028406000108 · Controles documentais · Elegibilidade, concentração individual, lastro, finalidade do hedge e troca de prestadores exigem controle documental. · Corpus do CNPJ 57028406000108, revisão 2026-10-07T14:46:12-03:00; Fundos.NET ID 1202319, referência 21/05/2026, arquivo data/raw/57028406000108/1202319_regulamento_21-05-2026.txt · Observação: Não monitorável pelo IME público sem dados individualizados; caixa e recompras ajudam apenas como proxies.</a:t>
            </a:r>
          </a:p>
          <a:p>
            <a:r>
              <a:t>CNPJ 57028406000108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843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 sistemas solares, 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 plataforma; instituições financeiras endossantes nos termos da versão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 jurídicas que financiam 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 alienação fiduciária; formalização e registro sujeitos às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prefixadas em reais, adimplentes; prazo médio ≤2.400 dias; original ≤126 meses; carência ≤185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nominal PF R$ 350 mil/PJ R$ 700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nominal também agregado por devedor: PF R$ 350 mil/PJ R$ 700 mil; preço ≤101% do saldo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contábil.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2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mínimos das subclasses: mezanino A 5%/PL; mezanino B 2,5%/PL; júnior 2%/PL.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sênior/A/B: 133,33%/111,11%/104,17%; atraso90 &gt;15%; rolagem90 &gt;1,6%; patamares adicionais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regime.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futuras; reserva de MTM negativo limitada ao menor entre valor absoluto do MTM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1% do nocional agregado.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 vista; sem exposição descoberta/alavancagem; limite agregado de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Política de provisão em anexo; faixa por atraso e renegociação exige 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DC; 67%/PL para enquadramento tributário.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e amortização conforme regimes; período de carência/desinvestimento depende das séries.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prazos e remuneração de séries nos apêndices; investidores 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 recompra/resolução e indenização condicionadas ao contrato de 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 coobrigação do endossante; responsabilidades por 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 rata sujeito a metas; desalavancagem aciona sequencial com prioridade sênior → mezanino A → B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 mezanino e júnior; modelos de emissão não comprovam todas as séries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localizado; taxa e benchmark remetidos ao apêndice/suplemento de cada série.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Volume aprovado/distribuído por série não confirmado pelos modelos; VNU depende do suplemento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preenchido.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 montante por emissão remetidos aos respectivos atos e anúncios; encerramentos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 suplemento; carência efetiva por série não 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 disponibilidade de caixa e waterfall; cronograma fechado não 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 final por série remetida ao suplemento; primeira integralização efetiva não 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a.a./PL; mínimo R$ 10.833,33/mês;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a.a./PL; mínimo R$ 18,5 mil/mês;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a.a./PL; mínimo R$ 2.166,67/mês;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Solfacil VI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 cálculo agregado com validação 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 PDD/crédito: proxies agregados; gatilhos contratuais exigem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lastro, finalidade do hedge e troca de 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