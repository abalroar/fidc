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2026-10-07T16:50:54-03:00</a:t>
            </a:r>
          </a:p>
          <a:p>
            <a:r>
              <a:t>Larca Consignado: CNPJ 51326028000154</a:t>
            </a:r>
          </a:p>
          <a:p>
            <a:r>
              <a:t>LARCA CONSIGNADO II: CNPJ 54634742000106</a:t>
            </a:r>
          </a:p>
          <a:p>
            <a:r>
              <a:t>LARCA CONSIGNADO III: CNPJ 59602002000101</a:t>
            </a:r>
          </a:p>
          <a:p>
            <a:r>
              <a:t>Larca Aurora: CNPJ 63168433000170</a:t>
            </a:r>
          </a:p>
          <a:p>
            <a:r>
              <a:t>Larca V: CNPJ 65327006000113</a:t>
            </a:r>
          </a:p>
          <a:p>
            <a:r>
              <a:t>Larca Multiplica Capital: CNPJ 41114564000132</a:t>
            </a:r>
          </a:p>
          <a:p>
            <a:r>
              <a:t>Fontes:</a:t>
            </a:r>
          </a:p>
          <a:p>
            <a:r>
              <a:t>CNPJ 51326028000154 · Natureza dos recebíveis · Empréstimos com consignação em folha/benefício e antecipação do saque-aniversário FGTS · Fundos.NET ID 1219005; referência 09/06/2026; data/raw/51326028000154/1219005_documentary_review.txt; Glossário Direitos Creditórios e Anexo,8.1, pp10 e52;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Natureza dos recebíveis · CCBs e contratos de assistência financeira: consignado em folha/benefício; regras próprias para FGTS · Fundos.NET ID 1316627 | 11/09/2026 | regulamento | p. 8,49; Definições;8.1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Natureza dos recebíveis · Parcelas vincendas de CCBs e contratos de assistência financeira; empréstimos pessoais/cartão benefício com consignação · Fundos.NET ID 1181571 | 27/04/2026 | regulamento | p. 8–9; Definições Direitos Creditórios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Natureza dos recebíveis · CCBs de empréstimo consignado a Exército e servidores SIAPE · data/raw/63168433000170/1023249_regulamento.pdf | Fundos.NET ID 1023249 | 29/10/2025 | regulamento | p. 139 · Observação: Regra da versão citada; contratos e séries exigem seus instrumentos próprios.</a:t>
            </a:r>
          </a:p>
          <a:p>
            <a:r>
              <a:t>CNPJ 65327006000113 · Natureza dos recebíveis · CCBs de consignado das Forças Armadas e servidores federais SIAPE · data/raw/65327006000113/1323417_regulamento.pdf | Fundos.NET ID 1323417 | 16/09/2026 | regulamento | p. 128-129 · Observação: Regra da versão citada; contratos e séries exigem seus instrumentos próprios.</a:t>
            </a:r>
          </a:p>
          <a:p>
            <a:r>
              <a:t>CNPJ 41114564000132 · Natureza dos recebíveis · Créditos industriais, comerciais, financeiros, imobiliários, agropecuários e de serviços · Fundos.NET ID 1214038; referência 08/06/2026; data/raw/41114564000132/1214038_documentary_review.txt; Anexo,7.2;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Originador/endossante · QI SCD e cedentes autorizados; canais de originação conforme apensos · Fundos.NET ID 1219005; referência 09/06/2026; data/raw/51326028000154/1219005_documentary_review.txt; Glossário Cedente, p4; Apenso B;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Originador/endossante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Originador/endossante · Não localizado nas fontes acessíveis desta leitura · data/raw/59602002000101/access_status_20261007.txt | Consulta Fundos.NET por CNPJ 59602002000101 em 07/10/2026; inventário completo com 51 registros · Observação: Lacuna na revisão dirigida; obter cláusula específica antes de concluir ausência ou enquadramento.</a:t>
            </a:r>
          </a:p>
          <a:p>
            <a:r>
              <a:t>CNPJ 63168433000170 · Originador/endossante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Originador/endossante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Originador/endossante · Múltiplos cedentes/endossantes; originação relacionada permitida nas condições · Fundos.NET ID 1214038; referência 08/06/2026; data/raw/41114564000132/1214038_documentary_review.txt; Anexo,7.15 e8;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Devedor · Pessoas com empréstimo consignado; idade 21–70 anos na cessão · Fundos.NET ID 1219005; referência 09/06/2026; data/raw/51326028000154/1219005_documentary_review.txt; Glossário Devedores, p10; Anexo,8.1, p52;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Devedor · Pessoas 21–70 anos; crédito presente por devedor≤R$ 220 mil · Fundos.NET ID 1316627 | 11/09/2026 | regulamento | p. 49; 8.1(ii–iii)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Devedor · Não localizado nas fontes acessíveis desta leitura · data/raw/59602002000101/access_status_20261007.txt | Consulta Fundos.NET por CNPJ 59602002000101 em 07/10/2026; inventário completo com 51 registros · Observação: Lacuna na revisão dirigida; obter cláusula específica antes de concluir ausência ou enquadramento.</a:t>
            </a:r>
          </a:p>
          <a:p>
            <a:r>
              <a:t>CNPJ 63168433000170 · Devedor · Militares/pensionistas Exército; servidores federais, aposentados e pensionistas SIAPE · data/raw/63168433000170/1023249_regulamento.pdf | Fundos.NET ID 1023249 | 29/10/2025 | regulamento | p. 139 · Observação: Regra da versão citada; contratos e séries exigem seus instrumentos próprios.</a:t>
            </a:r>
          </a:p>
          <a:p>
            <a:r>
              <a:t>CNPJ 65327006000113 · Devedor · Militares, aposentados e pensionistas Exército/Marinha/Aeronáutica; servidores SIAPE · data/raw/65327006000113/1323417_regulamento.pdf | Fundos.NET ID 1323417 | 16/09/2026 | regulamento | p. 128-129 · Observação: Regra da versão citada; contratos e séries exigem seus instrumentos próprios.</a:t>
            </a:r>
          </a:p>
          <a:p>
            <a:r>
              <a:t>CNPJ 41114564000132 · Devedor · Não localizado nas fontes acessíveis desta leitura · Fundos.NET ID 1214038; referência 08/06/2026; data/raw/41114564000132/1214038_documentary_review.txt; Inventário das fontes consultadas; https://fnet.bmfbovespa.com.br/fnet/publico/exibirDocumento?id=1214038&amp;cvm=true; Fundos.NET ID 1214036; referência 05/05/2026 16:00; data/raw/41114564000132/1214036_documentary_review.txt; Inventário das fontes consultadas; https://fnet.bmfbovespa.com.br/fnet/publico/exibirDocumento?id=1214036&amp;cvm=true · Observação: Lacuna desta revisão; ausência de extração não representa inexistência de regra contratual. Obter cláusula/anexo/suplemento antes de ativar controle.</a:t>
            </a:r>
          </a:p>
          <a:p>
            <a:r>
              <a:t>CNPJ 51326028000154 · Garantia · Consignação/repasses e garantias acompanham crédito; FGTS sujeito às condições específicas · Fundos.NET ID 1219005; referência 09/06/2026; data/raw/51326028000154/1219005_documentary_review.txt; Glossário e Anexo,8;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Garantia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Garantia · Não localizado nas fontes acessíveis desta leitura · data/raw/59602002000101/access_status_20261007.txt | Consulta Fundos.NET por CNPJ 59602002000101 em 07/10/2026; inventário completo com 51 registros · Observação: Lacuna na revisão dirigida; obter cláusula específica antes de concluir ausência ou enquadramento.</a:t>
            </a:r>
          </a:p>
          <a:p>
            <a:r>
              <a:t>CNPJ 63168433000170 · Garantia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Garantia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Garantia · CCB/notas comerciais sem garantia limitadas; garantias conforme contrato · Fundos.NET ID 1214038; referência 08/06/2026; data/raw/41114564000132/1214038_documentary_review.txt; Anexo,8.2;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Elegibilidade · Até 96 parcelas, salvo FGTS; saldo por devedor ≤ R$ 220 mil; crédito mínimo R$ 100; sem atraso no fundo · Fundos.NET ID 1219005; referência 09/06/2026; data/raw/51326028000154/1219005_documentary_review.txt; Anexo,8.1, p52; https://fnet.bmfbovespa.com.br/fnet/publico/exibirDocumento?id=1219005&amp;cvm=true · Observação: Primeira parcela em até 70 dias, salvo antecipação FGTS; confirmar concentração por ente consignante no apenso.</a:t>
            </a:r>
          </a:p>
          <a:p>
            <a:r>
              <a:t>CNPJ 54634742000106 · Elegibilidade · Até 96 parcelas (excetoFGTS); título≥R$ 100; primeira parcela≤70 dias (excetoFGTS); sem atraso · Fundos.NET ID 1316627 | 11/09/2026 | regulamento | p. 49; 8.1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Elegibilidade · Até 96 parcelas; devedor 21–70 anos; saldo presente por devedor ≤R$ 220 mil; título ≥R$ 100; primeira parcela ≤70 dias; sem vencidos · Fundos.NET ID 1181571 | 27/04/2026 | regulamento | p. 44–45; 8.1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Elegibilidade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Elegibilidade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Elegibilidade · Duplicatas 2–180 dias; CCB/notas comerciais e demais créditos 2–360 dias; devedor sem atraso &gt; 3 dias no fundo · Fundos.NET ID 1214038; referência 08/06/2026; data/raw/41114564000132/1214038_documentary_review.txt; Anexo,8.1–8.2;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Concentração · Saldo por devedor ≤ R$ 220 mil; ente público por apenso; regra geral 20% PL com exceções · Fundos.NET ID 1219005; referência 09/06/2026; data/raw/51326028000154/1219005_documentary_review.txt; Anexo,6.3, p48;8.1, p52;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Concentração · Devedor/grupo≤20% PL com exceções condicionadas; entes públicos conforme apenso · Fundos.NET ID 1316627 | 11/09/2026 | regulamento | p. 45,49; 6.6;8.1(vii)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Concentração · Por ente público conforme Apenso A; devedor ≤R$ 220 mil de saldo presente · Fundos.NET ID 1181571 | 27/04/2026 | regulamento | p. 44–45; 8.1(iii,vii)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Concentração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Concentração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Concentração · Cedente/coobrigado/devedor ≤ 4% PL; cinco maiores ≤ 20% PL; CCB/notas sem garantia ≤ 15% PL · Fundos.NET ID 1214038; referência 08/06/2026; data/raw/41114564000132/1214038_documentary_review.txt; Anexo,7 e8.2; https://fnet.bmfbovespa.com.br/fnet/publico/exibirDocumento?id=1214038&amp;cvm=true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2026-10-07T16:50:54-03:00</a:t>
            </a:r>
          </a:p>
          <a:p>
            <a:r>
              <a:t>Larca Consignado: CNPJ 51326028000154</a:t>
            </a:r>
          </a:p>
          <a:p>
            <a:r>
              <a:t>LARCA CONSIGNADO II: CNPJ 54634742000106</a:t>
            </a:r>
          </a:p>
          <a:p>
            <a:r>
              <a:t>LARCA CONSIGNADO III: CNPJ 59602002000101</a:t>
            </a:r>
          </a:p>
          <a:p>
            <a:r>
              <a:t>Larca Aurora: CNPJ 63168433000170</a:t>
            </a:r>
          </a:p>
          <a:p>
            <a:r>
              <a:t>Larca V: CNPJ 65327006000113</a:t>
            </a:r>
          </a:p>
          <a:p>
            <a:r>
              <a:t>Larca Multiplica Capital: CNPJ 41114564000132</a:t>
            </a:r>
          </a:p>
          <a:p>
            <a:r>
              <a:t>Fontes:</a:t>
            </a:r>
          </a:p>
          <a:p>
            <a:r>
              <a:t>CNPJ 51326028000154 · Natureza dos recebíveis · Empréstimos com consignação em folha/benefício e antecipação do saque-aniversário FGTS · Fundos.NET ID 1219005; referência 09/06/2026; data/raw/51326028000154/1219005_documentary_review.txt; Glossário Direitos Creditórios e Anexo,8.1, pp10 e52;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Natureza dos recebíveis · CCBs e contratos de assistência financeira: consignado em folha/benefício; regras próprias para FGTS · Fundos.NET ID 1316627 | 11/09/2026 | regulamento | p. 8,49; Definições;8.1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Natureza dos recebíveis · Parcelas vincendas de CCBs e contratos de assistência financeira; empréstimos pessoais/cartão benefício com consignação · Fundos.NET ID 1181571 | 27/04/2026 | regulamento | p. 8–9; Definições Direitos Creditórios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Natureza dos recebíveis · CCBs de empréstimo consignado a Exército e servidores SIAPE · data/raw/63168433000170/1023249_regulamento.pdf | Fundos.NET ID 1023249 | 29/10/2025 | regulamento | p. 139 · Observação: Regra da versão citada; contratos e séries exigem seus instrumentos próprios.</a:t>
            </a:r>
          </a:p>
          <a:p>
            <a:r>
              <a:t>CNPJ 65327006000113 · Natureza dos recebíveis · CCBs de consignado das Forças Armadas e servidores federais SIAPE · data/raw/65327006000113/1323417_regulamento.pdf | Fundos.NET ID 1323417 | 16/09/2026 | regulamento | p. 128-129 · Observação: Regra da versão citada; contratos e séries exigem seus instrumentos próprios.</a:t>
            </a:r>
          </a:p>
          <a:p>
            <a:r>
              <a:t>CNPJ 41114564000132 · Natureza dos recebíveis · Créditos industriais, comerciais, financeiros, imobiliários, agropecuários e de serviços · Fundos.NET ID 1214038; referência 08/06/2026; data/raw/41114564000132/1214038_documentary_review.txt; Anexo,7.2;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Originador/endossante · QI SCD e cedentes autorizados; canais de originação conforme apensos · Fundos.NET ID 1219005; referência 09/06/2026; data/raw/51326028000154/1219005_documentary_review.txt; Glossário Cedente, p4; Apenso B;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Originador/endossante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Originador/endossante · Não localizado nas fontes acessíveis desta leitura · data/raw/59602002000101/access_status_20261007.txt | Consulta Fundos.NET por CNPJ 59602002000101 em 07/10/2026; inventário completo com 51 registros · Observação: Lacuna na revisão dirigida; obter cláusula específica antes de concluir ausência ou enquadramento.</a:t>
            </a:r>
          </a:p>
          <a:p>
            <a:r>
              <a:t>CNPJ 63168433000170 · Originador/endossante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Originador/endossante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Originador/endossante · Múltiplos cedentes/endossantes; originação relacionada permitida nas condições · Fundos.NET ID 1214038; referência 08/06/2026; data/raw/41114564000132/1214038_documentary_review.txt; Anexo,7.15 e8;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Devedor · Pessoas com empréstimo consignado; idade 21–70 anos na cessão · Fundos.NET ID 1219005; referência 09/06/2026; data/raw/51326028000154/1219005_documentary_review.txt; Glossário Devedores, p10; Anexo,8.1, p52;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Devedor · Pessoas 21–70 anos; crédito presente por devedor≤R$ 220 mil · Fundos.NET ID 1316627 | 11/09/2026 | regulamento | p. 49; 8.1(ii–iii)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Devedor · Não localizado nas fontes acessíveis desta leitura · data/raw/59602002000101/access_status_20261007.txt | Consulta Fundos.NET por CNPJ 59602002000101 em 07/10/2026; inventário completo com 51 registros · Observação: Lacuna na revisão dirigida; obter cláusula específica antes de concluir ausência ou enquadramento.</a:t>
            </a:r>
          </a:p>
          <a:p>
            <a:r>
              <a:t>CNPJ 63168433000170 · Devedor · Militares/pensionistas Exército; servidores federais, aposentados e pensionistas SIAPE · data/raw/63168433000170/1023249_regulamento.pdf | Fundos.NET ID 1023249 | 29/10/2025 | regulamento | p. 139 · Observação: Regra da versão citada; contratos e séries exigem seus instrumentos próprios.</a:t>
            </a:r>
          </a:p>
          <a:p>
            <a:r>
              <a:t>CNPJ 65327006000113 · Devedor · Militares, aposentados e pensionistas Exército/Marinha/Aeronáutica; servidores SIAPE · data/raw/65327006000113/1323417_regulamento.pdf | Fundos.NET ID 1323417 | 16/09/2026 | regulamento | p. 128-129 · Observação: Regra da versão citada; contratos e séries exigem seus instrumentos próprios.</a:t>
            </a:r>
          </a:p>
          <a:p>
            <a:r>
              <a:t>CNPJ 41114564000132 · Devedor · Não localizado nas fontes acessíveis desta leitura · Fundos.NET ID 1214038; referência 08/06/2026; data/raw/41114564000132/1214038_documentary_review.txt; Inventário das fontes consultadas; https://fnet.bmfbovespa.com.br/fnet/publico/exibirDocumento?id=1214038&amp;cvm=true; Fundos.NET ID 1214036; referência 05/05/2026 16:00; data/raw/41114564000132/1214036_documentary_review.txt; Inventário das fontes consultadas; https://fnet.bmfbovespa.com.br/fnet/publico/exibirDocumento?id=1214036&amp;cvm=true · Observação: Lacuna desta revisão; ausência de extração não representa inexistência de regra contratual. Obter cláusula/anexo/suplemento antes de ativar controle.</a:t>
            </a:r>
          </a:p>
          <a:p>
            <a:r>
              <a:t>CNPJ 51326028000154 · Garantia · Consignação/repasses e garantias acompanham crédito; FGTS sujeito às condições específicas · Fundos.NET ID 1219005; referência 09/06/2026; data/raw/51326028000154/1219005_documentary_review.txt; Glossário e Anexo,8;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Garantia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Garantia · Não localizado nas fontes acessíveis desta leitura · data/raw/59602002000101/access_status_20261007.txt | Consulta Fundos.NET por CNPJ 59602002000101 em 07/10/2026; inventário completo com 51 registros · Observação: Lacuna na revisão dirigida; obter cláusula específica antes de concluir ausência ou enquadramento.</a:t>
            </a:r>
          </a:p>
          <a:p>
            <a:r>
              <a:t>CNPJ 63168433000170 · Garantia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Garantia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Garantia · CCB/notas comerciais sem garantia limitadas; garantias conforme contrato · Fundos.NET ID 1214038; referência 08/06/2026; data/raw/41114564000132/1214038_documentary_review.txt; Anexo,8.2;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Elegibilidade · Até 96 parcelas, salvo FGTS; saldo por devedor ≤ R$ 220 mil; crédito mínimo R$ 100; sem atraso no fundo · Fundos.NET ID 1219005; referência 09/06/2026; data/raw/51326028000154/1219005_documentary_review.txt; Anexo,8.1, p52; https://fnet.bmfbovespa.com.br/fnet/publico/exibirDocumento?id=1219005&amp;cvm=true · Observação: Primeira parcela em até 70 dias, salvo antecipação FGTS; confirmar concentração por ente consignante no apenso.</a:t>
            </a:r>
          </a:p>
          <a:p>
            <a:r>
              <a:t>CNPJ 54634742000106 · Elegibilidade · Até 96 parcelas (excetoFGTS); título≥R$ 100; primeira parcela≤70 dias (excetoFGTS); sem atraso · Fundos.NET ID 1316627 | 11/09/2026 | regulamento | p. 49; 8.1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Elegibilidade · Até 96 parcelas; devedor 21–70 anos; saldo presente por devedor ≤R$ 220 mil; título ≥R$ 100; primeira parcela ≤70 dias; sem vencidos · Fundos.NET ID 1181571 | 27/04/2026 | regulamento | p. 44–45; 8.1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Elegibilidade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Elegibilidade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Elegibilidade · Duplicatas 2–180 dias; CCB/notas comerciais e demais créditos 2–360 dias; devedor sem atraso &gt; 3 dias no fundo · Fundos.NET ID 1214038; referência 08/06/2026; data/raw/41114564000132/1214038_documentary_review.txt; Anexo,8.1–8.2;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Concentração · Saldo por devedor ≤ R$ 220 mil; ente público por apenso; regra geral 20% PL com exceções · Fundos.NET ID 1219005; referência 09/06/2026; data/raw/51326028000154/1219005_documentary_review.txt; Anexo,6.3, p48;8.1, p52;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Concentração · Devedor/grupo≤20% PL com exceções condicionadas; entes públicos conforme apenso · Fundos.NET ID 1316627 | 11/09/2026 | regulamento | p. 45,49; 6.6;8.1(vii)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Concentração · Por ente público conforme Apenso A; devedor ≤R$ 220 mil de saldo presente · Fundos.NET ID 1181571 | 27/04/2026 | regulamento | p. 44–45; 8.1(iii,vii)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Concentração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Concentração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Concentração · Cedente/coobrigado/devedor ≤ 4% PL; cinco maiores ≤ 20% PL; CCB/notas sem garantia ≤ 15% PL · Fundos.NET ID 1214038; referência 08/06/2026; data/raw/41114564000132/1214038_documentary_review.txt; Anexo,7 e8.2; https://fnet.bmfbovespa.com.br/fnet/publico/exibirDocumento?id=1214038&amp;cvm=true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2026-10-07T16:50:54-03:00</a:t>
            </a:r>
          </a:p>
          <a:p>
            <a:r>
              <a:t>Larca Consignado: CNPJ 51326028000154</a:t>
            </a:r>
          </a:p>
          <a:p>
            <a:r>
              <a:t>LARCA CONSIGNADO II: CNPJ 54634742000106</a:t>
            </a:r>
          </a:p>
          <a:p>
            <a:r>
              <a:t>LARCA CONSIGNADO III: CNPJ 59602002000101</a:t>
            </a:r>
          </a:p>
          <a:p>
            <a:r>
              <a:t>Larca Aurora: CNPJ 63168433000170</a:t>
            </a:r>
          </a:p>
          <a:p>
            <a:r>
              <a:t>Larca V: CNPJ 65327006000113</a:t>
            </a:r>
          </a:p>
          <a:p>
            <a:r>
              <a:t>Larca Multiplica Capital: CNPJ 41114564000132</a:t>
            </a:r>
          </a:p>
          <a:p>
            <a:r>
              <a:t>Fontes:</a:t>
            </a:r>
          </a:p>
          <a:p>
            <a:r>
              <a:t>CNPJ 51326028000154 · Natureza dos recebíveis · Empréstimos com consignação em folha/benefício e antecipação do saque-aniversário FGTS · Fundos.NET ID 1219005; referência 09/06/2026; data/raw/51326028000154/1219005_documentary_review.txt; Glossário Direitos Creditórios e Anexo,8.1, pp10 e52;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Natureza dos recebíveis · CCBs e contratos de assistência financeira: consignado em folha/benefício; regras próprias para FGTS · Fundos.NET ID 1316627 | 11/09/2026 | regulamento | p. 8,49; Definições;8.1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Natureza dos recebíveis · Parcelas vincendas de CCBs e contratos de assistência financeira; empréstimos pessoais/cartão benefício com consignação · Fundos.NET ID 1181571 | 27/04/2026 | regulamento | p. 8–9; Definições Direitos Creditórios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Natureza dos recebíveis · CCBs de empréstimo consignado a Exército e servidores SIAPE · data/raw/63168433000170/1023249_regulamento.pdf | Fundos.NET ID 1023249 | 29/10/2025 | regulamento | p. 139 · Observação: Regra da versão citada; contratos e séries exigem seus instrumentos próprios.</a:t>
            </a:r>
          </a:p>
          <a:p>
            <a:r>
              <a:t>CNPJ 65327006000113 · Natureza dos recebíveis · CCBs de consignado das Forças Armadas e servidores federais SIAPE · data/raw/65327006000113/1323417_regulamento.pdf | Fundos.NET ID 1323417 | 16/09/2026 | regulamento | p. 128-129 · Observação: Regra da versão citada; contratos e séries exigem seus instrumentos próprios.</a:t>
            </a:r>
          </a:p>
          <a:p>
            <a:r>
              <a:t>CNPJ 41114564000132 · Natureza dos recebíveis · Créditos industriais, comerciais, financeiros, imobiliários, agropecuários e de serviços · Fundos.NET ID 1214038; referência 08/06/2026; data/raw/41114564000132/1214038_documentary_review.txt; Anexo,7.2;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Originador/endossante · QI SCD e cedentes autorizados; canais de originação conforme apensos · Fundos.NET ID 1219005; referência 09/06/2026; data/raw/51326028000154/1219005_documentary_review.txt; Glossário Cedente, p4; Apenso B;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Originador/endossante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Originador/endossante · Não localizado nas fontes acessíveis desta leitura · data/raw/59602002000101/access_status_20261007.txt | Consulta Fundos.NET por CNPJ 59602002000101 em 07/10/2026; inventário completo com 51 registros · Observação: Lacuna na revisão dirigida; obter cláusula específica antes de concluir ausência ou enquadramento.</a:t>
            </a:r>
          </a:p>
          <a:p>
            <a:r>
              <a:t>CNPJ 63168433000170 · Originador/endossante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Originador/endossante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Originador/endossante · Múltiplos cedentes/endossantes; originação relacionada permitida nas condições · Fundos.NET ID 1214038; referência 08/06/2026; data/raw/41114564000132/1214038_documentary_review.txt; Anexo,7.15 e8;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Devedor · Pessoas com empréstimo consignado; idade 21–70 anos na cessão · Fundos.NET ID 1219005; referência 09/06/2026; data/raw/51326028000154/1219005_documentary_review.txt; Glossário Devedores, p10; Anexo,8.1, p52;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Devedor · Pessoas 21–70 anos; crédito presente por devedor≤R$ 220 mil · Fundos.NET ID 1316627 | 11/09/2026 | regulamento | p. 49; 8.1(ii–iii)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Devedor · Não localizado nas fontes acessíveis desta leitura · data/raw/59602002000101/access_status_20261007.txt | Consulta Fundos.NET por CNPJ 59602002000101 em 07/10/2026; inventário completo com 51 registros · Observação: Lacuna na revisão dirigida; obter cláusula específica antes de concluir ausência ou enquadramento.</a:t>
            </a:r>
          </a:p>
          <a:p>
            <a:r>
              <a:t>CNPJ 63168433000170 · Devedor · Militares/pensionistas Exército; servidores federais, aposentados e pensionistas SIAPE · data/raw/63168433000170/1023249_regulamento.pdf | Fundos.NET ID 1023249 | 29/10/2025 | regulamento | p. 139 · Observação: Regra da versão citada; contratos e séries exigem seus instrumentos próprios.</a:t>
            </a:r>
          </a:p>
          <a:p>
            <a:r>
              <a:t>CNPJ 65327006000113 · Devedor · Militares, aposentados e pensionistas Exército/Marinha/Aeronáutica; servidores SIAPE · data/raw/65327006000113/1323417_regulamento.pdf | Fundos.NET ID 1323417 | 16/09/2026 | regulamento | p. 128-129 · Observação: Regra da versão citada; contratos e séries exigem seus instrumentos próprios.</a:t>
            </a:r>
          </a:p>
          <a:p>
            <a:r>
              <a:t>CNPJ 41114564000132 · Devedor · Não localizado nas fontes acessíveis desta leitura · Fundos.NET ID 1214038; referência 08/06/2026; data/raw/41114564000132/1214038_documentary_review.txt; Inventário das fontes consultadas; https://fnet.bmfbovespa.com.br/fnet/publico/exibirDocumento?id=1214038&amp;cvm=true; Fundos.NET ID 1214036; referência 05/05/2026 16:00; data/raw/41114564000132/1214036_documentary_review.txt; Inventário das fontes consultadas; https://fnet.bmfbovespa.com.br/fnet/publico/exibirDocumento?id=1214036&amp;cvm=true · Observação: Lacuna desta revisão; ausência de extração não representa inexistência de regra contratual. Obter cláusula/anexo/suplemento antes de ativar controle.</a:t>
            </a:r>
          </a:p>
          <a:p>
            <a:r>
              <a:t>CNPJ 51326028000154 · Garantia · Consignação/repasses e garantias acompanham crédito; FGTS sujeito às condições específicas · Fundos.NET ID 1219005; referência 09/06/2026; data/raw/51326028000154/1219005_documentary_review.txt; Glossário e Anexo,8;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Garantia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Garantia · Não localizado nas fontes acessíveis desta leitura · data/raw/59602002000101/access_status_20261007.txt | Consulta Fundos.NET por CNPJ 59602002000101 em 07/10/2026; inventário completo com 51 registros · Observação: Lacuna na revisão dirigida; obter cláusula específica antes de concluir ausência ou enquadramento.</a:t>
            </a:r>
          </a:p>
          <a:p>
            <a:r>
              <a:t>CNPJ 63168433000170 · Garantia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Garantia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Garantia · CCB/notas comerciais sem garantia limitadas; garantias conforme contrato · Fundos.NET ID 1214038; referência 08/06/2026; data/raw/41114564000132/1214038_documentary_review.txt; Anexo,8.2;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Elegibilidade · Até 96 parcelas, salvo FGTS; saldo por devedor ≤ R$ 220 mil; crédito mínimo R$ 100; sem atraso no fundo · Fundos.NET ID 1219005; referência 09/06/2026; data/raw/51326028000154/1219005_documentary_review.txt; Anexo,8.1, p52; https://fnet.bmfbovespa.com.br/fnet/publico/exibirDocumento?id=1219005&amp;cvm=true · Observação: Primeira parcela em até 70 dias, salvo antecipação FGTS; confirmar concentração por ente consignante no apenso.</a:t>
            </a:r>
          </a:p>
          <a:p>
            <a:r>
              <a:t>CNPJ 54634742000106 · Elegibilidade · Até 96 parcelas (excetoFGTS); título≥R$ 100; primeira parcela≤70 dias (excetoFGTS); sem atraso · Fundos.NET ID 1316627 | 11/09/2026 | regulamento | p. 49; 8.1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Elegibilidade · Até 96 parcelas; devedor 21–70 anos; saldo presente por devedor ≤R$ 220 mil; título ≥R$ 100; primeira parcela ≤70 dias; sem vencidos · Fundos.NET ID 1181571 | 27/04/2026 | regulamento | p. 44–45; 8.1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Elegibilidade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Elegibilidade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Elegibilidade · Duplicatas 2–180 dias; CCB/notas comerciais e demais créditos 2–360 dias; devedor sem atraso &gt; 3 dias no fundo · Fundos.NET ID 1214038; referência 08/06/2026; data/raw/41114564000132/1214038_documentary_review.txt; Anexo,8.1–8.2;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Concentração · Saldo por devedor ≤ R$ 220 mil; ente público por apenso; regra geral 20% PL com exceções · Fundos.NET ID 1219005; referência 09/06/2026; data/raw/51326028000154/1219005_documentary_review.txt; Anexo,6.3, p48;8.1, p52;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Concentração · Devedor/grupo≤20% PL com exceções condicionadas; entes públicos conforme apenso · Fundos.NET ID 1316627 | 11/09/2026 | regulamento | p. 45,49; 6.6;8.1(vii)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Concentração · Por ente público conforme Apenso A; devedor ≤R$ 220 mil de saldo presente · Fundos.NET ID 1181571 | 27/04/2026 | regulamento | p. 44–45; 8.1(iii,vii)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Concentração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Concentração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Concentração · Cedente/coobrigado/devedor ≤ 4% PL; cinco maiores ≤ 20% PL; CCB/notas sem garantia ≤ 15% PL · Fundos.NET ID 1214038; referência 08/06/2026; data/raw/41114564000132/1214038_documentary_review.txt; Anexo,7 e8.2; https://fnet.bmfbovespa.com.br/fnet/publico/exibirDocumento?id=1214038&amp;cvm=true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2026-10-07T16:50:54-03:00</a:t>
            </a:r>
          </a:p>
          <a:p>
            <a:r>
              <a:t>Larca Consignado: CNPJ 51326028000154</a:t>
            </a:r>
          </a:p>
          <a:p>
            <a:r>
              <a:t>LARCA CONSIGNADO II: CNPJ 54634742000106</a:t>
            </a:r>
          </a:p>
          <a:p>
            <a:r>
              <a:t>LARCA CONSIGNADO III: CNPJ 59602002000101</a:t>
            </a:r>
          </a:p>
          <a:p>
            <a:r>
              <a:t>Larca Aurora: CNPJ 63168433000170</a:t>
            </a:r>
          </a:p>
          <a:p>
            <a:r>
              <a:t>Larca V: CNPJ 65327006000113</a:t>
            </a:r>
          </a:p>
          <a:p>
            <a:r>
              <a:t>Larca Multiplica Capital: CNPJ 41114564000132</a:t>
            </a:r>
          </a:p>
          <a:p>
            <a:r>
              <a:t>Fontes:</a:t>
            </a:r>
          </a:p>
          <a:p>
            <a:r>
              <a:t>CNPJ 51326028000154 · Subordinação mínima · Subordinadas ≥ 20% PL; júnior ≥ 4% PL; 60% da júnior com sócios da consultoria · Fundos.NET ID 1219005; referência 09/06/2026; data/raw/51326028000154/1219005_documentary_review.txt; Anexo,11.4.2–11.6, pp77–78;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Subordinação mínima · Subordinadas / PL≥20%; júnior / PL≥5%; amortização mezanino exige 25% ou 30% em gatilhos · Fundos.NET ID 1316627 | 11/09/2026 | regulamento | p. 72–74; 11.3;11.5–11.6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Subordinação mínima · Subordinadas / PL ≥20%; júnior / PL ≥5%; ≥70% das juniores retidas por relacionados às consultorias · Fundos.NET ID 1181571 | 27/04/2026 | regulamento | p. 64; 11.4.2–11.6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Subordinação mínima · Índices mezanino A ≥20%, B ≥12%; júnior/PL ≥5% · data/raw/63168433000170/1023249_regulamento.pdf | Fundos.NET ID 1023249 | 29/10/2025 | regulamento | p. 153-154 · Observação: Percentuais mezanino são índices contratuais; fórmula própria deve ser confirmada. Retenção LARCA de 45% das júnior não é piso sobre PL.</a:t>
            </a:r>
          </a:p>
          <a:p>
            <a:r>
              <a:t>CNPJ 65327006000113 · Subordinação mínima · Inicial: júnior+mezz A+B/PL ≥20%; júnior+mezz B/PL ≥10%; júnior/PL ≥5% · data/raw/65327006000113/1323417_regulamento.pdf | Fundos.NET ID 1323417 | 16/09/2026 | regulamento | p. 144 · Observação: Texto inclui a própria subclasse no numerador de cada índice. Não substituir por subordinação estrita. Retenção LARCA de 35% júnior mede participação do investidor.</a:t>
            </a:r>
          </a:p>
          <a:p>
            <a:r>
              <a:t>CNPJ 41114564000132 · Subordinação mínima · Subordinadas ≥ 35% PL; júnior ≥ 15, 4% PL · Fundos.NET ID 1214038; referência 08/06/2026; data/raw/41114564000132/1214038_documentary_review.txt; Anexo,5.1–5.2; https://fnet.bmfbovespa.com.br/fnet/publico/exibirDocumento?id=1214038&amp;cvm=true · Observação: Ata suprimiu referência anterior a 44% das subordinadas; o piso vigente de 15, 4% PL exige leitura conjunta.</a:t>
            </a:r>
          </a:p>
          <a:p>
            <a:r>
              <a:t>CNPJ 51326028000154 · Gatilhos de avaliação/liquidação · Suspende compras: F30&gt; 18%, F60&gt; 15%, F90&gt; 12%, perda líquida&gt; 8%, pré-pagamento&gt; 8%, resolução&gt; 3% · Fundos.NET ID 1219005; referência 09/06/2026; data/raw/51326028000154/1219005_documentary_review.txt; Anexo,8.2, p53; https://fnet.bmfbovespa.com.br/fnet/publico/exibirDocumento?id=1219005&amp;cvm=true · Observação: Atraso/perda e arrecadação usam média móvel 3 meses; pré-pagamento e resolução têm exceção de janela. Arrecadação fiduciária&lt; 92, 5% também suspende.</a:t>
            </a:r>
          </a:p>
          <a:p>
            <a:r>
              <a:t>CNPJ 54634742000106 · Gatilhos de avaliação/liquidação · Liquidação: F 30&gt;25%,F 60&gt;22%,F 90&gt;18%,perda líquida&gt;10%; pré-pagamento/resolução têm janelas · Fundos.NET ID 1316627 | 11/09/2026 | regulamento | p. 13–14,86; Definições;17.3 | data/raw/54634742000106/1316627_regulamento_review_20261007.pdf | https://fnet.bmfbovespa.com.br/fnet/publico/visualizarDocumento?id=1316627 · Observação: Atraso usa PNP da faixa / valor de face de créditos com vencimento na faixa. Over/total crédito IME não replica regra.</a:t>
            </a:r>
          </a:p>
          <a:p>
            <a:r>
              <a:t>CNPJ 59602002000101 · Gatilhos de avaliação/liquidação · Waiver até 27/04/2027 para excesso de spread, pré-pagamento e rating; demais eventos preservados · Fundos.NET ID 1181567 | 27/04/2026 10:00 | assembleia | p. 2–4; Regime transitório aprovado | data/raw/59602002000101/1181567_assembleia_review_20261007.pdf | https://fnet.bmfbovespa.com.br/fnet/publico/visualizarDocumento?id=1181567 · Observação: Regra da versão indicada; resumo sujeito às condições completas da cláusula. IME agregado não comprova elegibilidade individual.</a:t>
            </a:r>
          </a:p>
          <a:p>
            <a:r>
              <a:t>CNPJ 63168433000170 · Gatilhos de avaliação/liquidação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Gatilhos de avaliação/liquidação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Gatilhos de avaliação/liquidação · Recompra &gt; 20% PL; falhas de prestadores/desenquadramentos; PL &lt; R$ 1 mi por 90 dias · Fundos.NET ID 1214038; referência 08/06/2026; data/raw/41114564000132/1214038_documentary_review.txt; Anexo,13.2–13.3;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Reserva de caixa · Maior de 90 dias de despesas e 0, 5% PL; reserva de resgate 50%/100% conforme antecedência · Fundos.NET ID 1219005; referência 09/06/2026; data/raw/51326028000154/1219005_documentary_review.txt; Anexo,14, pp84–85;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Reserva de caixa · Maior entre 90 dias de despesas e 0,5% PL · Fundos.NET ID 1316627 | 11/09/2026 | regulamento | p. 81; 14.5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Reserva de caixa · Maior entre 90 dias de despesas e 1% do PL · Fundos.NET ID 1181571 | 27/04/2026 | regulamento | p. 70; 14.4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Reserva de caixa · Reserva de despesas; 100% do próximo principal e remuneração na reserva de liquidez · data/raw/63168433000170/1023249_regulamento.pdf | Fundos.NET ID 1023249 | 29/10/2025 | regulamento | p. 71 · Observação: Regra da versão citada; contratos e séries exigem seus instrumentos próprios.</a:t>
            </a:r>
          </a:p>
          <a:p>
            <a:r>
              <a:t>CNPJ 65327006000113 · Reserva de caixa · Refinanciamento: 0,25% PL; despesas e MTM negativo em reservas próprias · data/raw/65327006000113/1323417_regulamento.pdf | Fundos.NET ID 1323417 | 16/09/2026 | regulamento | p. 62-63,147 · Observação: Reserva de MTM segue fórmula própria com teto de 0,50% PL. Caixa IME não replica finalidade ou segregação.</a:t>
            </a:r>
          </a:p>
          <a:p>
            <a:r>
              <a:t>CNPJ 41114564000132 · Reserva de caixa · 1 mês de despesas; disponibilidade pelo menos 5 dias úteis antes do pagamento · Fundos.NET ID 1214038; referência 08/06/2026; data/raw/41114564000132/1214038_documentary_review.txt; Anexo,10.2;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Derivativos/hedge · Hedge patrimonial até posições à vista; exposição≤ 1 x PL, sem cedente como contraparte · Fundos.NET ID 1219005; referência 09/06/2026; data/raw/51326028000154/1219005_documentary_review.txt; Anexo,6.4,p47; https://fnet.bmfbovespa.com.br/fnet/publico/exibirDocumento?id=1219005&amp;cvm=true · Observação: Finalidade/contraparte não verificáveis pela posição agregada IME; leitura dirigida da cláusula 6.4.</a:t>
            </a:r>
          </a:p>
          <a:p>
            <a:r>
              <a:t>CNPJ 54634742000106 · Derivativos/hedge · Proteção de posições à vista; sem descoberto/alavancagem; registro com garantia · Fundos.NET ID 1316627 | 11/09/2026 | regulamento | p. 45; 6.4–6.4.2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Derivativos/hedge · Somente proteção das posições à vista, sem alavancagem · Fundos.NET ID 1181571 | 27/04/2026 | regulamento | p. 41; 6.8–6.9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Derivativos/hedge · Proteção das posições à vista; vedados alavancagem e descoberto · data/raw/63168433000170/1023249_regulamento.pdf | Fundos.NET ID 1023249 | 29/10/2025 | regulamento | p. 152-153 · Observação: Regra da versão citada; contratos e séries exigem seus instrumentos próprios.</a:t>
            </a:r>
          </a:p>
          <a:p>
            <a:r>
              <a:t>CNPJ 65327006000113 · Derivativos/hedge · Proteção das posições à vista; vedadas posições descobertas/alavancadas · data/raw/65327006000113/1323417_regulamento.pdf | Fundos.NET ID 1323417 | 16/09/2026 | regulamento | p. 143 · Observação: Regra da versão citada; contratos e séries exigem seus instrumentos próprios.</a:t>
            </a:r>
          </a:p>
          <a:p>
            <a:r>
              <a:t>CNPJ 41114564000132 · Derivativos/hedge · Operações com derivativos vedadas · Fundos.NET ID 1214038; referência 08/06/2026; data/raw/41114564000132/1214038_documentary_review.txt; Anexo,7.18;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PDD · Não localizado nas fontes acessíveis desta leitura · Fundos.NET ID 1219005; referência 09/06/2026; data/raw/51326028000154/1219005_documentary_review.txt; Inventário das fontes consultadas; https://fnet.bmfbovespa.com.br/fnet/publico/exibirDocumento?id=1219005&amp;cvm=true; Fundos.NET ID 706710; referência 30/01/2024; data/raw/51326028000154/706710_documentary_review.txt; Inventário das fontes consultadas; https://fnet.bmfbovespa.com.br/fnet/publico/exibirDocumento?id=706710&amp;cvm=true · Observação: Lacuna desta revisão; ausência de extração não representa inexistência de regra contratual. Obter cláusula/anexo/suplemento antes de ativar controle.</a:t>
            </a:r>
          </a:p>
          <a:p>
            <a:r>
              <a:t>CNPJ 54634742000106 · PDD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PDD · Não localizado nas fontes acessíveis desta leitura · data/raw/59602002000101/access_status_20261007.txt | Consulta Fundos.NET por CNPJ 59602002000101 em 07/10/2026; inventário completo com 51 registros · Observação: Lacuna na revisão dirigida; obter cláusula específica antes de concluir ausência ou enquadramento.</a:t>
            </a:r>
          </a:p>
          <a:p>
            <a:r>
              <a:t>CNPJ 63168433000170 · PDD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PDD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PDD · Não localizado nas fontes acessíveis desta leitura · Fundos.NET ID 1214038; referência 08/06/2026; data/raw/41114564000132/1214038_documentary_review.txt; Inventário das fontes consultadas; https://fnet.bmfbovespa.com.br/fnet/publico/exibirDocumento?id=1214038&amp;cvm=true; Fundos.NET ID 1214036; referência 05/05/2026 16:00; data/raw/41114564000132/1214036_documentary_review.txt; Inventário das fontes consultadas; https://fnet.bmfbovespa.com.br/fnet/publico/exibirDocumento?id=1214036&amp;cvm=true · Observação: Lacuna desta revisão; ausência de extração não representa inexistência de regra contratual. Obter cláusula/anexo/suplemento antes de ativar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2026-10-07T16:50:54-03:00</a:t>
            </a:r>
          </a:p>
          <a:p>
            <a:r>
              <a:t>Larca Consignado: CNPJ 51326028000154</a:t>
            </a:r>
          </a:p>
          <a:p>
            <a:r>
              <a:t>LARCA CONSIGNADO II: CNPJ 54634742000106</a:t>
            </a:r>
          </a:p>
          <a:p>
            <a:r>
              <a:t>LARCA CONSIGNADO III: CNPJ 59602002000101</a:t>
            </a:r>
          </a:p>
          <a:p>
            <a:r>
              <a:t>Larca Aurora: CNPJ 63168433000170</a:t>
            </a:r>
          </a:p>
          <a:p>
            <a:r>
              <a:t>Larca V: CNPJ 65327006000113</a:t>
            </a:r>
          </a:p>
          <a:p>
            <a:r>
              <a:t>Larca Multiplica Capital: CNPJ 41114564000132</a:t>
            </a:r>
          </a:p>
          <a:p>
            <a:r>
              <a:t>Fontes:</a:t>
            </a:r>
          </a:p>
          <a:p>
            <a:r>
              <a:t>CNPJ 51326028000154 · Subordinação mínima · Subordinadas ≥ 20% PL; júnior ≥ 4% PL; 60% da júnior com sócios da consultoria · Fundos.NET ID 1219005; referência 09/06/2026; data/raw/51326028000154/1219005_documentary_review.txt; Anexo,11.4.2–11.6, pp77–78;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Subordinação mínima · Subordinadas / PL≥20%; júnior / PL≥5%; amortização mezanino exige 25% ou 30% em gatilhos · Fundos.NET ID 1316627 | 11/09/2026 | regulamento | p. 72–74; 11.3;11.5–11.6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Subordinação mínima · Subordinadas / PL ≥20%; júnior / PL ≥5%; ≥70% das juniores retidas por relacionados às consultorias · Fundos.NET ID 1181571 | 27/04/2026 | regulamento | p. 64; 11.4.2–11.6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Subordinação mínima · Índices mezanino A ≥20%, B ≥12%; júnior/PL ≥5% · data/raw/63168433000170/1023249_regulamento.pdf | Fundos.NET ID 1023249 | 29/10/2025 | regulamento | p. 153-154 · Observação: Percentuais mezanino são índices contratuais; fórmula própria deve ser confirmada. Retenção LARCA de 45% das júnior não é piso sobre PL.</a:t>
            </a:r>
          </a:p>
          <a:p>
            <a:r>
              <a:t>CNPJ 65327006000113 · Subordinação mínima · Inicial: júnior+mezz A+B/PL ≥20%; júnior+mezz B/PL ≥10%; júnior/PL ≥5% · data/raw/65327006000113/1323417_regulamento.pdf | Fundos.NET ID 1323417 | 16/09/2026 | regulamento | p. 144 · Observação: Texto inclui a própria subclasse no numerador de cada índice. Não substituir por subordinação estrita. Retenção LARCA de 35% júnior mede participação do investidor.</a:t>
            </a:r>
          </a:p>
          <a:p>
            <a:r>
              <a:t>CNPJ 41114564000132 · Subordinação mínima · Subordinadas ≥ 35% PL; júnior ≥ 15, 4% PL · Fundos.NET ID 1214038; referência 08/06/2026; data/raw/41114564000132/1214038_documentary_review.txt; Anexo,5.1–5.2; https://fnet.bmfbovespa.com.br/fnet/publico/exibirDocumento?id=1214038&amp;cvm=true · Observação: Ata suprimiu referência anterior a 44% das subordinadas; o piso vigente de 15, 4% PL exige leitura conjunta.</a:t>
            </a:r>
          </a:p>
          <a:p>
            <a:r>
              <a:t>CNPJ 51326028000154 · Gatilhos de avaliação/liquidação · Suspende compras: F30&gt; 18%, F60&gt; 15%, F90&gt; 12%, perda líquida&gt; 8%, pré-pagamento&gt; 8%, resolução&gt; 3% · Fundos.NET ID 1219005; referência 09/06/2026; data/raw/51326028000154/1219005_documentary_review.txt; Anexo,8.2, p53; https://fnet.bmfbovespa.com.br/fnet/publico/exibirDocumento?id=1219005&amp;cvm=true · Observação: Atraso/perda e arrecadação usam média móvel 3 meses; pré-pagamento e resolução têm exceção de janela. Arrecadação fiduciária&lt; 92, 5% também suspende.</a:t>
            </a:r>
          </a:p>
          <a:p>
            <a:r>
              <a:t>CNPJ 54634742000106 · Gatilhos de avaliação/liquidação · Liquidação: F 30&gt;25%,F 60&gt;22%,F 90&gt;18%,perda líquida&gt;10%; pré-pagamento/resolução têm janelas · Fundos.NET ID 1316627 | 11/09/2026 | regulamento | p. 13–14,86; Definições;17.3 | data/raw/54634742000106/1316627_regulamento_review_20261007.pdf | https://fnet.bmfbovespa.com.br/fnet/publico/visualizarDocumento?id=1316627 · Observação: Atraso usa PNP da faixa / valor de face de créditos com vencimento na faixa. Over/total crédito IME não replica regra.</a:t>
            </a:r>
          </a:p>
          <a:p>
            <a:r>
              <a:t>CNPJ 59602002000101 · Gatilhos de avaliação/liquidação · Waiver até 27/04/2027 para excesso de spread, pré-pagamento e rating; demais eventos preservados · Fundos.NET ID 1181567 | 27/04/2026 10:00 | assembleia | p. 2–4; Regime transitório aprovado | data/raw/59602002000101/1181567_assembleia_review_20261007.pdf | https://fnet.bmfbovespa.com.br/fnet/publico/visualizarDocumento?id=1181567 · Observação: Regra da versão indicada; resumo sujeito às condições completas da cláusula. IME agregado não comprova elegibilidade individual.</a:t>
            </a:r>
          </a:p>
          <a:p>
            <a:r>
              <a:t>CNPJ 63168433000170 · Gatilhos de avaliação/liquidação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Gatilhos de avaliação/liquidação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Gatilhos de avaliação/liquidação · Recompra &gt; 20% PL; falhas de prestadores/desenquadramentos; PL &lt; R$ 1 mi por 90 dias · Fundos.NET ID 1214038; referência 08/06/2026; data/raw/41114564000132/1214038_documentary_review.txt; Anexo,13.2–13.3;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Reserva de caixa · Maior de 90 dias de despesas e 0, 5% PL; reserva de resgate 50%/100% conforme antecedência · Fundos.NET ID 1219005; referência 09/06/2026; data/raw/51326028000154/1219005_documentary_review.txt; Anexo,14, pp84–85;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Reserva de caixa · Maior entre 90 dias de despesas e 0,5% PL · Fundos.NET ID 1316627 | 11/09/2026 | regulamento | p. 81; 14.5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Reserva de caixa · Maior entre 90 dias de despesas e 1% do PL · Fundos.NET ID 1181571 | 27/04/2026 | regulamento | p. 70; 14.4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Reserva de caixa · Reserva de despesas; 100% do próximo principal e remuneração na reserva de liquidez · data/raw/63168433000170/1023249_regulamento.pdf | Fundos.NET ID 1023249 | 29/10/2025 | regulamento | p. 71 · Observação: Regra da versão citada; contratos e séries exigem seus instrumentos próprios.</a:t>
            </a:r>
          </a:p>
          <a:p>
            <a:r>
              <a:t>CNPJ 65327006000113 · Reserva de caixa · Refinanciamento: 0,25% PL; despesas e MTM negativo em reservas próprias · data/raw/65327006000113/1323417_regulamento.pdf | Fundos.NET ID 1323417 | 16/09/2026 | regulamento | p. 62-63,147 · Observação: Reserva de MTM segue fórmula própria com teto de 0,50% PL. Caixa IME não replica finalidade ou segregação.</a:t>
            </a:r>
          </a:p>
          <a:p>
            <a:r>
              <a:t>CNPJ 41114564000132 · Reserva de caixa · 1 mês de despesas; disponibilidade pelo menos 5 dias úteis antes do pagamento · Fundos.NET ID 1214038; referência 08/06/2026; data/raw/41114564000132/1214038_documentary_review.txt; Anexo,10.2;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Derivativos/hedge · Hedge patrimonial até posições à vista; exposição≤ 1 x PL, sem cedente como contraparte · Fundos.NET ID 1219005; referência 09/06/2026; data/raw/51326028000154/1219005_documentary_review.txt; Anexo,6.4,p47; https://fnet.bmfbovespa.com.br/fnet/publico/exibirDocumento?id=1219005&amp;cvm=true · Observação: Finalidade/contraparte não verificáveis pela posição agregada IME; leitura dirigida da cláusula 6.4.</a:t>
            </a:r>
          </a:p>
          <a:p>
            <a:r>
              <a:t>CNPJ 54634742000106 · Derivativos/hedge · Proteção de posições à vista; sem descoberto/alavancagem; registro com garantia · Fundos.NET ID 1316627 | 11/09/2026 | regulamento | p. 45; 6.4–6.4.2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Derivativos/hedge · Somente proteção das posições à vista, sem alavancagem · Fundos.NET ID 1181571 | 27/04/2026 | regulamento | p. 41; 6.8–6.9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Derivativos/hedge · Proteção das posições à vista; vedados alavancagem e descoberto · data/raw/63168433000170/1023249_regulamento.pdf | Fundos.NET ID 1023249 | 29/10/2025 | regulamento | p. 152-153 · Observação: Regra da versão citada; contratos e séries exigem seus instrumentos próprios.</a:t>
            </a:r>
          </a:p>
          <a:p>
            <a:r>
              <a:t>CNPJ 65327006000113 · Derivativos/hedge · Proteção das posições à vista; vedadas posições descobertas/alavancadas · data/raw/65327006000113/1323417_regulamento.pdf | Fundos.NET ID 1323417 | 16/09/2026 | regulamento | p. 143 · Observação: Regra da versão citada; contratos e séries exigem seus instrumentos próprios.</a:t>
            </a:r>
          </a:p>
          <a:p>
            <a:r>
              <a:t>CNPJ 41114564000132 · Derivativos/hedge · Operações com derivativos vedadas · Fundos.NET ID 1214038; referência 08/06/2026; data/raw/41114564000132/1214038_documentary_review.txt; Anexo,7.18;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PDD · Não localizado nas fontes acessíveis desta leitura · Fundos.NET ID 1219005; referência 09/06/2026; data/raw/51326028000154/1219005_documentary_review.txt; Inventário das fontes consultadas; https://fnet.bmfbovespa.com.br/fnet/publico/exibirDocumento?id=1219005&amp;cvm=true; Fundos.NET ID 706710; referência 30/01/2024; data/raw/51326028000154/706710_documentary_review.txt; Inventário das fontes consultadas; https://fnet.bmfbovespa.com.br/fnet/publico/exibirDocumento?id=706710&amp;cvm=true · Observação: Lacuna desta revisão; ausência de extração não representa inexistência de regra contratual. Obter cláusula/anexo/suplemento antes de ativar controle.</a:t>
            </a:r>
          </a:p>
          <a:p>
            <a:r>
              <a:t>CNPJ 54634742000106 · PDD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PDD · Não localizado nas fontes acessíveis desta leitura · data/raw/59602002000101/access_status_20261007.txt | Consulta Fundos.NET por CNPJ 59602002000101 em 07/10/2026; inventário completo com 51 registros · Observação: Lacuna na revisão dirigida; obter cláusula específica antes de concluir ausência ou enquadramento.</a:t>
            </a:r>
          </a:p>
          <a:p>
            <a:r>
              <a:t>CNPJ 63168433000170 · PDD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PDD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PDD · Não localizado nas fontes acessíveis desta leitura · Fundos.NET ID 1214038; referência 08/06/2026; data/raw/41114564000132/1214038_documentary_review.txt; Inventário das fontes consultadas; https://fnet.bmfbovespa.com.br/fnet/publico/exibirDocumento?id=1214038&amp;cvm=true; Fundos.NET ID 1214036; referência 05/05/2026 16:00; data/raw/41114564000132/1214036_documentary_review.txt; Inventário das fontes consultadas; https://fnet.bmfbovespa.com.br/fnet/publico/exibirDocumento?id=1214036&amp;cvm=true · Observação: Lacuna desta revisão; ausência de extração não representa inexistência de regra contratual. Obter cláusula/anexo/suplemento antes de ativar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2026-10-07T16:50:54-03:00</a:t>
            </a:r>
          </a:p>
          <a:p>
            <a:r>
              <a:t>Larca Consignado: CNPJ 51326028000154</a:t>
            </a:r>
          </a:p>
          <a:p>
            <a:r>
              <a:t>LARCA CONSIGNADO II: CNPJ 54634742000106</a:t>
            </a:r>
          </a:p>
          <a:p>
            <a:r>
              <a:t>LARCA CONSIGNADO III: CNPJ 59602002000101</a:t>
            </a:r>
          </a:p>
          <a:p>
            <a:r>
              <a:t>Larca Aurora: CNPJ 63168433000170</a:t>
            </a:r>
          </a:p>
          <a:p>
            <a:r>
              <a:t>Larca V: CNPJ 65327006000113</a:t>
            </a:r>
          </a:p>
          <a:p>
            <a:r>
              <a:t>Larca Multiplica Capital: CNPJ 41114564000132</a:t>
            </a:r>
          </a:p>
          <a:p>
            <a:r>
              <a:t>Fontes:</a:t>
            </a:r>
          </a:p>
          <a:p>
            <a:r>
              <a:t>CNPJ 51326028000154 · Subordinação mínima · Subordinadas ≥ 20% PL; júnior ≥ 4% PL; 60% da júnior com sócios da consultoria · Fundos.NET ID 1219005; referência 09/06/2026; data/raw/51326028000154/1219005_documentary_review.txt; Anexo,11.4.2–11.6, pp77–78;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Subordinação mínima · Subordinadas / PL≥20%; júnior / PL≥5%; amortização mezanino exige 25% ou 30% em gatilhos · Fundos.NET ID 1316627 | 11/09/2026 | regulamento | p. 72–74; 11.3;11.5–11.6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Subordinação mínima · Subordinadas / PL ≥20%; júnior / PL ≥5%; ≥70% das juniores retidas por relacionados às consultorias · Fundos.NET ID 1181571 | 27/04/2026 | regulamento | p. 64; 11.4.2–11.6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Subordinação mínima · Índices mezanino A ≥20%, B ≥12%; júnior/PL ≥5% · data/raw/63168433000170/1023249_regulamento.pdf | Fundos.NET ID 1023249 | 29/10/2025 | regulamento | p. 153-154 · Observação: Percentuais mezanino são índices contratuais; fórmula própria deve ser confirmada. Retenção LARCA de 45% das júnior não é piso sobre PL.</a:t>
            </a:r>
          </a:p>
          <a:p>
            <a:r>
              <a:t>CNPJ 65327006000113 · Subordinação mínima · Inicial: júnior+mezz A+B/PL ≥20%; júnior+mezz B/PL ≥10%; júnior/PL ≥5% · data/raw/65327006000113/1323417_regulamento.pdf | Fundos.NET ID 1323417 | 16/09/2026 | regulamento | p. 144 · Observação: Texto inclui a própria subclasse no numerador de cada índice. Não substituir por subordinação estrita. Retenção LARCA de 35% júnior mede participação do investidor.</a:t>
            </a:r>
          </a:p>
          <a:p>
            <a:r>
              <a:t>CNPJ 41114564000132 · Subordinação mínima · Subordinadas ≥ 35% PL; júnior ≥ 15, 4% PL · Fundos.NET ID 1214038; referência 08/06/2026; data/raw/41114564000132/1214038_documentary_review.txt; Anexo,5.1–5.2; https://fnet.bmfbovespa.com.br/fnet/publico/exibirDocumento?id=1214038&amp;cvm=true · Observação: Ata suprimiu referência anterior a 44% das subordinadas; o piso vigente de 15, 4% PL exige leitura conjunta.</a:t>
            </a:r>
          </a:p>
          <a:p>
            <a:r>
              <a:t>CNPJ 51326028000154 · Gatilhos de avaliação/liquidação · Suspende compras: F30&gt; 18%, F60&gt; 15%, F90&gt; 12%, perda líquida&gt; 8%, pré-pagamento&gt; 8%, resolução&gt; 3% · Fundos.NET ID 1219005; referência 09/06/2026; data/raw/51326028000154/1219005_documentary_review.txt; Anexo,8.2, p53; https://fnet.bmfbovespa.com.br/fnet/publico/exibirDocumento?id=1219005&amp;cvm=true · Observação: Atraso/perda e arrecadação usam média móvel 3 meses; pré-pagamento e resolução têm exceção de janela. Arrecadação fiduciária&lt; 92, 5% também suspende.</a:t>
            </a:r>
          </a:p>
          <a:p>
            <a:r>
              <a:t>CNPJ 54634742000106 · Gatilhos de avaliação/liquidação · Liquidação: F 30&gt;25%,F 60&gt;22%,F 90&gt;18%,perda líquida&gt;10%; pré-pagamento/resolução têm janelas · Fundos.NET ID 1316627 | 11/09/2026 | regulamento | p. 13–14,86; Definições;17.3 | data/raw/54634742000106/1316627_regulamento_review_20261007.pdf | https://fnet.bmfbovespa.com.br/fnet/publico/visualizarDocumento?id=1316627 · Observação: Atraso usa PNP da faixa / valor de face de créditos com vencimento na faixa. Over/total crédito IME não replica regra.</a:t>
            </a:r>
          </a:p>
          <a:p>
            <a:r>
              <a:t>CNPJ 59602002000101 · Gatilhos de avaliação/liquidação · Waiver até 27/04/2027 para excesso de spread, pré-pagamento e rating; demais eventos preservados · Fundos.NET ID 1181567 | 27/04/2026 10:00 | assembleia | p. 2–4; Regime transitório aprovado | data/raw/59602002000101/1181567_assembleia_review_20261007.pdf | https://fnet.bmfbovespa.com.br/fnet/publico/visualizarDocumento?id=1181567 · Observação: Regra da versão indicada; resumo sujeito às condições completas da cláusula. IME agregado não comprova elegibilidade individual.</a:t>
            </a:r>
          </a:p>
          <a:p>
            <a:r>
              <a:t>CNPJ 63168433000170 · Gatilhos de avaliação/liquidação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Gatilhos de avaliação/liquidação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Gatilhos de avaliação/liquidação · Recompra &gt; 20% PL; falhas de prestadores/desenquadramentos; PL &lt; R$ 1 mi por 90 dias · Fundos.NET ID 1214038; referência 08/06/2026; data/raw/41114564000132/1214038_documentary_review.txt; Anexo,13.2–13.3;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Reserva de caixa · Maior de 90 dias de despesas e 0, 5% PL; reserva de resgate 50%/100% conforme antecedência · Fundos.NET ID 1219005; referência 09/06/2026; data/raw/51326028000154/1219005_documentary_review.txt; Anexo,14, pp84–85;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Reserva de caixa · Maior entre 90 dias de despesas e 0,5% PL · Fundos.NET ID 1316627 | 11/09/2026 | regulamento | p. 81; 14.5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Reserva de caixa · Maior entre 90 dias de despesas e 1% do PL · Fundos.NET ID 1181571 | 27/04/2026 | regulamento | p. 70; 14.4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Reserva de caixa · Reserva de despesas; 100% do próximo principal e remuneração na reserva de liquidez · data/raw/63168433000170/1023249_regulamento.pdf | Fundos.NET ID 1023249 | 29/10/2025 | regulamento | p. 71 · Observação: Regra da versão citada; contratos e séries exigem seus instrumentos próprios.</a:t>
            </a:r>
          </a:p>
          <a:p>
            <a:r>
              <a:t>CNPJ 65327006000113 · Reserva de caixa · Refinanciamento: 0,25% PL; despesas e MTM negativo em reservas próprias · data/raw/65327006000113/1323417_regulamento.pdf | Fundos.NET ID 1323417 | 16/09/2026 | regulamento | p. 62-63,147 · Observação: Reserva de MTM segue fórmula própria com teto de 0,50% PL. Caixa IME não replica finalidade ou segregação.</a:t>
            </a:r>
          </a:p>
          <a:p>
            <a:r>
              <a:t>CNPJ 41114564000132 · Reserva de caixa · 1 mês de despesas; disponibilidade pelo menos 5 dias úteis antes do pagamento · Fundos.NET ID 1214038; referência 08/06/2026; data/raw/41114564000132/1214038_documentary_review.txt; Anexo,10.2;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Derivativos/hedge · Hedge patrimonial até posições à vista; exposição≤ 1 x PL, sem cedente como contraparte · Fundos.NET ID 1219005; referência 09/06/2026; data/raw/51326028000154/1219005_documentary_review.txt; Anexo,6.4,p47; https://fnet.bmfbovespa.com.br/fnet/publico/exibirDocumento?id=1219005&amp;cvm=true · Observação: Finalidade/contraparte não verificáveis pela posição agregada IME; leitura dirigida da cláusula 6.4.</a:t>
            </a:r>
          </a:p>
          <a:p>
            <a:r>
              <a:t>CNPJ 54634742000106 · Derivativos/hedge · Proteção de posições à vista; sem descoberto/alavancagem; registro com garantia · Fundos.NET ID 1316627 | 11/09/2026 | regulamento | p. 45; 6.4–6.4.2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Derivativos/hedge · Somente proteção das posições à vista, sem alavancagem · Fundos.NET ID 1181571 | 27/04/2026 | regulamento | p. 41; 6.8–6.9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Derivativos/hedge · Proteção das posições à vista; vedados alavancagem e descoberto · data/raw/63168433000170/1023249_regulamento.pdf | Fundos.NET ID 1023249 | 29/10/2025 | regulamento | p. 152-153 · Observação: Regra da versão citada; contratos e séries exigem seus instrumentos próprios.</a:t>
            </a:r>
          </a:p>
          <a:p>
            <a:r>
              <a:t>CNPJ 65327006000113 · Derivativos/hedge · Proteção das posições à vista; vedadas posições descobertas/alavancadas · data/raw/65327006000113/1323417_regulamento.pdf | Fundos.NET ID 1323417 | 16/09/2026 | regulamento | p. 143 · Observação: Regra da versão citada; contratos e séries exigem seus instrumentos próprios.</a:t>
            </a:r>
          </a:p>
          <a:p>
            <a:r>
              <a:t>CNPJ 41114564000132 · Derivativos/hedge · Operações com derivativos vedadas · Fundos.NET ID 1214038; referência 08/06/2026; data/raw/41114564000132/1214038_documentary_review.txt; Anexo,7.18;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PDD · Não localizado nas fontes acessíveis desta leitura · Fundos.NET ID 1219005; referência 09/06/2026; data/raw/51326028000154/1219005_documentary_review.txt; Inventário das fontes consultadas; https://fnet.bmfbovespa.com.br/fnet/publico/exibirDocumento?id=1219005&amp;cvm=true; Fundos.NET ID 706710; referência 30/01/2024; data/raw/51326028000154/706710_documentary_review.txt; Inventário das fontes consultadas; https://fnet.bmfbovespa.com.br/fnet/publico/exibirDocumento?id=706710&amp;cvm=true · Observação: Lacuna desta revisão; ausência de extração não representa inexistência de regra contratual. Obter cláusula/anexo/suplemento antes de ativar controle.</a:t>
            </a:r>
          </a:p>
          <a:p>
            <a:r>
              <a:t>CNPJ 54634742000106 · PDD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PDD · Não localizado nas fontes acessíveis desta leitura · data/raw/59602002000101/access_status_20261007.txt | Consulta Fundos.NET por CNPJ 59602002000101 em 07/10/2026; inventário completo com 51 registros · Observação: Lacuna na revisão dirigida; obter cláusula específica antes de concluir ausência ou enquadramento.</a:t>
            </a:r>
          </a:p>
          <a:p>
            <a:r>
              <a:t>CNPJ 63168433000170 · PDD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PDD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PDD · Não localizado nas fontes acessíveis desta leitura · Fundos.NET ID 1214038; referência 08/06/2026; data/raw/41114564000132/1214038_documentary_review.txt; Inventário das fontes consultadas; https://fnet.bmfbovespa.com.br/fnet/publico/exibirDocumento?id=1214038&amp;cvm=true; Fundos.NET ID 1214036; referência 05/05/2026 16:00; data/raw/41114564000132/1214036_documentary_review.txt; Inventário das fontes consultadas; https://fnet.bmfbovespa.com.br/fnet/publico/exibirDocumento?id=1214036&amp;cvm=true · Observação: Lacuna desta revisão; ausência de extração não representa inexistência de regra contratual. Obter cláusula/anexo/suplemento antes de ativar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2026-10-07T16:50:54-03:00</a:t>
            </a:r>
          </a:p>
          <a:p>
            <a:r>
              <a:t>Larca Consignado: CNPJ 51326028000154</a:t>
            </a:r>
          </a:p>
          <a:p>
            <a:r>
              <a:t>LARCA CONSIGNADO II: CNPJ 54634742000106</a:t>
            </a:r>
          </a:p>
          <a:p>
            <a:r>
              <a:t>LARCA CONSIGNADO III: CNPJ 59602002000101</a:t>
            </a:r>
          </a:p>
          <a:p>
            <a:r>
              <a:t>Larca Aurora: CNPJ 63168433000170</a:t>
            </a:r>
          </a:p>
          <a:p>
            <a:r>
              <a:t>Larca V: CNPJ 65327006000113</a:t>
            </a:r>
          </a:p>
          <a:p>
            <a:r>
              <a:t>Larca Multiplica Capital: CNPJ 41114564000132</a:t>
            </a:r>
          </a:p>
          <a:p>
            <a:r>
              <a:t>Fontes:</a:t>
            </a:r>
          </a:p>
          <a:p>
            <a:r>
              <a:t>CNPJ 51326028000154 · Alocação mínima · Direitos creditórios ≥ 67% PL após 180 dias · Fundos.NET ID 1219005; referência 09/06/2026; data/raw/51326028000154/1219005_documentary_review.txt; Glossário Alocação Mínima; Anexo,6;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Alocação mínima · Direitos creditórios≥67% PL, conforme definição · Fundos.NET ID 1316627 | 11/09/2026 | regulamento | p. 2; Alocação Mínima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Alocação mínima · Direitos ≥50% do PL; objetivo fiscal ≥67% depende dos requisitos próprios · Fundos.NET ID 1181571 | 27/04/2026 | regulamento | p. 3,41–42; Alocação Mínima; 6.11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Alocação mínima · DC &gt;67% PL em até 180 dias; glossário distingue mínimo regulatório 50% · data/raw/63168433000170/1023249_regulamento.pdf | Fundos.NET ID 1023249 | 29/10/2025 | regulamento | p. 77,87 · Observação: Regra da versão citada; contratos e séries exigem seus instrumentos próprios.</a:t>
            </a:r>
          </a:p>
          <a:p>
            <a:r>
              <a:t>CNPJ 65327006000113 · Alocação mínima · DC &gt;67% PL em até 180 dias · data/raw/65327006000113/1323417_regulamento.pdf | Fundos.NET ID 1323417 | 16/09/2026 | regulamento | p. 67 · Observação: Regra da versão citada; contratos e séries exigem seus instrumentos próprios.</a:t>
            </a:r>
          </a:p>
          <a:p>
            <a:r>
              <a:t>CNPJ 41114564000132 · Alocação mínima · Direitos creditórios &gt; 50% PL até 180 dias; objetivo tributário de 67% PL · Fundos.NET ID 1214038; referência 08/06/2026; data/raw/41114564000132/1214038_documentary_review.txt; Anexo,7.3–7.4;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Pool/revolvência · Revolvência permitida durante toda a vigência, sujeita aos eventos e waterfall · Fundos.NET ID 1219005; referência 09/06/2026; data/raw/51326028000154/1219005_documentary_review.txt; Anexo,7.3, p51;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Pool/revolvência · Revolvência conforme ordem de pagamentos; suspensa em gatilhos específicos · Fundos.NET ID 1316627 | 11/09/2026 | regulamento | p. 48–49; 7.3;8.2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Pool/revolvência · Aquisição de novos créditos proibida durante regime transitório até 27/04/2027 · Fundos.NET ID 1181567 | 27/04/2026 10:00 | assembleia | p. 3–4; 19.2(c) aprovado | data/raw/59602002000101/1181567_assembleia_review_20261007.pdf | https://fnet.bmfbovespa.com.br/fnet/publico/visualizarDocumento?id=1181567 · Observação: Regra da versão indicada; resumo sujeito às condições completas da cláusula. IME agregado não comprova elegibilidade individual.</a:t>
            </a:r>
          </a:p>
          <a:p>
            <a:r>
              <a:t>CNPJ 63168433000170 · Pool/revolvência · Aquisições/revolvência no período de investimento; refinanciamento e renegociação têm janelas próprias · data/raw/63168433000170/1023249_regulamento.pdf | Fundos.NET ID 1023249 | 29/10/2025 | regulamento | p. 152 · Observação: Regra da versão citada; contratos e séries exigem seus instrumentos próprios.</a:t>
            </a:r>
          </a:p>
          <a:p>
            <a:r>
              <a:t>CNPJ 65327006000113 · Pool/revolvência · Aquisições durante período de investimento; refinanciamento tem janela específica · data/raw/65327006000113/1323417_regulamento.pdf | Fundos.NET ID 1323417 | 16/09/2026 | regulamento | p. 142-143 · Observação: Regra da versão citada; contratos e séries exigem seus instrumentos próprios.</a:t>
            </a:r>
          </a:p>
          <a:p>
            <a:r>
              <a:t>CNPJ 41114564000132 · Pool/revolvência · Revolvência sem limite de vezes, observadas condições e waterfall · Fundos.NET ID 1214038; referência 08/06/2026; data/raw/41114564000132/1214038_documentary_review.txt; Anexo,7.14;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Duração/público-alvo · Prazo indeterminado; investidores qualificados; prazo de cada série por apêndice · Fundos.NET ID 1219005; referência 09/06/2026; data/raw/51326028000154/1219005_documentary_review.txt; Anexo,2–3, p40; https://fnet.bmfbovespa.com.br/fnet/publico/exibirDocumento?id=1219005&amp;cvm=true · Observação: Glossário Investidores Autorizados, p 18; Anexo, 2–3, p 40.</a:t>
            </a:r>
          </a:p>
          <a:p>
            <a:r>
              <a:t>CNPJ 54634742000106 · Duração/público-alvo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Duração/público-alvo · Não localizado nas fontes acessíveis desta leitura · data/raw/59602002000101/access_status_20261007.txt | Consulta Fundos.NET por CNPJ 59602002000101 em 07/10/2026; inventário completo com 51 registros · Observação: Lacuna na revisão dirigida; obter cláusula específica antes de concluir ausência ou enquadramento.</a:t>
            </a:r>
          </a:p>
          <a:p>
            <a:r>
              <a:t>CNPJ 63168433000170 · Duração/público-alvo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Duração/público-alvo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Duração/público-alvo · Prazo indeterminado; classe fechada para qualificados; responsabilidade ilimitada · Fundos.NET ID 1214038; referência 08/06/2026; data/raw/41114564000132/1214038_documentary_review.txt; Anexo,1–3 e12.1;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Cessão/recompra · Cessão definitiva sem regresso; taxa mínima de aquisição 1, 33% a.m.; resolução por contrato · Fundos.NET ID 1219005; referência 09/06/2026; data/raw/51326028000154/1219005_documentary_review.txt; Anexo,8.3–8.4, pp54–55; https://fnet.bmfbovespa.com.br/fnet/publico/exibirDocumento?id=1219005&amp;cvm=true · Observação: Taxa de desconto do crédito não é remuneração das cotas.</a:t>
            </a:r>
          </a:p>
          <a:p>
            <a:r>
              <a:t>CNPJ 54634742000106 · Cessão/recompra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Cessão/recompra · Não localizado nas fontes acessíveis desta leitura · data/raw/59602002000101/access_status_20261007.txt | Consulta Fundos.NET por CNPJ 59602002000101 em 07/10/2026; inventário completo com 51 registros · Observação: Lacuna na revisão dirigida; obter cláusula específica antes de concluir ausência ou enquadramento.</a:t>
            </a:r>
          </a:p>
          <a:p>
            <a:r>
              <a:t>CNPJ 63168433000170 · Cessão/recompra · Contratos de transferência definem resolução, recompra pelo endossante ou compra pelo originador · data/raw/63168433000170/1023249_regulamento.pdf | Fundos.NET ID 1023249 | 29/10/2025 | regulamento | p. 140 · Observação: Regra da versão citada; contratos e séries exigem seus instrumentos próprios.</a:t>
            </a:r>
          </a:p>
          <a:p>
            <a:r>
              <a:t>CNPJ 65327006000113 · Cessão/recompra · Contratos de transferência definem resolução e recompra/compra obrigatória · data/raw/65327006000113/1323417_regulamento.pdf | Fundos.NET ID 1323417 | 16/09/2026 | regulamento | p. 129 · Observação: Regra da versão citada; contratos e séries exigem seus instrumentos próprios.</a:t>
            </a:r>
          </a:p>
          <a:p>
            <a:r>
              <a:t>CNPJ 41114564000132 · Cessão/recompra · Taxa mínima de cessão 110% CDI; recompra sujeita a evento e existência do crédito · Fundos.NET ID 1214038; referência 08/06/2026; data/raw/41114564000132/1214038_documentary_review.txt; Anexo,8 e13.2; https://fnet.bmfbovespa.com.br/fnet/publico/exibirDocumento?id=1214038&amp;cvm=true · Observação: 110% CDI é fator da taxa de cessão, não spread da cota.</a:t>
            </a:r>
          </a:p>
          <a:p>
            <a:r>
              <a:t>CNPJ 51326028000154 · Coobrigação · Contratos podem ter ou não coobrigação; glossário cita cessão sem coobrigação · Fundos.NET ID 1219005; referência 09/06/2026; data/raw/51326028000154/1219005_documentary_review.txt; Glossário Contrato de Cessão, p5; Anexo,7.2.1, p50; https://fnet.bmfbovespa.com.br/fnet/publico/exibirDocumento?id=1219005&amp;cvm=true · Observação: Reconciliar instrumento específico antes de afirmar coobrigação universal.</a:t>
            </a:r>
          </a:p>
          <a:p>
            <a:r>
              <a:t>CNPJ 54634742000106 · Coobrigação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Coobrigação · Não localizado nas fontes acessíveis desta leitura · data/raw/59602002000101/access_status_20261007.txt | Consulta Fundos.NET por CNPJ 59602002000101 em 07/10/2026; inventário completo com 51 registros · Observação: Lacuna na revisão dirigida; obter cláusula específica antes de concluir ausência ou enquadramento.</a:t>
            </a:r>
          </a:p>
          <a:p>
            <a:r>
              <a:t>CNPJ 63168433000170 · Coobrigação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Coobrigação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Coobrigação · Pode ser prevista no contrato; cedente responde por existência e formalização · Fundos.NET ID 1214038; referência 08/06/2026; data/raw/41114564000132/1214038_documentary_review.txt; Anexo,8.3 e8.8;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Waterfall · Encargos e reservas precedem pagamentos sênior/mezanino/júnior e aquisições · Fundos.NET ID 1219005; referência 09/06/2026; data/raw/51326028000154/1219005_documentary_review.txt; Anexo,15;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Waterfall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Waterfall · Despesas e reserva precedem amortização proporcional sênior/mezanino com todo caixa disponível no regime transitório · Fundos.NET ID 1181567 | 27/04/2026 10:00 | assembleia | p. 2–4; Deliberações; 19.2 | data/raw/59602002000101/1181567_assembleia_review_20261007.pdf | https://fnet.bmfbovespa.com.br/fnet/publico/visualizarDocumento?id=1181567 · Observação: Regra da versão indicada; resumo sujeito às condições completas da cláusula. IME agregado não comprova elegibilidade individual.</a:t>
            </a:r>
          </a:p>
          <a:p>
            <a:r>
              <a:t>CNPJ 63168433000170 · Waterfall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Waterfall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Waterfall · Encargos → reserva → sênior → mezanino → júnior → novos créditos · Fundos.NET ID 1214038; referência 08/06/2026; data/raw/41114564000132/1214038_documentary_review.txt; Anexo,9; https://fnet.bmfbovespa.com.br/fnet/publico/exibirDocumento?id=1214038&amp;cvm=true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2026-10-07T16:50:54-03:00</a:t>
            </a:r>
          </a:p>
          <a:p>
            <a:r>
              <a:t>Larca Consignado: CNPJ 51326028000154</a:t>
            </a:r>
          </a:p>
          <a:p>
            <a:r>
              <a:t>LARCA CONSIGNADO II: CNPJ 54634742000106</a:t>
            </a:r>
          </a:p>
          <a:p>
            <a:r>
              <a:t>LARCA CONSIGNADO III: CNPJ 59602002000101</a:t>
            </a:r>
          </a:p>
          <a:p>
            <a:r>
              <a:t>Larca Aurora: CNPJ 63168433000170</a:t>
            </a:r>
          </a:p>
          <a:p>
            <a:r>
              <a:t>Larca V: CNPJ 65327006000113</a:t>
            </a:r>
          </a:p>
          <a:p>
            <a:r>
              <a:t>Larca Multiplica Capital: CNPJ 41114564000132</a:t>
            </a:r>
          </a:p>
          <a:p>
            <a:r>
              <a:t>Fontes:</a:t>
            </a:r>
          </a:p>
          <a:p>
            <a:r>
              <a:t>CNPJ 51326028000154 · Alocação mínima · Direitos creditórios ≥ 67% PL após 180 dias · Fundos.NET ID 1219005; referência 09/06/2026; data/raw/51326028000154/1219005_documentary_review.txt; Glossário Alocação Mínima; Anexo,6;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Alocação mínima · Direitos creditórios≥67% PL, conforme definição · Fundos.NET ID 1316627 | 11/09/2026 | regulamento | p. 2; Alocação Mínima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Alocação mínima · Direitos ≥50% do PL; objetivo fiscal ≥67% depende dos requisitos próprios · Fundos.NET ID 1181571 | 27/04/2026 | regulamento | p. 3,41–42; Alocação Mínima; 6.11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Alocação mínima · DC &gt;67% PL em até 180 dias; glossário distingue mínimo regulatório 50% · data/raw/63168433000170/1023249_regulamento.pdf | Fundos.NET ID 1023249 | 29/10/2025 | regulamento | p. 77,87 · Observação: Regra da versão citada; contratos e séries exigem seus instrumentos próprios.</a:t>
            </a:r>
          </a:p>
          <a:p>
            <a:r>
              <a:t>CNPJ 65327006000113 · Alocação mínima · DC &gt;67% PL em até 180 dias · data/raw/65327006000113/1323417_regulamento.pdf | Fundos.NET ID 1323417 | 16/09/2026 | regulamento | p. 67 · Observação: Regra da versão citada; contratos e séries exigem seus instrumentos próprios.</a:t>
            </a:r>
          </a:p>
          <a:p>
            <a:r>
              <a:t>CNPJ 41114564000132 · Alocação mínima · Direitos creditórios &gt; 50% PL até 180 dias; objetivo tributário de 67% PL · Fundos.NET ID 1214038; referência 08/06/2026; data/raw/41114564000132/1214038_documentary_review.txt; Anexo,7.3–7.4;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Pool/revolvência · Revolvência permitida durante toda a vigência, sujeita aos eventos e waterfall · Fundos.NET ID 1219005; referência 09/06/2026; data/raw/51326028000154/1219005_documentary_review.txt; Anexo,7.3, p51;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Pool/revolvência · Revolvência conforme ordem de pagamentos; suspensa em gatilhos específicos · Fundos.NET ID 1316627 | 11/09/2026 | regulamento | p. 48–49; 7.3;8.2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Pool/revolvência · Aquisição de novos créditos proibida durante regime transitório até 27/04/2027 · Fundos.NET ID 1181567 | 27/04/2026 10:00 | assembleia | p. 3–4; 19.2(c) aprovado | data/raw/59602002000101/1181567_assembleia_review_20261007.pdf | https://fnet.bmfbovespa.com.br/fnet/publico/visualizarDocumento?id=1181567 · Observação: Regra da versão indicada; resumo sujeito às condições completas da cláusula. IME agregado não comprova elegibilidade individual.</a:t>
            </a:r>
          </a:p>
          <a:p>
            <a:r>
              <a:t>CNPJ 63168433000170 · Pool/revolvência · Aquisições/revolvência no período de investimento; refinanciamento e renegociação têm janelas próprias · data/raw/63168433000170/1023249_regulamento.pdf | Fundos.NET ID 1023249 | 29/10/2025 | regulamento | p. 152 · Observação: Regra da versão citada; contratos e séries exigem seus instrumentos próprios.</a:t>
            </a:r>
          </a:p>
          <a:p>
            <a:r>
              <a:t>CNPJ 65327006000113 · Pool/revolvência · Aquisições durante período de investimento; refinanciamento tem janela específica · data/raw/65327006000113/1323417_regulamento.pdf | Fundos.NET ID 1323417 | 16/09/2026 | regulamento | p. 142-143 · Observação: Regra da versão citada; contratos e séries exigem seus instrumentos próprios.</a:t>
            </a:r>
          </a:p>
          <a:p>
            <a:r>
              <a:t>CNPJ 41114564000132 · Pool/revolvência · Revolvência sem limite de vezes, observadas condições e waterfall · Fundos.NET ID 1214038; referência 08/06/2026; data/raw/41114564000132/1214038_documentary_review.txt; Anexo,7.14;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Duração/público-alvo · Prazo indeterminado; investidores qualificados; prazo de cada série por apêndice · Fundos.NET ID 1219005; referência 09/06/2026; data/raw/51326028000154/1219005_documentary_review.txt; Anexo,2–3, p40; https://fnet.bmfbovespa.com.br/fnet/publico/exibirDocumento?id=1219005&amp;cvm=true · Observação: Glossário Investidores Autorizados, p 18; Anexo, 2–3, p 40.</a:t>
            </a:r>
          </a:p>
          <a:p>
            <a:r>
              <a:t>CNPJ 54634742000106 · Duração/público-alvo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Duração/público-alvo · Não localizado nas fontes acessíveis desta leitura · data/raw/59602002000101/access_status_20261007.txt | Consulta Fundos.NET por CNPJ 59602002000101 em 07/10/2026; inventário completo com 51 registros · Observação: Lacuna na revisão dirigida; obter cláusula específica antes de concluir ausência ou enquadramento.</a:t>
            </a:r>
          </a:p>
          <a:p>
            <a:r>
              <a:t>CNPJ 63168433000170 · Duração/público-alvo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Duração/público-alvo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Duração/público-alvo · Prazo indeterminado; classe fechada para qualificados; responsabilidade ilimitada · Fundos.NET ID 1214038; referência 08/06/2026; data/raw/41114564000132/1214038_documentary_review.txt; Anexo,1–3 e12.1;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Cessão/recompra · Cessão definitiva sem regresso; taxa mínima de aquisição 1, 33% a.m.; resolução por contrato · Fundos.NET ID 1219005; referência 09/06/2026; data/raw/51326028000154/1219005_documentary_review.txt; Anexo,8.3–8.4, pp54–55; https://fnet.bmfbovespa.com.br/fnet/publico/exibirDocumento?id=1219005&amp;cvm=true · Observação: Taxa de desconto do crédito não é remuneração das cotas.</a:t>
            </a:r>
          </a:p>
          <a:p>
            <a:r>
              <a:t>CNPJ 54634742000106 · Cessão/recompra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Cessão/recompra · Não localizado nas fontes acessíveis desta leitura · data/raw/59602002000101/access_status_20261007.txt | Consulta Fundos.NET por CNPJ 59602002000101 em 07/10/2026; inventário completo com 51 registros · Observação: Lacuna na revisão dirigida; obter cláusula específica antes de concluir ausência ou enquadramento.</a:t>
            </a:r>
          </a:p>
          <a:p>
            <a:r>
              <a:t>CNPJ 63168433000170 · Cessão/recompra · Contratos de transferência definem resolução, recompra pelo endossante ou compra pelo originador · data/raw/63168433000170/1023249_regulamento.pdf | Fundos.NET ID 1023249 | 29/10/2025 | regulamento | p. 140 · Observação: Regra da versão citada; contratos e séries exigem seus instrumentos próprios.</a:t>
            </a:r>
          </a:p>
          <a:p>
            <a:r>
              <a:t>CNPJ 65327006000113 · Cessão/recompra · Contratos de transferência definem resolução e recompra/compra obrigatória · data/raw/65327006000113/1323417_regulamento.pdf | Fundos.NET ID 1323417 | 16/09/2026 | regulamento | p. 129 · Observação: Regra da versão citada; contratos e séries exigem seus instrumentos próprios.</a:t>
            </a:r>
          </a:p>
          <a:p>
            <a:r>
              <a:t>CNPJ 41114564000132 · Cessão/recompra · Taxa mínima de cessão 110% CDI; recompra sujeita a evento e existência do crédito · Fundos.NET ID 1214038; referência 08/06/2026; data/raw/41114564000132/1214038_documentary_review.txt; Anexo,8 e13.2; https://fnet.bmfbovespa.com.br/fnet/publico/exibirDocumento?id=1214038&amp;cvm=true · Observação: 110% CDI é fator da taxa de cessão, não spread da cota.</a:t>
            </a:r>
          </a:p>
          <a:p>
            <a:r>
              <a:t>CNPJ 51326028000154 · Coobrigação · Contratos podem ter ou não coobrigação; glossário cita cessão sem coobrigação · Fundos.NET ID 1219005; referência 09/06/2026; data/raw/51326028000154/1219005_documentary_review.txt; Glossário Contrato de Cessão, p5; Anexo,7.2.1, p50; https://fnet.bmfbovespa.com.br/fnet/publico/exibirDocumento?id=1219005&amp;cvm=true · Observação: Reconciliar instrumento específico antes de afirmar coobrigação universal.</a:t>
            </a:r>
          </a:p>
          <a:p>
            <a:r>
              <a:t>CNPJ 54634742000106 · Coobrigação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Coobrigação · Não localizado nas fontes acessíveis desta leitura · data/raw/59602002000101/access_status_20261007.txt | Consulta Fundos.NET por CNPJ 59602002000101 em 07/10/2026; inventário completo com 51 registros · Observação: Lacuna na revisão dirigida; obter cláusula específica antes de concluir ausência ou enquadramento.</a:t>
            </a:r>
          </a:p>
          <a:p>
            <a:r>
              <a:t>CNPJ 63168433000170 · Coobrigação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Coobrigação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Coobrigação · Pode ser prevista no contrato; cedente responde por existência e formalização · Fundos.NET ID 1214038; referência 08/06/2026; data/raw/41114564000132/1214038_documentary_review.txt; Anexo,8.3 e8.8;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Waterfall · Encargos e reservas precedem pagamentos sênior/mezanino/júnior e aquisições · Fundos.NET ID 1219005; referência 09/06/2026; data/raw/51326028000154/1219005_documentary_review.txt; Anexo,15;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Waterfall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Waterfall · Despesas e reserva precedem amortização proporcional sênior/mezanino com todo caixa disponível no regime transitório · Fundos.NET ID 1181567 | 27/04/2026 10:00 | assembleia | p. 2–4; Deliberações; 19.2 | data/raw/59602002000101/1181567_assembleia_review_20261007.pdf | https://fnet.bmfbovespa.com.br/fnet/publico/visualizarDocumento?id=1181567 · Observação: Regra da versão indicada; resumo sujeito às condições completas da cláusula. IME agregado não comprova elegibilidade individual.</a:t>
            </a:r>
          </a:p>
          <a:p>
            <a:r>
              <a:t>CNPJ 63168433000170 · Waterfall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Waterfall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Waterfall · Encargos → reserva → sênior → mezanino → júnior → novos créditos · Fundos.NET ID 1214038; referência 08/06/2026; data/raw/41114564000132/1214038_documentary_review.txt; Anexo,9; https://fnet.bmfbovespa.com.br/fnet/publico/exibirDocumento?id=1214038&amp;cvm=true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2026-10-07T16:50:54-03:00</a:t>
            </a:r>
          </a:p>
          <a:p>
            <a:r>
              <a:t>Larca Consignado: CNPJ 51326028000154</a:t>
            </a:r>
          </a:p>
          <a:p>
            <a:r>
              <a:t>LARCA CONSIGNADO II: CNPJ 54634742000106</a:t>
            </a:r>
          </a:p>
          <a:p>
            <a:r>
              <a:t>LARCA CONSIGNADO III: CNPJ 59602002000101</a:t>
            </a:r>
          </a:p>
          <a:p>
            <a:r>
              <a:t>Larca Aurora: CNPJ 63168433000170</a:t>
            </a:r>
          </a:p>
          <a:p>
            <a:r>
              <a:t>Larca V: CNPJ 65327006000113</a:t>
            </a:r>
          </a:p>
          <a:p>
            <a:r>
              <a:t>Larca Multiplica Capital: CNPJ 41114564000132</a:t>
            </a:r>
          </a:p>
          <a:p>
            <a:r>
              <a:t>Fontes:</a:t>
            </a:r>
          </a:p>
          <a:p>
            <a:r>
              <a:t>CNPJ 51326028000154 · Alocação mínima · Direitos creditórios ≥ 67% PL após 180 dias · Fundos.NET ID 1219005; referência 09/06/2026; data/raw/51326028000154/1219005_documentary_review.txt; Glossário Alocação Mínima; Anexo,6;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Alocação mínima · Direitos creditórios≥67% PL, conforme definição · Fundos.NET ID 1316627 | 11/09/2026 | regulamento | p. 2; Alocação Mínima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Alocação mínima · Direitos ≥50% do PL; objetivo fiscal ≥67% depende dos requisitos próprios · Fundos.NET ID 1181571 | 27/04/2026 | regulamento | p. 3,41–42; Alocação Mínima; 6.11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Alocação mínima · DC &gt;67% PL em até 180 dias; glossário distingue mínimo regulatório 50% · data/raw/63168433000170/1023249_regulamento.pdf | Fundos.NET ID 1023249 | 29/10/2025 | regulamento | p. 77,87 · Observação: Regra da versão citada; contratos e séries exigem seus instrumentos próprios.</a:t>
            </a:r>
          </a:p>
          <a:p>
            <a:r>
              <a:t>CNPJ 65327006000113 · Alocação mínima · DC &gt;67% PL em até 180 dias · data/raw/65327006000113/1323417_regulamento.pdf | Fundos.NET ID 1323417 | 16/09/2026 | regulamento | p. 67 · Observação: Regra da versão citada; contratos e séries exigem seus instrumentos próprios.</a:t>
            </a:r>
          </a:p>
          <a:p>
            <a:r>
              <a:t>CNPJ 41114564000132 · Alocação mínima · Direitos creditórios &gt; 50% PL até 180 dias; objetivo tributário de 67% PL · Fundos.NET ID 1214038; referência 08/06/2026; data/raw/41114564000132/1214038_documentary_review.txt; Anexo,7.3–7.4;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Pool/revolvência · Revolvência permitida durante toda a vigência, sujeita aos eventos e waterfall · Fundos.NET ID 1219005; referência 09/06/2026; data/raw/51326028000154/1219005_documentary_review.txt; Anexo,7.3, p51;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Pool/revolvência · Revolvência conforme ordem de pagamentos; suspensa em gatilhos específicos · Fundos.NET ID 1316627 | 11/09/2026 | regulamento | p. 48–49; 7.3;8.2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Pool/revolvência · Aquisição de novos créditos proibida durante regime transitório até 27/04/2027 · Fundos.NET ID 1181567 | 27/04/2026 10:00 | assembleia | p. 3–4; 19.2(c) aprovado | data/raw/59602002000101/1181567_assembleia_review_20261007.pdf | https://fnet.bmfbovespa.com.br/fnet/publico/visualizarDocumento?id=1181567 · Observação: Regra da versão indicada; resumo sujeito às condições completas da cláusula. IME agregado não comprova elegibilidade individual.</a:t>
            </a:r>
          </a:p>
          <a:p>
            <a:r>
              <a:t>CNPJ 63168433000170 · Pool/revolvência · Aquisições/revolvência no período de investimento; refinanciamento e renegociação têm janelas próprias · data/raw/63168433000170/1023249_regulamento.pdf | Fundos.NET ID 1023249 | 29/10/2025 | regulamento | p. 152 · Observação: Regra da versão citada; contratos e séries exigem seus instrumentos próprios.</a:t>
            </a:r>
          </a:p>
          <a:p>
            <a:r>
              <a:t>CNPJ 65327006000113 · Pool/revolvência · Aquisições durante período de investimento; refinanciamento tem janela específica · data/raw/65327006000113/1323417_regulamento.pdf | Fundos.NET ID 1323417 | 16/09/2026 | regulamento | p. 142-143 · Observação: Regra da versão citada; contratos e séries exigem seus instrumentos próprios.</a:t>
            </a:r>
          </a:p>
          <a:p>
            <a:r>
              <a:t>CNPJ 41114564000132 · Pool/revolvência · Revolvência sem limite de vezes, observadas condições e waterfall · Fundos.NET ID 1214038; referência 08/06/2026; data/raw/41114564000132/1214038_documentary_review.txt; Anexo,7.14;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Duração/público-alvo · Prazo indeterminado; investidores qualificados; prazo de cada série por apêndice · Fundos.NET ID 1219005; referência 09/06/2026; data/raw/51326028000154/1219005_documentary_review.txt; Anexo,2–3, p40; https://fnet.bmfbovespa.com.br/fnet/publico/exibirDocumento?id=1219005&amp;cvm=true · Observação: Glossário Investidores Autorizados, p 18; Anexo, 2–3, p 40.</a:t>
            </a:r>
          </a:p>
          <a:p>
            <a:r>
              <a:t>CNPJ 54634742000106 · Duração/público-alvo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Duração/público-alvo · Não localizado nas fontes acessíveis desta leitura · data/raw/59602002000101/access_status_20261007.txt | Consulta Fundos.NET por CNPJ 59602002000101 em 07/10/2026; inventário completo com 51 registros · Observação: Lacuna na revisão dirigida; obter cláusula específica antes de concluir ausência ou enquadramento.</a:t>
            </a:r>
          </a:p>
          <a:p>
            <a:r>
              <a:t>CNPJ 63168433000170 · Duração/público-alvo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Duração/público-alvo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Duração/público-alvo · Prazo indeterminado; classe fechada para qualificados; responsabilidade ilimitada · Fundos.NET ID 1214038; referência 08/06/2026; data/raw/41114564000132/1214038_documentary_review.txt; Anexo,1–3 e12.1;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Cessão/recompra · Cessão definitiva sem regresso; taxa mínima de aquisição 1, 33% a.m.; resolução por contrato · Fundos.NET ID 1219005; referência 09/06/2026; data/raw/51326028000154/1219005_documentary_review.txt; Anexo,8.3–8.4, pp54–55; https://fnet.bmfbovespa.com.br/fnet/publico/exibirDocumento?id=1219005&amp;cvm=true · Observação: Taxa de desconto do crédito não é remuneração das cotas.</a:t>
            </a:r>
          </a:p>
          <a:p>
            <a:r>
              <a:t>CNPJ 54634742000106 · Cessão/recompra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Cessão/recompra · Não localizado nas fontes acessíveis desta leitura · data/raw/59602002000101/access_status_20261007.txt | Consulta Fundos.NET por CNPJ 59602002000101 em 07/10/2026; inventário completo com 51 registros · Observação: Lacuna na revisão dirigida; obter cláusula específica antes de concluir ausência ou enquadramento.</a:t>
            </a:r>
          </a:p>
          <a:p>
            <a:r>
              <a:t>CNPJ 63168433000170 · Cessão/recompra · Contratos de transferência definem resolução, recompra pelo endossante ou compra pelo originador · data/raw/63168433000170/1023249_regulamento.pdf | Fundos.NET ID 1023249 | 29/10/2025 | regulamento | p. 140 · Observação: Regra da versão citada; contratos e séries exigem seus instrumentos próprios.</a:t>
            </a:r>
          </a:p>
          <a:p>
            <a:r>
              <a:t>CNPJ 65327006000113 · Cessão/recompra · Contratos de transferência definem resolução e recompra/compra obrigatória · data/raw/65327006000113/1323417_regulamento.pdf | Fundos.NET ID 1323417 | 16/09/2026 | regulamento | p. 129 · Observação: Regra da versão citada; contratos e séries exigem seus instrumentos próprios.</a:t>
            </a:r>
          </a:p>
          <a:p>
            <a:r>
              <a:t>CNPJ 41114564000132 · Cessão/recompra · Taxa mínima de cessão 110% CDI; recompra sujeita a evento e existência do crédito · Fundos.NET ID 1214038; referência 08/06/2026; data/raw/41114564000132/1214038_documentary_review.txt; Anexo,8 e13.2; https://fnet.bmfbovespa.com.br/fnet/publico/exibirDocumento?id=1214038&amp;cvm=true · Observação: 110% CDI é fator da taxa de cessão, não spread da cota.</a:t>
            </a:r>
          </a:p>
          <a:p>
            <a:r>
              <a:t>CNPJ 51326028000154 · Coobrigação · Contratos podem ter ou não coobrigação; glossário cita cessão sem coobrigação · Fundos.NET ID 1219005; referência 09/06/2026; data/raw/51326028000154/1219005_documentary_review.txt; Glossário Contrato de Cessão, p5; Anexo,7.2.1, p50; https://fnet.bmfbovespa.com.br/fnet/publico/exibirDocumento?id=1219005&amp;cvm=true · Observação: Reconciliar instrumento específico antes de afirmar coobrigação universal.</a:t>
            </a:r>
          </a:p>
          <a:p>
            <a:r>
              <a:t>CNPJ 54634742000106 · Coobrigação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Coobrigação · Não localizado nas fontes acessíveis desta leitura · data/raw/59602002000101/access_status_20261007.txt | Consulta Fundos.NET por CNPJ 59602002000101 em 07/10/2026; inventário completo com 51 registros · Observação: Lacuna na revisão dirigida; obter cláusula específica antes de concluir ausência ou enquadramento.</a:t>
            </a:r>
          </a:p>
          <a:p>
            <a:r>
              <a:t>CNPJ 63168433000170 · Coobrigação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Coobrigação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Coobrigação · Pode ser prevista no contrato; cedente responde por existência e formalização · Fundos.NET ID 1214038; referência 08/06/2026; data/raw/41114564000132/1214038_documentary_review.txt; Anexo,8.3 e8.8;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Waterfall · Encargos e reservas precedem pagamentos sênior/mezanino/júnior e aquisições · Fundos.NET ID 1219005; referência 09/06/2026; data/raw/51326028000154/1219005_documentary_review.txt; Anexo,15;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Waterfall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Waterfall · Despesas e reserva precedem amortização proporcional sênior/mezanino com todo caixa disponível no regime transitório · Fundos.NET ID 1181567 | 27/04/2026 10:00 | assembleia | p. 2–4; Deliberações; 19.2 | data/raw/59602002000101/1181567_assembleia_review_20261007.pdf | https://fnet.bmfbovespa.com.br/fnet/publico/visualizarDocumento?id=1181567 · Observação: Regra da versão indicada; resumo sujeito às condições completas da cláusula. IME agregado não comprova elegibilidade individual.</a:t>
            </a:r>
          </a:p>
          <a:p>
            <a:r>
              <a:t>CNPJ 63168433000170 · Waterfall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Waterfall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Waterfall · Encargos → reserva → sênior → mezanino → júnior → novos créditos · Fundos.NET ID 1214038; referência 08/06/2026; data/raw/41114564000132/1214038_documentary_review.txt; Anexo,9; https://fnet.bmfbovespa.com.br/fnet/publico/exibirDocumento?id=1214038&amp;cvm=true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2026-10-07T16:50:54-03:00</a:t>
            </a:r>
          </a:p>
          <a:p>
            <a:r>
              <a:t>Larca Consignado: CNPJ 51326028000154</a:t>
            </a:r>
          </a:p>
          <a:p>
            <a:r>
              <a:t>LARCA CONSIGNADO II: CNPJ 54634742000106</a:t>
            </a:r>
          </a:p>
          <a:p>
            <a:r>
              <a:t>LARCA CONSIGNADO III: CNPJ 59602002000101</a:t>
            </a:r>
          </a:p>
          <a:p>
            <a:r>
              <a:t>Larca Aurora: CNPJ 63168433000170</a:t>
            </a:r>
          </a:p>
          <a:p>
            <a:r>
              <a:t>Larca V: CNPJ 65327006000113</a:t>
            </a:r>
          </a:p>
          <a:p>
            <a:r>
              <a:t>Larca Multiplica Capital: CNPJ 41114564000132</a:t>
            </a:r>
          </a:p>
          <a:p>
            <a:r>
              <a:t>Fontes:</a:t>
            </a:r>
          </a:p>
          <a:p>
            <a:r>
              <a:t>CNPJ 51326028000154 · Classes/séries · Sênior, mezanino e júnior; VNU inicial R$ 1 mil · Fundos.NET ID 1219005; referência 09/06/2026; data/raw/51326028000154/1219005_documentary_review.txt; Anexo,11, pp76–78;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Classes/séries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Classes/séries · Sênior, mezanino e júnior; anúncios da 2ª série apresentam inconsistências · Fundos.NET ID 1181571 | 27/04/2026 | regulamento | p. 62, anúncio1–4; 11.1; anúncios | data/raw/59602002000101/1181571_regulamento_review_20261007.pdf | https://fnet.bmfbovespa.com.br/fnet/publico/visualizarDocumento?id=1181571 · Observação: ID 1144081 traz CNPJ correto no título e CNPJ 46.655.552/0001-39 no corpo; valores e quadros finais também divergem. Não assumir volume efetivamente distribuído.</a:t>
            </a:r>
          </a:p>
          <a:p>
            <a:r>
              <a:t>CNPJ 63168433000170 · Classes/séries · 1ª emissão: sênior/mezz A/B/júniorA/B · data/raw/63168433000170/1051828_emissao.pdf | Fundos.NET ID 1051828 | 01/12/2025 | emissao | p. 1-2 · Observação: Cláusula documental; confirmar versão aplicável e instrumento específico antes de ativar controle.</a:t>
            </a:r>
          </a:p>
          <a:p>
            <a:r>
              <a:t>CNPJ 65327006000113 · Classes/séries · 1ª emissão: sênior 1ª série/mezz A/B/júnior · data/raw/65327006000113/1305384_emissao.pdf | Fundos.NET ID 1305384 | 31/08/2026 | emissao | p. 1-2 · Observação: Cláusula documental; confirmar versão aplicável e instrumento específico antes de ativar controle.</a:t>
            </a:r>
          </a:p>
          <a:p>
            <a:r>
              <a:t>CNPJ 41114564000132 · Classes/séries · Sênior, mezanino e júnior · Fundos.NET ID 1214038; referência 08/06/2026; data/raw/41114564000132/1214038_documentary_review.txt; Anexo,4–5;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Remuneração · Lâmina da 2ª emissão: sênior CDI + 4, 00% a.a.; mezanino CDI + 6, 00% a.a.; vigência atual por suplemento · Fundos.NET ID 706710; referência 30/01/2024; data/raw/51326028000154/706710_documentary_review.txt; Remuneração, p16; https://fnet.bmfbovespa.com.br/fnet/publico/exibirDocumento?id=706710&amp;cvm=true · Observação: Texto do mezanino traz 6% numérico e quatro por cento por extenso; divergência exige suplemento.</a:t>
            </a:r>
          </a:p>
          <a:p>
            <a:r>
              <a:t>CNPJ 54634742000106 · Remuneração · Spread final sênior/mezanino não localizado; ato recente é emissão júnior · Fundos.NET ID 1005796 | 30/09/2025 | emissao | p. 1–4; Ato emissão | data/raw/54634742000106/1005796_emissao_review_20261007.pdf | https://fnet.bmfbovespa.com.br/fnet/publico/visualizarDocumento?id=1005796 · Observação: Regra da versão indicada; resumo sujeito às condições completas da cláusula. IME agregado não comprova elegibilidade individual.</a:t>
            </a:r>
          </a:p>
          <a:p>
            <a:r>
              <a:t>CNPJ 59602002000101 · Remuneração · Sobretaxa definida nos suplementos; spread final não localizado · Fundos.NET ID 1181571 | 27/04/2026 | regulamento | p. 63–64; 11.2.1; 11.3.1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Remuneração · Spread final não localizado nas cláusulas revisadas; requer suplemento ou ato específico · data/raw/63168433000170/1023249_regulamento.pdf | Fundos.NET ID 1023249 | 29/10/2025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Remuneração · Spread final não localizado nas cláusulas revisadas; requer suplemento ou ato específico · data/raw/65327006000113/1323417_regulamento.pdf | Fundos.NET ID 1323417 | 16/09/2026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Remuneração · Sênior CDI + 3, 50% a.a.; mezanino CDI + 4, 10% a.a.; júnior residual · Fundos.NET ID 1214038; referência 08/06/2026; data/raw/41114564000132/1214038_documentary_review.txt; Anexo,4;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Volume/VNU · 2ª emissão histórica até R$ 40 mi; VNU inicial geral R$ 1 mil · Fundos.NET ID 706710; referência 30/01/2024; data/raw/51326028000154/706710_documentary_review.txt; Elementos Essenciais, p1; https://fnet.bmfbovespa.com.br/fnet/publico/exibirDocumento?id=706710&amp;cvm=true · Observação: Conclusão limitada à versão citada; inventário completo não equivale a leitura integral de todos os documentos.</a:t>
            </a:r>
          </a:p>
          <a:p>
            <a:r>
              <a:t>CNPJ 54634742000106 · Volume/VNU · Ato 30/09/2025: júnior R$ 3 mi; preço unitário=cota do dia da integralização · Fundos.NET ID 1005796 | 30/09/2025 | emissao | p. 3; Suplemento | data/raw/54634742000106/1005796_emissao_review_20261007.pdf | https://fnet.bmfbovespa.com.br/fnet/publico/visualizarDocumento?id=1005796 · Observação: Regra da versão indicada; resumo sujeito às condições completas da cláusula. IME agregado não comprova elegibilidade individual.</a:t>
            </a:r>
          </a:p>
          <a:p>
            <a:r>
              <a:t>CNPJ 59602002000101 · Volume/VNU · Anúncio: sênior R$ 39 mi vs 40 mil cotas e quadro 38.752; mezanino R$ 7,472 mi vs 7.500 e quadro 7.469; reconciliar · Fundos.NET ID 1144081 | 20/03/2026 | emissao | p. 1–4; Anúncios encerramento | data/raw/59602002000101/1144081_emissao_review_20261007.pdf | https://fnet.bmfbovespa.com.br/fnet/publico/visualizarDocumento?id=1144081 · Observação: Valores literais divergentes; VNU declarado R$ 1 mil. Não inferir distribuído pela multiplicação.</a:t>
            </a:r>
          </a:p>
          <a:p>
            <a:r>
              <a:t>CNPJ 63168433000170 · Volume/VNU · R$ 300 milhões no encerramento;240/24/21/7,5/7,5 mi · data/raw/63168433000170/1051828_emissao.pdf | Fundos.NET ID 1051828 | 01/12/2025 | emissao | p. 1-2 · Observação: Cláusula documental; confirmar versão aplicável e instrumento específico antes de ativar controle.</a:t>
            </a:r>
          </a:p>
          <a:p>
            <a:r>
              <a:t>CNPJ 65327006000113 · Volume/VNU · Até R$ 500 milhões ofertados;400/50/25/25 mi · data/raw/65327006000113/1305384_emissao.pdf | Fundos.NET ID 1305384 | 31/08/2026 | emissao | p. 1-2 · Observação: Cláusula documental; confirmar versão aplicável e instrumento específico antes de ativar controle.</a:t>
            </a:r>
          </a:p>
          <a:p>
            <a:r>
              <a:t>CNPJ 41114564000132 · Volume/VNU · VNU inicial R$ 5 mil; volumes por emissão não localizados · Fundos.NET ID 1214038; referência 08/06/2026; data/raw/41114564000132/1214038_documentary_review.txt; Anexo,4;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Ofertas · 2ª emissão histórica conforme lâmina de 30/01/2024; fechamento não confirmado · Fundos.NET ID 706710; referência 30/01/2024; data/raw/51326028000154/706710_documentary_review.txt; Cabeçalho e Elementos Essenciais, p1; https://fnet.bmfbovespa.com.br/fnet/publico/exibirDocumento?id=706710&amp;cvm=true · Observação: Conclusão limitada à versão citada; inventário completo não equivale a leitura integral de todos os documentos.</a:t>
            </a:r>
          </a:p>
          <a:p>
            <a:r>
              <a:t>CNPJ 54634742000106 · Ofertas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Ofertas · Registro 19/09/2025; anúncios encerramento 20/03/2026; identidade/quantidade com divergências · Fundos.NET ID 1144081 | 20/03/2026 | emissao | p. 1–4; Registros1531/1532 | data/raw/59602002000101/1144081_emissao_review_20261007.pdf | https://fnet.bmfbovespa.com.br/fnet/publico/visualizarDocumento?id=1144081 · Observação: Regra da versão indicada; resumo sujeito às condições completas da cláusula. IME agregado não comprova elegibilidade individual.</a:t>
            </a:r>
          </a:p>
          <a:p>
            <a:r>
              <a:t>CNPJ 63168433000170 · Ofertas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Ofertas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Ofertas · Ata altera reserva, cessão, índice de reajuste e referência de subordinação júnior · Fundos.NET ID 1214036; referência 05/05/2026 16:00; data/raw/41114564000132/1214036_documentary_review.txt; Deliberações, p2; https://fnet.bmfbovespa.com.br/fnet/publico/exibirDocumento?id=1214036&amp;cvm=true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2026-10-07T16:50:54-03:00</a:t>
            </a:r>
          </a:p>
          <a:p>
            <a:r>
              <a:t>Larca Consignado: CNPJ 51326028000154</a:t>
            </a:r>
          </a:p>
          <a:p>
            <a:r>
              <a:t>LARCA CONSIGNADO II: CNPJ 54634742000106</a:t>
            </a:r>
          </a:p>
          <a:p>
            <a:r>
              <a:t>LARCA CONSIGNADO III: CNPJ 59602002000101</a:t>
            </a:r>
          </a:p>
          <a:p>
            <a:r>
              <a:t>Larca Aurora: CNPJ 63168433000170</a:t>
            </a:r>
          </a:p>
          <a:p>
            <a:r>
              <a:t>Larca V: CNPJ 65327006000113</a:t>
            </a:r>
          </a:p>
          <a:p>
            <a:r>
              <a:t>Larca Multiplica Capital: CNPJ 41114564000132</a:t>
            </a:r>
          </a:p>
          <a:p>
            <a:r>
              <a:t>Fontes:</a:t>
            </a:r>
          </a:p>
          <a:p>
            <a:r>
              <a:t>CNPJ 51326028000154 · Classes/séries · Sênior, mezanino e júnior; VNU inicial R$ 1 mil · Fundos.NET ID 1219005; referência 09/06/2026; data/raw/51326028000154/1219005_documentary_review.txt; Anexo,11, pp76–78;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Classes/séries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Classes/séries · Sênior, mezanino e júnior; anúncios da 2ª série apresentam inconsistências · Fundos.NET ID 1181571 | 27/04/2026 | regulamento | p. 62, anúncio1–4; 11.1; anúncios | data/raw/59602002000101/1181571_regulamento_review_20261007.pdf | https://fnet.bmfbovespa.com.br/fnet/publico/visualizarDocumento?id=1181571 · Observação: ID 1144081 traz CNPJ correto no título e CNPJ 46.655.552/0001-39 no corpo; valores e quadros finais também divergem. Não assumir volume efetivamente distribuído.</a:t>
            </a:r>
          </a:p>
          <a:p>
            <a:r>
              <a:t>CNPJ 63168433000170 · Classes/séries · 1ª emissão: sênior/mezz A/B/júniorA/B · data/raw/63168433000170/1051828_emissao.pdf | Fundos.NET ID 1051828 | 01/12/2025 | emissao | p. 1-2 · Observação: Cláusula documental; confirmar versão aplicável e instrumento específico antes de ativar controle.</a:t>
            </a:r>
          </a:p>
          <a:p>
            <a:r>
              <a:t>CNPJ 65327006000113 · Classes/séries · 1ª emissão: sênior 1ª série/mezz A/B/júnior · data/raw/65327006000113/1305384_emissao.pdf | Fundos.NET ID 1305384 | 31/08/2026 | emissao | p. 1-2 · Observação: Cláusula documental; confirmar versão aplicável e instrumento específico antes de ativar controle.</a:t>
            </a:r>
          </a:p>
          <a:p>
            <a:r>
              <a:t>CNPJ 41114564000132 · Classes/séries · Sênior, mezanino e júnior · Fundos.NET ID 1214038; referência 08/06/2026; data/raw/41114564000132/1214038_documentary_review.txt; Anexo,4–5;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Remuneração · Lâmina da 2ª emissão: sênior CDI + 4, 00% a.a.; mezanino CDI + 6, 00% a.a.; vigência atual por suplemento · Fundos.NET ID 706710; referência 30/01/2024; data/raw/51326028000154/706710_documentary_review.txt; Remuneração, p16; https://fnet.bmfbovespa.com.br/fnet/publico/exibirDocumento?id=706710&amp;cvm=true · Observação: Texto do mezanino traz 6% numérico e quatro por cento por extenso; divergência exige suplemento.</a:t>
            </a:r>
          </a:p>
          <a:p>
            <a:r>
              <a:t>CNPJ 54634742000106 · Remuneração · Spread final sênior/mezanino não localizado; ato recente é emissão júnior · Fundos.NET ID 1005796 | 30/09/2025 | emissao | p. 1–4; Ato emissão | data/raw/54634742000106/1005796_emissao_review_20261007.pdf | https://fnet.bmfbovespa.com.br/fnet/publico/visualizarDocumento?id=1005796 · Observação: Regra da versão indicada; resumo sujeito às condições completas da cláusula. IME agregado não comprova elegibilidade individual.</a:t>
            </a:r>
          </a:p>
          <a:p>
            <a:r>
              <a:t>CNPJ 59602002000101 · Remuneração · Sobretaxa definida nos suplementos; spread final não localizado · Fundos.NET ID 1181571 | 27/04/2026 | regulamento | p. 63–64; 11.2.1; 11.3.1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Remuneração · Spread final não localizado nas cláusulas revisadas; requer suplemento ou ato específico · data/raw/63168433000170/1023249_regulamento.pdf | Fundos.NET ID 1023249 | 29/10/2025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Remuneração · Spread final não localizado nas cláusulas revisadas; requer suplemento ou ato específico · data/raw/65327006000113/1323417_regulamento.pdf | Fundos.NET ID 1323417 | 16/09/2026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Remuneração · Sênior CDI + 3, 50% a.a.; mezanino CDI + 4, 10% a.a.; júnior residual · Fundos.NET ID 1214038; referência 08/06/2026; data/raw/41114564000132/1214038_documentary_review.txt; Anexo,4;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Volume/VNU · 2ª emissão histórica até R$ 40 mi; VNU inicial geral R$ 1 mil · Fundos.NET ID 706710; referência 30/01/2024; data/raw/51326028000154/706710_documentary_review.txt; Elementos Essenciais, p1; https://fnet.bmfbovespa.com.br/fnet/publico/exibirDocumento?id=706710&amp;cvm=true · Observação: Conclusão limitada à versão citada; inventário completo não equivale a leitura integral de todos os documentos.</a:t>
            </a:r>
          </a:p>
          <a:p>
            <a:r>
              <a:t>CNPJ 54634742000106 · Volume/VNU · Ato 30/09/2025: júnior R$ 3 mi; preço unitário=cota do dia da integralização · Fundos.NET ID 1005796 | 30/09/2025 | emissao | p. 3; Suplemento | data/raw/54634742000106/1005796_emissao_review_20261007.pdf | https://fnet.bmfbovespa.com.br/fnet/publico/visualizarDocumento?id=1005796 · Observação: Regra da versão indicada; resumo sujeito às condições completas da cláusula. IME agregado não comprova elegibilidade individual.</a:t>
            </a:r>
          </a:p>
          <a:p>
            <a:r>
              <a:t>CNPJ 59602002000101 · Volume/VNU · Anúncio: sênior R$ 39 mi vs 40 mil cotas e quadro 38.752; mezanino R$ 7,472 mi vs 7.500 e quadro 7.469; reconciliar · Fundos.NET ID 1144081 | 20/03/2026 | emissao | p. 1–4; Anúncios encerramento | data/raw/59602002000101/1144081_emissao_review_20261007.pdf | https://fnet.bmfbovespa.com.br/fnet/publico/visualizarDocumento?id=1144081 · Observação: Valores literais divergentes; VNU declarado R$ 1 mil. Não inferir distribuído pela multiplicação.</a:t>
            </a:r>
          </a:p>
          <a:p>
            <a:r>
              <a:t>CNPJ 63168433000170 · Volume/VNU · R$ 300 milhões no encerramento;240/24/21/7,5/7,5 mi · data/raw/63168433000170/1051828_emissao.pdf | Fundos.NET ID 1051828 | 01/12/2025 | emissao | p. 1-2 · Observação: Cláusula documental; confirmar versão aplicável e instrumento específico antes de ativar controle.</a:t>
            </a:r>
          </a:p>
          <a:p>
            <a:r>
              <a:t>CNPJ 65327006000113 · Volume/VNU · Até R$ 500 milhões ofertados;400/50/25/25 mi · data/raw/65327006000113/1305384_emissao.pdf | Fundos.NET ID 1305384 | 31/08/2026 | emissao | p. 1-2 · Observação: Cláusula documental; confirmar versão aplicável e instrumento específico antes de ativar controle.</a:t>
            </a:r>
          </a:p>
          <a:p>
            <a:r>
              <a:t>CNPJ 41114564000132 · Volume/VNU · VNU inicial R$ 5 mil; volumes por emissão não localizados · Fundos.NET ID 1214038; referência 08/06/2026; data/raw/41114564000132/1214038_documentary_review.txt; Anexo,4;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Ofertas · 2ª emissão histórica conforme lâmina de 30/01/2024; fechamento não confirmado · Fundos.NET ID 706710; referência 30/01/2024; data/raw/51326028000154/706710_documentary_review.txt; Cabeçalho e Elementos Essenciais, p1; https://fnet.bmfbovespa.com.br/fnet/publico/exibirDocumento?id=706710&amp;cvm=true · Observação: Conclusão limitada à versão citada; inventário completo não equivale a leitura integral de todos os documentos.</a:t>
            </a:r>
          </a:p>
          <a:p>
            <a:r>
              <a:t>CNPJ 54634742000106 · Ofertas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Ofertas · Registro 19/09/2025; anúncios encerramento 20/03/2026; identidade/quantidade com divergências · Fundos.NET ID 1144081 | 20/03/2026 | emissao | p. 1–4; Registros1531/1532 | data/raw/59602002000101/1144081_emissao_review_20261007.pdf | https://fnet.bmfbovespa.com.br/fnet/publico/visualizarDocumento?id=1144081 · Observação: Regra da versão indicada; resumo sujeito às condições completas da cláusula. IME agregado não comprova elegibilidade individual.</a:t>
            </a:r>
          </a:p>
          <a:p>
            <a:r>
              <a:t>CNPJ 63168433000170 · Ofertas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Ofertas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Ofertas · Ata altera reserva, cessão, índice de reajuste e referência de subordinação júnior · Fundos.NET ID 1214036; referência 05/05/2026 16:00; data/raw/41114564000132/1214036_documentary_review.txt; Deliberações, p2; https://fnet.bmfbovespa.com.br/fnet/publico/exibirDocumento?id=1214036&amp;cvm=true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2026-10-07T16:50:54-03:00</a:t>
            </a:r>
          </a:p>
          <a:p>
            <a:r>
              <a:t>Larca Consignado: CNPJ 51326028000154</a:t>
            </a:r>
          </a:p>
          <a:p>
            <a:r>
              <a:t>LARCA CONSIGNADO II: CNPJ 54634742000106</a:t>
            </a:r>
          </a:p>
          <a:p>
            <a:r>
              <a:t>LARCA CONSIGNADO III: CNPJ 59602002000101</a:t>
            </a:r>
          </a:p>
          <a:p>
            <a:r>
              <a:t>Larca Aurora: CNPJ 63168433000170</a:t>
            </a:r>
          </a:p>
          <a:p>
            <a:r>
              <a:t>Larca V: CNPJ 65327006000113</a:t>
            </a:r>
          </a:p>
          <a:p>
            <a:r>
              <a:t>Larca Multiplica Capital: CNPJ 41114564000132</a:t>
            </a:r>
          </a:p>
          <a:p>
            <a:r>
              <a:t>Fontes:</a:t>
            </a:r>
          </a:p>
          <a:p>
            <a:r>
              <a:t>CNPJ 51326028000154 · Carência · Prazo por suplemento; calendário fechado não identificado · Fundos.NET ID 1219005; referência 09/06/2026; data/raw/51326028000154/1219005_documentary_review.txt; Anexo,11–13;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Carência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Carência · Prazos de carência remetidos aos suplementos; cronograma fechado não identificado · Fundos.NET ID 1181571 | 27/04/2026 | regulamento | p. 70; 13.2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Carência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Carência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Carência · Não localizado nas fontes acessíveis desta leitura · Fundos.NET ID 1214038; referência 08/06/2026; data/raw/41114564000132/1214038_documentary_review.txt; Inventário das fontes consultadas; https://fnet.bmfbovespa.com.br/fnet/publico/exibirDocumento?id=1214038&amp;cvm=true; Fundos.NET ID 1214036; referência 05/05/2026 16:00; data/raw/41114564000132/1214036_documentary_review.txt; Inventário das fontes consultadas; https://fnet.bmfbovespa.com.br/fnet/publico/exibirDocumento?id=1214036&amp;cvm=true · Observação: Lacuna desta revisão; ausência de extração não representa inexistência de regra contratual. Obter cláusula/anexo/suplemento antes de ativar controle.</a:t>
            </a:r>
          </a:p>
          <a:p>
            <a:r>
              <a:t>CNPJ 51326028000154 · Juros/amortização · Não localizado nas fontes acessíveis desta leitura · Fundos.NET ID 1219005; referência 09/06/2026; data/raw/51326028000154/1219005_documentary_review.txt; Inventário das fontes consultadas; https://fnet.bmfbovespa.com.br/fnet/publico/exibirDocumento?id=1219005&amp;cvm=true; Fundos.NET ID 706710; referência 30/01/2024; data/raw/51326028000154/706710_documentary_review.txt; Inventário das fontes consultadas; https://fnet.bmfbovespa.com.br/fnet/publico/exibirDocumento?id=706710&amp;cvm=true · Observação: Lacuna desta revisão; ausência de extração não representa inexistência de regra contratual. Obter cláusula/anexo/suplemento antes de ativar controle.</a:t>
            </a:r>
          </a:p>
          <a:p>
            <a:r>
              <a:t>CNPJ 54634742000106 · Juros/amortização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Juros/amortização · Ordinárias dias 8/20; extraordinária proporcional mensal no 3º DU após solicitação, conforme caixa · Fundos.NET ID 1181571 | 27/04/2026 | regulamento | p. 69; 13.1–13.1.1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Juros/amortização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Juros/amortização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Juros/amortização · Não localizado nas fontes acessíveis desta leitura · Fundos.NET ID 1214038; referência 08/06/2026; data/raw/41114564000132/1214038_documentary_review.txt; Inventário das fontes consultadas; https://fnet.bmfbovespa.com.br/fnet/publico/exibirDocumento?id=1214038&amp;cvm=true; Fundos.NET ID 1214036; referência 05/05/2026 16:00; data/raw/41114564000132/1214036_documentary_review.txt; Inventário das fontes consultadas; https://fnet.bmfbovespa.com.br/fnet/publico/exibirDocumento?id=1214036&amp;cvm=true · Observação: Lacuna desta revisão; ausência de extração não representa inexistência de regra contratual. Obter cláusula/anexo/suplemento antes de ativar controle.</a:t>
            </a:r>
          </a:p>
          <a:p>
            <a:r>
              <a:t>CNPJ 51326028000154 · Vencimento · Prazo da série por suplemento; fundo indeterminado · Fundos.NET ID 1219005; referência 09/06/2026; data/raw/51326028000154/1219005_documentary_review.txt; Anexo,2.1 e11;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Vencimento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Vencimento · Não localizado nas fontes acessíveis desta leitura · data/raw/59602002000101/access_status_20261007.txt | Consulta Fundos.NET por CNPJ 59602002000101 em 07/10/2026; inventário completo com 51 registros · Observação: Lacuna na revisão dirigida; obter cláusula específica antes de concluir ausência ou enquadramento.</a:t>
            </a:r>
          </a:p>
          <a:p>
            <a:r>
              <a:t>CNPJ 63168433000170 · Vencimento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Vencimento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Vencimento · Prazo/data final por emissão não localizados · Fundos.NET ID 1214038; referência 08/06/2026; data/raw/41114564000132/1214038_documentary_review.txt; Anexo,4 e Apêndices; https://fnet.bmfbovespa.com.br/fnet/publico/exibirDocumento?id=1214038&amp;cvm=true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2026-10-07T16:50:54-03:00</a:t>
            </a:r>
          </a:p>
          <a:p>
            <a:r>
              <a:t>Larca Consignado: CNPJ 51326028000154</a:t>
            </a:r>
          </a:p>
          <a:p>
            <a:r>
              <a:t>LARCA CONSIGNADO II: CNPJ 54634742000106</a:t>
            </a:r>
          </a:p>
          <a:p>
            <a:r>
              <a:t>LARCA CONSIGNADO III: CNPJ 59602002000101</a:t>
            </a:r>
          </a:p>
          <a:p>
            <a:r>
              <a:t>Larca Aurora: CNPJ 63168433000170</a:t>
            </a:r>
          </a:p>
          <a:p>
            <a:r>
              <a:t>Larca V: CNPJ 65327006000113</a:t>
            </a:r>
          </a:p>
          <a:p>
            <a:r>
              <a:t>Larca Multiplica Capital: CNPJ 41114564000132</a:t>
            </a:r>
          </a:p>
          <a:p>
            <a:r>
              <a:t>Fontes:</a:t>
            </a:r>
          </a:p>
          <a:p>
            <a:r>
              <a:t>CNPJ 51326028000154 · Carência · Prazo por suplemento; calendário fechado não identificado · Fundos.NET ID 1219005; referência 09/06/2026; data/raw/51326028000154/1219005_documentary_review.txt; Anexo,11–13;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Carência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Carência · Prazos de carência remetidos aos suplementos; cronograma fechado não identificado · Fundos.NET ID 1181571 | 27/04/2026 | regulamento | p. 70; 13.2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Carência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Carência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Carência · Não localizado nas fontes acessíveis desta leitura · Fundos.NET ID 1214038; referência 08/06/2026; data/raw/41114564000132/1214038_documentary_review.txt; Inventário das fontes consultadas; https://fnet.bmfbovespa.com.br/fnet/publico/exibirDocumento?id=1214038&amp;cvm=true; Fundos.NET ID 1214036; referência 05/05/2026 16:00; data/raw/41114564000132/1214036_documentary_review.txt; Inventário das fontes consultadas; https://fnet.bmfbovespa.com.br/fnet/publico/exibirDocumento?id=1214036&amp;cvm=true · Observação: Lacuna desta revisão; ausência de extração não representa inexistência de regra contratual. Obter cláusula/anexo/suplemento antes de ativar controle.</a:t>
            </a:r>
          </a:p>
          <a:p>
            <a:r>
              <a:t>CNPJ 51326028000154 · Juros/amortização · Não localizado nas fontes acessíveis desta leitura · Fundos.NET ID 1219005; referência 09/06/2026; data/raw/51326028000154/1219005_documentary_review.txt; Inventário das fontes consultadas; https://fnet.bmfbovespa.com.br/fnet/publico/exibirDocumento?id=1219005&amp;cvm=true; Fundos.NET ID 706710; referência 30/01/2024; data/raw/51326028000154/706710_documentary_review.txt; Inventário das fontes consultadas; https://fnet.bmfbovespa.com.br/fnet/publico/exibirDocumento?id=706710&amp;cvm=true · Observação: Lacuna desta revisão; ausência de extração não representa inexistência de regra contratual. Obter cláusula/anexo/suplemento antes de ativar controle.</a:t>
            </a:r>
          </a:p>
          <a:p>
            <a:r>
              <a:t>CNPJ 54634742000106 · Juros/amortização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Juros/amortização · Ordinárias dias 8/20; extraordinária proporcional mensal no 3º DU após solicitação, conforme caixa · Fundos.NET ID 1181571 | 27/04/2026 | regulamento | p. 69; 13.1–13.1.1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Juros/amortização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Juros/amortização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Juros/amortização · Não localizado nas fontes acessíveis desta leitura · Fundos.NET ID 1214038; referência 08/06/2026; data/raw/41114564000132/1214038_documentary_review.txt; Inventário das fontes consultadas; https://fnet.bmfbovespa.com.br/fnet/publico/exibirDocumento?id=1214038&amp;cvm=true; Fundos.NET ID 1214036; referência 05/05/2026 16:00; data/raw/41114564000132/1214036_documentary_review.txt; Inventário das fontes consultadas; https://fnet.bmfbovespa.com.br/fnet/publico/exibirDocumento?id=1214036&amp;cvm=true · Observação: Lacuna desta revisão; ausência de extração não representa inexistência de regra contratual. Obter cláusula/anexo/suplemento antes de ativar controle.</a:t>
            </a:r>
          </a:p>
          <a:p>
            <a:r>
              <a:t>CNPJ 51326028000154 · Vencimento · Prazo da série por suplemento; fundo indeterminado · Fundos.NET ID 1219005; referência 09/06/2026; data/raw/51326028000154/1219005_documentary_review.txt; Anexo,2.1 e11;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Vencimento · Não localizado nas fontes acessíveis desta leitura · data/raw/54634742000106/access_status_20261007.txt | Consulta Fundos.NET por CNPJ 54634742000106 em 07/10/2026; inventário completo com 79 registros · Observação: Lacuna na revisão dirigida; obter cláusula específica antes de concluir ausência ou enquadramento.</a:t>
            </a:r>
          </a:p>
          <a:p>
            <a:r>
              <a:t>CNPJ 59602002000101 · Vencimento · Não localizado nas fontes acessíveis desta leitura · data/raw/59602002000101/access_status_20261007.txt | Consulta Fundos.NET por CNPJ 59602002000101 em 07/10/2026; inventário completo com 51 registros · Observação: Lacuna na revisão dirigida; obter cláusula específica antes de concluir ausência ou enquadramento.</a:t>
            </a:r>
          </a:p>
          <a:p>
            <a:r>
              <a:t>CNPJ 63168433000170 · Vencimento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Vencimento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Vencimento · Prazo/data final por emissão não localizados · Fundos.NET ID 1214038; referência 08/06/2026; data/raw/41114564000132/1214038_documentary_review.txt; Anexo,4 e Apêndices; https://fnet.bmfbovespa.com.br/fnet/publico/exibirDocumento?id=1214038&amp;cvm=true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2026-10-07T16:50:54-03:00</a:t>
            </a:r>
          </a:p>
          <a:p>
            <a:r>
              <a:t>Larca Consignado: CNPJ 51326028000154</a:t>
            </a:r>
          </a:p>
          <a:p>
            <a:r>
              <a:t>LARCA CONSIGNADO II: CNPJ 54634742000106</a:t>
            </a:r>
          </a:p>
          <a:p>
            <a:r>
              <a:t>LARCA CONSIGNADO III: CNPJ 59602002000101</a:t>
            </a:r>
          </a:p>
          <a:p>
            <a:r>
              <a:t>Larca Aurora: CNPJ 63168433000170</a:t>
            </a:r>
          </a:p>
          <a:p>
            <a:r>
              <a:t>Larca V: CNPJ 65327006000113</a:t>
            </a:r>
          </a:p>
          <a:p>
            <a:r>
              <a:t>Larca Multiplica Capital: CNPJ 41114564000132</a:t>
            </a:r>
          </a:p>
          <a:p>
            <a:r>
              <a:t>Fontes:</a:t>
            </a:r>
          </a:p>
          <a:p>
            <a:r>
              <a:t>CNPJ 51326028000154 · Administração · 0, 25% a.a./PL; mínimo R$ 20 mil/mês; IGP-M; inclui controladoria/escrituração · Fundos.NET ID 1219005; referência 09/06/2026; data/raw/51326028000154/1219005_documentary_review.txt; Anexo,5.1 e5.5, pp44–45;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Administração · 0,15% a.a. PL; mínimo R$ 12 mil primeiros 6 meses e R$ 17 mil após · Fundos.NET ID 1316627 | 11/09/2026 | regulamento | p. 42; 5.1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Administração · 0,275% a.a. do PL; mínimo R$ 27,5 mil/mês; desconto 30% no piso por 3 meses; IGP-M · Fundos.NET ID 1181571 | 27/04/2026 | regulamento | p. 38–39; 5.1; 5.1.1; 5.10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Administração · 0,15% a.a. PL; mínimo R$ 12,5 mil/mês; inclui controladoria/escrituração · data/raw/63168433000170/1023249_regulamento.pdf | Fundos.NET ID 1023249 | 29/10/2025 | regulamento | p. 137 · Observação: Regra da versão citada; contratos e séries exigem seus instrumentos próprios.</a:t>
            </a:r>
          </a:p>
          <a:p>
            <a:r>
              <a:t>CNPJ 65327006000113 · Administração · 0,15% a.a. PL; mínimo R$ 12,5 mil/mês; inclui controladoria/escrituração · data/raw/65327006000113/1323417_regulamento.pdf | Fundos.NET ID 1323417 | 16/09/2026 | regulamento | p. 125 · Observação: Regra da versão citada; contratos e séries exigem seus instrumentos próprios.</a:t>
            </a:r>
          </a:p>
          <a:p>
            <a:r>
              <a:t>CNPJ 41114564000132 · Administração · 0, 25% a.a. até R$ 500 mi; 0, 23% sobre excedente; mínimo R$ 25 mil/mês; IPCA · Fundos.NET ID 1214038; referência 08/06/2026; data/raw/41114564000132/1214038_documentary_review.txt; Anexo,6.1;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Gestão · 0, 80% a.a. se Selic&gt; 12, 25%; 1, 30% se Selic≤ 12, 25%; mínimo R$ 15 mil/mês · Fundos.NET ID 1219005; referência 09/06/2026; data/raw/51326028000154/1219005_documentary_review.txt; Anexo,5.2, p45; https://fnet.bmfbovespa.com.br/fnet/publico/exibirDocumento?id=1219005&amp;cvm=true · Observação: Mudança no 1º dia útil do mês seguinte à decisão Copom; não aplicada taxa Selic presumida.</a:t>
            </a:r>
          </a:p>
          <a:p>
            <a:r>
              <a:t>CNPJ 54634742000106 · Gestão · Selic&gt;12,25%:0,50% a.a.PL; Selic≤12,25%:1,30%; mínimo R$ 15 mil/mês · Fundos.NET ID 1316627 | 11/09/2026 | regulamento | p. 42; 5.2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Gestão · 0,50% a.a. do PL; mínimo R$ 15 mil/mês; IGP-M · Fundos.NET ID 1181571 | 27/04/2026 | regulamento | p. 39; 5.7; 5.10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Gestão · 0,15% a.a. PL; mínimo R$ 12,5 mil/mês; lastro R$ 0,36 por crédito adicional · data/raw/63168433000170/1023249_regulamento.pdf | Fundos.NET ID 1023249 | 29/10/2025 | regulamento | p. 137 · Observação: Regra da versão citada; contratos e séries exigem seus instrumentos próprios.</a:t>
            </a:r>
          </a:p>
          <a:p>
            <a:r>
              <a:t>CNPJ 65327006000113 · Gestão · 0,50% a.a. PL; mínimo R$ 20 mil/mês; servicing adicional não incluído · data/raw/65327006000113/1323417_regulamento.pdf | Fundos.NET ID 1323417 | 16/09/2026 | regulamento | p. 126,128 · Observação: Regra da versão citada; contratos e séries exigem seus instrumentos próprios.</a:t>
            </a:r>
          </a:p>
          <a:p>
            <a:r>
              <a:t>CNPJ 41114564000132 · Gestão · 0, 70% a.a./PL; mínimo R$ 12 mil/mês · Fundos.NET ID 1214038; referência 08/06/2026; data/raw/41114564000132/1214038_documentary_review.txt; Anexo,6.2;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Custódia · 0, 05% a.a./PL; mínimo R$ 5 mil/mês · Fundos.NET ID 1219005; referência 09/06/2026; data/raw/51326028000154/1219005_documentary_review.txt; Anexo,5.11, p46;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Custódia · 0,05% a.a. PL; mínimo R$ 3 mil/mês · Fundos.NET ID 1316627 | 11/09/2026 | regulamento | p. 44; 5.11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Custódia · Incluída na administração; escrituração R$ 2 mil/mês +R$ 7 mil inicial; lastro R$ 5 mil/trimestre · Fundos.NET ID 1181571 | 27/04/2026 | regulamento | p. 38; 5.1–5.4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Custódia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Custódia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Custódia · Incluída na taxa de administração · Fundos.NET ID 1214038; referência 08/06/2026; data/raw/41114564000132/1214038_documentary_review.txt; Anexo,6.5;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Consultoria especializada · Não localizado nas fontes acessíveis desta leitura · ID 1219005 · 09/06/2026 · data/raw/51326028000154/1219005_documentary_review.pdf; ID 706710 · 30/01/2024 · data/raw/51326028000154/706710_documentary_review.pdf · Observação: Revisão dirigida das fontes identificadas abaixo por CNPJ, incluindo regras e atos materiais localizados. Não se afirma leitura integral de cada registro inventariado.</a:t>
            </a:r>
          </a:p>
          <a:p>
            <a:r>
              <a:t>CNPJ 54634742000106 · Consultoria especializada · Não localizado nas fontes acessíveis desta leitura · ID 1316627 · 11/09/2026 · data/raw/54634742000106/1316627_regulamento_review_20261007.pdf; ID 1142255 · 19/03/2026 · data/raw/54634742000106/1142255_regulamento_review_20261007.pdf; ID 1005796 · 30/09/2025 · data/raw/54634742000106/1005796_emissao_review_20261007.pdf · Observação: Revisão dirigida das cláusulas materiais dos documentos acessíveis; texto integral extraído quando disponível. Não corresponde à leitura integral de todos os registros do inventário. Regulamento 11/09/2026 acessível; assembleia correspondente retornou HTTP 520. Mudanças e seus efeitos devem ser confrontados com a ata quando o acesso for restabelecido. O nome da carteira não fixa a vigência documental; cada fonte mantém sua própria data. Não foi carregada nova competência IME.</a:t>
            </a:r>
          </a:p>
          <a:p>
            <a:r>
              <a:t>CNPJ 59602002000101 · Consultoria especializada · Não localizado nas fontes acessíveis desta leitura · ID 1181571 · 27/04/2026 · data/raw/59602002000101/1181571_regulamento_review_20261007.pdf; ID 1181567 · 27/04/2026 10:00 · data/raw/59602002000101/1181567_assembleia_review_20261007.pdf; ID 1144081 · 20/03/2026 · data/raw/59602002000101/1144081_emissao_review_20261007.pdf; ID 1044672 · 17/11/2025 · data/raw/59602002000101/1044672_regulamento_review_20261007.pdf · Observação: Revisão dirigida das cláusulas materiais dos documentos acessíveis; texto integral extraído quando disponível. Não corresponde à leitura integral de todos os registros do inventário. Regime transitório altera materialmente a leitura de revolvência/gatilhos. Anúncio ID 1144081 contém identificação e valores divergentes que exigem reconciliação. O nome da carteira não fixa a vigência documental; cada fonte mantém sua própria data. Não foi carregada nova competência IME.</a:t>
            </a:r>
          </a:p>
          <a:p>
            <a:r>
              <a:t>CNPJ 63168433000170 · Consultoria especializada · Não localizado nas fontes acessíveis desta leitura · ID 1023249 · 29/10/2025 · data/raw/63168433000170/1023249_regulamento.pdf; ID 1051828 · 01/12/2025 · data/raw/63168433000170/1051828_emissao.pdf · Observação: Leitura dirigida de cláusulas materiais dos textos integrais extraídos dos PDFs selecionados. Inventário integral de registros quando acessível; documentos não selecionados ou não revisados permanecem disponíveis para auditoria e não foram integralmente lidos.</a:t>
            </a:r>
          </a:p>
          <a:p>
            <a:r>
              <a:t>CNPJ 65327006000113 · Consultoria especializada · Não localizado nas fontes acessíveis desta leitura · ID 1323417 · 16/09/2026 · data/raw/65327006000113/1323417_regulamento.pdf; ID 1305384 · 31/08/2026 · data/raw/65327006000113/1305384_emissao.pdf · Observação: Leitura dirigida de cláusulas materiais dos textos integrais extraídos dos PDFs selecionados. Inventário integral de registros quando acessível; documentos não selecionados ou não revisados permanecem disponíveis para auditoria e não foram integralmente lidos.</a:t>
            </a:r>
          </a:p>
          <a:p>
            <a:r>
              <a:t>CNPJ 41114564000132 · Consultoria especializada · Mínimo R$ 300.100/mês +0, 35% do nominal operado no mês, excluídas renegociações; teto R$ 600.100/mês · Fundos.NET ID 1214038; referência 08/06/2026; data/raw/41114564000132/1214038_documentary_review.txt; Anexo,6.3 · Observação: Custo adicional ao pacote principal; base/periodicidade contratual preservadas. Validar versão e encargos tributários.</a:t>
            </a:r>
          </a:p>
          <a:p>
            <a:r>
              <a:t>CNPJ 51326028000154 · Agente de cobrança · Não localizado nas fontes acessíveis desta leitura · ID 1219005 · 09/06/2026 · data/raw/51326028000154/1219005_documentary_review.pdf; ID 706710 · 30/01/2024 · data/raw/51326028000154/706710_documentary_review.pdf · Observação: Revisão dirigida das fontes identificadas abaixo por CNPJ, incluindo regras e atos materiais localizados. Não se afirma leitura integral de cada registro inventariado.</a:t>
            </a:r>
          </a:p>
          <a:p>
            <a:r>
              <a:t>CNPJ 54634742000106 · Agente de cobrança · Não localizado nas fontes acessíveis desta leitura · ID 1316627 · 11/09/2026 · data/raw/54634742000106/1316627_regulamento_review_20261007.pdf; ID 1142255 · 19/03/2026 · data/raw/54634742000106/1142255_regulamento_review_20261007.pdf; ID 1005796 · 30/09/2025 · data/raw/54634742000106/1005796_emissao_review_20261007.pdf · Observação: Revisão dirigida das cláusulas materiais dos documentos acessíveis; texto integral extraído quando disponível. Não corresponde à leitura integral de todos os registros do inventário. Regulamento 11/09/2026 acessível; assembleia correspondente retornou HTTP 520. Mudanças e seus efeitos devem ser confrontados com a ata quando o acesso for restabelecido. O nome da carteira não fixa a vigência documental; cada fonte mantém sua própria data. Não foi carregada nova competência IME.</a:t>
            </a:r>
          </a:p>
          <a:p>
            <a:r>
              <a:t>CNPJ 59602002000101 · Agente de cobrança · Não localizado nas fontes acessíveis desta leitura · ID 1181571 · 27/04/2026 · data/raw/59602002000101/1181571_regulamento_review_20261007.pdf; ID 1181567 · 27/04/2026 10:00 · data/raw/59602002000101/1181567_assembleia_review_20261007.pdf; ID 1144081 · 20/03/2026 · data/raw/59602002000101/1144081_emissao_review_20261007.pdf; ID 1044672 · 17/11/2025 · data/raw/59602002000101/1044672_regulamento_review_20261007.pdf · Observação: Revisão dirigida das cláusulas materiais dos documentos acessíveis; texto integral extraído quando disponível. Não corresponde à leitura integral de todos os registros do inventário. Regime transitório altera materialmente a leitura de revolvência/gatilhos. Anúncio ID 1144081 contém identificação e valores divergentes que exigem reconciliação. O nome da carteira não fixa a vigência documental; cada fonte mantém sua própria data. Não foi carregada nova competência IME.</a:t>
            </a:r>
          </a:p>
          <a:p>
            <a:r>
              <a:t>CNPJ 63168433000170 · Agente de cobrança · Não localizado nas fontes acessíveis desta leitura · ID 1023249 · 29/10/2025 · data/raw/63168433000170/1023249_regulamento.pdf; ID 1051828 · 01/12/2025 · data/raw/63168433000170/1051828_emissao.pdf · Observação: Leitura dirigida de cláusulas materiais dos textos integrais extraídos dos PDFs selecionados. Inventário integral de registros quando acessível; documentos não selecionados ou não revisados permanecem disponíveis para auditoria e não foram integralmente lidos.</a:t>
            </a:r>
          </a:p>
          <a:p>
            <a:r>
              <a:t>CNPJ 65327006000113 · Agente de cobrança · Não localizado nas fontes acessíveis desta leitura · ID 1323417 · 16/09/2026 · data/raw/65327006000113/1323417_regulamento.pdf; ID 1305384 · 31/08/2026 · data/raw/65327006000113/1305384_emissao.pdf · Observação: Leitura dirigida de cláusulas materiais dos textos integrais extraídos dos PDFs selecionados. Inventário integral de registros quando acessível; documentos não selecionados ou não revisados permanecem disponíveis para auditoria e não foram integralmente lidos.</a:t>
            </a:r>
          </a:p>
          <a:p>
            <a:r>
              <a:t>CNPJ 41114564000132 · Agente de cobrança · R$ 400.100/mês · Fundos.NET ID 1214038; referência 08/06/2026; data/raw/41114564000132/1214038_documentary_review.txt; Anexo,6.4 · Observação: Custo adicional ao pacote principal; base/periodicidade contratual preservadas. Validar versão e encargos tributários.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2026-10-07T16:50:54-03:00</a:t>
            </a:r>
          </a:p>
          <a:p>
            <a:r>
              <a:t>Larca Consignado: CNPJ 51326028000154</a:t>
            </a:r>
          </a:p>
          <a:p>
            <a:r>
              <a:t>LARCA CONSIGNADO II: CNPJ 54634742000106</a:t>
            </a:r>
          </a:p>
          <a:p>
            <a:r>
              <a:t>LARCA CONSIGNADO III: CNPJ 59602002000101</a:t>
            </a:r>
          </a:p>
          <a:p>
            <a:r>
              <a:t>Larca Aurora: CNPJ 63168433000170</a:t>
            </a:r>
          </a:p>
          <a:p>
            <a:r>
              <a:t>Larca V: CNPJ 65327006000113</a:t>
            </a:r>
          </a:p>
          <a:p>
            <a:r>
              <a:t>Larca Multiplica Capital: CNPJ 41114564000132</a:t>
            </a:r>
          </a:p>
          <a:p>
            <a:r>
              <a:t>Fontes:</a:t>
            </a:r>
          </a:p>
          <a:p>
            <a:r>
              <a:t>CNPJ 51326028000154 · Administração · 0, 25% a.a./PL; mínimo R$ 20 mil/mês; IGP-M; inclui controladoria/escrituração · Fundos.NET ID 1219005; referência 09/06/2026; data/raw/51326028000154/1219005_documentary_review.txt; Anexo,5.1 e5.5, pp44–45;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Administração · 0,15% a.a. PL; mínimo R$ 12 mil primeiros 6 meses e R$ 17 mil após · Fundos.NET ID 1316627 | 11/09/2026 | regulamento | p. 42; 5.1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Administração · 0,275% a.a. do PL; mínimo R$ 27,5 mil/mês; desconto 30% no piso por 3 meses; IGP-M · Fundos.NET ID 1181571 | 27/04/2026 | regulamento | p. 38–39; 5.1; 5.1.1; 5.10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Administração · 0,15% a.a. PL; mínimo R$ 12,5 mil/mês; inclui controladoria/escrituração · data/raw/63168433000170/1023249_regulamento.pdf | Fundos.NET ID 1023249 | 29/10/2025 | regulamento | p. 137 · Observação: Regra da versão citada; contratos e séries exigem seus instrumentos próprios.</a:t>
            </a:r>
          </a:p>
          <a:p>
            <a:r>
              <a:t>CNPJ 65327006000113 · Administração · 0,15% a.a. PL; mínimo R$ 12,5 mil/mês; inclui controladoria/escrituração · data/raw/65327006000113/1323417_regulamento.pdf | Fundos.NET ID 1323417 | 16/09/2026 | regulamento | p. 125 · Observação: Regra da versão citada; contratos e séries exigem seus instrumentos próprios.</a:t>
            </a:r>
          </a:p>
          <a:p>
            <a:r>
              <a:t>CNPJ 41114564000132 · Administração · 0, 25% a.a. até R$ 500 mi; 0, 23% sobre excedente; mínimo R$ 25 mil/mês; IPCA · Fundos.NET ID 1214038; referência 08/06/2026; data/raw/41114564000132/1214038_documentary_review.txt; Anexo,6.1;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Gestão · 0, 80% a.a. se Selic&gt; 12, 25%; 1, 30% se Selic≤ 12, 25%; mínimo R$ 15 mil/mês · Fundos.NET ID 1219005; referência 09/06/2026; data/raw/51326028000154/1219005_documentary_review.txt; Anexo,5.2, p45; https://fnet.bmfbovespa.com.br/fnet/publico/exibirDocumento?id=1219005&amp;cvm=true · Observação: Mudança no 1º dia útil do mês seguinte à decisão Copom; não aplicada taxa Selic presumida.</a:t>
            </a:r>
          </a:p>
          <a:p>
            <a:r>
              <a:t>CNPJ 54634742000106 · Gestão · Selic&gt;12,25%:0,50% a.a.PL; Selic≤12,25%:1,30%; mínimo R$ 15 mil/mês · Fundos.NET ID 1316627 | 11/09/2026 | regulamento | p. 42; 5.2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Gestão · 0,50% a.a. do PL; mínimo R$ 15 mil/mês; IGP-M · Fundos.NET ID 1181571 | 27/04/2026 | regulamento | p. 39; 5.7; 5.10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Gestão · 0,15% a.a. PL; mínimo R$ 12,5 mil/mês; lastro R$ 0,36 por crédito adicional · data/raw/63168433000170/1023249_regulamento.pdf | Fundos.NET ID 1023249 | 29/10/2025 | regulamento | p. 137 · Observação: Regra da versão citada; contratos e séries exigem seus instrumentos próprios.</a:t>
            </a:r>
          </a:p>
          <a:p>
            <a:r>
              <a:t>CNPJ 65327006000113 · Gestão · 0,50% a.a. PL; mínimo R$ 20 mil/mês; servicing adicional não incluído · data/raw/65327006000113/1323417_regulamento.pdf | Fundos.NET ID 1323417 | 16/09/2026 | regulamento | p. 126,128 · Observação: Regra da versão citada; contratos e séries exigem seus instrumentos próprios.</a:t>
            </a:r>
          </a:p>
          <a:p>
            <a:r>
              <a:t>CNPJ 41114564000132 · Gestão · 0, 70% a.a./PL; mínimo R$ 12 mil/mês · Fundos.NET ID 1214038; referência 08/06/2026; data/raw/41114564000132/1214038_documentary_review.txt; Anexo,6.2;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Custódia · 0, 05% a.a./PL; mínimo R$ 5 mil/mês · Fundos.NET ID 1219005; referência 09/06/2026; data/raw/51326028000154/1219005_documentary_review.txt; Anexo,5.11, p46; https://fnet.bmfbovespa.com.br/fnet/publico/exibirDocumento?id=1219005&amp;cvm=true · Observação: Conclusão limitada à versão citada; inventário completo não equivale a leitura integral de todos os documentos.</a:t>
            </a:r>
          </a:p>
          <a:p>
            <a:r>
              <a:t>CNPJ 54634742000106 · Custódia · 0,05% a.a. PL; mínimo R$ 3 mil/mês · Fundos.NET ID 1316627 | 11/09/2026 | regulamento | p. 44; 5.11 | data/raw/54634742000106/1316627_regulamento_review_20261007.pdf | https://fnet.bmfbovespa.com.br/fnet/publico/visualizarDocumento?id=1316627 · Observação: Regra da versão indicada; resumo sujeito às condições completas da cláusula. IME agregado não comprova elegibilidade individual.</a:t>
            </a:r>
          </a:p>
          <a:p>
            <a:r>
              <a:t>CNPJ 59602002000101 · Custódia · Incluída na administração; escrituração R$ 2 mil/mês +R$ 7 mil inicial; lastro R$ 5 mil/trimestre · Fundos.NET ID 1181571 | 27/04/2026 | regulamento | p. 38; 5.1–5.4 | data/raw/59602002000101/1181571_regulamento_review_20261007.pdf | https://fnet.bmfbovespa.com.br/fnet/publico/visualizarDocumento?id=1181571 · Observação: Regra da versão indicada; resumo sujeito às condições completas da cláusula. IME agregado não comprova elegibilidade individual.</a:t>
            </a:r>
          </a:p>
          <a:p>
            <a:r>
              <a:t>CNPJ 63168433000170 · Custódia · Não localizado nas cláusulas revisadas; requer documento aplicável · data/raw/63168433000170/1023249_regulamento.pdf | Fundos.NET ID 1023249 | 29/10/2025; data/raw/63168433000170/1051828_emissao.pdf | Fundos.NET ID 1051828 | 01/12/2025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65327006000113 · Custódia · Não localizado nas cláusulas revisadas; requer documento aplicável · data/raw/65327006000113/1323417_regulamento.pdf | Fundos.NET ID 1323417 | 16/09/2026; data/raw/65327006000113/1305384_emissao.pdf | Fundos.NET ID 1305384 | 31/08/2026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41114564000132 · Custódia · Incluída na taxa de administração · Fundos.NET ID 1214038; referência 08/06/2026; data/raw/41114564000132/1214038_documentary_review.txt; Anexo,6.5; https://fnet.bmfbovespa.com.br/fnet/publico/exibirDocumento?id=1214038&amp;cvm=true · Observação: Conclusão limitada à versão citada; inventário completo não equivale a leitura integral de todos os documentos.</a:t>
            </a:r>
          </a:p>
          <a:p>
            <a:r>
              <a:t>CNPJ 51326028000154 · Consultoria especializada · Não localizado nas fontes acessíveis desta leitura · ID 1219005 · 09/06/2026 · data/raw/51326028000154/1219005_documentary_review.pdf; ID 706710 · 30/01/2024 · data/raw/51326028000154/706710_documentary_review.pdf · Observação: Revisão dirigida das fontes identificadas abaixo por CNPJ, incluindo regras e atos materiais localizados. Não se afirma leitura integral de cada registro inventariado.</a:t>
            </a:r>
          </a:p>
          <a:p>
            <a:r>
              <a:t>CNPJ 54634742000106 · Consultoria especializada · Não localizado nas fontes acessíveis desta leitura · ID 1316627 · 11/09/2026 · data/raw/54634742000106/1316627_regulamento_review_20261007.pdf; ID 1142255 · 19/03/2026 · data/raw/54634742000106/1142255_regulamento_review_20261007.pdf; ID 1005796 · 30/09/2025 · data/raw/54634742000106/1005796_emissao_review_20261007.pdf · Observação: Revisão dirigida das cláusulas materiais dos documentos acessíveis; texto integral extraído quando disponível. Não corresponde à leitura integral de todos os registros do inventário. Regulamento 11/09/2026 acessível; assembleia correspondente retornou HTTP 520. Mudanças e seus efeitos devem ser confrontados com a ata quando o acesso for restabelecido. O nome da carteira não fixa a vigência documental; cada fonte mantém sua própria data. Não foi carregada nova competência IME.</a:t>
            </a:r>
          </a:p>
          <a:p>
            <a:r>
              <a:t>CNPJ 59602002000101 · Consultoria especializada · Não localizado nas fontes acessíveis desta leitura · ID 1181571 · 27/04/2026 · data/raw/59602002000101/1181571_regulamento_review_20261007.pdf; ID 1181567 · 27/04/2026 10:00 · data/raw/59602002000101/1181567_assembleia_review_20261007.pdf; ID 1144081 · 20/03/2026 · data/raw/59602002000101/1144081_emissao_review_20261007.pdf; ID 1044672 · 17/11/2025 · data/raw/59602002000101/1044672_regulamento_review_20261007.pdf · Observação: Revisão dirigida das cláusulas materiais dos documentos acessíveis; texto integral extraído quando disponível. Não corresponde à leitura integral de todos os registros do inventário. Regime transitório altera materialmente a leitura de revolvência/gatilhos. Anúncio ID 1144081 contém identificação e valores divergentes que exigem reconciliação. O nome da carteira não fixa a vigência documental; cada fonte mantém sua própria data. Não foi carregada nova competência IME.</a:t>
            </a:r>
          </a:p>
          <a:p>
            <a:r>
              <a:t>CNPJ 63168433000170 · Consultoria especializada · Não localizado nas fontes acessíveis desta leitura · ID 1023249 · 29/10/2025 · data/raw/63168433000170/1023249_regulamento.pdf; ID 1051828 · 01/12/2025 · data/raw/63168433000170/1051828_emissao.pdf · Observação: Leitura dirigida de cláusulas materiais dos textos integrais extraídos dos PDFs selecionados. Inventário integral de registros quando acessível; documentos não selecionados ou não revisados permanecem disponíveis para auditoria e não foram integralmente lidos.</a:t>
            </a:r>
          </a:p>
          <a:p>
            <a:r>
              <a:t>CNPJ 65327006000113 · Consultoria especializada · Não localizado nas fontes acessíveis desta leitura · ID 1323417 · 16/09/2026 · data/raw/65327006000113/1323417_regulamento.pdf; ID 1305384 · 31/08/2026 · data/raw/65327006000113/1305384_emissao.pdf · Observação: Leitura dirigida de cláusulas materiais dos textos integrais extraídos dos PDFs selecionados. Inventário integral de registros quando acessível; documentos não selecionados ou não revisados permanecem disponíveis para auditoria e não foram integralmente lidos.</a:t>
            </a:r>
          </a:p>
          <a:p>
            <a:r>
              <a:t>CNPJ 41114564000132 · Consultoria especializada · Mínimo R$ 300.100/mês +0, 35% do nominal operado no mês, excluídas renegociações; teto R$ 600.100/mês · Fundos.NET ID 1214038; referência 08/06/2026; data/raw/41114564000132/1214038_documentary_review.txt; Anexo,6.3 · Observação: Custo adicional ao pacote principal; base/periodicidade contratual preservadas. Validar versão e encargos tributários.</a:t>
            </a:r>
          </a:p>
          <a:p>
            <a:r>
              <a:t>CNPJ 51326028000154 · Agente de cobrança · Não localizado nas fontes acessíveis desta leitura · ID 1219005 · 09/06/2026 · data/raw/51326028000154/1219005_documentary_review.pdf; ID 706710 · 30/01/2024 · data/raw/51326028000154/706710_documentary_review.pdf · Observação: Revisão dirigida das fontes identificadas abaixo por CNPJ, incluindo regras e atos materiais localizados. Não se afirma leitura integral de cada registro inventariado.</a:t>
            </a:r>
          </a:p>
          <a:p>
            <a:r>
              <a:t>CNPJ 54634742000106 · Agente de cobrança · Não localizado nas fontes acessíveis desta leitura · ID 1316627 · 11/09/2026 · data/raw/54634742000106/1316627_regulamento_review_20261007.pdf; ID 1142255 · 19/03/2026 · data/raw/54634742000106/1142255_regulamento_review_20261007.pdf; ID 1005796 · 30/09/2025 · data/raw/54634742000106/1005796_emissao_review_20261007.pdf · Observação: Revisão dirigida das cláusulas materiais dos documentos acessíveis; texto integral extraído quando disponível. Não corresponde à leitura integral de todos os registros do inventário. Regulamento 11/09/2026 acessível; assembleia correspondente retornou HTTP 520. Mudanças e seus efeitos devem ser confrontados com a ata quando o acesso for restabelecido. O nome da carteira não fixa a vigência documental; cada fonte mantém sua própria data. Não foi carregada nova competência IME.</a:t>
            </a:r>
          </a:p>
          <a:p>
            <a:r>
              <a:t>CNPJ 59602002000101 · Agente de cobrança · Não localizado nas fontes acessíveis desta leitura · ID 1181571 · 27/04/2026 · data/raw/59602002000101/1181571_regulamento_review_20261007.pdf; ID 1181567 · 27/04/2026 10:00 · data/raw/59602002000101/1181567_assembleia_review_20261007.pdf; ID 1144081 · 20/03/2026 · data/raw/59602002000101/1144081_emissao_review_20261007.pdf; ID 1044672 · 17/11/2025 · data/raw/59602002000101/1044672_regulamento_review_20261007.pdf · Observação: Revisão dirigida das cláusulas materiais dos documentos acessíveis; texto integral extraído quando disponível. Não corresponde à leitura integral de todos os registros do inventário. Regime transitório altera materialmente a leitura de revolvência/gatilhos. Anúncio ID 1144081 contém identificação e valores divergentes que exigem reconciliação. O nome da carteira não fixa a vigência documental; cada fonte mantém sua própria data. Não foi carregada nova competência IME.</a:t>
            </a:r>
          </a:p>
          <a:p>
            <a:r>
              <a:t>CNPJ 63168433000170 · Agente de cobrança · Não localizado nas fontes acessíveis desta leitura · ID 1023249 · 29/10/2025 · data/raw/63168433000170/1023249_regulamento.pdf; ID 1051828 · 01/12/2025 · data/raw/63168433000170/1051828_emissao.pdf · Observação: Leitura dirigida de cláusulas materiais dos textos integrais extraídos dos PDFs selecionados. Inventário integral de registros quando acessível; documentos não selecionados ou não revisados permanecem disponíveis para auditoria e não foram integralmente lidos.</a:t>
            </a:r>
          </a:p>
          <a:p>
            <a:r>
              <a:t>CNPJ 65327006000113 · Agente de cobrança · Não localizado nas fontes acessíveis desta leitura · ID 1323417 · 16/09/2026 · data/raw/65327006000113/1323417_regulamento.pdf; ID 1305384 · 31/08/2026 · data/raw/65327006000113/1305384_emissao.pdf · Observação: Leitura dirigida de cláusulas materiais dos textos integrais extraídos dos PDFs selecionados. Inventário integral de registros quando acessível; documentos não selecionados ou não revisados permanecem disponíveis para auditoria e não foram integralmente lidos.</a:t>
            </a:r>
          </a:p>
          <a:p>
            <a:r>
              <a:t>CNPJ 41114564000132 · Agente de cobrança · R$ 400.100/mês · Fundos.NET ID 1214038; referência 08/06/2026; data/raw/41114564000132/1214038_documentary_review.txt; Anexo,6.4 · Observação: Custo adicional ao pacote principal; base/periodicidade contratual preservadas. Validar versão e encargos tributários.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2026-10-07T16:50:54-03:00</a:t>
            </a:r>
          </a:p>
          <a:p>
            <a:r>
              <a:t>Larca Consignado: CNPJ 51326028000154</a:t>
            </a:r>
          </a:p>
          <a:p>
            <a:r>
              <a:t>LARCA CONSIGNADO II: CNPJ 54634742000106</a:t>
            </a:r>
          </a:p>
          <a:p>
            <a:r>
              <a:t>LARCA CONSIGNADO III: CNPJ 59602002000101</a:t>
            </a:r>
          </a:p>
          <a:p>
            <a:r>
              <a:t>Larca Aurora: CNPJ 63168433000170</a:t>
            </a:r>
          </a:p>
          <a:p>
            <a:r>
              <a:t>Larca V: CNPJ 65327006000113</a:t>
            </a:r>
          </a:p>
          <a:p>
            <a:r>
              <a:t>Larca Multiplica Capital: CNPJ 41114564000132</a:t>
            </a:r>
          </a:p>
          <a:p>
            <a:r>
              <a:t>Fontes:</a:t>
            </a:r>
          </a:p>
          <a:p>
            <a:r>
              <a:t>CNPJ 51326028000154 · Alocação/subordinação IME · Direitos creditórios / PL e cotas subordinadas / PL; validar fórmula contratual antes de comparar · Fundos.NET ID 1219005; referência 09/06/2026; data/raw/51326028000154/1219005_documentary_review.txt; Inventário das fontes consultadas; https://fnet.bmfbovespa.com.br/fnet/publico/exibirDocumento?id=1219005&amp;cvm=true; Fundos.NET ID 706710; referência 30/01/2024; data/raw/51326028000154/706710_documentary_review.txt; Inventário das fontes consultadas; https://fnet.bmfbovespa.com.br/fnet/publico/exibirDocumento?id=706710&amp;cvm=true · Observação: Métricas padronizadas são proxies; data, unidade e denominador precisam coincidir com a regra jurídica.</a:t>
            </a:r>
          </a:p>
          <a:p>
            <a:r>
              <a:t>CNPJ 54634742000106 · Alocação/subordinação IME · Direitos creditórios / PL e cotas subordinadas / PL; validar ativo elegível, subclasses e fórmula contratual · data/raw/54634742000106/access_status_20261007.txt | Consulta Fundos.NET por CNPJ 54634742000106 em 07/10/2026; inventário completo com 79 registros · Observação: Avaliação metodológica do IME público; dados de cache e monitoramento ao vivo são apresentados separadamente.</a:t>
            </a:r>
          </a:p>
          <a:p>
            <a:r>
              <a:t>CNPJ 59602002000101 · Alocação/subordinação IME · Direitos creditórios / PL e cotas subordinadas / PL; validar ativo elegível, subclasses e fórmula contratual · data/raw/59602002000101/access_status_20261007.txt | Consulta Fundos.NET por CNPJ 59602002000101 em 07/10/2026; inventário completo com 51 registros · Observação: Avaliação metodológica do IME público; dados de cache e monitoramento ao vivo são apresentados separadamente.</a:t>
            </a:r>
          </a:p>
          <a:p>
            <a:r>
              <a:t>CNPJ 63168433000170 · Alocação/subordinação IME · DC/PL e composição de cotas ajudam; validar numerador, denominador e versão contratual · data/raw/63168433000170/1023249_regulamento.pdf | Fundos.NET ID 1023249 | 29/10/2025; data/raw/63168433000170/1051828_emissao.pdf | Fundos.NET ID 1051828 | 01/12/2025 · Observação: Proxy metodológica. FIC investe em cotas: não usar DC/PL como substituto da alocação em fundos-alvo. Nenhum saldo observado nesta revisão documental.</a:t>
            </a:r>
          </a:p>
          <a:p>
            <a:r>
              <a:t>CNPJ 65327006000113 · Alocação/subordinação IME · DC/PL e composição de cotas ajudam; validar numerador, denominador e versão contratual · data/raw/65327006000113/1323417_regulamento.pdf | Fundos.NET ID 1323417 | 16/09/2026; data/raw/65327006000113/1305384_emissao.pdf | Fundos.NET ID 1305384 | 31/08/2026 · Observação: Proxy metodológica. FIC investe em cotas: não usar DC/PL como substituto da alocação em fundos-alvo. Nenhum saldo observado nesta revisão documental.</a:t>
            </a:r>
          </a:p>
          <a:p>
            <a:r>
              <a:t>CNPJ 41114564000132 · Alocação/subordinação IME · Direitos creditórios / PL e cotas subordinadas / PL; validar fórmula contratual antes de comparar · Fundos.NET ID 1214038; referência 08/06/2026; data/raw/41114564000132/1214038_documentary_review.txt; Inventário das fontes consultadas; https://fnet.bmfbovespa.com.br/fnet/publico/exibirDocumento?id=1214038&amp;cvm=true; Fundos.NET ID 1214036; referência 05/05/2026 16:00; data/raw/41114564000132/1214036_documentary_review.txt; Inventário das fontes consultadas; https://fnet.bmfbovespa.com.br/fnet/publico/exibirDocumento?id=1214036&amp;cvm=true · Observação: Métricas padronizadas são proxies; data, unidade e denominador precisam coincidir com a regra jurídica.</a:t>
            </a:r>
          </a:p>
          <a:p>
            <a:r>
              <a:t>CNPJ 51326028000154 · Inadimplência/PDD IME · Aging e PDD agregados ajudam no alerta; índice contratual exige reconciliação · Fundos.NET ID 1219005; referência 09/06/2026; data/raw/51326028000154/1219005_documentary_review.txt; Inventário das fontes consultadas; https://fnet.bmfbovespa.com.br/fnet/publico/exibirDocumento?id=1219005&amp;cvm=true; Fundos.NET ID 706710; referência 30/01/2024; data/raw/51326028000154/706710_documentary_review.txt; Inventário das fontes consultadas; https://fnet.bmfbovespa.com.br/fnet/publico/exibirDocumento?id=706710&amp;cvm=true · Observação: O IME não substitui bases por devedor, cedente, vintage ou fluxo de vencimentos.</a:t>
            </a:r>
          </a:p>
          <a:p>
            <a:r>
              <a:t>CNPJ 54634742000106 · Inadimplência/PDD IME · Over 30/60/90 e PDD / crédito: indicadores agregados; gatilhos dependem de denominador e janela contratual · data/raw/54634742000106/access_status_20261007.txt | Consulta Fundos.NET por CNPJ 54634742000106 em 07/10/2026; inventário completo com 79 registros · Observação: Avaliação metodológica do IME público; dados de cache e monitoramento ao vivo são apresentados separadamente.</a:t>
            </a:r>
          </a:p>
          <a:p>
            <a:r>
              <a:t>CNPJ 59602002000101 · Inadimplência/PDD IME · Over 30/60/90 e PDD / crédito: indicadores agregados; gatilhos dependem de denominador e janela contratual · data/raw/59602002000101/access_status_20261007.txt | Consulta Fundos.NET por CNPJ 59602002000101 em 07/10/2026; inventário completo com 51 registros · Observação: Avaliação metodológica do IME público; dados de cache e monitoramento ao vivo são apresentados separadamente.</a:t>
            </a:r>
          </a:p>
          <a:p>
            <a:r>
              <a:t>CNPJ 63168433000170 · Inadimplência/PDD IME · Over e PDD agregados são alertas; fórmulas contratuais exigem validação · data/raw/63168433000170/1023249_regulamento.pdf | Fundos.NET ID 1023249 | 29/10/2025; data/raw/63168433000170/1051828_emissao.pdf | Fundos.NET ID 1051828 | 01/12/2025 · Observação: Não reproduzem médias móveis, coortes, exposição individual, motivo de recompra, chargeback e perdas históricas sem dados adicionais.</a:t>
            </a:r>
          </a:p>
          <a:p>
            <a:r>
              <a:t>CNPJ 65327006000113 · Inadimplência/PDD IME · Over e PDD agregados são alertas; fórmulas contratuais exigem validação · data/raw/65327006000113/1323417_regulamento.pdf | Fundos.NET ID 1323417 | 16/09/2026; data/raw/65327006000113/1305384_emissao.pdf | Fundos.NET ID 1305384 | 31/08/2026 · Observação: Não reproduzem médias móveis, coortes, exposição individual, motivo de recompra, chargeback e perdas históricas sem dados adicionais.</a:t>
            </a:r>
          </a:p>
          <a:p>
            <a:r>
              <a:t>CNPJ 41114564000132 · Inadimplência/PDD IME · Aging e PDD agregados ajudam no alerta; índice contratual exige reconciliação · Fundos.NET ID 1214038; referência 08/06/2026; data/raw/41114564000132/1214038_documentary_review.txt; Inventário das fontes consultadas; https://fnet.bmfbovespa.com.br/fnet/publico/exibirDocumento?id=1214038&amp;cvm=true; Fundos.NET ID 1214036; referência 05/05/2026 16:00; data/raw/41114564000132/1214036_documentary_review.txt; Inventário das fontes consultadas; https://fnet.bmfbovespa.com.br/fnet/publico/exibirDocumento?id=1214036&amp;cvm=true · Observação: O IME não substitui bases por devedor, cedente, vintage ou fluxo de vencimentos.</a:t>
            </a:r>
          </a:p>
          <a:p>
            <a:r>
              <a:t>CNPJ 51326028000154 · Controles documentais · Elegibilidade, concentração, recompra jurídica e troca de prestadores exigem documentos individuais · Fundos.NET ID 1219005; referência 09/06/2026; data/raw/51326028000154/1219005_documentary_review.txt; Inventário das fontes consultadas; https://fnet.bmfbovespa.com.br/fnet/publico/exibirDocumento?id=1219005&amp;cvm=true; Fundos.NET ID 706710; referência 30/01/2024; data/raw/51326028000154/706710_documentary_review.txt; Inventário das fontes consultadas; https://fnet.bmfbovespa.com.br/fnet/publico/exibirDocumento?id=706710&amp;cvm=true · Observação: Controle documental separado de posições agregadas do IME; lacuna não deve produzir enquadramento presumido.</a:t>
            </a:r>
          </a:p>
          <a:p>
            <a:r>
              <a:t>CNPJ 54634742000106 · Controles documentais · Elegibilidade, concentração por devedor/grupo, lastro, prestadores e eventos: validação documental e operacional · data/raw/54634742000106/access_status_20261007.txt | Consulta Fundos.NET por CNPJ 54634742000106 em 07/10/2026; inventário completo com 79 registros · Observação: Avaliação metodológica do IME público; dados de cache e monitoramento ao vivo são apresentados separadamente.</a:t>
            </a:r>
          </a:p>
          <a:p>
            <a:r>
              <a:t>CNPJ 59602002000101 · Controles documentais · Elegibilidade, concentração por devedor/grupo, lastro, prestadores e eventos: validação documental e operacional · data/raw/59602002000101/access_status_20261007.txt | Consulta Fundos.NET por CNPJ 59602002000101 em 07/10/2026; inventário completo com 51 registros · Observação: Avaliação metodológica do IME público; dados de cache e monitoramento ao vivo são apresentados separadamente.</a:t>
            </a:r>
          </a:p>
          <a:p>
            <a:r>
              <a:t>CNPJ 63168433000170 · Controles documentais · Elegibilidade, concentração, lastro e eventos exigem controles por contrato · data/raw/63168433000170/1023249_regulamento.pdf | Fundos.NET ID 1023249 | 29/10/2025; data/raw/63168433000170/1051828_emissao.pdf | Fundos.NET ID 1051828 | 01/12/2025 · Observação: IME público agregado não certifica devedor/cedente/grupo nem alterações de prestadores e cross default.</a:t>
            </a:r>
          </a:p>
          <a:p>
            <a:r>
              <a:t>CNPJ 65327006000113 · Controles documentais · Elegibilidade, concentração, lastro e eventos exigem controles por contrato · data/raw/65327006000113/1323417_regulamento.pdf | Fundos.NET ID 1323417 | 16/09/2026; data/raw/65327006000113/1305384_emissao.pdf | Fundos.NET ID 1305384 | 31/08/2026 · Observação: IME público agregado não certifica devedor/cedente/grupo nem alterações de prestadores e cross default.</a:t>
            </a:r>
          </a:p>
          <a:p>
            <a:r>
              <a:t>CNPJ 41114564000132 · Controles documentais · Elegibilidade, concentração, recompra jurídica e troca de prestadores exigem documentos individuais · Fundos.NET ID 1214038; referência 08/06/2026; data/raw/41114564000132/1214038_documentary_review.txt; Inventário das fontes consultadas; https://fnet.bmfbovespa.com.br/fnet/publico/exibirDocumento?id=1214038&amp;cvm=true; Fundos.NET ID 1214036; referência 05/05/2026 16:00; data/raw/41114564000132/1214036_documentary_review.txt; Inventário das fontes consultadas; https://fnet.bmfbovespa.com.br/fnet/publico/exibirDocumento?id=1214036&amp;cvm=true · Observação: Controle documental separado de posições agregadas do IME; lacuna não deve produzir enquadramento presumido.</a:t>
            </a:r>
          </a:p>
          <a:p>
            <a:r>
              <a:t>CNPJ 51326028000154 · Competência IME · Cache local: 06/2026; selecionar competência para monitorar · .cache/fundonet-ime/338000ee6ad81acf46c51e891028299fa37e0e4256a04f819e09940ce4029d69/manifest.json · Observação: Dado offline do IME; não representa atualização ao vivo nem comprovação dos critérios jurídicos.</a:t>
            </a:r>
          </a:p>
          <a:p>
            <a:r>
              <a:t>CNPJ 54634742000106 · Competência IME · Cache local: 06/2026; selecionar competência para monitorar · .cache/fundonet-ime/28696b23cdefc6c5dc05df40c80afd650c89fd15ef9e709ad47e29b76bfdbe34/manifest.json · Observação: Dado offline do IME; não representa atualização ao vivo nem comprovação dos critérios jurídicos.</a:t>
            </a:r>
          </a:p>
          <a:p>
            <a:r>
              <a:t>CNPJ 59602002000101 · Competência IME · Cache local: 06/2026; selecionar competência para monitorar · .cache/fundonet-ime/8b7632a9c7f9ab9571ad89783eda4ff435701653eafcf0b6c82f0c929176d74f/manifest.json · Observação: Dado offline do IME; não representa atualização ao vivo nem comprovação dos critérios jurídicos.</a:t>
            </a:r>
          </a:p>
          <a:p>
            <a:r>
              <a:t>CNPJ 63168433000170 · Competência IME · Cache local: 06/2026; selecionar competência para monitorar · .cache/fundonet-ime/ad863e42f707f67697b2dbcae42075e3277c58119d5df3b5765c218d2b733753/manifest.json · Observação: Dado offline do IME; não representa atualização ao vivo nem comprovação dos critérios jurídicos.</a:t>
            </a:r>
          </a:p>
          <a:p>
            <a:r>
              <a:t>CNPJ 65327006000113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41114564000132 · Competência IME · Cache local: 06/2026; selecionar competência para monitorar · .cache/fundonet-ime/5e99b3afce7c6659788ac070e01e14c2f6d69fcd563f57181934a84113e49cdd/manifest.json · Observação: Dado offline do IME; não representa atualização ao vivo nem comprovação dos critérios jurídicos.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2026-10-07T16:50:54-03:00</a:t>
            </a:r>
          </a:p>
          <a:p>
            <a:r>
              <a:t>Larca Consignado: CNPJ 51326028000154</a:t>
            </a:r>
          </a:p>
          <a:p>
            <a:r>
              <a:t>LARCA CONSIGNADO II: CNPJ 54634742000106</a:t>
            </a:r>
          </a:p>
          <a:p>
            <a:r>
              <a:t>LARCA CONSIGNADO III: CNPJ 59602002000101</a:t>
            </a:r>
          </a:p>
          <a:p>
            <a:r>
              <a:t>Larca Aurora: CNPJ 63168433000170</a:t>
            </a:r>
          </a:p>
          <a:p>
            <a:r>
              <a:t>Larca V: CNPJ 65327006000113</a:t>
            </a:r>
          </a:p>
          <a:p>
            <a:r>
              <a:t>Larca Multiplica Capital: CNPJ 41114564000132</a:t>
            </a:r>
          </a:p>
          <a:p>
            <a:r>
              <a:t>Fontes:</a:t>
            </a:r>
          </a:p>
          <a:p>
            <a:r>
              <a:t>CNPJ 51326028000154 · Alocação/subordinação IME · Direitos creditórios / PL e cotas subordinadas / PL; validar fórmula contratual antes de comparar · Fundos.NET ID 1219005; referência 09/06/2026; data/raw/51326028000154/1219005_documentary_review.txt; Inventário das fontes consultadas; https://fnet.bmfbovespa.com.br/fnet/publico/exibirDocumento?id=1219005&amp;cvm=true; Fundos.NET ID 706710; referência 30/01/2024; data/raw/51326028000154/706710_documentary_review.txt; Inventário das fontes consultadas; https://fnet.bmfbovespa.com.br/fnet/publico/exibirDocumento?id=706710&amp;cvm=true · Observação: Métricas padronizadas são proxies; data, unidade e denominador precisam coincidir com a regra jurídica.</a:t>
            </a:r>
          </a:p>
          <a:p>
            <a:r>
              <a:t>CNPJ 54634742000106 · Alocação/subordinação IME · Direitos creditórios / PL e cotas subordinadas / PL; validar ativo elegível, subclasses e fórmula contratual · data/raw/54634742000106/access_status_20261007.txt | Consulta Fundos.NET por CNPJ 54634742000106 em 07/10/2026; inventário completo com 79 registros · Observação: Avaliação metodológica do IME público; dados de cache e monitoramento ao vivo são apresentados separadamente.</a:t>
            </a:r>
          </a:p>
          <a:p>
            <a:r>
              <a:t>CNPJ 59602002000101 · Alocação/subordinação IME · Direitos creditórios / PL e cotas subordinadas / PL; validar ativo elegível, subclasses e fórmula contratual · data/raw/59602002000101/access_status_20261007.txt | Consulta Fundos.NET por CNPJ 59602002000101 em 07/10/2026; inventário completo com 51 registros · Observação: Avaliação metodológica do IME público; dados de cache e monitoramento ao vivo são apresentados separadamente.</a:t>
            </a:r>
          </a:p>
          <a:p>
            <a:r>
              <a:t>CNPJ 63168433000170 · Alocação/subordinação IME · DC/PL e composição de cotas ajudam; validar numerador, denominador e versão contratual · data/raw/63168433000170/1023249_regulamento.pdf | Fundos.NET ID 1023249 | 29/10/2025; data/raw/63168433000170/1051828_emissao.pdf | Fundos.NET ID 1051828 | 01/12/2025 · Observação: Proxy metodológica. FIC investe em cotas: não usar DC/PL como substituto da alocação em fundos-alvo. Nenhum saldo observado nesta revisão documental.</a:t>
            </a:r>
          </a:p>
          <a:p>
            <a:r>
              <a:t>CNPJ 65327006000113 · Alocação/subordinação IME · DC/PL e composição de cotas ajudam; validar numerador, denominador e versão contratual · data/raw/65327006000113/1323417_regulamento.pdf | Fundos.NET ID 1323417 | 16/09/2026; data/raw/65327006000113/1305384_emissao.pdf | Fundos.NET ID 1305384 | 31/08/2026 · Observação: Proxy metodológica. FIC investe em cotas: não usar DC/PL como substituto da alocação em fundos-alvo. Nenhum saldo observado nesta revisão documental.</a:t>
            </a:r>
          </a:p>
          <a:p>
            <a:r>
              <a:t>CNPJ 41114564000132 · Alocação/subordinação IME · Direitos creditórios / PL e cotas subordinadas / PL; validar fórmula contratual antes de comparar · Fundos.NET ID 1214038; referência 08/06/2026; data/raw/41114564000132/1214038_documentary_review.txt; Inventário das fontes consultadas; https://fnet.bmfbovespa.com.br/fnet/publico/exibirDocumento?id=1214038&amp;cvm=true; Fundos.NET ID 1214036; referência 05/05/2026 16:00; data/raw/41114564000132/1214036_documentary_review.txt; Inventário das fontes consultadas; https://fnet.bmfbovespa.com.br/fnet/publico/exibirDocumento?id=1214036&amp;cvm=true · Observação: Métricas padronizadas são proxies; data, unidade e denominador precisam coincidir com a regra jurídica.</a:t>
            </a:r>
          </a:p>
          <a:p>
            <a:r>
              <a:t>CNPJ 51326028000154 · Inadimplência/PDD IME · Aging e PDD agregados ajudam no alerta; índice contratual exige reconciliação · Fundos.NET ID 1219005; referência 09/06/2026; data/raw/51326028000154/1219005_documentary_review.txt; Inventário das fontes consultadas; https://fnet.bmfbovespa.com.br/fnet/publico/exibirDocumento?id=1219005&amp;cvm=true; Fundos.NET ID 706710; referência 30/01/2024; data/raw/51326028000154/706710_documentary_review.txt; Inventário das fontes consultadas; https://fnet.bmfbovespa.com.br/fnet/publico/exibirDocumento?id=706710&amp;cvm=true · Observação: O IME não substitui bases por devedor, cedente, vintage ou fluxo de vencimentos.</a:t>
            </a:r>
          </a:p>
          <a:p>
            <a:r>
              <a:t>CNPJ 54634742000106 · Inadimplência/PDD IME · Over 30/60/90 e PDD / crédito: indicadores agregados; gatilhos dependem de denominador e janela contratual · data/raw/54634742000106/access_status_20261007.txt | Consulta Fundos.NET por CNPJ 54634742000106 em 07/10/2026; inventário completo com 79 registros · Observação: Avaliação metodológica do IME público; dados de cache e monitoramento ao vivo são apresentados separadamente.</a:t>
            </a:r>
          </a:p>
          <a:p>
            <a:r>
              <a:t>CNPJ 59602002000101 · Inadimplência/PDD IME · Over 30/60/90 e PDD / crédito: indicadores agregados; gatilhos dependem de denominador e janela contratual · data/raw/59602002000101/access_status_20261007.txt | Consulta Fundos.NET por CNPJ 59602002000101 em 07/10/2026; inventário completo com 51 registros · Observação: Avaliação metodológica do IME público; dados de cache e monitoramento ao vivo são apresentados separadamente.</a:t>
            </a:r>
          </a:p>
          <a:p>
            <a:r>
              <a:t>CNPJ 63168433000170 · Inadimplência/PDD IME · Over e PDD agregados são alertas; fórmulas contratuais exigem validação · data/raw/63168433000170/1023249_regulamento.pdf | Fundos.NET ID 1023249 | 29/10/2025; data/raw/63168433000170/1051828_emissao.pdf | Fundos.NET ID 1051828 | 01/12/2025 · Observação: Não reproduzem médias móveis, coortes, exposição individual, motivo de recompra, chargeback e perdas históricas sem dados adicionais.</a:t>
            </a:r>
          </a:p>
          <a:p>
            <a:r>
              <a:t>CNPJ 65327006000113 · Inadimplência/PDD IME · Over e PDD agregados são alertas; fórmulas contratuais exigem validação · data/raw/65327006000113/1323417_regulamento.pdf | Fundos.NET ID 1323417 | 16/09/2026; data/raw/65327006000113/1305384_emissao.pdf | Fundos.NET ID 1305384 | 31/08/2026 · Observação: Não reproduzem médias móveis, coortes, exposição individual, motivo de recompra, chargeback e perdas históricas sem dados adicionais.</a:t>
            </a:r>
          </a:p>
          <a:p>
            <a:r>
              <a:t>CNPJ 41114564000132 · Inadimplência/PDD IME · Aging e PDD agregados ajudam no alerta; índice contratual exige reconciliação · Fundos.NET ID 1214038; referência 08/06/2026; data/raw/41114564000132/1214038_documentary_review.txt; Inventário das fontes consultadas; https://fnet.bmfbovespa.com.br/fnet/publico/exibirDocumento?id=1214038&amp;cvm=true; Fundos.NET ID 1214036; referência 05/05/2026 16:00; data/raw/41114564000132/1214036_documentary_review.txt; Inventário das fontes consultadas; https://fnet.bmfbovespa.com.br/fnet/publico/exibirDocumento?id=1214036&amp;cvm=true · Observação: O IME não substitui bases por devedor, cedente, vintage ou fluxo de vencimentos.</a:t>
            </a:r>
          </a:p>
          <a:p>
            <a:r>
              <a:t>CNPJ 51326028000154 · Controles documentais · Elegibilidade, concentração, recompra jurídica e troca de prestadores exigem documentos individuais · Fundos.NET ID 1219005; referência 09/06/2026; data/raw/51326028000154/1219005_documentary_review.txt; Inventário das fontes consultadas; https://fnet.bmfbovespa.com.br/fnet/publico/exibirDocumento?id=1219005&amp;cvm=true; Fundos.NET ID 706710; referência 30/01/2024; data/raw/51326028000154/706710_documentary_review.txt; Inventário das fontes consultadas; https://fnet.bmfbovespa.com.br/fnet/publico/exibirDocumento?id=706710&amp;cvm=true · Observação: Controle documental separado de posições agregadas do IME; lacuna não deve produzir enquadramento presumido.</a:t>
            </a:r>
          </a:p>
          <a:p>
            <a:r>
              <a:t>CNPJ 54634742000106 · Controles documentais · Elegibilidade, concentração por devedor/grupo, lastro, prestadores e eventos: validação documental e operacional · data/raw/54634742000106/access_status_20261007.txt | Consulta Fundos.NET por CNPJ 54634742000106 em 07/10/2026; inventário completo com 79 registros · Observação: Avaliação metodológica do IME público; dados de cache e monitoramento ao vivo são apresentados separadamente.</a:t>
            </a:r>
          </a:p>
          <a:p>
            <a:r>
              <a:t>CNPJ 59602002000101 · Controles documentais · Elegibilidade, concentração por devedor/grupo, lastro, prestadores e eventos: validação documental e operacional · data/raw/59602002000101/access_status_20261007.txt | Consulta Fundos.NET por CNPJ 59602002000101 em 07/10/2026; inventário completo com 51 registros · Observação: Avaliação metodológica do IME público; dados de cache e monitoramento ao vivo são apresentados separadamente.</a:t>
            </a:r>
          </a:p>
          <a:p>
            <a:r>
              <a:t>CNPJ 63168433000170 · Controles documentais · Elegibilidade, concentração, lastro e eventos exigem controles por contrato · data/raw/63168433000170/1023249_regulamento.pdf | Fundos.NET ID 1023249 | 29/10/2025; data/raw/63168433000170/1051828_emissao.pdf | Fundos.NET ID 1051828 | 01/12/2025 · Observação: IME público agregado não certifica devedor/cedente/grupo nem alterações de prestadores e cross default.</a:t>
            </a:r>
          </a:p>
          <a:p>
            <a:r>
              <a:t>CNPJ 65327006000113 · Controles documentais · Elegibilidade, concentração, lastro e eventos exigem controles por contrato · data/raw/65327006000113/1323417_regulamento.pdf | Fundos.NET ID 1323417 | 16/09/2026; data/raw/65327006000113/1305384_emissao.pdf | Fundos.NET ID 1305384 | 31/08/2026 · Observação: IME público agregado não certifica devedor/cedente/grupo nem alterações de prestadores e cross default.</a:t>
            </a:r>
          </a:p>
          <a:p>
            <a:r>
              <a:t>CNPJ 41114564000132 · Controles documentais · Elegibilidade, concentração, recompra jurídica e troca de prestadores exigem documentos individuais · Fundos.NET ID 1214038; referência 08/06/2026; data/raw/41114564000132/1214038_documentary_review.txt; Inventário das fontes consultadas; https://fnet.bmfbovespa.com.br/fnet/publico/exibirDocumento?id=1214038&amp;cvm=true; Fundos.NET ID 1214036; referência 05/05/2026 16:00; data/raw/41114564000132/1214036_documentary_review.txt; Inventário das fontes consultadas; https://fnet.bmfbovespa.com.br/fnet/publico/exibirDocumento?id=1214036&amp;cvm=true · Observação: Controle documental separado de posições agregadas do IME; lacuna não deve produzir enquadramento presumido.</a:t>
            </a:r>
          </a:p>
          <a:p>
            <a:r>
              <a:t>CNPJ 51326028000154 · Competência IME · Cache local: 06/2026; selecionar competência para monitorar · .cache/fundonet-ime/338000ee6ad81acf46c51e891028299fa37e0e4256a04f819e09940ce4029d69/manifest.json · Observação: Dado offline do IME; não representa atualização ao vivo nem comprovação dos critérios jurídicos.</a:t>
            </a:r>
          </a:p>
          <a:p>
            <a:r>
              <a:t>CNPJ 54634742000106 · Competência IME · Cache local: 06/2026; selecionar competência para monitorar · .cache/fundonet-ime/28696b23cdefc6c5dc05df40c80afd650c89fd15ef9e709ad47e29b76bfdbe34/manifest.json · Observação: Dado offline do IME; não representa atualização ao vivo nem comprovação dos critérios jurídicos.</a:t>
            </a:r>
          </a:p>
          <a:p>
            <a:r>
              <a:t>CNPJ 59602002000101 · Competência IME · Cache local: 06/2026; selecionar competência para monitorar · .cache/fundonet-ime/8b7632a9c7f9ab9571ad89783eda4ff435701653eafcf0b6c82f0c929176d74f/manifest.json · Observação: Dado offline do IME; não representa atualização ao vivo nem comprovação dos critérios jurídicos.</a:t>
            </a:r>
          </a:p>
          <a:p>
            <a:r>
              <a:t>CNPJ 63168433000170 · Competência IME · Cache local: 06/2026; selecionar competência para monitorar · .cache/fundonet-ime/ad863e42f707f67697b2dbcae42075e3277c58119d5df3b5765c218d2b733753/manifest.json · Observação: Dado offline do IME; não representa atualização ao vivo nem comprovação dos critérios jurídicos.</a:t>
            </a:r>
          </a:p>
          <a:p>
            <a:r>
              <a:t>CNPJ 65327006000113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41114564000132 · Competência IME · Cache local: 06/2026; selecionar competência para monitorar · .cache/fundonet-ime/5e99b3afce7c6659788ac070e01e14c2f6d69fcd563f57181934a84113e49cdd/manifest.json · Observação: Dado offline do IME; não representa atualização ao vivo nem comprovação dos critérios jurídicos.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Larca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4930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Aurora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Empréstimos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consignação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folha/benefício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antecipação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saque-aniversário FGTS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e contratos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assistência financeira: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consignado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folha/benefício; regras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próprias para FGTS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Parcelas vincendas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e contratos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assistência financeira;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empréstimos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pessoais/cartão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benefício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consignação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empréstimo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consignado a Exército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servidores SIAPE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QI SCD e cedentes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autorizados; canais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originação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apensos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cláusulas revisadas;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requer documento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Pessoas com empréstimo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consignado; idade 21–70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anos na cessão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Pessoas 21–70 anos;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 presente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devedor≤R$ 220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Militares/pensionistas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Exército; servidores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federais, aposentados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pensionistas SIAPE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Larca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867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Aurora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Consignação/repasses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garantias acompanham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crédito; FGTS sujeito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às condições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cláusulas revisadas;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requer documento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0817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96 parcelas, salvo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FGTS; saldo por devedor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 R$ 220 mil;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R$ 100;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atraso no fundo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96 parcelas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(excetoFGTS); título≥R$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100; primeira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parcela≤70 dias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(excetoFGTS);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atraso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96 parcelas;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21–70 anos;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saldo presente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≤R$ 220 mil;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título ≥R$ 100;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primeira parcela ≤70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dias; sem vencidos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cláusulas revisadas;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requer documento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Saldo por devedor ≤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220 mil; ente público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apenso; regra geral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20% PL com exceções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Devedor/grupo≤20% PL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 exceções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condicionadas; entes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públicos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apenso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ente público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Apenso 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≤R$ 220 mil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saldo presente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cláusulas revisadas;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requer documento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Larca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406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Multiplica Capital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consignado das Forças Armadas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servidores federais SIAPE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industriais, comerciais, financeiros,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imobiliários, agropecuários e de serviços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Múltiplos cedentes/endossantes; originação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relacionada permitida nas condições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Militares, aposentados e pensionistas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Exército/Marinha/Aeronáutica; servidores SIAPE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CCB/notas comerciais sem garantia limitadas;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garantias conforme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Duplicatas 2–180 dias; CCB/notas comerciais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demais créditos 2–360 dias; devedor sem atraso &gt;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 dias no fundo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Cedente/coobrigado/devedor ≤ 4% PL; cinco maiores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≤ 20% PL; CCB/notas sem garantia ≤ 15%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Larca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24597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Aurora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≥ 20%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≥ 4% PL; 60%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com sócios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consultoria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PL≥20%;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/ PL≥5%;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amortização mezanino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 25% ou 30% 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gatilhos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 ≥20%;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 / PL ≥5%; ≥70%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das juniores retidas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relacionados às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consultorias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Índices mezanino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≥20%, B ≥12%; júnior/PL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≥5%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Suspende compras: F30&gt;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18%, F60&gt; 15%, F90&gt;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12%, perda líquida&gt; 8%,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pré-pagamento&gt; 8%,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resolução&gt; 3%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Liquidação: F 30&gt;25%,F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60&gt;22%,F 90&gt;18%,perda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líquida&gt;10%;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pré-pagamento/resolução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têm janelas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Waiver até 27/04/2027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excesso de spread,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pré-pagamento e rating;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demais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preservados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cláusulas revisadas;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requer documento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Larca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3055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Aurora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Maior de 90 dias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e 0, 5%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de resgate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50%/100%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antecedência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Maior entre 90 dias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e 0,5%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Maior entre 90 dias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e 1% do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Reserva de despesas;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100% do próximo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principal e remuneração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na reserva de liquidez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Hedge patrimonial até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posições à vista;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exposição≤ 1 x PL,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 como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contraparte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de posições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vista;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descoberto/alavancagem;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registro com 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Somente proteção 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posições à vista,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alavancagem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das posições à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vista; vedados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alavancagem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descoberto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cláusulas revisadas;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requer documento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Larca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935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Multiplica Capital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Inicial: júnior+mezz A+B/PL ≥20%; júnior+mezz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B/PL ≥10%; júnior/PL ≥5%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≥ 35% PL; júnior ≥ 15, 4%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 &gt; 20% PL; falhas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prestadores/desenquadramentos; PL &lt; R$ 1 mi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90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Refinanciamento: 0,25% PL; despesas e MTM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negativo em reservas próprias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 mês de despesas; disponibilidade pelo menos 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 úteis antes do pagamento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das posições à vista; vedadas posições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descobertas/alavancadas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com derivativos vedadas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Larca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3055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Aurora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≥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67% PL após 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creditórios≥67% PL,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definição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≥50% do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objetivo fiscal ≥67%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depende dos requisitos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próprios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&gt;67% PL em até 180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dias; glossário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distingue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regulatório 50%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Revolvência permitida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durante toda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vigência, sujeita aos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e 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Revolvência conforme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ordem de pagamentos;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suspensa em gatilhos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específicos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 de novos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créditos proibida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durante regime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transitório até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27/04/2027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Aquisições/revolvência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 período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investimento;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refinanciamento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renegociação têm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janelas próprias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indeterminado;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investidores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qualificados; prazo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cada série por apêndice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cláusulas revisadas;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requer documento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Larca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4930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Aurora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definitiva sem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regresso; taxa mínima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 aquisição 1, 33%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a.m.; resolução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transferência definem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resolução, recompra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pelo endossante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compra pelo originador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 podem ter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coobrigação;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glossário cita cessão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cláusulas revisadas;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requer documento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e reservas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precedem pagamentos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sênior/mezanino/júnior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aquisições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e reserva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precedem amortização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proporcional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sênior/mezanino com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todo caixa disponível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 regime transitório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cláusulas revisadas;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requer documento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Larca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218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Multiplica Capital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&gt;67% PL em até 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&gt; 50% PL até 180 dias;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objetivo tributário de 67%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Aquisições durante período de investimento;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refinanciamento tem janela específica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Revolvência sem limite de vezes, observadas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condições e 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indeterminado; classe fechada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qualificados; responsabilidade ilimitada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Contratos de transferência definem resolução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recompra/compra obrigatória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Taxa mínima de cessão 110% CDI; recompra sujeita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 evento e existência do crédito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Pode ser prevista no contrato; cedente responde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existência e formalização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→ reserva → sênior → mezanino → júnior →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novos créditos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Larca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5262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Aurora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mezanino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júnior; VNU inicial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mezanino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júnior; anúncios da 2ª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série apresentam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inconsistências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emissão: sênior/mezz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A/B/júniorA/B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Lâmina da 2ª emissão: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CDI + 4, 00%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a.a.; mezanino CDI + 6,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00% a.a.; vigência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atual por suplemento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Spread final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sênior/mezanino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localizado; ato recente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é emissão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Sobretaxa definida nos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suplementos; spread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final não localizado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Spread final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cláusulas revisadas;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requer suplemento ou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ato específico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2ª emissão histórica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R$ 40 mi; VNU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inicial geral R$ 1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Ato 30/09/2025: júnior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R$ 3 mi; preço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unitário=cota do dia da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integralização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Anúncio: sênior R$ 39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 vs 40 mil cotas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quadro 38.752; mezanino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R$ 7,472 mi vs 7.500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quadro 7.469;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reconciliar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R$ 300 milhões no encer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ramento;240/24/21/7,5/7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,5 mi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2ª emissão histórica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lâmina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30/01/2024; fechamento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confirmado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Registro 19/09/2025;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anúncios encerramento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20/03/2026;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identidade/quantidade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 divergências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cláusulas revisadas;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requer documento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Larca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08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Multiplica Capital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emissão: sênior 1ª série/mezz A/B/júnior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mezanino e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Spread final não localizado nas cláusulas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revisadas; requer suplemento ou ato específico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CDI + 3, 50% a.a.; mezanino CDI + 4, 10%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a.a.; júnior residual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Até R$ 500 milhões ofertados;400/50/25/25 mi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VNU inicial R$ 5 mil; volumes por emissão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Ata altera reserva, cessão, índice de reajuste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referência de subordinação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Larca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33055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Aurora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por suplemento;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calendário fechado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identificado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Prazos de carência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remetidos aos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suplementos; cronograma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fechado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identificado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cláusulas revisadas;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requer documento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Ordinárias dias 8/20;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extraordinária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proporcional mensal 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3º DU após solicitação,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conforme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cláusulas revisadas;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requer documento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da série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suplemento; fundo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indeterminado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cláusulas revisadas;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requer documento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Larca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1805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Multiplica Capital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Prazo/data final por emissão não localizados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Larca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6222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Aurora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 25% a.a./PL;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R$ 20 mil/mês; IGP-M;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inclui controladoria/es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crituração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0,15% a.a. 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R$ 12 mil primeiros 6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meses e R$ 17 mil após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0,275% a.a. do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R$ 27,5 mil/mês;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desconto 30% no piso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 3 meses; IGP-M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0,15% a.a. 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R$ 12,5 mil/mês; inclui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controladoria/escritura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45819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 80% a.a. se Selic&gt;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12, 25%; 1, 30% se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Selic≤ 12, 25%;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R$ 15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Selic&gt;12,25%:0,50%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a.a.PL;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Selic≤12,25%:1,30%;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R$ 15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0,50% a.a. do PL;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R$ 15 mil/mês;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IGP-M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0,15% a.a. 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R$ 12,5 mil/mês; lastro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R$ 0,36 por crédito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 05% a.a./PL;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R$ 5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0,05% a.a. PL; mínimo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R$ 3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administração;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escrituração R$ 2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mil/mês +R$ 7 mil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inicial; lastro R$ 5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mil/trimestre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cláusulas revisadas;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requer documento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Consultoria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especializada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Agente de cobrança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Larca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935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Multiplica Capital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0,15% a.a. PL; mínimo R$ 12,5 mil/mês; inclui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controladoria/escrituração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 25% a.a. até R$ 500 mi; 0, 23% sobre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excedente; mínimo R$ 25 mil/mês; IPCA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0,50% a.a. PL; mínimo R$ 20 mil/mês; servicing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adicional não incluído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 70% a.a./PL; mínimo R$ 12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taxa de 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Consultoria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especializada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R$ 300.100/mês +0, 35% do nominal operado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 mês, excluídas renegociações; teto R$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600.100/mês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Agente de cobrança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R$ 400.100/mês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Larca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68" cy="43388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245537"/>
                <a:gridCol w="2245537"/>
                <a:gridCol w="2245537"/>
                <a:gridCol w="2245537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 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CONSIGNADO III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Aurora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 e cotas subordinadas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/ PL; validar fórmula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 antes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comparar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 e cotas subordinadas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/ PL; validar ativo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elegível,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 e cotas subordinadas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/ PL; validar ativo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elegível, subclasses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fórmula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composição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 ajudam; validar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numerador, denominador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versão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3271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ajudam no alerta;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índice contratual exige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reconciliação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crédito: indicadores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agregados; gatilhos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dependem de denominador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janela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crédito: indicadores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agregados; gatilhos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dependem de denominador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janela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agregados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são alertas; fórmulas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7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concentração, recompra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jurídica e troca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documentos individuais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devedor/grupo,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 e eventos: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documental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 por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devedor/grupo, lastro,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 e eventos: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validação documental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concentração, lastro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eventos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controles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selecionar competência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Larca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4643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V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Larca Multiplica Capital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composição de cotas ajudam; validar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numerador, denominador e versão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 e cotas subordinadas /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PL; validar fórmula contratual antes de comparar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agregados são alertas; fórmulas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exigem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 ajudam no alerta; índice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 exige reconciliação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controles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recompra jurídica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troca de prestadores exigem documentos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individuais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 competência para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