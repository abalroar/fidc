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Natureza dos recebíveis · Recebíveis de transações de cartões, devidos por emissores à Cloud Walk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Natureza dos recebíveis · Recebíveis de transações de cartões, devidos por emissores à Cloud Walk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Natureza dos recebíveis · Recebíveis de transações de cartões, devidos por emissores à Cloud Walk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Natureza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Natureza dos recebíveis · Recebíveis de transações de cartões, devidos por emissores à Cloud Walk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Natureza dos recebíveis · Recebíveis de transações de cartões, devidos por emissores à Cloud Walk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Natureza dos recebíveis · Recebíveis de transações de cartões, devidos por emissores à Cloud Walk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Natureza dos recebíveis · Recebíveis de transações de cartões, devidos por emissores à Cloud Walk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Natureza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Originador/endossante · Cloud Walk, como credenciadora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Originador/endossante · Cloud Walk, como credenciadora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Originador/endossante · Cloud Walk, como credenciadora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Originador/endossante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Originador/endossante · Cloud Walk, como credenciadora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Originador/endossante · Cloud Walk, como credenciadora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Originador/endossante · Cloud Walk, como credenciadora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Originador/endossante · Cloud Walk, como credenciadora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Originador/endossante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Devedor · Emissores dos instrumentos de pagamento; grupos de elegibilidade previstos no anexo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Devedor · Emissores dos instrumentos de pagamento; grupos de elegibilidade previstos no anexo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Devedor · Emissores dos instrumentos de pagamento; grupos de elegibilidade previstos no anexo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Devedor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Devedor · Emissores dos instrumentos de pagamento; grupos de elegibilidade previstos no anexo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Devedor · Emissores dos instrumentos de pagamento; grupos de elegibilidade previstos no anexo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Devedor · Emissores dos instrumentos de pagamento; grupos de elegibilidade previstos no anexo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Devedor · Emissores dos instrumentos de pagamento; grupos de elegibilidade previstos no anexo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Devedor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Garantia · Sem garantia do administrador, gestor, cedente, custodiante, seguro ou FGC · Fundos.NET ID 733239 | 05/09/2024 | Regulamento | p. 31, Anexo I, ausência de garantias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Garantia · Sem garantia do administrador, gestor, cedente, custodiante, seguro ou FGC · Fundos.NET ID 1337401 | 01/10/2026 | Regulamento | p. 31, Anexo I, ausência de garantias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Garantia · Sem garantia do administrador, gestor, cedente, custodiante, seguro ou FGC · Fundos.NET ID 1268268 | 28/07/2026 | Regulamento | p. 32, Anexo I, ausência de garantias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Garantia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Garantia · Sem garantia do administrador, gestor, cedente, custodiante, seguro ou FGC · Fundos.NET ID 1072799 | 22/12/2025 | Regulamento | p. 31, Anexo I, ausência de garantias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Garantia · Sem garantia do administrador, gestor, cedente, custodiante, seguro ou FGC · Fundos.NET ID 1285773 | 11/08/2026 | Regulamento | p. 31, Anexo I, ausência de garantias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Garantia · Sem garantia do administrador, gestor, cedente, custodiante, seguro ou FGC · Fundos.NET ID 993693 | 04/09/2025 | Regulamento | p. 34, Anexo I, ausência de garantias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Garantia · Sem garantia do administrador, gestor, cedente, custodiante, seguro ou FGC · Fundos.NET ID 993687 | 04/09/2025 | Regulamento | p. 34, Anexo I, ausência de garantias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Garantia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42102603000144 · Elegibilidade · Transações em moeda nacional; devedores adimplentes; validação na aquisição · Fundos.NET ID 733239 | 05/09/2024 | Regulamento | p. 32, Anexo I, critérios de elegibilidade | data/raw/42102603000144/733239_review_20261007.pdf | https://fnet.bmfbovespa.com.br/fnet/publico/visualizarDocumento?id=733239 · Observação: Consultar critérios integrais e condições de cessão; o IME público não comprova elegibilidade individual.</a:t>
            </a:r>
          </a:p>
          <a:p>
            <a:r>
              <a:t>CNPJ 44124617000194 · Elegibilidade · Transações em moeda nacional; devedores adimplentes; validação na aquisição · Fundos.NET ID 1337401 | 01/10/2026 | Regulamento | p. 32, Anexo I, critérios de elegibilidade | data/raw/44124617000194/1337401_review_20261007.pdf | https://fnet.bmfbovespa.com.br/fnet/publico/visualizarDocumento?id=1337401 · Observação: Consultar critérios integrais e condições de cessão; o IME público não comprova elegibilidade individual.</a:t>
            </a:r>
          </a:p>
          <a:p>
            <a:r>
              <a:t>CNPJ 54218673000141 · Elegibilidade · Transações em moeda nacional; devedores adimplentes; validação na aquisição · Fundos.NET ID 1268268 | 28/07/2026 | Regulamento | p. 33, Anexo I, critérios de elegibilidade | data/raw/54218673000141/1268268_review_20261007.pdf | https://fnet.bmfbovespa.com.br/fnet/publico/visualizarDocumento?id=1268268 · Observação: Consultar critérios integrais e condições de cessão; o IME público não comprova elegibilidade individual.</a:t>
            </a:r>
          </a:p>
          <a:p>
            <a:r>
              <a:t>CNPJ 54218941000125 ·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Elegibilidade · Transações em moeda nacional; devedores adimplentes; validação na aquisição · Fundos.NET ID 1072799 | 22/12/2025 | Regulamento | p. 32, Anexo I, critérios de elegibilidade | data/raw/54219179000100/1072799_review_20261007.pdf | https://fnet.bmfbovespa.com.br/fnet/publico/visualizarDocumento?id=1072799 · Observação: Consultar critérios integrais e condições de cessão; o IME público não comprova elegibilidade individual.</a:t>
            </a:r>
          </a:p>
          <a:p>
            <a:r>
              <a:t>CNPJ 54248022000102 · Elegibilidade · Transações em moeda nacional; devedores adimplentes; validação na aquisição · Fundos.NET ID 1285773 | 11/08/2026 | Regulamento | p. 32, Anexo I, critérios de elegibilidade | data/raw/54248022000102/1285773_review_20261007.pdf | https://fnet.bmfbovespa.com.br/fnet/publico/visualizarDocumento?id=1285773 · Observação: Consultar critérios integrais e condições de cessão; o IME público não comprova elegibilidade individual.</a:t>
            </a:r>
          </a:p>
          <a:p>
            <a:r>
              <a:t>CNPJ 57609282000146 · Elegibilidade · Transações em moeda nacional; devedores adimplentes; validação na aquisição · Fundos.NET ID 993693 | 04/09/2025 | Regulamento | p. 35, Anexo I, critérios de elegibilidade | data/raw/57609282000146/993693_review_20261007.pdf | https://fnet.bmfbovespa.com.br/fnet/publico/visualizarDocumento?id=993693 · Observação: Consultar critérios integrais e condições de cessão; o IME público não comprova elegibilidade individual.</a:t>
            </a:r>
          </a:p>
          <a:p>
            <a:r>
              <a:t>CNPJ 60356171000180 · Elegibilidade · Transações em moeda nacional; devedores adimplentes; validação na aquisição · Fundos.NET ID 993687 | 04/09/2025 | Regulamento | p. 35, Anexo I, critérios de elegibilidade | data/raw/60356171000180/993687_review_20261007.pdf | https://fnet.bmfbovespa.com.br/fnet/publico/visualizarDocumento?id=993687 · Observação: Consultar critérios integrais e condições de cessão; o IME público não comprova elegibilidade individual.</a:t>
            </a:r>
          </a:p>
          <a:p>
            <a:r>
              <a:t>CNPJ 62393679000183 ·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42102603000144 · Concentração · Limites por emissor e grupo no anexo; conferir tabela contratual e exceções para instituições financeiras · Fundos.NET ID 733239 | 05/09/2024 | Regulamento | p. 32, Anexo I, elegibilidade/concentração | data/raw/42102603000144/733239_review_20261007.pdf | https://fnet.bmfbovespa.com.br/fnet/publico/visualizarDocumento?id=733239 · Observação: Exposição individual por emissor/grupo não disponível no IME público; os percentuais não são um limite uniforme.</a:t>
            </a:r>
          </a:p>
          <a:p>
            <a:r>
              <a:t>CNPJ 44124617000194 · Concentração · Limites por emissor e grupo no anexo; conferir tabela contratual e exceções para instituições financeiras · Fundos.NET ID 1337401 | 01/10/2026 | Regulamento | p. 32, Anexo I, elegibilidade/concentração | data/raw/44124617000194/1337401_review_20261007.pdf | https://fnet.bmfbovespa.com.br/fnet/publico/visualizarDocumento?id=1337401 · Observação: Exposição individual por emissor/grupo não disponível no IME público; os percentuais não são um limite uniforme.</a:t>
            </a:r>
          </a:p>
          <a:p>
            <a:r>
              <a:t>CNPJ 54218673000141 · Concentração · Limites por emissor/grupo e exceção para IF acima de 20% do PL, salvo apêndice; observar critérios adicionais · Fundos.NET ID 1268268 | 28/07/2026 | Regulamento | p. 31, AnexoIlimites/elegibilidade | data/raw/54218673000141/1268268_review_20261007.pdf | https://fnet.bmfbovespa.com.br/fnet/publico/visualizarDocumento?id=1268268 · Observação: A dispensa de teto 20% para IF não elimina limites individuais/específicos de cada fundo.</a:t>
            </a:r>
          </a:p>
          <a:p>
            <a:r>
              <a:t>CNPJ 54218941000125 · Concentração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· Limites por emissor/grupo e exceção para IF acima de 20% do PL, salvo apêndice; observar critérios adicionais · Fundos.NET ID 1072799 | 22/12/2025 | Regulamento | p. 30, AnexoIlimites/elegibilidade | data/raw/54219179000100/1072799_review_20261007.pdf | https://fnet.bmfbovespa.com.br/fnet/publico/visualizarDocumento?id=1072799 · Observação: A dispensa de teto 20% para IF não elimina limites individuais/específicos de cada fundo.</a:t>
            </a:r>
          </a:p>
          <a:p>
            <a:r>
              <a:t>CNPJ 54248022000102 · Concentração · Não qualificado ≤1% do PL; C6/Neon≤10%; Midway/Realize≤7%; demais qualificados≤5% do PL · Fundos.NET ID 1285773 | 11/08/2026 | Regulamento | p. 32–33, 3.2(vi)–(vii) | data/raw/54248022000102/1285773_review_20261007.pdf | https://fnet.bmfbovespa.com.br/fnet/publico/visualizarDocumento?id=1285773 · Observação: Limites sobre PL, considerando emissores e respectivosgrupos; cadastroindividual necessário.</a:t>
            </a:r>
          </a:p>
          <a:p>
            <a:r>
              <a:t>CNPJ 57609282000146 · Concentração · Grupo 1+ caixa ≥52,5% do PL; Grupo 2 ≤15% por devedor; Grupo 3 ≤4%; Grupo 4 ≤2%; grupos 3/4 limitados também por subordinadas · Fundos.NET ID 993693 | 04/09/2025 | Regulamento | p. 35–36, AnexoI3.2(vi) | data/raw/57609282000146/993693_review_20261007.pdf | https://fnet.bmfbovespa.com.br/fnet/publico/visualizarDocumento?id=993693 · Observação: Os tetos agregados de grupos 3/4 são testados separadamente; classificação dos grupos depende das definições do regulamento.</a:t>
            </a:r>
          </a:p>
          <a:p>
            <a:r>
              <a:t>CNPJ 60356171000180 · Concentração · Grupo 1+ caixa ≥52,5% do PL; Grupo 2 ≤15% por devedor; Grupo 3 ≤4%; Grupo 4 ≤2%; grupos 3/4 limitados também por subordinadas · Fundos.NET ID 993687 | 04/09/2025 | Regulamento | p. 35–36, AnexoI3.2(vi) | data/raw/60356171000180/993687_review_20261007.pdf | https://fnet.bmfbovespa.com.br/fnet/publico/visualizarDocumento?id=993687 · Observação: Os tetos agregados de grupos 3/4 são testados separadamente; classificação dos grupos depende das definições do regulamento.</a:t>
            </a:r>
          </a:p>
          <a:p>
            <a:r>
              <a:t>CNPJ 62393679000183 · Concentração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Prazo dos recebíveis · Mínimo 7 dias; máximo menor entre 365 dias e vencimento das cotas seniores · Fundos.NET ID 733239 | 05/09/2024 | Regulamento | p. 32, Anexo I, elegibilidade/prazo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Prazo dos recebíveis · Mínimo 7 dias; máximo menor entre 365 dias e vencimento das cotas seniores · Fundos.NET ID 1337401 | 01/10/2026 | Regulamento | p. 32, Anexo I, elegibilidade/prazo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Prazo dos recebíveis · Mínimo 7 dias; máximo menor entre 365 dias e vencimento das cotas seniores · Fundos.NET ID 1268268 | 28/07/2026 | Regulamento | p. 33, Anexo I, elegibilidade/prazo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Prazo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Prazo dos recebíveis · Mínimo 7 dias; máximo menor entre 365 dias e vencimento das cotas seniores · Fundos.NET ID 1072799 | 22/12/2025 | Regulamento | p. 32, Anexo I, elegibilidade/prazo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Prazo dos recebíveis · Mínimo 7 dias; máximo menor entre 365 dias e vencimento das cotas seniores · Fundos.NET ID 1285773 | 11/08/2026 | Regulamento | p. 32, Anexo I, elegibilidade/prazo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Prazo dos recebíveis · Mínimo 7 dias; máximo menor entre 365 dias e vencimento das cotas seniores · Fundos.NET ID 993693 | 04/09/2025 | Regulamento | p. 35, Anexo I, elegibilidade/prazo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Prazo dos recebíveis · Mínimo 7 dias; máximo menor entre 365 dias e vencimento das cotas seniores · Fundos.NET ID 993687 | 04/09/2025 | Regulamento | p. 35, Anexo I, elegibilidade/prazo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Prazo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Ativos vedados · Créditos de administrador, gestor e relacionados vedados · Fundos.NET ID 733239 | 05/09/2024 | Regulamento | p. 30, Anexo I, partes relacionadas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Ativos vedados · Créditos de administrador, gestor e relacionados vedados · Fundos.NET ID 1337401 | 01/10/2026 | Regulamento | p. 30, Anexo I, partes relacionadas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Ativos vedados · Créditos de administrador, gestor e relacionados vedados · Fundos.NET ID 1268268 | 28/07/2026 | Regulamento | p. 31, Anexo I, partes relacionadas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Ativos vedados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Ativos vedados · Créditos de administrador, gestor e relacionados vedados · Fundos.NET ID 1072799 | 22/12/2025 | Regulamento | p. 30, Anexo I, partes relacionadas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Ativos vedados · Créditos de administrador, gestor e relacionados vedados · Fundos.NET ID 1285773 | 11/08/2026 | Regulamento | p. 30, Anexo I, partes relacionadas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Ativos vedados · Créditos de administrador, gestor e relacionados vedados salvo exceção com independência entre registradora/custodiante e partes relacionadas · Fundos.NET ID 993693 | 04/09/2025 | Regulamento | p. 33, Anexo I, partes relacionadas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Ativos vedados · Créditos de administrador, gestor e relacionados vedados salvo exceção com independência entre registradora/custodiante e partes relacionadas · Fundos.NET ID 993687 | 04/09/2025 | Regulamento | p. 33, Anexo I, partes relacionadas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Ativos vedados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Natureza dos recebíveis · Recebíveis de transações de cartões, devidos por emissores à Cloud Walk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Natureza dos recebíveis · Recebíveis de transações de cartões, devidos por emissores à Cloud Walk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Natureza dos recebíveis · Recebíveis de transações de cartões, devidos por emissores à Cloud Walk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Natureza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Natureza dos recebíveis · Recebíveis de transações de cartões, devidos por emissores à Cloud Walk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Natureza dos recebíveis · Recebíveis de transações de cartões, devidos por emissores à Cloud Walk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Natureza dos recebíveis · Recebíveis de transações de cartões, devidos por emissores à Cloud Walk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Natureza dos recebíveis · Recebíveis de transações de cartões, devidos por emissores à Cloud Walk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Natureza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Originador/endossante · Cloud Walk, como credenciadora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Originador/endossante · Cloud Walk, como credenciadora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Originador/endossante · Cloud Walk, como credenciadora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Originador/endossante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Originador/endossante · Cloud Walk, como credenciadora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Originador/endossante · Cloud Walk, como credenciadora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Originador/endossante · Cloud Walk, como credenciadora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Originador/endossante · Cloud Walk, como credenciadora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Originador/endossante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Devedor · Emissores dos instrumentos de pagamento; grupos de elegibilidade previstos no anexo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Devedor · Emissores dos instrumentos de pagamento; grupos de elegibilidade previstos no anexo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Devedor · Emissores dos instrumentos de pagamento; grupos de elegibilidade previstos no anexo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Devedor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Devedor · Emissores dos instrumentos de pagamento; grupos de elegibilidade previstos no anexo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Devedor · Emissores dos instrumentos de pagamento; grupos de elegibilidade previstos no anexo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Devedor · Emissores dos instrumentos de pagamento; grupos de elegibilidade previstos no anexo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Devedor · Emissores dos instrumentos de pagamento; grupos de elegibilidade previstos no anexo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Devedor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Garantia · Sem garantia do administrador, gestor, cedente, custodiante, seguro ou FGC · Fundos.NET ID 733239 | 05/09/2024 | Regulamento | p. 31, Anexo I, ausência de garantias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Garantia · Sem garantia do administrador, gestor, cedente, custodiante, seguro ou FGC · Fundos.NET ID 1337401 | 01/10/2026 | Regulamento | p. 31, Anexo I, ausência de garantias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Garantia · Sem garantia do administrador, gestor, cedente, custodiante, seguro ou FGC · Fundos.NET ID 1268268 | 28/07/2026 | Regulamento | p. 32, Anexo I, ausência de garantias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Garantia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Garantia · Sem garantia do administrador, gestor, cedente, custodiante, seguro ou FGC · Fundos.NET ID 1072799 | 22/12/2025 | Regulamento | p. 31, Anexo I, ausência de garantias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Garantia · Sem garantia do administrador, gestor, cedente, custodiante, seguro ou FGC · Fundos.NET ID 1285773 | 11/08/2026 | Regulamento | p. 31, Anexo I, ausência de garantias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Garantia · Sem garantia do administrador, gestor, cedente, custodiante, seguro ou FGC · Fundos.NET ID 993693 | 04/09/2025 | Regulamento | p. 34, Anexo I, ausência de garantias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Garantia · Sem garantia do administrador, gestor, cedente, custodiante, seguro ou FGC · Fundos.NET ID 993687 | 04/09/2025 | Regulamento | p. 34, Anexo I, ausência de garantias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Garantia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42102603000144 · Elegibilidade · Transações em moeda nacional; devedores adimplentes; validação na aquisição · Fundos.NET ID 733239 | 05/09/2024 | Regulamento | p. 32, Anexo I, critérios de elegibilidade | data/raw/42102603000144/733239_review_20261007.pdf | https://fnet.bmfbovespa.com.br/fnet/publico/visualizarDocumento?id=733239 · Observação: Consultar critérios integrais e condições de cessão; o IME público não comprova elegibilidade individual.</a:t>
            </a:r>
          </a:p>
          <a:p>
            <a:r>
              <a:t>CNPJ 44124617000194 · Elegibilidade · Transações em moeda nacional; devedores adimplentes; validação na aquisição · Fundos.NET ID 1337401 | 01/10/2026 | Regulamento | p. 32, Anexo I, critérios de elegibilidade | data/raw/44124617000194/1337401_review_20261007.pdf | https://fnet.bmfbovespa.com.br/fnet/publico/visualizarDocumento?id=1337401 · Observação: Consultar critérios integrais e condições de cessão; o IME público não comprova elegibilidade individual.</a:t>
            </a:r>
          </a:p>
          <a:p>
            <a:r>
              <a:t>CNPJ 54218673000141 · Elegibilidade · Transações em moeda nacional; devedores adimplentes; validação na aquisição · Fundos.NET ID 1268268 | 28/07/2026 | Regulamento | p. 33, Anexo I, critérios de elegibilidade | data/raw/54218673000141/1268268_review_20261007.pdf | https://fnet.bmfbovespa.com.br/fnet/publico/visualizarDocumento?id=1268268 · Observação: Consultar critérios integrais e condições de cessão; o IME público não comprova elegibilidade individual.</a:t>
            </a:r>
          </a:p>
          <a:p>
            <a:r>
              <a:t>CNPJ 54218941000125 ·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Elegibilidade · Transações em moeda nacional; devedores adimplentes; validação na aquisição · Fundos.NET ID 1072799 | 22/12/2025 | Regulamento | p. 32, Anexo I, critérios de elegibilidade | data/raw/54219179000100/1072799_review_20261007.pdf | https://fnet.bmfbovespa.com.br/fnet/publico/visualizarDocumento?id=1072799 · Observação: Consultar critérios integrais e condições de cessão; o IME público não comprova elegibilidade individual.</a:t>
            </a:r>
          </a:p>
          <a:p>
            <a:r>
              <a:t>CNPJ 54248022000102 · Elegibilidade · Transações em moeda nacional; devedores adimplentes; validação na aquisição · Fundos.NET ID 1285773 | 11/08/2026 | Regulamento | p. 32, Anexo I, critérios de elegibilidade | data/raw/54248022000102/1285773_review_20261007.pdf | https://fnet.bmfbovespa.com.br/fnet/publico/visualizarDocumento?id=1285773 · Observação: Consultar critérios integrais e condições de cessão; o IME público não comprova elegibilidade individual.</a:t>
            </a:r>
          </a:p>
          <a:p>
            <a:r>
              <a:t>CNPJ 57609282000146 · Elegibilidade · Transações em moeda nacional; devedores adimplentes; validação na aquisição · Fundos.NET ID 993693 | 04/09/2025 | Regulamento | p. 35, Anexo I, critérios de elegibilidade | data/raw/57609282000146/993693_review_20261007.pdf | https://fnet.bmfbovespa.com.br/fnet/publico/visualizarDocumento?id=993693 · Observação: Consultar critérios integrais e condições de cessão; o IME público não comprova elegibilidade individual.</a:t>
            </a:r>
          </a:p>
          <a:p>
            <a:r>
              <a:t>CNPJ 60356171000180 · Elegibilidade · Transações em moeda nacional; devedores adimplentes; validação na aquisição · Fundos.NET ID 993687 | 04/09/2025 | Regulamento | p. 35, Anexo I, critérios de elegibilidade | data/raw/60356171000180/993687_review_20261007.pdf | https://fnet.bmfbovespa.com.br/fnet/publico/visualizarDocumento?id=993687 · Observação: Consultar critérios integrais e condições de cessão; o IME público não comprova elegibilidade individual.</a:t>
            </a:r>
          </a:p>
          <a:p>
            <a:r>
              <a:t>CNPJ 62393679000183 ·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42102603000144 · Concentração · Limites por emissor e grupo no anexo; conferir tabela contratual e exceções para instituições financeiras · Fundos.NET ID 733239 | 05/09/2024 | Regulamento | p. 32, Anexo I, elegibilidade/concentração | data/raw/42102603000144/733239_review_20261007.pdf | https://fnet.bmfbovespa.com.br/fnet/publico/visualizarDocumento?id=733239 · Observação: Exposição individual por emissor/grupo não disponível no IME público; os percentuais não são um limite uniforme.</a:t>
            </a:r>
          </a:p>
          <a:p>
            <a:r>
              <a:t>CNPJ 44124617000194 · Concentração · Limites por emissor e grupo no anexo; conferir tabela contratual e exceções para instituições financeiras · Fundos.NET ID 1337401 | 01/10/2026 | Regulamento | p. 32, Anexo I, elegibilidade/concentração | data/raw/44124617000194/1337401_review_20261007.pdf | https://fnet.bmfbovespa.com.br/fnet/publico/visualizarDocumento?id=1337401 · Observação: Exposição individual por emissor/grupo não disponível no IME público; os percentuais não são um limite uniforme.</a:t>
            </a:r>
          </a:p>
          <a:p>
            <a:r>
              <a:t>CNPJ 54218673000141 · Concentração · Limites por emissor/grupo e exceção para IF acima de 20% do PL, salvo apêndice; observar critérios adicionais · Fundos.NET ID 1268268 | 28/07/2026 | Regulamento | p. 31, AnexoIlimites/elegibilidade | data/raw/54218673000141/1268268_review_20261007.pdf | https://fnet.bmfbovespa.com.br/fnet/publico/visualizarDocumento?id=1268268 · Observação: A dispensa de teto 20% para IF não elimina limites individuais/específicos de cada fundo.</a:t>
            </a:r>
          </a:p>
          <a:p>
            <a:r>
              <a:t>CNPJ 54218941000125 · Concentração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· Limites por emissor/grupo e exceção para IF acima de 20% do PL, salvo apêndice; observar critérios adicionais · Fundos.NET ID 1072799 | 22/12/2025 | Regulamento | p. 30, AnexoIlimites/elegibilidade | data/raw/54219179000100/1072799_review_20261007.pdf | https://fnet.bmfbovespa.com.br/fnet/publico/visualizarDocumento?id=1072799 · Observação: A dispensa de teto 20% para IF não elimina limites individuais/específicos de cada fundo.</a:t>
            </a:r>
          </a:p>
          <a:p>
            <a:r>
              <a:t>CNPJ 54248022000102 · Concentração · Não qualificado ≤1% do PL; C6/Neon≤10%; Midway/Realize≤7%; demais qualificados≤5% do PL · Fundos.NET ID 1285773 | 11/08/2026 | Regulamento | p. 32–33, 3.2(vi)–(vii) | data/raw/54248022000102/1285773_review_20261007.pdf | https://fnet.bmfbovespa.com.br/fnet/publico/visualizarDocumento?id=1285773 · Observação: Limites sobre PL, considerando emissores e respectivosgrupos; cadastroindividual necessário.</a:t>
            </a:r>
          </a:p>
          <a:p>
            <a:r>
              <a:t>CNPJ 57609282000146 · Concentração · Grupo 1+ caixa ≥52,5% do PL; Grupo 2 ≤15% por devedor; Grupo 3 ≤4%; Grupo 4 ≤2%; grupos 3/4 limitados também por subordinadas · Fundos.NET ID 993693 | 04/09/2025 | Regulamento | p. 35–36, AnexoI3.2(vi) | data/raw/57609282000146/993693_review_20261007.pdf | https://fnet.bmfbovespa.com.br/fnet/publico/visualizarDocumento?id=993693 · Observação: Os tetos agregados de grupos 3/4 são testados separadamente; classificação dos grupos depende das definições do regulamento.</a:t>
            </a:r>
          </a:p>
          <a:p>
            <a:r>
              <a:t>CNPJ 60356171000180 · Concentração · Grupo 1+ caixa ≥52,5% do PL; Grupo 2 ≤15% por devedor; Grupo 3 ≤4%; Grupo 4 ≤2%; grupos 3/4 limitados também por subordinadas · Fundos.NET ID 993687 | 04/09/2025 | Regulamento | p. 35–36, AnexoI3.2(vi) | data/raw/60356171000180/993687_review_20261007.pdf | https://fnet.bmfbovespa.com.br/fnet/publico/visualizarDocumento?id=993687 · Observação: Os tetos agregados de grupos 3/4 são testados separadamente; classificação dos grupos depende das definições do regulamento.</a:t>
            </a:r>
          </a:p>
          <a:p>
            <a:r>
              <a:t>CNPJ 62393679000183 · Concentração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Prazo dos recebíveis · Mínimo 7 dias; máximo menor entre 365 dias e vencimento das cotas seniores · Fundos.NET ID 733239 | 05/09/2024 | Regulamento | p. 32, Anexo I, elegibilidade/prazo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Prazo dos recebíveis · Mínimo 7 dias; máximo menor entre 365 dias e vencimento das cotas seniores · Fundos.NET ID 1337401 | 01/10/2026 | Regulamento | p. 32, Anexo I, elegibilidade/prazo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Prazo dos recebíveis · Mínimo 7 dias; máximo menor entre 365 dias e vencimento das cotas seniores · Fundos.NET ID 1268268 | 28/07/2026 | Regulamento | p. 33, Anexo I, elegibilidade/prazo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Prazo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Prazo dos recebíveis · Mínimo 7 dias; máximo menor entre 365 dias e vencimento das cotas seniores · Fundos.NET ID 1072799 | 22/12/2025 | Regulamento | p. 32, Anexo I, elegibilidade/prazo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Prazo dos recebíveis · Mínimo 7 dias; máximo menor entre 365 dias e vencimento das cotas seniores · Fundos.NET ID 1285773 | 11/08/2026 | Regulamento | p. 32, Anexo I, elegibilidade/prazo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Prazo dos recebíveis · Mínimo 7 dias; máximo menor entre 365 dias e vencimento das cotas seniores · Fundos.NET ID 993693 | 04/09/2025 | Regulamento | p. 35, Anexo I, elegibilidade/prazo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Prazo dos recebíveis · Mínimo 7 dias; máximo menor entre 365 dias e vencimento das cotas seniores · Fundos.NET ID 993687 | 04/09/2025 | Regulamento | p. 35, Anexo I, elegibilidade/prazo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Prazo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Ativos vedados · Créditos de administrador, gestor e relacionados vedados · Fundos.NET ID 733239 | 05/09/2024 | Regulamento | p. 30, Anexo I, partes relacionadas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Ativos vedados · Créditos de administrador, gestor e relacionados vedados · Fundos.NET ID 1337401 | 01/10/2026 | Regulamento | p. 30, Anexo I, partes relacionadas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Ativos vedados · Créditos de administrador, gestor e relacionados vedados · Fundos.NET ID 1268268 | 28/07/2026 | Regulamento | p. 31, Anexo I, partes relacionadas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Ativos vedados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Ativos vedados · Créditos de administrador, gestor e relacionados vedados · Fundos.NET ID 1072799 | 22/12/2025 | Regulamento | p. 30, Anexo I, partes relacionadas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Ativos vedados · Créditos de administrador, gestor e relacionados vedados · Fundos.NET ID 1285773 | 11/08/2026 | Regulamento | p. 30, Anexo I, partes relacionadas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Ativos vedados · Créditos de administrador, gestor e relacionados vedados salvo exceção com independência entre registradora/custodiante e partes relacionadas · Fundos.NET ID 993693 | 04/09/2025 | Regulamento | p. 33, Anexo I, partes relacionadas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Ativos vedados · Créditos de administrador, gestor e relacionados vedados salvo exceção com independência entre registradora/custodiante e partes relacionadas · Fundos.NET ID 993687 | 04/09/2025 | Regulamento | p. 33, Anexo I, partes relacionadas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Ativos vedados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Natureza dos recebíveis · Recebíveis de transações de cartões, devidos por emissores à Cloud Walk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Natureza dos recebíveis · Recebíveis de transações de cartões, devidos por emissores à Cloud Walk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Natureza dos recebíveis · Recebíveis de transações de cartões, devidos por emissores à Cloud Walk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Natureza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Natureza dos recebíveis · Recebíveis de transações de cartões, devidos por emissores à Cloud Walk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Natureza dos recebíveis · Recebíveis de transações de cartões, devidos por emissores à Cloud Walk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Natureza dos recebíveis · Recebíveis de transações de cartões, devidos por emissores à Cloud Walk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Natureza dos recebíveis · Recebíveis de transações de cartões, devidos por emissores à Cloud Walk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Natureza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Originador/endossante · Cloud Walk, como credenciadora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Originador/endossante · Cloud Walk, como credenciadora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Originador/endossante · Cloud Walk, como credenciadora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Originador/endossante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Originador/endossante · Cloud Walk, como credenciadora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Originador/endossante · Cloud Walk, como credenciadora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Originador/endossante · Cloud Walk, como credenciadora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Originador/endossante · Cloud Walk, como credenciadora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Originador/endossante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Devedor · Emissores dos instrumentos de pagamento; grupos de elegibilidade previstos no anexo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Devedor · Emissores dos instrumentos de pagamento; grupos de elegibilidade previstos no anexo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Devedor · Emissores dos instrumentos de pagamento; grupos de elegibilidade previstos no anexo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Devedor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Devedor · Emissores dos instrumentos de pagamento; grupos de elegibilidade previstos no anexo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Devedor · Emissores dos instrumentos de pagamento; grupos de elegibilidade previstos no anexo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Devedor · Emissores dos instrumentos de pagamento; grupos de elegibilidade previstos no anexo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Devedor · Emissores dos instrumentos de pagamento; grupos de elegibilidade previstos no anexo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Devedor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Garantia · Sem garantia do administrador, gestor, cedente, custodiante, seguro ou FGC · Fundos.NET ID 733239 | 05/09/2024 | Regulamento | p. 31, Anexo I, ausência de garantias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Garantia · Sem garantia do administrador, gestor, cedente, custodiante, seguro ou FGC · Fundos.NET ID 1337401 | 01/10/2026 | Regulamento | p. 31, Anexo I, ausência de garantias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Garantia · Sem garantia do administrador, gestor, cedente, custodiante, seguro ou FGC · Fundos.NET ID 1268268 | 28/07/2026 | Regulamento | p. 32, Anexo I, ausência de garantias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Garantia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Garantia · Sem garantia do administrador, gestor, cedente, custodiante, seguro ou FGC · Fundos.NET ID 1072799 | 22/12/2025 | Regulamento | p. 31, Anexo I, ausência de garantias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Garantia · Sem garantia do administrador, gestor, cedente, custodiante, seguro ou FGC · Fundos.NET ID 1285773 | 11/08/2026 | Regulamento | p. 31, Anexo I, ausência de garantias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Garantia · Sem garantia do administrador, gestor, cedente, custodiante, seguro ou FGC · Fundos.NET ID 993693 | 04/09/2025 | Regulamento | p. 34, Anexo I, ausência de garantias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Garantia · Sem garantia do administrador, gestor, cedente, custodiante, seguro ou FGC · Fundos.NET ID 993687 | 04/09/2025 | Regulamento | p. 34, Anexo I, ausência de garantias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Garantia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42102603000144 · Elegibilidade · Transações em moeda nacional; devedores adimplentes; validação na aquisição · Fundos.NET ID 733239 | 05/09/2024 | Regulamento | p. 32, Anexo I, critérios de elegibilidade | data/raw/42102603000144/733239_review_20261007.pdf | https://fnet.bmfbovespa.com.br/fnet/publico/visualizarDocumento?id=733239 · Observação: Consultar critérios integrais e condições de cessão; o IME público não comprova elegibilidade individual.</a:t>
            </a:r>
          </a:p>
          <a:p>
            <a:r>
              <a:t>CNPJ 44124617000194 · Elegibilidade · Transações em moeda nacional; devedores adimplentes; validação na aquisição · Fundos.NET ID 1337401 | 01/10/2026 | Regulamento | p. 32, Anexo I, critérios de elegibilidade | data/raw/44124617000194/1337401_review_20261007.pdf | https://fnet.bmfbovespa.com.br/fnet/publico/visualizarDocumento?id=1337401 · Observação: Consultar critérios integrais e condições de cessão; o IME público não comprova elegibilidade individual.</a:t>
            </a:r>
          </a:p>
          <a:p>
            <a:r>
              <a:t>CNPJ 54218673000141 · Elegibilidade · Transações em moeda nacional; devedores adimplentes; validação na aquisição · Fundos.NET ID 1268268 | 28/07/2026 | Regulamento | p. 33, Anexo I, critérios de elegibilidade | data/raw/54218673000141/1268268_review_20261007.pdf | https://fnet.bmfbovespa.com.br/fnet/publico/visualizarDocumento?id=1268268 · Observação: Consultar critérios integrais e condições de cessão; o IME público não comprova elegibilidade individual.</a:t>
            </a:r>
          </a:p>
          <a:p>
            <a:r>
              <a:t>CNPJ 54218941000125 ·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Elegibilidade · Transações em moeda nacional; devedores adimplentes; validação na aquisição · Fundos.NET ID 1072799 | 22/12/2025 | Regulamento | p. 32, Anexo I, critérios de elegibilidade | data/raw/54219179000100/1072799_review_20261007.pdf | https://fnet.bmfbovespa.com.br/fnet/publico/visualizarDocumento?id=1072799 · Observação: Consultar critérios integrais e condições de cessão; o IME público não comprova elegibilidade individual.</a:t>
            </a:r>
          </a:p>
          <a:p>
            <a:r>
              <a:t>CNPJ 54248022000102 · Elegibilidade · Transações em moeda nacional; devedores adimplentes; validação na aquisição · Fundos.NET ID 1285773 | 11/08/2026 | Regulamento | p. 32, Anexo I, critérios de elegibilidade | data/raw/54248022000102/1285773_review_20261007.pdf | https://fnet.bmfbovespa.com.br/fnet/publico/visualizarDocumento?id=1285773 · Observação: Consultar critérios integrais e condições de cessão; o IME público não comprova elegibilidade individual.</a:t>
            </a:r>
          </a:p>
          <a:p>
            <a:r>
              <a:t>CNPJ 57609282000146 · Elegibilidade · Transações em moeda nacional; devedores adimplentes; validação na aquisição · Fundos.NET ID 993693 | 04/09/2025 | Regulamento | p. 35, Anexo I, critérios de elegibilidade | data/raw/57609282000146/993693_review_20261007.pdf | https://fnet.bmfbovespa.com.br/fnet/publico/visualizarDocumento?id=993693 · Observação: Consultar critérios integrais e condições de cessão; o IME público não comprova elegibilidade individual.</a:t>
            </a:r>
          </a:p>
          <a:p>
            <a:r>
              <a:t>CNPJ 60356171000180 · Elegibilidade · Transações em moeda nacional; devedores adimplentes; validação na aquisição · Fundos.NET ID 993687 | 04/09/2025 | Regulamento | p. 35, Anexo I, critérios de elegibilidade | data/raw/60356171000180/993687_review_20261007.pdf | https://fnet.bmfbovespa.com.br/fnet/publico/visualizarDocumento?id=993687 · Observação: Consultar critérios integrais e condições de cessão; o IME público não comprova elegibilidade individual.</a:t>
            </a:r>
          </a:p>
          <a:p>
            <a:r>
              <a:t>CNPJ 62393679000183 ·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42102603000144 · Concentração · Limites por emissor e grupo no anexo; conferir tabela contratual e exceções para instituições financeiras · Fundos.NET ID 733239 | 05/09/2024 | Regulamento | p. 32, Anexo I, elegibilidade/concentração | data/raw/42102603000144/733239_review_20261007.pdf | https://fnet.bmfbovespa.com.br/fnet/publico/visualizarDocumento?id=733239 · Observação: Exposição individual por emissor/grupo não disponível no IME público; os percentuais não são um limite uniforme.</a:t>
            </a:r>
          </a:p>
          <a:p>
            <a:r>
              <a:t>CNPJ 44124617000194 · Concentração · Limites por emissor e grupo no anexo; conferir tabela contratual e exceções para instituições financeiras · Fundos.NET ID 1337401 | 01/10/2026 | Regulamento | p. 32, Anexo I, elegibilidade/concentração | data/raw/44124617000194/1337401_review_20261007.pdf | https://fnet.bmfbovespa.com.br/fnet/publico/visualizarDocumento?id=1337401 · Observação: Exposição individual por emissor/grupo não disponível no IME público; os percentuais não são um limite uniforme.</a:t>
            </a:r>
          </a:p>
          <a:p>
            <a:r>
              <a:t>CNPJ 54218673000141 · Concentração · Limites por emissor/grupo e exceção para IF acima de 20% do PL, salvo apêndice; observar critérios adicionais · Fundos.NET ID 1268268 | 28/07/2026 | Regulamento | p. 31, AnexoIlimites/elegibilidade | data/raw/54218673000141/1268268_review_20261007.pdf | https://fnet.bmfbovespa.com.br/fnet/publico/visualizarDocumento?id=1268268 · Observação: A dispensa de teto 20% para IF não elimina limites individuais/específicos de cada fundo.</a:t>
            </a:r>
          </a:p>
          <a:p>
            <a:r>
              <a:t>CNPJ 54218941000125 · Concentração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· Limites por emissor/grupo e exceção para IF acima de 20% do PL, salvo apêndice; observar critérios adicionais · Fundos.NET ID 1072799 | 22/12/2025 | Regulamento | p. 30, AnexoIlimites/elegibilidade | data/raw/54219179000100/1072799_review_20261007.pdf | https://fnet.bmfbovespa.com.br/fnet/publico/visualizarDocumento?id=1072799 · Observação: A dispensa de teto 20% para IF não elimina limites individuais/específicos de cada fundo.</a:t>
            </a:r>
          </a:p>
          <a:p>
            <a:r>
              <a:t>CNPJ 54248022000102 · Concentração · Não qualificado ≤1% do PL; C6/Neon≤10%; Midway/Realize≤7%; demais qualificados≤5% do PL · Fundos.NET ID 1285773 | 11/08/2026 | Regulamento | p. 32–33, 3.2(vi)–(vii) | data/raw/54248022000102/1285773_review_20261007.pdf | https://fnet.bmfbovespa.com.br/fnet/publico/visualizarDocumento?id=1285773 · Observação: Limites sobre PL, considerando emissores e respectivosgrupos; cadastroindividual necessário.</a:t>
            </a:r>
          </a:p>
          <a:p>
            <a:r>
              <a:t>CNPJ 57609282000146 · Concentração · Grupo 1+ caixa ≥52,5% do PL; Grupo 2 ≤15% por devedor; Grupo 3 ≤4%; Grupo 4 ≤2%; grupos 3/4 limitados também por subordinadas · Fundos.NET ID 993693 | 04/09/2025 | Regulamento | p. 35–36, AnexoI3.2(vi) | data/raw/57609282000146/993693_review_20261007.pdf | https://fnet.bmfbovespa.com.br/fnet/publico/visualizarDocumento?id=993693 · Observação: Os tetos agregados de grupos 3/4 são testados separadamente; classificação dos grupos depende das definições do regulamento.</a:t>
            </a:r>
          </a:p>
          <a:p>
            <a:r>
              <a:t>CNPJ 60356171000180 · Concentração · Grupo 1+ caixa ≥52,5% do PL; Grupo 2 ≤15% por devedor; Grupo 3 ≤4%; Grupo 4 ≤2%; grupos 3/4 limitados também por subordinadas · Fundos.NET ID 993687 | 04/09/2025 | Regulamento | p. 35–36, AnexoI3.2(vi) | data/raw/60356171000180/993687_review_20261007.pdf | https://fnet.bmfbovespa.com.br/fnet/publico/visualizarDocumento?id=993687 · Observação: Os tetos agregados de grupos 3/4 são testados separadamente; classificação dos grupos depende das definições do regulamento.</a:t>
            </a:r>
          </a:p>
          <a:p>
            <a:r>
              <a:t>CNPJ 62393679000183 · Concentração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Prazo dos recebíveis · Mínimo 7 dias; máximo menor entre 365 dias e vencimento das cotas seniores · Fundos.NET ID 733239 | 05/09/2024 | Regulamento | p. 32, Anexo I, elegibilidade/prazo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Prazo dos recebíveis · Mínimo 7 dias; máximo menor entre 365 dias e vencimento das cotas seniores · Fundos.NET ID 1337401 | 01/10/2026 | Regulamento | p. 32, Anexo I, elegibilidade/prazo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Prazo dos recebíveis · Mínimo 7 dias; máximo menor entre 365 dias e vencimento das cotas seniores · Fundos.NET ID 1268268 | 28/07/2026 | Regulamento | p. 33, Anexo I, elegibilidade/prazo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Prazo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Prazo dos recebíveis · Mínimo 7 dias; máximo menor entre 365 dias e vencimento das cotas seniores · Fundos.NET ID 1072799 | 22/12/2025 | Regulamento | p. 32, Anexo I, elegibilidade/prazo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Prazo dos recebíveis · Mínimo 7 dias; máximo menor entre 365 dias e vencimento das cotas seniores · Fundos.NET ID 1285773 | 11/08/2026 | Regulamento | p. 32, Anexo I, elegibilidade/prazo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Prazo dos recebíveis · Mínimo 7 dias; máximo menor entre 365 dias e vencimento das cotas seniores · Fundos.NET ID 993693 | 04/09/2025 | Regulamento | p. 35, Anexo I, elegibilidade/prazo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Prazo dos recebíveis · Mínimo 7 dias; máximo menor entre 365 dias e vencimento das cotas seniores · Fundos.NET ID 993687 | 04/09/2025 | Regulamento | p. 35, Anexo I, elegibilidade/prazo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Prazo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Ativos vedados · Créditos de administrador, gestor e relacionados vedados · Fundos.NET ID 733239 | 05/09/2024 | Regulamento | p. 30, Anexo I, partes relacionadas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Ativos vedados · Créditos de administrador, gestor e relacionados vedados · Fundos.NET ID 1337401 | 01/10/2026 | Regulamento | p. 30, Anexo I, partes relacionadas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Ativos vedados · Créditos de administrador, gestor e relacionados vedados · Fundos.NET ID 1268268 | 28/07/2026 | Regulamento | p. 31, Anexo I, partes relacionadas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Ativos vedados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Ativos vedados · Créditos de administrador, gestor e relacionados vedados · Fundos.NET ID 1072799 | 22/12/2025 | Regulamento | p. 30, Anexo I, partes relacionadas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Ativos vedados · Créditos de administrador, gestor e relacionados vedados · Fundos.NET ID 1285773 | 11/08/2026 | Regulamento | p. 30, Anexo I, partes relacionadas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Ativos vedados · Créditos de administrador, gestor e relacionados vedados salvo exceção com independência entre registradora/custodiante e partes relacionadas · Fundos.NET ID 993693 | 04/09/2025 | Regulamento | p. 33, Anexo I, partes relacionadas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Ativos vedados · Créditos de administrador, gestor e relacionados vedados salvo exceção com independência entre registradora/custodiante e partes relacionadas · Fundos.NET ID 993687 | 04/09/2025 | Regulamento | p. 33, Anexo I, partes relacionadas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Ativos vedados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Natureza dos recebíveis · Recebíveis de transações de cartões, devidos por emissores à Cloud Walk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Natureza dos recebíveis · Recebíveis de transações de cartões, devidos por emissores à Cloud Walk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Natureza dos recebíveis · Recebíveis de transações de cartões, devidos por emissores à Cloud Walk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Natureza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Natureza dos recebíveis · Recebíveis de transações de cartões, devidos por emissores à Cloud Walk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Natureza dos recebíveis · Recebíveis de transações de cartões, devidos por emissores à Cloud Walk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Natureza dos recebíveis · Recebíveis de transações de cartões, devidos por emissores à Cloud Walk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Natureza dos recebíveis · Recebíveis de transações de cartões, devidos por emissores à Cloud Walk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Natureza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Originador/endossante · Cloud Walk, como credenciadora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Originador/endossante · Cloud Walk, como credenciadora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Originador/endossante · Cloud Walk, como credenciadora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Originador/endossante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Originador/endossante · Cloud Walk, como credenciadora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Originador/endossante · Cloud Walk, como credenciadora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Originador/endossante · Cloud Walk, como credenciadora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Originador/endossante · Cloud Walk, como credenciadora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Originador/endossante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Devedor · Emissores dos instrumentos de pagamento; grupos de elegibilidade previstos no anexo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Devedor · Emissores dos instrumentos de pagamento; grupos de elegibilidade previstos no anexo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Devedor · Emissores dos instrumentos de pagamento; grupos de elegibilidade previstos no anexo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Devedor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Devedor · Emissores dos instrumentos de pagamento; grupos de elegibilidade previstos no anexo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Devedor · Emissores dos instrumentos de pagamento; grupos de elegibilidade previstos no anexo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Devedor · Emissores dos instrumentos de pagamento; grupos de elegibilidade previstos no anexo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Devedor · Emissores dos instrumentos de pagamento; grupos de elegibilidade previstos no anexo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Devedor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Garantia · Sem garantia do administrador, gestor, cedente, custodiante, seguro ou FGC · Fundos.NET ID 733239 | 05/09/2024 | Regulamento | p. 31, Anexo I, ausência de garantias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Garantia · Sem garantia do administrador, gestor, cedente, custodiante, seguro ou FGC · Fundos.NET ID 1337401 | 01/10/2026 | Regulamento | p. 31, Anexo I, ausência de garantias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Garantia · Sem garantia do administrador, gestor, cedente, custodiante, seguro ou FGC · Fundos.NET ID 1268268 | 28/07/2026 | Regulamento | p. 32, Anexo I, ausência de garantias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Garantia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Garantia · Sem garantia do administrador, gestor, cedente, custodiante, seguro ou FGC · Fundos.NET ID 1072799 | 22/12/2025 | Regulamento | p. 31, Anexo I, ausência de garantias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Garantia · Sem garantia do administrador, gestor, cedente, custodiante, seguro ou FGC · Fundos.NET ID 1285773 | 11/08/2026 | Regulamento | p. 31, Anexo I, ausência de garantias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Garantia · Sem garantia do administrador, gestor, cedente, custodiante, seguro ou FGC · Fundos.NET ID 993693 | 04/09/2025 | Regulamento | p. 34, Anexo I, ausência de garantias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Garantia · Sem garantia do administrador, gestor, cedente, custodiante, seguro ou FGC · Fundos.NET ID 993687 | 04/09/2025 | Regulamento | p. 34, Anexo I, ausência de garantias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Garantia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42102603000144 · Elegibilidade · Transações em moeda nacional; devedores adimplentes; validação na aquisição · Fundos.NET ID 733239 | 05/09/2024 | Regulamento | p. 32, Anexo I, critérios de elegibilidade | data/raw/42102603000144/733239_review_20261007.pdf | https://fnet.bmfbovespa.com.br/fnet/publico/visualizarDocumento?id=733239 · Observação: Consultar critérios integrais e condições de cessão; o IME público não comprova elegibilidade individual.</a:t>
            </a:r>
          </a:p>
          <a:p>
            <a:r>
              <a:t>CNPJ 44124617000194 · Elegibilidade · Transações em moeda nacional; devedores adimplentes; validação na aquisição · Fundos.NET ID 1337401 | 01/10/2026 | Regulamento | p. 32, Anexo I, critérios de elegibilidade | data/raw/44124617000194/1337401_review_20261007.pdf | https://fnet.bmfbovespa.com.br/fnet/publico/visualizarDocumento?id=1337401 · Observação: Consultar critérios integrais e condições de cessão; o IME público não comprova elegibilidade individual.</a:t>
            </a:r>
          </a:p>
          <a:p>
            <a:r>
              <a:t>CNPJ 54218673000141 · Elegibilidade · Transações em moeda nacional; devedores adimplentes; validação na aquisição · Fundos.NET ID 1268268 | 28/07/2026 | Regulamento | p. 33, Anexo I, critérios de elegibilidade | data/raw/54218673000141/1268268_review_20261007.pdf | https://fnet.bmfbovespa.com.br/fnet/publico/visualizarDocumento?id=1268268 · Observação: Consultar critérios integrais e condições de cessão; o IME público não comprova elegibilidade individual.</a:t>
            </a:r>
          </a:p>
          <a:p>
            <a:r>
              <a:t>CNPJ 54218941000125 ·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Elegibilidade · Transações em moeda nacional; devedores adimplentes; validação na aquisição · Fundos.NET ID 1072799 | 22/12/2025 | Regulamento | p. 32, Anexo I, critérios de elegibilidade | data/raw/54219179000100/1072799_review_20261007.pdf | https://fnet.bmfbovespa.com.br/fnet/publico/visualizarDocumento?id=1072799 · Observação: Consultar critérios integrais e condições de cessão; o IME público não comprova elegibilidade individual.</a:t>
            </a:r>
          </a:p>
          <a:p>
            <a:r>
              <a:t>CNPJ 54248022000102 · Elegibilidade · Transações em moeda nacional; devedores adimplentes; validação na aquisição · Fundos.NET ID 1285773 | 11/08/2026 | Regulamento | p. 32, Anexo I, critérios de elegibilidade | data/raw/54248022000102/1285773_review_20261007.pdf | https://fnet.bmfbovespa.com.br/fnet/publico/visualizarDocumento?id=1285773 · Observação: Consultar critérios integrais e condições de cessão; o IME público não comprova elegibilidade individual.</a:t>
            </a:r>
          </a:p>
          <a:p>
            <a:r>
              <a:t>CNPJ 57609282000146 · Elegibilidade · Transações em moeda nacional; devedores adimplentes; validação na aquisição · Fundos.NET ID 993693 | 04/09/2025 | Regulamento | p. 35, Anexo I, critérios de elegibilidade | data/raw/57609282000146/993693_review_20261007.pdf | https://fnet.bmfbovespa.com.br/fnet/publico/visualizarDocumento?id=993693 · Observação: Consultar critérios integrais e condições de cessão; o IME público não comprova elegibilidade individual.</a:t>
            </a:r>
          </a:p>
          <a:p>
            <a:r>
              <a:t>CNPJ 60356171000180 · Elegibilidade · Transações em moeda nacional; devedores adimplentes; validação na aquisição · Fundos.NET ID 993687 | 04/09/2025 | Regulamento | p. 35, Anexo I, critérios de elegibilidade | data/raw/60356171000180/993687_review_20261007.pdf | https://fnet.bmfbovespa.com.br/fnet/publico/visualizarDocumento?id=993687 · Observação: Consultar critérios integrais e condições de cessão; o IME público não comprova elegibilidade individual.</a:t>
            </a:r>
          </a:p>
          <a:p>
            <a:r>
              <a:t>CNPJ 62393679000183 ·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42102603000144 · Concentração · Limites por emissor e grupo no anexo; conferir tabela contratual e exceções para instituições financeiras · Fundos.NET ID 733239 | 05/09/2024 | Regulamento | p. 32, Anexo I, elegibilidade/concentração | data/raw/42102603000144/733239_review_20261007.pdf | https://fnet.bmfbovespa.com.br/fnet/publico/visualizarDocumento?id=733239 · Observação: Exposição individual por emissor/grupo não disponível no IME público; os percentuais não são um limite uniforme.</a:t>
            </a:r>
          </a:p>
          <a:p>
            <a:r>
              <a:t>CNPJ 44124617000194 · Concentração · Limites por emissor e grupo no anexo; conferir tabela contratual e exceções para instituições financeiras · Fundos.NET ID 1337401 | 01/10/2026 | Regulamento | p. 32, Anexo I, elegibilidade/concentração | data/raw/44124617000194/1337401_review_20261007.pdf | https://fnet.bmfbovespa.com.br/fnet/publico/visualizarDocumento?id=1337401 · Observação: Exposição individual por emissor/grupo não disponível no IME público; os percentuais não são um limite uniforme.</a:t>
            </a:r>
          </a:p>
          <a:p>
            <a:r>
              <a:t>CNPJ 54218673000141 · Concentração · Limites por emissor/grupo e exceção para IF acima de 20% do PL, salvo apêndice; observar critérios adicionais · Fundos.NET ID 1268268 | 28/07/2026 | Regulamento | p. 31, AnexoIlimites/elegibilidade | data/raw/54218673000141/1268268_review_20261007.pdf | https://fnet.bmfbovespa.com.br/fnet/publico/visualizarDocumento?id=1268268 · Observação: A dispensa de teto 20% para IF não elimina limites individuais/específicos de cada fundo.</a:t>
            </a:r>
          </a:p>
          <a:p>
            <a:r>
              <a:t>CNPJ 54218941000125 · Concentração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· Limites por emissor/grupo e exceção para IF acima de 20% do PL, salvo apêndice; observar critérios adicionais · Fundos.NET ID 1072799 | 22/12/2025 | Regulamento | p. 30, AnexoIlimites/elegibilidade | data/raw/54219179000100/1072799_review_20261007.pdf | https://fnet.bmfbovespa.com.br/fnet/publico/visualizarDocumento?id=1072799 · Observação: A dispensa de teto 20% para IF não elimina limites individuais/específicos de cada fundo.</a:t>
            </a:r>
          </a:p>
          <a:p>
            <a:r>
              <a:t>CNPJ 54248022000102 · Concentração · Não qualificado ≤1% do PL; C6/Neon≤10%; Midway/Realize≤7%; demais qualificados≤5% do PL · Fundos.NET ID 1285773 | 11/08/2026 | Regulamento | p. 32–33, 3.2(vi)–(vii) | data/raw/54248022000102/1285773_review_20261007.pdf | https://fnet.bmfbovespa.com.br/fnet/publico/visualizarDocumento?id=1285773 · Observação: Limites sobre PL, considerando emissores e respectivosgrupos; cadastroindividual necessário.</a:t>
            </a:r>
          </a:p>
          <a:p>
            <a:r>
              <a:t>CNPJ 57609282000146 · Concentração · Grupo 1+ caixa ≥52,5% do PL; Grupo 2 ≤15% por devedor; Grupo 3 ≤4%; Grupo 4 ≤2%; grupos 3/4 limitados também por subordinadas · Fundos.NET ID 993693 | 04/09/2025 | Regulamento | p. 35–36, AnexoI3.2(vi) | data/raw/57609282000146/993693_review_20261007.pdf | https://fnet.bmfbovespa.com.br/fnet/publico/visualizarDocumento?id=993693 · Observação: Os tetos agregados de grupos 3/4 são testados separadamente; classificação dos grupos depende das definições do regulamento.</a:t>
            </a:r>
          </a:p>
          <a:p>
            <a:r>
              <a:t>CNPJ 60356171000180 · Concentração · Grupo 1+ caixa ≥52,5% do PL; Grupo 2 ≤15% por devedor; Grupo 3 ≤4%; Grupo 4 ≤2%; grupos 3/4 limitados também por subordinadas · Fundos.NET ID 993687 | 04/09/2025 | Regulamento | p. 35–36, AnexoI3.2(vi) | data/raw/60356171000180/993687_review_20261007.pdf | https://fnet.bmfbovespa.com.br/fnet/publico/visualizarDocumento?id=993687 · Observação: Os tetos agregados de grupos 3/4 são testados separadamente; classificação dos grupos depende das definições do regulamento.</a:t>
            </a:r>
          </a:p>
          <a:p>
            <a:r>
              <a:t>CNPJ 62393679000183 · Concentração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Prazo dos recebíveis · Mínimo 7 dias; máximo menor entre 365 dias e vencimento das cotas seniores · Fundos.NET ID 733239 | 05/09/2024 | Regulamento | p. 32, Anexo I, elegibilidade/prazo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Prazo dos recebíveis · Mínimo 7 dias; máximo menor entre 365 dias e vencimento das cotas seniores · Fundos.NET ID 1337401 | 01/10/2026 | Regulamento | p. 32, Anexo I, elegibilidade/prazo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Prazo dos recebíveis · Mínimo 7 dias; máximo menor entre 365 dias e vencimento das cotas seniores · Fundos.NET ID 1268268 | 28/07/2026 | Regulamento | p. 33, Anexo I, elegibilidade/prazo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Prazo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Prazo dos recebíveis · Mínimo 7 dias; máximo menor entre 365 dias e vencimento das cotas seniores · Fundos.NET ID 1072799 | 22/12/2025 | Regulamento | p. 32, Anexo I, elegibilidade/prazo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Prazo dos recebíveis · Mínimo 7 dias; máximo menor entre 365 dias e vencimento das cotas seniores · Fundos.NET ID 1285773 | 11/08/2026 | Regulamento | p. 32, Anexo I, elegibilidade/prazo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Prazo dos recebíveis · Mínimo 7 dias; máximo menor entre 365 dias e vencimento das cotas seniores · Fundos.NET ID 993693 | 04/09/2025 | Regulamento | p. 35, Anexo I, elegibilidade/prazo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Prazo dos recebíveis · Mínimo 7 dias; máximo menor entre 365 dias e vencimento das cotas seniores · Fundos.NET ID 993687 | 04/09/2025 | Regulamento | p. 35, Anexo I, elegibilidade/prazo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Prazo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Ativos vedados · Créditos de administrador, gestor e relacionados vedados · Fundos.NET ID 733239 | 05/09/2024 | Regulamento | p. 30, Anexo I, partes relacionadas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Ativos vedados · Créditos de administrador, gestor e relacionados vedados · Fundos.NET ID 1337401 | 01/10/2026 | Regulamento | p. 30, Anexo I, partes relacionadas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Ativos vedados · Créditos de administrador, gestor e relacionados vedados · Fundos.NET ID 1268268 | 28/07/2026 | Regulamento | p. 31, Anexo I, partes relacionadas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Ativos vedados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Ativos vedados · Créditos de administrador, gestor e relacionados vedados · Fundos.NET ID 1072799 | 22/12/2025 | Regulamento | p. 30, Anexo I, partes relacionadas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Ativos vedados · Créditos de administrador, gestor e relacionados vedados · Fundos.NET ID 1285773 | 11/08/2026 | Regulamento | p. 30, Anexo I, partes relacionadas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Ativos vedados · Créditos de administrador, gestor e relacionados vedados salvo exceção com independência entre registradora/custodiante e partes relacionadas · Fundos.NET ID 993693 | 04/09/2025 | Regulamento | p. 33, Anexo I, partes relacionadas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Ativos vedados · Créditos de administrador, gestor e relacionados vedados salvo exceção com independência entre registradora/custodiante e partes relacionadas · Fundos.NET ID 993687 | 04/09/2025 | Regulamento | p. 33, Anexo I, partes relacionadas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Ativos vedados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Natureza dos recebíveis · Recebíveis de transações de cartões, devidos por emissores à Cloud Walk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Natureza dos recebíveis · Recebíveis de transações de cartões, devidos por emissores à Cloud Walk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Natureza dos recebíveis · Recebíveis de transações de cartões, devidos por emissores à Cloud Walk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Natureza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Natureza dos recebíveis · Recebíveis de transações de cartões, devidos por emissores à Cloud Walk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Natureza dos recebíveis · Recebíveis de transações de cartões, devidos por emissores à Cloud Walk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Natureza dos recebíveis · Recebíveis de transações de cartões, devidos por emissores à Cloud Walk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Natureza dos recebíveis · Recebíveis de transações de cartões, devidos por emissores à Cloud Walk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Natureza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Originador/endossante · Cloud Walk, como credenciadora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Originador/endossante · Cloud Walk, como credenciadora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Originador/endossante · Cloud Walk, como credenciadora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Originador/endossante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Originador/endossante · Cloud Walk, como credenciadora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Originador/endossante · Cloud Walk, como credenciadora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Originador/endossante · Cloud Walk, como credenciadora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Originador/endossante · Cloud Walk, como credenciadora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Originador/endossante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Devedor · Emissores dos instrumentos de pagamento; grupos de elegibilidade previstos no anexo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Devedor · Emissores dos instrumentos de pagamento; grupos de elegibilidade previstos no anexo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Devedor · Emissores dos instrumentos de pagamento; grupos de elegibilidade previstos no anexo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Devedor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Devedor · Emissores dos instrumentos de pagamento; grupos de elegibilidade previstos no anexo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Devedor · Emissores dos instrumentos de pagamento; grupos de elegibilidade previstos no anexo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Devedor · Emissores dos instrumentos de pagamento; grupos de elegibilidade previstos no anexo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Devedor · Emissores dos instrumentos de pagamento; grupos de elegibilidade previstos no anexo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Devedor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Garantia · Sem garantia do administrador, gestor, cedente, custodiante, seguro ou FGC · Fundos.NET ID 733239 | 05/09/2024 | Regulamento | p. 31, Anexo I, ausência de garantias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Garantia · Sem garantia do administrador, gestor, cedente, custodiante, seguro ou FGC · Fundos.NET ID 1337401 | 01/10/2026 | Regulamento | p. 31, Anexo I, ausência de garantias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Garantia · Sem garantia do administrador, gestor, cedente, custodiante, seguro ou FGC · Fundos.NET ID 1268268 | 28/07/2026 | Regulamento | p. 32, Anexo I, ausência de garantias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Garantia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Garantia · Sem garantia do administrador, gestor, cedente, custodiante, seguro ou FGC · Fundos.NET ID 1072799 | 22/12/2025 | Regulamento | p. 31, Anexo I, ausência de garantias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Garantia · Sem garantia do administrador, gestor, cedente, custodiante, seguro ou FGC · Fundos.NET ID 1285773 | 11/08/2026 | Regulamento | p. 31, Anexo I, ausência de garantias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Garantia · Sem garantia do administrador, gestor, cedente, custodiante, seguro ou FGC · Fundos.NET ID 993693 | 04/09/2025 | Regulamento | p. 34, Anexo I, ausência de garantias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Garantia · Sem garantia do administrador, gestor, cedente, custodiante, seguro ou FGC · Fundos.NET ID 993687 | 04/09/2025 | Regulamento | p. 34, Anexo I, ausência de garantias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Garantia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42102603000144 · Elegibilidade · Transações em moeda nacional; devedores adimplentes; validação na aquisição · Fundos.NET ID 733239 | 05/09/2024 | Regulamento | p. 32, Anexo I, critérios de elegibilidade | data/raw/42102603000144/733239_review_20261007.pdf | https://fnet.bmfbovespa.com.br/fnet/publico/visualizarDocumento?id=733239 · Observação: Consultar critérios integrais e condições de cessão; o IME público não comprova elegibilidade individual.</a:t>
            </a:r>
          </a:p>
          <a:p>
            <a:r>
              <a:t>CNPJ 44124617000194 · Elegibilidade · Transações em moeda nacional; devedores adimplentes; validação na aquisição · Fundos.NET ID 1337401 | 01/10/2026 | Regulamento | p. 32, Anexo I, critérios de elegibilidade | data/raw/44124617000194/1337401_review_20261007.pdf | https://fnet.bmfbovespa.com.br/fnet/publico/visualizarDocumento?id=1337401 · Observação: Consultar critérios integrais e condições de cessão; o IME público não comprova elegibilidade individual.</a:t>
            </a:r>
          </a:p>
          <a:p>
            <a:r>
              <a:t>CNPJ 54218673000141 · Elegibilidade · Transações em moeda nacional; devedores adimplentes; validação na aquisição · Fundos.NET ID 1268268 | 28/07/2026 | Regulamento | p. 33, Anexo I, critérios de elegibilidade | data/raw/54218673000141/1268268_review_20261007.pdf | https://fnet.bmfbovespa.com.br/fnet/publico/visualizarDocumento?id=1268268 · Observação: Consultar critérios integrais e condições de cessão; o IME público não comprova elegibilidade individual.</a:t>
            </a:r>
          </a:p>
          <a:p>
            <a:r>
              <a:t>CNPJ 54218941000125 ·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Elegibilidade · Transações em moeda nacional; devedores adimplentes; validação na aquisição · Fundos.NET ID 1072799 | 22/12/2025 | Regulamento | p. 32, Anexo I, critérios de elegibilidade | data/raw/54219179000100/1072799_review_20261007.pdf | https://fnet.bmfbovespa.com.br/fnet/publico/visualizarDocumento?id=1072799 · Observação: Consultar critérios integrais e condições de cessão; o IME público não comprova elegibilidade individual.</a:t>
            </a:r>
          </a:p>
          <a:p>
            <a:r>
              <a:t>CNPJ 54248022000102 · Elegibilidade · Transações em moeda nacional; devedores adimplentes; validação na aquisição · Fundos.NET ID 1285773 | 11/08/2026 | Regulamento | p. 32, Anexo I, critérios de elegibilidade | data/raw/54248022000102/1285773_review_20261007.pdf | https://fnet.bmfbovespa.com.br/fnet/publico/visualizarDocumento?id=1285773 · Observação: Consultar critérios integrais e condições de cessão; o IME público não comprova elegibilidade individual.</a:t>
            </a:r>
          </a:p>
          <a:p>
            <a:r>
              <a:t>CNPJ 57609282000146 · Elegibilidade · Transações em moeda nacional; devedores adimplentes; validação na aquisição · Fundos.NET ID 993693 | 04/09/2025 | Regulamento | p. 35, Anexo I, critérios de elegibilidade | data/raw/57609282000146/993693_review_20261007.pdf | https://fnet.bmfbovespa.com.br/fnet/publico/visualizarDocumento?id=993693 · Observação: Consultar critérios integrais e condições de cessão; o IME público não comprova elegibilidade individual.</a:t>
            </a:r>
          </a:p>
          <a:p>
            <a:r>
              <a:t>CNPJ 60356171000180 · Elegibilidade · Transações em moeda nacional; devedores adimplentes; validação na aquisição · Fundos.NET ID 993687 | 04/09/2025 | Regulamento | p. 35, Anexo I, critérios de elegibilidade | data/raw/60356171000180/993687_review_20261007.pdf | https://fnet.bmfbovespa.com.br/fnet/publico/visualizarDocumento?id=993687 · Observação: Consultar critérios integrais e condições de cessão; o IME público não comprova elegibilidade individual.</a:t>
            </a:r>
          </a:p>
          <a:p>
            <a:r>
              <a:t>CNPJ 62393679000183 ·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42102603000144 · Concentração · Limites por emissor e grupo no anexo; conferir tabela contratual e exceções para instituições financeiras · Fundos.NET ID 733239 | 05/09/2024 | Regulamento | p. 32, Anexo I, elegibilidade/concentração | data/raw/42102603000144/733239_review_20261007.pdf | https://fnet.bmfbovespa.com.br/fnet/publico/visualizarDocumento?id=733239 · Observação: Exposição individual por emissor/grupo não disponível no IME público; os percentuais não são um limite uniforme.</a:t>
            </a:r>
          </a:p>
          <a:p>
            <a:r>
              <a:t>CNPJ 44124617000194 · Concentração · Limites por emissor e grupo no anexo; conferir tabela contratual e exceções para instituições financeiras · Fundos.NET ID 1337401 | 01/10/2026 | Regulamento | p. 32, Anexo I, elegibilidade/concentração | data/raw/44124617000194/1337401_review_20261007.pdf | https://fnet.bmfbovespa.com.br/fnet/publico/visualizarDocumento?id=1337401 · Observação: Exposição individual por emissor/grupo não disponível no IME público; os percentuais não são um limite uniforme.</a:t>
            </a:r>
          </a:p>
          <a:p>
            <a:r>
              <a:t>CNPJ 54218673000141 · Concentração · Limites por emissor/grupo e exceção para IF acima de 20% do PL, salvo apêndice; observar critérios adicionais · Fundos.NET ID 1268268 | 28/07/2026 | Regulamento | p. 31, AnexoIlimites/elegibilidade | data/raw/54218673000141/1268268_review_20261007.pdf | https://fnet.bmfbovespa.com.br/fnet/publico/visualizarDocumento?id=1268268 · Observação: A dispensa de teto 20% para IF não elimina limites individuais/específicos de cada fundo.</a:t>
            </a:r>
          </a:p>
          <a:p>
            <a:r>
              <a:t>CNPJ 54218941000125 · Concentração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· Limites por emissor/grupo e exceção para IF acima de 20% do PL, salvo apêndice; observar critérios adicionais · Fundos.NET ID 1072799 | 22/12/2025 | Regulamento | p. 30, AnexoIlimites/elegibilidade | data/raw/54219179000100/1072799_review_20261007.pdf | https://fnet.bmfbovespa.com.br/fnet/publico/visualizarDocumento?id=1072799 · Observação: A dispensa de teto 20% para IF não elimina limites individuais/específicos de cada fundo.</a:t>
            </a:r>
          </a:p>
          <a:p>
            <a:r>
              <a:t>CNPJ 54248022000102 · Concentração · Não qualificado ≤1% do PL; C6/Neon≤10%; Midway/Realize≤7%; demais qualificados≤5% do PL · Fundos.NET ID 1285773 | 11/08/2026 | Regulamento | p. 32–33, 3.2(vi)–(vii) | data/raw/54248022000102/1285773_review_20261007.pdf | https://fnet.bmfbovespa.com.br/fnet/publico/visualizarDocumento?id=1285773 · Observação: Limites sobre PL, considerando emissores e respectivosgrupos; cadastroindividual necessário.</a:t>
            </a:r>
          </a:p>
          <a:p>
            <a:r>
              <a:t>CNPJ 57609282000146 · Concentração · Grupo 1+ caixa ≥52,5% do PL; Grupo 2 ≤15% por devedor; Grupo 3 ≤4%; Grupo 4 ≤2%; grupos 3/4 limitados também por subordinadas · Fundos.NET ID 993693 | 04/09/2025 | Regulamento | p. 35–36, AnexoI3.2(vi) | data/raw/57609282000146/993693_review_20261007.pdf | https://fnet.bmfbovespa.com.br/fnet/publico/visualizarDocumento?id=993693 · Observação: Os tetos agregados de grupos 3/4 são testados separadamente; classificação dos grupos depende das definições do regulamento.</a:t>
            </a:r>
          </a:p>
          <a:p>
            <a:r>
              <a:t>CNPJ 60356171000180 · Concentração · Grupo 1+ caixa ≥52,5% do PL; Grupo 2 ≤15% por devedor; Grupo 3 ≤4%; Grupo 4 ≤2%; grupos 3/4 limitados também por subordinadas · Fundos.NET ID 993687 | 04/09/2025 | Regulamento | p. 35–36, AnexoI3.2(vi) | data/raw/60356171000180/993687_review_20261007.pdf | https://fnet.bmfbovespa.com.br/fnet/publico/visualizarDocumento?id=993687 · Observação: Os tetos agregados de grupos 3/4 são testados separadamente; classificação dos grupos depende das definições do regulamento.</a:t>
            </a:r>
          </a:p>
          <a:p>
            <a:r>
              <a:t>CNPJ 62393679000183 · Concentração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Prazo dos recebíveis · Mínimo 7 dias; máximo menor entre 365 dias e vencimento das cotas seniores · Fundos.NET ID 733239 | 05/09/2024 | Regulamento | p. 32, Anexo I, elegibilidade/prazo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Prazo dos recebíveis · Mínimo 7 dias; máximo menor entre 365 dias e vencimento das cotas seniores · Fundos.NET ID 1337401 | 01/10/2026 | Regulamento | p. 32, Anexo I, elegibilidade/prazo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Prazo dos recebíveis · Mínimo 7 dias; máximo menor entre 365 dias e vencimento das cotas seniores · Fundos.NET ID 1268268 | 28/07/2026 | Regulamento | p. 33, Anexo I, elegibilidade/prazo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Prazo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Prazo dos recebíveis · Mínimo 7 dias; máximo menor entre 365 dias e vencimento das cotas seniores · Fundos.NET ID 1072799 | 22/12/2025 | Regulamento | p. 32, Anexo I, elegibilidade/prazo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Prazo dos recebíveis · Mínimo 7 dias; máximo menor entre 365 dias e vencimento das cotas seniores · Fundos.NET ID 1285773 | 11/08/2026 | Regulamento | p. 32, Anexo I, elegibilidade/prazo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Prazo dos recebíveis · Mínimo 7 dias; máximo menor entre 365 dias e vencimento das cotas seniores · Fundos.NET ID 993693 | 04/09/2025 | Regulamento | p. 35, Anexo I, elegibilidade/prazo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Prazo dos recebíveis · Mínimo 7 dias; máximo menor entre 365 dias e vencimento das cotas seniores · Fundos.NET ID 993687 | 04/09/2025 | Regulamento | p. 35, Anexo I, elegibilidade/prazo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Prazo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Ativos vedados · Créditos de administrador, gestor e relacionados vedados · Fundos.NET ID 733239 | 05/09/2024 | Regulamento | p. 30, Anexo I, partes relacionadas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Ativos vedados · Créditos de administrador, gestor e relacionados vedados · Fundos.NET ID 1337401 | 01/10/2026 | Regulamento | p. 30, Anexo I, partes relacionadas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Ativos vedados · Créditos de administrador, gestor e relacionados vedados · Fundos.NET ID 1268268 | 28/07/2026 | Regulamento | p. 31, Anexo I, partes relacionadas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Ativos vedados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Ativos vedados · Créditos de administrador, gestor e relacionados vedados · Fundos.NET ID 1072799 | 22/12/2025 | Regulamento | p. 30, Anexo I, partes relacionadas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Ativos vedados · Créditos de administrador, gestor e relacionados vedados · Fundos.NET ID 1285773 | 11/08/2026 | Regulamento | p. 30, Anexo I, partes relacionadas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Ativos vedados · Créditos de administrador, gestor e relacionados vedados salvo exceção com independência entre registradora/custodiante e partes relacionadas · Fundos.NET ID 993693 | 04/09/2025 | Regulamento | p. 33, Anexo I, partes relacionadas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Ativos vedados · Créditos de administrador, gestor e relacionados vedados salvo exceção com independência entre registradora/custodiante e partes relacionadas · Fundos.NET ID 993687 | 04/09/2025 | Regulamento | p. 33, Anexo I, partes relacionadas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Ativos vedados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Natureza dos recebíveis · Recebíveis de transações de cartões, devidos por emissores à Cloud Walk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Natureza dos recebíveis · Recebíveis de transações de cartões, devidos por emissores à Cloud Walk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Natureza dos recebíveis · Recebíveis de transações de cartões, devidos por emissores à Cloud Walk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Natureza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Natureza dos recebíveis · Recebíveis de transações de cartões, devidos por emissores à Cloud Walk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Natureza dos recebíveis · Recebíveis de transações de cartões, devidos por emissores à Cloud Walk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Natureza dos recebíveis · Recebíveis de transações de cartões, devidos por emissores à Cloud Walk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Natureza dos recebíveis · Recebíveis de transações de cartões, devidos por emissores à Cloud Walk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Natureza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Originador/endossante · Cloud Walk, como credenciadora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Originador/endossante · Cloud Walk, como credenciadora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Originador/endossante · Cloud Walk, como credenciadora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Originador/endossante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Originador/endossante · Cloud Walk, como credenciadora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Originador/endossante · Cloud Walk, como credenciadora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Originador/endossante · Cloud Walk, como credenciadora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Originador/endossante · Cloud Walk, como credenciadora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Originador/endossante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Devedor · Emissores dos instrumentos de pagamento; grupos de elegibilidade previstos no anexo · Fundos.NET ID 733239 | 05/09/2024 | Regulamento | p. 28, Anexo I, origem dos créditos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Devedor · Emissores dos instrumentos de pagamento; grupos de elegibilidade previstos no anexo · Fundos.NET ID 1337401 | 01/10/2026 | Regulamento | p. 28, Anexo I, origem dos créditos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Devedor · Emissores dos instrumentos de pagamento; grupos de elegibilidade previstos no anexo · Fundos.NET ID 1268268 | 28/07/2026 | Regulamento | p. 29, Anexo I, origem dos créditos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Devedor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Devedor · Emissores dos instrumentos de pagamento; grupos de elegibilidade previstos no anexo · Fundos.NET ID 1072799 | 22/12/2025 | Regulamento | p. 28, Anexo I, origem dos créditos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Devedor · Emissores dos instrumentos de pagamento; grupos de elegibilidade previstos no anexo · Fundos.NET ID 1285773 | 11/08/2026 | Regulamento | p. 28, Anexo I, origem dos créditos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Devedor · Emissores dos instrumentos de pagamento; grupos de elegibilidade previstos no anexo · Fundos.NET ID 993693 | 04/09/2025 | Regulamento | p. 31, Anexo I, origem dos créditos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Devedor · Emissores dos instrumentos de pagamento; grupos de elegibilidade previstos no anexo · Fundos.NET ID 993687 | 04/09/2025 | Regulamento | p. 31, Anexo I, origem dos créditos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Devedor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Garantia · Sem garantia do administrador, gestor, cedente, custodiante, seguro ou FGC · Fundos.NET ID 733239 | 05/09/2024 | Regulamento | p. 31, Anexo I, ausência de garantias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Garantia · Sem garantia do administrador, gestor, cedente, custodiante, seguro ou FGC · Fundos.NET ID 1337401 | 01/10/2026 | Regulamento | p. 31, Anexo I, ausência de garantias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Garantia · Sem garantia do administrador, gestor, cedente, custodiante, seguro ou FGC · Fundos.NET ID 1268268 | 28/07/2026 | Regulamento | p. 32, Anexo I, ausência de garantias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Garantia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Garantia · Sem garantia do administrador, gestor, cedente, custodiante, seguro ou FGC · Fundos.NET ID 1072799 | 22/12/2025 | Regulamento | p. 31, Anexo I, ausência de garantias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Garantia · Sem garantia do administrador, gestor, cedente, custodiante, seguro ou FGC · Fundos.NET ID 1285773 | 11/08/2026 | Regulamento | p. 31, Anexo I, ausência de garantias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Garantia · Sem garantia do administrador, gestor, cedente, custodiante, seguro ou FGC · Fundos.NET ID 993693 | 04/09/2025 | Regulamento | p. 34, Anexo I, ausência de garantias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Garantia · Sem garantia do administrador, gestor, cedente, custodiante, seguro ou FGC · Fundos.NET ID 993687 | 04/09/2025 | Regulamento | p. 34, Anexo I, ausência de garantias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Garantia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42102603000144 · Elegibilidade · Transações em moeda nacional; devedores adimplentes; validação na aquisição · Fundos.NET ID 733239 | 05/09/2024 | Regulamento | p. 32, Anexo I, critérios de elegibilidade | data/raw/42102603000144/733239_review_20261007.pdf | https://fnet.bmfbovespa.com.br/fnet/publico/visualizarDocumento?id=733239 · Observação: Consultar critérios integrais e condições de cessão; o IME público não comprova elegibilidade individual.</a:t>
            </a:r>
          </a:p>
          <a:p>
            <a:r>
              <a:t>CNPJ 44124617000194 · Elegibilidade · Transações em moeda nacional; devedores adimplentes; validação na aquisição · Fundos.NET ID 1337401 | 01/10/2026 | Regulamento | p. 32, Anexo I, critérios de elegibilidade | data/raw/44124617000194/1337401_review_20261007.pdf | https://fnet.bmfbovespa.com.br/fnet/publico/visualizarDocumento?id=1337401 · Observação: Consultar critérios integrais e condições de cessão; o IME público não comprova elegibilidade individual.</a:t>
            </a:r>
          </a:p>
          <a:p>
            <a:r>
              <a:t>CNPJ 54218673000141 · Elegibilidade · Transações em moeda nacional; devedores adimplentes; validação na aquisição · Fundos.NET ID 1268268 | 28/07/2026 | Regulamento | p. 33, Anexo I, critérios de elegibilidade | data/raw/54218673000141/1268268_review_20261007.pdf | https://fnet.bmfbovespa.com.br/fnet/publico/visualizarDocumento?id=1268268 · Observação: Consultar critérios integrais e condições de cessão; o IME público não comprova elegibilidade individual.</a:t>
            </a:r>
          </a:p>
          <a:p>
            <a:r>
              <a:t>CNPJ 54218941000125 ·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Elegibilidade · Transações em moeda nacional; devedores adimplentes; validação na aquisição · Fundos.NET ID 1072799 | 22/12/2025 | Regulamento | p. 32, Anexo I, critérios de elegibilidade | data/raw/54219179000100/1072799_review_20261007.pdf | https://fnet.bmfbovespa.com.br/fnet/publico/visualizarDocumento?id=1072799 · Observação: Consultar critérios integrais e condições de cessão; o IME público não comprova elegibilidade individual.</a:t>
            </a:r>
          </a:p>
          <a:p>
            <a:r>
              <a:t>CNPJ 54248022000102 · Elegibilidade · Transações em moeda nacional; devedores adimplentes; validação na aquisição · Fundos.NET ID 1285773 | 11/08/2026 | Regulamento | p. 32, Anexo I, critérios de elegibilidade | data/raw/54248022000102/1285773_review_20261007.pdf | https://fnet.bmfbovespa.com.br/fnet/publico/visualizarDocumento?id=1285773 · Observação: Consultar critérios integrais e condições de cessão; o IME público não comprova elegibilidade individual.</a:t>
            </a:r>
          </a:p>
          <a:p>
            <a:r>
              <a:t>CNPJ 57609282000146 · Elegibilidade · Transações em moeda nacional; devedores adimplentes; validação na aquisição · Fundos.NET ID 993693 | 04/09/2025 | Regulamento | p. 35, Anexo I, critérios de elegibilidade | data/raw/57609282000146/993693_review_20261007.pdf | https://fnet.bmfbovespa.com.br/fnet/publico/visualizarDocumento?id=993693 · Observação: Consultar critérios integrais e condições de cessão; o IME público não comprova elegibilidade individual.</a:t>
            </a:r>
          </a:p>
          <a:p>
            <a:r>
              <a:t>CNPJ 60356171000180 · Elegibilidade · Transações em moeda nacional; devedores adimplentes; validação na aquisição · Fundos.NET ID 993687 | 04/09/2025 | Regulamento | p. 35, Anexo I, critérios de elegibilidade | data/raw/60356171000180/993687_review_20261007.pdf | https://fnet.bmfbovespa.com.br/fnet/publico/visualizarDocumento?id=993687 · Observação: Consultar critérios integrais e condições de cessão; o IME público não comprova elegibilidade individual.</a:t>
            </a:r>
          </a:p>
          <a:p>
            <a:r>
              <a:t>CNPJ 62393679000183 ·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42102603000144 · Concentração · Limites por emissor e grupo no anexo; conferir tabela contratual e exceções para instituições financeiras · Fundos.NET ID 733239 | 05/09/2024 | Regulamento | p. 32, Anexo I, elegibilidade/concentração | data/raw/42102603000144/733239_review_20261007.pdf | https://fnet.bmfbovespa.com.br/fnet/publico/visualizarDocumento?id=733239 · Observação: Exposição individual por emissor/grupo não disponível no IME público; os percentuais não são um limite uniforme.</a:t>
            </a:r>
          </a:p>
          <a:p>
            <a:r>
              <a:t>CNPJ 44124617000194 · Concentração · Limites por emissor e grupo no anexo; conferir tabela contratual e exceções para instituições financeiras · Fundos.NET ID 1337401 | 01/10/2026 | Regulamento | p. 32, Anexo I, elegibilidade/concentração | data/raw/44124617000194/1337401_review_20261007.pdf | https://fnet.bmfbovespa.com.br/fnet/publico/visualizarDocumento?id=1337401 · Observação: Exposição individual por emissor/grupo não disponível no IME público; os percentuais não são um limite uniforme.</a:t>
            </a:r>
          </a:p>
          <a:p>
            <a:r>
              <a:t>CNPJ 54218673000141 · Concentração · Limites por emissor/grupo e exceção para IF acima de 20% do PL, salvo apêndice; observar critérios adicionais · Fundos.NET ID 1268268 | 28/07/2026 | Regulamento | p. 31, AnexoIlimites/elegibilidade | data/raw/54218673000141/1268268_review_20261007.pdf | https://fnet.bmfbovespa.com.br/fnet/publico/visualizarDocumento?id=1268268 · Observação: A dispensa de teto 20% para IF não elimina limites individuais/específicos de cada fundo.</a:t>
            </a:r>
          </a:p>
          <a:p>
            <a:r>
              <a:t>CNPJ 54218941000125 · Concentração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· Limites por emissor/grupo e exceção para IF acima de 20% do PL, salvo apêndice; observar critérios adicionais · Fundos.NET ID 1072799 | 22/12/2025 | Regulamento | p. 30, AnexoIlimites/elegibilidade | data/raw/54219179000100/1072799_review_20261007.pdf | https://fnet.bmfbovespa.com.br/fnet/publico/visualizarDocumento?id=1072799 · Observação: A dispensa de teto 20% para IF não elimina limites individuais/específicos de cada fundo.</a:t>
            </a:r>
          </a:p>
          <a:p>
            <a:r>
              <a:t>CNPJ 54248022000102 · Concentração · Não qualificado ≤1% do PL; C6/Neon≤10%; Midway/Realize≤7%; demais qualificados≤5% do PL · Fundos.NET ID 1285773 | 11/08/2026 | Regulamento | p. 32–33, 3.2(vi)–(vii) | data/raw/54248022000102/1285773_review_20261007.pdf | https://fnet.bmfbovespa.com.br/fnet/publico/visualizarDocumento?id=1285773 · Observação: Limites sobre PL, considerando emissores e respectivosgrupos; cadastroindividual necessário.</a:t>
            </a:r>
          </a:p>
          <a:p>
            <a:r>
              <a:t>CNPJ 57609282000146 · Concentração · Grupo 1+ caixa ≥52,5% do PL; Grupo 2 ≤15% por devedor; Grupo 3 ≤4%; Grupo 4 ≤2%; grupos 3/4 limitados também por subordinadas · Fundos.NET ID 993693 | 04/09/2025 | Regulamento | p. 35–36, AnexoI3.2(vi) | data/raw/57609282000146/993693_review_20261007.pdf | https://fnet.bmfbovespa.com.br/fnet/publico/visualizarDocumento?id=993693 · Observação: Os tetos agregados de grupos 3/4 são testados separadamente; classificação dos grupos depende das definições do regulamento.</a:t>
            </a:r>
          </a:p>
          <a:p>
            <a:r>
              <a:t>CNPJ 60356171000180 · Concentração · Grupo 1+ caixa ≥52,5% do PL; Grupo 2 ≤15% por devedor; Grupo 3 ≤4%; Grupo 4 ≤2%; grupos 3/4 limitados também por subordinadas · Fundos.NET ID 993687 | 04/09/2025 | Regulamento | p. 35–36, AnexoI3.2(vi) | data/raw/60356171000180/993687_review_20261007.pdf | https://fnet.bmfbovespa.com.br/fnet/publico/visualizarDocumento?id=993687 · Observação: Os tetos agregados de grupos 3/4 são testados separadamente; classificação dos grupos depende das definições do regulamento.</a:t>
            </a:r>
          </a:p>
          <a:p>
            <a:r>
              <a:t>CNPJ 62393679000183 · Concentração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Prazo dos recebíveis · Mínimo 7 dias; máximo menor entre 365 dias e vencimento das cotas seniores · Fundos.NET ID 733239 | 05/09/2024 | Regulamento | p. 32, Anexo I, elegibilidade/prazo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Prazo dos recebíveis · Mínimo 7 dias; máximo menor entre 365 dias e vencimento das cotas seniores · Fundos.NET ID 1337401 | 01/10/2026 | Regulamento | p. 32, Anexo I, elegibilidade/prazo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Prazo dos recebíveis · Mínimo 7 dias; máximo menor entre 365 dias e vencimento das cotas seniores · Fundos.NET ID 1268268 | 28/07/2026 | Regulamento | p. 33, Anexo I, elegibilidade/prazo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Prazo dos recebíveis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Prazo dos recebíveis · Mínimo 7 dias; máximo menor entre 365 dias e vencimento das cotas seniores · Fundos.NET ID 1072799 | 22/12/2025 | Regulamento | p. 32, Anexo I, elegibilidade/prazo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Prazo dos recebíveis · Mínimo 7 dias; máximo menor entre 365 dias e vencimento das cotas seniores · Fundos.NET ID 1285773 | 11/08/2026 | Regulamento | p. 32, Anexo I, elegibilidade/prazo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Prazo dos recebíveis · Mínimo 7 dias; máximo menor entre 365 dias e vencimento das cotas seniores · Fundos.NET ID 993693 | 04/09/2025 | Regulamento | p. 35, Anexo I, elegibilidade/prazo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Prazo dos recebíveis · Mínimo 7 dias; máximo menor entre 365 dias e vencimento das cotas seniores · Fundos.NET ID 993687 | 04/09/2025 | Regulamento | p. 35, Anexo I, elegibilidade/prazo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Prazo dos recebíveis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Ativos vedados · Créditos de administrador, gestor e relacionados vedados · Fundos.NET ID 733239 | 05/09/2024 | Regulamento | p. 30, Anexo I, partes relacionadas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Ativos vedados · Créditos de administrador, gestor e relacionados vedados · Fundos.NET ID 1337401 | 01/10/2026 | Regulamento | p. 30, Anexo I, partes relacionadas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Ativos vedados · Créditos de administrador, gestor e relacionados vedados · Fundos.NET ID 1268268 | 28/07/2026 | Regulamento | p. 31, Anexo I, partes relacionadas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Ativos vedados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Ativos vedados · Créditos de administrador, gestor e relacionados vedados · Fundos.NET ID 1072799 | 22/12/2025 | Regulamento | p. 30, Anexo I, partes relacionadas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Ativos vedados · Créditos de administrador, gestor e relacionados vedados · Fundos.NET ID 1285773 | 11/08/2026 | Regulamento | p. 30, Anexo I, partes relacionadas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Ativos vedados · Créditos de administrador, gestor e relacionados vedados salvo exceção com independência entre registradora/custodiante e partes relacionadas · Fundos.NET ID 993693 | 04/09/2025 | Regulamento | p. 33, Anexo I, partes relacionadas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Ativos vedados · Créditos de administrador, gestor e relacionados vedados salvo exceção com independência entre registradora/custodiante e partes relacionadas · Fundos.NET ID 993687 | 04/09/2025 | Regulamento | p. 33, Anexo I, partes relacionadas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Ativos vedados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Subordinação mínima · ≥ 6,8%: subordinadas / PL, apuração diária · Fundos.NET ID 733239 | 05/09/2024 | Regulamento | p. 99, Suplemento definições, índice de subordinação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Subordinação mínima · ≥ 5%: subordinadas / PL, apuração diária · Fundos.NET ID 1337401 | 01/10/2026 | Regulamento | p. 100, Suplemento definições, índice de subordinação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Subordinação mínima · ≥ 2,5%: subordinadas / PL, apuração diária · Fundos.NET ID 1268268 | 28/07/2026 | Regulamento | p. 103, Suplemento definições, índice de subordinação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Subordinação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mínima · Divergência: numeral 5% / extenso três por cento; confirmar redação aplicável · Fundos.NET ID 1072799 | 22/12/2025 | Regulamento | p. 102, definição índice de subordinação | data/raw/54219179000100/1072799_review_20261007.pdf | https://fnet.bmfbovespa.com.br/fnet/publico/visualizarDocumento?id=1072799 · Observação: Não converter em limite operacional até conciliar numeral/extenso com administrador ou alteração documental inequívoca.</a:t>
            </a:r>
          </a:p>
          <a:p>
            <a:r>
              <a:t>CNPJ 54248022000102 · Subordinação mínima · ≥ 20%: subordinadas / PL, apuração diária · Fundos.NET ID 1285773 | 11/08/2026 | Regulamento | p. 107, Suplemento definições, índice de subordinação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Subordinação mínima · Mínimo 15,5%; ramp-up 15,75%; target 16% (subordinadas / PL) · Fundos.NET ID 993693 | 04/09/2025 | Regulamento | p. 115, Suplemento definições, índices sênior | data/raw/57609282000146/993693_review_20261007.pdf | https://fnet.bmfbovespa.com.br/fnet/publico/visualizarDocumento?id=993693 · Observação: Níveis mínimo, ramp-up e target têm funções distintas; validar estágio contratual para alerta.</a:t>
            </a:r>
          </a:p>
          <a:p>
            <a:r>
              <a:t>CNPJ 60356171000180 · Subordinação mínima · Mínimo 15,5%; ramp-up 15,75%; target 16% (subordinadas / PL) · Fundos.NET ID 993687 | 04/09/2025 | Regulamento | p. 112, Suplemento definições, índices sênior | data/raw/60356171000180/993687_review_20261007.pdf | https://fnet.bmfbovespa.com.br/fnet/publico/visualizarDocumento?id=993687 · Observação: Níveis mínimo, ramp-up e target têm funções distintas; validar estágio contratual para alerta.</a:t>
            </a:r>
          </a:p>
          <a:p>
            <a:r>
              <a:t>CNPJ 62393679000183 · Subordinação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Gatilhos de avaliação/liquidação · Falhas de pagamento, reservas, subordinação e prestadores; prazos de cura no anexo; Eventos contratuais de insolvência, cessão e prestadores; observar hipóteses e cura · Fundos.NET ID 733239 | 05/09/2024 | Regulamento | p. 64, Anexo I, eventos de avaliação | data/raw/42102603000144/733239_review_20261007.pdf | https://fnet.bmfbovespa.com.br/fnet/publico/visualizarDocumento?id=733239 |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Gatilhos de avaliação/liquidação · Falhas de pagamento, reservas, subordinação e prestadores; prazos de cura no anexo; Eventos contratuais de insolvência, cessão e prestadores; observar hipóteses e cura · Fundos.NET ID 1337401 | 01/10/2026 | Regulamento | p. 64, Anexo I, eventos de avaliação | data/raw/44124617000194/1337401_review_20261007.pdf | https://fnet.bmfbovespa.com.br/fnet/publico/visualizarDocumento?id=1337401 |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Gatilhos de avaliação/liquidação · Falhas de pagamento, reservas, subordinação e prestadores; prazos de cura no anexo; Eventos contratuais de insolvência, cessão e prestadores; observar hipóteses e cura · Fundos.NET ID 1268268 | 28/07/2026 | Regulamento | p. 64, Anexo I, eventos de avaliação | data/raw/54218673000141/1268268_review_20261007.pdf | https://fnet.bmfbovespa.com.br/fnet/publico/visualizarDocumento?id=1268268 |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Gatilhos de avaliação/liquidação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Gatilhos de avaliação/liquidação · Falhas de pagamento, reservas, subordinação e prestadores; prazos de cura no anexo; Eventos contratuais de insolvência, cessão e prestadores; observar hipóteses e cura · Fundos.NET ID 1072799 | 22/12/2025 | Regulamento | p. 64, Anexo I, eventos de avaliação | data/raw/54219179000100/1072799_review_20261007.pdf | https://fnet.bmfbovespa.com.br/fnet/publico/visualizarDocumento?id=1072799 |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Gatilhos de avaliação/liquidação · Falhas de pagamento, reservas, subordinação e prestadores; prazos de cura no anexo; Eventos contratuais de insolvência, cessão e prestadores; observar hipóteses e cura · Fundos.NET ID 1285773 | 11/08/2026 | Regulamento | p. 65, Anexo I, eventos de avaliação | data/raw/54248022000102/1285773_review_20261007.pdf | https://fnet.bmfbovespa.com.br/fnet/publico/visualizarDocumento?id=1285773 |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Gatilhos de avaliação/liquidação · Falhas de pagamento, reservas, subordinação e prestadores; prazos de cura no anexo; Eventos contratuais de insolvência, cessão e prestadores; observar hipóteses e cura · Fundos.NET ID 993693 | 04/09/2025 | Regulamento | p. 69, Anexo I, eventos de avaliação | data/raw/57609282000146/993693_review_20261007.pdf | https://fnet.bmfbovespa.com.br/fnet/publico/visualizarDocumento?id=993693 |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Gatilhos de avaliação/liquidação · Falhas de pagamento, reservas, subordinação e prestadores; prazos de cura no anexo; Eventos contratuais de insolvência, cessão e prestadores; observar hipóteses e cura · Fundos.NET ID 993687 | 04/09/2025 | Regulamento | p. 70, Anexo I, eventos de avaliação | data/raw/60356171000180/993687_review_20261007.pdf | https://fnet.bmfbovespa.com.br/fnet/publico/visualizarDocumento?id=993687 |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Gatilhos de avaliação/liquidação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42102603000144 · Reserva de caixa · Próxima amortização: 30 dias de antecedência; próxima remuneração: 15 dias · Fundos.NET ID 733239 | 05/09/2024 | Regulamento | p. 103, Suplemento definições, reserva de caixa | data/raw/42102603000144/733239_review_20261007.pdf | https://fnet.bmfbovespa.com.br/fnet/publico/visualizarDocumento?id=733239 · Observação: Depende dos apêndices e do cronograma; disponibilidades IME isoladas não comprovam cobertura.</a:t>
            </a:r>
          </a:p>
          <a:p>
            <a:r>
              <a:t>CNPJ 44124617000194 · Reserva de caixa · Próxima amortização: 30 dias de antecedência; próxima remuneração: 15 dias · Fundos.NET ID 1337401 | 01/10/2026 | Regulamento | p. 104, Suplemento definições, reserva de caixa | data/raw/44124617000194/1337401_review_20261007.pdf | https://fnet.bmfbovespa.com.br/fnet/publico/visualizarDocumento?id=1337401 · Observação: Depende dos apêndices e do cronograma; disponibilidades IME isoladas não comprovam cobertura.</a:t>
            </a:r>
          </a:p>
          <a:p>
            <a:r>
              <a:t>CNPJ 54218673000141 · Reserva de caixa · Próxima amortização: 30 dias de antecedência; próxima remuneração: 15 dias · Fundos.NET ID 1268268 | 28/07/2026 | Regulamento | p. 106, Suplemento definições, reserva de caixa | data/raw/54218673000141/1268268_review_20261007.pdf | https://fnet.bmfbovespa.com.br/fnet/publico/visualizarDocumento?id=1268268 · Observação: Depende dos apêndices e do cronograma; disponibilidades IME isoladas não comprovam cobertura.</a:t>
            </a:r>
          </a:p>
          <a:p>
            <a:r>
              <a:t>CNPJ 54218941000125 · Reserva de caixa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caixa · Próxima amortização: 30 dias de antecedência; próxima remuneração: 15 dias · Fundos.NET ID 1072799 | 22/12/2025 | Regulamento | p. 106, Suplemento definições, reserva de caixa | data/raw/54219179000100/1072799_review_20261007.pdf | https://fnet.bmfbovespa.com.br/fnet/publico/visualizarDocumento?id=1072799 · Observação: Depende dos apêndices e do cronograma; disponibilidades IME isoladas não comprovam cobertura.</a:t>
            </a:r>
          </a:p>
          <a:p>
            <a:r>
              <a:t>CNPJ 54248022000102 · Reserva de caixa · Próxima amortização: 30 dias de antecedência; próxima remuneração: 15 dias · Fundos.NET ID 1285773 | 11/08/2026 | Regulamento | p. 111, Suplemento definições, reserva de caixa | data/raw/54248022000102/1285773_review_20261007.pdf | https://fnet.bmfbovespa.com.br/fnet/publico/visualizarDocumento?id=1285773 · Observação: Depende dos apêndices e do cronograma; disponibilidades IME isoladas não comprovam cobertura.</a:t>
            </a:r>
          </a:p>
          <a:p>
            <a:r>
              <a:t>CNPJ 57609282000146 · Reserva de caixa · Próxima amortização: 30 dias de antecedência; próxima remuneração: 15 dias · Fundos.NET ID 993693 | 04/09/2025 | Regulamento | p. 120, Suplemento definições, reserva de caixa | data/raw/57609282000146/993693_review_20261007.pdf | https://fnet.bmfbovespa.com.br/fnet/publico/visualizarDocumento?id=993693 · Observação: Depende dos apêndices e do cronograma; disponibilidades IME isoladas não comprovam cobertura.</a:t>
            </a:r>
          </a:p>
          <a:p>
            <a:r>
              <a:t>CNPJ 60356171000180 · Reserva de caixa · Próxima amortização: 30 dias de antecedência; próxima remuneração: 15 dias · Fundos.NET ID 993687 | 04/09/2025 | Regulamento | p. 117, Suplemento definições, reserva de caixa | data/raw/60356171000180/993687_review_20261007.pdf | https://fnet.bmfbovespa.com.br/fnet/publico/visualizarDocumento?id=993687 · Observação: Depende dos apêndices e do cronograma; disponibilidades IME isoladas não comprovam cobertura.</a:t>
            </a:r>
          </a:p>
          <a:p>
            <a:r>
              <a:t>CNPJ 62393679000183 · Reserva de caixa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Derivativos/hedge · Operações em derivativos vedadas · Fundos.NET ID 733239 | 05/09/2024 | Regulamento | p. 30, Anexo I, derivativos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Derivativos/hedge · Operações em derivativos vedadas · Fundos.NET ID 1337401 | 01/10/2026 | Regulamento | p. 30, Anexo I, derivativos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Derivativos/hedge · Operações em derivativos vedadas · Fundos.NET ID 1268268 | 28/07/2026 | Regulamento | p. 31, Anexo I, derivativos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Derivativos/hedge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Derivativos/hedge · Operações em derivativos vedadas · Fundos.NET ID 1072799 | 22/12/2025 | Regulamento | p. 30, Anexo I, derivativos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Derivativos/hedge · Operações em derivativos vedadas · Fundos.NET ID 1285773 | 11/08/2026 | Regulamento | p. 30, Anexo I, derivativos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Derivativos/hedge · Operações em derivativos vedadas · Fundos.NET ID 993693 | 04/09/2025 | Regulamento | p. 33, Anexo I, derivativos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Derivativos/hedge · Operações em derivativos vedadas · Fundos.NET ID 993687 | 04/09/2025 | Regulamento | p. 33, Anexo I, derivativos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Derivativos/hedge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42102603000144 · PDD · Gatilho contratual específico de PDD não localizado; usar PDD/crédito como indicador agregado · Fundos.NET ID 733239 | 05/09/2024 | Regulamento | p. 3, Anexo e avaliação metodológica da revisão | data/raw/42102603000144/733239_review_20261007.pdf | https://fnet.bmfbovespa.com.br/fnet/publico/visualizarDocumento?id=733239 · Observação: Sem limite automático de PDD inferido; regra contratual deve ser conciliada separadamente.</a:t>
            </a:r>
          </a:p>
          <a:p>
            <a:r>
              <a:t>CNPJ 44124617000194 · PDD · Gatilho contratual específico de PDD não localizado; usar PDD/crédito como indicador agregado · Fundos.NET ID 1337401 | 01/10/2026 | Regulamento | p. 1, Anexo e avaliação metodológica da revisão | data/raw/44124617000194/1337401_review_20261007.pdf | https://fnet.bmfbovespa.com.br/fnet/publico/visualizarDocumento?id=1337401 · Observação: Sem limite automático de PDD inferido; regra contratual deve ser conciliada separadamente.</a:t>
            </a:r>
          </a:p>
          <a:p>
            <a:r>
              <a:t>CNPJ 54218673000141 · PDD · Gatilho contratual específico de PDD não localizado; usar PDD/crédito como indicador agregado · Fundos.NET ID 1268268 | 28/07/2026 | Regulamento | p. 5, Anexo e avaliação metodológica da revisão | data/raw/54218673000141/1268268_review_20261007.pdf | https://fnet.bmfbovespa.com.br/fnet/publico/visualizarDocumento?id=1268268 · Observação: Sem limite automático de PDD inferido; regra contratual deve ser conciliada separadamente.</a:t>
            </a:r>
          </a:p>
          <a:p>
            <a:r>
              <a:t>CNPJ 54218941000125 · PDD · Gatilho contratual específico de PDD não localizado; usar PDD/crédito como indicador agregado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Sem limite automático de PDD inferido; regra contratual deve ser conciliada separadamente.</a:t>
            </a:r>
          </a:p>
          <a:p>
            <a:r>
              <a:t>CNPJ 54219179000100 · PDD · Gatilho contratual específico de PDD não localizado; usar PDD/crédito como indicador agregado · Fundos.NET ID 1072799 | 22/12/2025 | Regulamento | p. 4, Anexo e avaliação metodológica da revisão | data/raw/54219179000100/1072799_review_20261007.pdf | https://fnet.bmfbovespa.com.br/fnet/publico/visualizarDocumento?id=1072799 · Observação: Sem limite automático de PDD inferido; regra contratual deve ser conciliada separadamente.</a:t>
            </a:r>
          </a:p>
          <a:p>
            <a:r>
              <a:t>CNPJ 54248022000102 · PDD · Gatilho contratual específico de PDD não localizado; usar PDD/crédito como indicador agregado · Fundos.NET ID 1285773 | 11/08/2026 | Regulamento | p. 4, Anexo e avaliação metodológica da revisão | data/raw/54248022000102/1285773_review_20261007.pdf | https://fnet.bmfbovespa.com.br/fnet/publico/visualizarDocumento?id=1285773 · Observação: Sem limite automático de PDD inferido; regra contratual deve ser conciliada separadamente.</a:t>
            </a:r>
          </a:p>
          <a:p>
            <a:r>
              <a:t>CNPJ 57609282000146 · PDD · Gatilho contratual específico de PDD não localizado; usar PDD/crédito como indicador agregado · Fundos.NET ID 993693 | 04/09/2025 | Regulamento | p. 1, Anexo e avaliação metodológica da revisão | data/raw/57609282000146/993693_review_20261007.pdf | https://fnet.bmfbovespa.com.br/fnet/publico/visualizarDocumento?id=993693 · Observação: Sem limite automático de PDD inferido; regra contratual deve ser conciliada separadamente.</a:t>
            </a:r>
          </a:p>
          <a:p>
            <a:r>
              <a:t>CNPJ 60356171000180 · PDD · Gatilho contratual específico de PDD não localizado; usar PDD/crédito como indicador agregado · Fundos.NET ID 993687 | 04/09/2025 | Regulamento | p. 1, Anexo e avaliação metodológica da revisão | data/raw/60356171000180/993687_review_20261007.pdf | https://fnet.bmfbovespa.com.br/fnet/publico/visualizarDocumento?id=993687 · Observação: Sem limite automático de PDD inferido; regra contratual deve ser conciliada separadamente.</a:t>
            </a:r>
          </a:p>
          <a:p>
            <a:r>
              <a:t>CNPJ 62393679000183 · PDD · Gatilho contratual específico de PDD não localizado; usar PDD/crédito como indicador agregado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Sem limite automático de PDD inferido; regra contratual deve ser conciliada separadamente.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Subordinação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Subordinação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Subordinação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Subordinação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Subordinação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Subordinação mezanino · Júnior / PL: mínimo 2,5%; ramp-up 2,75%; target 3% · Fundos.NET ID 993693 | 04/09/2025 | Regulamento | p. 115, Suplemento definições, índices mezanino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Subordinação mezanino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Subordinação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Eventos de avaliação · Falhas de pagamento, reservas, subordinação e prestadores; prazos de cura no anexo · Fundos.NET ID 733239 | 05/09/2024 | Regulamento | p. 64, Anexo I, eventos de avaliação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Eventos de avaliação · Falhas de pagamento, reservas, subordinação e prestadores; prazos de cura no anexo · Fundos.NET ID 1337401 | 01/10/2026 | Regulamento | p. 64, Anexo I, eventos de avaliação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Eventos de avaliação · Falhas de pagamento, reservas, subordinação e prestadores; prazos de cura no anexo · Fundos.NET ID 1268268 | 28/07/2026 | Regulamento | p. 64, Anexo I, eventos de avaliação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Eventos de avaliação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Eventos de avaliação · Falhas de pagamento, reservas, subordinação e prestadores; prazos de cura no anexo · Fundos.NET ID 1072799 | 22/12/2025 | Regulamento | p. 64, Anexo I, eventos de avaliação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Eventos de avaliação · Falhas de pagamento, reservas, subordinação e prestadores; prazos de cura no anexo · Fundos.NET ID 1285773 | 11/08/2026 | Regulamento | p. 65, Anexo I, eventos de avaliação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Eventos de avaliação · Falhas de pagamento, reservas, subordinação e prestadores; prazos de cura no anexo · Fundos.NET ID 993693 | 04/09/2025 | Regulamento | p. 69, Anexo I, eventos de avaliação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Eventos de avaliação · Falhas de pagamento, reservas, subordinação e prestadores; prazos de cura no anexo · Fundos.NET ID 993687 | 04/09/2025 | Regulamento | p. 70, Anexo I, eventos de avaliação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Eventos de avaliação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Liquidação antecipada · Eventos contratuais de insolvência, cessão e prestadores; observar hipóteses e cura ·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Liquidação antecipada · Eventos contratuais de insolvência, cessão e prestadores; observar hipóteses e cura ·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Liquidação antecipada · Eventos contratuais de insolvência, cessão e prestadores; observar hipóteses e cura ·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Liquidação antecipada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Liquidação antecipada · Eventos contratuais de insolvência, cessão e prestadores; observar hipóteses e cura ·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Liquidação antecipada · Eventos contratuais de insolvência, cessão e prestadores; observar hipóteses e cura ·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Liquidação antecipada · Eventos contratuais de insolvência, cessão e prestadores; observar hipóteses e cura ·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Liquidação antecipada · Eventos contratuais de insolvência, cessão e prestadores; observar hipóteses e cura ·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Liquidação antecipada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Reserva de despesas · Despesas ordinárias estimadas dos 3 meses seguintes, incluindo administração e gestão · Fundos.NET ID 733239 | 05/09/2024 | Regulamento | p. 53, Anexo I, encargos/reserva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Reserva de despesas · Despesas ordinárias estimadas dos 3 meses seguintes, incluindo administração e gestão · Fundos.NET ID 1337401 | 01/10/2026 | Regulamento | p. 53, Anexo I, encargos/reserva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Reserva de despesas · Despesas ordinárias estimadas dos 3 meses seguintes, incluindo administração e gestão · Fundos.NET ID 1268268 | 28/07/2026 | Regulamento | p. 53, Anexo I, encargos/reserva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Reserva de despesas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despesas · Despesas ordinárias estimadas dos 3 meses seguintes, incluindo administração e gestão · Fundos.NET ID 1072799 | 22/12/2025 | Regulamento | p. 52, Anexo I, encargos/reserva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Reserva de despesas · Despesas ordinárias estimadas dos 3 meses seguintes, incluindo administração e gestão · Fundos.NET ID 1285773 | 11/08/2026 | Regulamento | p. 53, Anexo I, encargos/reserva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Reserva de despesas · Despesas ordinárias estimadas dos 3 meses seguintes, incluindo administração e gestão · Fundos.NET ID 993693 | 04/09/2025 | Regulamento | p. 58, Anexo I, encargos/reserva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Reserva de despesas · Despesas ordinárias estimadas dos 3 meses seguintes, incluindo administração e gestão · Fundos.NET ID 993687 | 04/09/2025 | Regulamento | p. 58, Anexo I, encargos/reserva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Reserva de despesas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Subordinação mínima · ≥ 6,8%: subordinadas / PL, apuração diária · Fundos.NET ID 733239 | 05/09/2024 | Regulamento | p. 99, Suplemento definições, índice de subordinação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Subordinação mínima · ≥ 5%: subordinadas / PL, apuração diária · Fundos.NET ID 1337401 | 01/10/2026 | Regulamento | p. 100, Suplemento definições, índice de subordinação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Subordinação mínima · ≥ 2,5%: subordinadas / PL, apuração diária · Fundos.NET ID 1268268 | 28/07/2026 | Regulamento | p. 103, Suplemento definições, índice de subordinação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Subordinação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mínima · Divergência: numeral 5% / extenso três por cento; confirmar redação aplicável · Fundos.NET ID 1072799 | 22/12/2025 | Regulamento | p. 102, definição índice de subordinação | data/raw/54219179000100/1072799_review_20261007.pdf | https://fnet.bmfbovespa.com.br/fnet/publico/visualizarDocumento?id=1072799 · Observação: Não converter em limite operacional até conciliar numeral/extenso com administrador ou alteração documental inequívoca.</a:t>
            </a:r>
          </a:p>
          <a:p>
            <a:r>
              <a:t>CNPJ 54248022000102 · Subordinação mínima · ≥ 20%: subordinadas / PL, apuração diária · Fundos.NET ID 1285773 | 11/08/2026 | Regulamento | p. 107, Suplemento definições, índice de subordinação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Subordinação mínima · Mínimo 15,5%; ramp-up 15,75%; target 16% (subordinadas / PL) · Fundos.NET ID 993693 | 04/09/2025 | Regulamento | p. 115, Suplemento definições, índices sênior | data/raw/57609282000146/993693_review_20261007.pdf | https://fnet.bmfbovespa.com.br/fnet/publico/visualizarDocumento?id=993693 · Observação: Níveis mínimo, ramp-up e target têm funções distintas; validar estágio contratual para alerta.</a:t>
            </a:r>
          </a:p>
          <a:p>
            <a:r>
              <a:t>CNPJ 60356171000180 · Subordinação mínima · Mínimo 15,5%; ramp-up 15,75%; target 16% (subordinadas / PL) · Fundos.NET ID 993687 | 04/09/2025 | Regulamento | p. 112, Suplemento definições, índices sênior | data/raw/60356171000180/993687_review_20261007.pdf | https://fnet.bmfbovespa.com.br/fnet/publico/visualizarDocumento?id=993687 · Observação: Níveis mínimo, ramp-up e target têm funções distintas; validar estágio contratual para alerta.</a:t>
            </a:r>
          </a:p>
          <a:p>
            <a:r>
              <a:t>CNPJ 62393679000183 · Subordinação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Gatilhos de avaliação/liquidação · Falhas de pagamento, reservas, subordinação e prestadores; prazos de cura no anexo; Eventos contratuais de insolvência, cessão e prestadores; observar hipóteses e cura · Fundos.NET ID 733239 | 05/09/2024 | Regulamento | p. 64, Anexo I, eventos de avaliação | data/raw/42102603000144/733239_review_20261007.pdf | https://fnet.bmfbovespa.com.br/fnet/publico/visualizarDocumento?id=733239 |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Gatilhos de avaliação/liquidação · Falhas de pagamento, reservas, subordinação e prestadores; prazos de cura no anexo; Eventos contratuais de insolvência, cessão e prestadores; observar hipóteses e cura · Fundos.NET ID 1337401 | 01/10/2026 | Regulamento | p. 64, Anexo I, eventos de avaliação | data/raw/44124617000194/1337401_review_20261007.pdf | https://fnet.bmfbovespa.com.br/fnet/publico/visualizarDocumento?id=1337401 |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Gatilhos de avaliação/liquidação · Falhas de pagamento, reservas, subordinação e prestadores; prazos de cura no anexo; Eventos contratuais de insolvência, cessão e prestadores; observar hipóteses e cura · Fundos.NET ID 1268268 | 28/07/2026 | Regulamento | p. 64, Anexo I, eventos de avaliação | data/raw/54218673000141/1268268_review_20261007.pdf | https://fnet.bmfbovespa.com.br/fnet/publico/visualizarDocumento?id=1268268 |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Gatilhos de avaliação/liquidação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Gatilhos de avaliação/liquidação · Falhas de pagamento, reservas, subordinação e prestadores; prazos de cura no anexo; Eventos contratuais de insolvência, cessão e prestadores; observar hipóteses e cura · Fundos.NET ID 1072799 | 22/12/2025 | Regulamento | p. 64, Anexo I, eventos de avaliação | data/raw/54219179000100/1072799_review_20261007.pdf | https://fnet.bmfbovespa.com.br/fnet/publico/visualizarDocumento?id=1072799 |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Gatilhos de avaliação/liquidação · Falhas de pagamento, reservas, subordinação e prestadores; prazos de cura no anexo; Eventos contratuais de insolvência, cessão e prestadores; observar hipóteses e cura · Fundos.NET ID 1285773 | 11/08/2026 | Regulamento | p. 65, Anexo I, eventos de avaliação | data/raw/54248022000102/1285773_review_20261007.pdf | https://fnet.bmfbovespa.com.br/fnet/publico/visualizarDocumento?id=1285773 |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Gatilhos de avaliação/liquidação · Falhas de pagamento, reservas, subordinação e prestadores; prazos de cura no anexo; Eventos contratuais de insolvência, cessão e prestadores; observar hipóteses e cura · Fundos.NET ID 993693 | 04/09/2025 | Regulamento | p. 69, Anexo I, eventos de avaliação | data/raw/57609282000146/993693_review_20261007.pdf | https://fnet.bmfbovespa.com.br/fnet/publico/visualizarDocumento?id=993693 |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Gatilhos de avaliação/liquidação · Falhas de pagamento, reservas, subordinação e prestadores; prazos de cura no anexo; Eventos contratuais de insolvência, cessão e prestadores; observar hipóteses e cura · Fundos.NET ID 993687 | 04/09/2025 | Regulamento | p. 70, Anexo I, eventos de avaliação | data/raw/60356171000180/993687_review_20261007.pdf | https://fnet.bmfbovespa.com.br/fnet/publico/visualizarDocumento?id=993687 |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Gatilhos de avaliação/liquidação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42102603000144 · Reserva de caixa · Próxima amortização: 30 dias de antecedência; próxima remuneração: 15 dias · Fundos.NET ID 733239 | 05/09/2024 | Regulamento | p. 103, Suplemento definições, reserva de caixa | data/raw/42102603000144/733239_review_20261007.pdf | https://fnet.bmfbovespa.com.br/fnet/publico/visualizarDocumento?id=733239 · Observação: Depende dos apêndices e do cronograma; disponibilidades IME isoladas não comprovam cobertura.</a:t>
            </a:r>
          </a:p>
          <a:p>
            <a:r>
              <a:t>CNPJ 44124617000194 · Reserva de caixa · Próxima amortização: 30 dias de antecedência; próxima remuneração: 15 dias · Fundos.NET ID 1337401 | 01/10/2026 | Regulamento | p. 104, Suplemento definições, reserva de caixa | data/raw/44124617000194/1337401_review_20261007.pdf | https://fnet.bmfbovespa.com.br/fnet/publico/visualizarDocumento?id=1337401 · Observação: Depende dos apêndices e do cronograma; disponibilidades IME isoladas não comprovam cobertura.</a:t>
            </a:r>
          </a:p>
          <a:p>
            <a:r>
              <a:t>CNPJ 54218673000141 · Reserva de caixa · Próxima amortização: 30 dias de antecedência; próxima remuneração: 15 dias · Fundos.NET ID 1268268 | 28/07/2026 | Regulamento | p. 106, Suplemento definições, reserva de caixa | data/raw/54218673000141/1268268_review_20261007.pdf | https://fnet.bmfbovespa.com.br/fnet/publico/visualizarDocumento?id=1268268 · Observação: Depende dos apêndices e do cronograma; disponibilidades IME isoladas não comprovam cobertura.</a:t>
            </a:r>
          </a:p>
          <a:p>
            <a:r>
              <a:t>CNPJ 54218941000125 · Reserva de caixa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caixa · Próxima amortização: 30 dias de antecedência; próxima remuneração: 15 dias · Fundos.NET ID 1072799 | 22/12/2025 | Regulamento | p. 106, Suplemento definições, reserva de caixa | data/raw/54219179000100/1072799_review_20261007.pdf | https://fnet.bmfbovespa.com.br/fnet/publico/visualizarDocumento?id=1072799 · Observação: Depende dos apêndices e do cronograma; disponibilidades IME isoladas não comprovam cobertura.</a:t>
            </a:r>
          </a:p>
          <a:p>
            <a:r>
              <a:t>CNPJ 54248022000102 · Reserva de caixa · Próxima amortização: 30 dias de antecedência; próxima remuneração: 15 dias · Fundos.NET ID 1285773 | 11/08/2026 | Regulamento | p. 111, Suplemento definições, reserva de caixa | data/raw/54248022000102/1285773_review_20261007.pdf | https://fnet.bmfbovespa.com.br/fnet/publico/visualizarDocumento?id=1285773 · Observação: Depende dos apêndices e do cronograma; disponibilidades IME isoladas não comprovam cobertura.</a:t>
            </a:r>
          </a:p>
          <a:p>
            <a:r>
              <a:t>CNPJ 57609282000146 · Reserva de caixa · Próxima amortização: 30 dias de antecedência; próxima remuneração: 15 dias · Fundos.NET ID 993693 | 04/09/2025 | Regulamento | p. 120, Suplemento definições, reserva de caixa | data/raw/57609282000146/993693_review_20261007.pdf | https://fnet.bmfbovespa.com.br/fnet/publico/visualizarDocumento?id=993693 · Observação: Depende dos apêndices e do cronograma; disponibilidades IME isoladas não comprovam cobertura.</a:t>
            </a:r>
          </a:p>
          <a:p>
            <a:r>
              <a:t>CNPJ 60356171000180 · Reserva de caixa · Próxima amortização: 30 dias de antecedência; próxima remuneração: 15 dias · Fundos.NET ID 993687 | 04/09/2025 | Regulamento | p. 117, Suplemento definições, reserva de caixa | data/raw/60356171000180/993687_review_20261007.pdf | https://fnet.bmfbovespa.com.br/fnet/publico/visualizarDocumento?id=993687 · Observação: Depende dos apêndices e do cronograma; disponibilidades IME isoladas não comprovam cobertura.</a:t>
            </a:r>
          </a:p>
          <a:p>
            <a:r>
              <a:t>CNPJ 62393679000183 · Reserva de caixa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Derivativos/hedge · Operações em derivativos vedadas · Fundos.NET ID 733239 | 05/09/2024 | Regulamento | p. 30, Anexo I, derivativos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Derivativos/hedge · Operações em derivativos vedadas · Fundos.NET ID 1337401 | 01/10/2026 | Regulamento | p. 30, Anexo I, derivativos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Derivativos/hedge · Operações em derivativos vedadas · Fundos.NET ID 1268268 | 28/07/2026 | Regulamento | p. 31, Anexo I, derivativos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Derivativos/hedge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Derivativos/hedge · Operações em derivativos vedadas · Fundos.NET ID 1072799 | 22/12/2025 | Regulamento | p. 30, Anexo I, derivativos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Derivativos/hedge · Operações em derivativos vedadas · Fundos.NET ID 1285773 | 11/08/2026 | Regulamento | p. 30, Anexo I, derivativos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Derivativos/hedge · Operações em derivativos vedadas · Fundos.NET ID 993693 | 04/09/2025 | Regulamento | p. 33, Anexo I, derivativos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Derivativos/hedge · Operações em derivativos vedadas · Fundos.NET ID 993687 | 04/09/2025 | Regulamento | p. 33, Anexo I, derivativos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Derivativos/hedge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42102603000144 · PDD · Gatilho contratual específico de PDD não localizado; usar PDD/crédito como indicador agregado · Fundos.NET ID 733239 | 05/09/2024 | Regulamento | p. 3, Anexo e avaliação metodológica da revisão | data/raw/42102603000144/733239_review_20261007.pdf | https://fnet.bmfbovespa.com.br/fnet/publico/visualizarDocumento?id=733239 · Observação: Sem limite automático de PDD inferido; regra contratual deve ser conciliada separadamente.</a:t>
            </a:r>
          </a:p>
          <a:p>
            <a:r>
              <a:t>CNPJ 44124617000194 · PDD · Gatilho contratual específico de PDD não localizado; usar PDD/crédito como indicador agregado · Fundos.NET ID 1337401 | 01/10/2026 | Regulamento | p. 1, Anexo e avaliação metodológica da revisão | data/raw/44124617000194/1337401_review_20261007.pdf | https://fnet.bmfbovespa.com.br/fnet/publico/visualizarDocumento?id=1337401 · Observação: Sem limite automático de PDD inferido; regra contratual deve ser conciliada separadamente.</a:t>
            </a:r>
          </a:p>
          <a:p>
            <a:r>
              <a:t>CNPJ 54218673000141 · PDD · Gatilho contratual específico de PDD não localizado; usar PDD/crédito como indicador agregado · Fundos.NET ID 1268268 | 28/07/2026 | Regulamento | p. 5, Anexo e avaliação metodológica da revisão | data/raw/54218673000141/1268268_review_20261007.pdf | https://fnet.bmfbovespa.com.br/fnet/publico/visualizarDocumento?id=1268268 · Observação: Sem limite automático de PDD inferido; regra contratual deve ser conciliada separadamente.</a:t>
            </a:r>
          </a:p>
          <a:p>
            <a:r>
              <a:t>CNPJ 54218941000125 · PDD · Gatilho contratual específico de PDD não localizado; usar PDD/crédito como indicador agregado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Sem limite automático de PDD inferido; regra contratual deve ser conciliada separadamente.</a:t>
            </a:r>
          </a:p>
          <a:p>
            <a:r>
              <a:t>CNPJ 54219179000100 · PDD · Gatilho contratual específico de PDD não localizado; usar PDD/crédito como indicador agregado · Fundos.NET ID 1072799 | 22/12/2025 | Regulamento | p. 4, Anexo e avaliação metodológica da revisão | data/raw/54219179000100/1072799_review_20261007.pdf | https://fnet.bmfbovespa.com.br/fnet/publico/visualizarDocumento?id=1072799 · Observação: Sem limite automático de PDD inferido; regra contratual deve ser conciliada separadamente.</a:t>
            </a:r>
          </a:p>
          <a:p>
            <a:r>
              <a:t>CNPJ 54248022000102 · PDD · Gatilho contratual específico de PDD não localizado; usar PDD/crédito como indicador agregado · Fundos.NET ID 1285773 | 11/08/2026 | Regulamento | p. 4, Anexo e avaliação metodológica da revisão | data/raw/54248022000102/1285773_review_20261007.pdf | https://fnet.bmfbovespa.com.br/fnet/publico/visualizarDocumento?id=1285773 · Observação: Sem limite automático de PDD inferido; regra contratual deve ser conciliada separadamente.</a:t>
            </a:r>
          </a:p>
          <a:p>
            <a:r>
              <a:t>CNPJ 57609282000146 · PDD · Gatilho contratual específico de PDD não localizado; usar PDD/crédito como indicador agregado · Fundos.NET ID 993693 | 04/09/2025 | Regulamento | p. 1, Anexo e avaliação metodológica da revisão | data/raw/57609282000146/993693_review_20261007.pdf | https://fnet.bmfbovespa.com.br/fnet/publico/visualizarDocumento?id=993693 · Observação: Sem limite automático de PDD inferido; regra contratual deve ser conciliada separadamente.</a:t>
            </a:r>
          </a:p>
          <a:p>
            <a:r>
              <a:t>CNPJ 60356171000180 · PDD · Gatilho contratual específico de PDD não localizado; usar PDD/crédito como indicador agregado · Fundos.NET ID 993687 | 04/09/2025 | Regulamento | p. 1, Anexo e avaliação metodológica da revisão | data/raw/60356171000180/993687_review_20261007.pdf | https://fnet.bmfbovespa.com.br/fnet/publico/visualizarDocumento?id=993687 · Observação: Sem limite automático de PDD inferido; regra contratual deve ser conciliada separadamente.</a:t>
            </a:r>
          </a:p>
          <a:p>
            <a:r>
              <a:t>CNPJ 62393679000183 · PDD · Gatilho contratual específico de PDD não localizado; usar PDD/crédito como indicador agregado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Sem limite automático de PDD inferido; regra contratual deve ser conciliada separadamente.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Subordinação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Subordinação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Subordinação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Subordinação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Subordinação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Subordinação mezanino · Júnior / PL: mínimo 2,5%; ramp-up 2,75%; target 3% · Fundos.NET ID 993693 | 04/09/2025 | Regulamento | p. 115, Suplemento definições, índices mezanino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Subordinação mezanino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Subordinação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Eventos de avaliação · Falhas de pagamento, reservas, subordinação e prestadores; prazos de cura no anexo · Fundos.NET ID 733239 | 05/09/2024 | Regulamento | p. 64, Anexo I, eventos de avaliação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Eventos de avaliação · Falhas de pagamento, reservas, subordinação e prestadores; prazos de cura no anexo · Fundos.NET ID 1337401 | 01/10/2026 | Regulamento | p. 64, Anexo I, eventos de avaliação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Eventos de avaliação · Falhas de pagamento, reservas, subordinação e prestadores; prazos de cura no anexo · Fundos.NET ID 1268268 | 28/07/2026 | Regulamento | p. 64, Anexo I, eventos de avaliação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Eventos de avaliação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Eventos de avaliação · Falhas de pagamento, reservas, subordinação e prestadores; prazos de cura no anexo · Fundos.NET ID 1072799 | 22/12/2025 | Regulamento | p. 64, Anexo I, eventos de avaliação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Eventos de avaliação · Falhas de pagamento, reservas, subordinação e prestadores; prazos de cura no anexo · Fundos.NET ID 1285773 | 11/08/2026 | Regulamento | p. 65, Anexo I, eventos de avaliação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Eventos de avaliação · Falhas de pagamento, reservas, subordinação e prestadores; prazos de cura no anexo · Fundos.NET ID 993693 | 04/09/2025 | Regulamento | p. 69, Anexo I, eventos de avaliação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Eventos de avaliação · Falhas de pagamento, reservas, subordinação e prestadores; prazos de cura no anexo · Fundos.NET ID 993687 | 04/09/2025 | Regulamento | p. 70, Anexo I, eventos de avaliação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Eventos de avaliação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Liquidação antecipada · Eventos contratuais de insolvência, cessão e prestadores; observar hipóteses e cura ·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Liquidação antecipada · Eventos contratuais de insolvência, cessão e prestadores; observar hipóteses e cura ·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Liquidação antecipada · Eventos contratuais de insolvência, cessão e prestadores; observar hipóteses e cura ·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Liquidação antecipada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Liquidação antecipada · Eventos contratuais de insolvência, cessão e prestadores; observar hipóteses e cura ·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Liquidação antecipada · Eventos contratuais de insolvência, cessão e prestadores; observar hipóteses e cura ·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Liquidação antecipada · Eventos contratuais de insolvência, cessão e prestadores; observar hipóteses e cura ·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Liquidação antecipada · Eventos contratuais de insolvência, cessão e prestadores; observar hipóteses e cura ·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Liquidação antecipada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Reserva de despesas · Despesas ordinárias estimadas dos 3 meses seguintes, incluindo administração e gestão · Fundos.NET ID 733239 | 05/09/2024 | Regulamento | p. 53, Anexo I, encargos/reserva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Reserva de despesas · Despesas ordinárias estimadas dos 3 meses seguintes, incluindo administração e gestão · Fundos.NET ID 1337401 | 01/10/2026 | Regulamento | p. 53, Anexo I, encargos/reserva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Reserva de despesas · Despesas ordinárias estimadas dos 3 meses seguintes, incluindo administração e gestão · Fundos.NET ID 1268268 | 28/07/2026 | Regulamento | p. 53, Anexo I, encargos/reserva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Reserva de despesas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despesas · Despesas ordinárias estimadas dos 3 meses seguintes, incluindo administração e gestão · Fundos.NET ID 1072799 | 22/12/2025 | Regulamento | p. 52, Anexo I, encargos/reserva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Reserva de despesas · Despesas ordinárias estimadas dos 3 meses seguintes, incluindo administração e gestão · Fundos.NET ID 1285773 | 11/08/2026 | Regulamento | p. 53, Anexo I, encargos/reserva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Reserva de despesas · Despesas ordinárias estimadas dos 3 meses seguintes, incluindo administração e gestão · Fundos.NET ID 993693 | 04/09/2025 | Regulamento | p. 58, Anexo I, encargos/reserva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Reserva de despesas · Despesas ordinárias estimadas dos 3 meses seguintes, incluindo administração e gestão · Fundos.NET ID 993687 | 04/09/2025 | Regulamento | p. 58, Anexo I, encargos/reserva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Reserva de despesas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Subordinação mínima · ≥ 6,8%: subordinadas / PL, apuração diária · Fundos.NET ID 733239 | 05/09/2024 | Regulamento | p. 99, Suplemento definições, índice de subordinação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Subordinação mínima · ≥ 5%: subordinadas / PL, apuração diária · Fundos.NET ID 1337401 | 01/10/2026 | Regulamento | p. 100, Suplemento definições, índice de subordinação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Subordinação mínima · ≥ 2,5%: subordinadas / PL, apuração diária · Fundos.NET ID 1268268 | 28/07/2026 | Regulamento | p. 103, Suplemento definições, índice de subordinação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Subordinação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mínima · Divergência: numeral 5% / extenso três por cento; confirmar redação aplicável · Fundos.NET ID 1072799 | 22/12/2025 | Regulamento | p. 102, definição índice de subordinação | data/raw/54219179000100/1072799_review_20261007.pdf | https://fnet.bmfbovespa.com.br/fnet/publico/visualizarDocumento?id=1072799 · Observação: Não converter em limite operacional até conciliar numeral/extenso com administrador ou alteração documental inequívoca.</a:t>
            </a:r>
          </a:p>
          <a:p>
            <a:r>
              <a:t>CNPJ 54248022000102 · Subordinação mínima · ≥ 20%: subordinadas / PL, apuração diária · Fundos.NET ID 1285773 | 11/08/2026 | Regulamento | p. 107, Suplemento definições, índice de subordinação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Subordinação mínima · Mínimo 15,5%; ramp-up 15,75%; target 16% (subordinadas / PL) · Fundos.NET ID 993693 | 04/09/2025 | Regulamento | p. 115, Suplemento definições, índices sênior | data/raw/57609282000146/993693_review_20261007.pdf | https://fnet.bmfbovespa.com.br/fnet/publico/visualizarDocumento?id=993693 · Observação: Níveis mínimo, ramp-up e target têm funções distintas; validar estágio contratual para alerta.</a:t>
            </a:r>
          </a:p>
          <a:p>
            <a:r>
              <a:t>CNPJ 60356171000180 · Subordinação mínima · Mínimo 15,5%; ramp-up 15,75%; target 16% (subordinadas / PL) · Fundos.NET ID 993687 | 04/09/2025 | Regulamento | p. 112, Suplemento definições, índices sênior | data/raw/60356171000180/993687_review_20261007.pdf | https://fnet.bmfbovespa.com.br/fnet/publico/visualizarDocumento?id=993687 · Observação: Níveis mínimo, ramp-up e target têm funções distintas; validar estágio contratual para alerta.</a:t>
            </a:r>
          </a:p>
          <a:p>
            <a:r>
              <a:t>CNPJ 62393679000183 · Subordinação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Gatilhos de avaliação/liquidação · Falhas de pagamento, reservas, subordinação e prestadores; prazos de cura no anexo; Eventos contratuais de insolvência, cessão e prestadores; observar hipóteses e cura · Fundos.NET ID 733239 | 05/09/2024 | Regulamento | p. 64, Anexo I, eventos de avaliação | data/raw/42102603000144/733239_review_20261007.pdf | https://fnet.bmfbovespa.com.br/fnet/publico/visualizarDocumento?id=733239 |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Gatilhos de avaliação/liquidação · Falhas de pagamento, reservas, subordinação e prestadores; prazos de cura no anexo; Eventos contratuais de insolvência, cessão e prestadores; observar hipóteses e cura · Fundos.NET ID 1337401 | 01/10/2026 | Regulamento | p. 64, Anexo I, eventos de avaliação | data/raw/44124617000194/1337401_review_20261007.pdf | https://fnet.bmfbovespa.com.br/fnet/publico/visualizarDocumento?id=1337401 |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Gatilhos de avaliação/liquidação · Falhas de pagamento, reservas, subordinação e prestadores; prazos de cura no anexo; Eventos contratuais de insolvência, cessão e prestadores; observar hipóteses e cura · Fundos.NET ID 1268268 | 28/07/2026 | Regulamento | p. 64, Anexo I, eventos de avaliação | data/raw/54218673000141/1268268_review_20261007.pdf | https://fnet.bmfbovespa.com.br/fnet/publico/visualizarDocumento?id=1268268 |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Gatilhos de avaliação/liquidação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Gatilhos de avaliação/liquidação · Falhas de pagamento, reservas, subordinação e prestadores; prazos de cura no anexo; Eventos contratuais de insolvência, cessão e prestadores; observar hipóteses e cura · Fundos.NET ID 1072799 | 22/12/2025 | Regulamento | p. 64, Anexo I, eventos de avaliação | data/raw/54219179000100/1072799_review_20261007.pdf | https://fnet.bmfbovespa.com.br/fnet/publico/visualizarDocumento?id=1072799 |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Gatilhos de avaliação/liquidação · Falhas de pagamento, reservas, subordinação e prestadores; prazos de cura no anexo; Eventos contratuais de insolvência, cessão e prestadores; observar hipóteses e cura · Fundos.NET ID 1285773 | 11/08/2026 | Regulamento | p. 65, Anexo I, eventos de avaliação | data/raw/54248022000102/1285773_review_20261007.pdf | https://fnet.bmfbovespa.com.br/fnet/publico/visualizarDocumento?id=1285773 |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Gatilhos de avaliação/liquidação · Falhas de pagamento, reservas, subordinação e prestadores; prazos de cura no anexo; Eventos contratuais de insolvência, cessão e prestadores; observar hipóteses e cura · Fundos.NET ID 993693 | 04/09/2025 | Regulamento | p. 69, Anexo I, eventos de avaliação | data/raw/57609282000146/993693_review_20261007.pdf | https://fnet.bmfbovespa.com.br/fnet/publico/visualizarDocumento?id=993693 |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Gatilhos de avaliação/liquidação · Falhas de pagamento, reservas, subordinação e prestadores; prazos de cura no anexo; Eventos contratuais de insolvência, cessão e prestadores; observar hipóteses e cura · Fundos.NET ID 993687 | 04/09/2025 | Regulamento | p. 70, Anexo I, eventos de avaliação | data/raw/60356171000180/993687_review_20261007.pdf | https://fnet.bmfbovespa.com.br/fnet/publico/visualizarDocumento?id=993687 |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Gatilhos de avaliação/liquidação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42102603000144 · Reserva de caixa · Próxima amortização: 30 dias de antecedência; próxima remuneração: 15 dias · Fundos.NET ID 733239 | 05/09/2024 | Regulamento | p. 103, Suplemento definições, reserva de caixa | data/raw/42102603000144/733239_review_20261007.pdf | https://fnet.bmfbovespa.com.br/fnet/publico/visualizarDocumento?id=733239 · Observação: Depende dos apêndices e do cronograma; disponibilidades IME isoladas não comprovam cobertura.</a:t>
            </a:r>
          </a:p>
          <a:p>
            <a:r>
              <a:t>CNPJ 44124617000194 · Reserva de caixa · Próxima amortização: 30 dias de antecedência; próxima remuneração: 15 dias · Fundos.NET ID 1337401 | 01/10/2026 | Regulamento | p. 104, Suplemento definições, reserva de caixa | data/raw/44124617000194/1337401_review_20261007.pdf | https://fnet.bmfbovespa.com.br/fnet/publico/visualizarDocumento?id=1337401 · Observação: Depende dos apêndices e do cronograma; disponibilidades IME isoladas não comprovam cobertura.</a:t>
            </a:r>
          </a:p>
          <a:p>
            <a:r>
              <a:t>CNPJ 54218673000141 · Reserva de caixa · Próxima amortização: 30 dias de antecedência; próxima remuneração: 15 dias · Fundos.NET ID 1268268 | 28/07/2026 | Regulamento | p. 106, Suplemento definições, reserva de caixa | data/raw/54218673000141/1268268_review_20261007.pdf | https://fnet.bmfbovespa.com.br/fnet/publico/visualizarDocumento?id=1268268 · Observação: Depende dos apêndices e do cronograma; disponibilidades IME isoladas não comprovam cobertura.</a:t>
            </a:r>
          </a:p>
          <a:p>
            <a:r>
              <a:t>CNPJ 54218941000125 · Reserva de caixa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caixa · Próxima amortização: 30 dias de antecedência; próxima remuneração: 15 dias · Fundos.NET ID 1072799 | 22/12/2025 | Regulamento | p. 106, Suplemento definições, reserva de caixa | data/raw/54219179000100/1072799_review_20261007.pdf | https://fnet.bmfbovespa.com.br/fnet/publico/visualizarDocumento?id=1072799 · Observação: Depende dos apêndices e do cronograma; disponibilidades IME isoladas não comprovam cobertura.</a:t>
            </a:r>
          </a:p>
          <a:p>
            <a:r>
              <a:t>CNPJ 54248022000102 · Reserva de caixa · Próxima amortização: 30 dias de antecedência; próxima remuneração: 15 dias · Fundos.NET ID 1285773 | 11/08/2026 | Regulamento | p. 111, Suplemento definições, reserva de caixa | data/raw/54248022000102/1285773_review_20261007.pdf | https://fnet.bmfbovespa.com.br/fnet/publico/visualizarDocumento?id=1285773 · Observação: Depende dos apêndices e do cronograma; disponibilidades IME isoladas não comprovam cobertura.</a:t>
            </a:r>
          </a:p>
          <a:p>
            <a:r>
              <a:t>CNPJ 57609282000146 · Reserva de caixa · Próxima amortização: 30 dias de antecedência; próxima remuneração: 15 dias · Fundos.NET ID 993693 | 04/09/2025 | Regulamento | p. 120, Suplemento definições, reserva de caixa | data/raw/57609282000146/993693_review_20261007.pdf | https://fnet.bmfbovespa.com.br/fnet/publico/visualizarDocumento?id=993693 · Observação: Depende dos apêndices e do cronograma; disponibilidades IME isoladas não comprovam cobertura.</a:t>
            </a:r>
          </a:p>
          <a:p>
            <a:r>
              <a:t>CNPJ 60356171000180 · Reserva de caixa · Próxima amortização: 30 dias de antecedência; próxima remuneração: 15 dias · Fundos.NET ID 993687 | 04/09/2025 | Regulamento | p. 117, Suplemento definições, reserva de caixa | data/raw/60356171000180/993687_review_20261007.pdf | https://fnet.bmfbovespa.com.br/fnet/publico/visualizarDocumento?id=993687 · Observação: Depende dos apêndices e do cronograma; disponibilidades IME isoladas não comprovam cobertura.</a:t>
            </a:r>
          </a:p>
          <a:p>
            <a:r>
              <a:t>CNPJ 62393679000183 · Reserva de caixa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Derivativos/hedge · Operações em derivativos vedadas · Fundos.NET ID 733239 | 05/09/2024 | Regulamento | p. 30, Anexo I, derivativos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Derivativos/hedge · Operações em derivativos vedadas · Fundos.NET ID 1337401 | 01/10/2026 | Regulamento | p. 30, Anexo I, derivativos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Derivativos/hedge · Operações em derivativos vedadas · Fundos.NET ID 1268268 | 28/07/2026 | Regulamento | p. 31, Anexo I, derivativos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Derivativos/hedge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Derivativos/hedge · Operações em derivativos vedadas · Fundos.NET ID 1072799 | 22/12/2025 | Regulamento | p. 30, Anexo I, derivativos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Derivativos/hedge · Operações em derivativos vedadas · Fundos.NET ID 1285773 | 11/08/2026 | Regulamento | p. 30, Anexo I, derivativos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Derivativos/hedge · Operações em derivativos vedadas · Fundos.NET ID 993693 | 04/09/2025 | Regulamento | p. 33, Anexo I, derivativos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Derivativos/hedge · Operações em derivativos vedadas · Fundos.NET ID 993687 | 04/09/2025 | Regulamento | p. 33, Anexo I, derivativos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Derivativos/hedge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42102603000144 · PDD · Gatilho contratual específico de PDD não localizado; usar PDD/crédito como indicador agregado · Fundos.NET ID 733239 | 05/09/2024 | Regulamento | p. 3, Anexo e avaliação metodológica da revisão | data/raw/42102603000144/733239_review_20261007.pdf | https://fnet.bmfbovespa.com.br/fnet/publico/visualizarDocumento?id=733239 · Observação: Sem limite automático de PDD inferido; regra contratual deve ser conciliada separadamente.</a:t>
            </a:r>
          </a:p>
          <a:p>
            <a:r>
              <a:t>CNPJ 44124617000194 · PDD · Gatilho contratual específico de PDD não localizado; usar PDD/crédito como indicador agregado · Fundos.NET ID 1337401 | 01/10/2026 | Regulamento | p. 1, Anexo e avaliação metodológica da revisão | data/raw/44124617000194/1337401_review_20261007.pdf | https://fnet.bmfbovespa.com.br/fnet/publico/visualizarDocumento?id=1337401 · Observação: Sem limite automático de PDD inferido; regra contratual deve ser conciliada separadamente.</a:t>
            </a:r>
          </a:p>
          <a:p>
            <a:r>
              <a:t>CNPJ 54218673000141 · PDD · Gatilho contratual específico de PDD não localizado; usar PDD/crédito como indicador agregado · Fundos.NET ID 1268268 | 28/07/2026 | Regulamento | p. 5, Anexo e avaliação metodológica da revisão | data/raw/54218673000141/1268268_review_20261007.pdf | https://fnet.bmfbovespa.com.br/fnet/publico/visualizarDocumento?id=1268268 · Observação: Sem limite automático de PDD inferido; regra contratual deve ser conciliada separadamente.</a:t>
            </a:r>
          </a:p>
          <a:p>
            <a:r>
              <a:t>CNPJ 54218941000125 · PDD · Gatilho contratual específico de PDD não localizado; usar PDD/crédito como indicador agregado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Sem limite automático de PDD inferido; regra contratual deve ser conciliada separadamente.</a:t>
            </a:r>
          </a:p>
          <a:p>
            <a:r>
              <a:t>CNPJ 54219179000100 · PDD · Gatilho contratual específico de PDD não localizado; usar PDD/crédito como indicador agregado · Fundos.NET ID 1072799 | 22/12/2025 | Regulamento | p. 4, Anexo e avaliação metodológica da revisão | data/raw/54219179000100/1072799_review_20261007.pdf | https://fnet.bmfbovespa.com.br/fnet/publico/visualizarDocumento?id=1072799 · Observação: Sem limite automático de PDD inferido; regra contratual deve ser conciliada separadamente.</a:t>
            </a:r>
          </a:p>
          <a:p>
            <a:r>
              <a:t>CNPJ 54248022000102 · PDD · Gatilho contratual específico de PDD não localizado; usar PDD/crédito como indicador agregado · Fundos.NET ID 1285773 | 11/08/2026 | Regulamento | p. 4, Anexo e avaliação metodológica da revisão | data/raw/54248022000102/1285773_review_20261007.pdf | https://fnet.bmfbovespa.com.br/fnet/publico/visualizarDocumento?id=1285773 · Observação: Sem limite automático de PDD inferido; regra contratual deve ser conciliada separadamente.</a:t>
            </a:r>
          </a:p>
          <a:p>
            <a:r>
              <a:t>CNPJ 57609282000146 · PDD · Gatilho contratual específico de PDD não localizado; usar PDD/crédito como indicador agregado · Fundos.NET ID 993693 | 04/09/2025 | Regulamento | p. 1, Anexo e avaliação metodológica da revisão | data/raw/57609282000146/993693_review_20261007.pdf | https://fnet.bmfbovespa.com.br/fnet/publico/visualizarDocumento?id=993693 · Observação: Sem limite automático de PDD inferido; regra contratual deve ser conciliada separadamente.</a:t>
            </a:r>
          </a:p>
          <a:p>
            <a:r>
              <a:t>CNPJ 60356171000180 · PDD · Gatilho contratual específico de PDD não localizado; usar PDD/crédito como indicador agregado · Fundos.NET ID 993687 | 04/09/2025 | Regulamento | p. 1, Anexo e avaliação metodológica da revisão | data/raw/60356171000180/993687_review_20261007.pdf | https://fnet.bmfbovespa.com.br/fnet/publico/visualizarDocumento?id=993687 · Observação: Sem limite automático de PDD inferido; regra contratual deve ser conciliada separadamente.</a:t>
            </a:r>
          </a:p>
          <a:p>
            <a:r>
              <a:t>CNPJ 62393679000183 · PDD · Gatilho contratual específico de PDD não localizado; usar PDD/crédito como indicador agregado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Sem limite automático de PDD inferido; regra contratual deve ser conciliada separadamente.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Subordinação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Subordinação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Subordinação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Subordinação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Subordinação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Subordinação mezanino · Júnior / PL: mínimo 2,5%; ramp-up 2,75%; target 3% · Fundos.NET ID 993693 | 04/09/2025 | Regulamento | p. 115, Suplemento definições, índices mezanino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Subordinação mezanino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Subordinação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Eventos de avaliação · Falhas de pagamento, reservas, subordinação e prestadores; prazos de cura no anexo · Fundos.NET ID 733239 | 05/09/2024 | Regulamento | p. 64, Anexo I, eventos de avaliação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Eventos de avaliação · Falhas de pagamento, reservas, subordinação e prestadores; prazos de cura no anexo · Fundos.NET ID 1337401 | 01/10/2026 | Regulamento | p. 64, Anexo I, eventos de avaliação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Eventos de avaliação · Falhas de pagamento, reservas, subordinação e prestadores; prazos de cura no anexo · Fundos.NET ID 1268268 | 28/07/2026 | Regulamento | p. 64, Anexo I, eventos de avaliação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Eventos de avaliação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Eventos de avaliação · Falhas de pagamento, reservas, subordinação e prestadores; prazos de cura no anexo · Fundos.NET ID 1072799 | 22/12/2025 | Regulamento | p. 64, Anexo I, eventos de avaliação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Eventos de avaliação · Falhas de pagamento, reservas, subordinação e prestadores; prazos de cura no anexo · Fundos.NET ID 1285773 | 11/08/2026 | Regulamento | p. 65, Anexo I, eventos de avaliação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Eventos de avaliação · Falhas de pagamento, reservas, subordinação e prestadores; prazos de cura no anexo · Fundos.NET ID 993693 | 04/09/2025 | Regulamento | p. 69, Anexo I, eventos de avaliação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Eventos de avaliação · Falhas de pagamento, reservas, subordinação e prestadores; prazos de cura no anexo · Fundos.NET ID 993687 | 04/09/2025 | Regulamento | p. 70, Anexo I, eventos de avaliação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Eventos de avaliação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Liquidação antecipada · Eventos contratuais de insolvência, cessão e prestadores; observar hipóteses e cura ·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Liquidação antecipada · Eventos contratuais de insolvência, cessão e prestadores; observar hipóteses e cura ·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Liquidação antecipada · Eventos contratuais de insolvência, cessão e prestadores; observar hipóteses e cura ·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Liquidação antecipada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Liquidação antecipada · Eventos contratuais de insolvência, cessão e prestadores; observar hipóteses e cura ·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Liquidação antecipada · Eventos contratuais de insolvência, cessão e prestadores; observar hipóteses e cura ·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Liquidação antecipada · Eventos contratuais de insolvência, cessão e prestadores; observar hipóteses e cura ·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Liquidação antecipada · Eventos contratuais de insolvência, cessão e prestadores; observar hipóteses e cura ·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Liquidação antecipada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Reserva de despesas · Despesas ordinárias estimadas dos 3 meses seguintes, incluindo administração e gestão · Fundos.NET ID 733239 | 05/09/2024 | Regulamento | p. 53, Anexo I, encargos/reserva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Reserva de despesas · Despesas ordinárias estimadas dos 3 meses seguintes, incluindo administração e gestão · Fundos.NET ID 1337401 | 01/10/2026 | Regulamento | p. 53, Anexo I, encargos/reserva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Reserva de despesas · Despesas ordinárias estimadas dos 3 meses seguintes, incluindo administração e gestão · Fundos.NET ID 1268268 | 28/07/2026 | Regulamento | p. 53, Anexo I, encargos/reserva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Reserva de despesas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despesas · Despesas ordinárias estimadas dos 3 meses seguintes, incluindo administração e gestão · Fundos.NET ID 1072799 | 22/12/2025 | Regulamento | p. 52, Anexo I, encargos/reserva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Reserva de despesas · Despesas ordinárias estimadas dos 3 meses seguintes, incluindo administração e gestão · Fundos.NET ID 1285773 | 11/08/2026 | Regulamento | p. 53, Anexo I, encargos/reserva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Reserva de despesas · Despesas ordinárias estimadas dos 3 meses seguintes, incluindo administração e gestão · Fundos.NET ID 993693 | 04/09/2025 | Regulamento | p. 58, Anexo I, encargos/reserva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Reserva de despesas · Despesas ordinárias estimadas dos 3 meses seguintes, incluindo administração e gestão · Fundos.NET ID 993687 | 04/09/2025 | Regulamento | p. 58, Anexo I, encargos/reserva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Reserva de despesas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Subordinação mínima · ≥ 6,8%: subordinadas / PL, apuração diária · Fundos.NET ID 733239 | 05/09/2024 | Regulamento | p. 99, Suplemento definições, índice de subordinação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Subordinação mínima · ≥ 5%: subordinadas / PL, apuração diária · Fundos.NET ID 1337401 | 01/10/2026 | Regulamento | p. 100, Suplemento definições, índice de subordinação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Subordinação mínima · ≥ 2,5%: subordinadas / PL, apuração diária · Fundos.NET ID 1268268 | 28/07/2026 | Regulamento | p. 103, Suplemento definições, índice de subordinação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Subordinação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mínima · Divergência: numeral 5% / extenso três por cento; confirmar redação aplicável · Fundos.NET ID 1072799 | 22/12/2025 | Regulamento | p. 102, definição índice de subordinação | data/raw/54219179000100/1072799_review_20261007.pdf | https://fnet.bmfbovespa.com.br/fnet/publico/visualizarDocumento?id=1072799 · Observação: Não converter em limite operacional até conciliar numeral/extenso com administrador ou alteração documental inequívoca.</a:t>
            </a:r>
          </a:p>
          <a:p>
            <a:r>
              <a:t>CNPJ 54248022000102 · Subordinação mínima · ≥ 20%: subordinadas / PL, apuração diária · Fundos.NET ID 1285773 | 11/08/2026 | Regulamento | p. 107, Suplemento definições, índice de subordinação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Subordinação mínima · Mínimo 15,5%; ramp-up 15,75%; target 16% (subordinadas / PL) · Fundos.NET ID 993693 | 04/09/2025 | Regulamento | p. 115, Suplemento definições, índices sênior | data/raw/57609282000146/993693_review_20261007.pdf | https://fnet.bmfbovespa.com.br/fnet/publico/visualizarDocumento?id=993693 · Observação: Níveis mínimo, ramp-up e target têm funções distintas; validar estágio contratual para alerta.</a:t>
            </a:r>
          </a:p>
          <a:p>
            <a:r>
              <a:t>CNPJ 60356171000180 · Subordinação mínima · Mínimo 15,5%; ramp-up 15,75%; target 16% (subordinadas / PL) · Fundos.NET ID 993687 | 04/09/2025 | Regulamento | p. 112, Suplemento definições, índices sênior | data/raw/60356171000180/993687_review_20261007.pdf | https://fnet.bmfbovespa.com.br/fnet/publico/visualizarDocumento?id=993687 · Observação: Níveis mínimo, ramp-up e target têm funções distintas; validar estágio contratual para alerta.</a:t>
            </a:r>
          </a:p>
          <a:p>
            <a:r>
              <a:t>CNPJ 62393679000183 · Subordinação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Gatilhos de avaliação/liquidação · Falhas de pagamento, reservas, subordinação e prestadores; prazos de cura no anexo; Eventos contratuais de insolvência, cessão e prestadores; observar hipóteses e cura · Fundos.NET ID 733239 | 05/09/2024 | Regulamento | p. 64, Anexo I, eventos de avaliação | data/raw/42102603000144/733239_review_20261007.pdf | https://fnet.bmfbovespa.com.br/fnet/publico/visualizarDocumento?id=733239 |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Gatilhos de avaliação/liquidação · Falhas de pagamento, reservas, subordinação e prestadores; prazos de cura no anexo; Eventos contratuais de insolvência, cessão e prestadores; observar hipóteses e cura · Fundos.NET ID 1337401 | 01/10/2026 | Regulamento | p. 64, Anexo I, eventos de avaliação | data/raw/44124617000194/1337401_review_20261007.pdf | https://fnet.bmfbovespa.com.br/fnet/publico/visualizarDocumento?id=1337401 |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Gatilhos de avaliação/liquidação · Falhas de pagamento, reservas, subordinação e prestadores; prazos de cura no anexo; Eventos contratuais de insolvência, cessão e prestadores; observar hipóteses e cura · Fundos.NET ID 1268268 | 28/07/2026 | Regulamento | p. 64, Anexo I, eventos de avaliação | data/raw/54218673000141/1268268_review_20261007.pdf | https://fnet.bmfbovespa.com.br/fnet/publico/visualizarDocumento?id=1268268 |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Gatilhos de avaliação/liquidação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Gatilhos de avaliação/liquidação · Falhas de pagamento, reservas, subordinação e prestadores; prazos de cura no anexo; Eventos contratuais de insolvência, cessão e prestadores; observar hipóteses e cura · Fundos.NET ID 1072799 | 22/12/2025 | Regulamento | p. 64, Anexo I, eventos de avaliação | data/raw/54219179000100/1072799_review_20261007.pdf | https://fnet.bmfbovespa.com.br/fnet/publico/visualizarDocumento?id=1072799 |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Gatilhos de avaliação/liquidação · Falhas de pagamento, reservas, subordinação e prestadores; prazos de cura no anexo; Eventos contratuais de insolvência, cessão e prestadores; observar hipóteses e cura · Fundos.NET ID 1285773 | 11/08/2026 | Regulamento | p. 65, Anexo I, eventos de avaliação | data/raw/54248022000102/1285773_review_20261007.pdf | https://fnet.bmfbovespa.com.br/fnet/publico/visualizarDocumento?id=1285773 |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Gatilhos de avaliação/liquidação · Falhas de pagamento, reservas, subordinação e prestadores; prazos de cura no anexo; Eventos contratuais de insolvência, cessão e prestadores; observar hipóteses e cura · Fundos.NET ID 993693 | 04/09/2025 | Regulamento | p. 69, Anexo I, eventos de avaliação | data/raw/57609282000146/993693_review_20261007.pdf | https://fnet.bmfbovespa.com.br/fnet/publico/visualizarDocumento?id=993693 |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Gatilhos de avaliação/liquidação · Falhas de pagamento, reservas, subordinação e prestadores; prazos de cura no anexo; Eventos contratuais de insolvência, cessão e prestadores; observar hipóteses e cura · Fundos.NET ID 993687 | 04/09/2025 | Regulamento | p. 70, Anexo I, eventos de avaliação | data/raw/60356171000180/993687_review_20261007.pdf | https://fnet.bmfbovespa.com.br/fnet/publico/visualizarDocumento?id=993687 |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Gatilhos de avaliação/liquidação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42102603000144 · Reserva de caixa · Próxima amortização: 30 dias de antecedência; próxima remuneração: 15 dias · Fundos.NET ID 733239 | 05/09/2024 | Regulamento | p. 103, Suplemento definições, reserva de caixa | data/raw/42102603000144/733239_review_20261007.pdf | https://fnet.bmfbovespa.com.br/fnet/publico/visualizarDocumento?id=733239 · Observação: Depende dos apêndices e do cronograma; disponibilidades IME isoladas não comprovam cobertura.</a:t>
            </a:r>
          </a:p>
          <a:p>
            <a:r>
              <a:t>CNPJ 44124617000194 · Reserva de caixa · Próxima amortização: 30 dias de antecedência; próxima remuneração: 15 dias · Fundos.NET ID 1337401 | 01/10/2026 | Regulamento | p. 104, Suplemento definições, reserva de caixa | data/raw/44124617000194/1337401_review_20261007.pdf | https://fnet.bmfbovespa.com.br/fnet/publico/visualizarDocumento?id=1337401 · Observação: Depende dos apêndices e do cronograma; disponibilidades IME isoladas não comprovam cobertura.</a:t>
            </a:r>
          </a:p>
          <a:p>
            <a:r>
              <a:t>CNPJ 54218673000141 · Reserva de caixa · Próxima amortização: 30 dias de antecedência; próxima remuneração: 15 dias · Fundos.NET ID 1268268 | 28/07/2026 | Regulamento | p. 106, Suplemento definições, reserva de caixa | data/raw/54218673000141/1268268_review_20261007.pdf | https://fnet.bmfbovespa.com.br/fnet/publico/visualizarDocumento?id=1268268 · Observação: Depende dos apêndices e do cronograma; disponibilidades IME isoladas não comprovam cobertura.</a:t>
            </a:r>
          </a:p>
          <a:p>
            <a:r>
              <a:t>CNPJ 54218941000125 · Reserva de caixa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caixa · Próxima amortização: 30 dias de antecedência; próxima remuneração: 15 dias · Fundos.NET ID 1072799 | 22/12/2025 | Regulamento | p. 106, Suplemento definições, reserva de caixa | data/raw/54219179000100/1072799_review_20261007.pdf | https://fnet.bmfbovespa.com.br/fnet/publico/visualizarDocumento?id=1072799 · Observação: Depende dos apêndices e do cronograma; disponibilidades IME isoladas não comprovam cobertura.</a:t>
            </a:r>
          </a:p>
          <a:p>
            <a:r>
              <a:t>CNPJ 54248022000102 · Reserva de caixa · Próxima amortização: 30 dias de antecedência; próxima remuneração: 15 dias · Fundos.NET ID 1285773 | 11/08/2026 | Regulamento | p. 111, Suplemento definições, reserva de caixa | data/raw/54248022000102/1285773_review_20261007.pdf | https://fnet.bmfbovespa.com.br/fnet/publico/visualizarDocumento?id=1285773 · Observação: Depende dos apêndices e do cronograma; disponibilidades IME isoladas não comprovam cobertura.</a:t>
            </a:r>
          </a:p>
          <a:p>
            <a:r>
              <a:t>CNPJ 57609282000146 · Reserva de caixa · Próxima amortização: 30 dias de antecedência; próxima remuneração: 15 dias · Fundos.NET ID 993693 | 04/09/2025 | Regulamento | p. 120, Suplemento definições, reserva de caixa | data/raw/57609282000146/993693_review_20261007.pdf | https://fnet.bmfbovespa.com.br/fnet/publico/visualizarDocumento?id=993693 · Observação: Depende dos apêndices e do cronograma; disponibilidades IME isoladas não comprovam cobertura.</a:t>
            </a:r>
          </a:p>
          <a:p>
            <a:r>
              <a:t>CNPJ 60356171000180 · Reserva de caixa · Próxima amortização: 30 dias de antecedência; próxima remuneração: 15 dias · Fundos.NET ID 993687 | 04/09/2025 | Regulamento | p. 117, Suplemento definições, reserva de caixa | data/raw/60356171000180/993687_review_20261007.pdf | https://fnet.bmfbovespa.com.br/fnet/publico/visualizarDocumento?id=993687 · Observação: Depende dos apêndices e do cronograma; disponibilidades IME isoladas não comprovam cobertura.</a:t>
            </a:r>
          </a:p>
          <a:p>
            <a:r>
              <a:t>CNPJ 62393679000183 · Reserva de caixa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Derivativos/hedge · Operações em derivativos vedadas · Fundos.NET ID 733239 | 05/09/2024 | Regulamento | p. 30, Anexo I, derivativos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Derivativos/hedge · Operações em derivativos vedadas · Fundos.NET ID 1337401 | 01/10/2026 | Regulamento | p. 30, Anexo I, derivativos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Derivativos/hedge · Operações em derivativos vedadas · Fundos.NET ID 1268268 | 28/07/2026 | Regulamento | p. 31, Anexo I, derivativos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Derivativos/hedge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Derivativos/hedge · Operações em derivativos vedadas · Fundos.NET ID 1072799 | 22/12/2025 | Regulamento | p. 30, Anexo I, derivativos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Derivativos/hedge · Operações em derivativos vedadas · Fundos.NET ID 1285773 | 11/08/2026 | Regulamento | p. 30, Anexo I, derivativos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Derivativos/hedge · Operações em derivativos vedadas · Fundos.NET ID 993693 | 04/09/2025 | Regulamento | p. 33, Anexo I, derivativos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Derivativos/hedge · Operações em derivativos vedadas · Fundos.NET ID 993687 | 04/09/2025 | Regulamento | p. 33, Anexo I, derivativos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Derivativos/hedge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42102603000144 · PDD · Gatilho contratual específico de PDD não localizado; usar PDD/crédito como indicador agregado · Fundos.NET ID 733239 | 05/09/2024 | Regulamento | p. 3, Anexo e avaliação metodológica da revisão | data/raw/42102603000144/733239_review_20261007.pdf | https://fnet.bmfbovespa.com.br/fnet/publico/visualizarDocumento?id=733239 · Observação: Sem limite automático de PDD inferido; regra contratual deve ser conciliada separadamente.</a:t>
            </a:r>
          </a:p>
          <a:p>
            <a:r>
              <a:t>CNPJ 44124617000194 · PDD · Gatilho contratual específico de PDD não localizado; usar PDD/crédito como indicador agregado · Fundos.NET ID 1337401 | 01/10/2026 | Regulamento | p. 1, Anexo e avaliação metodológica da revisão | data/raw/44124617000194/1337401_review_20261007.pdf | https://fnet.bmfbovespa.com.br/fnet/publico/visualizarDocumento?id=1337401 · Observação: Sem limite automático de PDD inferido; regra contratual deve ser conciliada separadamente.</a:t>
            </a:r>
          </a:p>
          <a:p>
            <a:r>
              <a:t>CNPJ 54218673000141 · PDD · Gatilho contratual específico de PDD não localizado; usar PDD/crédito como indicador agregado · Fundos.NET ID 1268268 | 28/07/2026 | Regulamento | p. 5, Anexo e avaliação metodológica da revisão | data/raw/54218673000141/1268268_review_20261007.pdf | https://fnet.bmfbovespa.com.br/fnet/publico/visualizarDocumento?id=1268268 · Observação: Sem limite automático de PDD inferido; regra contratual deve ser conciliada separadamente.</a:t>
            </a:r>
          </a:p>
          <a:p>
            <a:r>
              <a:t>CNPJ 54218941000125 · PDD · Gatilho contratual específico de PDD não localizado; usar PDD/crédito como indicador agregado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Sem limite automático de PDD inferido; regra contratual deve ser conciliada separadamente.</a:t>
            </a:r>
          </a:p>
          <a:p>
            <a:r>
              <a:t>CNPJ 54219179000100 · PDD · Gatilho contratual específico de PDD não localizado; usar PDD/crédito como indicador agregado · Fundos.NET ID 1072799 | 22/12/2025 | Regulamento | p. 4, Anexo e avaliação metodológica da revisão | data/raw/54219179000100/1072799_review_20261007.pdf | https://fnet.bmfbovespa.com.br/fnet/publico/visualizarDocumento?id=1072799 · Observação: Sem limite automático de PDD inferido; regra contratual deve ser conciliada separadamente.</a:t>
            </a:r>
          </a:p>
          <a:p>
            <a:r>
              <a:t>CNPJ 54248022000102 · PDD · Gatilho contratual específico de PDD não localizado; usar PDD/crédito como indicador agregado · Fundos.NET ID 1285773 | 11/08/2026 | Regulamento | p. 4, Anexo e avaliação metodológica da revisão | data/raw/54248022000102/1285773_review_20261007.pdf | https://fnet.bmfbovespa.com.br/fnet/publico/visualizarDocumento?id=1285773 · Observação: Sem limite automático de PDD inferido; regra contratual deve ser conciliada separadamente.</a:t>
            </a:r>
          </a:p>
          <a:p>
            <a:r>
              <a:t>CNPJ 57609282000146 · PDD · Gatilho contratual específico de PDD não localizado; usar PDD/crédito como indicador agregado · Fundos.NET ID 993693 | 04/09/2025 | Regulamento | p. 1, Anexo e avaliação metodológica da revisão | data/raw/57609282000146/993693_review_20261007.pdf | https://fnet.bmfbovespa.com.br/fnet/publico/visualizarDocumento?id=993693 · Observação: Sem limite automático de PDD inferido; regra contratual deve ser conciliada separadamente.</a:t>
            </a:r>
          </a:p>
          <a:p>
            <a:r>
              <a:t>CNPJ 60356171000180 · PDD · Gatilho contratual específico de PDD não localizado; usar PDD/crédito como indicador agregado · Fundos.NET ID 993687 | 04/09/2025 | Regulamento | p. 1, Anexo e avaliação metodológica da revisão | data/raw/60356171000180/993687_review_20261007.pdf | https://fnet.bmfbovespa.com.br/fnet/publico/visualizarDocumento?id=993687 · Observação: Sem limite automático de PDD inferido; regra contratual deve ser conciliada separadamente.</a:t>
            </a:r>
          </a:p>
          <a:p>
            <a:r>
              <a:t>CNPJ 62393679000183 · PDD · Gatilho contratual específico de PDD não localizado; usar PDD/crédito como indicador agregado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Sem limite automático de PDD inferido; regra contratual deve ser conciliada separadamente.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Subordinação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Subordinação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Subordinação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Subordinação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Subordinação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Subordinação mezanino · Júnior / PL: mínimo 2,5%; ramp-up 2,75%; target 3% · Fundos.NET ID 993693 | 04/09/2025 | Regulamento | p. 115, Suplemento definições, índices mezanino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Subordinação mezanino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Subordinação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Eventos de avaliação · Falhas de pagamento, reservas, subordinação e prestadores; prazos de cura no anexo · Fundos.NET ID 733239 | 05/09/2024 | Regulamento | p. 64, Anexo I, eventos de avaliação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Eventos de avaliação · Falhas de pagamento, reservas, subordinação e prestadores; prazos de cura no anexo · Fundos.NET ID 1337401 | 01/10/2026 | Regulamento | p. 64, Anexo I, eventos de avaliação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Eventos de avaliação · Falhas de pagamento, reservas, subordinação e prestadores; prazos de cura no anexo · Fundos.NET ID 1268268 | 28/07/2026 | Regulamento | p. 64, Anexo I, eventos de avaliação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Eventos de avaliação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Eventos de avaliação · Falhas de pagamento, reservas, subordinação e prestadores; prazos de cura no anexo · Fundos.NET ID 1072799 | 22/12/2025 | Regulamento | p. 64, Anexo I, eventos de avaliação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Eventos de avaliação · Falhas de pagamento, reservas, subordinação e prestadores; prazos de cura no anexo · Fundos.NET ID 1285773 | 11/08/2026 | Regulamento | p. 65, Anexo I, eventos de avaliação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Eventos de avaliação · Falhas de pagamento, reservas, subordinação e prestadores; prazos de cura no anexo · Fundos.NET ID 993693 | 04/09/2025 | Regulamento | p. 69, Anexo I, eventos de avaliação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Eventos de avaliação · Falhas de pagamento, reservas, subordinação e prestadores; prazos de cura no anexo · Fundos.NET ID 993687 | 04/09/2025 | Regulamento | p. 70, Anexo I, eventos de avaliação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Eventos de avaliação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Liquidação antecipada · Eventos contratuais de insolvência, cessão e prestadores; observar hipóteses e cura ·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Liquidação antecipada · Eventos contratuais de insolvência, cessão e prestadores; observar hipóteses e cura ·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Liquidação antecipada · Eventos contratuais de insolvência, cessão e prestadores; observar hipóteses e cura ·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Liquidação antecipada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Liquidação antecipada · Eventos contratuais de insolvência, cessão e prestadores; observar hipóteses e cura ·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Liquidação antecipada · Eventos contratuais de insolvência, cessão e prestadores; observar hipóteses e cura ·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Liquidação antecipada · Eventos contratuais de insolvência, cessão e prestadores; observar hipóteses e cura ·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Liquidação antecipada · Eventos contratuais de insolvência, cessão e prestadores; observar hipóteses e cura ·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Liquidação antecipada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Reserva de despesas · Despesas ordinárias estimadas dos 3 meses seguintes, incluindo administração e gestão · Fundos.NET ID 733239 | 05/09/2024 | Regulamento | p. 53, Anexo I, encargos/reserva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Reserva de despesas · Despesas ordinárias estimadas dos 3 meses seguintes, incluindo administração e gestão · Fundos.NET ID 1337401 | 01/10/2026 | Regulamento | p. 53, Anexo I, encargos/reserva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Reserva de despesas · Despesas ordinárias estimadas dos 3 meses seguintes, incluindo administração e gestão · Fundos.NET ID 1268268 | 28/07/2026 | Regulamento | p. 53, Anexo I, encargos/reserva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Reserva de despesas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despesas · Despesas ordinárias estimadas dos 3 meses seguintes, incluindo administração e gestão · Fundos.NET ID 1072799 | 22/12/2025 | Regulamento | p. 52, Anexo I, encargos/reserva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Reserva de despesas · Despesas ordinárias estimadas dos 3 meses seguintes, incluindo administração e gestão · Fundos.NET ID 1285773 | 11/08/2026 | Regulamento | p. 53, Anexo I, encargos/reserva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Reserva de despesas · Despesas ordinárias estimadas dos 3 meses seguintes, incluindo administração e gestão · Fundos.NET ID 993693 | 04/09/2025 | Regulamento | p. 58, Anexo I, encargos/reserva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Reserva de despesas · Despesas ordinárias estimadas dos 3 meses seguintes, incluindo administração e gestão · Fundos.NET ID 993687 | 04/09/2025 | Regulamento | p. 58, Anexo I, encargos/reserva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Reserva de despesas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Subordinação mínima · ≥ 6,8%: subordinadas / PL, apuração diária · Fundos.NET ID 733239 | 05/09/2024 | Regulamento | p. 99, Suplemento definições, índice de subordinação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Subordinação mínima · ≥ 5%: subordinadas / PL, apuração diária · Fundos.NET ID 1337401 | 01/10/2026 | Regulamento | p. 100, Suplemento definições, índice de subordinação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Subordinação mínima · ≥ 2,5%: subordinadas / PL, apuração diária · Fundos.NET ID 1268268 | 28/07/2026 | Regulamento | p. 103, Suplemento definições, índice de subordinação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Subordinação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mínima · Divergência: numeral 5% / extenso três por cento; confirmar redação aplicável · Fundos.NET ID 1072799 | 22/12/2025 | Regulamento | p. 102, definição índice de subordinação | data/raw/54219179000100/1072799_review_20261007.pdf | https://fnet.bmfbovespa.com.br/fnet/publico/visualizarDocumento?id=1072799 · Observação: Não converter em limite operacional até conciliar numeral/extenso com administrador ou alteração documental inequívoca.</a:t>
            </a:r>
          </a:p>
          <a:p>
            <a:r>
              <a:t>CNPJ 54248022000102 · Subordinação mínima · ≥ 20%: subordinadas / PL, apuração diária · Fundos.NET ID 1285773 | 11/08/2026 | Regulamento | p. 107, Suplemento definições, índice de subordinação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Subordinação mínima · Mínimo 15,5%; ramp-up 15,75%; target 16% (subordinadas / PL) · Fundos.NET ID 993693 | 04/09/2025 | Regulamento | p. 115, Suplemento definições, índices sênior | data/raw/57609282000146/993693_review_20261007.pdf | https://fnet.bmfbovespa.com.br/fnet/publico/visualizarDocumento?id=993693 · Observação: Níveis mínimo, ramp-up e target têm funções distintas; validar estágio contratual para alerta.</a:t>
            </a:r>
          </a:p>
          <a:p>
            <a:r>
              <a:t>CNPJ 60356171000180 · Subordinação mínima · Mínimo 15,5%; ramp-up 15,75%; target 16% (subordinadas / PL) · Fundos.NET ID 993687 | 04/09/2025 | Regulamento | p. 112, Suplemento definições, índices sênior | data/raw/60356171000180/993687_review_20261007.pdf | https://fnet.bmfbovespa.com.br/fnet/publico/visualizarDocumento?id=993687 · Observação: Níveis mínimo, ramp-up e target têm funções distintas; validar estágio contratual para alerta.</a:t>
            </a:r>
          </a:p>
          <a:p>
            <a:r>
              <a:t>CNPJ 62393679000183 · Subordinação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Gatilhos de avaliação/liquidação · Falhas de pagamento, reservas, subordinação e prestadores; prazos de cura no anexo; Eventos contratuais de insolvência, cessão e prestadores; observar hipóteses e cura · Fundos.NET ID 733239 | 05/09/2024 | Regulamento | p. 64, Anexo I, eventos de avaliação | data/raw/42102603000144/733239_review_20261007.pdf | https://fnet.bmfbovespa.com.br/fnet/publico/visualizarDocumento?id=733239 |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Gatilhos de avaliação/liquidação · Falhas de pagamento, reservas, subordinação e prestadores; prazos de cura no anexo; Eventos contratuais de insolvência, cessão e prestadores; observar hipóteses e cura · Fundos.NET ID 1337401 | 01/10/2026 | Regulamento | p. 64, Anexo I, eventos de avaliação | data/raw/44124617000194/1337401_review_20261007.pdf | https://fnet.bmfbovespa.com.br/fnet/publico/visualizarDocumento?id=1337401 |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Gatilhos de avaliação/liquidação · Falhas de pagamento, reservas, subordinação e prestadores; prazos de cura no anexo; Eventos contratuais de insolvência, cessão e prestadores; observar hipóteses e cura · Fundos.NET ID 1268268 | 28/07/2026 | Regulamento | p. 64, Anexo I, eventos de avaliação | data/raw/54218673000141/1268268_review_20261007.pdf | https://fnet.bmfbovespa.com.br/fnet/publico/visualizarDocumento?id=1268268 |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Gatilhos de avaliação/liquidação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Gatilhos de avaliação/liquidação · Falhas de pagamento, reservas, subordinação e prestadores; prazos de cura no anexo; Eventos contratuais de insolvência, cessão e prestadores; observar hipóteses e cura · Fundos.NET ID 1072799 | 22/12/2025 | Regulamento | p. 64, Anexo I, eventos de avaliação | data/raw/54219179000100/1072799_review_20261007.pdf | https://fnet.bmfbovespa.com.br/fnet/publico/visualizarDocumento?id=1072799 |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Gatilhos de avaliação/liquidação · Falhas de pagamento, reservas, subordinação e prestadores; prazos de cura no anexo; Eventos contratuais de insolvência, cessão e prestadores; observar hipóteses e cura · Fundos.NET ID 1285773 | 11/08/2026 | Regulamento | p. 65, Anexo I, eventos de avaliação | data/raw/54248022000102/1285773_review_20261007.pdf | https://fnet.bmfbovespa.com.br/fnet/publico/visualizarDocumento?id=1285773 |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Gatilhos de avaliação/liquidação · Falhas de pagamento, reservas, subordinação e prestadores; prazos de cura no anexo; Eventos contratuais de insolvência, cessão e prestadores; observar hipóteses e cura · Fundos.NET ID 993693 | 04/09/2025 | Regulamento | p. 69, Anexo I, eventos de avaliação | data/raw/57609282000146/993693_review_20261007.pdf | https://fnet.bmfbovespa.com.br/fnet/publico/visualizarDocumento?id=993693 |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Gatilhos de avaliação/liquidação · Falhas de pagamento, reservas, subordinação e prestadores; prazos de cura no anexo; Eventos contratuais de insolvência, cessão e prestadores; observar hipóteses e cura · Fundos.NET ID 993687 | 04/09/2025 | Regulamento | p. 70, Anexo I, eventos de avaliação | data/raw/60356171000180/993687_review_20261007.pdf | https://fnet.bmfbovespa.com.br/fnet/publico/visualizarDocumento?id=993687 |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Gatilhos de avaliação/liquidação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42102603000144 · Reserva de caixa · Próxima amortização: 30 dias de antecedência; próxima remuneração: 15 dias · Fundos.NET ID 733239 | 05/09/2024 | Regulamento | p. 103, Suplemento definições, reserva de caixa | data/raw/42102603000144/733239_review_20261007.pdf | https://fnet.bmfbovespa.com.br/fnet/publico/visualizarDocumento?id=733239 · Observação: Depende dos apêndices e do cronograma; disponibilidades IME isoladas não comprovam cobertura.</a:t>
            </a:r>
          </a:p>
          <a:p>
            <a:r>
              <a:t>CNPJ 44124617000194 · Reserva de caixa · Próxima amortização: 30 dias de antecedência; próxima remuneração: 15 dias · Fundos.NET ID 1337401 | 01/10/2026 | Regulamento | p. 104, Suplemento definições, reserva de caixa | data/raw/44124617000194/1337401_review_20261007.pdf | https://fnet.bmfbovespa.com.br/fnet/publico/visualizarDocumento?id=1337401 · Observação: Depende dos apêndices e do cronograma; disponibilidades IME isoladas não comprovam cobertura.</a:t>
            </a:r>
          </a:p>
          <a:p>
            <a:r>
              <a:t>CNPJ 54218673000141 · Reserva de caixa · Próxima amortização: 30 dias de antecedência; próxima remuneração: 15 dias · Fundos.NET ID 1268268 | 28/07/2026 | Regulamento | p. 106, Suplemento definições, reserva de caixa | data/raw/54218673000141/1268268_review_20261007.pdf | https://fnet.bmfbovespa.com.br/fnet/publico/visualizarDocumento?id=1268268 · Observação: Depende dos apêndices e do cronograma; disponibilidades IME isoladas não comprovam cobertura.</a:t>
            </a:r>
          </a:p>
          <a:p>
            <a:r>
              <a:t>CNPJ 54218941000125 · Reserva de caixa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caixa · Próxima amortização: 30 dias de antecedência; próxima remuneração: 15 dias · Fundos.NET ID 1072799 | 22/12/2025 | Regulamento | p. 106, Suplemento definições, reserva de caixa | data/raw/54219179000100/1072799_review_20261007.pdf | https://fnet.bmfbovespa.com.br/fnet/publico/visualizarDocumento?id=1072799 · Observação: Depende dos apêndices e do cronograma; disponibilidades IME isoladas não comprovam cobertura.</a:t>
            </a:r>
          </a:p>
          <a:p>
            <a:r>
              <a:t>CNPJ 54248022000102 · Reserva de caixa · Próxima amortização: 30 dias de antecedência; próxima remuneração: 15 dias · Fundos.NET ID 1285773 | 11/08/2026 | Regulamento | p. 111, Suplemento definições, reserva de caixa | data/raw/54248022000102/1285773_review_20261007.pdf | https://fnet.bmfbovespa.com.br/fnet/publico/visualizarDocumento?id=1285773 · Observação: Depende dos apêndices e do cronograma; disponibilidades IME isoladas não comprovam cobertura.</a:t>
            </a:r>
          </a:p>
          <a:p>
            <a:r>
              <a:t>CNPJ 57609282000146 · Reserva de caixa · Próxima amortização: 30 dias de antecedência; próxima remuneração: 15 dias · Fundos.NET ID 993693 | 04/09/2025 | Regulamento | p. 120, Suplemento definições, reserva de caixa | data/raw/57609282000146/993693_review_20261007.pdf | https://fnet.bmfbovespa.com.br/fnet/publico/visualizarDocumento?id=993693 · Observação: Depende dos apêndices e do cronograma; disponibilidades IME isoladas não comprovam cobertura.</a:t>
            </a:r>
          </a:p>
          <a:p>
            <a:r>
              <a:t>CNPJ 60356171000180 · Reserva de caixa · Próxima amortização: 30 dias de antecedência; próxima remuneração: 15 dias · Fundos.NET ID 993687 | 04/09/2025 | Regulamento | p. 117, Suplemento definições, reserva de caixa | data/raw/60356171000180/993687_review_20261007.pdf | https://fnet.bmfbovespa.com.br/fnet/publico/visualizarDocumento?id=993687 · Observação: Depende dos apêndices e do cronograma; disponibilidades IME isoladas não comprovam cobertura.</a:t>
            </a:r>
          </a:p>
          <a:p>
            <a:r>
              <a:t>CNPJ 62393679000183 · Reserva de caixa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Derivativos/hedge · Operações em derivativos vedadas · Fundos.NET ID 733239 | 05/09/2024 | Regulamento | p. 30, Anexo I, derivativos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Derivativos/hedge · Operações em derivativos vedadas · Fundos.NET ID 1337401 | 01/10/2026 | Regulamento | p. 30, Anexo I, derivativos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Derivativos/hedge · Operações em derivativos vedadas · Fundos.NET ID 1268268 | 28/07/2026 | Regulamento | p. 31, Anexo I, derivativos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Derivativos/hedge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Derivativos/hedge · Operações em derivativos vedadas · Fundos.NET ID 1072799 | 22/12/2025 | Regulamento | p. 30, Anexo I, derivativos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Derivativos/hedge · Operações em derivativos vedadas · Fundos.NET ID 1285773 | 11/08/2026 | Regulamento | p. 30, Anexo I, derivativos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Derivativos/hedge · Operações em derivativos vedadas · Fundos.NET ID 993693 | 04/09/2025 | Regulamento | p. 33, Anexo I, derivativos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Derivativos/hedge · Operações em derivativos vedadas · Fundos.NET ID 993687 | 04/09/2025 | Regulamento | p. 33, Anexo I, derivativos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Derivativos/hedge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42102603000144 · PDD · Gatilho contratual específico de PDD não localizado; usar PDD/crédito como indicador agregado · Fundos.NET ID 733239 | 05/09/2024 | Regulamento | p. 3, Anexo e avaliação metodológica da revisão | data/raw/42102603000144/733239_review_20261007.pdf | https://fnet.bmfbovespa.com.br/fnet/publico/visualizarDocumento?id=733239 · Observação: Sem limite automático de PDD inferido; regra contratual deve ser conciliada separadamente.</a:t>
            </a:r>
          </a:p>
          <a:p>
            <a:r>
              <a:t>CNPJ 44124617000194 · PDD · Gatilho contratual específico de PDD não localizado; usar PDD/crédito como indicador agregado · Fundos.NET ID 1337401 | 01/10/2026 | Regulamento | p. 1, Anexo e avaliação metodológica da revisão | data/raw/44124617000194/1337401_review_20261007.pdf | https://fnet.bmfbovespa.com.br/fnet/publico/visualizarDocumento?id=1337401 · Observação: Sem limite automático de PDD inferido; regra contratual deve ser conciliada separadamente.</a:t>
            </a:r>
          </a:p>
          <a:p>
            <a:r>
              <a:t>CNPJ 54218673000141 · PDD · Gatilho contratual específico de PDD não localizado; usar PDD/crédito como indicador agregado · Fundos.NET ID 1268268 | 28/07/2026 | Regulamento | p. 5, Anexo e avaliação metodológica da revisão | data/raw/54218673000141/1268268_review_20261007.pdf | https://fnet.bmfbovespa.com.br/fnet/publico/visualizarDocumento?id=1268268 · Observação: Sem limite automático de PDD inferido; regra contratual deve ser conciliada separadamente.</a:t>
            </a:r>
          </a:p>
          <a:p>
            <a:r>
              <a:t>CNPJ 54218941000125 · PDD · Gatilho contratual específico de PDD não localizado; usar PDD/crédito como indicador agregado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Sem limite automático de PDD inferido; regra contratual deve ser conciliada separadamente.</a:t>
            </a:r>
          </a:p>
          <a:p>
            <a:r>
              <a:t>CNPJ 54219179000100 · PDD · Gatilho contratual específico de PDD não localizado; usar PDD/crédito como indicador agregado · Fundos.NET ID 1072799 | 22/12/2025 | Regulamento | p. 4, Anexo e avaliação metodológica da revisão | data/raw/54219179000100/1072799_review_20261007.pdf | https://fnet.bmfbovespa.com.br/fnet/publico/visualizarDocumento?id=1072799 · Observação: Sem limite automático de PDD inferido; regra contratual deve ser conciliada separadamente.</a:t>
            </a:r>
          </a:p>
          <a:p>
            <a:r>
              <a:t>CNPJ 54248022000102 · PDD · Gatilho contratual específico de PDD não localizado; usar PDD/crédito como indicador agregado · Fundos.NET ID 1285773 | 11/08/2026 | Regulamento | p. 4, Anexo e avaliação metodológica da revisão | data/raw/54248022000102/1285773_review_20261007.pdf | https://fnet.bmfbovespa.com.br/fnet/publico/visualizarDocumento?id=1285773 · Observação: Sem limite automático de PDD inferido; regra contratual deve ser conciliada separadamente.</a:t>
            </a:r>
          </a:p>
          <a:p>
            <a:r>
              <a:t>CNPJ 57609282000146 · PDD · Gatilho contratual específico de PDD não localizado; usar PDD/crédito como indicador agregado · Fundos.NET ID 993693 | 04/09/2025 | Regulamento | p. 1, Anexo e avaliação metodológica da revisão | data/raw/57609282000146/993693_review_20261007.pdf | https://fnet.bmfbovespa.com.br/fnet/publico/visualizarDocumento?id=993693 · Observação: Sem limite automático de PDD inferido; regra contratual deve ser conciliada separadamente.</a:t>
            </a:r>
          </a:p>
          <a:p>
            <a:r>
              <a:t>CNPJ 60356171000180 · PDD · Gatilho contratual específico de PDD não localizado; usar PDD/crédito como indicador agregado · Fundos.NET ID 993687 | 04/09/2025 | Regulamento | p. 1, Anexo e avaliação metodológica da revisão | data/raw/60356171000180/993687_review_20261007.pdf | https://fnet.bmfbovespa.com.br/fnet/publico/visualizarDocumento?id=993687 · Observação: Sem limite automático de PDD inferido; regra contratual deve ser conciliada separadamente.</a:t>
            </a:r>
          </a:p>
          <a:p>
            <a:r>
              <a:t>CNPJ 62393679000183 · PDD · Gatilho contratual específico de PDD não localizado; usar PDD/crédito como indicador agregado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Sem limite automático de PDD inferido; regra contratual deve ser conciliada separadamente.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Subordinação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Subordinação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Subordinação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Subordinação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Subordinação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Subordinação mezanino · Júnior / PL: mínimo 2,5%; ramp-up 2,75%; target 3% · Fundos.NET ID 993693 | 04/09/2025 | Regulamento | p. 115, Suplemento definições, índices mezanino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Subordinação mezanino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Subordinação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Eventos de avaliação · Falhas de pagamento, reservas, subordinação e prestadores; prazos de cura no anexo · Fundos.NET ID 733239 | 05/09/2024 | Regulamento | p. 64, Anexo I, eventos de avaliação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Eventos de avaliação · Falhas de pagamento, reservas, subordinação e prestadores; prazos de cura no anexo · Fundos.NET ID 1337401 | 01/10/2026 | Regulamento | p. 64, Anexo I, eventos de avaliação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Eventos de avaliação · Falhas de pagamento, reservas, subordinação e prestadores; prazos de cura no anexo · Fundos.NET ID 1268268 | 28/07/2026 | Regulamento | p. 64, Anexo I, eventos de avaliação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Eventos de avaliação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Eventos de avaliação · Falhas de pagamento, reservas, subordinação e prestadores; prazos de cura no anexo · Fundos.NET ID 1072799 | 22/12/2025 | Regulamento | p. 64, Anexo I, eventos de avaliação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Eventos de avaliação · Falhas de pagamento, reservas, subordinação e prestadores; prazos de cura no anexo · Fundos.NET ID 1285773 | 11/08/2026 | Regulamento | p. 65, Anexo I, eventos de avaliação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Eventos de avaliação · Falhas de pagamento, reservas, subordinação e prestadores; prazos de cura no anexo · Fundos.NET ID 993693 | 04/09/2025 | Regulamento | p. 69, Anexo I, eventos de avaliação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Eventos de avaliação · Falhas de pagamento, reservas, subordinação e prestadores; prazos de cura no anexo · Fundos.NET ID 993687 | 04/09/2025 | Regulamento | p. 70, Anexo I, eventos de avaliação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Eventos de avaliação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Liquidação antecipada · Eventos contratuais de insolvência, cessão e prestadores; observar hipóteses e cura ·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Liquidação antecipada · Eventos contratuais de insolvência, cessão e prestadores; observar hipóteses e cura ·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Liquidação antecipada · Eventos contratuais de insolvência, cessão e prestadores; observar hipóteses e cura ·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Liquidação antecipada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Liquidação antecipada · Eventos contratuais de insolvência, cessão e prestadores; observar hipóteses e cura ·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Liquidação antecipada · Eventos contratuais de insolvência, cessão e prestadores; observar hipóteses e cura ·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Liquidação antecipada · Eventos contratuais de insolvência, cessão e prestadores; observar hipóteses e cura ·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Liquidação antecipada · Eventos contratuais de insolvência, cessão e prestadores; observar hipóteses e cura ·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Liquidação antecipada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Reserva de despesas · Despesas ordinárias estimadas dos 3 meses seguintes, incluindo administração e gestão · Fundos.NET ID 733239 | 05/09/2024 | Regulamento | p. 53, Anexo I, encargos/reserva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Reserva de despesas · Despesas ordinárias estimadas dos 3 meses seguintes, incluindo administração e gestão · Fundos.NET ID 1337401 | 01/10/2026 | Regulamento | p. 53, Anexo I, encargos/reserva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Reserva de despesas · Despesas ordinárias estimadas dos 3 meses seguintes, incluindo administração e gestão · Fundos.NET ID 1268268 | 28/07/2026 | Regulamento | p. 53, Anexo I, encargos/reserva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Reserva de despesas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despesas · Despesas ordinárias estimadas dos 3 meses seguintes, incluindo administração e gestão · Fundos.NET ID 1072799 | 22/12/2025 | Regulamento | p. 52, Anexo I, encargos/reserva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Reserva de despesas · Despesas ordinárias estimadas dos 3 meses seguintes, incluindo administração e gestão · Fundos.NET ID 1285773 | 11/08/2026 | Regulamento | p. 53, Anexo I, encargos/reserva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Reserva de despesas · Despesas ordinárias estimadas dos 3 meses seguintes, incluindo administração e gestão · Fundos.NET ID 993693 | 04/09/2025 | Regulamento | p. 58, Anexo I, encargos/reserva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Reserva de despesas · Despesas ordinárias estimadas dos 3 meses seguintes, incluindo administração e gestão · Fundos.NET ID 993687 | 04/09/2025 | Regulamento | p. 58, Anexo I, encargos/reserva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Reserva de despesas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Subordinação mínima · ≥ 6,8%: subordinadas / PL, apuração diária · Fundos.NET ID 733239 | 05/09/2024 | Regulamento | p. 99, Suplemento definições, índice de subordinação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Subordinação mínima · ≥ 5%: subordinadas / PL, apuração diária · Fundos.NET ID 1337401 | 01/10/2026 | Regulamento | p. 100, Suplemento definições, índice de subordinação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Subordinação mínima · ≥ 2,5%: subordinadas / PL, apuração diária · Fundos.NET ID 1268268 | 28/07/2026 | Regulamento | p. 103, Suplemento definições, índice de subordinação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Subordinação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mínima · Divergência: numeral 5% / extenso três por cento; confirmar redação aplicável · Fundos.NET ID 1072799 | 22/12/2025 | Regulamento | p. 102, definição índice de subordinação | data/raw/54219179000100/1072799_review_20261007.pdf | https://fnet.bmfbovespa.com.br/fnet/publico/visualizarDocumento?id=1072799 · Observação: Não converter em limite operacional até conciliar numeral/extenso com administrador ou alteração documental inequívoca.</a:t>
            </a:r>
          </a:p>
          <a:p>
            <a:r>
              <a:t>CNPJ 54248022000102 · Subordinação mínima · ≥ 20%: subordinadas / PL, apuração diária · Fundos.NET ID 1285773 | 11/08/2026 | Regulamento | p. 107, Suplemento definições, índice de subordinação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Subordinação mínima · Mínimo 15,5%; ramp-up 15,75%; target 16% (subordinadas / PL) · Fundos.NET ID 993693 | 04/09/2025 | Regulamento | p. 115, Suplemento definições, índices sênior | data/raw/57609282000146/993693_review_20261007.pdf | https://fnet.bmfbovespa.com.br/fnet/publico/visualizarDocumento?id=993693 · Observação: Níveis mínimo, ramp-up e target têm funções distintas; validar estágio contratual para alerta.</a:t>
            </a:r>
          </a:p>
          <a:p>
            <a:r>
              <a:t>CNPJ 60356171000180 · Subordinação mínima · Mínimo 15,5%; ramp-up 15,75%; target 16% (subordinadas / PL) · Fundos.NET ID 993687 | 04/09/2025 | Regulamento | p. 112, Suplemento definições, índices sênior | data/raw/60356171000180/993687_review_20261007.pdf | https://fnet.bmfbovespa.com.br/fnet/publico/visualizarDocumento?id=993687 · Observação: Níveis mínimo, ramp-up e target têm funções distintas; validar estágio contratual para alerta.</a:t>
            </a:r>
          </a:p>
          <a:p>
            <a:r>
              <a:t>CNPJ 62393679000183 · Subordinação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Gatilhos de avaliação/liquidação · Falhas de pagamento, reservas, subordinação e prestadores; prazos de cura no anexo; Eventos contratuais de insolvência, cessão e prestadores; observar hipóteses e cura · Fundos.NET ID 733239 | 05/09/2024 | Regulamento | p. 64, Anexo I, eventos de avaliação | data/raw/42102603000144/733239_review_20261007.pdf | https://fnet.bmfbovespa.com.br/fnet/publico/visualizarDocumento?id=733239 |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Gatilhos de avaliação/liquidação · Falhas de pagamento, reservas, subordinação e prestadores; prazos de cura no anexo; Eventos contratuais de insolvência, cessão e prestadores; observar hipóteses e cura · Fundos.NET ID 1337401 | 01/10/2026 | Regulamento | p. 64, Anexo I, eventos de avaliação | data/raw/44124617000194/1337401_review_20261007.pdf | https://fnet.bmfbovespa.com.br/fnet/publico/visualizarDocumento?id=1337401 |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Gatilhos de avaliação/liquidação · Falhas de pagamento, reservas, subordinação e prestadores; prazos de cura no anexo; Eventos contratuais de insolvência, cessão e prestadores; observar hipóteses e cura · Fundos.NET ID 1268268 | 28/07/2026 | Regulamento | p. 64, Anexo I, eventos de avaliação | data/raw/54218673000141/1268268_review_20261007.pdf | https://fnet.bmfbovespa.com.br/fnet/publico/visualizarDocumento?id=1268268 |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Gatilhos de avaliação/liquidação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Gatilhos de avaliação/liquidação · Falhas de pagamento, reservas, subordinação e prestadores; prazos de cura no anexo; Eventos contratuais de insolvência, cessão e prestadores; observar hipóteses e cura · Fundos.NET ID 1072799 | 22/12/2025 | Regulamento | p. 64, Anexo I, eventos de avaliação | data/raw/54219179000100/1072799_review_20261007.pdf | https://fnet.bmfbovespa.com.br/fnet/publico/visualizarDocumento?id=1072799 |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Gatilhos de avaliação/liquidação · Falhas de pagamento, reservas, subordinação e prestadores; prazos de cura no anexo; Eventos contratuais de insolvência, cessão e prestadores; observar hipóteses e cura · Fundos.NET ID 1285773 | 11/08/2026 | Regulamento | p. 65, Anexo I, eventos de avaliação | data/raw/54248022000102/1285773_review_20261007.pdf | https://fnet.bmfbovespa.com.br/fnet/publico/visualizarDocumento?id=1285773 |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Gatilhos de avaliação/liquidação · Falhas de pagamento, reservas, subordinação e prestadores; prazos de cura no anexo; Eventos contratuais de insolvência, cessão e prestadores; observar hipóteses e cura · Fundos.NET ID 993693 | 04/09/2025 | Regulamento | p. 69, Anexo I, eventos de avaliação | data/raw/57609282000146/993693_review_20261007.pdf | https://fnet.bmfbovespa.com.br/fnet/publico/visualizarDocumento?id=993693 |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Gatilhos de avaliação/liquidação · Falhas de pagamento, reservas, subordinação e prestadores; prazos de cura no anexo; Eventos contratuais de insolvência, cessão e prestadores; observar hipóteses e cura · Fundos.NET ID 993687 | 04/09/2025 | Regulamento | p. 70, Anexo I, eventos de avaliação | data/raw/60356171000180/993687_review_20261007.pdf | https://fnet.bmfbovespa.com.br/fnet/publico/visualizarDocumento?id=993687 |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Gatilhos de avaliação/liquidação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42102603000144 · Reserva de caixa · Próxima amortização: 30 dias de antecedência; próxima remuneração: 15 dias · Fundos.NET ID 733239 | 05/09/2024 | Regulamento | p. 103, Suplemento definições, reserva de caixa | data/raw/42102603000144/733239_review_20261007.pdf | https://fnet.bmfbovespa.com.br/fnet/publico/visualizarDocumento?id=733239 · Observação: Depende dos apêndices e do cronograma; disponibilidades IME isoladas não comprovam cobertura.</a:t>
            </a:r>
          </a:p>
          <a:p>
            <a:r>
              <a:t>CNPJ 44124617000194 · Reserva de caixa · Próxima amortização: 30 dias de antecedência; próxima remuneração: 15 dias · Fundos.NET ID 1337401 | 01/10/2026 | Regulamento | p. 104, Suplemento definições, reserva de caixa | data/raw/44124617000194/1337401_review_20261007.pdf | https://fnet.bmfbovespa.com.br/fnet/publico/visualizarDocumento?id=1337401 · Observação: Depende dos apêndices e do cronograma; disponibilidades IME isoladas não comprovam cobertura.</a:t>
            </a:r>
          </a:p>
          <a:p>
            <a:r>
              <a:t>CNPJ 54218673000141 · Reserva de caixa · Próxima amortização: 30 dias de antecedência; próxima remuneração: 15 dias · Fundos.NET ID 1268268 | 28/07/2026 | Regulamento | p. 106, Suplemento definições, reserva de caixa | data/raw/54218673000141/1268268_review_20261007.pdf | https://fnet.bmfbovespa.com.br/fnet/publico/visualizarDocumento?id=1268268 · Observação: Depende dos apêndices e do cronograma; disponibilidades IME isoladas não comprovam cobertura.</a:t>
            </a:r>
          </a:p>
          <a:p>
            <a:r>
              <a:t>CNPJ 54218941000125 · Reserva de caixa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caixa · Próxima amortização: 30 dias de antecedência; próxima remuneração: 15 dias · Fundos.NET ID 1072799 | 22/12/2025 | Regulamento | p. 106, Suplemento definições, reserva de caixa | data/raw/54219179000100/1072799_review_20261007.pdf | https://fnet.bmfbovespa.com.br/fnet/publico/visualizarDocumento?id=1072799 · Observação: Depende dos apêndices e do cronograma; disponibilidades IME isoladas não comprovam cobertura.</a:t>
            </a:r>
          </a:p>
          <a:p>
            <a:r>
              <a:t>CNPJ 54248022000102 · Reserva de caixa · Próxima amortização: 30 dias de antecedência; próxima remuneração: 15 dias · Fundos.NET ID 1285773 | 11/08/2026 | Regulamento | p. 111, Suplemento definições, reserva de caixa | data/raw/54248022000102/1285773_review_20261007.pdf | https://fnet.bmfbovespa.com.br/fnet/publico/visualizarDocumento?id=1285773 · Observação: Depende dos apêndices e do cronograma; disponibilidades IME isoladas não comprovam cobertura.</a:t>
            </a:r>
          </a:p>
          <a:p>
            <a:r>
              <a:t>CNPJ 57609282000146 · Reserva de caixa · Próxima amortização: 30 dias de antecedência; próxima remuneração: 15 dias · Fundos.NET ID 993693 | 04/09/2025 | Regulamento | p. 120, Suplemento definições, reserva de caixa | data/raw/57609282000146/993693_review_20261007.pdf | https://fnet.bmfbovespa.com.br/fnet/publico/visualizarDocumento?id=993693 · Observação: Depende dos apêndices e do cronograma; disponibilidades IME isoladas não comprovam cobertura.</a:t>
            </a:r>
          </a:p>
          <a:p>
            <a:r>
              <a:t>CNPJ 60356171000180 · Reserva de caixa · Próxima amortização: 30 dias de antecedência; próxima remuneração: 15 dias · Fundos.NET ID 993687 | 04/09/2025 | Regulamento | p. 117, Suplemento definições, reserva de caixa | data/raw/60356171000180/993687_review_20261007.pdf | https://fnet.bmfbovespa.com.br/fnet/publico/visualizarDocumento?id=993687 · Observação: Depende dos apêndices e do cronograma; disponibilidades IME isoladas não comprovam cobertura.</a:t>
            </a:r>
          </a:p>
          <a:p>
            <a:r>
              <a:t>CNPJ 62393679000183 · Reserva de caixa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Derivativos/hedge · Operações em derivativos vedadas · Fundos.NET ID 733239 | 05/09/2024 | Regulamento | p. 30, Anexo I, derivativos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Derivativos/hedge · Operações em derivativos vedadas · Fundos.NET ID 1337401 | 01/10/2026 | Regulamento | p. 30, Anexo I, derivativos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Derivativos/hedge · Operações em derivativos vedadas · Fundos.NET ID 1268268 | 28/07/2026 | Regulamento | p. 31, Anexo I, derivativos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Derivativos/hedge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Derivativos/hedge · Operações em derivativos vedadas · Fundos.NET ID 1072799 | 22/12/2025 | Regulamento | p. 30, Anexo I, derivativos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Derivativos/hedge · Operações em derivativos vedadas · Fundos.NET ID 1285773 | 11/08/2026 | Regulamento | p. 30, Anexo I, derivativos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Derivativos/hedge · Operações em derivativos vedadas · Fundos.NET ID 993693 | 04/09/2025 | Regulamento | p. 33, Anexo I, derivativos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Derivativos/hedge · Operações em derivativos vedadas · Fundos.NET ID 993687 | 04/09/2025 | Regulamento | p. 33, Anexo I, derivativos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Derivativos/hedge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42102603000144 · PDD · Gatilho contratual específico de PDD não localizado; usar PDD/crédito como indicador agregado · Fundos.NET ID 733239 | 05/09/2024 | Regulamento | p. 3, Anexo e avaliação metodológica da revisão | data/raw/42102603000144/733239_review_20261007.pdf | https://fnet.bmfbovespa.com.br/fnet/publico/visualizarDocumento?id=733239 · Observação: Sem limite automático de PDD inferido; regra contratual deve ser conciliada separadamente.</a:t>
            </a:r>
          </a:p>
          <a:p>
            <a:r>
              <a:t>CNPJ 44124617000194 · PDD · Gatilho contratual específico de PDD não localizado; usar PDD/crédito como indicador agregado · Fundos.NET ID 1337401 | 01/10/2026 | Regulamento | p. 1, Anexo e avaliação metodológica da revisão | data/raw/44124617000194/1337401_review_20261007.pdf | https://fnet.bmfbovespa.com.br/fnet/publico/visualizarDocumento?id=1337401 · Observação: Sem limite automático de PDD inferido; regra contratual deve ser conciliada separadamente.</a:t>
            </a:r>
          </a:p>
          <a:p>
            <a:r>
              <a:t>CNPJ 54218673000141 · PDD · Gatilho contratual específico de PDD não localizado; usar PDD/crédito como indicador agregado · Fundos.NET ID 1268268 | 28/07/2026 | Regulamento | p. 5, Anexo e avaliação metodológica da revisão | data/raw/54218673000141/1268268_review_20261007.pdf | https://fnet.bmfbovespa.com.br/fnet/publico/visualizarDocumento?id=1268268 · Observação: Sem limite automático de PDD inferido; regra contratual deve ser conciliada separadamente.</a:t>
            </a:r>
          </a:p>
          <a:p>
            <a:r>
              <a:t>CNPJ 54218941000125 · PDD · Gatilho contratual específico de PDD não localizado; usar PDD/crédito como indicador agregado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Sem limite automático de PDD inferido; regra contratual deve ser conciliada separadamente.</a:t>
            </a:r>
          </a:p>
          <a:p>
            <a:r>
              <a:t>CNPJ 54219179000100 · PDD · Gatilho contratual específico de PDD não localizado; usar PDD/crédito como indicador agregado · Fundos.NET ID 1072799 | 22/12/2025 | Regulamento | p. 4, Anexo e avaliação metodológica da revisão | data/raw/54219179000100/1072799_review_20261007.pdf | https://fnet.bmfbovespa.com.br/fnet/publico/visualizarDocumento?id=1072799 · Observação: Sem limite automático de PDD inferido; regra contratual deve ser conciliada separadamente.</a:t>
            </a:r>
          </a:p>
          <a:p>
            <a:r>
              <a:t>CNPJ 54248022000102 · PDD · Gatilho contratual específico de PDD não localizado; usar PDD/crédito como indicador agregado · Fundos.NET ID 1285773 | 11/08/2026 | Regulamento | p. 4, Anexo e avaliação metodológica da revisão | data/raw/54248022000102/1285773_review_20261007.pdf | https://fnet.bmfbovespa.com.br/fnet/publico/visualizarDocumento?id=1285773 · Observação: Sem limite automático de PDD inferido; regra contratual deve ser conciliada separadamente.</a:t>
            </a:r>
          </a:p>
          <a:p>
            <a:r>
              <a:t>CNPJ 57609282000146 · PDD · Gatilho contratual específico de PDD não localizado; usar PDD/crédito como indicador agregado · Fundos.NET ID 993693 | 04/09/2025 | Regulamento | p. 1, Anexo e avaliação metodológica da revisão | data/raw/57609282000146/993693_review_20261007.pdf | https://fnet.bmfbovespa.com.br/fnet/publico/visualizarDocumento?id=993693 · Observação: Sem limite automático de PDD inferido; regra contratual deve ser conciliada separadamente.</a:t>
            </a:r>
          </a:p>
          <a:p>
            <a:r>
              <a:t>CNPJ 60356171000180 · PDD · Gatilho contratual específico de PDD não localizado; usar PDD/crédito como indicador agregado · Fundos.NET ID 993687 | 04/09/2025 | Regulamento | p. 1, Anexo e avaliação metodológica da revisão | data/raw/60356171000180/993687_review_20261007.pdf | https://fnet.bmfbovespa.com.br/fnet/publico/visualizarDocumento?id=993687 · Observação: Sem limite automático de PDD inferido; regra contratual deve ser conciliada separadamente.</a:t>
            </a:r>
          </a:p>
          <a:p>
            <a:r>
              <a:t>CNPJ 62393679000183 · PDD · Gatilho contratual específico de PDD não localizado; usar PDD/crédito como indicador agregado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Sem limite automático de PDD inferido; regra contratual deve ser conciliada separadamente.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Subordinação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Subordinação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Subordinação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Subordinação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Subordinação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Subordinação mezanino · Júnior / PL: mínimo 2,5%; ramp-up 2,75%; target 3% · Fundos.NET ID 993693 | 04/09/2025 | Regulamento | p. 115, Suplemento definições, índices mezanino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Subordinação mezanino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Subordinação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Eventos de avaliação · Falhas de pagamento, reservas, subordinação e prestadores; prazos de cura no anexo · Fundos.NET ID 733239 | 05/09/2024 | Regulamento | p. 64, Anexo I, eventos de avaliação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Eventos de avaliação · Falhas de pagamento, reservas, subordinação e prestadores; prazos de cura no anexo · Fundos.NET ID 1337401 | 01/10/2026 | Regulamento | p. 64, Anexo I, eventos de avaliação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Eventos de avaliação · Falhas de pagamento, reservas, subordinação e prestadores; prazos de cura no anexo · Fundos.NET ID 1268268 | 28/07/2026 | Regulamento | p. 64, Anexo I, eventos de avaliação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Eventos de avaliação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Eventos de avaliação · Falhas de pagamento, reservas, subordinação e prestadores; prazos de cura no anexo · Fundos.NET ID 1072799 | 22/12/2025 | Regulamento | p. 64, Anexo I, eventos de avaliação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Eventos de avaliação · Falhas de pagamento, reservas, subordinação e prestadores; prazos de cura no anexo · Fundos.NET ID 1285773 | 11/08/2026 | Regulamento | p. 65, Anexo I, eventos de avaliação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Eventos de avaliação · Falhas de pagamento, reservas, subordinação e prestadores; prazos de cura no anexo · Fundos.NET ID 993693 | 04/09/2025 | Regulamento | p. 69, Anexo I, eventos de avaliação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Eventos de avaliação · Falhas de pagamento, reservas, subordinação e prestadores; prazos de cura no anexo · Fundos.NET ID 993687 | 04/09/2025 | Regulamento | p. 70, Anexo I, eventos de avaliação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Eventos de avaliação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Liquidação antecipada · Eventos contratuais de insolvência, cessão e prestadores; observar hipóteses e cura · Fundos.NET ID 733239 | 05/09/2024 | Regulamento | p. 45, Anexo I, eventos de liquidação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Liquidação antecipada · Eventos contratuais de insolvência, cessão e prestadores; observar hipóteses e cura · Fundos.NET ID 1337401 | 01/10/2026 | Regulamento | p. 45, Anexo I, eventos de liquidação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Liquidação antecipada · Eventos contratuais de insolvência, cessão e prestadores; observar hipóteses e cura · Fundos.NET ID 1268268 | 28/07/2026 | Regulamento | p. 45, Anexo I, eventos de liquidação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Liquidação antecipada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Liquidação antecipada · Eventos contratuais de insolvência, cessão e prestadores; observar hipóteses e cura · Fundos.NET ID 1072799 | 22/12/2025 | Regulamento | p. 44, Anexo I, eventos de liquidação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Liquidação antecipada · Eventos contratuais de insolvência, cessão e prestadores; observar hipóteses e cura · Fundos.NET ID 1285773 | 11/08/2026 | Regulamento | p. 45, Anexo I, eventos de liquidação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Liquidação antecipada · Eventos contratuais de insolvência, cessão e prestadores; observar hipóteses e cura · Fundos.NET ID 993693 | 04/09/2025 | Regulamento | p. 50, Anexo I, eventos de liquidação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Liquidação antecipada · Eventos contratuais de insolvência, cessão e prestadores; observar hipóteses e cura · Fundos.NET ID 993687 | 04/09/2025 | Regulamento | p. 50, Anexo I, eventos de liquidação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Liquidação antecipada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Reserva de despesas · Despesas ordinárias estimadas dos 3 meses seguintes, incluindo administração e gestão · Fundos.NET ID 733239 | 05/09/2024 | Regulamento | p. 53, Anexo I, encargos/reserva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Reserva de despesas · Despesas ordinárias estimadas dos 3 meses seguintes, incluindo administração e gestão · Fundos.NET ID 1337401 | 01/10/2026 | Regulamento | p. 53, Anexo I, encargos/reserva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Reserva de despesas · Despesas ordinárias estimadas dos 3 meses seguintes, incluindo administração e gestão · Fundos.NET ID 1268268 | 28/07/2026 | Regulamento | p. 53, Anexo I, encargos/reserva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Reserva de despesas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 de despesas · Despesas ordinárias estimadas dos 3 meses seguintes, incluindo administração e gestão · Fundos.NET ID 1072799 | 22/12/2025 | Regulamento | p. 52, Anexo I, encargos/reserva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Reserva de despesas · Despesas ordinárias estimadas dos 3 meses seguintes, incluindo administração e gestão · Fundos.NET ID 1285773 | 11/08/2026 | Regulamento | p. 53, Anexo I, encargos/reserva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Reserva de despesas · Despesas ordinárias estimadas dos 3 meses seguintes, incluindo administração e gestão · Fundos.NET ID 993693 | 04/09/2025 | Regulamento | p. 58, Anexo I, encargos/reserva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Reserva de despesas · Despesas ordinárias estimadas dos 3 meses seguintes, incluindo administração e gestão · Fundos.NET ID 993687 | 04/09/2025 | Regulamento | p. 58, Anexo I, encargos/reserva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Reserva de despesas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Alocação mínima · ≥ 50% do PL em direitos elegíveis, após 180 dias · Fundos.NET ID 733239 | 05/09/2024 | Regulamento | p. 30, Anexo I, alocação mínima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Alocação mínima · ≥ 50% do PL em direitos elegíveis, após 180 dias · Fundos.NET ID 1337401 | 01/10/2026 | Regulamento | p. 30, Anexo I, alocação mínima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Alocação mínima · ≥ 50% do PL em direitos elegíveis, após 180 dias · Fundos.NET ID 1268268 | 28/07/2026 | Regulamento | p. 31, Anexo I, alocação mínima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Alocação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mínima · ≥ 50% do PL em direitos elegíveis, após 180 dias · Fundos.NET ID 1072799 | 22/12/2025 | Regulamento | p. 30, Anexo I, alocação mínima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Alocação mínima · ≥ 50% do PL em direitos elegíveis, após 180 dias · Fundos.NET ID 1285773 | 11/08/2026 | Regulamento | p. 30, Anexo I, alocação mínima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Alocação mínima · ≥ 50% do PL em direitos elegíveis, após 180 dias · Fundos.NET ID 993693 | 04/09/2025 | Regulamento | p. 33, Anexo I, alocação mínima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Alocação mínima · ≥ 50% do PL em direitos elegíveis, após 180 dias · Fundos.NET ID 993687 | 04/09/2025 | Regulamento | p. 33, Anexo I, alocação mínima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Alocação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Pool/revolvência · Revolvente; compras com recursos da carteira, observada a ordem de alocação · Fundos.NET ID 733239 | 05/09/2024 | Regulamento | p. 30, Anexo I, revolvência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Pool/revolvência · Revolvente; compras com recursos da carteira, observada a ordem de alocação · Fundos.NET ID 1337401 | 01/10/2026 | Regulamento | p. 30, Anexo I, revolvência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Pool/revolvência · Revolvente; compras com recursos da carteira, observada a ordem de alocação · Fundos.NET ID 1268268 | 28/07/2026 | Regulamento | p. 31, Anexo I, revolvência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Pool/revolvência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Pool/revolvência · Revolvente; compras com recursos da carteira, observada a ordem de alocação · Fundos.NET ID 1072799 | 22/12/2025 | Regulamento | p. 30, Anexo I, revolvência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Pool/revolvência · Revolvente; compras com recursos da carteira, observada a ordem de alocação · Fundos.NET ID 1285773 | 11/08/2026 | Regulamento | p. 30, Anexo I, revolvência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Pool/revolvência · Revolvente; compras com recursos da carteira, observada a ordem de alocação · Fundos.NET ID 993693 | 04/09/2025 | Regulamento | p. 33, Anexo I, revolvência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Pool/revolvência · Revolvente; compras com recursos da carteira, observada a ordem de alocação · Fundos.NET ID 993687 | 04/09/2025 | Regulamento | p. 33, Anexo I, revolvência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Pool/revolvência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Duração/público-alvo · Indeterminado para fundo/classe; séries conforme apêndices · Fundos.NET ID 733239 | 05/09/2024 | Regulamento | p. 27, Anexo I, prazo de duração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Duração/público-alvo · Indeterminado para fundo/classe; séries conforme apêndices · Fundos.NET ID 1337401 | 01/10/2026 | Regulamento | p. 27, Anexo I, prazo de duração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Duração/público-alvo · Indeterminado para fundo/classe; séries conforme apêndices · Fundos.NET ID 1268268 | 28/07/2026 | Regulamento | p. 28, Anexo I, prazo de duração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Duração/público-alvo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Duração/público-alvo · Indeterminado para fundo/classe; séries conforme apêndices · Fundos.NET ID 1072799 | 22/12/2025 | Regulamento | p. 27, Anexo I, prazo de duração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Duração/público-alvo · Indeterminado para fundo/classe; séries conforme apêndices · Fundos.NET ID 1285773 | 11/08/2026 | Regulamento | p. 27, Anexo I, prazo de duração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Duração/público-alvo · Indeterminado para fundo/classe; séries conforme apêndices · Fundos.NET ID 993693 | 04/09/2025 | Regulamento | p. 30, Anexo I, prazo de duração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Duração/público-alvo · Indeterminado para fundo/classe; séries conforme apêndices · Fundos.NET ID 993687 | 04/09/2025 | Regulamento | p. 30, Anexo I, prazo de duração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Duração/público-alvo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42102603000144 · Cessão/recompra · Resolução por vício, inelegibilidade, chargeback/cancelamento não coberto; demais recompras conforme contrato · Fundos.NET ID 733239 | 05/09/2024 | Regulamento | p. 72, Anexo I, resolução/cessão/recompra | data/raw/42102603000144/733239_review_20261007.pdf | https://fnet.bmfbovespa.com.br/fnet/publico/visualizarDocumento?id=733239 · Observação: Recompras declaradas no IME não identificam motivo jurídico nem indenização efetiva.</a:t>
            </a:r>
          </a:p>
          <a:p>
            <a:r>
              <a:t>CNPJ 44124617000194 · Cessão/recompra · Resolução por vício, inelegibilidade, chargeback/cancelamento não coberto; demais recompras conforme contrato · Fundos.NET ID 1337401 | 01/10/2026 | Regulamento | p. 56, Anexo I, resolução/cessão/recompra | data/raw/44124617000194/1337401_review_20261007.pdf | https://fnet.bmfbovespa.com.br/fnet/publico/visualizarDocumento?id=1337401 · Observação: Recompras declaradas no IME não identificam motivo jurídico nem indenização efetiva.</a:t>
            </a:r>
          </a:p>
          <a:p>
            <a:r>
              <a:t>CNPJ 54218673000141 · Cessão/recompra · Resolução por vício, inelegibilidade, chargeback/cancelamento não coberto; demais recompras conforme contrato · Fundos.NET ID 1268268 | 28/07/2026 | Regulamento | p. 57, Anexo I, resolução/cessão/recompra | data/raw/54218673000141/1268268_review_20261007.pdf | https://fnet.bmfbovespa.com.br/fnet/publico/visualizarDocumento?id=1268268 · Observação: Recompras declaradas no IME não identificam motivo jurídico nem indenização efetiva.</a:t>
            </a:r>
          </a:p>
          <a:p>
            <a:r>
              <a:t>CNPJ 54218941000125 · Cessão/recompra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Cessão/recompra · Resolução por vício, inelegibilidade, chargeback/cancelamento não coberto; demais recompras conforme contrato · Fundos.NET ID 1072799 | 22/12/2025 | Regulamento | p. 56, Anexo I, resolução/cessão/recompra | data/raw/54219179000100/1072799_review_20261007.pdf | https://fnet.bmfbovespa.com.br/fnet/publico/visualizarDocumento?id=1072799 · Observação: Recompras declaradas no IME não identificam motivo jurídico nem indenização efetiva.</a:t>
            </a:r>
          </a:p>
          <a:p>
            <a:r>
              <a:t>CNPJ 54248022000102 · Cessão/recompra · Resolução por vício, inelegibilidade, chargeback/cancelamento não coberto; demais recompras conforme contrato · Fundos.NET ID 1285773 | 11/08/2026 | Regulamento | p. 56, Anexo I, resolução/cessão/recompra | data/raw/54248022000102/1285773_review_20261007.pdf | https://fnet.bmfbovespa.com.br/fnet/publico/visualizarDocumento?id=1285773 · Observação: Recompras declaradas no IME não identificam motivo jurídico nem indenização efetiva.</a:t>
            </a:r>
          </a:p>
          <a:p>
            <a:r>
              <a:t>CNPJ 57609282000146 · Cessão/recompra · Resolução por vício, inelegibilidade, chargeback/cancelamento não coberto; demais recompras conforme contrato · Fundos.NET ID 993693 | 04/09/2025 | Regulamento | p. 61, Anexo I, resolução/cessão/recompra | data/raw/57609282000146/993693_review_20261007.pdf | https://fnet.bmfbovespa.com.br/fnet/publico/visualizarDocumento?id=993693 · Observação: Recompras declaradas no IME não identificam motivo jurídico nem indenização efetiva.</a:t>
            </a:r>
          </a:p>
          <a:p>
            <a:r>
              <a:t>CNPJ 60356171000180 · Cessão/recompra · Resolução por vício, inelegibilidade, chargeback/cancelamento não coberto; demais recompras conforme contrato · Fundos.NET ID 993687 | 04/09/2025 | Regulamento | p. 62, Anexo I, resolução/cessão/recompra | data/raw/60356171000180/993687_review_20261007.pdf | https://fnet.bmfbovespa.com.br/fnet/publico/visualizarDocumento?id=993687 · Observação: Recompras declaradas no IME não identificam motivo jurídico nem indenização efetiva.</a:t>
            </a:r>
          </a:p>
          <a:p>
            <a:r>
              <a:t>CNPJ 62393679000183 · Cessão/recompra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Coobrigação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Coobrigação · Sem regresso/coobrigação da cedente pela solvência; responsabilidade por existência e formalização preservada · Fundos.NET ID 1337401 | 01/10/2026 | Regulamento | p. 29, Anexo I, cessão definitiva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Coobrigação · Sem regresso/coobrigação da cedente pela solvência; responsabilidade por existência e formalização preservada · Fundos.NET ID 1268268 | 28/07/2026 | Regulamento | p. 30, Anexo I, cessão definitiva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Coobrigação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Coobrigação · Sem regresso/coobrigação da cedente pela solvência; responsabilidade por existência e formalização preservada · Fundos.NET ID 1072799 | 22/12/2025 | Regulamento | p. 29, Anexo I, cessão definitiva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Coobrigação · Sem regresso/coobrigação da cedente pela solvência; responsabilidade por existência e formalização preservada · Fundos.NET ID 1285773 | 11/08/2026 | Regulamento | p. 29, Anexo I, cessão definitiva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Coobrigação · Sem regresso/coobrigação da cedente pela solvência; responsabilidade por existência e formalização preservada · Fundos.NET ID 993693 | 04/09/2025 | Regulamento | p. 32, Anexo I, cessão definitiva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Coobrigação · Sem regresso/coobrigação da cedente pela solvência; responsabilidade por existência e formalização preservada · Fundos.NET ID 993687 | 04/09/2025 | Regulamento | p. 32, Anexo I, cessão definitiva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Coobrigação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42102603000144 · Waterfall · Encargos e reservas precedem distribuições; sênior prioritária; subordinadas condicionadas · Fundos.NET ID 733239 | 05/09/2024 | Regulamento | p. 2, Anexo I, ordem de alocação | data/raw/42102603000144/733239_review_20261007.pdf | https://fnet.bmfbovespa.com.br/fnet/publico/visualizarDocumento?id=733239 · Observação: Resumo da hierarquia; consultar ordem completa antes de projetar pagamentos.</a:t>
            </a:r>
          </a:p>
          <a:p>
            <a:r>
              <a:t>CNPJ 44124617000194 · Waterfall · Encargos e reservas precedem distribuições; sênior prioritária; subordinadas condicionadas · Fundos.NET ID 1337401 | 01/10/2026 | Regulamento | p. 2, Anexo I, ordem de alocação | data/raw/44124617000194/1337401_review_20261007.pdf | https://fnet.bmfbovespa.com.br/fnet/publico/visualizarDocumento?id=1337401 · Observação: Resumo da hierarquia; consultar ordem completa antes de projetar pagamentos.</a:t>
            </a:r>
          </a:p>
          <a:p>
            <a:r>
              <a:t>CNPJ 54218673000141 · Waterfall · Encargos e reservas precedem distribuições; sênior prioritária; subordinadas condicionadas · Fundos.NET ID 1268268 | 28/07/2026 | Regulamento | p. 61, Anexo I, ordem de alocação | data/raw/54218673000141/1268268_review_20261007.pdf | https://fnet.bmfbovespa.com.br/fnet/publico/visualizarDocumento?id=1268268 · Observação: Resumo da hierarquia; consultar ordem completa antes de projetar pagamentos.</a:t>
            </a:r>
          </a:p>
          <a:p>
            <a:r>
              <a:t>CNPJ 54218941000125 · Waterfall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Waterfall · Encargos e reservas precedem distribuições; sênior prioritária; subordinadas condicionadas · Fundos.NET ID 1072799 | 22/12/2025 | Regulamento | p. 60, Anexo I, ordem de alocação | data/raw/54219179000100/1072799_review_20261007.pdf | https://fnet.bmfbovespa.com.br/fnet/publico/visualizarDocumento?id=1072799 · Observação: Resumo da hierarquia; consultar ordem completa antes de projetar pagamentos.</a:t>
            </a:r>
          </a:p>
          <a:p>
            <a:r>
              <a:t>CNPJ 54248022000102 · Waterfall · Encargos e reservas precedem distribuições; sênior prioritária; subordinadas condicionadas · Fundos.NET ID 1285773 | 11/08/2026 | Regulamento | p. 60, Anexo I, ordem de alocação | data/raw/54248022000102/1285773_review_20261007.pdf | https://fnet.bmfbovespa.com.br/fnet/publico/visualizarDocumento?id=1285773 · Observação: Resumo da hierarquia; consultar ordem completa antes de projetar pagamentos.</a:t>
            </a:r>
          </a:p>
          <a:p>
            <a:r>
              <a:t>CNPJ 57609282000146 · Waterfall · Encargos e reservas precedem distribuições; sênior prioritária; subordinadas condicionadas · Fundos.NET ID 993693 | 04/09/2025 | Regulamento | p. 65, Anexo I, ordem de alocação | data/raw/57609282000146/993693_review_20261007.pdf | https://fnet.bmfbovespa.com.br/fnet/publico/visualizarDocumento?id=993693 · Observação: Resumo da hierarquia; consultar ordem completa antes de projetar pagamentos.</a:t>
            </a:r>
          </a:p>
          <a:p>
            <a:r>
              <a:t>CNPJ 60356171000180 · Waterfall · Encargos e reservas precedem distribuições; sênior prioritária; subordinadas condicionadas · Fundos.NET ID 993687 | 04/09/2025 | Regulamento | p. 66, Anexo I, ordem de alocação | data/raw/60356171000180/993687_review_20261007.pdf | https://fnet.bmfbovespa.com.br/fnet/publico/visualizarDocumento?id=993687 · Observação: Resumo da hierarquia; consultar ordem completa antes de projetar pagamentos.</a:t>
            </a:r>
          </a:p>
          <a:p>
            <a:r>
              <a:t>CNPJ 62393679000183 · Waterfall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Prestadores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Prestadores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Prestadores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Prestadores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Prestadores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Prestadores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Prestadores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Prestadores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Prestadores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Alocação mínima · ≥ 50% do PL em direitos elegíveis, após 180 dias · Fundos.NET ID 733239 | 05/09/2024 | Regulamento | p. 30, Anexo I, alocação mínima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Alocação mínima · ≥ 50% do PL em direitos elegíveis, após 180 dias · Fundos.NET ID 1337401 | 01/10/2026 | Regulamento | p. 30, Anexo I, alocação mínima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Alocação mínima · ≥ 50% do PL em direitos elegíveis, após 180 dias · Fundos.NET ID 1268268 | 28/07/2026 | Regulamento | p. 31, Anexo I, alocação mínima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Alocação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mínima · ≥ 50% do PL em direitos elegíveis, após 180 dias · Fundos.NET ID 1072799 | 22/12/2025 | Regulamento | p. 30, Anexo I, alocação mínima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Alocação mínima · ≥ 50% do PL em direitos elegíveis, após 180 dias · Fundos.NET ID 1285773 | 11/08/2026 | Regulamento | p. 30, Anexo I, alocação mínima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Alocação mínima · ≥ 50% do PL em direitos elegíveis, após 180 dias · Fundos.NET ID 993693 | 04/09/2025 | Regulamento | p. 33, Anexo I, alocação mínima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Alocação mínima · ≥ 50% do PL em direitos elegíveis, após 180 dias · Fundos.NET ID 993687 | 04/09/2025 | Regulamento | p. 33, Anexo I, alocação mínima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Alocação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Pool/revolvência · Revolvente; compras com recursos da carteira, observada a ordem de alocação · Fundos.NET ID 733239 | 05/09/2024 | Regulamento | p. 30, Anexo I, revolvência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Pool/revolvência · Revolvente; compras com recursos da carteira, observada a ordem de alocação · Fundos.NET ID 1337401 | 01/10/2026 | Regulamento | p. 30, Anexo I, revolvência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Pool/revolvência · Revolvente; compras com recursos da carteira, observada a ordem de alocação · Fundos.NET ID 1268268 | 28/07/2026 | Regulamento | p. 31, Anexo I, revolvência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Pool/revolvência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Pool/revolvência · Revolvente; compras com recursos da carteira, observada a ordem de alocação · Fundos.NET ID 1072799 | 22/12/2025 | Regulamento | p. 30, Anexo I, revolvência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Pool/revolvência · Revolvente; compras com recursos da carteira, observada a ordem de alocação · Fundos.NET ID 1285773 | 11/08/2026 | Regulamento | p. 30, Anexo I, revolvência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Pool/revolvência · Revolvente; compras com recursos da carteira, observada a ordem de alocação · Fundos.NET ID 993693 | 04/09/2025 | Regulamento | p. 33, Anexo I, revolvência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Pool/revolvência · Revolvente; compras com recursos da carteira, observada a ordem de alocação · Fundos.NET ID 993687 | 04/09/2025 | Regulamento | p. 33, Anexo I, revolvência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Pool/revolvência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Duração/público-alvo · Indeterminado para fundo/classe; séries conforme apêndices · Fundos.NET ID 733239 | 05/09/2024 | Regulamento | p. 27, Anexo I, prazo de duração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Duração/público-alvo · Indeterminado para fundo/classe; séries conforme apêndices · Fundos.NET ID 1337401 | 01/10/2026 | Regulamento | p. 27, Anexo I, prazo de duração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Duração/público-alvo · Indeterminado para fundo/classe; séries conforme apêndices · Fundos.NET ID 1268268 | 28/07/2026 | Regulamento | p. 28, Anexo I, prazo de duração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Duração/público-alvo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Duração/público-alvo · Indeterminado para fundo/classe; séries conforme apêndices · Fundos.NET ID 1072799 | 22/12/2025 | Regulamento | p. 27, Anexo I, prazo de duração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Duração/público-alvo · Indeterminado para fundo/classe; séries conforme apêndices · Fundos.NET ID 1285773 | 11/08/2026 | Regulamento | p. 27, Anexo I, prazo de duração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Duração/público-alvo · Indeterminado para fundo/classe; séries conforme apêndices · Fundos.NET ID 993693 | 04/09/2025 | Regulamento | p. 30, Anexo I, prazo de duração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Duração/público-alvo · Indeterminado para fundo/classe; séries conforme apêndices · Fundos.NET ID 993687 | 04/09/2025 | Regulamento | p. 30, Anexo I, prazo de duração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Duração/público-alvo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42102603000144 · Cessão/recompra · Resolução por vício, inelegibilidade, chargeback/cancelamento não coberto; demais recompras conforme contrato · Fundos.NET ID 733239 | 05/09/2024 | Regulamento | p. 72, Anexo I, resolução/cessão/recompra | data/raw/42102603000144/733239_review_20261007.pdf | https://fnet.bmfbovespa.com.br/fnet/publico/visualizarDocumento?id=733239 · Observação: Recompras declaradas no IME não identificam motivo jurídico nem indenização efetiva.</a:t>
            </a:r>
          </a:p>
          <a:p>
            <a:r>
              <a:t>CNPJ 44124617000194 · Cessão/recompra · Resolução por vício, inelegibilidade, chargeback/cancelamento não coberto; demais recompras conforme contrato · Fundos.NET ID 1337401 | 01/10/2026 | Regulamento | p. 56, Anexo I, resolução/cessão/recompra | data/raw/44124617000194/1337401_review_20261007.pdf | https://fnet.bmfbovespa.com.br/fnet/publico/visualizarDocumento?id=1337401 · Observação: Recompras declaradas no IME não identificam motivo jurídico nem indenização efetiva.</a:t>
            </a:r>
          </a:p>
          <a:p>
            <a:r>
              <a:t>CNPJ 54218673000141 · Cessão/recompra · Resolução por vício, inelegibilidade, chargeback/cancelamento não coberto; demais recompras conforme contrato · Fundos.NET ID 1268268 | 28/07/2026 | Regulamento | p. 57, Anexo I, resolução/cessão/recompra | data/raw/54218673000141/1268268_review_20261007.pdf | https://fnet.bmfbovespa.com.br/fnet/publico/visualizarDocumento?id=1268268 · Observação: Recompras declaradas no IME não identificam motivo jurídico nem indenização efetiva.</a:t>
            </a:r>
          </a:p>
          <a:p>
            <a:r>
              <a:t>CNPJ 54218941000125 · Cessão/recompra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Cessão/recompra · Resolução por vício, inelegibilidade, chargeback/cancelamento não coberto; demais recompras conforme contrato · Fundos.NET ID 1072799 | 22/12/2025 | Regulamento | p. 56, Anexo I, resolução/cessão/recompra | data/raw/54219179000100/1072799_review_20261007.pdf | https://fnet.bmfbovespa.com.br/fnet/publico/visualizarDocumento?id=1072799 · Observação: Recompras declaradas no IME não identificam motivo jurídico nem indenização efetiva.</a:t>
            </a:r>
          </a:p>
          <a:p>
            <a:r>
              <a:t>CNPJ 54248022000102 · Cessão/recompra · Resolução por vício, inelegibilidade, chargeback/cancelamento não coberto; demais recompras conforme contrato · Fundos.NET ID 1285773 | 11/08/2026 | Regulamento | p. 56, Anexo I, resolução/cessão/recompra | data/raw/54248022000102/1285773_review_20261007.pdf | https://fnet.bmfbovespa.com.br/fnet/publico/visualizarDocumento?id=1285773 · Observação: Recompras declaradas no IME não identificam motivo jurídico nem indenização efetiva.</a:t>
            </a:r>
          </a:p>
          <a:p>
            <a:r>
              <a:t>CNPJ 57609282000146 · Cessão/recompra · Resolução por vício, inelegibilidade, chargeback/cancelamento não coberto; demais recompras conforme contrato · Fundos.NET ID 993693 | 04/09/2025 | Regulamento | p. 61, Anexo I, resolução/cessão/recompra | data/raw/57609282000146/993693_review_20261007.pdf | https://fnet.bmfbovespa.com.br/fnet/publico/visualizarDocumento?id=993693 · Observação: Recompras declaradas no IME não identificam motivo jurídico nem indenização efetiva.</a:t>
            </a:r>
          </a:p>
          <a:p>
            <a:r>
              <a:t>CNPJ 60356171000180 · Cessão/recompra · Resolução por vício, inelegibilidade, chargeback/cancelamento não coberto; demais recompras conforme contrato · Fundos.NET ID 993687 | 04/09/2025 | Regulamento | p. 62, Anexo I, resolução/cessão/recompra | data/raw/60356171000180/993687_review_20261007.pdf | https://fnet.bmfbovespa.com.br/fnet/publico/visualizarDocumento?id=993687 · Observação: Recompras declaradas no IME não identificam motivo jurídico nem indenização efetiva.</a:t>
            </a:r>
          </a:p>
          <a:p>
            <a:r>
              <a:t>CNPJ 62393679000183 · Cessão/recompra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Coobrigação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Coobrigação · Sem regresso/coobrigação da cedente pela solvência; responsabilidade por existência e formalização preservada · Fundos.NET ID 1337401 | 01/10/2026 | Regulamento | p. 29, Anexo I, cessão definitiva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Coobrigação · Sem regresso/coobrigação da cedente pela solvência; responsabilidade por existência e formalização preservada · Fundos.NET ID 1268268 | 28/07/2026 | Regulamento | p. 30, Anexo I, cessão definitiva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Coobrigação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Coobrigação · Sem regresso/coobrigação da cedente pela solvência; responsabilidade por existência e formalização preservada · Fundos.NET ID 1072799 | 22/12/2025 | Regulamento | p. 29, Anexo I, cessão definitiva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Coobrigação · Sem regresso/coobrigação da cedente pela solvência; responsabilidade por existência e formalização preservada · Fundos.NET ID 1285773 | 11/08/2026 | Regulamento | p. 29, Anexo I, cessão definitiva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Coobrigação · Sem regresso/coobrigação da cedente pela solvência; responsabilidade por existência e formalização preservada · Fundos.NET ID 993693 | 04/09/2025 | Regulamento | p. 32, Anexo I, cessão definitiva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Coobrigação · Sem regresso/coobrigação da cedente pela solvência; responsabilidade por existência e formalização preservada · Fundos.NET ID 993687 | 04/09/2025 | Regulamento | p. 32, Anexo I, cessão definitiva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Coobrigação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42102603000144 · Waterfall · Encargos e reservas precedem distribuições; sênior prioritária; subordinadas condicionadas · Fundos.NET ID 733239 | 05/09/2024 | Regulamento | p. 2, Anexo I, ordem de alocação | data/raw/42102603000144/733239_review_20261007.pdf | https://fnet.bmfbovespa.com.br/fnet/publico/visualizarDocumento?id=733239 · Observação: Resumo da hierarquia; consultar ordem completa antes de projetar pagamentos.</a:t>
            </a:r>
          </a:p>
          <a:p>
            <a:r>
              <a:t>CNPJ 44124617000194 · Waterfall · Encargos e reservas precedem distribuições; sênior prioritária; subordinadas condicionadas · Fundos.NET ID 1337401 | 01/10/2026 | Regulamento | p. 2, Anexo I, ordem de alocação | data/raw/44124617000194/1337401_review_20261007.pdf | https://fnet.bmfbovespa.com.br/fnet/publico/visualizarDocumento?id=1337401 · Observação: Resumo da hierarquia; consultar ordem completa antes de projetar pagamentos.</a:t>
            </a:r>
          </a:p>
          <a:p>
            <a:r>
              <a:t>CNPJ 54218673000141 · Waterfall · Encargos e reservas precedem distribuições; sênior prioritária; subordinadas condicionadas · Fundos.NET ID 1268268 | 28/07/2026 | Regulamento | p. 61, Anexo I, ordem de alocação | data/raw/54218673000141/1268268_review_20261007.pdf | https://fnet.bmfbovespa.com.br/fnet/publico/visualizarDocumento?id=1268268 · Observação: Resumo da hierarquia; consultar ordem completa antes de projetar pagamentos.</a:t>
            </a:r>
          </a:p>
          <a:p>
            <a:r>
              <a:t>CNPJ 54218941000125 · Waterfall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Waterfall · Encargos e reservas precedem distribuições; sênior prioritária; subordinadas condicionadas · Fundos.NET ID 1072799 | 22/12/2025 | Regulamento | p. 60, Anexo I, ordem de alocação | data/raw/54219179000100/1072799_review_20261007.pdf | https://fnet.bmfbovespa.com.br/fnet/publico/visualizarDocumento?id=1072799 · Observação: Resumo da hierarquia; consultar ordem completa antes de projetar pagamentos.</a:t>
            </a:r>
          </a:p>
          <a:p>
            <a:r>
              <a:t>CNPJ 54248022000102 · Waterfall · Encargos e reservas precedem distribuições; sênior prioritária; subordinadas condicionadas · Fundos.NET ID 1285773 | 11/08/2026 | Regulamento | p. 60, Anexo I, ordem de alocação | data/raw/54248022000102/1285773_review_20261007.pdf | https://fnet.bmfbovespa.com.br/fnet/publico/visualizarDocumento?id=1285773 · Observação: Resumo da hierarquia; consultar ordem completa antes de projetar pagamentos.</a:t>
            </a:r>
          </a:p>
          <a:p>
            <a:r>
              <a:t>CNPJ 57609282000146 · Waterfall · Encargos e reservas precedem distribuições; sênior prioritária; subordinadas condicionadas · Fundos.NET ID 993693 | 04/09/2025 | Regulamento | p. 65, Anexo I, ordem de alocação | data/raw/57609282000146/993693_review_20261007.pdf | https://fnet.bmfbovespa.com.br/fnet/publico/visualizarDocumento?id=993693 · Observação: Resumo da hierarquia; consultar ordem completa antes de projetar pagamentos.</a:t>
            </a:r>
          </a:p>
          <a:p>
            <a:r>
              <a:t>CNPJ 60356171000180 · Waterfall · Encargos e reservas precedem distribuições; sênior prioritária; subordinadas condicionadas · Fundos.NET ID 993687 | 04/09/2025 | Regulamento | p. 66, Anexo I, ordem de alocação | data/raw/60356171000180/993687_review_20261007.pdf | https://fnet.bmfbovespa.com.br/fnet/publico/visualizarDocumento?id=993687 · Observação: Resumo da hierarquia; consultar ordem completa antes de projetar pagamentos.</a:t>
            </a:r>
          </a:p>
          <a:p>
            <a:r>
              <a:t>CNPJ 62393679000183 · Waterfall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Prestadores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Prestadores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Prestadores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Prestadores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Prestadores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Prestadores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Prestadores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Prestadores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Prestadores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Alocação mínima · ≥ 50% do PL em direitos elegíveis, após 180 dias · Fundos.NET ID 733239 | 05/09/2024 | Regulamento | p. 30, Anexo I, alocação mínima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Alocação mínima · ≥ 50% do PL em direitos elegíveis, após 180 dias · Fundos.NET ID 1337401 | 01/10/2026 | Regulamento | p. 30, Anexo I, alocação mínima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Alocação mínima · ≥ 50% do PL em direitos elegíveis, após 180 dias · Fundos.NET ID 1268268 | 28/07/2026 | Regulamento | p. 31, Anexo I, alocação mínima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Alocação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mínima · ≥ 50% do PL em direitos elegíveis, após 180 dias · Fundos.NET ID 1072799 | 22/12/2025 | Regulamento | p. 30, Anexo I, alocação mínima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Alocação mínima · ≥ 50% do PL em direitos elegíveis, após 180 dias · Fundos.NET ID 1285773 | 11/08/2026 | Regulamento | p. 30, Anexo I, alocação mínima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Alocação mínima · ≥ 50% do PL em direitos elegíveis, após 180 dias · Fundos.NET ID 993693 | 04/09/2025 | Regulamento | p. 33, Anexo I, alocação mínima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Alocação mínima · ≥ 50% do PL em direitos elegíveis, após 180 dias · Fundos.NET ID 993687 | 04/09/2025 | Regulamento | p. 33, Anexo I, alocação mínima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Alocação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Pool/revolvência · Revolvente; compras com recursos da carteira, observada a ordem de alocação · Fundos.NET ID 733239 | 05/09/2024 | Regulamento | p. 30, Anexo I, revolvência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Pool/revolvência · Revolvente; compras com recursos da carteira, observada a ordem de alocação · Fundos.NET ID 1337401 | 01/10/2026 | Regulamento | p. 30, Anexo I, revolvência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Pool/revolvência · Revolvente; compras com recursos da carteira, observada a ordem de alocação · Fundos.NET ID 1268268 | 28/07/2026 | Regulamento | p. 31, Anexo I, revolvência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Pool/revolvência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Pool/revolvência · Revolvente; compras com recursos da carteira, observada a ordem de alocação · Fundos.NET ID 1072799 | 22/12/2025 | Regulamento | p. 30, Anexo I, revolvência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Pool/revolvência · Revolvente; compras com recursos da carteira, observada a ordem de alocação · Fundos.NET ID 1285773 | 11/08/2026 | Regulamento | p. 30, Anexo I, revolvência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Pool/revolvência · Revolvente; compras com recursos da carteira, observada a ordem de alocação · Fundos.NET ID 993693 | 04/09/2025 | Regulamento | p. 33, Anexo I, revolvência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Pool/revolvência · Revolvente; compras com recursos da carteira, observada a ordem de alocação · Fundos.NET ID 993687 | 04/09/2025 | Regulamento | p. 33, Anexo I, revolvência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Pool/revolvência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Duração/público-alvo · Indeterminado para fundo/classe; séries conforme apêndices · Fundos.NET ID 733239 | 05/09/2024 | Regulamento | p. 27, Anexo I, prazo de duração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Duração/público-alvo · Indeterminado para fundo/classe; séries conforme apêndices · Fundos.NET ID 1337401 | 01/10/2026 | Regulamento | p. 27, Anexo I, prazo de duração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Duração/público-alvo · Indeterminado para fundo/classe; séries conforme apêndices · Fundos.NET ID 1268268 | 28/07/2026 | Regulamento | p. 28, Anexo I, prazo de duração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Duração/público-alvo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Duração/público-alvo · Indeterminado para fundo/classe; séries conforme apêndices · Fundos.NET ID 1072799 | 22/12/2025 | Regulamento | p. 27, Anexo I, prazo de duração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Duração/público-alvo · Indeterminado para fundo/classe; séries conforme apêndices · Fundos.NET ID 1285773 | 11/08/2026 | Regulamento | p. 27, Anexo I, prazo de duração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Duração/público-alvo · Indeterminado para fundo/classe; séries conforme apêndices · Fundos.NET ID 993693 | 04/09/2025 | Regulamento | p. 30, Anexo I, prazo de duração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Duração/público-alvo · Indeterminado para fundo/classe; séries conforme apêndices · Fundos.NET ID 993687 | 04/09/2025 | Regulamento | p. 30, Anexo I, prazo de duração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Duração/público-alvo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42102603000144 · Cessão/recompra · Resolução por vício, inelegibilidade, chargeback/cancelamento não coberto; demais recompras conforme contrato · Fundos.NET ID 733239 | 05/09/2024 | Regulamento | p. 72, Anexo I, resolução/cessão/recompra | data/raw/42102603000144/733239_review_20261007.pdf | https://fnet.bmfbovespa.com.br/fnet/publico/visualizarDocumento?id=733239 · Observação: Recompras declaradas no IME não identificam motivo jurídico nem indenização efetiva.</a:t>
            </a:r>
          </a:p>
          <a:p>
            <a:r>
              <a:t>CNPJ 44124617000194 · Cessão/recompra · Resolução por vício, inelegibilidade, chargeback/cancelamento não coberto; demais recompras conforme contrato · Fundos.NET ID 1337401 | 01/10/2026 | Regulamento | p. 56, Anexo I, resolução/cessão/recompra | data/raw/44124617000194/1337401_review_20261007.pdf | https://fnet.bmfbovespa.com.br/fnet/publico/visualizarDocumento?id=1337401 · Observação: Recompras declaradas no IME não identificam motivo jurídico nem indenização efetiva.</a:t>
            </a:r>
          </a:p>
          <a:p>
            <a:r>
              <a:t>CNPJ 54218673000141 · Cessão/recompra · Resolução por vício, inelegibilidade, chargeback/cancelamento não coberto; demais recompras conforme contrato · Fundos.NET ID 1268268 | 28/07/2026 | Regulamento | p. 57, Anexo I, resolução/cessão/recompra | data/raw/54218673000141/1268268_review_20261007.pdf | https://fnet.bmfbovespa.com.br/fnet/publico/visualizarDocumento?id=1268268 · Observação: Recompras declaradas no IME não identificam motivo jurídico nem indenização efetiva.</a:t>
            </a:r>
          </a:p>
          <a:p>
            <a:r>
              <a:t>CNPJ 54218941000125 · Cessão/recompra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Cessão/recompra · Resolução por vício, inelegibilidade, chargeback/cancelamento não coberto; demais recompras conforme contrato · Fundos.NET ID 1072799 | 22/12/2025 | Regulamento | p. 56, Anexo I, resolução/cessão/recompra | data/raw/54219179000100/1072799_review_20261007.pdf | https://fnet.bmfbovespa.com.br/fnet/publico/visualizarDocumento?id=1072799 · Observação: Recompras declaradas no IME não identificam motivo jurídico nem indenização efetiva.</a:t>
            </a:r>
          </a:p>
          <a:p>
            <a:r>
              <a:t>CNPJ 54248022000102 · Cessão/recompra · Resolução por vício, inelegibilidade, chargeback/cancelamento não coberto; demais recompras conforme contrato · Fundos.NET ID 1285773 | 11/08/2026 | Regulamento | p. 56, Anexo I, resolução/cessão/recompra | data/raw/54248022000102/1285773_review_20261007.pdf | https://fnet.bmfbovespa.com.br/fnet/publico/visualizarDocumento?id=1285773 · Observação: Recompras declaradas no IME não identificam motivo jurídico nem indenização efetiva.</a:t>
            </a:r>
          </a:p>
          <a:p>
            <a:r>
              <a:t>CNPJ 57609282000146 · Cessão/recompra · Resolução por vício, inelegibilidade, chargeback/cancelamento não coberto; demais recompras conforme contrato · Fundos.NET ID 993693 | 04/09/2025 | Regulamento | p. 61, Anexo I, resolução/cessão/recompra | data/raw/57609282000146/993693_review_20261007.pdf | https://fnet.bmfbovespa.com.br/fnet/publico/visualizarDocumento?id=993693 · Observação: Recompras declaradas no IME não identificam motivo jurídico nem indenização efetiva.</a:t>
            </a:r>
          </a:p>
          <a:p>
            <a:r>
              <a:t>CNPJ 60356171000180 · Cessão/recompra · Resolução por vício, inelegibilidade, chargeback/cancelamento não coberto; demais recompras conforme contrato · Fundos.NET ID 993687 | 04/09/2025 | Regulamento | p. 62, Anexo I, resolução/cessão/recompra | data/raw/60356171000180/993687_review_20261007.pdf | https://fnet.bmfbovespa.com.br/fnet/publico/visualizarDocumento?id=993687 · Observação: Recompras declaradas no IME não identificam motivo jurídico nem indenização efetiva.</a:t>
            </a:r>
          </a:p>
          <a:p>
            <a:r>
              <a:t>CNPJ 62393679000183 · Cessão/recompra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Coobrigação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Coobrigação · Sem regresso/coobrigação da cedente pela solvência; responsabilidade por existência e formalização preservada · Fundos.NET ID 1337401 | 01/10/2026 | Regulamento | p. 29, Anexo I, cessão definitiva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Coobrigação · Sem regresso/coobrigação da cedente pela solvência; responsabilidade por existência e formalização preservada · Fundos.NET ID 1268268 | 28/07/2026 | Regulamento | p. 30, Anexo I, cessão definitiva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Coobrigação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Coobrigação · Sem regresso/coobrigação da cedente pela solvência; responsabilidade por existência e formalização preservada · Fundos.NET ID 1072799 | 22/12/2025 | Regulamento | p. 29, Anexo I, cessão definitiva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Coobrigação · Sem regresso/coobrigação da cedente pela solvência; responsabilidade por existência e formalização preservada · Fundos.NET ID 1285773 | 11/08/2026 | Regulamento | p. 29, Anexo I, cessão definitiva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Coobrigação · Sem regresso/coobrigação da cedente pela solvência; responsabilidade por existência e formalização preservada · Fundos.NET ID 993693 | 04/09/2025 | Regulamento | p. 32, Anexo I, cessão definitiva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Coobrigação · Sem regresso/coobrigação da cedente pela solvência; responsabilidade por existência e formalização preservada · Fundos.NET ID 993687 | 04/09/2025 | Regulamento | p. 32, Anexo I, cessão definitiva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Coobrigação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42102603000144 · Waterfall · Encargos e reservas precedem distribuições; sênior prioritária; subordinadas condicionadas · Fundos.NET ID 733239 | 05/09/2024 | Regulamento | p. 2, Anexo I, ordem de alocação | data/raw/42102603000144/733239_review_20261007.pdf | https://fnet.bmfbovespa.com.br/fnet/publico/visualizarDocumento?id=733239 · Observação: Resumo da hierarquia; consultar ordem completa antes de projetar pagamentos.</a:t>
            </a:r>
          </a:p>
          <a:p>
            <a:r>
              <a:t>CNPJ 44124617000194 · Waterfall · Encargos e reservas precedem distribuições; sênior prioritária; subordinadas condicionadas · Fundos.NET ID 1337401 | 01/10/2026 | Regulamento | p. 2, Anexo I, ordem de alocação | data/raw/44124617000194/1337401_review_20261007.pdf | https://fnet.bmfbovespa.com.br/fnet/publico/visualizarDocumento?id=1337401 · Observação: Resumo da hierarquia; consultar ordem completa antes de projetar pagamentos.</a:t>
            </a:r>
          </a:p>
          <a:p>
            <a:r>
              <a:t>CNPJ 54218673000141 · Waterfall · Encargos e reservas precedem distribuições; sênior prioritária; subordinadas condicionadas · Fundos.NET ID 1268268 | 28/07/2026 | Regulamento | p. 61, Anexo I, ordem de alocação | data/raw/54218673000141/1268268_review_20261007.pdf | https://fnet.bmfbovespa.com.br/fnet/publico/visualizarDocumento?id=1268268 · Observação: Resumo da hierarquia; consultar ordem completa antes de projetar pagamentos.</a:t>
            </a:r>
          </a:p>
          <a:p>
            <a:r>
              <a:t>CNPJ 54218941000125 · Waterfall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Waterfall · Encargos e reservas precedem distribuições; sênior prioritária; subordinadas condicionadas · Fundos.NET ID 1072799 | 22/12/2025 | Regulamento | p. 60, Anexo I, ordem de alocação | data/raw/54219179000100/1072799_review_20261007.pdf | https://fnet.bmfbovespa.com.br/fnet/publico/visualizarDocumento?id=1072799 · Observação: Resumo da hierarquia; consultar ordem completa antes de projetar pagamentos.</a:t>
            </a:r>
          </a:p>
          <a:p>
            <a:r>
              <a:t>CNPJ 54248022000102 · Waterfall · Encargos e reservas precedem distribuições; sênior prioritária; subordinadas condicionadas · Fundos.NET ID 1285773 | 11/08/2026 | Regulamento | p. 60, Anexo I, ordem de alocação | data/raw/54248022000102/1285773_review_20261007.pdf | https://fnet.bmfbovespa.com.br/fnet/publico/visualizarDocumento?id=1285773 · Observação: Resumo da hierarquia; consultar ordem completa antes de projetar pagamentos.</a:t>
            </a:r>
          </a:p>
          <a:p>
            <a:r>
              <a:t>CNPJ 57609282000146 · Waterfall · Encargos e reservas precedem distribuições; sênior prioritária; subordinadas condicionadas · Fundos.NET ID 993693 | 04/09/2025 | Regulamento | p. 65, Anexo I, ordem de alocação | data/raw/57609282000146/993693_review_20261007.pdf | https://fnet.bmfbovespa.com.br/fnet/publico/visualizarDocumento?id=993693 · Observação: Resumo da hierarquia; consultar ordem completa antes de projetar pagamentos.</a:t>
            </a:r>
          </a:p>
          <a:p>
            <a:r>
              <a:t>CNPJ 60356171000180 · Waterfall · Encargos e reservas precedem distribuições; sênior prioritária; subordinadas condicionadas · Fundos.NET ID 993687 | 04/09/2025 | Regulamento | p. 66, Anexo I, ordem de alocação | data/raw/60356171000180/993687_review_20261007.pdf | https://fnet.bmfbovespa.com.br/fnet/publico/visualizarDocumento?id=993687 · Observação: Resumo da hierarquia; consultar ordem completa antes de projetar pagamentos.</a:t>
            </a:r>
          </a:p>
          <a:p>
            <a:r>
              <a:t>CNPJ 62393679000183 · Waterfall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Prestadores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Prestadores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Prestadores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Prestadores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Prestadores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Prestadores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Prestadores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Prestadores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Prestadores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Alocação mínima · ≥ 50% do PL em direitos elegíveis, após 180 dias · Fundos.NET ID 733239 | 05/09/2024 | Regulamento | p. 30, Anexo I, alocação mínima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Alocação mínima · ≥ 50% do PL em direitos elegíveis, após 180 dias · Fundos.NET ID 1337401 | 01/10/2026 | Regulamento | p. 30, Anexo I, alocação mínima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Alocação mínima · ≥ 50% do PL em direitos elegíveis, após 180 dias · Fundos.NET ID 1268268 | 28/07/2026 | Regulamento | p. 31, Anexo I, alocação mínima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Alocação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mínima · ≥ 50% do PL em direitos elegíveis, após 180 dias · Fundos.NET ID 1072799 | 22/12/2025 | Regulamento | p. 30, Anexo I, alocação mínima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Alocação mínima · ≥ 50% do PL em direitos elegíveis, após 180 dias · Fundos.NET ID 1285773 | 11/08/2026 | Regulamento | p. 30, Anexo I, alocação mínima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Alocação mínima · ≥ 50% do PL em direitos elegíveis, após 180 dias · Fundos.NET ID 993693 | 04/09/2025 | Regulamento | p. 33, Anexo I, alocação mínima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Alocação mínima · ≥ 50% do PL em direitos elegíveis, após 180 dias · Fundos.NET ID 993687 | 04/09/2025 | Regulamento | p. 33, Anexo I, alocação mínima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Alocação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Pool/revolvência · Revolvente; compras com recursos da carteira, observada a ordem de alocação · Fundos.NET ID 733239 | 05/09/2024 | Regulamento | p. 30, Anexo I, revolvência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Pool/revolvência · Revolvente; compras com recursos da carteira, observada a ordem de alocação · Fundos.NET ID 1337401 | 01/10/2026 | Regulamento | p. 30, Anexo I, revolvência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Pool/revolvência · Revolvente; compras com recursos da carteira, observada a ordem de alocação · Fundos.NET ID 1268268 | 28/07/2026 | Regulamento | p. 31, Anexo I, revolvência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Pool/revolvência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Pool/revolvência · Revolvente; compras com recursos da carteira, observada a ordem de alocação · Fundos.NET ID 1072799 | 22/12/2025 | Regulamento | p. 30, Anexo I, revolvência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Pool/revolvência · Revolvente; compras com recursos da carteira, observada a ordem de alocação · Fundos.NET ID 1285773 | 11/08/2026 | Regulamento | p. 30, Anexo I, revolvência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Pool/revolvência · Revolvente; compras com recursos da carteira, observada a ordem de alocação · Fundos.NET ID 993693 | 04/09/2025 | Regulamento | p. 33, Anexo I, revolvência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Pool/revolvência · Revolvente; compras com recursos da carteira, observada a ordem de alocação · Fundos.NET ID 993687 | 04/09/2025 | Regulamento | p. 33, Anexo I, revolvência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Pool/revolvência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Duração/público-alvo · Indeterminado para fundo/classe; séries conforme apêndices · Fundos.NET ID 733239 | 05/09/2024 | Regulamento | p. 27, Anexo I, prazo de duração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Duração/público-alvo · Indeterminado para fundo/classe; séries conforme apêndices · Fundos.NET ID 1337401 | 01/10/2026 | Regulamento | p. 27, Anexo I, prazo de duração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Duração/público-alvo · Indeterminado para fundo/classe; séries conforme apêndices · Fundos.NET ID 1268268 | 28/07/2026 | Regulamento | p. 28, Anexo I, prazo de duração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Duração/público-alvo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Duração/público-alvo · Indeterminado para fundo/classe; séries conforme apêndices · Fundos.NET ID 1072799 | 22/12/2025 | Regulamento | p. 27, Anexo I, prazo de duração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Duração/público-alvo · Indeterminado para fundo/classe; séries conforme apêndices · Fundos.NET ID 1285773 | 11/08/2026 | Regulamento | p. 27, Anexo I, prazo de duração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Duração/público-alvo · Indeterminado para fundo/classe; séries conforme apêndices · Fundos.NET ID 993693 | 04/09/2025 | Regulamento | p. 30, Anexo I, prazo de duração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Duração/público-alvo · Indeterminado para fundo/classe; séries conforme apêndices · Fundos.NET ID 993687 | 04/09/2025 | Regulamento | p. 30, Anexo I, prazo de duração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Duração/público-alvo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42102603000144 · Cessão/recompra · Resolução por vício, inelegibilidade, chargeback/cancelamento não coberto; demais recompras conforme contrato · Fundos.NET ID 733239 | 05/09/2024 | Regulamento | p. 72, Anexo I, resolução/cessão/recompra | data/raw/42102603000144/733239_review_20261007.pdf | https://fnet.bmfbovespa.com.br/fnet/publico/visualizarDocumento?id=733239 · Observação: Recompras declaradas no IME não identificam motivo jurídico nem indenização efetiva.</a:t>
            </a:r>
          </a:p>
          <a:p>
            <a:r>
              <a:t>CNPJ 44124617000194 · Cessão/recompra · Resolução por vício, inelegibilidade, chargeback/cancelamento não coberto; demais recompras conforme contrato · Fundos.NET ID 1337401 | 01/10/2026 | Regulamento | p. 56, Anexo I, resolução/cessão/recompra | data/raw/44124617000194/1337401_review_20261007.pdf | https://fnet.bmfbovespa.com.br/fnet/publico/visualizarDocumento?id=1337401 · Observação: Recompras declaradas no IME não identificam motivo jurídico nem indenização efetiva.</a:t>
            </a:r>
          </a:p>
          <a:p>
            <a:r>
              <a:t>CNPJ 54218673000141 · Cessão/recompra · Resolução por vício, inelegibilidade, chargeback/cancelamento não coberto; demais recompras conforme contrato · Fundos.NET ID 1268268 | 28/07/2026 | Regulamento | p. 57, Anexo I, resolução/cessão/recompra | data/raw/54218673000141/1268268_review_20261007.pdf | https://fnet.bmfbovespa.com.br/fnet/publico/visualizarDocumento?id=1268268 · Observação: Recompras declaradas no IME não identificam motivo jurídico nem indenização efetiva.</a:t>
            </a:r>
          </a:p>
          <a:p>
            <a:r>
              <a:t>CNPJ 54218941000125 · Cessão/recompra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Cessão/recompra · Resolução por vício, inelegibilidade, chargeback/cancelamento não coberto; demais recompras conforme contrato · Fundos.NET ID 1072799 | 22/12/2025 | Regulamento | p. 56, Anexo I, resolução/cessão/recompra | data/raw/54219179000100/1072799_review_20261007.pdf | https://fnet.bmfbovespa.com.br/fnet/publico/visualizarDocumento?id=1072799 · Observação: Recompras declaradas no IME não identificam motivo jurídico nem indenização efetiva.</a:t>
            </a:r>
          </a:p>
          <a:p>
            <a:r>
              <a:t>CNPJ 54248022000102 · Cessão/recompra · Resolução por vício, inelegibilidade, chargeback/cancelamento não coberto; demais recompras conforme contrato · Fundos.NET ID 1285773 | 11/08/2026 | Regulamento | p. 56, Anexo I, resolução/cessão/recompra | data/raw/54248022000102/1285773_review_20261007.pdf | https://fnet.bmfbovespa.com.br/fnet/publico/visualizarDocumento?id=1285773 · Observação: Recompras declaradas no IME não identificam motivo jurídico nem indenização efetiva.</a:t>
            </a:r>
          </a:p>
          <a:p>
            <a:r>
              <a:t>CNPJ 57609282000146 · Cessão/recompra · Resolução por vício, inelegibilidade, chargeback/cancelamento não coberto; demais recompras conforme contrato · Fundos.NET ID 993693 | 04/09/2025 | Regulamento | p. 61, Anexo I, resolução/cessão/recompra | data/raw/57609282000146/993693_review_20261007.pdf | https://fnet.bmfbovespa.com.br/fnet/publico/visualizarDocumento?id=993693 · Observação: Recompras declaradas no IME não identificam motivo jurídico nem indenização efetiva.</a:t>
            </a:r>
          </a:p>
          <a:p>
            <a:r>
              <a:t>CNPJ 60356171000180 · Cessão/recompra · Resolução por vício, inelegibilidade, chargeback/cancelamento não coberto; demais recompras conforme contrato · Fundos.NET ID 993687 | 04/09/2025 | Regulamento | p. 62, Anexo I, resolução/cessão/recompra | data/raw/60356171000180/993687_review_20261007.pdf | https://fnet.bmfbovespa.com.br/fnet/publico/visualizarDocumento?id=993687 · Observação: Recompras declaradas no IME não identificam motivo jurídico nem indenização efetiva.</a:t>
            </a:r>
          </a:p>
          <a:p>
            <a:r>
              <a:t>CNPJ 62393679000183 · Cessão/recompra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Coobrigação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Coobrigação · Sem regresso/coobrigação da cedente pela solvência; responsabilidade por existência e formalização preservada · Fundos.NET ID 1337401 | 01/10/2026 | Regulamento | p. 29, Anexo I, cessão definitiva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Coobrigação · Sem regresso/coobrigação da cedente pela solvência; responsabilidade por existência e formalização preservada · Fundos.NET ID 1268268 | 28/07/2026 | Regulamento | p. 30, Anexo I, cessão definitiva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Coobrigação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Coobrigação · Sem regresso/coobrigação da cedente pela solvência; responsabilidade por existência e formalização preservada · Fundos.NET ID 1072799 | 22/12/2025 | Regulamento | p. 29, Anexo I, cessão definitiva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Coobrigação · Sem regresso/coobrigação da cedente pela solvência; responsabilidade por existência e formalização preservada · Fundos.NET ID 1285773 | 11/08/2026 | Regulamento | p. 29, Anexo I, cessão definitiva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Coobrigação · Sem regresso/coobrigação da cedente pela solvência; responsabilidade por existência e formalização preservada · Fundos.NET ID 993693 | 04/09/2025 | Regulamento | p. 32, Anexo I, cessão definitiva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Coobrigação · Sem regresso/coobrigação da cedente pela solvência; responsabilidade por existência e formalização preservada · Fundos.NET ID 993687 | 04/09/2025 | Regulamento | p. 32, Anexo I, cessão definitiva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Coobrigação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42102603000144 · Waterfall · Encargos e reservas precedem distribuições; sênior prioritária; subordinadas condicionadas · Fundos.NET ID 733239 | 05/09/2024 | Regulamento | p. 2, Anexo I, ordem de alocação | data/raw/42102603000144/733239_review_20261007.pdf | https://fnet.bmfbovespa.com.br/fnet/publico/visualizarDocumento?id=733239 · Observação: Resumo da hierarquia; consultar ordem completa antes de projetar pagamentos.</a:t>
            </a:r>
          </a:p>
          <a:p>
            <a:r>
              <a:t>CNPJ 44124617000194 · Waterfall · Encargos e reservas precedem distribuições; sênior prioritária; subordinadas condicionadas · Fundos.NET ID 1337401 | 01/10/2026 | Regulamento | p. 2, Anexo I, ordem de alocação | data/raw/44124617000194/1337401_review_20261007.pdf | https://fnet.bmfbovespa.com.br/fnet/publico/visualizarDocumento?id=1337401 · Observação: Resumo da hierarquia; consultar ordem completa antes de projetar pagamentos.</a:t>
            </a:r>
          </a:p>
          <a:p>
            <a:r>
              <a:t>CNPJ 54218673000141 · Waterfall · Encargos e reservas precedem distribuições; sênior prioritária; subordinadas condicionadas · Fundos.NET ID 1268268 | 28/07/2026 | Regulamento | p. 61, Anexo I, ordem de alocação | data/raw/54218673000141/1268268_review_20261007.pdf | https://fnet.bmfbovespa.com.br/fnet/publico/visualizarDocumento?id=1268268 · Observação: Resumo da hierarquia; consultar ordem completa antes de projetar pagamentos.</a:t>
            </a:r>
          </a:p>
          <a:p>
            <a:r>
              <a:t>CNPJ 54218941000125 · Waterfall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Waterfall · Encargos e reservas precedem distribuições; sênior prioritária; subordinadas condicionadas · Fundos.NET ID 1072799 | 22/12/2025 | Regulamento | p. 60, Anexo I, ordem de alocação | data/raw/54219179000100/1072799_review_20261007.pdf | https://fnet.bmfbovespa.com.br/fnet/publico/visualizarDocumento?id=1072799 · Observação: Resumo da hierarquia; consultar ordem completa antes de projetar pagamentos.</a:t>
            </a:r>
          </a:p>
          <a:p>
            <a:r>
              <a:t>CNPJ 54248022000102 · Waterfall · Encargos e reservas precedem distribuições; sênior prioritária; subordinadas condicionadas · Fundos.NET ID 1285773 | 11/08/2026 | Regulamento | p. 60, Anexo I, ordem de alocação | data/raw/54248022000102/1285773_review_20261007.pdf | https://fnet.bmfbovespa.com.br/fnet/publico/visualizarDocumento?id=1285773 · Observação: Resumo da hierarquia; consultar ordem completa antes de projetar pagamentos.</a:t>
            </a:r>
          </a:p>
          <a:p>
            <a:r>
              <a:t>CNPJ 57609282000146 · Waterfall · Encargos e reservas precedem distribuições; sênior prioritária; subordinadas condicionadas · Fundos.NET ID 993693 | 04/09/2025 | Regulamento | p. 65, Anexo I, ordem de alocação | data/raw/57609282000146/993693_review_20261007.pdf | https://fnet.bmfbovespa.com.br/fnet/publico/visualizarDocumento?id=993693 · Observação: Resumo da hierarquia; consultar ordem completa antes de projetar pagamentos.</a:t>
            </a:r>
          </a:p>
          <a:p>
            <a:r>
              <a:t>CNPJ 60356171000180 · Waterfall · Encargos e reservas precedem distribuições; sênior prioritária; subordinadas condicionadas · Fundos.NET ID 993687 | 04/09/2025 | Regulamento | p. 66, Anexo I, ordem de alocação | data/raw/60356171000180/993687_review_20261007.pdf | https://fnet.bmfbovespa.com.br/fnet/publico/visualizarDocumento?id=993687 · Observação: Resumo da hierarquia; consultar ordem completa antes de projetar pagamentos.</a:t>
            </a:r>
          </a:p>
          <a:p>
            <a:r>
              <a:t>CNPJ 62393679000183 · Waterfall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Prestadores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Prestadores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Prestadores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Prestadores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Prestadores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Prestadores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Prestadores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Prestadores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Prestadores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Alocação mínima · ≥ 50% do PL em direitos elegíveis, após 180 dias · Fundos.NET ID 733239 | 05/09/2024 | Regulamento | p. 30, Anexo I, alocação mínima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Alocação mínima · ≥ 50% do PL em direitos elegíveis, após 180 dias · Fundos.NET ID 1337401 | 01/10/2026 | Regulamento | p. 30, Anexo I, alocação mínima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Alocação mínima · ≥ 50% do PL em direitos elegíveis, após 180 dias · Fundos.NET ID 1268268 | 28/07/2026 | Regulamento | p. 31, Anexo I, alocação mínima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Alocação mínima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mínima · ≥ 50% do PL em direitos elegíveis, após 180 dias · Fundos.NET ID 1072799 | 22/12/2025 | Regulamento | p. 30, Anexo I, alocação mínima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Alocação mínima · ≥ 50% do PL em direitos elegíveis, após 180 dias · Fundos.NET ID 1285773 | 11/08/2026 | Regulamento | p. 30, Anexo I, alocação mínima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Alocação mínima · ≥ 50% do PL em direitos elegíveis, após 180 dias · Fundos.NET ID 993693 | 04/09/2025 | Regulamento | p. 33, Anexo I, alocação mínima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Alocação mínima · ≥ 50% do PL em direitos elegíveis, após 180 dias · Fundos.NET ID 993687 | 04/09/2025 | Regulamento | p. 33, Anexo I, alocação mínima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Alocação mínima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Pool/revolvência · Revolvente; compras com recursos da carteira, observada a ordem de alocação · Fundos.NET ID 733239 | 05/09/2024 | Regulamento | p. 30, Anexo I, revolvência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Pool/revolvência · Revolvente; compras com recursos da carteira, observada a ordem de alocação · Fundos.NET ID 1337401 | 01/10/2026 | Regulamento | p. 30, Anexo I, revolvência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Pool/revolvência · Revolvente; compras com recursos da carteira, observada a ordem de alocação · Fundos.NET ID 1268268 | 28/07/2026 | Regulamento | p. 31, Anexo I, revolvência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Pool/revolvência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Pool/revolvência · Revolvente; compras com recursos da carteira, observada a ordem de alocação · Fundos.NET ID 1072799 | 22/12/2025 | Regulamento | p. 30, Anexo I, revolvência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Pool/revolvência · Revolvente; compras com recursos da carteira, observada a ordem de alocação · Fundos.NET ID 1285773 | 11/08/2026 | Regulamento | p. 30, Anexo I, revolvência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Pool/revolvência · Revolvente; compras com recursos da carteira, observada a ordem de alocação · Fundos.NET ID 993693 | 04/09/2025 | Regulamento | p. 33, Anexo I, revolvência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Pool/revolvência · Revolvente; compras com recursos da carteira, observada a ordem de alocação · Fundos.NET ID 993687 | 04/09/2025 | Regulamento | p. 33, Anexo I, revolvência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Pool/revolvência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Duração/público-alvo · Indeterminado para fundo/classe; séries conforme apêndices · Fundos.NET ID 733239 | 05/09/2024 | Regulamento | p. 27, Anexo I, prazo de duração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Duração/público-alvo · Indeterminado para fundo/classe; séries conforme apêndices · Fundos.NET ID 1337401 | 01/10/2026 | Regulamento | p. 27, Anexo I, prazo de duração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Duração/público-alvo · Indeterminado para fundo/classe; séries conforme apêndices · Fundos.NET ID 1268268 | 28/07/2026 | Regulamento | p. 28, Anexo I, prazo de duração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Duração/público-alvo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Duração/público-alvo · Indeterminado para fundo/classe; séries conforme apêndices · Fundos.NET ID 1072799 | 22/12/2025 | Regulamento | p. 27, Anexo I, prazo de duração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Duração/público-alvo · Indeterminado para fundo/classe; séries conforme apêndices · Fundos.NET ID 1285773 | 11/08/2026 | Regulamento | p. 27, Anexo I, prazo de duração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Duração/público-alvo · Indeterminado para fundo/classe; séries conforme apêndices · Fundos.NET ID 993693 | 04/09/2025 | Regulamento | p. 30, Anexo I, prazo de duração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Duração/público-alvo · Indeterminado para fundo/classe; séries conforme apêndices · Fundos.NET ID 993687 | 04/09/2025 | Regulamento | p. 30, Anexo I, prazo de duração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Duração/público-alvo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42102603000144 · Cessão/recompra · Resolução por vício, inelegibilidade, chargeback/cancelamento não coberto; demais recompras conforme contrato · Fundos.NET ID 733239 | 05/09/2024 | Regulamento | p. 72, Anexo I, resolução/cessão/recompra | data/raw/42102603000144/733239_review_20261007.pdf | https://fnet.bmfbovespa.com.br/fnet/publico/visualizarDocumento?id=733239 · Observação: Recompras declaradas no IME não identificam motivo jurídico nem indenização efetiva.</a:t>
            </a:r>
          </a:p>
          <a:p>
            <a:r>
              <a:t>CNPJ 44124617000194 · Cessão/recompra · Resolução por vício, inelegibilidade, chargeback/cancelamento não coberto; demais recompras conforme contrato · Fundos.NET ID 1337401 | 01/10/2026 | Regulamento | p. 56, Anexo I, resolução/cessão/recompra | data/raw/44124617000194/1337401_review_20261007.pdf | https://fnet.bmfbovespa.com.br/fnet/publico/visualizarDocumento?id=1337401 · Observação: Recompras declaradas no IME não identificam motivo jurídico nem indenização efetiva.</a:t>
            </a:r>
          </a:p>
          <a:p>
            <a:r>
              <a:t>CNPJ 54218673000141 · Cessão/recompra · Resolução por vício, inelegibilidade, chargeback/cancelamento não coberto; demais recompras conforme contrato · Fundos.NET ID 1268268 | 28/07/2026 | Regulamento | p. 57, Anexo I, resolução/cessão/recompra | data/raw/54218673000141/1268268_review_20261007.pdf | https://fnet.bmfbovespa.com.br/fnet/publico/visualizarDocumento?id=1268268 · Observação: Recompras declaradas no IME não identificam motivo jurídico nem indenização efetiva.</a:t>
            </a:r>
          </a:p>
          <a:p>
            <a:r>
              <a:t>CNPJ 54218941000125 · Cessão/recompra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Cessão/recompra · Resolução por vício, inelegibilidade, chargeback/cancelamento não coberto; demais recompras conforme contrato · Fundos.NET ID 1072799 | 22/12/2025 | Regulamento | p. 56, Anexo I, resolução/cessão/recompra | data/raw/54219179000100/1072799_review_20261007.pdf | https://fnet.bmfbovespa.com.br/fnet/publico/visualizarDocumento?id=1072799 · Observação: Recompras declaradas no IME não identificam motivo jurídico nem indenização efetiva.</a:t>
            </a:r>
          </a:p>
          <a:p>
            <a:r>
              <a:t>CNPJ 54248022000102 · Cessão/recompra · Resolução por vício, inelegibilidade, chargeback/cancelamento não coberto; demais recompras conforme contrato · Fundos.NET ID 1285773 | 11/08/2026 | Regulamento | p. 56, Anexo I, resolução/cessão/recompra | data/raw/54248022000102/1285773_review_20261007.pdf | https://fnet.bmfbovespa.com.br/fnet/publico/visualizarDocumento?id=1285773 · Observação: Recompras declaradas no IME não identificam motivo jurídico nem indenização efetiva.</a:t>
            </a:r>
          </a:p>
          <a:p>
            <a:r>
              <a:t>CNPJ 57609282000146 · Cessão/recompra · Resolução por vício, inelegibilidade, chargeback/cancelamento não coberto; demais recompras conforme contrato · Fundos.NET ID 993693 | 04/09/2025 | Regulamento | p. 61, Anexo I, resolução/cessão/recompra | data/raw/57609282000146/993693_review_20261007.pdf | https://fnet.bmfbovespa.com.br/fnet/publico/visualizarDocumento?id=993693 · Observação: Recompras declaradas no IME não identificam motivo jurídico nem indenização efetiva.</a:t>
            </a:r>
          </a:p>
          <a:p>
            <a:r>
              <a:t>CNPJ 60356171000180 · Cessão/recompra · Resolução por vício, inelegibilidade, chargeback/cancelamento não coberto; demais recompras conforme contrato · Fundos.NET ID 993687 | 04/09/2025 | Regulamento | p. 62, Anexo I, resolução/cessão/recompra | data/raw/60356171000180/993687_review_20261007.pdf | https://fnet.bmfbovespa.com.br/fnet/publico/visualizarDocumento?id=993687 · Observação: Recompras declaradas no IME não identificam motivo jurídico nem indenização efetiva.</a:t>
            </a:r>
          </a:p>
          <a:p>
            <a:r>
              <a:t>CNPJ 62393679000183 · Cessão/recompra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Coobrigação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Coobrigação · Sem regresso/coobrigação da cedente pela solvência; responsabilidade por existência e formalização preservada · Fundos.NET ID 1337401 | 01/10/2026 | Regulamento | p. 29, Anexo I, cessão definitiva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Coobrigação · Sem regresso/coobrigação da cedente pela solvência; responsabilidade por existência e formalização preservada · Fundos.NET ID 1268268 | 28/07/2026 | Regulamento | p. 30, Anexo I, cessão definitiva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Coobrigação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Coobrigação · Sem regresso/coobrigação da cedente pela solvência; responsabilidade por existência e formalização preservada · Fundos.NET ID 1072799 | 22/12/2025 | Regulamento | p. 29, Anexo I, cessão definitiva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Coobrigação · Sem regresso/coobrigação da cedente pela solvência; responsabilidade por existência e formalização preservada · Fundos.NET ID 1285773 | 11/08/2026 | Regulamento | p. 29, Anexo I, cessão definitiva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Coobrigação · Sem regresso/coobrigação da cedente pela solvência; responsabilidade por existência e formalização preservada · Fundos.NET ID 993693 | 04/09/2025 | Regulamento | p. 32, Anexo I, cessão definitiva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Coobrigação · Sem regresso/coobrigação da cedente pela solvência; responsabilidade por existência e formalização preservada · Fundos.NET ID 993687 | 04/09/2025 | Regulamento | p. 32, Anexo I, cessão definitiva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Coobrigação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42102603000144 · Waterfall · Encargos e reservas precedem distribuições; sênior prioritária; subordinadas condicionadas · Fundos.NET ID 733239 | 05/09/2024 | Regulamento | p. 2, Anexo I, ordem de alocação | data/raw/42102603000144/733239_review_20261007.pdf | https://fnet.bmfbovespa.com.br/fnet/publico/visualizarDocumento?id=733239 · Observação: Resumo da hierarquia; consultar ordem completa antes de projetar pagamentos.</a:t>
            </a:r>
          </a:p>
          <a:p>
            <a:r>
              <a:t>CNPJ 44124617000194 · Waterfall · Encargos e reservas precedem distribuições; sênior prioritária; subordinadas condicionadas · Fundos.NET ID 1337401 | 01/10/2026 | Regulamento | p. 2, Anexo I, ordem de alocação | data/raw/44124617000194/1337401_review_20261007.pdf | https://fnet.bmfbovespa.com.br/fnet/publico/visualizarDocumento?id=1337401 · Observação: Resumo da hierarquia; consultar ordem completa antes de projetar pagamentos.</a:t>
            </a:r>
          </a:p>
          <a:p>
            <a:r>
              <a:t>CNPJ 54218673000141 · Waterfall · Encargos e reservas precedem distribuições; sênior prioritária; subordinadas condicionadas · Fundos.NET ID 1268268 | 28/07/2026 | Regulamento | p. 61, Anexo I, ordem de alocação | data/raw/54218673000141/1268268_review_20261007.pdf | https://fnet.bmfbovespa.com.br/fnet/publico/visualizarDocumento?id=1268268 · Observação: Resumo da hierarquia; consultar ordem completa antes de projetar pagamentos.</a:t>
            </a:r>
          </a:p>
          <a:p>
            <a:r>
              <a:t>CNPJ 54218941000125 · Waterfall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Waterfall · Encargos e reservas precedem distribuições; sênior prioritária; subordinadas condicionadas · Fundos.NET ID 1072799 | 22/12/2025 | Regulamento | p. 60, Anexo I, ordem de alocação | data/raw/54219179000100/1072799_review_20261007.pdf | https://fnet.bmfbovespa.com.br/fnet/publico/visualizarDocumento?id=1072799 · Observação: Resumo da hierarquia; consultar ordem completa antes de projetar pagamentos.</a:t>
            </a:r>
          </a:p>
          <a:p>
            <a:r>
              <a:t>CNPJ 54248022000102 · Waterfall · Encargos e reservas precedem distribuições; sênior prioritária; subordinadas condicionadas · Fundos.NET ID 1285773 | 11/08/2026 | Regulamento | p. 60, Anexo I, ordem de alocação | data/raw/54248022000102/1285773_review_20261007.pdf | https://fnet.bmfbovespa.com.br/fnet/publico/visualizarDocumento?id=1285773 · Observação: Resumo da hierarquia; consultar ordem completa antes de projetar pagamentos.</a:t>
            </a:r>
          </a:p>
          <a:p>
            <a:r>
              <a:t>CNPJ 57609282000146 · Waterfall · Encargos e reservas precedem distribuições; sênior prioritária; subordinadas condicionadas · Fundos.NET ID 993693 | 04/09/2025 | Regulamento | p. 65, Anexo I, ordem de alocação | data/raw/57609282000146/993693_review_20261007.pdf | https://fnet.bmfbovespa.com.br/fnet/publico/visualizarDocumento?id=993693 · Observação: Resumo da hierarquia; consultar ordem completa antes de projetar pagamentos.</a:t>
            </a:r>
          </a:p>
          <a:p>
            <a:r>
              <a:t>CNPJ 60356171000180 · Waterfall · Encargos e reservas precedem distribuições; sênior prioritária; subordinadas condicionadas · Fundos.NET ID 993687 | 04/09/2025 | Regulamento | p. 66, Anexo I, ordem de alocação | data/raw/60356171000180/993687_review_20261007.pdf | https://fnet.bmfbovespa.com.br/fnet/publico/visualizarDocumento?id=993687 · Observação: Resumo da hierarquia; consultar ordem completa antes de projetar pagamentos.</a:t>
            </a:r>
          </a:p>
          <a:p>
            <a:r>
              <a:t>CNPJ 62393679000183 · Waterfall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Prestadores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Prestadores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Prestadores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Prestadores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Prestadores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Prestadores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Prestadores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Prestadores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Prestadores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42102603000144 · Classes/séries · Sênior e subordinadas; séries e eventuais mezaninos conforme apêndices e atos lidos · Fundos.NET ID 733239 | 05/09/2024 | Regulamento | p. 34, Anexo I, composição/emissões | data/raw/42102603000144/733239_review_20261007.pdf | https://fnet.bmfbovespa.com.br/fnet/publico/visualizarDocumento?id=733239 · Observação: Classes jurídicas identificadas; não implica que todas as séries históricas continuem em circulação.</a:t>
            </a:r>
          </a:p>
          <a:p>
            <a:r>
              <a:t>CNPJ 44124617000194 · Classes/séries · Sênior e subordinadas; séries e eventuais mezaninos conforme apêndices e atos lidos · Fundos.NET ID 1337401 | 01/10/2026 | Regulamento | p. 34, Anexo I, composição/emissões | data/raw/44124617000194/1337401_review_20261007.pdf | https://fnet.bmfbovespa.com.br/fnet/publico/visualizarDocumento?id=1337401 · Observação: Classes jurídicas identificadas; não implica que todas as séries históricas continuem em circulação.</a:t>
            </a:r>
          </a:p>
          <a:p>
            <a:r>
              <a:t>CNPJ 54218673000141 · Classes/séries · Sênior e subordinadas; séries e eventuais mezaninos conforme apêndices e atos lidos · Fundos.NET ID 1268268 | 28/07/2026 | Regulamento | p. 34, Anexo I, composição/emissões | data/raw/54218673000141/1268268_review_20261007.pdf | https://fnet.bmfbovespa.com.br/fnet/publico/visualizarDocumento?id=1268268 · Observação: Classes jurídicas identificadas; não implica que todas as séries históricas continuem em circulação.</a:t>
            </a:r>
          </a:p>
          <a:p>
            <a:r>
              <a:t>CNPJ 54218941000125 · Classes/séries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Classes/séries · Sênior e subordinadas; séries e eventuais mezaninos conforme apêndices e atos lidos · Fundos.NET ID 1072799 | 22/12/2025 | Regulamento | p. 33, Anexo I, composição/emissões | data/raw/54219179000100/1072799_review_20261007.pdf | https://fnet.bmfbovespa.com.br/fnet/publico/visualizarDocumento?id=1072799 · Observação: Classes jurídicas identificadas; não implica que todas as séries históricas continuem em circulação.</a:t>
            </a:r>
          </a:p>
          <a:p>
            <a:r>
              <a:t>CNPJ 54248022000102 · Classes/séries · Sênior e subordinadas; séries e eventuais mezaninos conforme apêndices e atos lidos · Fundos.NET ID 1285773 | 11/08/2026 | Regulamento | p. 33, Anexo I, composição/emissões | data/raw/54248022000102/1285773_review_20261007.pdf | https://fnet.bmfbovespa.com.br/fnet/publico/visualizarDocumento?id=1285773 · Observação: Classes jurídicas identificadas; não implica que todas as séries históricas continuem em circulação.</a:t>
            </a:r>
          </a:p>
          <a:p>
            <a:r>
              <a:t>CNPJ 57609282000146 · Classes/séries · Sênior 1ª, mezanino 1ª e subordinada júnior 1ª 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Classes/séries · Seniores 1ª/2ª; mezanino A/B 1ª; júnior; termos finais além do anúncio pendentes · Fundos.NET ID 884542 | 24/04/2025 | Anúncio de Encerramento | p. 1–2, anúncio encerramento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Classes/séries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42102603000144 · Remuneração · 1ª série: CDI + 1,37% a.a.; Não localizado na documentação acessível; Residual conforme waterfall; taxa fixa final não localizada · Fundos.NET ID 733239 | 05/09/2024 | Regulamento | p. 113, apêndice1ªsériesênior | data/raw/42102603000144/733239_review_20261007.pdf | https://fnet.bmfbovespa.com.br/fnet/publico/visualizarDocumento?id=733239 |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| Fundos.NET ID 733239 | 05/09/2024 | Regulamento | p. 3, Anexo I, características das cotas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44124617000194 · Remuneração · 1ª série: CDI + 1,35% a.a.; Não localizado na documentação acessível; Residual conforme waterfall; taxa fixa final não localizada · Fundos.NET ID 1337401 | 01/10/2026 | Regulamento | p. 116, apêndice1ªsériesênior | data/raw/44124617000194/1337401_review_20261007.pdf | https://fnet.bmfbovespa.com.br/fnet/publico/visualizarDocumento?id=1337401 | Inventário por CNPJ 44124617000194, consulta Fundos.NET em 07/10/2026: 104 documentos listados; listagem pública obtida.  PDFs efetivamente revistos: 1337401. ID1153057: Falha de rede ao acessar downloadDocumento: The read operation timed out | Fundos.NET ID 1337401 | 01/10/2026 | Regulamento | p. 3, Anexo I, características das cotas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54218673000141 · Remuneração · 1ª série: DI + 1,20% a.a. (capitalização exponencial); Não localizado na documentação acessível; Residual conforme waterfall; taxa fixa final não localizada · Fundos.NET ID 1268268 | 28/07/2026 | Regulamento | p. 118, apêndice1ªsériesênior | data/raw/54218673000141/1268268_review_20261007.pdf | https://fnet.bmfbovespa.com.br/fnet/publico/visualizarDocumento?id=1268268 | Inventário por CNPJ 54218673000141, consulta Fundos.NET em 07/10/2026: 66 documentos listados; listagem pública obtida.  PDFs efetivamente revistos: 1268268, 643434. ID1151722: Falha de rede ao acessar downloadDocumento: The read operation timed out | Fundos.NET ID 1268268 | 28/07/2026 | Regulamento | p. 5, Anexo I, características das cotas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54218941000125 · Remuneração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· Não localizado na documentação acessível; Residual conforme waterfall; taxa fixa final não localizada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| Fundos.NET ID 1072799 | 22/12/2025 | Regulamento | p. 4, Anexo I, características das cotas | data/raw/54219179000100/1072799_review_20261007.pdf | https://fnet.bmfbovespa.com.br/fnet/publico/visualizarDocumento?id=1072799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54248022000102 · Remuneração · 1ª série: DI + 3,00% a.a. (capitalização exponencial); Não localizado na documentação acessível; Residual conforme waterfall; taxa fixa final não localizada · Fundos.NET ID 1285773 | 11/08/2026 | Regulamento | p. 123, apêndice1ªsériesênior | data/raw/54248022000102/1285773_review_20261007.pdf | https://fnet.bmfbovespa.com.br/fnet/publico/visualizarDocumento?id=1285773 | Inventário por CNPJ 54248022000102, consulta Fundos.NET em 07/10/2026: 69 documentos listados; listagem pública obtida.  PDFs efetivamente revistos: 1285773, 643430, 1151750. Não foi identificado termo específico na revisão. | Fundos.NET ID 1285773 | 11/08/2026 | Regulamento | p. 35, Anexo I, características das cotas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57609282000146 · Remuneração · 1ª série: DI + 0,85% a.a.; 1ª série: DI + 3,85% a.a.; Residual conforme waterfall; taxa fixa final não localizada · Fundos.NET ID 993693 | 04/09/2025 | Regulamento | p. 125, apêndices efetivamente preenchidos | data/raw/57609282000146/993693_review_20261007.pdf | https://fnet.bmfbovespa.com.br/fnet/publico/visualizarDocumento?id=993693 | Fundos.NET ID 993693 | 04/09/2025 | Regulamento | p. 128, apêndices efetivamente preenchidos | data/raw/57609282000146/993693_review_20261007.pdf | https://fnet.bmfbovespa.com.br/fnet/publico/visualizarDocumento?id=993693 | Fundos.NET ID 993693 | 04/09/2025 | Regulamento | p. 4, Anexo I, características das cotas | data/raw/57609282000146/993693_review_20261007.pdf | https://fnet.bmfbovespa.com.br/fnet/publico/visualizarDocumento?id=993693 · Observação: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60356171000180 · Remuneração · Taxa DI + spread final não localizado; modelos com [=] não fixam taxa contratada; Taxa DI + spreads A/B finais não localizados; suplementos-modelo com [=]; Residual conforme waterfall; taxa fixa final não localizada · Fundos.NET ID 993687 | 04/09/2025 | Regulamento | p. 121–129, apêndices-modelo | data/raw/60356171000180/993687_review_20261007.pdf | https://fnet.bmfbovespa.com.br/fnet/publico/visualizarDocumento?id=993687 | Fundos.NET ID 993687 | 04/09/2025 | Regulamento | p. 125–129, apêndices-modelo | data/raw/60356171000180/993687_review_20261007.pdf | https://fnet.bmfbovespa.com.br/fnet/publico/visualizarDocumento?id=993687 | Fundos.NET ID 993687 | 04/09/2025 | Regulamento | p. 4, Anexo I, características das cotas | data/raw/60356171000180/993687_review_20261007.pdf | https://fnet.bmfbovespa.com.br/fnet/publico/visualizarDocumento?id=993687 · Observação: Os números por extenso em modelos não comprovam taxa final; ato ID883903 possui texto codificado ilegível/OCR necessário.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62393679000183 · Remuneração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Volume/VNU · 1ª série: R$ 950.000.000,00;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Volume/VNU · 1ª série: R$ 1.500.000.000,00;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Volume/VNU · 1ª série: R$ 877.500.000,00 inicial; máximo R$ 1.140.750.000,00;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Volume/VNU · 1ª sênior: R$ 291.000.000,00 distribuídos; R$ 1.000,00 de emissão · Fundos.NET ID 643432 | 22/04/2024 | Anúncio de Encerramento | p. 1–3, encerramentodeoferta | data/raw/54218941000125/643432_review_20261007.pdf | https://fnet.bmfbovespa.com.br/fnet/publico/visualizarDocumento?id=643432 |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Volume/VNU · 1ª sênior: R$ 142.500.000,00 distribuídos; R$ 1.000,00 de emissão · Fundos.NET ID 643431 | 22/04/2024 | Anúncio de Encerramento | p. 1–3, encerramentodeoferta | data/raw/54219179000100/643431_review_20261007.pdf | https://fnet.bmfbovespa.com.br/fnet/publico/visualizarDocumento?id=643431 |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Volume/VNU · 1ª série: R$ 120.000.000,00 inicial; máximo R$ 156.000.000,00;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Volume/VNU · Sênior R$ 2.245.625.000; mezanino R$ 347.538.000; júnior R$ 90.000.000;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Volume/VNU · Oferta R$ 3.141.592.653,59: S1 R$ 1,65 bi; S2 R$ 1.070.554.462; MA R$ 226.712.872; MB R$ 194.325.319,59; S1/S2/MA R$ 1,00; MB R$ 12,23 na primeira integralização · Fundos.NET ID 884542 | 24/04/2025 | Anúncio de Encerramento | p. 2, volume ofertado/distribuição | data/raw/60356171000180/884542_review_20261007.pdf | https://fnet.bmfbovespa.com.br/fnet/publico/visualizarDocumento?id=884542 |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Volume/VNU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Ofertas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Ofertas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Ofertas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Ofertas · Oferta primária encerrada 22/04/2024; volume distribuído conformeanúncio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Ofertas · Oferta primária encerrada 22/04/2024; volume distribuído conformeanúncio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Ofertas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Ofertas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Ofertas · Oferta primária encerrada 24/04/2025; quatro subclasses/séries do anúncio · Fundos.NET ID 884542 | 24/04/2025 | Anúncio de Encerramento | p. 1–7, encerramento/distribuição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Ofertas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42102603000144 · Remuneração sênior · 1ª série: CDI + 1,37% a.a. · Fundos.NET ID 733239 | 05/09/2024 | Regulamento | p. 113, apêndice1ªsériesênior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</a:t>
            </a:r>
          </a:p>
          <a:p>
            <a:r>
              <a:t>CNPJ 44124617000194 · Remuneração sênior · 1ª série: CDI + 1,35% a.a. · Fundos.NET ID 1337401 | 01/10/2026 | Regulamento | p. 116, apêndice1ªsériesênior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</a:t>
            </a:r>
          </a:p>
          <a:p>
            <a:r>
              <a:t>CNPJ 54218673000141 · Remuneração sênior · 1ª série: DI + 1,20% a.a. (capitalização exponencial) · Fundos.NET ID 1268268 | 28/07/2026 | Regulamento | p. 118, apêndice1ªsériesênior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</a:t>
            </a:r>
          </a:p>
          <a:p>
            <a:r>
              <a:t>CNPJ 54218941000125 · Remuneração sênior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sênior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sênior · 1ª série: DI + 3,00% a.a. (capitalização exponencial) · Fundos.NET ID 1285773 | 11/08/2026 | Regulamento | p. 123, apêndice1ªsériesênior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</a:t>
            </a:r>
          </a:p>
          <a:p>
            <a:r>
              <a:t>CNPJ 57609282000146 · Remuneração sênior · 1ª série: DI + 0,85% a.a. · Fundos.NET ID 993693 | 04/09/2025 | Regulamento | p. 125,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sênior · Taxa DI + spread final não localizado; modelos com [=] não fixam taxa contratada · Fundos.NET ID 993687 | 04/09/2025 | Regulamento | p. 121–129, apêndices-modelo | data/raw/60356171000180/993687_review_20261007.pdf | https://fnet.bmfbovespa.com.br/fnet/publico/visualizarDocumento?id=993687 · Observação: Os números por extenso em modelos não comprovam taxa final; ato ID883903 possui texto codificado ilegível/OCR necessário.</a:t>
            </a:r>
          </a:p>
          <a:p>
            <a:r>
              <a:t>CNPJ 62393679000183 · Remuneração sênior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Remuneração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Remuneração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Remuneração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Remuneração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Remuneração mezanino · 1ª série: DI + 3,85% a.a. · Fundos.NET ID 993693 | 04/09/2025 | Regulamento | p. 128,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mezanino · Taxa DI + spreads A/B finais não localizados; suplementos-modelo com [=] · Fundos.NET ID 993687 | 04/09/2025 | Regulamento | p. 125–129, apêndices-modelo | data/raw/60356171000180/993687_review_20261007.pdf | https://fnet.bmfbovespa.com.br/fnet/publico/visualizarDocumento?id=993687 · Observação: Cláusula documental; emissão e data-base indicadas. Não implica posição atual em circulação.</a:t>
            </a:r>
          </a:p>
          <a:p>
            <a:r>
              <a:t>CNPJ 62393679000183 · Remuneração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Remuneração subordinada · Residual conforme waterfall; taxa fixa final não localizada · Fundos.NET ID 733239 | 05/09/2024 | Regulamento | p. 3, Anexo I, características das cotas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Remuneração subordinada · Residual conforme waterfall; taxa fixa final não localizada · Fundos.NET ID 1337401 | 01/10/2026 | Regulamento | p. 3, Anexo I, características das cotas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Remuneração subordinada · Residual conforme waterfall; taxa fixa final não localizada · Fundos.NET ID 1268268 | 28/07/2026 | Regulamento | p. 5, Anexo I, características das cotas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Remuneração subordinada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subordinada · Residual conforme waterfall; taxa fixa final não localizada · Fundos.NET ID 1072799 | 22/12/2025 | Regulamento | p. 4, Anexo I, características das cotas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Remuneração subordinada · Residual conforme waterfall; taxa fixa final não localizada · Fundos.NET ID 1285773 | 11/08/2026 | Regulamento | p. 35, Anexo I, características das cotas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Remuneração subordinada · Residual conforme waterfall; taxa fixa final não localizada · Fundos.NET ID 993693 | 04/09/2025 | Regulamento | p. 4, Anexo I, características das cotas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Remuneração subordinada · Residual conforme waterfall; taxa fixa final não localizada · Fundos.NET ID 993687 | 04/09/2025 | Regulamento | p. 4, Anexo I, características das cotas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Remuneração subordinada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 / quantidade · 1ª série: R$ 950.000.000,00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 / quantidade · 1ª série: R$ 1.500.000.000,00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 / quantidade · 1ª série: R$ 877.500.000,00 inicial; máximo R$ 1.140.750.000,00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 / quantidade · 1ª sênior: R$ 291.000.000,00 distribuídos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 / quantidade · 1ª sênior: R$ 142.500.000,00 distribuídos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 / quantidade · 1ª série: R$ 120.000.000,00 inicial; máximo R$ 156.000.000,00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 / quantidade · Sênior R$ 2.245.625.000; mezanino R$ 347.538.000; júnior R$ 90.000.000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 / quantidade · Oferta R$ 3.141.592.653,59: S1 R$ 1,65 bi; S2 R$ 1.070.554.462; MA R$ 226.712.872; MB R$ 194.325.319,59 · Fundos.NET ID 884542 | 24/04/2025 | Anúncio de Encerramento | p. 2, volume ofertado/distribuição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 / quantidade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VNU / preço ·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VNU / preço ·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VNU / preço ·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VNU / preço · R$ 1.000,00 de emissão ·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VNU / preço · R$ 1.000,00 de emissão ·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VNU / preço ·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VNU / preço ·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VNU / preço · S1/S2/MA R$ 1,00; MB R$ 12,23 na primeira integralização ·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VNU / preço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42102603000144 · Classes/séries · Sênior e subordinadas; séries e eventuais mezaninos conforme apêndices e atos lidos · Fundos.NET ID 733239 | 05/09/2024 | Regulamento | p. 34, Anexo I, composição/emissões | data/raw/42102603000144/733239_review_20261007.pdf | https://fnet.bmfbovespa.com.br/fnet/publico/visualizarDocumento?id=733239 · Observação: Classes jurídicas identificadas; não implica que todas as séries históricas continuem em circulação.</a:t>
            </a:r>
          </a:p>
          <a:p>
            <a:r>
              <a:t>CNPJ 44124617000194 · Classes/séries · Sênior e subordinadas; séries e eventuais mezaninos conforme apêndices e atos lidos · Fundos.NET ID 1337401 | 01/10/2026 | Regulamento | p. 34, Anexo I, composição/emissões | data/raw/44124617000194/1337401_review_20261007.pdf | https://fnet.bmfbovespa.com.br/fnet/publico/visualizarDocumento?id=1337401 · Observação: Classes jurídicas identificadas; não implica que todas as séries históricas continuem em circulação.</a:t>
            </a:r>
          </a:p>
          <a:p>
            <a:r>
              <a:t>CNPJ 54218673000141 · Classes/séries · Sênior e subordinadas; séries e eventuais mezaninos conforme apêndices e atos lidos · Fundos.NET ID 1268268 | 28/07/2026 | Regulamento | p. 34, Anexo I, composição/emissões | data/raw/54218673000141/1268268_review_20261007.pdf | https://fnet.bmfbovespa.com.br/fnet/publico/visualizarDocumento?id=1268268 · Observação: Classes jurídicas identificadas; não implica que todas as séries históricas continuem em circulação.</a:t>
            </a:r>
          </a:p>
          <a:p>
            <a:r>
              <a:t>CNPJ 54218941000125 · Classes/séries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Classes/séries · Sênior e subordinadas; séries e eventuais mezaninos conforme apêndices e atos lidos · Fundos.NET ID 1072799 | 22/12/2025 | Regulamento | p. 33, Anexo I, composição/emissões | data/raw/54219179000100/1072799_review_20261007.pdf | https://fnet.bmfbovespa.com.br/fnet/publico/visualizarDocumento?id=1072799 · Observação: Classes jurídicas identificadas; não implica que todas as séries históricas continuem em circulação.</a:t>
            </a:r>
          </a:p>
          <a:p>
            <a:r>
              <a:t>CNPJ 54248022000102 · Classes/séries · Sênior e subordinadas; séries e eventuais mezaninos conforme apêndices e atos lidos · Fundos.NET ID 1285773 | 11/08/2026 | Regulamento | p. 33, Anexo I, composição/emissões | data/raw/54248022000102/1285773_review_20261007.pdf | https://fnet.bmfbovespa.com.br/fnet/publico/visualizarDocumento?id=1285773 · Observação: Classes jurídicas identificadas; não implica que todas as séries históricas continuem em circulação.</a:t>
            </a:r>
          </a:p>
          <a:p>
            <a:r>
              <a:t>CNPJ 57609282000146 · Classes/séries · Sênior 1ª, mezanino 1ª e subordinada júnior 1ª 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Classes/séries · Seniores 1ª/2ª; mezanino A/B 1ª; júnior; termos finais além do anúncio pendentes · Fundos.NET ID 884542 | 24/04/2025 | Anúncio de Encerramento | p. 1–2, anúncio encerramento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Classes/séries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42102603000144 · Remuneração · 1ª série: CDI + 1,37% a.a.; Não localizado na documentação acessível; Residual conforme waterfall; taxa fixa final não localizada · Fundos.NET ID 733239 | 05/09/2024 | Regulamento | p. 113, apêndice1ªsériesênior | data/raw/42102603000144/733239_review_20261007.pdf | https://fnet.bmfbovespa.com.br/fnet/publico/visualizarDocumento?id=733239 |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| Fundos.NET ID 733239 | 05/09/2024 | Regulamento | p. 3, Anexo I, características das cotas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44124617000194 · Remuneração · 1ª série: CDI + 1,35% a.a.; Não localizado na documentação acessível; Residual conforme waterfall; taxa fixa final não localizada · Fundos.NET ID 1337401 | 01/10/2026 | Regulamento | p. 116, apêndice1ªsériesênior | data/raw/44124617000194/1337401_review_20261007.pdf | https://fnet.bmfbovespa.com.br/fnet/publico/visualizarDocumento?id=1337401 | Inventário por CNPJ 44124617000194, consulta Fundos.NET em 07/10/2026: 104 documentos listados; listagem pública obtida.  PDFs efetivamente revistos: 1337401. ID1153057: Falha de rede ao acessar downloadDocumento: The read operation timed out | Fundos.NET ID 1337401 | 01/10/2026 | Regulamento | p. 3, Anexo I, características das cotas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54218673000141 · Remuneração · 1ª série: DI + 1,20% a.a. (capitalização exponencial); Não localizado na documentação acessível; Residual conforme waterfall; taxa fixa final não localizada · Fundos.NET ID 1268268 | 28/07/2026 | Regulamento | p. 118, apêndice1ªsériesênior | data/raw/54218673000141/1268268_review_20261007.pdf | https://fnet.bmfbovespa.com.br/fnet/publico/visualizarDocumento?id=1268268 | Inventário por CNPJ 54218673000141, consulta Fundos.NET em 07/10/2026: 66 documentos listados; listagem pública obtida.  PDFs efetivamente revistos: 1268268, 643434. ID1151722: Falha de rede ao acessar downloadDocumento: The read operation timed out | Fundos.NET ID 1268268 | 28/07/2026 | Regulamento | p. 5, Anexo I, características das cotas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54218941000125 · Remuneração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· Não localizado na documentação acessível; Residual conforme waterfall; taxa fixa final não localizada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| Fundos.NET ID 1072799 | 22/12/2025 | Regulamento | p. 4, Anexo I, características das cotas | data/raw/54219179000100/1072799_review_20261007.pdf | https://fnet.bmfbovespa.com.br/fnet/publico/visualizarDocumento?id=1072799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54248022000102 · Remuneração · 1ª série: DI + 3,00% a.a. (capitalização exponencial); Não localizado na documentação acessível; Residual conforme waterfall; taxa fixa final não localizada · Fundos.NET ID 1285773 | 11/08/2026 | Regulamento | p. 123, apêndice1ªsériesênior | data/raw/54248022000102/1285773_review_20261007.pdf | https://fnet.bmfbovespa.com.br/fnet/publico/visualizarDocumento?id=1285773 | Inventário por CNPJ 54248022000102, consulta Fundos.NET em 07/10/2026: 69 documentos listados; listagem pública obtida.  PDFs efetivamente revistos: 1285773, 643430, 1151750. Não foi identificado termo específico na revisão. | Fundos.NET ID 1285773 | 11/08/2026 | Regulamento | p. 35, Anexo I, características das cotas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57609282000146 · Remuneração · 1ª série: DI + 0,85% a.a.; 1ª série: DI + 3,85% a.a.; Residual conforme waterfall; taxa fixa final não localizada · Fundos.NET ID 993693 | 04/09/2025 | Regulamento | p. 125, apêndices efetivamente preenchidos | data/raw/57609282000146/993693_review_20261007.pdf | https://fnet.bmfbovespa.com.br/fnet/publico/visualizarDocumento?id=993693 | Fundos.NET ID 993693 | 04/09/2025 | Regulamento | p. 128, apêndices efetivamente preenchidos | data/raw/57609282000146/993693_review_20261007.pdf | https://fnet.bmfbovespa.com.br/fnet/publico/visualizarDocumento?id=993693 | Fundos.NET ID 993693 | 04/09/2025 | Regulamento | p. 4, Anexo I, características das cotas | data/raw/57609282000146/993693_review_20261007.pdf | https://fnet.bmfbovespa.com.br/fnet/publico/visualizarDocumento?id=993693 · Observação: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60356171000180 · Remuneração · Taxa DI + spread final não localizado; modelos com [=] não fixam taxa contratada; Taxa DI + spreads A/B finais não localizados; suplementos-modelo com [=]; Residual conforme waterfall; taxa fixa final não localizada · Fundos.NET ID 993687 | 04/09/2025 | Regulamento | p. 121–129, apêndices-modelo | data/raw/60356171000180/993687_review_20261007.pdf | https://fnet.bmfbovespa.com.br/fnet/publico/visualizarDocumento?id=993687 | Fundos.NET ID 993687 | 04/09/2025 | Regulamento | p. 125–129, apêndices-modelo | data/raw/60356171000180/993687_review_20261007.pdf | https://fnet.bmfbovespa.com.br/fnet/publico/visualizarDocumento?id=993687 | Fundos.NET ID 993687 | 04/09/2025 | Regulamento | p. 4, Anexo I, características das cotas | data/raw/60356171000180/993687_review_20261007.pdf | https://fnet.bmfbovespa.com.br/fnet/publico/visualizarDocumento?id=993687 · Observação: Os números por extenso em modelos não comprovam taxa final; ato ID883903 possui texto codificado ilegível/OCR necessário.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62393679000183 · Remuneração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Volume/VNU · 1ª série: R$ 950.000.000,00;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Volume/VNU · 1ª série: R$ 1.500.000.000,00;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Volume/VNU · 1ª série: R$ 877.500.000,00 inicial; máximo R$ 1.140.750.000,00;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Volume/VNU · 1ª sênior: R$ 291.000.000,00 distribuídos; R$ 1.000,00 de emissão · Fundos.NET ID 643432 | 22/04/2024 | Anúncio de Encerramento | p. 1–3, encerramentodeoferta | data/raw/54218941000125/643432_review_20261007.pdf | https://fnet.bmfbovespa.com.br/fnet/publico/visualizarDocumento?id=643432 |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Volume/VNU · 1ª sênior: R$ 142.500.000,00 distribuídos; R$ 1.000,00 de emissão · Fundos.NET ID 643431 | 22/04/2024 | Anúncio de Encerramento | p. 1–3, encerramentodeoferta | data/raw/54219179000100/643431_review_20261007.pdf | https://fnet.bmfbovespa.com.br/fnet/publico/visualizarDocumento?id=643431 |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Volume/VNU · 1ª série: R$ 120.000.000,00 inicial; máximo R$ 156.000.000,00;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Volume/VNU · Sênior R$ 2.245.625.000; mezanino R$ 347.538.000; júnior R$ 90.000.000;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Volume/VNU · Oferta R$ 3.141.592.653,59: S1 R$ 1,65 bi; S2 R$ 1.070.554.462; MA R$ 226.712.872; MB R$ 194.325.319,59; S1/S2/MA R$ 1,00; MB R$ 12,23 na primeira integralização · Fundos.NET ID 884542 | 24/04/2025 | Anúncio de Encerramento | p. 2, volume ofertado/distribuição | data/raw/60356171000180/884542_review_20261007.pdf | https://fnet.bmfbovespa.com.br/fnet/publico/visualizarDocumento?id=884542 |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Volume/VNU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Ofertas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Ofertas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Ofertas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Ofertas · Oferta primária encerrada 22/04/2024; volume distribuído conformeanúncio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Ofertas · Oferta primária encerrada 22/04/2024; volume distribuído conformeanúncio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Ofertas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Ofertas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Ofertas · Oferta primária encerrada 24/04/2025; quatro subclasses/séries do anúncio · Fundos.NET ID 884542 | 24/04/2025 | Anúncio de Encerramento | p. 1–7, encerramento/distribuição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Ofertas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42102603000144 · Remuneração sênior · 1ª série: CDI + 1,37% a.a. · Fundos.NET ID 733239 | 05/09/2024 | Regulamento | p. 113, apêndice1ªsériesênior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</a:t>
            </a:r>
          </a:p>
          <a:p>
            <a:r>
              <a:t>CNPJ 44124617000194 · Remuneração sênior · 1ª série: CDI + 1,35% a.a. · Fundos.NET ID 1337401 | 01/10/2026 | Regulamento | p. 116, apêndice1ªsériesênior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</a:t>
            </a:r>
          </a:p>
          <a:p>
            <a:r>
              <a:t>CNPJ 54218673000141 · Remuneração sênior · 1ª série: DI + 1,20% a.a. (capitalização exponencial) · Fundos.NET ID 1268268 | 28/07/2026 | Regulamento | p. 118, apêndice1ªsériesênior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</a:t>
            </a:r>
          </a:p>
          <a:p>
            <a:r>
              <a:t>CNPJ 54218941000125 · Remuneração sênior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sênior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sênior · 1ª série: DI + 3,00% a.a. (capitalização exponencial) · Fundos.NET ID 1285773 | 11/08/2026 | Regulamento | p. 123, apêndice1ªsériesênior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</a:t>
            </a:r>
          </a:p>
          <a:p>
            <a:r>
              <a:t>CNPJ 57609282000146 · Remuneração sênior · 1ª série: DI + 0,85% a.a. · Fundos.NET ID 993693 | 04/09/2025 | Regulamento | p. 125,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sênior · Taxa DI + spread final não localizado; modelos com [=] não fixam taxa contratada · Fundos.NET ID 993687 | 04/09/2025 | Regulamento | p. 121–129, apêndices-modelo | data/raw/60356171000180/993687_review_20261007.pdf | https://fnet.bmfbovespa.com.br/fnet/publico/visualizarDocumento?id=993687 · Observação: Os números por extenso em modelos não comprovam taxa final; ato ID883903 possui texto codificado ilegível/OCR necessário.</a:t>
            </a:r>
          </a:p>
          <a:p>
            <a:r>
              <a:t>CNPJ 62393679000183 · Remuneração sênior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Remuneração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Remuneração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Remuneração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Remuneração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Remuneração mezanino · 1ª série: DI + 3,85% a.a. · Fundos.NET ID 993693 | 04/09/2025 | Regulamento | p. 128,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mezanino · Taxa DI + spreads A/B finais não localizados; suplementos-modelo com [=] · Fundos.NET ID 993687 | 04/09/2025 | Regulamento | p. 125–129, apêndices-modelo | data/raw/60356171000180/993687_review_20261007.pdf | https://fnet.bmfbovespa.com.br/fnet/publico/visualizarDocumento?id=993687 · Observação: Cláusula documental; emissão e data-base indicadas. Não implica posição atual em circulação.</a:t>
            </a:r>
          </a:p>
          <a:p>
            <a:r>
              <a:t>CNPJ 62393679000183 · Remuneração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Remuneração subordinada · Residual conforme waterfall; taxa fixa final não localizada · Fundos.NET ID 733239 | 05/09/2024 | Regulamento | p. 3, Anexo I, características das cotas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Remuneração subordinada · Residual conforme waterfall; taxa fixa final não localizada · Fundos.NET ID 1337401 | 01/10/2026 | Regulamento | p. 3, Anexo I, características das cotas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Remuneração subordinada · Residual conforme waterfall; taxa fixa final não localizada · Fundos.NET ID 1268268 | 28/07/2026 | Regulamento | p. 5, Anexo I, características das cotas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Remuneração subordinada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subordinada · Residual conforme waterfall; taxa fixa final não localizada · Fundos.NET ID 1072799 | 22/12/2025 | Regulamento | p. 4, Anexo I, características das cotas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Remuneração subordinada · Residual conforme waterfall; taxa fixa final não localizada · Fundos.NET ID 1285773 | 11/08/2026 | Regulamento | p. 35, Anexo I, características das cotas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Remuneração subordinada · Residual conforme waterfall; taxa fixa final não localizada · Fundos.NET ID 993693 | 04/09/2025 | Regulamento | p. 4, Anexo I, características das cotas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Remuneração subordinada · Residual conforme waterfall; taxa fixa final não localizada · Fundos.NET ID 993687 | 04/09/2025 | Regulamento | p. 4, Anexo I, características das cotas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Remuneração subordinada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 / quantidade · 1ª série: R$ 950.000.000,00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 / quantidade · 1ª série: R$ 1.500.000.000,00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 / quantidade · 1ª série: R$ 877.500.000,00 inicial; máximo R$ 1.140.750.000,00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 / quantidade · 1ª sênior: R$ 291.000.000,00 distribuídos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 / quantidade · 1ª sênior: R$ 142.500.000,00 distribuídos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 / quantidade · 1ª série: R$ 120.000.000,00 inicial; máximo R$ 156.000.000,00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 / quantidade · Sênior R$ 2.245.625.000; mezanino R$ 347.538.000; júnior R$ 90.000.000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 / quantidade · Oferta R$ 3.141.592.653,59: S1 R$ 1,65 bi; S2 R$ 1.070.554.462; MA R$ 226.712.872; MB R$ 194.325.319,59 · Fundos.NET ID 884542 | 24/04/2025 | Anúncio de Encerramento | p. 2, volume ofertado/distribuição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 / quantidade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VNU / preço ·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VNU / preço ·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VNU / preço ·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VNU / preço · R$ 1.000,00 de emissão ·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VNU / preço · R$ 1.000,00 de emissão ·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VNU / preço ·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VNU / preço ·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VNU / preço · S1/S2/MA R$ 1,00; MB R$ 12,23 na primeira integralização ·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VNU / preço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42102603000144 · Classes/séries · Sênior e subordinadas; séries e eventuais mezaninos conforme apêndices e atos lidos · Fundos.NET ID 733239 | 05/09/2024 | Regulamento | p. 34, Anexo I, composição/emissões | data/raw/42102603000144/733239_review_20261007.pdf | https://fnet.bmfbovespa.com.br/fnet/publico/visualizarDocumento?id=733239 · Observação: Classes jurídicas identificadas; não implica que todas as séries históricas continuem em circulação.</a:t>
            </a:r>
          </a:p>
          <a:p>
            <a:r>
              <a:t>CNPJ 44124617000194 · Classes/séries · Sênior e subordinadas; séries e eventuais mezaninos conforme apêndices e atos lidos · Fundos.NET ID 1337401 | 01/10/2026 | Regulamento | p. 34, Anexo I, composição/emissões | data/raw/44124617000194/1337401_review_20261007.pdf | https://fnet.bmfbovespa.com.br/fnet/publico/visualizarDocumento?id=1337401 · Observação: Classes jurídicas identificadas; não implica que todas as séries históricas continuem em circulação.</a:t>
            </a:r>
          </a:p>
          <a:p>
            <a:r>
              <a:t>CNPJ 54218673000141 · Classes/séries · Sênior e subordinadas; séries e eventuais mezaninos conforme apêndices e atos lidos · Fundos.NET ID 1268268 | 28/07/2026 | Regulamento | p. 34, Anexo I, composição/emissões | data/raw/54218673000141/1268268_review_20261007.pdf | https://fnet.bmfbovespa.com.br/fnet/publico/visualizarDocumento?id=1268268 · Observação: Classes jurídicas identificadas; não implica que todas as séries históricas continuem em circulação.</a:t>
            </a:r>
          </a:p>
          <a:p>
            <a:r>
              <a:t>CNPJ 54218941000125 · Classes/séries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Classes/séries · Sênior e subordinadas; séries e eventuais mezaninos conforme apêndices e atos lidos · Fundos.NET ID 1072799 | 22/12/2025 | Regulamento | p. 33, Anexo I, composição/emissões | data/raw/54219179000100/1072799_review_20261007.pdf | https://fnet.bmfbovespa.com.br/fnet/publico/visualizarDocumento?id=1072799 · Observação: Classes jurídicas identificadas; não implica que todas as séries históricas continuem em circulação.</a:t>
            </a:r>
          </a:p>
          <a:p>
            <a:r>
              <a:t>CNPJ 54248022000102 · Classes/séries · Sênior e subordinadas; séries e eventuais mezaninos conforme apêndices e atos lidos · Fundos.NET ID 1285773 | 11/08/2026 | Regulamento | p. 33, Anexo I, composição/emissões | data/raw/54248022000102/1285773_review_20261007.pdf | https://fnet.bmfbovespa.com.br/fnet/publico/visualizarDocumento?id=1285773 · Observação: Classes jurídicas identificadas; não implica que todas as séries históricas continuem em circulação.</a:t>
            </a:r>
          </a:p>
          <a:p>
            <a:r>
              <a:t>CNPJ 57609282000146 · Classes/séries · Sênior 1ª, mezanino 1ª e subordinada júnior 1ª 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Classes/séries · Seniores 1ª/2ª; mezanino A/B 1ª; júnior; termos finais além do anúncio pendentes · Fundos.NET ID 884542 | 24/04/2025 | Anúncio de Encerramento | p. 1–2, anúncio encerramento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Classes/séries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42102603000144 · Remuneração · 1ª série: CDI + 1,37% a.a.; Não localizado na documentação acessível; Residual conforme waterfall; taxa fixa final não localizada · Fundos.NET ID 733239 | 05/09/2024 | Regulamento | p. 113, apêndice1ªsériesênior | data/raw/42102603000144/733239_review_20261007.pdf | https://fnet.bmfbovespa.com.br/fnet/publico/visualizarDocumento?id=733239 |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| Fundos.NET ID 733239 | 05/09/2024 | Regulamento | p. 3, Anexo I, características das cotas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44124617000194 · Remuneração · 1ª série: CDI + 1,35% a.a.; Não localizado na documentação acessível; Residual conforme waterfall; taxa fixa final não localizada · Fundos.NET ID 1337401 | 01/10/2026 | Regulamento | p. 116, apêndice1ªsériesênior | data/raw/44124617000194/1337401_review_20261007.pdf | https://fnet.bmfbovespa.com.br/fnet/publico/visualizarDocumento?id=1337401 | Inventário por CNPJ 44124617000194, consulta Fundos.NET em 07/10/2026: 104 documentos listados; listagem pública obtida.  PDFs efetivamente revistos: 1337401. ID1153057: Falha de rede ao acessar downloadDocumento: The read operation timed out | Fundos.NET ID 1337401 | 01/10/2026 | Regulamento | p. 3, Anexo I, características das cotas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54218673000141 · Remuneração · 1ª série: DI + 1,20% a.a. (capitalização exponencial); Não localizado na documentação acessível; Residual conforme waterfall; taxa fixa final não localizada · Fundos.NET ID 1268268 | 28/07/2026 | Regulamento | p. 118, apêndice1ªsériesênior | data/raw/54218673000141/1268268_review_20261007.pdf | https://fnet.bmfbovespa.com.br/fnet/publico/visualizarDocumento?id=1268268 | Inventário por CNPJ 54218673000141, consulta Fundos.NET em 07/10/2026: 66 documentos listados; listagem pública obtida.  PDFs efetivamente revistos: 1268268, 643434. ID1151722: Falha de rede ao acessar downloadDocumento: The read operation timed out | Fundos.NET ID 1268268 | 28/07/2026 | Regulamento | p. 5, Anexo I, características das cotas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54218941000125 · Remuneração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· Não localizado na documentação acessível; Residual conforme waterfall; taxa fixa final não localizada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| Fundos.NET ID 1072799 | 22/12/2025 | Regulamento | p. 4, Anexo I, características das cotas | data/raw/54219179000100/1072799_review_20261007.pdf | https://fnet.bmfbovespa.com.br/fnet/publico/visualizarDocumento?id=1072799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54248022000102 · Remuneração · 1ª série: DI + 3,00% a.a. (capitalização exponencial); Não localizado na documentação acessível; Residual conforme waterfall; taxa fixa final não localizada · Fundos.NET ID 1285773 | 11/08/2026 | Regulamento | p. 123, apêndice1ªsériesênior | data/raw/54248022000102/1285773_review_20261007.pdf | https://fnet.bmfbovespa.com.br/fnet/publico/visualizarDocumento?id=1285773 | Inventário por CNPJ 54248022000102, consulta Fundos.NET em 07/10/2026: 69 documentos listados; listagem pública obtida.  PDFs efetivamente revistos: 1285773, 643430, 1151750. Não foi identificado termo específico na revisão. | Fundos.NET ID 1285773 | 11/08/2026 | Regulamento | p. 35, Anexo I, características das cotas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57609282000146 · Remuneração · 1ª série: DI + 0,85% a.a.; 1ª série: DI + 3,85% a.a.; Residual conforme waterfall; taxa fixa final não localizada · Fundos.NET ID 993693 | 04/09/2025 | Regulamento | p. 125, apêndices efetivamente preenchidos | data/raw/57609282000146/993693_review_20261007.pdf | https://fnet.bmfbovespa.com.br/fnet/publico/visualizarDocumento?id=993693 | Fundos.NET ID 993693 | 04/09/2025 | Regulamento | p. 128, apêndices efetivamente preenchidos | data/raw/57609282000146/993693_review_20261007.pdf | https://fnet.bmfbovespa.com.br/fnet/publico/visualizarDocumento?id=993693 | Fundos.NET ID 993693 | 04/09/2025 | Regulamento | p. 4, Anexo I, características das cotas | data/raw/57609282000146/993693_review_20261007.pdf | https://fnet.bmfbovespa.com.br/fnet/publico/visualizarDocumento?id=993693 · Observação: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60356171000180 · Remuneração · Taxa DI + spread final não localizado; modelos com [=] não fixam taxa contratada; Taxa DI + spreads A/B finais não localizados; suplementos-modelo com [=]; Residual conforme waterfall; taxa fixa final não localizada · Fundos.NET ID 993687 | 04/09/2025 | Regulamento | p. 121–129, apêndices-modelo | data/raw/60356171000180/993687_review_20261007.pdf | https://fnet.bmfbovespa.com.br/fnet/publico/visualizarDocumento?id=993687 | Fundos.NET ID 993687 | 04/09/2025 | Regulamento | p. 125–129, apêndices-modelo | data/raw/60356171000180/993687_review_20261007.pdf | https://fnet.bmfbovespa.com.br/fnet/publico/visualizarDocumento?id=993687 | Fundos.NET ID 993687 | 04/09/2025 | Regulamento | p. 4, Anexo I, características das cotas | data/raw/60356171000180/993687_review_20261007.pdf | https://fnet.bmfbovespa.com.br/fnet/publico/visualizarDocumento?id=993687 · Observação: Os números por extenso em modelos não comprovam taxa final; ato ID883903 possui texto codificado ilegível/OCR necessário.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62393679000183 · Remuneração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Volume/VNU · 1ª série: R$ 950.000.000,00;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Volume/VNU · 1ª série: R$ 1.500.000.000,00;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Volume/VNU · 1ª série: R$ 877.500.000,00 inicial; máximo R$ 1.140.750.000,00;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Volume/VNU · 1ª sênior: R$ 291.000.000,00 distribuídos; R$ 1.000,00 de emissão · Fundos.NET ID 643432 | 22/04/2024 | Anúncio de Encerramento | p. 1–3, encerramentodeoferta | data/raw/54218941000125/643432_review_20261007.pdf | https://fnet.bmfbovespa.com.br/fnet/publico/visualizarDocumento?id=643432 |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Volume/VNU · 1ª sênior: R$ 142.500.000,00 distribuídos; R$ 1.000,00 de emissão · Fundos.NET ID 643431 | 22/04/2024 | Anúncio de Encerramento | p. 1–3, encerramentodeoferta | data/raw/54219179000100/643431_review_20261007.pdf | https://fnet.bmfbovespa.com.br/fnet/publico/visualizarDocumento?id=643431 |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Volume/VNU · 1ª série: R$ 120.000.000,00 inicial; máximo R$ 156.000.000,00;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Volume/VNU · Sênior R$ 2.245.625.000; mezanino R$ 347.538.000; júnior R$ 90.000.000;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Volume/VNU · Oferta R$ 3.141.592.653,59: S1 R$ 1,65 bi; S2 R$ 1.070.554.462; MA R$ 226.712.872; MB R$ 194.325.319,59; S1/S2/MA R$ 1,00; MB R$ 12,23 na primeira integralização · Fundos.NET ID 884542 | 24/04/2025 | Anúncio de Encerramento | p. 2, volume ofertado/distribuição | data/raw/60356171000180/884542_review_20261007.pdf | https://fnet.bmfbovespa.com.br/fnet/publico/visualizarDocumento?id=884542 |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Volume/VNU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Ofertas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Ofertas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Ofertas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Ofertas · Oferta primária encerrada 22/04/2024; volume distribuído conformeanúncio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Ofertas · Oferta primária encerrada 22/04/2024; volume distribuído conformeanúncio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Ofertas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Ofertas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Ofertas · Oferta primária encerrada 24/04/2025; quatro subclasses/séries do anúncio · Fundos.NET ID 884542 | 24/04/2025 | Anúncio de Encerramento | p. 1–7, encerramento/distribuição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Ofertas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42102603000144 · Remuneração sênior · 1ª série: CDI + 1,37% a.a. · Fundos.NET ID 733239 | 05/09/2024 | Regulamento | p. 113, apêndice1ªsériesênior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</a:t>
            </a:r>
          </a:p>
          <a:p>
            <a:r>
              <a:t>CNPJ 44124617000194 · Remuneração sênior · 1ª série: CDI + 1,35% a.a. · Fundos.NET ID 1337401 | 01/10/2026 | Regulamento | p. 116, apêndice1ªsériesênior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</a:t>
            </a:r>
          </a:p>
          <a:p>
            <a:r>
              <a:t>CNPJ 54218673000141 · Remuneração sênior · 1ª série: DI + 1,20% a.a. (capitalização exponencial) · Fundos.NET ID 1268268 | 28/07/2026 | Regulamento | p. 118, apêndice1ªsériesênior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</a:t>
            </a:r>
          </a:p>
          <a:p>
            <a:r>
              <a:t>CNPJ 54218941000125 · Remuneração sênior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sênior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sênior · 1ª série: DI + 3,00% a.a. (capitalização exponencial) · Fundos.NET ID 1285773 | 11/08/2026 | Regulamento | p. 123, apêndice1ªsériesênior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</a:t>
            </a:r>
          </a:p>
          <a:p>
            <a:r>
              <a:t>CNPJ 57609282000146 · Remuneração sênior · 1ª série: DI + 0,85% a.a. · Fundos.NET ID 993693 | 04/09/2025 | Regulamento | p. 125,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sênior · Taxa DI + spread final não localizado; modelos com [=] não fixam taxa contratada · Fundos.NET ID 993687 | 04/09/2025 | Regulamento | p. 121–129, apêndices-modelo | data/raw/60356171000180/993687_review_20261007.pdf | https://fnet.bmfbovespa.com.br/fnet/publico/visualizarDocumento?id=993687 · Observação: Os números por extenso em modelos não comprovam taxa final; ato ID883903 possui texto codificado ilegível/OCR necessário.</a:t>
            </a:r>
          </a:p>
          <a:p>
            <a:r>
              <a:t>CNPJ 62393679000183 · Remuneração sênior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Remuneração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Remuneração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Remuneração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Remuneração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Remuneração mezanino · 1ª série: DI + 3,85% a.a. · Fundos.NET ID 993693 | 04/09/2025 | Regulamento | p. 128,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mezanino · Taxa DI + spreads A/B finais não localizados; suplementos-modelo com [=] · Fundos.NET ID 993687 | 04/09/2025 | Regulamento | p. 125–129, apêndices-modelo | data/raw/60356171000180/993687_review_20261007.pdf | https://fnet.bmfbovespa.com.br/fnet/publico/visualizarDocumento?id=993687 · Observação: Cláusula documental; emissão e data-base indicadas. Não implica posição atual em circulação.</a:t>
            </a:r>
          </a:p>
          <a:p>
            <a:r>
              <a:t>CNPJ 62393679000183 · Remuneração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Remuneração subordinada · Residual conforme waterfall; taxa fixa final não localizada · Fundos.NET ID 733239 | 05/09/2024 | Regulamento | p. 3, Anexo I, características das cotas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Remuneração subordinada · Residual conforme waterfall; taxa fixa final não localizada · Fundos.NET ID 1337401 | 01/10/2026 | Regulamento | p. 3, Anexo I, características das cotas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Remuneração subordinada · Residual conforme waterfall; taxa fixa final não localizada · Fundos.NET ID 1268268 | 28/07/2026 | Regulamento | p. 5, Anexo I, características das cotas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Remuneração subordinada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subordinada · Residual conforme waterfall; taxa fixa final não localizada · Fundos.NET ID 1072799 | 22/12/2025 | Regulamento | p. 4, Anexo I, características das cotas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Remuneração subordinada · Residual conforme waterfall; taxa fixa final não localizada · Fundos.NET ID 1285773 | 11/08/2026 | Regulamento | p. 35, Anexo I, características das cotas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Remuneração subordinada · Residual conforme waterfall; taxa fixa final não localizada · Fundos.NET ID 993693 | 04/09/2025 | Regulamento | p. 4, Anexo I, características das cotas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Remuneração subordinada · Residual conforme waterfall; taxa fixa final não localizada · Fundos.NET ID 993687 | 04/09/2025 | Regulamento | p. 4, Anexo I, características das cotas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Remuneração subordinada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 / quantidade · 1ª série: R$ 950.000.000,00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 / quantidade · 1ª série: R$ 1.500.000.000,00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 / quantidade · 1ª série: R$ 877.500.000,00 inicial; máximo R$ 1.140.750.000,00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 / quantidade · 1ª sênior: R$ 291.000.000,00 distribuídos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 / quantidade · 1ª sênior: R$ 142.500.000,00 distribuídos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 / quantidade · 1ª série: R$ 120.000.000,00 inicial; máximo R$ 156.000.000,00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 / quantidade · Sênior R$ 2.245.625.000; mezanino R$ 347.538.000; júnior R$ 90.000.000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 / quantidade · Oferta R$ 3.141.592.653,59: S1 R$ 1,65 bi; S2 R$ 1.070.554.462; MA R$ 226.712.872; MB R$ 194.325.319,59 · Fundos.NET ID 884542 | 24/04/2025 | Anúncio de Encerramento | p. 2, volume ofertado/distribuição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 / quantidade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VNU / preço ·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VNU / preço ·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VNU / preço ·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VNU / preço · R$ 1.000,00 de emissão ·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VNU / preço · R$ 1.000,00 de emissão ·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VNU / preço ·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VNU / preço ·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VNU / preço · S1/S2/MA R$ 1,00; MB R$ 12,23 na primeira integralização ·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VNU / preço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42102603000144 · Classes/séries · Sênior e subordinadas; séries e eventuais mezaninos conforme apêndices e atos lidos · Fundos.NET ID 733239 | 05/09/2024 | Regulamento | p. 34, Anexo I, composição/emissões | data/raw/42102603000144/733239_review_20261007.pdf | https://fnet.bmfbovespa.com.br/fnet/publico/visualizarDocumento?id=733239 · Observação: Classes jurídicas identificadas; não implica que todas as séries históricas continuem em circulação.</a:t>
            </a:r>
          </a:p>
          <a:p>
            <a:r>
              <a:t>CNPJ 44124617000194 · Classes/séries · Sênior e subordinadas; séries e eventuais mezaninos conforme apêndices e atos lidos · Fundos.NET ID 1337401 | 01/10/2026 | Regulamento | p. 34, Anexo I, composição/emissões | data/raw/44124617000194/1337401_review_20261007.pdf | https://fnet.bmfbovespa.com.br/fnet/publico/visualizarDocumento?id=1337401 · Observação: Classes jurídicas identificadas; não implica que todas as séries históricas continuem em circulação.</a:t>
            </a:r>
          </a:p>
          <a:p>
            <a:r>
              <a:t>CNPJ 54218673000141 · Classes/séries · Sênior e subordinadas; séries e eventuais mezaninos conforme apêndices e atos lidos · Fundos.NET ID 1268268 | 28/07/2026 | Regulamento | p. 34, Anexo I, composição/emissões | data/raw/54218673000141/1268268_review_20261007.pdf | https://fnet.bmfbovespa.com.br/fnet/publico/visualizarDocumento?id=1268268 · Observação: Classes jurídicas identificadas; não implica que todas as séries históricas continuem em circulação.</a:t>
            </a:r>
          </a:p>
          <a:p>
            <a:r>
              <a:t>CNPJ 54218941000125 · Classes/séries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Classes/séries · Sênior e subordinadas; séries e eventuais mezaninos conforme apêndices e atos lidos · Fundos.NET ID 1072799 | 22/12/2025 | Regulamento | p. 33, Anexo I, composição/emissões | data/raw/54219179000100/1072799_review_20261007.pdf | https://fnet.bmfbovespa.com.br/fnet/publico/visualizarDocumento?id=1072799 · Observação: Classes jurídicas identificadas; não implica que todas as séries históricas continuem em circulação.</a:t>
            </a:r>
          </a:p>
          <a:p>
            <a:r>
              <a:t>CNPJ 54248022000102 · Classes/séries · Sênior e subordinadas; séries e eventuais mezaninos conforme apêndices e atos lidos · Fundos.NET ID 1285773 | 11/08/2026 | Regulamento | p. 33, Anexo I, composição/emissões | data/raw/54248022000102/1285773_review_20261007.pdf | https://fnet.bmfbovespa.com.br/fnet/publico/visualizarDocumento?id=1285773 · Observação: Classes jurídicas identificadas; não implica que todas as séries históricas continuem em circulação.</a:t>
            </a:r>
          </a:p>
          <a:p>
            <a:r>
              <a:t>CNPJ 57609282000146 · Classes/séries · Sênior 1ª, mezanino 1ª e subordinada júnior 1ª 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Classes/séries · Seniores 1ª/2ª; mezanino A/B 1ª; júnior; termos finais além do anúncio pendentes · Fundos.NET ID 884542 | 24/04/2025 | Anúncio de Encerramento | p. 1–2, anúncio encerramento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Classes/séries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42102603000144 · Remuneração · 1ª série: CDI + 1,37% a.a.; Não localizado na documentação acessível; Residual conforme waterfall; taxa fixa final não localizada · Fundos.NET ID 733239 | 05/09/2024 | Regulamento | p. 113, apêndice1ªsériesênior | data/raw/42102603000144/733239_review_20261007.pdf | https://fnet.bmfbovespa.com.br/fnet/publico/visualizarDocumento?id=733239 |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| Fundos.NET ID 733239 | 05/09/2024 | Regulamento | p. 3, Anexo I, características das cotas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44124617000194 · Remuneração · 1ª série: CDI + 1,35% a.a.; Não localizado na documentação acessível; Residual conforme waterfall; taxa fixa final não localizada · Fundos.NET ID 1337401 | 01/10/2026 | Regulamento | p. 116, apêndice1ªsériesênior | data/raw/44124617000194/1337401_review_20261007.pdf | https://fnet.bmfbovespa.com.br/fnet/publico/visualizarDocumento?id=1337401 | Inventário por CNPJ 44124617000194, consulta Fundos.NET em 07/10/2026: 104 documentos listados; listagem pública obtida.  PDFs efetivamente revistos: 1337401. ID1153057: Falha de rede ao acessar downloadDocumento: The read operation timed out | Fundos.NET ID 1337401 | 01/10/2026 | Regulamento | p. 3, Anexo I, características das cotas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54218673000141 · Remuneração · 1ª série: DI + 1,20% a.a. (capitalização exponencial); Não localizado na documentação acessível; Residual conforme waterfall; taxa fixa final não localizada · Fundos.NET ID 1268268 | 28/07/2026 | Regulamento | p. 118, apêndice1ªsériesênior | data/raw/54218673000141/1268268_review_20261007.pdf | https://fnet.bmfbovespa.com.br/fnet/publico/visualizarDocumento?id=1268268 | Inventário por CNPJ 54218673000141, consulta Fundos.NET em 07/10/2026: 66 documentos listados; listagem pública obtida.  PDFs efetivamente revistos: 1268268, 643434. ID1151722: Falha de rede ao acessar downloadDocumento: The read operation timed out | Fundos.NET ID 1268268 | 28/07/2026 | Regulamento | p. 5, Anexo I, características das cotas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54218941000125 · Remuneração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· Não localizado na documentação acessível; Residual conforme waterfall; taxa fixa final não localizada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| Fundos.NET ID 1072799 | 22/12/2025 | Regulamento | p. 4, Anexo I, características das cotas | data/raw/54219179000100/1072799_review_20261007.pdf | https://fnet.bmfbovespa.com.br/fnet/publico/visualizarDocumento?id=1072799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54248022000102 · Remuneração · 1ª série: DI + 3,00% a.a. (capitalização exponencial); Não localizado na documentação acessível; Residual conforme waterfall; taxa fixa final não localizada · Fundos.NET ID 1285773 | 11/08/2026 | Regulamento | p. 123, apêndice1ªsériesênior | data/raw/54248022000102/1285773_review_20261007.pdf | https://fnet.bmfbovespa.com.br/fnet/publico/visualizarDocumento?id=1285773 | Inventário por CNPJ 54248022000102, consulta Fundos.NET em 07/10/2026: 69 documentos listados; listagem pública obtida.  PDFs efetivamente revistos: 1285773, 643430, 1151750. Não foi identificado termo específico na revisão. | Fundos.NET ID 1285773 | 11/08/2026 | Regulamento | p. 35, Anexo I, características das cotas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57609282000146 · Remuneração · 1ª série: DI + 0,85% a.a.; 1ª série: DI + 3,85% a.a.; Residual conforme waterfall; taxa fixa final não localizada · Fundos.NET ID 993693 | 04/09/2025 | Regulamento | p. 125, apêndices efetivamente preenchidos | data/raw/57609282000146/993693_review_20261007.pdf | https://fnet.bmfbovespa.com.br/fnet/publico/visualizarDocumento?id=993693 | Fundos.NET ID 993693 | 04/09/2025 | Regulamento | p. 128, apêndices efetivamente preenchidos | data/raw/57609282000146/993693_review_20261007.pdf | https://fnet.bmfbovespa.com.br/fnet/publico/visualizarDocumento?id=993693 | Fundos.NET ID 993693 | 04/09/2025 | Regulamento | p. 4, Anexo I, características das cotas | data/raw/57609282000146/993693_review_20261007.pdf | https://fnet.bmfbovespa.com.br/fnet/publico/visualizarDocumento?id=993693 · Observação: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60356171000180 · Remuneração · Taxa DI + spread final não localizado; modelos com [=] não fixam taxa contratada; Taxa DI + spreads A/B finais não localizados; suplementos-modelo com [=]; Residual conforme waterfall; taxa fixa final não localizada · Fundos.NET ID 993687 | 04/09/2025 | Regulamento | p. 121–129, apêndices-modelo | data/raw/60356171000180/993687_review_20261007.pdf | https://fnet.bmfbovespa.com.br/fnet/publico/visualizarDocumento?id=993687 | Fundos.NET ID 993687 | 04/09/2025 | Regulamento | p. 125–129, apêndices-modelo | data/raw/60356171000180/993687_review_20261007.pdf | https://fnet.bmfbovespa.com.br/fnet/publico/visualizarDocumento?id=993687 | Fundos.NET ID 993687 | 04/09/2025 | Regulamento | p. 4, Anexo I, características das cotas | data/raw/60356171000180/993687_review_20261007.pdf | https://fnet.bmfbovespa.com.br/fnet/publico/visualizarDocumento?id=993687 · Observação: Os números por extenso em modelos não comprovam taxa final; ato ID883903 possui texto codificado ilegível/OCR necessário.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62393679000183 · Remuneração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Volume/VNU · 1ª série: R$ 950.000.000,00;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Volume/VNU · 1ª série: R$ 1.500.000.000,00;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Volume/VNU · 1ª série: R$ 877.500.000,00 inicial; máximo R$ 1.140.750.000,00;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Volume/VNU · 1ª sênior: R$ 291.000.000,00 distribuídos; R$ 1.000,00 de emissão · Fundos.NET ID 643432 | 22/04/2024 | Anúncio de Encerramento | p. 1–3, encerramentodeoferta | data/raw/54218941000125/643432_review_20261007.pdf | https://fnet.bmfbovespa.com.br/fnet/publico/visualizarDocumento?id=643432 |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Volume/VNU · 1ª sênior: R$ 142.500.000,00 distribuídos; R$ 1.000,00 de emissão · Fundos.NET ID 643431 | 22/04/2024 | Anúncio de Encerramento | p. 1–3, encerramentodeoferta | data/raw/54219179000100/643431_review_20261007.pdf | https://fnet.bmfbovespa.com.br/fnet/publico/visualizarDocumento?id=643431 |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Volume/VNU · 1ª série: R$ 120.000.000,00 inicial; máximo R$ 156.000.000,00;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Volume/VNU · Sênior R$ 2.245.625.000; mezanino R$ 347.538.000; júnior R$ 90.000.000;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Volume/VNU · Oferta R$ 3.141.592.653,59: S1 R$ 1,65 bi; S2 R$ 1.070.554.462; MA R$ 226.712.872; MB R$ 194.325.319,59; S1/S2/MA R$ 1,00; MB R$ 12,23 na primeira integralização · Fundos.NET ID 884542 | 24/04/2025 | Anúncio de Encerramento | p. 2, volume ofertado/distribuição | data/raw/60356171000180/884542_review_20261007.pdf | https://fnet.bmfbovespa.com.br/fnet/publico/visualizarDocumento?id=884542 |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Volume/VNU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Ofertas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Ofertas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Ofertas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Ofertas · Oferta primária encerrada 22/04/2024; volume distribuído conformeanúncio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Ofertas · Oferta primária encerrada 22/04/2024; volume distribuído conformeanúncio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Ofertas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Ofertas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Ofertas · Oferta primária encerrada 24/04/2025; quatro subclasses/séries do anúncio · Fundos.NET ID 884542 | 24/04/2025 | Anúncio de Encerramento | p. 1–7, encerramento/distribuição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Ofertas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42102603000144 · Remuneração sênior · 1ª série: CDI + 1,37% a.a. · Fundos.NET ID 733239 | 05/09/2024 | Regulamento | p. 113, apêndice1ªsériesênior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</a:t>
            </a:r>
          </a:p>
          <a:p>
            <a:r>
              <a:t>CNPJ 44124617000194 · Remuneração sênior · 1ª série: CDI + 1,35% a.a. · Fundos.NET ID 1337401 | 01/10/2026 | Regulamento | p. 116, apêndice1ªsériesênior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</a:t>
            </a:r>
          </a:p>
          <a:p>
            <a:r>
              <a:t>CNPJ 54218673000141 · Remuneração sênior · 1ª série: DI + 1,20% a.a. (capitalização exponencial) · Fundos.NET ID 1268268 | 28/07/2026 | Regulamento | p. 118, apêndice1ªsériesênior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</a:t>
            </a:r>
          </a:p>
          <a:p>
            <a:r>
              <a:t>CNPJ 54218941000125 · Remuneração sênior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sênior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sênior · 1ª série: DI + 3,00% a.a. (capitalização exponencial) · Fundos.NET ID 1285773 | 11/08/2026 | Regulamento | p. 123, apêndice1ªsériesênior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</a:t>
            </a:r>
          </a:p>
          <a:p>
            <a:r>
              <a:t>CNPJ 57609282000146 · Remuneração sênior · 1ª série: DI + 0,85% a.a. · Fundos.NET ID 993693 | 04/09/2025 | Regulamento | p. 125,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sênior · Taxa DI + spread final não localizado; modelos com [=] não fixam taxa contratada · Fundos.NET ID 993687 | 04/09/2025 | Regulamento | p. 121–129, apêndices-modelo | data/raw/60356171000180/993687_review_20261007.pdf | https://fnet.bmfbovespa.com.br/fnet/publico/visualizarDocumento?id=993687 · Observação: Os números por extenso em modelos não comprovam taxa final; ato ID883903 possui texto codificado ilegível/OCR necessário.</a:t>
            </a:r>
          </a:p>
          <a:p>
            <a:r>
              <a:t>CNPJ 62393679000183 · Remuneração sênior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Remuneração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Remuneração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Remuneração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Remuneração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Remuneração mezanino · 1ª série: DI + 3,85% a.a. · Fundos.NET ID 993693 | 04/09/2025 | Regulamento | p. 128,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mezanino · Taxa DI + spreads A/B finais não localizados; suplementos-modelo com [=] · Fundos.NET ID 993687 | 04/09/2025 | Regulamento | p. 125–129, apêndices-modelo | data/raw/60356171000180/993687_review_20261007.pdf | https://fnet.bmfbovespa.com.br/fnet/publico/visualizarDocumento?id=993687 · Observação: Cláusula documental; emissão e data-base indicadas. Não implica posição atual em circulação.</a:t>
            </a:r>
          </a:p>
          <a:p>
            <a:r>
              <a:t>CNPJ 62393679000183 · Remuneração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Remuneração subordinada · Residual conforme waterfall; taxa fixa final não localizada · Fundos.NET ID 733239 | 05/09/2024 | Regulamento | p. 3, Anexo I, características das cotas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Remuneração subordinada · Residual conforme waterfall; taxa fixa final não localizada · Fundos.NET ID 1337401 | 01/10/2026 | Regulamento | p. 3, Anexo I, características das cotas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Remuneração subordinada · Residual conforme waterfall; taxa fixa final não localizada · Fundos.NET ID 1268268 | 28/07/2026 | Regulamento | p. 5, Anexo I, características das cotas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Remuneração subordinada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subordinada · Residual conforme waterfall; taxa fixa final não localizada · Fundos.NET ID 1072799 | 22/12/2025 | Regulamento | p. 4, Anexo I, características das cotas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Remuneração subordinada · Residual conforme waterfall; taxa fixa final não localizada · Fundos.NET ID 1285773 | 11/08/2026 | Regulamento | p. 35, Anexo I, características das cotas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Remuneração subordinada · Residual conforme waterfall; taxa fixa final não localizada · Fundos.NET ID 993693 | 04/09/2025 | Regulamento | p. 4, Anexo I, características das cotas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Remuneração subordinada · Residual conforme waterfall; taxa fixa final não localizada · Fundos.NET ID 993687 | 04/09/2025 | Regulamento | p. 4, Anexo I, características das cotas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Remuneração subordinada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 / quantidade · 1ª série: R$ 950.000.000,00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 / quantidade · 1ª série: R$ 1.500.000.000,00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 / quantidade · 1ª série: R$ 877.500.000,00 inicial; máximo R$ 1.140.750.000,00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 / quantidade · 1ª sênior: R$ 291.000.000,00 distribuídos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 / quantidade · 1ª sênior: R$ 142.500.000,00 distribuídos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 / quantidade · 1ª série: R$ 120.000.000,00 inicial; máximo R$ 156.000.000,00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 / quantidade · Sênior R$ 2.245.625.000; mezanino R$ 347.538.000; júnior R$ 90.000.000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 / quantidade · Oferta R$ 3.141.592.653,59: S1 R$ 1,65 bi; S2 R$ 1.070.554.462; MA R$ 226.712.872; MB R$ 194.325.319,59 · Fundos.NET ID 884542 | 24/04/2025 | Anúncio de Encerramento | p. 2, volume ofertado/distribuição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 / quantidade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VNU / preço ·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VNU / preço ·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VNU / preço ·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VNU / preço · R$ 1.000,00 de emissão ·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VNU / preço · R$ 1.000,00 de emissão ·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VNU / preço ·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VNU / preço ·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VNU / preço · S1/S2/MA R$ 1,00; MB R$ 12,23 na primeira integralização ·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VNU / preço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42102603000144 · Classes/séries · Sênior e subordinadas; séries e eventuais mezaninos conforme apêndices e atos lidos · Fundos.NET ID 733239 | 05/09/2024 | Regulamento | p. 34, Anexo I, composição/emissões | data/raw/42102603000144/733239_review_20261007.pdf | https://fnet.bmfbovespa.com.br/fnet/publico/visualizarDocumento?id=733239 · Observação: Classes jurídicas identificadas; não implica que todas as séries históricas continuem em circulação.</a:t>
            </a:r>
          </a:p>
          <a:p>
            <a:r>
              <a:t>CNPJ 44124617000194 · Classes/séries · Sênior e subordinadas; séries e eventuais mezaninos conforme apêndices e atos lidos · Fundos.NET ID 1337401 | 01/10/2026 | Regulamento | p. 34, Anexo I, composição/emissões | data/raw/44124617000194/1337401_review_20261007.pdf | https://fnet.bmfbovespa.com.br/fnet/publico/visualizarDocumento?id=1337401 · Observação: Classes jurídicas identificadas; não implica que todas as séries históricas continuem em circulação.</a:t>
            </a:r>
          </a:p>
          <a:p>
            <a:r>
              <a:t>CNPJ 54218673000141 · Classes/séries · Sênior e subordinadas; séries e eventuais mezaninos conforme apêndices e atos lidos · Fundos.NET ID 1268268 | 28/07/2026 | Regulamento | p. 34, Anexo I, composição/emissões | data/raw/54218673000141/1268268_review_20261007.pdf | https://fnet.bmfbovespa.com.br/fnet/publico/visualizarDocumento?id=1268268 · Observação: Classes jurídicas identificadas; não implica que todas as séries históricas continuem em circulação.</a:t>
            </a:r>
          </a:p>
          <a:p>
            <a:r>
              <a:t>CNPJ 54218941000125 · Classes/séries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Classes/séries · Sênior e subordinadas; séries e eventuais mezaninos conforme apêndices e atos lidos · Fundos.NET ID 1072799 | 22/12/2025 | Regulamento | p. 33, Anexo I, composição/emissões | data/raw/54219179000100/1072799_review_20261007.pdf | https://fnet.bmfbovespa.com.br/fnet/publico/visualizarDocumento?id=1072799 · Observação: Classes jurídicas identificadas; não implica que todas as séries históricas continuem em circulação.</a:t>
            </a:r>
          </a:p>
          <a:p>
            <a:r>
              <a:t>CNPJ 54248022000102 · Classes/séries · Sênior e subordinadas; séries e eventuais mezaninos conforme apêndices e atos lidos · Fundos.NET ID 1285773 | 11/08/2026 | Regulamento | p. 33, Anexo I, composição/emissões | data/raw/54248022000102/1285773_review_20261007.pdf | https://fnet.bmfbovespa.com.br/fnet/publico/visualizarDocumento?id=1285773 · Observação: Classes jurídicas identificadas; não implica que todas as séries históricas continuem em circulação.</a:t>
            </a:r>
          </a:p>
          <a:p>
            <a:r>
              <a:t>CNPJ 57609282000146 · Classes/séries · Sênior 1ª, mezanino 1ª e subordinada júnior 1ª 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Classes/séries · Seniores 1ª/2ª; mezanino A/B 1ª; júnior; termos finais além do anúncio pendentes · Fundos.NET ID 884542 | 24/04/2025 | Anúncio de Encerramento | p. 1–2, anúncio encerramento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Classes/séries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42102603000144 · Remuneração · 1ª série: CDI + 1,37% a.a.; Não localizado na documentação acessível; Residual conforme waterfall; taxa fixa final não localizada · Fundos.NET ID 733239 | 05/09/2024 | Regulamento | p. 113, apêndice1ªsériesênior | data/raw/42102603000144/733239_review_20261007.pdf | https://fnet.bmfbovespa.com.br/fnet/publico/visualizarDocumento?id=733239 |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| Fundos.NET ID 733239 | 05/09/2024 | Regulamento | p. 3, Anexo I, características das cotas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44124617000194 · Remuneração · 1ª série: CDI + 1,35% a.a.; Não localizado na documentação acessível; Residual conforme waterfall; taxa fixa final não localizada · Fundos.NET ID 1337401 | 01/10/2026 | Regulamento | p. 116, apêndice1ªsériesênior | data/raw/44124617000194/1337401_review_20261007.pdf | https://fnet.bmfbovespa.com.br/fnet/publico/visualizarDocumento?id=1337401 | Inventário por CNPJ 44124617000194, consulta Fundos.NET em 07/10/2026: 104 documentos listados; listagem pública obtida.  PDFs efetivamente revistos: 1337401. ID1153057: Falha de rede ao acessar downloadDocumento: The read operation timed out | Fundos.NET ID 1337401 | 01/10/2026 | Regulamento | p. 3, Anexo I, características das cotas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54218673000141 · Remuneração · 1ª série: DI + 1,20% a.a. (capitalização exponencial); Não localizado na documentação acessível; Residual conforme waterfall; taxa fixa final não localizada · Fundos.NET ID 1268268 | 28/07/2026 | Regulamento | p. 118, apêndice1ªsériesênior | data/raw/54218673000141/1268268_review_20261007.pdf | https://fnet.bmfbovespa.com.br/fnet/publico/visualizarDocumento?id=1268268 | Inventário por CNPJ 54218673000141, consulta Fundos.NET em 07/10/2026: 66 documentos listados; listagem pública obtida.  PDFs efetivamente revistos: 1268268, 643434. ID1151722: Falha de rede ao acessar downloadDocumento: The read operation timed out | Fundos.NET ID 1268268 | 28/07/2026 | Regulamento | p. 5, Anexo I, características das cotas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54218941000125 · Remuneração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· Não localizado na documentação acessível; Residual conforme waterfall; taxa fixa final não localizada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| Fundos.NET ID 1072799 | 22/12/2025 | Regulamento | p. 4, Anexo I, características das cotas | data/raw/54219179000100/1072799_review_20261007.pdf | https://fnet.bmfbovespa.com.br/fnet/publico/visualizarDocumento?id=1072799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54248022000102 · Remuneração · 1ª série: DI + 3,00% a.a. (capitalização exponencial); Não localizado na documentação acessível; Residual conforme waterfall; taxa fixa final não localizada · Fundos.NET ID 1285773 | 11/08/2026 | Regulamento | p. 123, apêndice1ªsériesênior | data/raw/54248022000102/1285773_review_20261007.pdf | https://fnet.bmfbovespa.com.br/fnet/publico/visualizarDocumento?id=1285773 | Inventário por CNPJ 54248022000102, consulta Fundos.NET em 07/10/2026: 69 documentos listados; listagem pública obtida.  PDFs efetivamente revistos: 1285773, 643430, 1151750. Não foi identificado termo específico na revisão. | Fundos.NET ID 1285773 | 11/08/2026 | Regulamento | p. 35, Anexo I, características das cotas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57609282000146 · Remuneração · 1ª série: DI + 0,85% a.a.; 1ª série: DI + 3,85% a.a.; Residual conforme waterfall; taxa fixa final não localizada · Fundos.NET ID 993693 | 04/09/2025 | Regulamento | p. 125, apêndices efetivamente preenchidos | data/raw/57609282000146/993693_review_20261007.pdf | https://fnet.bmfbovespa.com.br/fnet/publico/visualizarDocumento?id=993693 | Fundos.NET ID 993693 | 04/09/2025 | Regulamento | p. 128, apêndices efetivamente preenchidos | data/raw/57609282000146/993693_review_20261007.pdf | https://fnet.bmfbovespa.com.br/fnet/publico/visualizarDocumento?id=993693 | Fundos.NET ID 993693 | 04/09/2025 | Regulamento | p. 4, Anexo I, características das cotas | data/raw/57609282000146/993693_review_20261007.pdf | https://fnet.bmfbovespa.com.br/fnet/publico/visualizarDocumento?id=993693 · Observação: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60356171000180 · Remuneração · Taxa DI + spread final não localizado; modelos com [=] não fixam taxa contratada; Taxa DI + spreads A/B finais não localizados; suplementos-modelo com [=]; Residual conforme waterfall; taxa fixa final não localizada · Fundos.NET ID 993687 | 04/09/2025 | Regulamento | p. 121–129, apêndices-modelo | data/raw/60356171000180/993687_review_20261007.pdf | https://fnet.bmfbovespa.com.br/fnet/publico/visualizarDocumento?id=993687 | Fundos.NET ID 993687 | 04/09/2025 | Regulamento | p. 125–129, apêndices-modelo | data/raw/60356171000180/993687_review_20261007.pdf | https://fnet.bmfbovespa.com.br/fnet/publico/visualizarDocumento?id=993687 | Fundos.NET ID 993687 | 04/09/2025 | Regulamento | p. 4, Anexo I, características das cotas | data/raw/60356171000180/993687_review_20261007.pdf | https://fnet.bmfbovespa.com.br/fnet/publico/visualizarDocumento?id=993687 · Observação: Os números por extenso em modelos não comprovam taxa final; ato ID883903 possui texto codificado ilegível/OCR necessário.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62393679000183 · Remuneração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Volume/VNU · 1ª série: R$ 950.000.000,00;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Volume/VNU · 1ª série: R$ 1.500.000.000,00;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Volume/VNU · 1ª série: R$ 877.500.000,00 inicial; máximo R$ 1.140.750.000,00;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Volume/VNU · 1ª sênior: R$ 291.000.000,00 distribuídos; R$ 1.000,00 de emissão · Fundos.NET ID 643432 | 22/04/2024 | Anúncio de Encerramento | p. 1–3, encerramentodeoferta | data/raw/54218941000125/643432_review_20261007.pdf | https://fnet.bmfbovespa.com.br/fnet/publico/visualizarDocumento?id=643432 |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Volume/VNU · 1ª sênior: R$ 142.500.000,00 distribuídos; R$ 1.000,00 de emissão · Fundos.NET ID 643431 | 22/04/2024 | Anúncio de Encerramento | p. 1–3, encerramentodeoferta | data/raw/54219179000100/643431_review_20261007.pdf | https://fnet.bmfbovespa.com.br/fnet/publico/visualizarDocumento?id=643431 |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Volume/VNU · 1ª série: R$ 120.000.000,00 inicial; máximo R$ 156.000.000,00;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Volume/VNU · Sênior R$ 2.245.625.000; mezanino R$ 347.538.000; júnior R$ 90.000.000;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Volume/VNU · Oferta R$ 3.141.592.653,59: S1 R$ 1,65 bi; S2 R$ 1.070.554.462; MA R$ 226.712.872; MB R$ 194.325.319,59; S1/S2/MA R$ 1,00; MB R$ 12,23 na primeira integralização · Fundos.NET ID 884542 | 24/04/2025 | Anúncio de Encerramento | p. 2, volume ofertado/distribuição | data/raw/60356171000180/884542_review_20261007.pdf | https://fnet.bmfbovespa.com.br/fnet/publico/visualizarDocumento?id=884542 |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Volume/VNU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Ofertas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Ofertas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Ofertas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Ofertas · Oferta primária encerrada 22/04/2024; volume distribuído conformeanúncio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Ofertas · Oferta primária encerrada 22/04/2024; volume distribuído conformeanúncio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Ofertas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Ofertas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Ofertas · Oferta primária encerrada 24/04/2025; quatro subclasses/séries do anúncio · Fundos.NET ID 884542 | 24/04/2025 | Anúncio de Encerramento | p. 1–7, encerramento/distribuição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Ofertas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42102603000144 · Remuneração sênior · 1ª série: CDI + 1,37% a.a. · Fundos.NET ID 733239 | 05/09/2024 | Regulamento | p. 113, apêndice1ªsériesênior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</a:t>
            </a:r>
          </a:p>
          <a:p>
            <a:r>
              <a:t>CNPJ 44124617000194 · Remuneração sênior · 1ª série: CDI + 1,35% a.a. · Fundos.NET ID 1337401 | 01/10/2026 | Regulamento | p. 116, apêndice1ªsériesênior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</a:t>
            </a:r>
          </a:p>
          <a:p>
            <a:r>
              <a:t>CNPJ 54218673000141 · Remuneração sênior · 1ª série: DI + 1,20% a.a. (capitalização exponencial) · Fundos.NET ID 1268268 | 28/07/2026 | Regulamento | p. 118, apêndice1ªsériesênior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</a:t>
            </a:r>
          </a:p>
          <a:p>
            <a:r>
              <a:t>CNPJ 54218941000125 · Remuneração sênior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sênior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sênior · 1ª série: DI + 3,00% a.a. (capitalização exponencial) · Fundos.NET ID 1285773 | 11/08/2026 | Regulamento | p. 123, apêndice1ªsériesênior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</a:t>
            </a:r>
          </a:p>
          <a:p>
            <a:r>
              <a:t>CNPJ 57609282000146 · Remuneração sênior · 1ª série: DI + 0,85% a.a. · Fundos.NET ID 993693 | 04/09/2025 | Regulamento | p. 125,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sênior · Taxa DI + spread final não localizado; modelos com [=] não fixam taxa contratada · Fundos.NET ID 993687 | 04/09/2025 | Regulamento | p. 121–129, apêndices-modelo | data/raw/60356171000180/993687_review_20261007.pdf | https://fnet.bmfbovespa.com.br/fnet/publico/visualizarDocumento?id=993687 · Observação: Os números por extenso em modelos não comprovam taxa final; ato ID883903 possui texto codificado ilegível/OCR necessário.</a:t>
            </a:r>
          </a:p>
          <a:p>
            <a:r>
              <a:t>CNPJ 62393679000183 · Remuneração sênior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Remuneração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Remuneração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Remuneração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Remuneração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Remuneração mezanino · 1ª série: DI + 3,85% a.a. · Fundos.NET ID 993693 | 04/09/2025 | Regulamento | p. 128,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mezanino · Taxa DI + spreads A/B finais não localizados; suplementos-modelo com [=] · Fundos.NET ID 993687 | 04/09/2025 | Regulamento | p. 125–129, apêndices-modelo | data/raw/60356171000180/993687_review_20261007.pdf | https://fnet.bmfbovespa.com.br/fnet/publico/visualizarDocumento?id=993687 · Observação: Cláusula documental; emissão e data-base indicadas. Não implica posição atual em circulação.</a:t>
            </a:r>
          </a:p>
          <a:p>
            <a:r>
              <a:t>CNPJ 62393679000183 · Remuneração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Remuneração subordinada · Residual conforme waterfall; taxa fixa final não localizada · Fundos.NET ID 733239 | 05/09/2024 | Regulamento | p. 3, Anexo I, características das cotas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Remuneração subordinada · Residual conforme waterfall; taxa fixa final não localizada · Fundos.NET ID 1337401 | 01/10/2026 | Regulamento | p. 3, Anexo I, características das cotas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Remuneração subordinada · Residual conforme waterfall; taxa fixa final não localizada · Fundos.NET ID 1268268 | 28/07/2026 | Regulamento | p. 5, Anexo I, características das cotas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Remuneração subordinada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subordinada · Residual conforme waterfall; taxa fixa final não localizada · Fundos.NET ID 1072799 | 22/12/2025 | Regulamento | p. 4, Anexo I, características das cotas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Remuneração subordinada · Residual conforme waterfall; taxa fixa final não localizada · Fundos.NET ID 1285773 | 11/08/2026 | Regulamento | p. 35, Anexo I, características das cotas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Remuneração subordinada · Residual conforme waterfall; taxa fixa final não localizada · Fundos.NET ID 993693 | 04/09/2025 | Regulamento | p. 4, Anexo I, características das cotas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Remuneração subordinada · Residual conforme waterfall; taxa fixa final não localizada · Fundos.NET ID 993687 | 04/09/2025 | Regulamento | p. 4, Anexo I, características das cotas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Remuneração subordinada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 / quantidade · 1ª série: R$ 950.000.000,00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 / quantidade · 1ª série: R$ 1.500.000.000,00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 / quantidade · 1ª série: R$ 877.500.000,00 inicial; máximo R$ 1.140.750.000,00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 / quantidade · 1ª sênior: R$ 291.000.000,00 distribuídos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 / quantidade · 1ª sênior: R$ 142.500.000,00 distribuídos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 / quantidade · 1ª série: R$ 120.000.000,00 inicial; máximo R$ 156.000.000,00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 / quantidade · Sênior R$ 2.245.625.000; mezanino R$ 347.538.000; júnior R$ 90.000.000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 / quantidade · Oferta R$ 3.141.592.653,59: S1 R$ 1,65 bi; S2 R$ 1.070.554.462; MA R$ 226.712.872; MB R$ 194.325.319,59 · Fundos.NET ID 884542 | 24/04/2025 | Anúncio de Encerramento | p. 2, volume ofertado/distribuição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 / quantidade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VNU / preço ·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VNU / preço ·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VNU / preço ·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VNU / preço · R$ 1.000,00 de emissão ·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VNU / preço · R$ 1.000,00 de emissão ·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VNU / preço ·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VNU / preço ·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VNU / preço · S1/S2/MA R$ 1,00; MB R$ 12,23 na primeira integralização ·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VNU / preço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42102603000144 · Classes/séries · Sênior e subordinadas; séries e eventuais mezaninos conforme apêndices e atos lidos · Fundos.NET ID 733239 | 05/09/2024 | Regulamento | p. 34, Anexo I, composição/emissões | data/raw/42102603000144/733239_review_20261007.pdf | https://fnet.bmfbovespa.com.br/fnet/publico/visualizarDocumento?id=733239 · Observação: Classes jurídicas identificadas; não implica que todas as séries históricas continuem em circulação.</a:t>
            </a:r>
          </a:p>
          <a:p>
            <a:r>
              <a:t>CNPJ 44124617000194 · Classes/séries · Sênior e subordinadas; séries e eventuais mezaninos conforme apêndices e atos lidos · Fundos.NET ID 1337401 | 01/10/2026 | Regulamento | p. 34, Anexo I, composição/emissões | data/raw/44124617000194/1337401_review_20261007.pdf | https://fnet.bmfbovespa.com.br/fnet/publico/visualizarDocumento?id=1337401 · Observação: Classes jurídicas identificadas; não implica que todas as séries históricas continuem em circulação.</a:t>
            </a:r>
          </a:p>
          <a:p>
            <a:r>
              <a:t>CNPJ 54218673000141 · Classes/séries · Sênior e subordinadas; séries e eventuais mezaninos conforme apêndices e atos lidos · Fundos.NET ID 1268268 | 28/07/2026 | Regulamento | p. 34, Anexo I, composição/emissões | data/raw/54218673000141/1268268_review_20261007.pdf | https://fnet.bmfbovespa.com.br/fnet/publico/visualizarDocumento?id=1268268 · Observação: Classes jurídicas identificadas; não implica que todas as séries históricas continuem em circulação.</a:t>
            </a:r>
          </a:p>
          <a:p>
            <a:r>
              <a:t>CNPJ 54218941000125 · Classes/séries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Classes/séries · Sênior e subordinadas; séries e eventuais mezaninos conforme apêndices e atos lidos · Fundos.NET ID 1072799 | 22/12/2025 | Regulamento | p. 33, Anexo I, composição/emissões | data/raw/54219179000100/1072799_review_20261007.pdf | https://fnet.bmfbovespa.com.br/fnet/publico/visualizarDocumento?id=1072799 · Observação: Classes jurídicas identificadas; não implica que todas as séries históricas continuem em circulação.</a:t>
            </a:r>
          </a:p>
          <a:p>
            <a:r>
              <a:t>CNPJ 54248022000102 · Classes/séries · Sênior e subordinadas; séries e eventuais mezaninos conforme apêndices e atos lidos · Fundos.NET ID 1285773 | 11/08/2026 | Regulamento | p. 33, Anexo I, composição/emissões | data/raw/54248022000102/1285773_review_20261007.pdf | https://fnet.bmfbovespa.com.br/fnet/publico/visualizarDocumento?id=1285773 · Observação: Classes jurídicas identificadas; não implica que todas as séries históricas continuem em circulação.</a:t>
            </a:r>
          </a:p>
          <a:p>
            <a:r>
              <a:t>CNPJ 57609282000146 · Classes/séries · Sênior 1ª, mezanino 1ª e subordinada júnior 1ª 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Classes/séries · Seniores 1ª/2ª; mezanino A/B 1ª; júnior; termos finais além do anúncio pendentes · Fundos.NET ID 884542 | 24/04/2025 | Anúncio de Encerramento | p. 1–2, anúncio encerramento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Classes/séries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42102603000144 · Remuneração · 1ª série: CDI + 1,37% a.a.; Não localizado na documentação acessível; Residual conforme waterfall; taxa fixa final não localizada · Fundos.NET ID 733239 | 05/09/2024 | Regulamento | p. 113, apêndice1ªsériesênior | data/raw/42102603000144/733239_review_20261007.pdf | https://fnet.bmfbovespa.com.br/fnet/publico/visualizarDocumento?id=733239 |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| Fundos.NET ID 733239 | 05/09/2024 | Regulamento | p. 3, Anexo I, características das cotas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44124617000194 · Remuneração · 1ª série: CDI + 1,35% a.a.; Não localizado na documentação acessível; Residual conforme waterfall; taxa fixa final não localizada · Fundos.NET ID 1337401 | 01/10/2026 | Regulamento | p. 116, apêndice1ªsériesênior | data/raw/44124617000194/1337401_review_20261007.pdf | https://fnet.bmfbovespa.com.br/fnet/publico/visualizarDocumento?id=1337401 | Inventário por CNPJ 44124617000194, consulta Fundos.NET em 07/10/2026: 104 documentos listados; listagem pública obtida.  PDFs efetivamente revistos: 1337401. ID1153057: Falha de rede ao acessar downloadDocumento: The read operation timed out | Fundos.NET ID 1337401 | 01/10/2026 | Regulamento | p. 3, Anexo I, características das cotas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54218673000141 · Remuneração · 1ª série: DI + 1,20% a.a. (capitalização exponencial); Não localizado na documentação acessível; Residual conforme waterfall; taxa fixa final não localizada · Fundos.NET ID 1268268 | 28/07/2026 | Regulamento | p. 118, apêndice1ªsériesênior | data/raw/54218673000141/1268268_review_20261007.pdf | https://fnet.bmfbovespa.com.br/fnet/publico/visualizarDocumento?id=1268268 | Inventário por CNPJ 54218673000141, consulta Fundos.NET em 07/10/2026: 66 documentos listados; listagem pública obtida.  PDFs efetivamente revistos: 1268268, 643434. ID1151722: Falha de rede ao acessar downloadDocumento: The read operation timed out | Fundos.NET ID 1268268 | 28/07/2026 | Regulamento | p. 5, Anexo I, características das cotas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54218941000125 · Remuneração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· Não localizado na documentação acessível; Residual conforme waterfall; taxa fixa final não localizada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| Fundos.NET ID 1072799 | 22/12/2025 | Regulamento | p. 4, Anexo I, características das cotas | data/raw/54219179000100/1072799_review_20261007.pdf | https://fnet.bmfbovespa.com.br/fnet/publico/visualizarDocumento?id=1072799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54248022000102 · Remuneração · 1ª série: DI + 3,00% a.a. (capitalização exponencial); Não localizado na documentação acessível; Residual conforme waterfall; taxa fixa final não localizada · Fundos.NET ID 1285773 | 11/08/2026 | Regulamento | p. 123, apêndice1ªsériesênior | data/raw/54248022000102/1285773_review_20261007.pdf | https://fnet.bmfbovespa.com.br/fnet/publico/visualizarDocumento?id=1285773 | Inventário por CNPJ 54248022000102, consulta Fundos.NET em 07/10/2026: 69 documentos listados; listagem pública obtida.  PDFs efetivamente revistos: 1285773, 643430, 1151750. Não foi identificado termo específico na revisão. | Fundos.NET ID 1285773 | 11/08/2026 | Regulamento | p. 35, Anexo I, características das cotas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57609282000146 · Remuneração · 1ª série: DI + 0,85% a.a.; 1ª série: DI + 3,85% a.a.; Residual conforme waterfall; taxa fixa final não localizada · Fundos.NET ID 993693 | 04/09/2025 | Regulamento | p. 125, apêndices efetivamente preenchidos | data/raw/57609282000146/993693_review_20261007.pdf | https://fnet.bmfbovespa.com.br/fnet/publico/visualizarDocumento?id=993693 | Fundos.NET ID 993693 | 04/09/2025 | Regulamento | p. 128, apêndices efetivamente preenchidos | data/raw/57609282000146/993693_review_20261007.pdf | https://fnet.bmfbovespa.com.br/fnet/publico/visualizarDocumento?id=993693 | Fundos.NET ID 993693 | 04/09/2025 | Regulamento | p. 4, Anexo I, características das cotas | data/raw/57609282000146/993693_review_20261007.pdf | https://fnet.bmfbovespa.com.br/fnet/publico/visualizarDocumento?id=993693 · Observação: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60356171000180 · Remuneração · Taxa DI + spread final não localizado; modelos com [=] não fixam taxa contratada; Taxa DI + spreads A/B finais não localizados; suplementos-modelo com [=]; Residual conforme waterfall; taxa fixa final não localizada · Fundos.NET ID 993687 | 04/09/2025 | Regulamento | p. 121–129, apêndices-modelo | data/raw/60356171000180/993687_review_20261007.pdf | https://fnet.bmfbovespa.com.br/fnet/publico/visualizarDocumento?id=993687 | Fundos.NET ID 993687 | 04/09/2025 | Regulamento | p. 125–129, apêndices-modelo | data/raw/60356171000180/993687_review_20261007.pdf | https://fnet.bmfbovespa.com.br/fnet/publico/visualizarDocumento?id=993687 | Fundos.NET ID 993687 | 04/09/2025 | Regulamento | p. 4, Anexo I, características das cotas | data/raw/60356171000180/993687_review_20261007.pdf | https://fnet.bmfbovespa.com.br/fnet/publico/visualizarDocumento?id=993687 · Observação: Os números por extenso em modelos não comprovam taxa final; ato ID883903 possui texto codificado ilegível/OCR necessário. Cláusula documental; emissão e data-base indicadas. Não implica posição atual em circulação. Cláusula documental; verificar vigência e eventuais aditamentos posteriores.</a:t>
            </a:r>
          </a:p>
          <a:p>
            <a:r>
              <a:t>CNPJ 62393679000183 · Remuneração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Volume/VNU · 1ª série: R$ 950.000.000,00;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Volume/VNU · 1ª série: R$ 1.500.000.000,00;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Volume/VNU · 1ª série: R$ 877.500.000,00 inicial; máximo R$ 1.140.750.000,00;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Volume/VNU · 1ª sênior: R$ 291.000.000,00 distribuídos; R$ 1.000,00 de emissão · Fundos.NET ID 643432 | 22/04/2024 | Anúncio de Encerramento | p. 1–3, encerramentodeoferta | data/raw/54218941000125/643432_review_20261007.pdf | https://fnet.bmfbovespa.com.br/fnet/publico/visualizarDocumento?id=643432 |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Volume/VNU · 1ª sênior: R$ 142.500.000,00 distribuídos; R$ 1.000,00 de emissão · Fundos.NET ID 643431 | 22/04/2024 | Anúncio de Encerramento | p. 1–3, encerramentodeoferta | data/raw/54219179000100/643431_review_20261007.pdf | https://fnet.bmfbovespa.com.br/fnet/publico/visualizarDocumento?id=643431 |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Volume/VNU · 1ª série: R$ 120.000.000,00 inicial; máximo R$ 156.000.000,00;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Volume/VNU · Sênior R$ 2.245.625.000; mezanino R$ 347.538.000; júnior R$ 90.000.000;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Volume/VNU · Oferta R$ 3.141.592.653,59: S1 R$ 1,65 bi; S2 R$ 1.070.554.462; MA R$ 226.712.872; MB R$ 194.325.319,59; S1/S2/MA R$ 1,00; MB R$ 12,23 na primeira integralização · Fundos.NET ID 884542 | 24/04/2025 | Anúncio de Encerramento | p. 2, volume ofertado/distribuição | data/raw/60356171000180/884542_review_20261007.pdf | https://fnet.bmfbovespa.com.br/fnet/publico/visualizarDocumento?id=884542 |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Volume/VNU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Ofertas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Ofertas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Ofertas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Ofertas · Oferta primária encerrada 22/04/2024; volume distribuído conformeanúncio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Ofertas · Oferta primária encerrada 22/04/2024; volume distribuído conformeanúncio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Ofertas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Ofertas · Não localizado na documentação acessível · Inventário por CNPJ 57609282000146, consulta Fundos.NET em 07/10/2026: 66 documentos listados; listagem pública obtida.  PDFs efetivamente revistos: 993693. ID1151110: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60356171000180 · Ofertas · Oferta primária encerrada 24/04/2025; quatro subclasses/séries do anúncio · Fundos.NET ID 884542 | 24/04/2025 | Anúncio de Encerramento | p. 1–7, encerramento/distribuição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Ofertas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42102603000144 · Remuneração sênior · 1ª série: CDI + 1,37% a.a. · Fundos.NET ID 733239 | 05/09/2024 | Regulamento | p. 113, apêndice1ªsériesênior | data/raw/42102603000144/733239_review_20261007.pdf | https://fnet.bmfbovespa.com.br/fnet/publico/visualizarDocumento?id=733239 · Observação: Índice+spread normalizados para comparação; método de capitalização contratual preservado. Termos de emissão não provam saldo vigente.</a:t>
            </a:r>
          </a:p>
          <a:p>
            <a:r>
              <a:t>CNPJ 44124617000194 · Remuneração sênior · 1ª série: CDI + 1,35% a.a. · Fundos.NET ID 1337401 | 01/10/2026 | Regulamento | p. 116, apêndice1ªsériesênior | data/raw/44124617000194/1337401_review_20261007.pdf | https://fnet.bmfbovespa.com.br/fnet/publico/visualizarDocumento?id=1337401 · Observação: Índice+spread normalizados para comparação; método de capitalização contratual preservado. Termos de emissão não provam saldo vigente.</a:t>
            </a:r>
          </a:p>
          <a:p>
            <a:r>
              <a:t>CNPJ 54218673000141 · Remuneração sênior · 1ª série: DI + 1,20% a.a. (capitalização exponencial) · Fundos.NET ID 1268268 | 28/07/2026 | Regulamento | p. 118, apêndice1ªsériesênior | data/raw/54218673000141/1268268_review_20261007.pdf | https://fnet.bmfbovespa.com.br/fnet/publico/visualizarDocumento?id=1268268 · Observação: Índice+spread normalizados para comparação; método de capitalização contratual preservado. Termos de emissão não provam saldo vigente.</a:t>
            </a:r>
          </a:p>
          <a:p>
            <a:r>
              <a:t>CNPJ 54218941000125 · Remuneração sênior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sênior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sênior · 1ª série: DI + 3,00% a.a. (capitalização exponencial) · Fundos.NET ID 1285773 | 11/08/2026 | Regulamento | p. 123, apêndice1ªsériesênior | data/raw/54248022000102/1285773_review_20261007.pdf | https://fnet.bmfbovespa.com.br/fnet/publico/visualizarDocumento?id=1285773 · Observação: Índice+spread normalizados para comparação; método de capitalização contratual preservado. Termos de emissão não provam saldo vigente.</a:t>
            </a:r>
          </a:p>
          <a:p>
            <a:r>
              <a:t>CNPJ 57609282000146 · Remuneração sênior · 1ª série: DI + 0,85% a.a. · Fundos.NET ID 993693 | 04/09/2025 | Regulamento | p. 125,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sênior · Taxa DI + spread final não localizado; modelos com [=] não fixam taxa contratada · Fundos.NET ID 993687 | 04/09/2025 | Regulamento | p. 121–129, apêndices-modelo | data/raw/60356171000180/993687_review_20261007.pdf | https://fnet.bmfbovespa.com.br/fnet/publico/visualizarDocumento?id=993687 · Observação: Os números por extenso em modelos não comprovam taxa final; ato ID883903 possui texto codificado ilegível/OCR necessário.</a:t>
            </a:r>
          </a:p>
          <a:p>
            <a:r>
              <a:t>CNPJ 62393679000183 · Remuneração sênior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42102603000144 · Remuneração mezanino · Não localizado na documentação acessível · Inventário por CNPJ 42102603000144, consulta Fundos.NET em 07/10/2026: 50 documentos listados; Falha de rede ao acessar pesquisarGerenciadorDocumentosDados: The read operation timed out; inventário local anterior preservado.  PDFs efetivamente revistos: 211105, 733239. Não foi identificado termo específico na revisão. · Observação: Lacuna documental; não preencher por aproximação de nome ou por campo heurístico.</a:t>
            </a:r>
          </a:p>
          <a:p>
            <a:r>
              <a:t>CNPJ 44124617000194 · Remuneração mezanino · Não localizado na documentação acessível · Inventário por CNPJ 44124617000194, consulta Fundos.NET em 07/10/2026: 104 documentos listados; listagem pública obtida.  PDFs efetivamente revistos: 1337401. ID1153057: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54218673000141 · Remuneração mezanino · Não localizado na documentação acessível · Inventário por CNPJ 54218673000141, consulta Fundos.NET em 07/10/2026: 66 documentos listados; listagem pública obtida.  PDFs efetivamente revistos: 1268268, 643434. ID1151722: Falha de rede ao acessar downloadDocumento: The read operation timed out · Observação: Lacuna documental; não preencher por aproximação de nome ou por campo heurístico.</a:t>
            </a:r>
          </a:p>
          <a:p>
            <a:r>
              <a:t>CNPJ 54218941000125 · Remuneração mezanino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mezanino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Remuneração mezanino · Não localizado na documentação acessível · Inventário por CNPJ 54248022000102, consulta Fundos.NET em 07/10/2026: 69 documentos listados; listagem pública obtida.  PDFs efetivamente revistos: 1285773, 643430, 1151750. Não foi identificado termo específico na revisão. · Observação: Lacuna documental; não preencher por aproximação de nome ou por campo heurístico.</a:t>
            </a:r>
          </a:p>
          <a:p>
            <a:r>
              <a:t>CNPJ 57609282000146 · Remuneração mezanino · 1ª série: DI + 3,85% a.a. · Fundos.NET ID 993693 | 04/09/2025 | Regulamento | p. 128,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Remuneração mezanino · Taxa DI + spreads A/B finais não localizados; suplementos-modelo com [=] · Fundos.NET ID 993687 | 04/09/2025 | Regulamento | p. 125–129, apêndices-modelo | data/raw/60356171000180/993687_review_20261007.pdf | https://fnet.bmfbovespa.com.br/fnet/publico/visualizarDocumento?id=993687 · Observação: Cláusula documental; emissão e data-base indicadas. Não implica posição atual em circulação.</a:t>
            </a:r>
          </a:p>
          <a:p>
            <a:r>
              <a:t>CNPJ 62393679000183 · Remuneração mezanino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Remuneração subordinada · Residual conforme waterfall; taxa fixa final não localizada · Fundos.NET ID 733239 | 05/09/2024 | Regulamento | p. 3, Anexo I, características das cotas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Remuneração subordinada · Residual conforme waterfall; taxa fixa final não localizada · Fundos.NET ID 1337401 | 01/10/2026 | Regulamento | p. 3, Anexo I, características das cotas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Remuneração subordinada · Residual conforme waterfall; taxa fixa final não localizada · Fundos.NET ID 1268268 | 28/07/2026 | Regulamento | p. 5, Anexo I, características das cotas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Remuneração subordinada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Remuneração subordinada · Residual conforme waterfall; taxa fixa final não localizada · Fundos.NET ID 1072799 | 22/12/2025 | Regulamento | p. 4, Anexo I, características das cotas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Remuneração subordinada · Residual conforme waterfall; taxa fixa final não localizada · Fundos.NET ID 1285773 | 11/08/2026 | Regulamento | p. 35, Anexo I, características das cotas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Remuneração subordinada · Residual conforme waterfall; taxa fixa final não localizada · Fundos.NET ID 993693 | 04/09/2025 | Regulamento | p. 4, Anexo I, características das cotas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Remuneração subordinada · Residual conforme waterfall; taxa fixa final não localizada · Fundos.NET ID 993687 | 04/09/2025 | Regulamento | p. 4, Anexo I, características das cotas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Remuneração subordinada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Volume / quantidade · 1ª série: R$ 950.000.000,00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Volume / quantidade · 1ª série: R$ 1.500.000.000,00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Volume / quantidade · 1ª série: R$ 877.500.000,00 inicial; máximo R$ 1.140.750.000,00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Volume / quantidade · 1ª sênior: R$ 291.000.000,00 distribuídos · Fundos.NET ID 643432 | 22/04/2024 | Anúncio de Encerramento | p. 1–3, encerramentodeoferta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Volume / quantidade · 1ª sênior: R$ 142.500.000,00 distribuídos · Fundos.NET ID 643431 | 22/04/2024 | Anúncio de Encerramento | p. 1–3, encerramentodeoferta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Volume / quantidade · 1ª série: R$ 120.000.000,00 inicial; máximo R$ 156.000.000,00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Volume / quantidade · Sênior R$ 2.245.625.000; mezanino R$ 347.538.000; júnior R$ 90.000.000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Volume / quantidade · Oferta R$ 3.141.592.653,59: S1 R$ 1,65 bi; S2 R$ 1.070.554.462; MA R$ 226.712.872; MB R$ 194.325.319,59 · Fundos.NET ID 884542 | 24/04/2025 | Anúncio de Encerramento | p. 2, volume ofertado/distribuição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Volume / quantidade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VNU / preço · R$ 1.000,00 na emissão; integralizações posteriores ajustadas conformebenchmark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VNU / preço · R$ 1.000,00 na emissão; integralizações posteriores ajustadas conformebenchmark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VNU / preço · R$ 1.000,00 na emissão; integralizações posteriores ajustadas conformebenchmark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VNU / preço · R$ 1.000,00 de emissão · Fundos.NET ID 643432 | 22/04/2024 | Anúncio de Encerramento | p. 2, anúncioencerramento | data/raw/54218941000125/643432_review_20261007.pdf | https://fnet.bmfbovespa.com.br/fnet/publico/visualizarDocumento?id=643432 · Observação: Cláusula documental; emissão e data-base indicadas. Não implica posição atual em circulação.</a:t>
            </a:r>
          </a:p>
          <a:p>
            <a:r>
              <a:t>CNPJ 54219179000100 · VNU / preço · R$ 1.000,00 de emissão · Fundos.NET ID 643431 | 22/04/2024 | Anúncio de Encerramento | p. 2, anúncioencerramento | data/raw/54219179000100/643431_review_20261007.pdf | https://fnet.bmfbovespa.com.br/fnet/publico/visualizarDocumento?id=643431 · Observação: Cláusula documental; emissão e data-base indicadas. Não implica posição atual em circulação.</a:t>
            </a:r>
          </a:p>
          <a:p>
            <a:r>
              <a:t>CNPJ 54248022000102 · VNU / preço · R$ 1.000,00 na emissão; integralizações posteriores ajustadas conformebenchmark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VNU / preço · R$ 1.000,00 naemissão · Fundos.NET ID 993693 | 04/09/2025 | Regulamento | p. 124, apêndices efetivamente preenchidos | data/raw/57609282000146/993693_review_20261007.pdf | https://fnet.bmfbovespa.com.br/fnet/publico/visualizarDocumento?id=993693 · Observação: Cláusula documental; emissão e data-base indicadas. Não implica posição atual em circulação.</a:t>
            </a:r>
          </a:p>
          <a:p>
            <a:r>
              <a:t>CNPJ 60356171000180 · VNU / preço · S1/S2/MA R$ 1,00; MB R$ 12,23 na primeira integralização · Fundos.NET ID 884542 | 24/04/2025 | Anúncio de Encerramento | p. 2, valores unitários | data/raw/60356171000180/884542_review_20261007.pdf | https://fnet.bmfbovespa.com.br/fnet/publico/visualizarDocumento?id=884542 · Observação: Cláusula documental; emissão e data-base indicadas. Não implica posição atual em circulação.</a:t>
            </a:r>
          </a:p>
          <a:p>
            <a:r>
              <a:t>CNPJ 62393679000183 · VNU / preço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Carência · 1ª sênior: Divergência: carênciaaté 27/02/2024, vencimento 27/01/2024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Carência · 1ª sênior: Carência até 27/01/2025 inclusive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Carência · 1ª sênior: 30ºmês inclusive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Carência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Carência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Carência · 1ª sênior: Carência final não localizada noapêndice acessível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Carência · Sênior/mezanino: até 10/06/2027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Carência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Carência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Juros/amortização · 1ª sênior: Mensal dia 27; 1ª sênior: Cronograma divergente; confirmar apêndice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Juros/amortização · 1ª sênior: Mensal dia 27; 1ª sênior: 27/02/2025–27/01/2026, conformequantidades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Juros/amortização · 1ª sênior: Mensal conforme apêndice; 1ª sênior: 19/11/2026,19/12/2026,19/01/2027,19/02/2027,19/03/2027,19/04/2027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Juros/amortização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Juros/amortização · Não localizado na documentação acessível;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Juros/amortização · 1ª sênior: Calendário final não localizado; 1ª sênior: Cronograma fechado não identificado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Juros/amortização · Mensais: dia 11, desde 11/12/2024 até 11/11/2027; Jun–nov/2027:16,6667%;33,3333%;50%;66,6667%;83,3333%;100%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Juros/amortização · Não localizado na documentação acessível;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Juros/amortização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Vencimento · 1ª sênior: Divergência:27/01/2024 anterior à carência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Vencimento · 1ª sênior: 27/01/2026; termos históricos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Vencimento · 1ª sênior: 36 meses daprimeira integralização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Vencimento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Vencimento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Vencimento · 1ª sênior: 36 meses daprimeira integralização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Vencimento · Sênior/mezanino:11/11/2027; júniorna liquidação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Vencimento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Vencimento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Juros / pagamentos · 1ª sênior: Mensal dia 27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Juros / pagamentos · 1ª sênior: Mensal dia 27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Juros / pagamentos · 1ª sênior: Mensal conforme apêndice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Juros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Juros / pagamentos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Juros / pagamentos · 1ª sênior: Calendário final não localizado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Juros / pagamentos · Mensais: dia 11, desde 11/12/2024 até 11/11/2027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Juros / pagamentos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Juros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Amortização programada · 1ª sênior: Cronograma divergente; confirmar apêndice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Amortização programada · 1ª sênior: 27/02/2025–27/01/2026, conformequantidades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Amortização programada · 1ª sênior: 19/11/2026,19/12/2026,19/01/2027,19/02/2027,19/03/2027,19/04/2027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Amortização programada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Amortização programada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Amortização programada · 1ª sênior: Cronograma fechado não identificado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Amortização programada · Jun–nov/2027:16,6667%;33,3333%;50%;66,6667%;83,3333%;100%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Amortização programada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Amortização programada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Amortização extraordinária · Prevista nas hipóteses do anexo; requisitos variam por senioridade · Fundos.NET ID 733239 | 05/09/2024 | Regulamento | p. 36, Anexo I, amortização extraordinária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Amortização extraordinária · Prevista nas hipóteses do anexo; requisitos variam por senioridade · Fundos.NET ID 1337401 | 01/10/2026 | Regulamento | p. 36, Anexo I, amortização extraordinária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Amortização extraordinária · Prevista nas hipóteses do anexo; requisitos variam por senioridade · Fundos.NET ID 1268268 | 28/07/2026 | Regulamento | p. 36, Anexo I, amortização extraordinária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Amortização extraordinária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Amortização extraordinária · Prevista nas hipóteses do anexo; requisitos variam por senioridade · Fundos.NET ID 1072799 | 22/12/2025 | Regulamento | p. 35, Anexo I, amortização extraordinária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Amortização extraordinária · Prevista nas hipóteses do anexo; requisitos variam por senioridade · Fundos.NET ID 1285773 | 11/08/2026 | Regulamento | p. 36, Anexo I, amortização extraordinária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Amortização extraordinária · Prevista nas hipóteses do anexo; requisitos variam por senioridade · Fundos.NET ID 993693 | 04/09/2025 | Regulamento | p. 40, Anexo I, amortização extraordinária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Amortização extraordinária · Prevista nas hipóteses do anexo; requisitos variam por senioridade · Fundos.NET ID 993687 | 04/09/2025 | Regulamento | p. 40, Anexo I, amortização extraordinária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Amortização extraordinária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Carência · 1ª sênior: Divergência: carênciaaté 27/02/2024, vencimento 27/01/2024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Carência · 1ª sênior: Carência até 27/01/2025 inclusive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Carência · 1ª sênior: 30ºmês inclusive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Carência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Carência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Carência · 1ª sênior: Carência final não localizada noapêndice acessível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Carência · Sênior/mezanino: até 10/06/2027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Carência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Carência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Juros/amortização · 1ª sênior: Mensal dia 27; 1ª sênior: Cronograma divergente; confirmar apêndice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Juros/amortização · 1ª sênior: Mensal dia 27; 1ª sênior: 27/02/2025–27/01/2026, conformequantidades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Juros/amortização · 1ª sênior: Mensal conforme apêndice; 1ª sênior: 19/11/2026,19/12/2026,19/01/2027,19/02/2027,19/03/2027,19/04/2027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Juros/amortização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Juros/amortização · Não localizado na documentação acessível;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Juros/amortização · 1ª sênior: Calendário final não localizado; 1ª sênior: Cronograma fechado não identificado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Juros/amortização · Mensais: dia 11, desde 11/12/2024 até 11/11/2027; Jun–nov/2027:16,6667%;33,3333%;50%;66,6667%;83,3333%;100%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Juros/amortização · Não localizado na documentação acessível;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Juros/amortização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Vencimento · 1ª sênior: Divergência:27/01/2024 anterior à carência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Vencimento · 1ª sênior: 27/01/2026; termos históricos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Vencimento · 1ª sênior: 36 meses daprimeira integralização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Vencimento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Vencimento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Vencimento · 1ª sênior: 36 meses daprimeira integralização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Vencimento · Sênior/mezanino:11/11/2027; júniorna liquidação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Vencimento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Vencimento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Juros / pagamentos · 1ª sênior: Mensal dia 27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Juros / pagamentos · 1ª sênior: Mensal dia 27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Juros / pagamentos · 1ª sênior: Mensal conforme apêndice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Juros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Juros / pagamentos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Juros / pagamentos · 1ª sênior: Calendário final não localizado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Juros / pagamentos · Mensais: dia 11, desde 11/12/2024 até 11/11/2027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Juros / pagamentos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Juros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Amortização programada · 1ª sênior: Cronograma divergente; confirmar apêndice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Amortização programada · 1ª sênior: 27/02/2025–27/01/2026, conformequantidades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Amortização programada · 1ª sênior: 19/11/2026,19/12/2026,19/01/2027,19/02/2027,19/03/2027,19/04/2027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Amortização programada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Amortização programada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Amortização programada · 1ª sênior: Cronograma fechado não identificado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Amortização programada · Jun–nov/2027:16,6667%;33,3333%;50%;66,6667%;83,3333%;100%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Amortização programada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Amortização programada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Amortização extraordinária · Prevista nas hipóteses do anexo; requisitos variam por senioridade · Fundos.NET ID 733239 | 05/09/2024 | Regulamento | p. 36, Anexo I, amortização extraordinária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Amortização extraordinária · Prevista nas hipóteses do anexo; requisitos variam por senioridade · Fundos.NET ID 1337401 | 01/10/2026 | Regulamento | p. 36, Anexo I, amortização extraordinária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Amortização extraordinária · Prevista nas hipóteses do anexo; requisitos variam por senioridade · Fundos.NET ID 1268268 | 28/07/2026 | Regulamento | p. 36, Anexo I, amortização extraordinária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Amortização extraordinária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Amortização extraordinária · Prevista nas hipóteses do anexo; requisitos variam por senioridade · Fundos.NET ID 1072799 | 22/12/2025 | Regulamento | p. 35, Anexo I, amortização extraordinária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Amortização extraordinária · Prevista nas hipóteses do anexo; requisitos variam por senioridade · Fundos.NET ID 1285773 | 11/08/2026 | Regulamento | p. 36, Anexo I, amortização extraordinária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Amortização extraordinária · Prevista nas hipóteses do anexo; requisitos variam por senioridade · Fundos.NET ID 993693 | 04/09/2025 | Regulamento | p. 40, Anexo I, amortização extraordinária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Amortização extraordinária · Prevista nas hipóteses do anexo; requisitos variam por senioridade · Fundos.NET ID 993687 | 04/09/2025 | Regulamento | p. 40, Anexo I, amortização extraordinária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Amortização extraordinária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Carência · 1ª sênior: Divergência: carênciaaté 27/02/2024, vencimento 27/01/2024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Carência · 1ª sênior: Carência até 27/01/2025 inclusive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Carência · 1ª sênior: 30ºmês inclusive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Carência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Carência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Carência · 1ª sênior: Carência final não localizada noapêndice acessível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Carência · Sênior/mezanino: até 10/06/2027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Carência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Carência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Juros/amortização · 1ª sênior: Mensal dia 27; 1ª sênior: Cronograma divergente; confirmar apêndice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Juros/amortização · 1ª sênior: Mensal dia 27; 1ª sênior: 27/02/2025–27/01/2026, conformequantidades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Juros/amortização · 1ª sênior: Mensal conforme apêndice; 1ª sênior: 19/11/2026,19/12/2026,19/01/2027,19/02/2027,19/03/2027,19/04/2027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Juros/amortização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Juros/amortização · Não localizado na documentação acessível;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Juros/amortização · 1ª sênior: Calendário final não localizado; 1ª sênior: Cronograma fechado não identificado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Juros/amortização · Mensais: dia 11, desde 11/12/2024 até 11/11/2027; Jun–nov/2027:16,6667%;33,3333%;50%;66,6667%;83,3333%;100%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Juros/amortização · Não localizado na documentação acessível;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Juros/amortização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Vencimento · 1ª sênior: Divergência:27/01/2024 anterior à carência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Vencimento · 1ª sênior: 27/01/2026; termos históricos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Vencimento · 1ª sênior: 36 meses daprimeira integralização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Vencimento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Vencimento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Vencimento · 1ª sênior: 36 meses daprimeira integralização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Vencimento · Sênior/mezanino:11/11/2027; júniorna liquidação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Vencimento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Vencimento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Juros / pagamentos · 1ª sênior: Mensal dia 27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Juros / pagamentos · 1ª sênior: Mensal dia 27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Juros / pagamentos · 1ª sênior: Mensal conforme apêndice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Juros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Juros / pagamentos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Juros / pagamentos · 1ª sênior: Calendário final não localizado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Juros / pagamentos · Mensais: dia 11, desde 11/12/2024 até 11/11/2027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Juros / pagamentos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Juros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42102603000144 · Amortização programada · 1ª sênior: Cronograma divergente; confirmar apêndice · Fundos.NET ID 733239 | 05/09/2024 | Regulamento | p. 113, apêndice1ªsérie | data/raw/42102603000144/733239_review_20261007.pdf | https://fnet.bmfbovespa.com.br/fnet/publico/visualizarDocumento?id=733239 · Observação: Cláusula documental; emissão e data-base indicadas. Não implica posição atual em circulação.</a:t>
            </a:r>
          </a:p>
          <a:p>
            <a:r>
              <a:t>CNPJ 44124617000194 · Amortização programada · 1ª sênior: 27/02/2025–27/01/2026, conformequantidades · Fundos.NET ID 1337401 | 01/10/2026 | Regulamento | p. 116, apêndice1ªsérie | data/raw/44124617000194/1337401_review_20261007.pdf | https://fnet.bmfbovespa.com.br/fnet/publico/visualizarDocumento?id=1337401 · Observação: Cláusula documental; emissão e data-base indicadas. Não implica posição atual em circulação.</a:t>
            </a:r>
          </a:p>
          <a:p>
            <a:r>
              <a:t>CNPJ 54218673000141 · Amortização programada · 1ª sênior: 19/11/2026,19/12/2026,19/01/2027,19/02/2027,19/03/2027,19/04/2027 · Fundos.NET ID 1268268 | 28/07/2026 | Regulamento | p. 118, apêndice1ªsérie | data/raw/54218673000141/1268268_review_20261007.pdf | https://fnet.bmfbovespa.com.br/fnet/publico/visualizarDocumento?id=1268268 · Observação: Cláusula documental; emissão e data-base indicadas. Não implica posição atual em circulação.</a:t>
            </a:r>
          </a:p>
          <a:p>
            <a:r>
              <a:t>CNPJ 54218941000125 · Amortização programada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Amortização programada · Não localizado na documentação acessível · Inventário por CNPJ 54219179000100, consulta Fundos.NET em 07/10/2026: 28 documentos listados; Falha de rede ao acessar pesquisarGerenciadorDocumentosDados: The read operation timed out; inventário local anterior preservado.  PDFs efetivamente revistos: 1072799, 643431. Não foi identificado termo específico na revisão. · Observação: Lacuna documental; não preencher por aproximação de nome ou por campo heurístico.</a:t>
            </a:r>
          </a:p>
          <a:p>
            <a:r>
              <a:t>CNPJ 54248022000102 · Amortização programada · 1ª sênior: Cronograma fechado não identificado · Fundos.NET ID 1285773 | 11/08/2026 | Regulamento | p. 123, apêndice1ªsérie | data/raw/54248022000102/1285773_review_20261007.pdf | https://fnet.bmfbovespa.com.br/fnet/publico/visualizarDocumento?id=1285773 · Observação: Cláusula documental; emissão e data-base indicadas. Não implica posição atual em circulação.</a:t>
            </a:r>
          </a:p>
          <a:p>
            <a:r>
              <a:t>CNPJ 57609282000146 · Amortização programada · Jun–nov/2027:16,6667%;33,3333%;50%;66,6667%;83,3333%;100% · Fundos.NET ID 993693 | 04/09/2025 | Regulamento | p. 125–130, apêndices/cronogramas | data/raw/57609282000146/993693_review_20261007.pdf | https://fnet.bmfbovespa.com.br/fnet/publico/visualizarDocumento?id=993693 · Observação: Percentuais de amortização reportados na coluna contratual; validar denominador antes de calcular fluxo monetário.</a:t>
            </a:r>
          </a:p>
          <a:p>
            <a:r>
              <a:t>CNPJ 60356171000180 · Amortização programada · Não localizado na documentação acessível · Inventário por CNPJ 60356171000180, consulta Fundos.NET em 07/10/2026: 50 documentos listados; listagem pública obtida.  PDFs efetivamente revistos: 993687, 884542. ID883903: Texto codificado ilegível em pypdf e pdftotext / OCR necessário; ID1151115: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62393679000183 · Amortização programada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Amortização extraordinária · Prevista nas hipóteses do anexo; requisitos variam por senioridade · Fundos.NET ID 733239 | 05/09/2024 | Regulamento | p. 36, Anexo I, amortização extraordinária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Amortização extraordinária · Prevista nas hipóteses do anexo; requisitos variam por senioridade · Fundos.NET ID 1337401 | 01/10/2026 | Regulamento | p. 36, Anexo I, amortização extraordinária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Amortização extraordinária · Prevista nas hipóteses do anexo; requisitos variam por senioridade · Fundos.NET ID 1268268 | 28/07/2026 | Regulamento | p. 36, Anexo I, amortização extraordinária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Amortização extraordinária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Amortização extraordinária · Prevista nas hipóteses do anexo; requisitos variam por senioridade · Fundos.NET ID 1072799 | 22/12/2025 | Regulamento | p. 35, Anexo I, amortização extraordinária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Amortização extraordinária · Prevista nas hipóteses do anexo; requisitos variam por senioridade · Fundos.NET ID 1285773 | 11/08/2026 | Regulamento | p. 36, Anexo I, amortização extraordinária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Amortização extraordinária · Prevista nas hipóteses do anexo; requisitos variam por senioridade · Fundos.NET ID 993693 | 04/09/2025 | Regulamento | p. 40, Anexo I, amortização extraordinária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Amortização extraordinária · Prevista nas hipóteses do anexo; requisitos variam por senioridade · Fundos.NET ID 993687 | 04/09/2025 | Regulamento | p. 40, Anexo I, amortização extraordinária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Amortização extraordinária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42102603000144 · Administração · 0,045% a.a. sobre PL; mínimo R$ 23.900,00/mês · Fundos.NET ID 733239 | 05/09/2024 | Regulamento | p. 50, Anexo I, remuneração dos prestadores | data/raw/42102603000144/733239_review_20261007.pdf | https://fnet.bmfbovespa.com.br/fnet/publico/visualizarDocumento?id=733239 · Observação: Base literal do documento. Atenção a mínimo/máximo e inconsistências de redação entre versões.</a:t>
            </a:r>
          </a:p>
          <a:p>
            <a:r>
              <a:t>CNPJ 44124617000194 · Administração · 0,045% a.a. sobre PL; mínimo R$ 23.900,00/mês · Fundos.NET ID 1337401 | 01/10/2026 | Regulamento | p. 50, Anexo I, remuneração dos prestadores | data/raw/44124617000194/1337401_review_20261007.pdf | https://fnet.bmfbovespa.com.br/fnet/publico/visualizarDocumento?id=1337401 · Observação: Base literal do documento. Atenção a mínimo/máximo e inconsistências de redação entre versões.</a:t>
            </a:r>
          </a:p>
          <a:p>
            <a:r>
              <a:t>CNPJ 54218673000141 · Administração · 0,04% a.a. sobre PL; mínimo R$ 27.500,00/mês · Fundos.NET ID 1268268 | 28/07/2026 | Regulamento | p. 50, Anexo I, remuneração dos prestadores | data/raw/54218673000141/1268268_review_20261007.pdf | https://fnet.bmfbovespa.com.br/fnet/publico/visualizarDocumento?id=1268268 · Observação: Base literal do documento. Atenção a mínimo/máximo e inconsistências de redação entre versões.</a:t>
            </a:r>
          </a:p>
          <a:p>
            <a:r>
              <a:t>CNPJ 54218941000125 · Administração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Administração · 0,04% a.a. sobre PL; mínimo R$ 8.000,00/mês · Fundos.NET ID 1072799 | 22/12/2025 | Regulamento | p. 50, Anexo I, remuneração dos prestadores | data/raw/54219179000100/1072799_review_20261007.pdf | https://fnet.bmfbovespa.com.br/fnet/publico/visualizarDocumento?id=1072799 · Observação: Base literal do documento. Atenção a mínimo/máximo e inconsistências de redação entre versões.</a:t>
            </a:r>
          </a:p>
          <a:p>
            <a:r>
              <a:t>CNPJ 54248022000102 · Administração · 0,04% a.a. sobre PL; mínimo R$ 8.000,00/mês · Fundos.NET ID 1285773 | 11/08/2026 | Regulamento | p. 50, Anexo I, remuneração dos prestadores | data/raw/54248022000102/1285773_review_20261007.pdf | https://fnet.bmfbovespa.com.br/fnet/publico/visualizarDocumento?id=1285773 · Observação: Base literal do documento. Atenção a mínimo/máximo e inconsistências de redação entre versões.</a:t>
            </a:r>
          </a:p>
          <a:p>
            <a:r>
              <a:t>CNPJ 57609282000146 · Administração · 0,02% a.a. sobre PL; mínimo R$ 15.000,00/mês · Fundos.NET ID 993693 | 04/09/2025 | Regulamento | p. 55, Anexo I, remuneração dos prestadores | data/raw/57609282000146/993693_review_20261007.pdf | https://fnet.bmfbovespa.com.br/fnet/publico/visualizarDocumento?id=993693 · Observação: Base literal do documento. Atenção a mínimo/máximo e inconsistências de redação entre versões.</a:t>
            </a:r>
          </a:p>
          <a:p>
            <a:r>
              <a:t>CNPJ 60356171000180 · Administração · 0,02% a.a. sobre PL; mínimo R$ 15.000,00/mês · Fundos.NET ID 993687 | 04/09/2025 | Regulamento | p. 55, Anexo I, remuneração dos prestadores | data/raw/60356171000180/993687_review_20261007.pdf | https://fnet.bmfbovespa.com.br/fnet/publico/visualizarDocumento?id=993687 · Observação: Base literal do documento. Atenção a mínimo/máximo e inconsistências de redação entre versões.</a:t>
            </a:r>
          </a:p>
          <a:p>
            <a:r>
              <a:t>CNPJ 62393679000183 · Administração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42102603000144 · Gestão · 10% a.a. sobre taxa de administração; máximo R$ 4.000,00/mês · Fundos.NET ID 733239 | 05/09/2024 | Regulamento | p. 50, Anexo I, remuneração dos prestadores | data/raw/42102603000144/733239_review_20261007.pdf | https://fnet.bmfbovespa.com.br/fnet/publico/visualizarDocumento?id=733239 · Observação: Base literal do documento. Atenção a mínimo/máximo e inconsistências de redação entre versões.</a:t>
            </a:r>
          </a:p>
          <a:p>
            <a:r>
              <a:t>CNPJ 44124617000194 · Gestão · 10% a.a. sobre taxa de administração; máximo R$ 4.000,00/mês · Fundos.NET ID 1337401 | 01/10/2026 | Regulamento | p. 50, Anexo I, remuneração dos prestadores | data/raw/44124617000194/1337401_review_20261007.pdf | https://fnet.bmfbovespa.com.br/fnet/publico/visualizarDocumento?id=1337401 · Observação: Base literal do documento. Atenção a mínimo/máximo e inconsistências de redação entre versões.</a:t>
            </a:r>
          </a:p>
          <a:p>
            <a:r>
              <a:t>CNPJ 54218673000141 · Gestão · 10% a.a. sobre PL; máximo R$ 4.000,00/mês · Fundos.NET ID 1268268 | 28/07/2026 | Regulamento | p. 51, Anexo I, remuneração dos prestadores | data/raw/54218673000141/1268268_review_20261007.pdf | https://fnet.bmfbovespa.com.br/fnet/publico/visualizarDocumento?id=1268268 · Observação: Base literal do documento. Atenção a mínimo/máximo e inconsistências de redação entre versões.</a:t>
            </a:r>
          </a:p>
          <a:p>
            <a:r>
              <a:t>CNPJ 54218941000125 · Gestão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Gestão · 10% a.a. sobre taxa de administração; máximo R$ 4.000,00/mês · Fundos.NET ID 1072799 | 22/12/2025 | Regulamento | p. 50, Anexo I, remuneração dos prestadores | data/raw/54219179000100/1072799_review_20261007.pdf | https://fnet.bmfbovespa.com.br/fnet/publico/visualizarDocumento?id=1072799 · Observação: Base literal do documento. Atenção a mínimo/máximo e inconsistências de redação entre versões.</a:t>
            </a:r>
          </a:p>
          <a:p>
            <a:r>
              <a:t>CNPJ 54248022000102 · Gestão · 10% a.a. sobre PL; máximo R$ 4.000,00/mês · Fundos.NET ID 1285773 | 11/08/2026 | Regulamento | p. 50, Anexo I, remuneração dos prestadores | data/raw/54248022000102/1285773_review_20261007.pdf | https://fnet.bmfbovespa.com.br/fnet/publico/visualizarDocumento?id=1285773 · Observação: Base literal do documento. Atenção a mínimo/máximo e inconsistências de redação entre versões.</a:t>
            </a:r>
          </a:p>
          <a:p>
            <a:r>
              <a:t>CNPJ 57609282000146 · Gestão · 0,08% a.a. sobre PL; máximo R$ 7.000,00/mês · Fundos.NET ID 993693 | 04/09/2025 | Regulamento | p. 55, Anexo I, remuneração dos prestadores | data/raw/57609282000146/993693_review_20261007.pdf | https://fnet.bmfbovespa.com.br/fnet/publico/visualizarDocumento?id=993693 · Observação: Base literal do documento. Atenção a mínimo/máximo e inconsistências de redação entre versões.</a:t>
            </a:r>
          </a:p>
          <a:p>
            <a:r>
              <a:t>CNPJ 60356171000180 · Gestão · 0,06% a.a. sobre PL; mínimo R$ 7.000,00/mês · Fundos.NET ID 993687 | 04/09/2025 | Regulamento | p. 56, Anexo I, remuneração dos prestadores | data/raw/60356171000180/993687_review_20261007.pdf | https://fnet.bmfbovespa.com.br/fnet/publico/visualizarDocumento?id=993687 · Observação: Base literal do documento. Atenção a mínimo/máximo e inconsistências de redação entre versões.</a:t>
            </a:r>
          </a:p>
          <a:p>
            <a:r>
              <a:t>CNPJ 62393679000183 · Gestão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Custódia · Custódia incluída na administração; remuneração de lastro pode ser adicional · Fundos.NET ID 733239 | 05/09/2024 | Regulamento | p. 50, Anexo I, taxas e custódia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Custódia · Custódia incluída na administração; remuneração de lastro pode ser adicional · Fundos.NET ID 1337401 | 01/10/2026 | Regulamento | p. 50, Anexo I, taxas e custódia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Custódia · Não devida remuneração ao custodiante, conforme cláusula · Fundos.NET ID 1268268 | 28/07/2026 | Regulamento | p. 51, Anexo I, taxa de custódia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Custódia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Custódia · Custódia incluída na administração; remuneração de lastro pode ser adicional · Fundos.NET ID 1072799 | 22/12/2025 | Regulamento | p. 50, Anexo I, taxas e custódia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Custódia · Custódia incluída na administração; remuneração de lastro pode ser adicional · Fundos.NET ID 1285773 | 11/08/2026 | Regulamento | p. 50, Anexo I, taxas e custódia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Custódia · Não devida remuneração ao custodiante, conforme cláusula · Fundos.NET ID 993693 | 04/09/2025 | Regulamento | p. 56, Anexo I, taxa de custódia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Custódia · Não devida remuneração ao custodiante, conforme cláusula · Fundos.NET ID 993687 | 04/09/2025 | Regulamento | p. 56, Anexo I, taxa de custódia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Custódia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Reajuste / base · Valores fixos reajustados por IPCA positivo; cálculo diário base 252, conforme cada taxa · Fundos.NET ID 733239 | 05/09/2024 | Regulamento | p. 50, Anexo I, taxas/reajuste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Reajuste / base · Valores fixos reajustados por IPCA positivo; cálculo diário base 252, conforme cada taxa · Fundos.NET ID 1337401 | 01/10/2026 | Regulamento | p. 50, Anexo I, taxas/reajuste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Reajuste / base · Valores fixos reajustados por IPCA positivo; cálculo diário base 252, conforme cada taxa · Fundos.NET ID 1268268 | 28/07/2026 | Regulamento | p. 50, Anexo I, taxas/reajuste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Reajuste / base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Reajuste / base · Valores fixos reajustados por IPCA positivo; cálculo diário base 252, conforme cada taxa · Fundos.NET ID 1072799 | 22/12/2025 | Regulamento | p. 50, Anexo I, taxas/reajuste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Reajuste / base · Valores fixos reajustados por IPCA positivo; cálculo diário base 252, conforme cada taxa · Fundos.NET ID 1285773 | 11/08/2026 | Regulamento | p. 50, Anexo I, taxas/reajuste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Reajuste / base · Valores fixos reajustados por IPCA positivo; cálculo diário base 252, conforme cada taxa · Fundos.NET ID 993693 | 04/09/2025 | Regulamento | p. 55, Anexo I, taxas/reajuste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Reajuste / base · Valores fixos reajustados por IPCA positivo; cálculo diário base 252, conforme cada taxa · Fundos.NET ID 993687 | 04/09/2025 | Regulamento | p. 56, Anexo I, taxas/reajuste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Reajuste / base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42102603000144 · Administração · 0,045% a.a. sobre PL; mínimo R$ 23.900,00/mês · Fundos.NET ID 733239 | 05/09/2024 | Regulamento | p. 50, Anexo I, remuneração dos prestadores | data/raw/42102603000144/733239_review_20261007.pdf | https://fnet.bmfbovespa.com.br/fnet/publico/visualizarDocumento?id=733239 · Observação: Base literal do documento. Atenção a mínimo/máximo e inconsistências de redação entre versões.</a:t>
            </a:r>
          </a:p>
          <a:p>
            <a:r>
              <a:t>CNPJ 44124617000194 · Administração · 0,045% a.a. sobre PL; mínimo R$ 23.900,00/mês · Fundos.NET ID 1337401 | 01/10/2026 | Regulamento | p. 50, Anexo I, remuneração dos prestadores | data/raw/44124617000194/1337401_review_20261007.pdf | https://fnet.bmfbovespa.com.br/fnet/publico/visualizarDocumento?id=1337401 · Observação: Base literal do documento. Atenção a mínimo/máximo e inconsistências de redação entre versões.</a:t>
            </a:r>
          </a:p>
          <a:p>
            <a:r>
              <a:t>CNPJ 54218673000141 · Administração · 0,04% a.a. sobre PL; mínimo R$ 27.500,00/mês · Fundos.NET ID 1268268 | 28/07/2026 | Regulamento | p. 50, Anexo I, remuneração dos prestadores | data/raw/54218673000141/1268268_review_20261007.pdf | https://fnet.bmfbovespa.com.br/fnet/publico/visualizarDocumento?id=1268268 · Observação: Base literal do documento. Atenção a mínimo/máximo e inconsistências de redação entre versões.</a:t>
            </a:r>
          </a:p>
          <a:p>
            <a:r>
              <a:t>CNPJ 54218941000125 · Administração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Administração · 0,04% a.a. sobre PL; mínimo R$ 8.000,00/mês · Fundos.NET ID 1072799 | 22/12/2025 | Regulamento | p. 50, Anexo I, remuneração dos prestadores | data/raw/54219179000100/1072799_review_20261007.pdf | https://fnet.bmfbovespa.com.br/fnet/publico/visualizarDocumento?id=1072799 · Observação: Base literal do documento. Atenção a mínimo/máximo e inconsistências de redação entre versões.</a:t>
            </a:r>
          </a:p>
          <a:p>
            <a:r>
              <a:t>CNPJ 54248022000102 · Administração · 0,04% a.a. sobre PL; mínimo R$ 8.000,00/mês · Fundos.NET ID 1285773 | 11/08/2026 | Regulamento | p. 50, Anexo I, remuneração dos prestadores | data/raw/54248022000102/1285773_review_20261007.pdf | https://fnet.bmfbovespa.com.br/fnet/publico/visualizarDocumento?id=1285773 · Observação: Base literal do documento. Atenção a mínimo/máximo e inconsistências de redação entre versões.</a:t>
            </a:r>
          </a:p>
          <a:p>
            <a:r>
              <a:t>CNPJ 57609282000146 · Administração · 0,02% a.a. sobre PL; mínimo R$ 15.000,00/mês · Fundos.NET ID 993693 | 04/09/2025 | Regulamento | p. 55, Anexo I, remuneração dos prestadores | data/raw/57609282000146/993693_review_20261007.pdf | https://fnet.bmfbovespa.com.br/fnet/publico/visualizarDocumento?id=993693 · Observação: Base literal do documento. Atenção a mínimo/máximo e inconsistências de redação entre versões.</a:t>
            </a:r>
          </a:p>
          <a:p>
            <a:r>
              <a:t>CNPJ 60356171000180 · Administração · 0,02% a.a. sobre PL; mínimo R$ 15.000,00/mês · Fundos.NET ID 993687 | 04/09/2025 | Regulamento | p. 55, Anexo I, remuneração dos prestadores | data/raw/60356171000180/993687_review_20261007.pdf | https://fnet.bmfbovespa.com.br/fnet/publico/visualizarDocumento?id=993687 · Observação: Base literal do documento. Atenção a mínimo/máximo e inconsistências de redação entre versões.</a:t>
            </a:r>
          </a:p>
          <a:p>
            <a:r>
              <a:t>CNPJ 62393679000183 · Administração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42102603000144 · Gestão · 10% a.a. sobre taxa de administração; máximo R$ 4.000,00/mês · Fundos.NET ID 733239 | 05/09/2024 | Regulamento | p. 50, Anexo I, remuneração dos prestadores | data/raw/42102603000144/733239_review_20261007.pdf | https://fnet.bmfbovespa.com.br/fnet/publico/visualizarDocumento?id=733239 · Observação: Base literal do documento. Atenção a mínimo/máximo e inconsistências de redação entre versões.</a:t>
            </a:r>
          </a:p>
          <a:p>
            <a:r>
              <a:t>CNPJ 44124617000194 · Gestão · 10% a.a. sobre taxa de administração; máximo R$ 4.000,00/mês · Fundos.NET ID 1337401 | 01/10/2026 | Regulamento | p. 50, Anexo I, remuneração dos prestadores | data/raw/44124617000194/1337401_review_20261007.pdf | https://fnet.bmfbovespa.com.br/fnet/publico/visualizarDocumento?id=1337401 · Observação: Base literal do documento. Atenção a mínimo/máximo e inconsistências de redação entre versões.</a:t>
            </a:r>
          </a:p>
          <a:p>
            <a:r>
              <a:t>CNPJ 54218673000141 · Gestão · 10% a.a. sobre PL; máximo R$ 4.000,00/mês · Fundos.NET ID 1268268 | 28/07/2026 | Regulamento | p. 51, Anexo I, remuneração dos prestadores | data/raw/54218673000141/1268268_review_20261007.pdf | https://fnet.bmfbovespa.com.br/fnet/publico/visualizarDocumento?id=1268268 · Observação: Base literal do documento. Atenção a mínimo/máximo e inconsistências de redação entre versões.</a:t>
            </a:r>
          </a:p>
          <a:p>
            <a:r>
              <a:t>CNPJ 54218941000125 · Gestão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Gestão · 10% a.a. sobre taxa de administração; máximo R$ 4.000,00/mês · Fundos.NET ID 1072799 | 22/12/2025 | Regulamento | p. 50, Anexo I, remuneração dos prestadores | data/raw/54219179000100/1072799_review_20261007.pdf | https://fnet.bmfbovespa.com.br/fnet/publico/visualizarDocumento?id=1072799 · Observação: Base literal do documento. Atenção a mínimo/máximo e inconsistências de redação entre versões.</a:t>
            </a:r>
          </a:p>
          <a:p>
            <a:r>
              <a:t>CNPJ 54248022000102 · Gestão · 10% a.a. sobre PL; máximo R$ 4.000,00/mês · Fundos.NET ID 1285773 | 11/08/2026 | Regulamento | p. 50, Anexo I, remuneração dos prestadores | data/raw/54248022000102/1285773_review_20261007.pdf | https://fnet.bmfbovespa.com.br/fnet/publico/visualizarDocumento?id=1285773 · Observação: Base literal do documento. Atenção a mínimo/máximo e inconsistências de redação entre versões.</a:t>
            </a:r>
          </a:p>
          <a:p>
            <a:r>
              <a:t>CNPJ 57609282000146 · Gestão · 0,08% a.a. sobre PL; máximo R$ 7.000,00/mês · Fundos.NET ID 993693 | 04/09/2025 | Regulamento | p. 55, Anexo I, remuneração dos prestadores | data/raw/57609282000146/993693_review_20261007.pdf | https://fnet.bmfbovespa.com.br/fnet/publico/visualizarDocumento?id=993693 · Observação: Base literal do documento. Atenção a mínimo/máximo e inconsistências de redação entre versões.</a:t>
            </a:r>
          </a:p>
          <a:p>
            <a:r>
              <a:t>CNPJ 60356171000180 · Gestão · 0,06% a.a. sobre PL; mínimo R$ 7.000,00/mês · Fundos.NET ID 993687 | 04/09/2025 | Regulamento | p. 56, Anexo I, remuneração dos prestadores | data/raw/60356171000180/993687_review_20261007.pdf | https://fnet.bmfbovespa.com.br/fnet/publico/visualizarDocumento?id=993687 · Observação: Base literal do documento. Atenção a mínimo/máximo e inconsistências de redação entre versões.</a:t>
            </a:r>
          </a:p>
          <a:p>
            <a:r>
              <a:t>CNPJ 62393679000183 · Gestão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Custódia · Custódia incluída na administração; remuneração de lastro pode ser adicional · Fundos.NET ID 733239 | 05/09/2024 | Regulamento | p. 50, Anexo I, taxas e custódia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Custódia · Custódia incluída na administração; remuneração de lastro pode ser adicional · Fundos.NET ID 1337401 | 01/10/2026 | Regulamento | p. 50, Anexo I, taxas e custódia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Custódia · Não devida remuneração ao custodiante, conforme cláusula · Fundos.NET ID 1268268 | 28/07/2026 | Regulamento | p. 51, Anexo I, taxa de custódia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Custódia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Custódia · Custódia incluída na administração; remuneração de lastro pode ser adicional · Fundos.NET ID 1072799 | 22/12/2025 | Regulamento | p. 50, Anexo I, taxas e custódia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Custódia · Custódia incluída na administração; remuneração de lastro pode ser adicional · Fundos.NET ID 1285773 | 11/08/2026 | Regulamento | p. 50, Anexo I, taxas e custódia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Custódia · Não devida remuneração ao custodiante, conforme cláusula · Fundos.NET ID 993693 | 04/09/2025 | Regulamento | p. 56, Anexo I, taxa de custódia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Custódia · Não devida remuneração ao custodiante, conforme cláusula · Fundos.NET ID 993687 | 04/09/2025 | Regulamento | p. 56, Anexo I, taxa de custódia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Custódia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Reajuste / base · Valores fixos reajustados por IPCA positivo; cálculo diário base 252, conforme cada taxa · Fundos.NET ID 733239 | 05/09/2024 | Regulamento | p. 50, Anexo I, taxas/reajuste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Reajuste / base · Valores fixos reajustados por IPCA positivo; cálculo diário base 252, conforme cada taxa · Fundos.NET ID 1337401 | 01/10/2026 | Regulamento | p. 50, Anexo I, taxas/reajuste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Reajuste / base · Valores fixos reajustados por IPCA positivo; cálculo diário base 252, conforme cada taxa · Fundos.NET ID 1268268 | 28/07/2026 | Regulamento | p. 50, Anexo I, taxas/reajuste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Reajuste / base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Reajuste / base · Valores fixos reajustados por IPCA positivo; cálculo diário base 252, conforme cada taxa · Fundos.NET ID 1072799 | 22/12/2025 | Regulamento | p. 50, Anexo I, taxas/reajuste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Reajuste / base · Valores fixos reajustados por IPCA positivo; cálculo diário base 252, conforme cada taxa · Fundos.NET ID 1285773 | 11/08/2026 | Regulamento | p. 50, Anexo I, taxas/reajuste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Reajuste / base · Valores fixos reajustados por IPCA positivo; cálculo diário base 252, conforme cada taxa · Fundos.NET ID 993693 | 04/09/2025 | Regulamento | p. 55, Anexo I, taxas/reajuste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Reajuste / base · Valores fixos reajustados por IPCA positivo; cálculo diário base 252, conforme cada taxa · Fundos.NET ID 993687 | 04/09/2025 | Regulamento | p. 56, Anexo I, taxas/reajuste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Reajuste / base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42102603000144 · Administração · 0,045% a.a. sobre PL; mínimo R$ 23.900,00/mês · Fundos.NET ID 733239 | 05/09/2024 | Regulamento | p. 50, Anexo I, remuneração dos prestadores | data/raw/42102603000144/733239_review_20261007.pdf | https://fnet.bmfbovespa.com.br/fnet/publico/visualizarDocumento?id=733239 · Observação: Base literal do documento. Atenção a mínimo/máximo e inconsistências de redação entre versões.</a:t>
            </a:r>
          </a:p>
          <a:p>
            <a:r>
              <a:t>CNPJ 44124617000194 · Administração · 0,045% a.a. sobre PL; mínimo R$ 23.900,00/mês · Fundos.NET ID 1337401 | 01/10/2026 | Regulamento | p. 50, Anexo I, remuneração dos prestadores | data/raw/44124617000194/1337401_review_20261007.pdf | https://fnet.bmfbovespa.com.br/fnet/publico/visualizarDocumento?id=1337401 · Observação: Base literal do documento. Atenção a mínimo/máximo e inconsistências de redação entre versões.</a:t>
            </a:r>
          </a:p>
          <a:p>
            <a:r>
              <a:t>CNPJ 54218673000141 · Administração · 0,04% a.a. sobre PL; mínimo R$ 27.500,00/mês · Fundos.NET ID 1268268 | 28/07/2026 | Regulamento | p. 50, Anexo I, remuneração dos prestadores | data/raw/54218673000141/1268268_review_20261007.pdf | https://fnet.bmfbovespa.com.br/fnet/publico/visualizarDocumento?id=1268268 · Observação: Base literal do documento. Atenção a mínimo/máximo e inconsistências de redação entre versões.</a:t>
            </a:r>
          </a:p>
          <a:p>
            <a:r>
              <a:t>CNPJ 54218941000125 · Administração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Administração · 0,04% a.a. sobre PL; mínimo R$ 8.000,00/mês · Fundos.NET ID 1072799 | 22/12/2025 | Regulamento | p. 50, Anexo I, remuneração dos prestadores | data/raw/54219179000100/1072799_review_20261007.pdf | https://fnet.bmfbovespa.com.br/fnet/publico/visualizarDocumento?id=1072799 · Observação: Base literal do documento. Atenção a mínimo/máximo e inconsistências de redação entre versões.</a:t>
            </a:r>
          </a:p>
          <a:p>
            <a:r>
              <a:t>CNPJ 54248022000102 · Administração · 0,04% a.a. sobre PL; mínimo R$ 8.000,00/mês · Fundos.NET ID 1285773 | 11/08/2026 | Regulamento | p. 50, Anexo I, remuneração dos prestadores | data/raw/54248022000102/1285773_review_20261007.pdf | https://fnet.bmfbovespa.com.br/fnet/publico/visualizarDocumento?id=1285773 · Observação: Base literal do documento. Atenção a mínimo/máximo e inconsistências de redação entre versões.</a:t>
            </a:r>
          </a:p>
          <a:p>
            <a:r>
              <a:t>CNPJ 57609282000146 · Administração · 0,02% a.a. sobre PL; mínimo R$ 15.000,00/mês · Fundos.NET ID 993693 | 04/09/2025 | Regulamento | p. 55, Anexo I, remuneração dos prestadores | data/raw/57609282000146/993693_review_20261007.pdf | https://fnet.bmfbovespa.com.br/fnet/publico/visualizarDocumento?id=993693 · Observação: Base literal do documento. Atenção a mínimo/máximo e inconsistências de redação entre versões.</a:t>
            </a:r>
          </a:p>
          <a:p>
            <a:r>
              <a:t>CNPJ 60356171000180 · Administração · 0,02% a.a. sobre PL; mínimo R$ 15.000,00/mês · Fundos.NET ID 993687 | 04/09/2025 | Regulamento | p. 55, Anexo I, remuneração dos prestadores | data/raw/60356171000180/993687_review_20261007.pdf | https://fnet.bmfbovespa.com.br/fnet/publico/visualizarDocumento?id=993687 · Observação: Base literal do documento. Atenção a mínimo/máximo e inconsistências de redação entre versões.</a:t>
            </a:r>
          </a:p>
          <a:p>
            <a:r>
              <a:t>CNPJ 62393679000183 · Administração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42102603000144 · Gestão · 10% a.a. sobre taxa de administração; máximo R$ 4.000,00/mês · Fundos.NET ID 733239 | 05/09/2024 | Regulamento | p. 50, Anexo I, remuneração dos prestadores | data/raw/42102603000144/733239_review_20261007.pdf | https://fnet.bmfbovespa.com.br/fnet/publico/visualizarDocumento?id=733239 · Observação: Base literal do documento. Atenção a mínimo/máximo e inconsistências de redação entre versões.</a:t>
            </a:r>
          </a:p>
          <a:p>
            <a:r>
              <a:t>CNPJ 44124617000194 · Gestão · 10% a.a. sobre taxa de administração; máximo R$ 4.000,00/mês · Fundos.NET ID 1337401 | 01/10/2026 | Regulamento | p. 50, Anexo I, remuneração dos prestadores | data/raw/44124617000194/1337401_review_20261007.pdf | https://fnet.bmfbovespa.com.br/fnet/publico/visualizarDocumento?id=1337401 · Observação: Base literal do documento. Atenção a mínimo/máximo e inconsistências de redação entre versões.</a:t>
            </a:r>
          </a:p>
          <a:p>
            <a:r>
              <a:t>CNPJ 54218673000141 · Gestão · 10% a.a. sobre PL; máximo R$ 4.000,00/mês · Fundos.NET ID 1268268 | 28/07/2026 | Regulamento | p. 51, Anexo I, remuneração dos prestadores | data/raw/54218673000141/1268268_review_20261007.pdf | https://fnet.bmfbovespa.com.br/fnet/publico/visualizarDocumento?id=1268268 · Observação: Base literal do documento. Atenção a mínimo/máximo e inconsistências de redação entre versões.</a:t>
            </a:r>
          </a:p>
          <a:p>
            <a:r>
              <a:t>CNPJ 54218941000125 · Gestão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Gestão · 10% a.a. sobre taxa de administração; máximo R$ 4.000,00/mês · Fundos.NET ID 1072799 | 22/12/2025 | Regulamento | p. 50, Anexo I, remuneração dos prestadores | data/raw/54219179000100/1072799_review_20261007.pdf | https://fnet.bmfbovespa.com.br/fnet/publico/visualizarDocumento?id=1072799 · Observação: Base literal do documento. Atenção a mínimo/máximo e inconsistências de redação entre versões.</a:t>
            </a:r>
          </a:p>
          <a:p>
            <a:r>
              <a:t>CNPJ 54248022000102 · Gestão · 10% a.a. sobre PL; máximo R$ 4.000,00/mês · Fundos.NET ID 1285773 | 11/08/2026 | Regulamento | p. 50, Anexo I, remuneração dos prestadores | data/raw/54248022000102/1285773_review_20261007.pdf | https://fnet.bmfbovespa.com.br/fnet/publico/visualizarDocumento?id=1285773 · Observação: Base literal do documento. Atenção a mínimo/máximo e inconsistências de redação entre versões.</a:t>
            </a:r>
          </a:p>
          <a:p>
            <a:r>
              <a:t>CNPJ 57609282000146 · Gestão · 0,08% a.a. sobre PL; máximo R$ 7.000,00/mês · Fundos.NET ID 993693 | 04/09/2025 | Regulamento | p. 55, Anexo I, remuneração dos prestadores | data/raw/57609282000146/993693_review_20261007.pdf | https://fnet.bmfbovespa.com.br/fnet/publico/visualizarDocumento?id=993693 · Observação: Base literal do documento. Atenção a mínimo/máximo e inconsistências de redação entre versões.</a:t>
            </a:r>
          </a:p>
          <a:p>
            <a:r>
              <a:t>CNPJ 60356171000180 · Gestão · 0,06% a.a. sobre PL; mínimo R$ 7.000,00/mês · Fundos.NET ID 993687 | 04/09/2025 | Regulamento | p. 56, Anexo I, remuneração dos prestadores | data/raw/60356171000180/993687_review_20261007.pdf | https://fnet.bmfbovespa.com.br/fnet/publico/visualizarDocumento?id=993687 · Observação: Base literal do documento. Atenção a mínimo/máximo e inconsistências de redação entre versões.</a:t>
            </a:r>
          </a:p>
          <a:p>
            <a:r>
              <a:t>CNPJ 62393679000183 · Gestão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Custódia · Custódia incluída na administração; remuneração de lastro pode ser adicional · Fundos.NET ID 733239 | 05/09/2024 | Regulamento | p. 50, Anexo I, taxas e custódia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Custódia · Custódia incluída na administração; remuneração de lastro pode ser adicional · Fundos.NET ID 1337401 | 01/10/2026 | Regulamento | p. 50, Anexo I, taxas e custódia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Custódia · Não devida remuneração ao custodiante, conforme cláusula · Fundos.NET ID 1268268 | 28/07/2026 | Regulamento | p. 51, Anexo I, taxa de custódia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Custódia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Custódia · Custódia incluída na administração; remuneração de lastro pode ser adicional · Fundos.NET ID 1072799 | 22/12/2025 | Regulamento | p. 50, Anexo I, taxas e custódia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Custódia · Custódia incluída na administração; remuneração de lastro pode ser adicional · Fundos.NET ID 1285773 | 11/08/2026 | Regulamento | p. 50, Anexo I, taxas e custódia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Custódia · Não devida remuneração ao custodiante, conforme cláusula · Fundos.NET ID 993693 | 04/09/2025 | Regulamento | p. 56, Anexo I, taxa de custódia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Custódia · Não devida remuneração ao custodiante, conforme cláusula · Fundos.NET ID 993687 | 04/09/2025 | Regulamento | p. 56, Anexo I, taxa de custódia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Custódia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42102603000144 · Reajuste / base · Valores fixos reajustados por IPCA positivo; cálculo diário base 252, conforme cada taxa · Fundos.NET ID 733239 | 05/09/2024 | Regulamento | p. 50, Anexo I, taxas/reajuste | data/raw/42102603000144/733239_review_20261007.pdf | https://fnet.bmfbovespa.com.br/fnet/publico/visualizarDocumento?id=733239 · Observação: Cláusula documental; verificar vigência e eventuais aditamentos posteriores.</a:t>
            </a:r>
          </a:p>
          <a:p>
            <a:r>
              <a:t>CNPJ 44124617000194 · Reajuste / base · Valores fixos reajustados por IPCA positivo; cálculo diário base 252, conforme cada taxa · Fundos.NET ID 1337401 | 01/10/2026 | Regulamento | p. 50, Anexo I, taxas/reajuste | data/raw/44124617000194/1337401_review_20261007.pdf | https://fnet.bmfbovespa.com.br/fnet/publico/visualizarDocumento?id=1337401 · Observação: Cláusula documental; verificar vigência e eventuais aditamentos posteriores.</a:t>
            </a:r>
          </a:p>
          <a:p>
            <a:r>
              <a:t>CNPJ 54218673000141 · Reajuste / base · Valores fixos reajustados por IPCA positivo; cálculo diário base 252, conforme cada taxa · Fundos.NET ID 1268268 | 28/07/2026 | Regulamento | p. 50, Anexo I, taxas/reajuste | data/raw/54218673000141/1268268_review_20261007.pdf | https://fnet.bmfbovespa.com.br/fnet/publico/visualizarDocumento?id=1268268 · Observação: Cláusula documental; verificar vigência e eventuais aditamentos posteriores.</a:t>
            </a:r>
          </a:p>
          <a:p>
            <a:r>
              <a:t>CNPJ 54218941000125 · Reajuste / base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Reajuste / base · Valores fixos reajustados por IPCA positivo; cálculo diário base 252, conforme cada taxa · Fundos.NET ID 1072799 | 22/12/2025 | Regulamento | p. 50, Anexo I, taxas/reajuste | data/raw/54219179000100/1072799_review_20261007.pdf | https://fnet.bmfbovespa.com.br/fnet/publico/visualizarDocumento?id=1072799 · Observação: Cláusula documental; verificar vigência e eventuais aditamentos posteriores.</a:t>
            </a:r>
          </a:p>
          <a:p>
            <a:r>
              <a:t>CNPJ 54248022000102 · Reajuste / base · Valores fixos reajustados por IPCA positivo; cálculo diário base 252, conforme cada taxa · Fundos.NET ID 1285773 | 11/08/2026 | Regulamento | p. 50, Anexo I, taxas/reajuste | data/raw/54248022000102/1285773_review_20261007.pdf | https://fnet.bmfbovespa.com.br/fnet/publico/visualizarDocumento?id=1285773 · Observação: Cláusula documental; verificar vigência e eventuais aditamentos posteriores.</a:t>
            </a:r>
          </a:p>
          <a:p>
            <a:r>
              <a:t>CNPJ 57609282000146 · Reajuste / base · Valores fixos reajustados por IPCA positivo; cálculo diário base 252, conforme cada taxa · Fundos.NET ID 993693 | 04/09/2025 | Regulamento | p. 55, Anexo I, taxas/reajuste | data/raw/57609282000146/993693_review_20261007.pdf | https://fnet.bmfbovespa.com.br/fnet/publico/visualizarDocumento?id=993693 · Observação: Cláusula documental; verificar vigência e eventuais aditamentos posteriores.</a:t>
            </a:r>
          </a:p>
          <a:p>
            <a:r>
              <a:t>CNPJ 60356171000180 · Reajuste / base · Valores fixos reajustados por IPCA positivo; cálculo diário base 252, conforme cada taxa · Fundos.NET ID 993687 | 04/09/2025 | Regulamento | p. 56, Anexo I, taxas/reajuste | data/raw/60356171000180/993687_review_20261007.pdf | https://fnet.bmfbovespa.com.br/fnet/publico/visualizarDocumento?id=993687 · Observação: Cláusula documental; verificar vigência e eventuais aditamentos posteriores.</a:t>
            </a:r>
          </a:p>
          <a:p>
            <a:r>
              <a:t>CNPJ 62393679000183 · Reajuste / base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Alocação/subordinação IME · DC / PL: proxy com validação de elegibilidade e denominador; Subordinadas / PL: conferir subclasses e fórmula do índice · Fundos.NET ID 733239 | 05/09/2024 | Regulamento | p. 2, Anexo e avaliação metodológica da revisão | data/raw/42102603000144/733239_review_20261007.pdf | https://fnet.bmfbovespa.com.br/fnet/publico/visualizarDocumento?id=733239 |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Alocação/subordinação IME · DC / PL: proxy com validação de elegibilidade e denominador; Subordinadas / PL: conferir subclasses e fórmula do índice · Fundos.NET ID 1337401 | 01/10/2026 | Regulamento | p. 2, Anexo e avaliação metodológica da revisão | data/raw/44124617000194/1337401_review_20261007.pdf | https://fnet.bmfbovespa.com.br/fnet/publico/visualizarDocumento?id=1337401 |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Alocação/subordinação IME · DC / PL: proxy com validação de elegibilidade e denominador; Subordinadas / PL: conferir subclasses e fórmula do índice · Fundos.NET ID 1268268 | 28/07/2026 | Regulamento | p. 31, Anexo e avaliação metodológica da revisão | data/raw/54218673000141/1268268_review_20261007.pdf | https://fnet.bmfbovespa.com.br/fnet/publico/visualizarDocumento?id=1268268 |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Alocação/subordinação IME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Alocação/subordinação IME · DC / PL: proxy com validação de elegibilidade e denominador; Subordinadas / PL: conferir subclasses e fórmula do índice · Fundos.NET ID 1072799 | 22/12/2025 | Regulamento | p. 30, Anexo e avaliação metodológica da revisão | data/raw/54219179000100/1072799_review_20261007.pdf | https://fnet.bmfbovespa.com.br/fnet/publico/visualizarDocumento?id=1072799 |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Alocação/subordinação IME · DC / PL: proxy com validação de elegibilidade e denominador; Subordinadas / PL: conferir subclasses e fórmula do índice · Fundos.NET ID 1285773 | 11/08/2026 | Regulamento | p. 30, Anexo e avaliação metodológica da revisão | data/raw/54248022000102/1285773_review_20261007.pdf | https://fnet.bmfbovespa.com.br/fnet/publico/visualizarDocumento?id=1285773 |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Alocação/subordinação IME · DC / PL: proxy com validação de elegibilidade e denominador; Subordinadas / PL: conferir subclasses e fórmula do índice · Fundos.NET ID 993693 | 04/09/2025 | Regulamento | p. 33, Anexo e avaliação metodológica da revisão | data/raw/57609282000146/993693_review_20261007.pdf | https://fnet.bmfbovespa.com.br/fnet/publico/visualizarDocumento?id=993693 |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Alocação/subordinação IME · DC / PL: proxy com validação de elegibilidade e denominador; Subordinadas / PL: conferir subclasses e fórmula do índice · Fundos.NET ID 993687 | 04/09/2025 | Regulamento | p. 33, Anexo e avaliação metodológica da revisão | data/raw/60356171000180/993687_review_20261007.pdf | https://fnet.bmfbovespa.com.br/fnet/publico/visualizarDocumento?id=993687 |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Alocação/subordinação IME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Inadimplência/PDD IME · Over 30/60/90 e PDD / crédito: indicadores agregados, sem equivalência automática a gatilhos · Fundos.NET ID 733239 | 05/09/2024 | Regulamento | p. 3,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Inadimplência/PDD IME · Over 30/60/90 e PDD / crédito: indicadores agregados, sem equivalência automática a gatilhos · Fundos.NET ID 1337401 | 01/10/2026 | Regulamento | p. 1,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Inadimplência/PDD IME · Over 30/60/90 e PDD / crédito: indicadores agregados, sem equivalência automática a gatilhos · Fundos.NET ID 1268268 | 28/07/2026 | Regulamento | p. 5,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Inadimplência/PDD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Inadimplência/PDD IME · Over 30/60/90 e PDD / crédito: indicadores agregados, sem equivalência automática a gatilhos · Fundos.NET ID 1072799 | 22/12/2025 | Regulamento | p. 4,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Inadimplência/PDD IME · Over 30/60/90 e PDD / crédito: indicadores agregados, sem equivalência automática a gatilhos · Fundos.NET ID 1285773 | 11/08/2026 | Regulamento | p. 4,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Inadimplência/PDD IME · Over 30/60/90 e PDD / crédito: indicadores agregados, sem equivalência automática a gatilhos · Fundos.NET ID 993693 | 04/09/2025 | Regulamento | p. 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Inadimplência/PDD IME · Over 30/60/90 e PDD / crédito: indicadores agregados, sem equivalência automática a gatilhos · Fundos.NET ID 993687 | 04/09/2025 | Regulamento | p. 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Inadimplência/PDD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Controles documentais · Rating, prestadores, cessão e insolvência: controle documental/manual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Controles documentais · Rating, prestadores, cessão e insolvência: controle documental/manual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Controles documentais · Rating, prestadores, cessão e insolvência: controle documental/manual · Fundos.NET ID 1268268 | 28/07/2026 | Regulamento | p. 3,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Controles documentais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Controles documentais · Rating, prestadores, cessão e insolvência: controle documental/manual · Fundos.NET ID 1072799 | 22/12/2025 | Regulamento | p. 2,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Controles documentais · Rating, prestadores, cessão e insolvência: controle documental/manual · Fundos.NET ID 1285773 | 11/08/2026 | Regulamento | p. 2,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Controles documentais · Rating, prestadores, cessão e insolvência: controle documental/manual · Fundos.NET ID 993693 | 04/09/2025 | Regulamento | p. 5,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Controles documentais · Rating, prestadores, cessão e insolvência: controle documental/manual · Fundos.NET ID 993687 | 04/09/2025 | Regulamento | p. 5,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Controles documentais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42102603000144 · Competência IME · Cache local: 02/2025; selecionar competência para monitorar · .cache/fundonet-ime/4d4eef0cf8a0a993f532b4b149eb7872dad71d291f28dd1aa105c18ea1ac13c1/manifest.json · Observação: Dado offline do IME; não representa atualização ao vivo nem comprovação dos critérios jurídicos.</a:t>
            </a:r>
          </a:p>
          <a:p>
            <a:r>
              <a:t>CNPJ 44124617000194 · Competência IME · Cache local: 02/2026; selecionar competência para monitorar · .cache/fundonet-ime/020d6992ee0ee64920d1ff2a26cd13d0b2e5ad87a06310d71550b9d7d6a2e087/manifest.json · Observação: Dado offline do IME; não representa atualização ao vivo nem comprovação dos critérios jurídicos.</a:t>
            </a:r>
          </a:p>
          <a:p>
            <a:r>
              <a:t>CNPJ 54218673000141 · Competência IME · Cache local: 06/2026; selecionar competência para monitorar · .cache/fundonet-ime/64f72100680f53c2fb17a73d06e74f5e9a03a300c222e22448fe7b661d907ef6/manifest.json · Observação: Dado offline do IME; não representa atualização ao vivo nem comprovação dos critérios jurídicos.</a:t>
            </a:r>
          </a:p>
          <a:p>
            <a:r>
              <a:t>CNPJ 54218941000125 · Competência IME · Cache local: 06/2026; selecionar competência para monitorar · .cache/fundonet-ime/ed07a8dcb97e6ab1c37d35a787dd7145be2a4f1b7cf66f107c111164982e55ec/manifest.json · Observação: Dado offline do IME; não representa atualização ao vivo nem comprovação dos critérios jurídicos.</a:t>
            </a:r>
          </a:p>
          <a:p>
            <a:r>
              <a:t>CNPJ 54219179000100 · Competência IME · Cache local: 06/2026; selecionar competência para monitorar · .cache/fundonet-ime/8b3ce8dc829bca8c4ba9fa65e7b00972fc995011a7bbdaf5916deea448df02bf/manifest.json · Observação: Dado offline do IME; não representa atualização ao vivo nem comprovação dos critérios jurídicos.</a:t>
            </a:r>
          </a:p>
          <a:p>
            <a:r>
              <a:t>CNPJ 54248022000102 · Competência IME · Cache local: 06/2026; selecionar competência para monitorar · .cache/fundonet-ime/179c0c3ba42bbfd34cc099706047a9f4ffb88b214d4793c6c99c14ad24b7ce7b/manifest.json · Observação: Dado offline do IME; não representa atualização ao vivo nem comprovação dos critérios jurídicos.</a:t>
            </a:r>
          </a:p>
          <a:p>
            <a:r>
              <a:t>CNPJ 57609282000146 · Competência IME · Cache local: 06/2026; selecionar competência para monitorar · .cache/fundonet-ime/b8642359df29434704b91f7073fc0cd9389fb93446d94bb69108f103a0bff0a1/manifest.json · Observação: Dado offline do IME; não representa atualização ao vivo nem comprovação dos critérios jurídicos.</a:t>
            </a:r>
          </a:p>
          <a:p>
            <a:r>
              <a:t>CNPJ 60356171000180 · Competência IME · Cache local: 06/2026; selecionar competência para monitorar · .cache/fundonet-ime/dbb1bdeebcb810d10a78c0c3367606373be76e8b154f99a685f7e6414f23d457/manifest.json · Observação: Dado offline do IME; não representa atualização ao vivo nem comprovação dos critérios jurídicos.</a:t>
            </a:r>
          </a:p>
          <a:p>
            <a:r>
              <a:t>CNPJ 62393679000183 · Competência IME · Cache local: 06/2026; selecionar competência para monitorar · .cache/fundonet-ime/3e27cda1e53dff62cd7a8ca7f9a102560378056ede675260a627629045f32831/manifest.json · Observação: Dado offline do IME; não representa atualização ao vivo nem comprovação dos critérios jurídicos.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 via IME · DC / PL: proxy com validação de elegibilidade e denominador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 via IME · DC / PL: proxy com validação de elegibilidade e denominador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 via IME · DC / PL: proxy com validação de elegibilidade e denominador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via IME · DC / PL: proxy com validação de elegibilidade e denominador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 via IME · DC / PL: proxy com validação de elegibilidade e denominador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 via IME · DC / PL: proxy com validação de elegibilidade e denominador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 via IME · DC / PL: proxy com validação de elegibilidade e denominador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Subordinação via IME · Subordinadas / PL: conferir subclasses e fórmula do índice ·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Subordinação via IME · Subordinadas / PL: conferir subclasses e fórmula do índice ·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Subordinação via IME · Subordinadas / PL: conferir subclasses e fórmula do índice ·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Subordinação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via IME · Subordinadas / PL: conferir subclasses e fórmula do índice ·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Subordinação via IME · Subordinadas / PL: conferir subclasses e fórmula do índice ·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Subordinação via IME · Subordinadas / PL: conferir subclasses e fórmula do índice ·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Subordinação via IME · Subordinadas / PL: conferir subclasses e fórmula do índice ·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Subordinação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Concentração / elegibilidade · Exige cadastro por devedor/grupo e validação de lastro; não comprovável pelo IME agregado · Fundos.NET ID 733239 | 05/09/2024 | Regulamento | p. 28,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Concentração / elegibilidade · Exige cadastro por devedor/grupo e validação de lastro; não comprovável pelo IME agregado · Fundos.NET ID 1337401 | 01/10/2026 | Regulamento | p. 28,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Concentração / elegibilidade · Exige cadastro por devedor/grupo e validação de lastro; não comprovável pelo IME agregado · Fundos.NET ID 1268268 | 28/07/2026 | Regulamento | p. 29,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Concentração /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/ elegibilidade · Exige cadastro por devedor/grupo e validação de lastro; não comprovável pelo IME agregado · Fundos.NET ID 1072799 | 22/12/2025 | Regulamento | p. 28,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Concentração / elegibilidade · Exige cadastro por devedor/grupo e validação de lastro; não comprovável pelo IME agregado · Fundos.NET ID 1285773 | 11/08/2026 | Regulamento | p. 28,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Concentração / elegibilidade · Exige cadastro por devedor/grupo e validação de lastro; não comprovável pelo IME agregado · Fundos.NET ID 993693 | 04/09/2025 | Regulamento | p. 31,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Concentração / elegibilidade · Exige cadastro por devedor/grupo e validação de lastro; não comprovável pelo IME agregado · Fundos.NET ID 993687 | 04/09/2025 | Regulamento | p. 31,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Concentração /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Reservas / pagamentos · Caixa agregado é proxy parcial; exige calendário, encargos e waterfall · Fundos.NET ID 733239 | 05/09/2024 | Regulamento | p. 19,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Reservas / pagamentos · Caixa agregado é proxy parcial; exige calendário, encargos e waterfall · Fundos.NET ID 1337401 | 01/10/2026 | Regulamento | p. 19,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Reservas / pagamentos · Caixa agregado é proxy parcial; exige calendário, encargos e waterfall · Fundos.NET ID 1268268 | 28/07/2026 | Regulamento | p. 20,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Reservas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Reservas / pagamentos · Caixa agregado é proxy parcial; exige calendário, encargos e waterfall · Fundos.NET ID 1072799 | 22/12/2025 | Regulamento | p. 19,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Reservas / pagamentos · Caixa agregado é proxy parcial; exige calendário, encargos e waterfall · Fundos.NET ID 1285773 | 11/08/2026 | Regulamento | p. 19,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Reservas / pagamentos · Caixa agregado é proxy parcial; exige calendário, encargos e waterfall · Fundos.NET ID 993693 | 04/09/2025 | Regulamento | p. 22,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Reservas / pagamentos · Caixa agregado é proxy parcial; exige calendário, encargos e waterfall · Fundos.NET ID 993687 | 04/09/2025 | Regulamento | p. 22,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Reservas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Chargeback / recompra · Recompras / crédito é proxy parcial; cancelamento e chargeback dependem de dados complementares · Fundos.NET ID 733239 | 05/09/2024 | Regulamento | p. 55,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Chargeback / recompra · Recompras / crédito é proxy parcial; cancelamento e chargeback dependem de dados complementares · Fundos.NET ID 1337401 | 01/10/2026 | Regulamento | p. 40,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Chargeback / recompra · Recompras / crédito é proxy parcial; cancelamento e chargeback dependem de dados complementares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Chargeback / 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Chargeback / recompra · Recompras / crédito é proxy parcial; cancelamento e chargeback dependem de dados complementares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Chargeback / recompra · Recompras / crédito é proxy parcial; cancelamento e chargeback dependem de dados complementares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Chargeback / recompra · Recompras / crédito é proxy parcial; cancelamento e chargeback dependem de dados complementares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Chargeback / recompra · Recompras / crédito é proxy parcial; cancelamento e chargeback dependem de dados complementares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Chargeback / 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Alocação/subordinação IME · DC / PL: proxy com validação de elegibilidade e denominador; Subordinadas / PL: conferir subclasses e fórmula do índice · Fundos.NET ID 733239 | 05/09/2024 | Regulamento | p. 2, Anexo e avaliação metodológica da revisão | data/raw/42102603000144/733239_review_20261007.pdf | https://fnet.bmfbovespa.com.br/fnet/publico/visualizarDocumento?id=733239 |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Alocação/subordinação IME · DC / PL: proxy com validação de elegibilidade e denominador; Subordinadas / PL: conferir subclasses e fórmula do índice · Fundos.NET ID 1337401 | 01/10/2026 | Regulamento | p. 2, Anexo e avaliação metodológica da revisão | data/raw/44124617000194/1337401_review_20261007.pdf | https://fnet.bmfbovespa.com.br/fnet/publico/visualizarDocumento?id=1337401 |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Alocação/subordinação IME · DC / PL: proxy com validação de elegibilidade e denominador; Subordinadas / PL: conferir subclasses e fórmula do índice · Fundos.NET ID 1268268 | 28/07/2026 | Regulamento | p. 31, Anexo e avaliação metodológica da revisão | data/raw/54218673000141/1268268_review_20261007.pdf | https://fnet.bmfbovespa.com.br/fnet/publico/visualizarDocumento?id=1268268 |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Alocação/subordinação IME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Alocação/subordinação IME · DC / PL: proxy com validação de elegibilidade e denominador; Subordinadas / PL: conferir subclasses e fórmula do índice · Fundos.NET ID 1072799 | 22/12/2025 | Regulamento | p. 30, Anexo e avaliação metodológica da revisão | data/raw/54219179000100/1072799_review_20261007.pdf | https://fnet.bmfbovespa.com.br/fnet/publico/visualizarDocumento?id=1072799 |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Alocação/subordinação IME · DC / PL: proxy com validação de elegibilidade e denominador; Subordinadas / PL: conferir subclasses e fórmula do índice · Fundos.NET ID 1285773 | 11/08/2026 | Regulamento | p. 30, Anexo e avaliação metodológica da revisão | data/raw/54248022000102/1285773_review_20261007.pdf | https://fnet.bmfbovespa.com.br/fnet/publico/visualizarDocumento?id=1285773 |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Alocação/subordinação IME · DC / PL: proxy com validação de elegibilidade e denominador; Subordinadas / PL: conferir subclasses e fórmula do índice · Fundos.NET ID 993693 | 04/09/2025 | Regulamento | p. 33, Anexo e avaliação metodológica da revisão | data/raw/57609282000146/993693_review_20261007.pdf | https://fnet.bmfbovespa.com.br/fnet/publico/visualizarDocumento?id=993693 |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Alocação/subordinação IME · DC / PL: proxy com validação de elegibilidade e denominador; Subordinadas / PL: conferir subclasses e fórmula do índice · Fundos.NET ID 993687 | 04/09/2025 | Regulamento | p. 33, Anexo e avaliação metodológica da revisão | data/raw/60356171000180/993687_review_20261007.pdf | https://fnet.bmfbovespa.com.br/fnet/publico/visualizarDocumento?id=993687 |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Alocação/subordinação IME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Inadimplência/PDD IME · Over 30/60/90 e PDD / crédito: indicadores agregados, sem equivalência automática a gatilhos · Fundos.NET ID 733239 | 05/09/2024 | Regulamento | p. 3,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Inadimplência/PDD IME · Over 30/60/90 e PDD / crédito: indicadores agregados, sem equivalência automática a gatilhos · Fundos.NET ID 1337401 | 01/10/2026 | Regulamento | p. 1,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Inadimplência/PDD IME · Over 30/60/90 e PDD / crédito: indicadores agregados, sem equivalência automática a gatilhos · Fundos.NET ID 1268268 | 28/07/2026 | Regulamento | p. 5,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Inadimplência/PDD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Inadimplência/PDD IME · Over 30/60/90 e PDD / crédito: indicadores agregados, sem equivalência automática a gatilhos · Fundos.NET ID 1072799 | 22/12/2025 | Regulamento | p. 4,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Inadimplência/PDD IME · Over 30/60/90 e PDD / crédito: indicadores agregados, sem equivalência automática a gatilhos · Fundos.NET ID 1285773 | 11/08/2026 | Regulamento | p. 4,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Inadimplência/PDD IME · Over 30/60/90 e PDD / crédito: indicadores agregados, sem equivalência automática a gatilhos · Fundos.NET ID 993693 | 04/09/2025 | Regulamento | p. 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Inadimplência/PDD IME · Over 30/60/90 e PDD / crédito: indicadores agregados, sem equivalência automática a gatilhos · Fundos.NET ID 993687 | 04/09/2025 | Regulamento | p. 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Inadimplência/PDD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Controles documentais · Rating, prestadores, cessão e insolvência: controle documental/manual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Controles documentais · Rating, prestadores, cessão e insolvência: controle documental/manual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Controles documentais · Rating, prestadores, cessão e insolvência: controle documental/manual · Fundos.NET ID 1268268 | 28/07/2026 | Regulamento | p. 3,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Controles documentais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Controles documentais · Rating, prestadores, cessão e insolvência: controle documental/manual · Fundos.NET ID 1072799 | 22/12/2025 | Regulamento | p. 2,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Controles documentais · Rating, prestadores, cessão e insolvência: controle documental/manual · Fundos.NET ID 1285773 | 11/08/2026 | Regulamento | p. 2,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Controles documentais · Rating, prestadores, cessão e insolvência: controle documental/manual · Fundos.NET ID 993693 | 04/09/2025 | Regulamento | p. 5,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Controles documentais · Rating, prestadores, cessão e insolvência: controle documental/manual · Fundos.NET ID 993687 | 04/09/2025 | Regulamento | p. 5,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Controles documentais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42102603000144 · Competência IME · Cache local: 02/2025; selecionar competência para monitorar · .cache/fundonet-ime/4d4eef0cf8a0a993f532b4b149eb7872dad71d291f28dd1aa105c18ea1ac13c1/manifest.json · Observação: Dado offline do IME; não representa atualização ao vivo nem comprovação dos critérios jurídicos.</a:t>
            </a:r>
          </a:p>
          <a:p>
            <a:r>
              <a:t>CNPJ 44124617000194 · Competência IME · Cache local: 02/2026; selecionar competência para monitorar · .cache/fundonet-ime/020d6992ee0ee64920d1ff2a26cd13d0b2e5ad87a06310d71550b9d7d6a2e087/manifest.json · Observação: Dado offline do IME; não representa atualização ao vivo nem comprovação dos critérios jurídicos.</a:t>
            </a:r>
          </a:p>
          <a:p>
            <a:r>
              <a:t>CNPJ 54218673000141 · Competência IME · Cache local: 06/2026; selecionar competência para monitorar · .cache/fundonet-ime/64f72100680f53c2fb17a73d06e74f5e9a03a300c222e22448fe7b661d907ef6/manifest.json · Observação: Dado offline do IME; não representa atualização ao vivo nem comprovação dos critérios jurídicos.</a:t>
            </a:r>
          </a:p>
          <a:p>
            <a:r>
              <a:t>CNPJ 54218941000125 · Competência IME · Cache local: 06/2026; selecionar competência para monitorar · .cache/fundonet-ime/ed07a8dcb97e6ab1c37d35a787dd7145be2a4f1b7cf66f107c111164982e55ec/manifest.json · Observação: Dado offline do IME; não representa atualização ao vivo nem comprovação dos critérios jurídicos.</a:t>
            </a:r>
          </a:p>
          <a:p>
            <a:r>
              <a:t>CNPJ 54219179000100 · Competência IME · Cache local: 06/2026; selecionar competência para monitorar · .cache/fundonet-ime/8b3ce8dc829bca8c4ba9fa65e7b00972fc995011a7bbdaf5916deea448df02bf/manifest.json · Observação: Dado offline do IME; não representa atualização ao vivo nem comprovação dos critérios jurídicos.</a:t>
            </a:r>
          </a:p>
          <a:p>
            <a:r>
              <a:t>CNPJ 54248022000102 · Competência IME · Cache local: 06/2026; selecionar competência para monitorar · .cache/fundonet-ime/179c0c3ba42bbfd34cc099706047a9f4ffb88b214d4793c6c99c14ad24b7ce7b/manifest.json · Observação: Dado offline do IME; não representa atualização ao vivo nem comprovação dos critérios jurídicos.</a:t>
            </a:r>
          </a:p>
          <a:p>
            <a:r>
              <a:t>CNPJ 57609282000146 · Competência IME · Cache local: 06/2026; selecionar competência para monitorar · .cache/fundonet-ime/b8642359df29434704b91f7073fc0cd9389fb93446d94bb69108f103a0bff0a1/manifest.json · Observação: Dado offline do IME; não representa atualização ao vivo nem comprovação dos critérios jurídicos.</a:t>
            </a:r>
          </a:p>
          <a:p>
            <a:r>
              <a:t>CNPJ 60356171000180 · Competência IME · Cache local: 06/2026; selecionar competência para monitorar · .cache/fundonet-ime/dbb1bdeebcb810d10a78c0c3367606373be76e8b154f99a685f7e6414f23d457/manifest.json · Observação: Dado offline do IME; não representa atualização ao vivo nem comprovação dos critérios jurídicos.</a:t>
            </a:r>
          </a:p>
          <a:p>
            <a:r>
              <a:t>CNPJ 62393679000183 · Competência IME · Cache local: 06/2026; selecionar competência para monitorar · .cache/fundonet-ime/3e27cda1e53dff62cd7a8ca7f9a102560378056ede675260a627629045f32831/manifest.json · Observação: Dado offline do IME; não representa atualização ao vivo nem comprovação dos critérios jurídicos.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 via IME · DC / PL: proxy com validação de elegibilidade e denominador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 via IME · DC / PL: proxy com validação de elegibilidade e denominador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 via IME · DC / PL: proxy com validação de elegibilidade e denominador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via IME · DC / PL: proxy com validação de elegibilidade e denominador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 via IME · DC / PL: proxy com validação de elegibilidade e denominador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 via IME · DC / PL: proxy com validação de elegibilidade e denominador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 via IME · DC / PL: proxy com validação de elegibilidade e denominador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Subordinação via IME · Subordinadas / PL: conferir subclasses e fórmula do índice ·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Subordinação via IME · Subordinadas / PL: conferir subclasses e fórmula do índice ·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Subordinação via IME · Subordinadas / PL: conferir subclasses e fórmula do índice ·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Subordinação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via IME · Subordinadas / PL: conferir subclasses e fórmula do índice ·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Subordinação via IME · Subordinadas / PL: conferir subclasses e fórmula do índice ·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Subordinação via IME · Subordinadas / PL: conferir subclasses e fórmula do índice ·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Subordinação via IME · Subordinadas / PL: conferir subclasses e fórmula do índice ·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Subordinação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Concentração / elegibilidade · Exige cadastro por devedor/grupo e validação de lastro; não comprovável pelo IME agregado · Fundos.NET ID 733239 | 05/09/2024 | Regulamento | p. 28,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Concentração / elegibilidade · Exige cadastro por devedor/grupo e validação de lastro; não comprovável pelo IME agregado · Fundos.NET ID 1337401 | 01/10/2026 | Regulamento | p. 28,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Concentração / elegibilidade · Exige cadastro por devedor/grupo e validação de lastro; não comprovável pelo IME agregado · Fundos.NET ID 1268268 | 28/07/2026 | Regulamento | p. 29,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Concentração /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/ elegibilidade · Exige cadastro por devedor/grupo e validação de lastro; não comprovável pelo IME agregado · Fundos.NET ID 1072799 | 22/12/2025 | Regulamento | p. 28,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Concentração / elegibilidade · Exige cadastro por devedor/grupo e validação de lastro; não comprovável pelo IME agregado · Fundos.NET ID 1285773 | 11/08/2026 | Regulamento | p. 28,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Concentração / elegibilidade · Exige cadastro por devedor/grupo e validação de lastro; não comprovável pelo IME agregado · Fundos.NET ID 993693 | 04/09/2025 | Regulamento | p. 31,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Concentração / elegibilidade · Exige cadastro por devedor/grupo e validação de lastro; não comprovável pelo IME agregado · Fundos.NET ID 993687 | 04/09/2025 | Regulamento | p. 31,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Concentração /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Reservas / pagamentos · Caixa agregado é proxy parcial; exige calendário, encargos e waterfall · Fundos.NET ID 733239 | 05/09/2024 | Regulamento | p. 19,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Reservas / pagamentos · Caixa agregado é proxy parcial; exige calendário, encargos e waterfall · Fundos.NET ID 1337401 | 01/10/2026 | Regulamento | p. 19,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Reservas / pagamentos · Caixa agregado é proxy parcial; exige calendário, encargos e waterfall · Fundos.NET ID 1268268 | 28/07/2026 | Regulamento | p. 20,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Reservas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Reservas / pagamentos · Caixa agregado é proxy parcial; exige calendário, encargos e waterfall · Fundos.NET ID 1072799 | 22/12/2025 | Regulamento | p. 19,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Reservas / pagamentos · Caixa agregado é proxy parcial; exige calendário, encargos e waterfall · Fundos.NET ID 1285773 | 11/08/2026 | Regulamento | p. 19,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Reservas / pagamentos · Caixa agregado é proxy parcial; exige calendário, encargos e waterfall · Fundos.NET ID 993693 | 04/09/2025 | Regulamento | p. 22,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Reservas / pagamentos · Caixa agregado é proxy parcial; exige calendário, encargos e waterfall · Fundos.NET ID 993687 | 04/09/2025 | Regulamento | p. 22,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Reservas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Chargeback / recompra · Recompras / crédito é proxy parcial; cancelamento e chargeback dependem de dados complementares · Fundos.NET ID 733239 | 05/09/2024 | Regulamento | p. 55,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Chargeback / recompra · Recompras / crédito é proxy parcial; cancelamento e chargeback dependem de dados complementares · Fundos.NET ID 1337401 | 01/10/2026 | Regulamento | p. 40,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Chargeback / recompra · Recompras / crédito é proxy parcial; cancelamento e chargeback dependem de dados complementares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Chargeback / 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Chargeback / recompra · Recompras / crédito é proxy parcial; cancelamento e chargeback dependem de dados complementares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Chargeback / recompra · Recompras / crédito é proxy parcial; cancelamento e chargeback dependem de dados complementares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Chargeback / recompra · Recompras / crédito é proxy parcial; cancelamento e chargeback dependem de dados complementares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Chargeback / recompra · Recompras / crédito é proxy parcial; cancelamento e chargeback dependem de dados complementares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Chargeback / 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Alocação/subordinação IME · DC / PL: proxy com validação de elegibilidade e denominador; Subordinadas / PL: conferir subclasses e fórmula do índice · Fundos.NET ID 733239 | 05/09/2024 | Regulamento | p. 2, Anexo e avaliação metodológica da revisão | data/raw/42102603000144/733239_review_20261007.pdf | https://fnet.bmfbovespa.com.br/fnet/publico/visualizarDocumento?id=733239 |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Alocação/subordinação IME · DC / PL: proxy com validação de elegibilidade e denominador; Subordinadas / PL: conferir subclasses e fórmula do índice · Fundos.NET ID 1337401 | 01/10/2026 | Regulamento | p. 2, Anexo e avaliação metodológica da revisão | data/raw/44124617000194/1337401_review_20261007.pdf | https://fnet.bmfbovespa.com.br/fnet/publico/visualizarDocumento?id=1337401 |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Alocação/subordinação IME · DC / PL: proxy com validação de elegibilidade e denominador; Subordinadas / PL: conferir subclasses e fórmula do índice · Fundos.NET ID 1268268 | 28/07/2026 | Regulamento | p. 31, Anexo e avaliação metodológica da revisão | data/raw/54218673000141/1268268_review_20261007.pdf | https://fnet.bmfbovespa.com.br/fnet/publico/visualizarDocumento?id=1268268 |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Alocação/subordinação IME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Alocação/subordinação IME · DC / PL: proxy com validação de elegibilidade e denominador; Subordinadas / PL: conferir subclasses e fórmula do índice · Fundos.NET ID 1072799 | 22/12/2025 | Regulamento | p. 30, Anexo e avaliação metodológica da revisão | data/raw/54219179000100/1072799_review_20261007.pdf | https://fnet.bmfbovespa.com.br/fnet/publico/visualizarDocumento?id=1072799 |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Alocação/subordinação IME · DC / PL: proxy com validação de elegibilidade e denominador; Subordinadas / PL: conferir subclasses e fórmula do índice · Fundos.NET ID 1285773 | 11/08/2026 | Regulamento | p. 30, Anexo e avaliação metodológica da revisão | data/raw/54248022000102/1285773_review_20261007.pdf | https://fnet.bmfbovespa.com.br/fnet/publico/visualizarDocumento?id=1285773 |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Alocação/subordinação IME · DC / PL: proxy com validação de elegibilidade e denominador; Subordinadas / PL: conferir subclasses e fórmula do índice · Fundos.NET ID 993693 | 04/09/2025 | Regulamento | p. 33, Anexo e avaliação metodológica da revisão | data/raw/57609282000146/993693_review_20261007.pdf | https://fnet.bmfbovespa.com.br/fnet/publico/visualizarDocumento?id=993693 |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Alocação/subordinação IME · DC / PL: proxy com validação de elegibilidade e denominador; Subordinadas / PL: conferir subclasses e fórmula do índice · Fundos.NET ID 993687 | 04/09/2025 | Regulamento | p. 33, Anexo e avaliação metodológica da revisão | data/raw/60356171000180/993687_review_20261007.pdf | https://fnet.bmfbovespa.com.br/fnet/publico/visualizarDocumento?id=993687 |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Alocação/subordinação IME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Inadimplência/PDD IME · Over 30/60/90 e PDD / crédito: indicadores agregados, sem equivalência automática a gatilhos · Fundos.NET ID 733239 | 05/09/2024 | Regulamento | p. 3,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Inadimplência/PDD IME · Over 30/60/90 e PDD / crédito: indicadores agregados, sem equivalência automática a gatilhos · Fundos.NET ID 1337401 | 01/10/2026 | Regulamento | p. 1,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Inadimplência/PDD IME · Over 30/60/90 e PDD / crédito: indicadores agregados, sem equivalência automática a gatilhos · Fundos.NET ID 1268268 | 28/07/2026 | Regulamento | p. 5,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Inadimplência/PDD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Inadimplência/PDD IME · Over 30/60/90 e PDD / crédito: indicadores agregados, sem equivalência automática a gatilhos · Fundos.NET ID 1072799 | 22/12/2025 | Regulamento | p. 4,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Inadimplência/PDD IME · Over 30/60/90 e PDD / crédito: indicadores agregados, sem equivalência automática a gatilhos · Fundos.NET ID 1285773 | 11/08/2026 | Regulamento | p. 4,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Inadimplência/PDD IME · Over 30/60/90 e PDD / crédito: indicadores agregados, sem equivalência automática a gatilhos · Fundos.NET ID 993693 | 04/09/2025 | Regulamento | p. 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Inadimplência/PDD IME · Over 30/60/90 e PDD / crédito: indicadores agregados, sem equivalência automática a gatilhos · Fundos.NET ID 993687 | 04/09/2025 | Regulamento | p. 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Inadimplência/PDD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Controles documentais · Rating, prestadores, cessão e insolvência: controle documental/manual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Controles documentais · Rating, prestadores, cessão e insolvência: controle documental/manual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Controles documentais · Rating, prestadores, cessão e insolvência: controle documental/manual · Fundos.NET ID 1268268 | 28/07/2026 | Regulamento | p. 3,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Controles documentais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Controles documentais · Rating, prestadores, cessão e insolvência: controle documental/manual · Fundos.NET ID 1072799 | 22/12/2025 | Regulamento | p. 2,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Controles documentais · Rating, prestadores, cessão e insolvência: controle documental/manual · Fundos.NET ID 1285773 | 11/08/2026 | Regulamento | p. 2,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Controles documentais · Rating, prestadores, cessão e insolvência: controle documental/manual · Fundos.NET ID 993693 | 04/09/2025 | Regulamento | p. 5,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Controles documentais · Rating, prestadores, cessão e insolvência: controle documental/manual · Fundos.NET ID 993687 | 04/09/2025 | Regulamento | p. 5,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Controles documentais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42102603000144 · Competência IME · Cache local: 02/2025; selecionar competência para monitorar · .cache/fundonet-ime/4d4eef0cf8a0a993f532b4b149eb7872dad71d291f28dd1aa105c18ea1ac13c1/manifest.json · Observação: Dado offline do IME; não representa atualização ao vivo nem comprovação dos critérios jurídicos.</a:t>
            </a:r>
          </a:p>
          <a:p>
            <a:r>
              <a:t>CNPJ 44124617000194 · Competência IME · Cache local: 02/2026; selecionar competência para monitorar · .cache/fundonet-ime/020d6992ee0ee64920d1ff2a26cd13d0b2e5ad87a06310d71550b9d7d6a2e087/manifest.json · Observação: Dado offline do IME; não representa atualização ao vivo nem comprovação dos critérios jurídicos.</a:t>
            </a:r>
          </a:p>
          <a:p>
            <a:r>
              <a:t>CNPJ 54218673000141 · Competência IME · Cache local: 06/2026; selecionar competência para monitorar · .cache/fundonet-ime/64f72100680f53c2fb17a73d06e74f5e9a03a300c222e22448fe7b661d907ef6/manifest.json · Observação: Dado offline do IME; não representa atualização ao vivo nem comprovação dos critérios jurídicos.</a:t>
            </a:r>
          </a:p>
          <a:p>
            <a:r>
              <a:t>CNPJ 54218941000125 · Competência IME · Cache local: 06/2026; selecionar competência para monitorar · .cache/fundonet-ime/ed07a8dcb97e6ab1c37d35a787dd7145be2a4f1b7cf66f107c111164982e55ec/manifest.json · Observação: Dado offline do IME; não representa atualização ao vivo nem comprovação dos critérios jurídicos.</a:t>
            </a:r>
          </a:p>
          <a:p>
            <a:r>
              <a:t>CNPJ 54219179000100 · Competência IME · Cache local: 06/2026; selecionar competência para monitorar · .cache/fundonet-ime/8b3ce8dc829bca8c4ba9fa65e7b00972fc995011a7bbdaf5916deea448df02bf/manifest.json · Observação: Dado offline do IME; não representa atualização ao vivo nem comprovação dos critérios jurídicos.</a:t>
            </a:r>
          </a:p>
          <a:p>
            <a:r>
              <a:t>CNPJ 54248022000102 · Competência IME · Cache local: 06/2026; selecionar competência para monitorar · .cache/fundonet-ime/179c0c3ba42bbfd34cc099706047a9f4ffb88b214d4793c6c99c14ad24b7ce7b/manifest.json · Observação: Dado offline do IME; não representa atualização ao vivo nem comprovação dos critérios jurídicos.</a:t>
            </a:r>
          </a:p>
          <a:p>
            <a:r>
              <a:t>CNPJ 57609282000146 · Competência IME · Cache local: 06/2026; selecionar competência para monitorar · .cache/fundonet-ime/b8642359df29434704b91f7073fc0cd9389fb93446d94bb69108f103a0bff0a1/manifest.json · Observação: Dado offline do IME; não representa atualização ao vivo nem comprovação dos critérios jurídicos.</a:t>
            </a:r>
          </a:p>
          <a:p>
            <a:r>
              <a:t>CNPJ 60356171000180 · Competência IME · Cache local: 06/2026; selecionar competência para monitorar · .cache/fundonet-ime/dbb1bdeebcb810d10a78c0c3367606373be76e8b154f99a685f7e6414f23d457/manifest.json · Observação: Dado offline do IME; não representa atualização ao vivo nem comprovação dos critérios jurídicos.</a:t>
            </a:r>
          </a:p>
          <a:p>
            <a:r>
              <a:t>CNPJ 62393679000183 · Competência IME · Cache local: 06/2026; selecionar competência para monitorar · .cache/fundonet-ime/3e27cda1e53dff62cd7a8ca7f9a102560378056ede675260a627629045f32831/manifest.json · Observação: Dado offline do IME; não representa atualização ao vivo nem comprovação dos critérios jurídicos.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 via IME · DC / PL: proxy com validação de elegibilidade e denominador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 via IME · DC / PL: proxy com validação de elegibilidade e denominador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 via IME · DC / PL: proxy com validação de elegibilidade e denominador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via IME · DC / PL: proxy com validação de elegibilidade e denominador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 via IME · DC / PL: proxy com validação de elegibilidade e denominador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 via IME · DC / PL: proxy com validação de elegibilidade e denominador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 via IME · DC / PL: proxy com validação de elegibilidade e denominador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Subordinação via IME · Subordinadas / PL: conferir subclasses e fórmula do índice ·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Subordinação via IME · Subordinadas / PL: conferir subclasses e fórmula do índice ·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Subordinação via IME · Subordinadas / PL: conferir subclasses e fórmula do índice ·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Subordinação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via IME · Subordinadas / PL: conferir subclasses e fórmula do índice ·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Subordinação via IME · Subordinadas / PL: conferir subclasses e fórmula do índice ·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Subordinação via IME · Subordinadas / PL: conferir subclasses e fórmula do índice ·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Subordinação via IME · Subordinadas / PL: conferir subclasses e fórmula do índice ·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Subordinação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Concentração / elegibilidade · Exige cadastro por devedor/grupo e validação de lastro; não comprovável pelo IME agregado · Fundos.NET ID 733239 | 05/09/2024 | Regulamento | p. 28,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Concentração / elegibilidade · Exige cadastro por devedor/grupo e validação de lastro; não comprovável pelo IME agregado · Fundos.NET ID 1337401 | 01/10/2026 | Regulamento | p. 28,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Concentração / elegibilidade · Exige cadastro por devedor/grupo e validação de lastro; não comprovável pelo IME agregado · Fundos.NET ID 1268268 | 28/07/2026 | Regulamento | p. 29,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Concentração /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/ elegibilidade · Exige cadastro por devedor/grupo e validação de lastro; não comprovável pelo IME agregado · Fundos.NET ID 1072799 | 22/12/2025 | Regulamento | p. 28,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Concentração / elegibilidade · Exige cadastro por devedor/grupo e validação de lastro; não comprovável pelo IME agregado · Fundos.NET ID 1285773 | 11/08/2026 | Regulamento | p. 28,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Concentração / elegibilidade · Exige cadastro por devedor/grupo e validação de lastro; não comprovável pelo IME agregado · Fundos.NET ID 993693 | 04/09/2025 | Regulamento | p. 31,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Concentração / elegibilidade · Exige cadastro por devedor/grupo e validação de lastro; não comprovável pelo IME agregado · Fundos.NET ID 993687 | 04/09/2025 | Regulamento | p. 31,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Concentração /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Reservas / pagamentos · Caixa agregado é proxy parcial; exige calendário, encargos e waterfall · Fundos.NET ID 733239 | 05/09/2024 | Regulamento | p. 19,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Reservas / pagamentos · Caixa agregado é proxy parcial; exige calendário, encargos e waterfall · Fundos.NET ID 1337401 | 01/10/2026 | Regulamento | p. 19,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Reservas / pagamentos · Caixa agregado é proxy parcial; exige calendário, encargos e waterfall · Fundos.NET ID 1268268 | 28/07/2026 | Regulamento | p. 20,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Reservas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Reservas / pagamentos · Caixa agregado é proxy parcial; exige calendário, encargos e waterfall · Fundos.NET ID 1072799 | 22/12/2025 | Regulamento | p. 19,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Reservas / pagamentos · Caixa agregado é proxy parcial; exige calendário, encargos e waterfall · Fundos.NET ID 1285773 | 11/08/2026 | Regulamento | p. 19,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Reservas / pagamentos · Caixa agregado é proxy parcial; exige calendário, encargos e waterfall · Fundos.NET ID 993693 | 04/09/2025 | Regulamento | p. 22,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Reservas / pagamentos · Caixa agregado é proxy parcial; exige calendário, encargos e waterfall · Fundos.NET ID 993687 | 04/09/2025 | Regulamento | p. 22,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Reservas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Chargeback / recompra · Recompras / crédito é proxy parcial; cancelamento e chargeback dependem de dados complementares · Fundos.NET ID 733239 | 05/09/2024 | Regulamento | p. 55,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Chargeback / recompra · Recompras / crédito é proxy parcial; cancelamento e chargeback dependem de dados complementares · Fundos.NET ID 1337401 | 01/10/2026 | Regulamento | p. 40,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Chargeback / recompra · Recompras / crédito é proxy parcial; cancelamento e chargeback dependem de dados complementares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Chargeback / 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Chargeback / recompra · Recompras / crédito é proxy parcial; cancelamento e chargeback dependem de dados complementares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Chargeback / recompra · Recompras / crédito é proxy parcial; cancelamento e chargeback dependem de dados complementares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Chargeback / recompra · Recompras / crédito é proxy parcial; cancelamento e chargeback dependem de dados complementares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Chargeback / recompra · Recompras / crédito é proxy parcial; cancelamento e chargeback dependem de dados complementares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Chargeback / 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Alocação/subordinação IME · DC / PL: proxy com validação de elegibilidade e denominador; Subordinadas / PL: conferir subclasses e fórmula do índice · Fundos.NET ID 733239 | 05/09/2024 | Regulamento | p. 2, Anexo e avaliação metodológica da revisão | data/raw/42102603000144/733239_review_20261007.pdf | https://fnet.bmfbovespa.com.br/fnet/publico/visualizarDocumento?id=733239 |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Alocação/subordinação IME · DC / PL: proxy com validação de elegibilidade e denominador; Subordinadas / PL: conferir subclasses e fórmula do índice · Fundos.NET ID 1337401 | 01/10/2026 | Regulamento | p. 2, Anexo e avaliação metodológica da revisão | data/raw/44124617000194/1337401_review_20261007.pdf | https://fnet.bmfbovespa.com.br/fnet/publico/visualizarDocumento?id=1337401 |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Alocação/subordinação IME · DC / PL: proxy com validação de elegibilidade e denominador; Subordinadas / PL: conferir subclasses e fórmula do índice · Fundos.NET ID 1268268 | 28/07/2026 | Regulamento | p. 31, Anexo e avaliação metodológica da revisão | data/raw/54218673000141/1268268_review_20261007.pdf | https://fnet.bmfbovespa.com.br/fnet/publico/visualizarDocumento?id=1268268 |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Alocação/subordinação IME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Alocação/subordinação IME · DC / PL: proxy com validação de elegibilidade e denominador; Subordinadas / PL: conferir subclasses e fórmula do índice · Fundos.NET ID 1072799 | 22/12/2025 | Regulamento | p. 30, Anexo e avaliação metodológica da revisão | data/raw/54219179000100/1072799_review_20261007.pdf | https://fnet.bmfbovespa.com.br/fnet/publico/visualizarDocumento?id=1072799 |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Alocação/subordinação IME · DC / PL: proxy com validação de elegibilidade e denominador; Subordinadas / PL: conferir subclasses e fórmula do índice · Fundos.NET ID 1285773 | 11/08/2026 | Regulamento | p. 30, Anexo e avaliação metodológica da revisão | data/raw/54248022000102/1285773_review_20261007.pdf | https://fnet.bmfbovespa.com.br/fnet/publico/visualizarDocumento?id=1285773 |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Alocação/subordinação IME · DC / PL: proxy com validação de elegibilidade e denominador; Subordinadas / PL: conferir subclasses e fórmula do índice · Fundos.NET ID 993693 | 04/09/2025 | Regulamento | p. 33, Anexo e avaliação metodológica da revisão | data/raw/57609282000146/993693_review_20261007.pdf | https://fnet.bmfbovespa.com.br/fnet/publico/visualizarDocumento?id=993693 |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Alocação/subordinação IME · DC / PL: proxy com validação de elegibilidade e denominador; Subordinadas / PL: conferir subclasses e fórmula do índice · Fundos.NET ID 993687 | 04/09/2025 | Regulamento | p. 33, Anexo e avaliação metodológica da revisão | data/raw/60356171000180/993687_review_20261007.pdf | https://fnet.bmfbovespa.com.br/fnet/publico/visualizarDocumento?id=993687 |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Alocação/subordinação IME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Inadimplência/PDD IME · Over 30/60/90 e PDD / crédito: indicadores agregados, sem equivalência automática a gatilhos · Fundos.NET ID 733239 | 05/09/2024 | Regulamento | p. 3,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Inadimplência/PDD IME · Over 30/60/90 e PDD / crédito: indicadores agregados, sem equivalência automática a gatilhos · Fundos.NET ID 1337401 | 01/10/2026 | Regulamento | p. 1,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Inadimplência/PDD IME · Over 30/60/90 e PDD / crédito: indicadores agregados, sem equivalência automática a gatilhos · Fundos.NET ID 1268268 | 28/07/2026 | Regulamento | p. 5,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Inadimplência/PDD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Inadimplência/PDD IME · Over 30/60/90 e PDD / crédito: indicadores agregados, sem equivalência automática a gatilhos · Fundos.NET ID 1072799 | 22/12/2025 | Regulamento | p. 4,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Inadimplência/PDD IME · Over 30/60/90 e PDD / crédito: indicadores agregados, sem equivalência automática a gatilhos · Fundos.NET ID 1285773 | 11/08/2026 | Regulamento | p. 4,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Inadimplência/PDD IME · Over 30/60/90 e PDD / crédito: indicadores agregados, sem equivalência automática a gatilhos · Fundos.NET ID 993693 | 04/09/2025 | Regulamento | p. 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Inadimplência/PDD IME · Over 30/60/90 e PDD / crédito: indicadores agregados, sem equivalência automática a gatilhos · Fundos.NET ID 993687 | 04/09/2025 | Regulamento | p. 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Inadimplência/PDD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Controles documentais · Rating, prestadores, cessão e insolvência: controle documental/manual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Controles documentais · Rating, prestadores, cessão e insolvência: controle documental/manual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Controles documentais · Rating, prestadores, cessão e insolvência: controle documental/manual · Fundos.NET ID 1268268 | 28/07/2026 | Regulamento | p. 3,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Controles documentais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Controles documentais · Rating, prestadores, cessão e insolvência: controle documental/manual · Fundos.NET ID 1072799 | 22/12/2025 | Regulamento | p. 2,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Controles documentais · Rating, prestadores, cessão e insolvência: controle documental/manual · Fundos.NET ID 1285773 | 11/08/2026 | Regulamento | p. 2,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Controles documentais · Rating, prestadores, cessão e insolvência: controle documental/manual · Fundos.NET ID 993693 | 04/09/2025 | Regulamento | p. 5,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Controles documentais · Rating, prestadores, cessão e insolvência: controle documental/manual · Fundos.NET ID 993687 | 04/09/2025 | Regulamento | p. 5,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Controles documentais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42102603000144 · Competência IME · Cache local: 02/2025; selecionar competência para monitorar · .cache/fundonet-ime/4d4eef0cf8a0a993f532b4b149eb7872dad71d291f28dd1aa105c18ea1ac13c1/manifest.json · Observação: Dado offline do IME; não representa atualização ao vivo nem comprovação dos critérios jurídicos.</a:t>
            </a:r>
          </a:p>
          <a:p>
            <a:r>
              <a:t>CNPJ 44124617000194 · Competência IME · Cache local: 02/2026; selecionar competência para monitorar · .cache/fundonet-ime/020d6992ee0ee64920d1ff2a26cd13d0b2e5ad87a06310d71550b9d7d6a2e087/manifest.json · Observação: Dado offline do IME; não representa atualização ao vivo nem comprovação dos critérios jurídicos.</a:t>
            </a:r>
          </a:p>
          <a:p>
            <a:r>
              <a:t>CNPJ 54218673000141 · Competência IME · Cache local: 06/2026; selecionar competência para monitorar · .cache/fundonet-ime/64f72100680f53c2fb17a73d06e74f5e9a03a300c222e22448fe7b661d907ef6/manifest.json · Observação: Dado offline do IME; não representa atualização ao vivo nem comprovação dos critérios jurídicos.</a:t>
            </a:r>
          </a:p>
          <a:p>
            <a:r>
              <a:t>CNPJ 54218941000125 · Competência IME · Cache local: 06/2026; selecionar competência para monitorar · .cache/fundonet-ime/ed07a8dcb97e6ab1c37d35a787dd7145be2a4f1b7cf66f107c111164982e55ec/manifest.json · Observação: Dado offline do IME; não representa atualização ao vivo nem comprovação dos critérios jurídicos.</a:t>
            </a:r>
          </a:p>
          <a:p>
            <a:r>
              <a:t>CNPJ 54219179000100 · Competência IME · Cache local: 06/2026; selecionar competência para monitorar · .cache/fundonet-ime/8b3ce8dc829bca8c4ba9fa65e7b00972fc995011a7bbdaf5916deea448df02bf/manifest.json · Observação: Dado offline do IME; não representa atualização ao vivo nem comprovação dos critérios jurídicos.</a:t>
            </a:r>
          </a:p>
          <a:p>
            <a:r>
              <a:t>CNPJ 54248022000102 · Competência IME · Cache local: 06/2026; selecionar competência para monitorar · .cache/fundonet-ime/179c0c3ba42bbfd34cc099706047a9f4ffb88b214d4793c6c99c14ad24b7ce7b/manifest.json · Observação: Dado offline do IME; não representa atualização ao vivo nem comprovação dos critérios jurídicos.</a:t>
            </a:r>
          </a:p>
          <a:p>
            <a:r>
              <a:t>CNPJ 57609282000146 · Competência IME · Cache local: 06/2026; selecionar competência para monitorar · .cache/fundonet-ime/b8642359df29434704b91f7073fc0cd9389fb93446d94bb69108f103a0bff0a1/manifest.json · Observação: Dado offline do IME; não representa atualização ao vivo nem comprovação dos critérios jurídicos.</a:t>
            </a:r>
          </a:p>
          <a:p>
            <a:r>
              <a:t>CNPJ 60356171000180 · Competência IME · Cache local: 06/2026; selecionar competência para monitorar · .cache/fundonet-ime/dbb1bdeebcb810d10a78c0c3367606373be76e8b154f99a685f7e6414f23d457/manifest.json · Observação: Dado offline do IME; não representa atualização ao vivo nem comprovação dos critérios jurídicos.</a:t>
            </a:r>
          </a:p>
          <a:p>
            <a:r>
              <a:t>CNPJ 62393679000183 · Competência IME · Cache local: 06/2026; selecionar competência para monitorar · .cache/fundonet-ime/3e27cda1e53dff62cd7a8ca7f9a102560378056ede675260a627629045f32831/manifest.json · Observação: Dado offline do IME; não representa atualização ao vivo nem comprovação dos critérios jurídicos.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 via IME · DC / PL: proxy com validação de elegibilidade e denominador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 via IME · DC / PL: proxy com validação de elegibilidade e denominador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 via IME · DC / PL: proxy com validação de elegibilidade e denominador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via IME · DC / PL: proxy com validação de elegibilidade e denominador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 via IME · DC / PL: proxy com validação de elegibilidade e denominador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 via IME · DC / PL: proxy com validação de elegibilidade e denominador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 via IME · DC / PL: proxy com validação de elegibilidade e denominador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Subordinação via IME · Subordinadas / PL: conferir subclasses e fórmula do índice ·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Subordinação via IME · Subordinadas / PL: conferir subclasses e fórmula do índice ·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Subordinação via IME · Subordinadas / PL: conferir subclasses e fórmula do índice ·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Subordinação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via IME · Subordinadas / PL: conferir subclasses e fórmula do índice ·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Subordinação via IME · Subordinadas / PL: conferir subclasses e fórmula do índice ·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Subordinação via IME · Subordinadas / PL: conferir subclasses e fórmula do índice ·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Subordinação via IME · Subordinadas / PL: conferir subclasses e fórmula do índice ·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Subordinação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Concentração / elegibilidade · Exige cadastro por devedor/grupo e validação de lastro; não comprovável pelo IME agregado · Fundos.NET ID 733239 | 05/09/2024 | Regulamento | p. 28,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Concentração / elegibilidade · Exige cadastro por devedor/grupo e validação de lastro; não comprovável pelo IME agregado · Fundos.NET ID 1337401 | 01/10/2026 | Regulamento | p. 28,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Concentração / elegibilidade · Exige cadastro por devedor/grupo e validação de lastro; não comprovável pelo IME agregado · Fundos.NET ID 1268268 | 28/07/2026 | Regulamento | p. 29,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Concentração /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/ elegibilidade · Exige cadastro por devedor/grupo e validação de lastro; não comprovável pelo IME agregado · Fundos.NET ID 1072799 | 22/12/2025 | Regulamento | p. 28,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Concentração / elegibilidade · Exige cadastro por devedor/grupo e validação de lastro; não comprovável pelo IME agregado · Fundos.NET ID 1285773 | 11/08/2026 | Regulamento | p. 28,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Concentração / elegibilidade · Exige cadastro por devedor/grupo e validação de lastro; não comprovável pelo IME agregado · Fundos.NET ID 993693 | 04/09/2025 | Regulamento | p. 31,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Concentração / elegibilidade · Exige cadastro por devedor/grupo e validação de lastro; não comprovável pelo IME agregado · Fundos.NET ID 993687 | 04/09/2025 | Regulamento | p. 31,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Concentração /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Reservas / pagamentos · Caixa agregado é proxy parcial; exige calendário, encargos e waterfall · Fundos.NET ID 733239 | 05/09/2024 | Regulamento | p. 19,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Reservas / pagamentos · Caixa agregado é proxy parcial; exige calendário, encargos e waterfall · Fundos.NET ID 1337401 | 01/10/2026 | Regulamento | p. 19,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Reservas / pagamentos · Caixa agregado é proxy parcial; exige calendário, encargos e waterfall · Fundos.NET ID 1268268 | 28/07/2026 | Regulamento | p. 20,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Reservas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Reservas / pagamentos · Caixa agregado é proxy parcial; exige calendário, encargos e waterfall · Fundos.NET ID 1072799 | 22/12/2025 | Regulamento | p. 19,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Reservas / pagamentos · Caixa agregado é proxy parcial; exige calendário, encargos e waterfall · Fundos.NET ID 1285773 | 11/08/2026 | Regulamento | p. 19,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Reservas / pagamentos · Caixa agregado é proxy parcial; exige calendário, encargos e waterfall · Fundos.NET ID 993693 | 04/09/2025 | Regulamento | p. 22,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Reservas / pagamentos · Caixa agregado é proxy parcial; exige calendário, encargos e waterfall · Fundos.NET ID 993687 | 04/09/2025 | Regulamento | p. 22,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Reservas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Chargeback / recompra · Recompras / crédito é proxy parcial; cancelamento e chargeback dependem de dados complementares · Fundos.NET ID 733239 | 05/09/2024 | Regulamento | p. 55,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Chargeback / recompra · Recompras / crédito é proxy parcial; cancelamento e chargeback dependem de dados complementares · Fundos.NET ID 1337401 | 01/10/2026 | Regulamento | p. 40,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Chargeback / recompra · Recompras / crédito é proxy parcial; cancelamento e chargeback dependem de dados complementares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Chargeback / 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Chargeback / recompra · Recompras / crédito é proxy parcial; cancelamento e chargeback dependem de dados complementares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Chargeback / recompra · Recompras / crédito é proxy parcial; cancelamento e chargeback dependem de dados complementares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Chargeback / recompra · Recompras / crédito é proxy parcial; cancelamento e chargeback dependem de dados complementares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Chargeback / recompra · Recompras / crédito é proxy parcial; cancelamento e chargeback dependem de dados complementares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Chargeback / 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Alocação/subordinação IME · DC / PL: proxy com validação de elegibilidade e denominador; Subordinadas / PL: conferir subclasses e fórmula do índice · Fundos.NET ID 733239 | 05/09/2024 | Regulamento | p. 2, Anexo e avaliação metodológica da revisão | data/raw/42102603000144/733239_review_20261007.pdf | https://fnet.bmfbovespa.com.br/fnet/publico/visualizarDocumento?id=733239 |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Alocação/subordinação IME · DC / PL: proxy com validação de elegibilidade e denominador; Subordinadas / PL: conferir subclasses e fórmula do índice · Fundos.NET ID 1337401 | 01/10/2026 | Regulamento | p. 2, Anexo e avaliação metodológica da revisão | data/raw/44124617000194/1337401_review_20261007.pdf | https://fnet.bmfbovespa.com.br/fnet/publico/visualizarDocumento?id=1337401 |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Alocação/subordinação IME · DC / PL: proxy com validação de elegibilidade e denominador; Subordinadas / PL: conferir subclasses e fórmula do índice · Fundos.NET ID 1268268 | 28/07/2026 | Regulamento | p. 31, Anexo e avaliação metodológica da revisão | data/raw/54218673000141/1268268_review_20261007.pdf | https://fnet.bmfbovespa.com.br/fnet/publico/visualizarDocumento?id=1268268 |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Alocação/subordinação IME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Alocação/subordinação IME · DC / PL: proxy com validação de elegibilidade e denominador; Subordinadas / PL: conferir subclasses e fórmula do índice · Fundos.NET ID 1072799 | 22/12/2025 | Regulamento | p. 30, Anexo e avaliação metodológica da revisão | data/raw/54219179000100/1072799_review_20261007.pdf | https://fnet.bmfbovespa.com.br/fnet/publico/visualizarDocumento?id=1072799 |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Alocação/subordinação IME · DC / PL: proxy com validação de elegibilidade e denominador; Subordinadas / PL: conferir subclasses e fórmula do índice · Fundos.NET ID 1285773 | 11/08/2026 | Regulamento | p. 30, Anexo e avaliação metodológica da revisão | data/raw/54248022000102/1285773_review_20261007.pdf | https://fnet.bmfbovespa.com.br/fnet/publico/visualizarDocumento?id=1285773 |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Alocação/subordinação IME · DC / PL: proxy com validação de elegibilidade e denominador; Subordinadas / PL: conferir subclasses e fórmula do índice · Fundos.NET ID 993693 | 04/09/2025 | Regulamento | p. 33, Anexo e avaliação metodológica da revisão | data/raw/57609282000146/993693_review_20261007.pdf | https://fnet.bmfbovespa.com.br/fnet/publico/visualizarDocumento?id=993693 |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Alocação/subordinação IME · DC / PL: proxy com validação de elegibilidade e denominador; Subordinadas / PL: conferir subclasses e fórmula do índice · Fundos.NET ID 993687 | 04/09/2025 | Regulamento | p. 33, Anexo e avaliação metodológica da revisão | data/raw/60356171000180/993687_review_20261007.pdf | https://fnet.bmfbovespa.com.br/fnet/publico/visualizarDocumento?id=993687 |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Alocação/subordinação IME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Inadimplência/PDD IME · Over 30/60/90 e PDD / crédito: indicadores agregados, sem equivalência automática a gatilhos · Fundos.NET ID 733239 | 05/09/2024 | Regulamento | p. 3,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Inadimplência/PDD IME · Over 30/60/90 e PDD / crédito: indicadores agregados, sem equivalência automática a gatilhos · Fundos.NET ID 1337401 | 01/10/2026 | Regulamento | p. 1,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Inadimplência/PDD IME · Over 30/60/90 e PDD / crédito: indicadores agregados, sem equivalência automática a gatilhos · Fundos.NET ID 1268268 | 28/07/2026 | Regulamento | p. 5,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Inadimplência/PDD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Inadimplência/PDD IME · Over 30/60/90 e PDD / crédito: indicadores agregados, sem equivalência automática a gatilhos · Fundos.NET ID 1072799 | 22/12/2025 | Regulamento | p. 4,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Inadimplência/PDD IME · Over 30/60/90 e PDD / crédito: indicadores agregados, sem equivalência automática a gatilhos · Fundos.NET ID 1285773 | 11/08/2026 | Regulamento | p. 4,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Inadimplência/PDD IME · Over 30/60/90 e PDD / crédito: indicadores agregados, sem equivalência automática a gatilhos · Fundos.NET ID 993693 | 04/09/2025 | Regulamento | p. 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Inadimplência/PDD IME · Over 30/60/90 e PDD / crédito: indicadores agregados, sem equivalência automática a gatilhos · Fundos.NET ID 993687 | 04/09/2025 | Regulamento | p. 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Inadimplência/PDD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Controles documentais · Rating, prestadores, cessão e insolvência: controle documental/manual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Controles documentais · Rating, prestadores, cessão e insolvência: controle documental/manual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Controles documentais · Rating, prestadores, cessão e insolvência: controle documental/manual · Fundos.NET ID 1268268 | 28/07/2026 | Regulamento | p. 3,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Controles documentais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Controles documentais · Rating, prestadores, cessão e insolvência: controle documental/manual · Fundos.NET ID 1072799 | 22/12/2025 | Regulamento | p. 2,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Controles documentais · Rating, prestadores, cessão e insolvência: controle documental/manual · Fundos.NET ID 1285773 | 11/08/2026 | Regulamento | p. 2,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Controles documentais · Rating, prestadores, cessão e insolvência: controle documental/manual · Fundos.NET ID 993693 | 04/09/2025 | Regulamento | p. 5,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Controles documentais · Rating, prestadores, cessão e insolvência: controle documental/manual · Fundos.NET ID 993687 | 04/09/2025 | Regulamento | p. 5,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Controles documentais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42102603000144 · Competência IME · Cache local: 02/2025; selecionar competência para monitorar · .cache/fundonet-ime/4d4eef0cf8a0a993f532b4b149eb7872dad71d291f28dd1aa105c18ea1ac13c1/manifest.json · Observação: Dado offline do IME; não representa atualização ao vivo nem comprovação dos critérios jurídicos.</a:t>
            </a:r>
          </a:p>
          <a:p>
            <a:r>
              <a:t>CNPJ 44124617000194 · Competência IME · Cache local: 02/2026; selecionar competência para monitorar · .cache/fundonet-ime/020d6992ee0ee64920d1ff2a26cd13d0b2e5ad87a06310d71550b9d7d6a2e087/manifest.json · Observação: Dado offline do IME; não representa atualização ao vivo nem comprovação dos critérios jurídicos.</a:t>
            </a:r>
          </a:p>
          <a:p>
            <a:r>
              <a:t>CNPJ 54218673000141 · Competência IME · Cache local: 06/2026; selecionar competência para monitorar · .cache/fundonet-ime/64f72100680f53c2fb17a73d06e74f5e9a03a300c222e22448fe7b661d907ef6/manifest.json · Observação: Dado offline do IME; não representa atualização ao vivo nem comprovação dos critérios jurídicos.</a:t>
            </a:r>
          </a:p>
          <a:p>
            <a:r>
              <a:t>CNPJ 54218941000125 · Competência IME · Cache local: 06/2026; selecionar competência para monitorar · .cache/fundonet-ime/ed07a8dcb97e6ab1c37d35a787dd7145be2a4f1b7cf66f107c111164982e55ec/manifest.json · Observação: Dado offline do IME; não representa atualização ao vivo nem comprovação dos critérios jurídicos.</a:t>
            </a:r>
          </a:p>
          <a:p>
            <a:r>
              <a:t>CNPJ 54219179000100 · Competência IME · Cache local: 06/2026; selecionar competência para monitorar · .cache/fundonet-ime/8b3ce8dc829bca8c4ba9fa65e7b00972fc995011a7bbdaf5916deea448df02bf/manifest.json · Observação: Dado offline do IME; não representa atualização ao vivo nem comprovação dos critérios jurídicos.</a:t>
            </a:r>
          </a:p>
          <a:p>
            <a:r>
              <a:t>CNPJ 54248022000102 · Competência IME · Cache local: 06/2026; selecionar competência para monitorar · .cache/fundonet-ime/179c0c3ba42bbfd34cc099706047a9f4ffb88b214d4793c6c99c14ad24b7ce7b/manifest.json · Observação: Dado offline do IME; não representa atualização ao vivo nem comprovação dos critérios jurídicos.</a:t>
            </a:r>
          </a:p>
          <a:p>
            <a:r>
              <a:t>CNPJ 57609282000146 · Competência IME · Cache local: 06/2026; selecionar competência para monitorar · .cache/fundonet-ime/b8642359df29434704b91f7073fc0cd9389fb93446d94bb69108f103a0bff0a1/manifest.json · Observação: Dado offline do IME; não representa atualização ao vivo nem comprovação dos critérios jurídicos.</a:t>
            </a:r>
          </a:p>
          <a:p>
            <a:r>
              <a:t>CNPJ 60356171000180 · Competência IME · Cache local: 06/2026; selecionar competência para monitorar · .cache/fundonet-ime/dbb1bdeebcb810d10a78c0c3367606373be76e8b154f99a685f7e6414f23d457/manifest.json · Observação: Dado offline do IME; não representa atualização ao vivo nem comprovação dos critérios jurídicos.</a:t>
            </a:r>
          </a:p>
          <a:p>
            <a:r>
              <a:t>CNPJ 62393679000183 · Competência IME · Cache local: 06/2026; selecionar competência para monitorar · .cache/fundonet-ime/3e27cda1e53dff62cd7a8ca7f9a102560378056ede675260a627629045f32831/manifest.json · Observação: Dado offline do IME; não representa atualização ao vivo nem comprovação dos critérios jurídicos.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 via IME · DC / PL: proxy com validação de elegibilidade e denominador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 via IME · DC / PL: proxy com validação de elegibilidade e denominador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 via IME · DC / PL: proxy com validação de elegibilidade e denominador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via IME · DC / PL: proxy com validação de elegibilidade e denominador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 via IME · DC / PL: proxy com validação de elegibilidade e denominador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 via IME · DC / PL: proxy com validação de elegibilidade e denominador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 via IME · DC / PL: proxy com validação de elegibilidade e denominador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Subordinação via IME · Subordinadas / PL: conferir subclasses e fórmula do índice ·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Subordinação via IME · Subordinadas / PL: conferir subclasses e fórmula do índice ·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Subordinação via IME · Subordinadas / PL: conferir subclasses e fórmula do índice ·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Subordinação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via IME · Subordinadas / PL: conferir subclasses e fórmula do índice ·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Subordinação via IME · Subordinadas / PL: conferir subclasses e fórmula do índice ·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Subordinação via IME · Subordinadas / PL: conferir subclasses e fórmula do índice ·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Subordinação via IME · Subordinadas / PL: conferir subclasses e fórmula do índice ·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Subordinação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Concentração / elegibilidade · Exige cadastro por devedor/grupo e validação de lastro; não comprovável pelo IME agregado · Fundos.NET ID 733239 | 05/09/2024 | Regulamento | p. 28,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Concentração / elegibilidade · Exige cadastro por devedor/grupo e validação de lastro; não comprovável pelo IME agregado · Fundos.NET ID 1337401 | 01/10/2026 | Regulamento | p. 28,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Concentração / elegibilidade · Exige cadastro por devedor/grupo e validação de lastro; não comprovável pelo IME agregado · Fundos.NET ID 1268268 | 28/07/2026 | Regulamento | p. 29,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Concentração /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/ elegibilidade · Exige cadastro por devedor/grupo e validação de lastro; não comprovável pelo IME agregado · Fundos.NET ID 1072799 | 22/12/2025 | Regulamento | p. 28,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Concentração / elegibilidade · Exige cadastro por devedor/grupo e validação de lastro; não comprovável pelo IME agregado · Fundos.NET ID 1285773 | 11/08/2026 | Regulamento | p. 28,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Concentração / elegibilidade · Exige cadastro por devedor/grupo e validação de lastro; não comprovável pelo IME agregado · Fundos.NET ID 993693 | 04/09/2025 | Regulamento | p. 31,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Concentração / elegibilidade · Exige cadastro por devedor/grupo e validação de lastro; não comprovável pelo IME agregado · Fundos.NET ID 993687 | 04/09/2025 | Regulamento | p. 31,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Concentração /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Reservas / pagamentos · Caixa agregado é proxy parcial; exige calendário, encargos e waterfall · Fundos.NET ID 733239 | 05/09/2024 | Regulamento | p. 19,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Reservas / pagamentos · Caixa agregado é proxy parcial; exige calendário, encargos e waterfall · Fundos.NET ID 1337401 | 01/10/2026 | Regulamento | p. 19,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Reservas / pagamentos · Caixa agregado é proxy parcial; exige calendário, encargos e waterfall · Fundos.NET ID 1268268 | 28/07/2026 | Regulamento | p. 20,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Reservas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Reservas / pagamentos · Caixa agregado é proxy parcial; exige calendário, encargos e waterfall · Fundos.NET ID 1072799 | 22/12/2025 | Regulamento | p. 19,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Reservas / pagamentos · Caixa agregado é proxy parcial; exige calendário, encargos e waterfall · Fundos.NET ID 1285773 | 11/08/2026 | Regulamento | p. 19,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Reservas / pagamentos · Caixa agregado é proxy parcial; exige calendário, encargos e waterfall · Fundos.NET ID 993693 | 04/09/2025 | Regulamento | p. 22,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Reservas / pagamentos · Caixa agregado é proxy parcial; exige calendário, encargos e waterfall · Fundos.NET ID 993687 | 04/09/2025 | Regulamento | p. 22,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Reservas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Chargeback / recompra · Recompras / crédito é proxy parcial; cancelamento e chargeback dependem de dados complementares · Fundos.NET ID 733239 | 05/09/2024 | Regulamento | p. 55,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Chargeback / recompra · Recompras / crédito é proxy parcial; cancelamento e chargeback dependem de dados complementares · Fundos.NET ID 1337401 | 01/10/2026 | Regulamento | p. 40,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Chargeback / recompra · Recompras / crédito é proxy parcial; cancelamento e chargeback dependem de dados complementares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Chargeback / 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Chargeback / recompra · Recompras / crédito é proxy parcial; cancelamento e chargeback dependem de dados complementares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Chargeback / recompra · Recompras / crédito é proxy parcial; cancelamento e chargeback dependem de dados complementares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Chargeback / recompra · Recompras / crédito é proxy parcial; cancelamento e chargeback dependem de dados complementares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Chargeback / recompra · Recompras / crédito é proxy parcial; cancelamento e chargeback dependem de dados complementares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Chargeback / 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CLOUDWALK KICK ASS I: CNPJ 42085816000105</a:t>
            </a:r>
          </a:p>
          <a:p>
            <a:r>
              <a:t>CLOUDWALK AKIRA I: CNPJ 42085830000109</a:t>
            </a:r>
          </a:p>
          <a:p>
            <a:r>
              <a:t>CLOUDWALK KICK ASS II: CNPJ 42102603000144</a:t>
            </a:r>
          </a:p>
          <a:p>
            <a:r>
              <a:t>CLOUDWALK AKIRA II: CNPJ 44124617000194</a:t>
            </a:r>
          </a:p>
          <a:p>
            <a:r>
              <a:t>CLOUDWALK BIG PICTURE I: CNPJ 54218673000141</a:t>
            </a:r>
          </a:p>
          <a:p>
            <a:r>
              <a:t>CLOUDWALK BIG PICTURE II: CNPJ 54218941000125</a:t>
            </a:r>
          </a:p>
          <a:p>
            <a:r>
              <a:t>CLOUDWALK BIG PICTURE III: CNPJ 54219179000100</a:t>
            </a:r>
          </a:p>
          <a:p>
            <a:r>
              <a:t>CLOUDWALK BIG PICTURE IV: CNPJ 54248022000102</a:t>
            </a:r>
          </a:p>
          <a:p>
            <a:r>
              <a:t>CLOUDWALK A.I.: CNPJ 57609282000146</a:t>
            </a:r>
          </a:p>
          <a:p>
            <a:r>
              <a:t>CLOUDWALK PI: CNPJ 60356171000180</a:t>
            </a:r>
          </a:p>
          <a:p>
            <a:r>
              <a:t>CLOUDWALK BELA: CNPJ 62393679000183</a:t>
            </a:r>
          </a:p>
          <a:p>
            <a:r>
              <a:t>Fontes: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Alocação/subordinação IME · DC / PL: proxy com validação de elegibilidade e denominador; Subordinadas / PL: conferir subclasses e fórmula do índice · Fundos.NET ID 733239 | 05/09/2024 | Regulamento | p. 2, Anexo e avaliação metodológica da revisão | data/raw/42102603000144/733239_review_20261007.pdf | https://fnet.bmfbovespa.com.br/fnet/publico/visualizarDocumento?id=733239 |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Alocação/subordinação IME · DC / PL: proxy com validação de elegibilidade e denominador; Subordinadas / PL: conferir subclasses e fórmula do índice · Fundos.NET ID 1337401 | 01/10/2026 | Regulamento | p. 2, Anexo e avaliação metodológica da revisão | data/raw/44124617000194/1337401_review_20261007.pdf | https://fnet.bmfbovespa.com.br/fnet/publico/visualizarDocumento?id=1337401 |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Alocação/subordinação IME · DC / PL: proxy com validação de elegibilidade e denominador; Subordinadas / PL: conferir subclasses e fórmula do índice · Fundos.NET ID 1268268 | 28/07/2026 | Regulamento | p. 31, Anexo e avaliação metodológica da revisão | data/raw/54218673000141/1268268_review_20261007.pdf | https://fnet.bmfbovespa.com.br/fnet/publico/visualizarDocumento?id=1268268 |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Alocação/subordinação IME · Não localizado na documentação acessível;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Alocação/subordinação IME · DC / PL: proxy com validação de elegibilidade e denominador; Subordinadas / PL: conferir subclasses e fórmula do índice · Fundos.NET ID 1072799 | 22/12/2025 | Regulamento | p. 30, Anexo e avaliação metodológica da revisão | data/raw/54219179000100/1072799_review_20261007.pdf | https://fnet.bmfbovespa.com.br/fnet/publico/visualizarDocumento?id=1072799 |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Alocação/subordinação IME · DC / PL: proxy com validação de elegibilidade e denominador; Subordinadas / PL: conferir subclasses e fórmula do índice · Fundos.NET ID 1285773 | 11/08/2026 | Regulamento | p. 30, Anexo e avaliação metodológica da revisão | data/raw/54248022000102/1285773_review_20261007.pdf | https://fnet.bmfbovespa.com.br/fnet/publico/visualizarDocumento?id=1285773 |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Alocação/subordinação IME · DC / PL: proxy com validação de elegibilidade e denominador; Subordinadas / PL: conferir subclasses e fórmula do índice · Fundos.NET ID 993693 | 04/09/2025 | Regulamento | p. 33, Anexo e avaliação metodológica da revisão | data/raw/57609282000146/993693_review_20261007.pdf | https://fnet.bmfbovespa.com.br/fnet/publico/visualizarDocumento?id=993693 |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Alocação/subordinação IME · DC / PL: proxy com validação de elegibilidade e denominador; Subordinadas / PL: conferir subclasses e fórmula do índice · Fundos.NET ID 993687 | 04/09/2025 | Regulamento | p. 33, Anexo e avaliação metodológica da revisão | data/raw/60356171000180/993687_review_20261007.pdf | https://fnet.bmfbovespa.com.br/fnet/publico/visualizarDocumento?id=993687 |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Alocação/subordinação IME · Não localizado na documentação acessível;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Inadimplência/PDD IME · Over 30/60/90 e PDD / crédito: indicadores agregados, sem equivalência automática a gatilhos · Fundos.NET ID 733239 | 05/09/2024 | Regulamento | p. 3,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Inadimplência/PDD IME · Over 30/60/90 e PDD / crédito: indicadores agregados, sem equivalência automática a gatilhos · Fundos.NET ID 1337401 | 01/10/2026 | Regulamento | p. 1,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Inadimplência/PDD IME · Over 30/60/90 e PDD / crédito: indicadores agregados, sem equivalência automática a gatilhos · Fundos.NET ID 1268268 | 28/07/2026 | Regulamento | p. 5,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Inadimplência/PDD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Inadimplência/PDD IME · Over 30/60/90 e PDD / crédito: indicadores agregados, sem equivalência automática a gatilhos · Fundos.NET ID 1072799 | 22/12/2025 | Regulamento | p. 4,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Inadimplência/PDD IME · Over 30/60/90 e PDD / crédito: indicadores agregados, sem equivalência automática a gatilhos · Fundos.NET ID 1285773 | 11/08/2026 | Regulamento | p. 4,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Inadimplência/PDD IME · Over 30/60/90 e PDD / crédito: indicadores agregados, sem equivalência automática a gatilhos · Fundos.NET ID 993693 | 04/09/2025 | Regulamento | p. 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Inadimplência/PDD IME · Over 30/60/90 e PDD / crédito: indicadores agregados, sem equivalência automática a gatilhos · Fundos.NET ID 993687 | 04/09/2025 | Regulamento | p. 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Inadimplência/PDD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Controles documentais · Rating, prestadores, cessão e insolvência: controle documental/manual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Controles documentais · Rating, prestadores, cessão e insolvência: controle documental/manual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Controles documentais · Rating, prestadores, cessão e insolvência: controle documental/manual · Fundos.NET ID 1268268 | 28/07/2026 | Regulamento | p. 3,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Controles documentais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Controles documentais · Rating, prestadores, cessão e insolvência: controle documental/manual · Fundos.NET ID 1072799 | 22/12/2025 | Regulamento | p. 2,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Controles documentais · Rating, prestadores, cessão e insolvência: controle documental/manual · Fundos.NET ID 1285773 | 11/08/2026 | Regulamento | p. 2,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Controles documentais · Rating, prestadores, cessão e insolvência: controle documental/manual · Fundos.NET ID 993693 | 04/09/2025 | Regulamento | p. 5,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Controles documentais · Rating, prestadores, cessão e insolvência: controle documental/manual · Fundos.NET ID 993687 | 04/09/2025 | Regulamento | p. 5,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Controles documentais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42102603000144 · Competência IME · Cache local: 02/2025; selecionar competência para monitorar · .cache/fundonet-ime/4d4eef0cf8a0a993f532b4b149eb7872dad71d291f28dd1aa105c18ea1ac13c1/manifest.json · Observação: Dado offline do IME; não representa atualização ao vivo nem comprovação dos critérios jurídicos.</a:t>
            </a:r>
          </a:p>
          <a:p>
            <a:r>
              <a:t>CNPJ 44124617000194 · Competência IME · Cache local: 02/2026; selecionar competência para monitorar · .cache/fundonet-ime/020d6992ee0ee64920d1ff2a26cd13d0b2e5ad87a06310d71550b9d7d6a2e087/manifest.json · Observação: Dado offline do IME; não representa atualização ao vivo nem comprovação dos critérios jurídicos.</a:t>
            </a:r>
          </a:p>
          <a:p>
            <a:r>
              <a:t>CNPJ 54218673000141 · Competência IME · Cache local: 06/2026; selecionar competência para monitorar · .cache/fundonet-ime/64f72100680f53c2fb17a73d06e74f5e9a03a300c222e22448fe7b661d907ef6/manifest.json · Observação: Dado offline do IME; não representa atualização ao vivo nem comprovação dos critérios jurídicos.</a:t>
            </a:r>
          </a:p>
          <a:p>
            <a:r>
              <a:t>CNPJ 54218941000125 · Competência IME · Cache local: 06/2026; selecionar competência para monitorar · .cache/fundonet-ime/ed07a8dcb97e6ab1c37d35a787dd7145be2a4f1b7cf66f107c111164982e55ec/manifest.json · Observação: Dado offline do IME; não representa atualização ao vivo nem comprovação dos critérios jurídicos.</a:t>
            </a:r>
          </a:p>
          <a:p>
            <a:r>
              <a:t>CNPJ 54219179000100 · Competência IME · Cache local: 06/2026; selecionar competência para monitorar · .cache/fundonet-ime/8b3ce8dc829bca8c4ba9fa65e7b00972fc995011a7bbdaf5916deea448df02bf/manifest.json · Observação: Dado offline do IME; não representa atualização ao vivo nem comprovação dos critérios jurídicos.</a:t>
            </a:r>
          </a:p>
          <a:p>
            <a:r>
              <a:t>CNPJ 54248022000102 · Competência IME · Cache local: 06/2026; selecionar competência para monitorar · .cache/fundonet-ime/179c0c3ba42bbfd34cc099706047a9f4ffb88b214d4793c6c99c14ad24b7ce7b/manifest.json · Observação: Dado offline do IME; não representa atualização ao vivo nem comprovação dos critérios jurídicos.</a:t>
            </a:r>
          </a:p>
          <a:p>
            <a:r>
              <a:t>CNPJ 57609282000146 · Competência IME · Cache local: 06/2026; selecionar competência para monitorar · .cache/fundonet-ime/b8642359df29434704b91f7073fc0cd9389fb93446d94bb69108f103a0bff0a1/manifest.json · Observação: Dado offline do IME; não representa atualização ao vivo nem comprovação dos critérios jurídicos.</a:t>
            </a:r>
          </a:p>
          <a:p>
            <a:r>
              <a:t>CNPJ 60356171000180 · Competência IME · Cache local: 06/2026; selecionar competência para monitorar · .cache/fundonet-ime/dbb1bdeebcb810d10a78c0c3367606373be76e8b154f99a685f7e6414f23d457/manifest.json · Observação: Dado offline do IME; não representa atualização ao vivo nem comprovação dos critérios jurídicos.</a:t>
            </a:r>
          </a:p>
          <a:p>
            <a:r>
              <a:t>CNPJ 62393679000183 · Competência IME · Cache local: 06/2026; selecionar competência para monitorar · .cache/fundonet-ime/3e27cda1e53dff62cd7a8ca7f9a102560378056ede675260a627629045f32831/manifest.json · Observação: Dado offline do IME; não representa atualização ao vivo nem comprovação dos critérios jurídicos.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Alocação via IME · DC / PL: proxy com validação de elegibilidade e denominador · Fundos.NET ID 733239 | 05/09/2024 | Regulamento | p. 2,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Alocação via IME · DC / PL: proxy com validação de elegibilidade e denominador · Fundos.NET ID 1337401 | 01/10/2026 | Regulamento | p. 2,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Alocação via IME · DC / PL: proxy com validação de elegibilidade e denominador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Alocação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Alocação via IME · DC / PL: proxy com validação de elegibilidade e denominador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Alocação via IME · DC / PL: proxy com validação de elegibilidade e denominador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Alocação via IME · DC / PL: proxy com validação de elegibilidade e denominador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Alocação via IME · DC / PL: proxy com validação de elegibilidade e denominador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Alocação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Subordinação via IME · Subordinadas / PL: conferir subclasses e fórmula do índice · Fundos.NET ID 733239 | 05/09/2024 | Regulamento | p. 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Subordinação via IME · Subordinadas / PL: conferir subclasses e fórmula do índice · Fundos.NET ID 1337401 | 01/10/2026 | Regulamento | p. 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Subordinação via IME · Subordinadas / PL: conferir subclasses e fórmula do índice · Fundos.NET ID 1268268 | 28/07/2026 | Regulamento | p. 10,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Subordinação via IME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Subordinação via IME · Subordinadas / PL: conferir subclasses e fórmula do índice · Fundos.NET ID 1072799 | 22/12/2025 | Regulamento | p. 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Subordinação via IME · Subordinadas / PL: conferir subclasses e fórmula do índice · Fundos.NET ID 1285773 | 11/08/2026 | Regulamento | p. 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Subordinação via IME · Subordinadas / PL: conferir subclasses e fórmula do índice · Fundos.NET ID 993693 | 04/09/2025 | Regulamento | p. 9,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Subordinação via IME · Subordinadas / PL: conferir subclasses e fórmula do índice · Fundos.NET ID 993687 | 04/09/2025 | Regulamento | p. 9,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Subordinação via IME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Concentração / elegibilidade · Exige cadastro por devedor/grupo e validação de lastro; não comprovável pelo IME agregado · Fundos.NET ID 733239 | 05/09/2024 | Regulamento | p. 28,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Concentração / elegibilidade · Exige cadastro por devedor/grupo e validação de lastro; não comprovável pelo IME agregado · Fundos.NET ID 1337401 | 01/10/2026 | Regulamento | p. 28,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Concentração / elegibilidade · Exige cadastro por devedor/grupo e validação de lastro; não comprovável pelo IME agregado · Fundos.NET ID 1268268 | 28/07/2026 | Regulamento | p. 29,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Concentração / elegibilidade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Concentração / elegibilidade · Exige cadastro por devedor/grupo e validação de lastro; não comprovável pelo IME agregado · Fundos.NET ID 1072799 | 22/12/2025 | Regulamento | p. 28,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Concentração / elegibilidade · Exige cadastro por devedor/grupo e validação de lastro; não comprovável pelo IME agregado · Fundos.NET ID 1285773 | 11/08/2026 | Regulamento | p. 28,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Concentração / elegibilidade · Exige cadastro por devedor/grupo e validação de lastro; não comprovável pelo IME agregado · Fundos.NET ID 993693 | 04/09/2025 | Regulamento | p. 31,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Concentração / elegibilidade · Exige cadastro por devedor/grupo e validação de lastro; não comprovável pelo IME agregado · Fundos.NET ID 993687 | 04/09/2025 | Regulamento | p. 31,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Concentração / elegibilidade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Reservas / pagamentos · Caixa agregado é proxy parcial; exige calendário, encargos e waterfall · Fundos.NET ID 733239 | 05/09/2024 | Regulamento | p. 19,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Reservas / pagamentos · Caixa agregado é proxy parcial; exige calendário, encargos e waterfall · Fundos.NET ID 1337401 | 01/10/2026 | Regulamento | p. 19,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Reservas / pagamentos · Caixa agregado é proxy parcial; exige calendário, encargos e waterfall · Fundos.NET ID 1268268 | 28/07/2026 | Regulamento | p. 20,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Reservas / pagamentos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Reservas / pagamentos · Caixa agregado é proxy parcial; exige calendário, encargos e waterfall · Fundos.NET ID 1072799 | 22/12/2025 | Regulamento | p. 19,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Reservas / pagamentos · Caixa agregado é proxy parcial; exige calendário, encargos e waterfall · Fundos.NET ID 1285773 | 11/08/2026 | Regulamento | p. 19,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Reservas / pagamentos · Caixa agregado é proxy parcial; exige calendário, encargos e waterfall · Fundos.NET ID 993693 | 04/09/2025 | Regulamento | p. 22,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Reservas / pagamentos · Caixa agregado é proxy parcial; exige calendário, encargos e waterfall · Fundos.NET ID 993687 | 04/09/2025 | Regulamento | p. 22,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Reservas / pagamentos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42102603000144 · Chargeback / recompra · Recompras / crédito é proxy parcial; cancelamento e chargeback dependem de dados complementares · Fundos.NET ID 733239 | 05/09/2024 | Regulamento | p. 55, Anexo e avaliação metodológica da revisão | data/raw/42102603000144/733239_review_20261007.pdf | https://fnet.bmfbovespa.com.br/fnet/publico/visualizarDocumento?id=733239 · Observação: Classificação de monitoramento derivada da disponibilidade pública do IME; não é declaração de enquadramento atual. Sem nova competência IME carregada.</a:t>
            </a:r>
          </a:p>
          <a:p>
            <a:r>
              <a:t>CNPJ 44124617000194 · Chargeback / recompra · Recompras / crédito é proxy parcial; cancelamento e chargeback dependem de dados complementares · Fundos.NET ID 1337401 | 01/10/2026 | Regulamento | p. 40, Anexo e avaliação metodológica da revisão | data/raw/44124617000194/1337401_review_20261007.pdf | https://fnet.bmfbovespa.com.br/fnet/publico/visualizarDocumento?id=1337401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54218673000141 · Chargeback / recompra · Recompras / crédito é proxy parcial; cancelamento e chargeback dependem de dados complementares · Fundos.NET ID 1268268 | 28/07/2026 | Regulamento | p. 31, Anexo e avaliação metodológica da revisão | data/raw/54218673000141/1268268_review_20261007.pdf | https://fnet.bmfbovespa.com.br/fnet/publico/visualizarDocumento?id=1268268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54218941000125 · Chargeback / recompra · Não localizado na documentação acessível · Inventário por CNPJ 54218941000125, consulta Fundos.NET em 07/10/2026: 68 documentos listados; listagem pública obtida.  PDFs efetivamente revistos: 643432. ID1285564: Falha de rede ao acessar downloadDocumento: The read operation timed out; ID1151736: Fundos.NET respondeu HTTP 520 em downloadDocumento. · Observação: Lacuna documental; não preencher por aproximação de nome ou por campo heurístico.</a:t>
            </a:r>
          </a:p>
          <a:p>
            <a:r>
              <a:t>CNPJ 54219179000100 · Chargeback / recompra · Recompras / crédito é proxy parcial; cancelamento e chargeback dependem de dados complementares · Fundos.NET ID 1072799 | 22/12/2025 | Regulamento | p. 30, Anexo e avaliação metodológica da revisão | data/raw/54219179000100/1072799_review_20261007.pdf | https://fnet.bmfbovespa.com.br/fnet/publico/visualizarDocumento?id=1072799 · Observação: Classificação de monitoramento derivada da disponibilidade pública do IME; não é declaração de enquadramento atual. Sem nova competência IME carregada.</a:t>
            </a:r>
          </a:p>
          <a:p>
            <a:r>
              <a:t>CNPJ 54248022000102 · Chargeback / recompra · Recompras / crédito é proxy parcial; cancelamento e chargeback dependem de dados complementares · Fundos.NET ID 1285773 | 11/08/2026 | Regulamento | p. 30, Anexo e avaliação metodológica da revisão | data/raw/54248022000102/1285773_review_20261007.pdf | https://fnet.bmfbovespa.com.br/fnet/publico/visualizarDocumento?id=1285773 · Observação: Classificação de monitoramento derivada da disponibilidade pública do IME; não é declaração de enquadramento atual. Sem nova competência IME carregada.</a:t>
            </a:r>
          </a:p>
          <a:p>
            <a:r>
              <a:t>CNPJ 57609282000146 · Chargeback / recompra · Recompras / crédito é proxy parcial; cancelamento e chargeback dependem de dados complementares · Fundos.NET ID 993693 | 04/09/2025 | Regulamento | p. 33, Anexo e avaliação metodológica da revisão | data/raw/57609282000146/993693_review_20261007.pdf | https://fnet.bmfbovespa.com.br/fnet/publico/visualizarDocumento?id=993693 · Observação: Classificação de monitoramento derivada da disponibilidade pública do IME; não é declaração de enquadramento atual. Sem nova competência IME carregada.</a:t>
            </a:r>
          </a:p>
          <a:p>
            <a:r>
              <a:t>CNPJ 60356171000180 · Chargeback / recompra · Recompras / crédito é proxy parcial; cancelamento e chargeback dependem de dados complementares · Fundos.NET ID 993687 | 04/09/2025 | Regulamento | p. 33, Anexo e avaliação metodológica da revisão | data/raw/60356171000180/993687_review_20261007.pdf | https://fnet.bmfbovespa.com.br/fnet/publico/visualizarDocumento?id=993687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62393679000183 · Chargeback / recompra · Não localizado na documentação acessível · Inventário por CNPJ 62393679000183, consulta Fundos.NET em 07/10/2026: 38 documentos listados; Falha de rede ao acessar pesquisarGerenciadorDocumentosDados: The read operation timed out; inventário local anterior preservado.  PDFs efetivamente revistos: nenhum. ID1117954: Falha de rede ao acessar downloadDocumento: The read operation timed out; ID993253: Falha de rede ao acessar downloadDocumento: The read operation timed out; ID1166893: Fundos.NET respondeu HTTP 520 em downloadDocumento.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890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963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emissor/grupo e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IF acima de 20%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salvo apêndice;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observar critérios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emissor/grupo e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IF acima de 20%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salvo apêndice;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observar critérios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66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41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emissor/grupo e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IF acima de 20%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salvo apêndice;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observar critérios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emissor/grupo e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IF acima de 20%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salvo apêndice;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observar critérios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qualificado ≤1%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PL; C6/Neon≤10%;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Midway/Realize≤7%;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qualificados≤5%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 transações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cartões, 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 transações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cartões, 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 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 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 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 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 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 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 administrador,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gestor, 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 administrador,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gestor, 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 nacional;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 nacional;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181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Grupo 1+ caixa ≥52,5%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Grupo 2 ≤15% por devedor; 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≤4%; Grupo 4 ≤2%; grupos 3/4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limitados também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Grupo 1+ caixa ≥52,5%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Grupo 2 ≤15% por devedor; 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≤4%; Grupo 4 ≤2%; grupos 3/4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limitados também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 menor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 365 dias e vencimento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 menor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 365 dias e vencimento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 administrador,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gestor e relacionados vedados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salvo exceção com independência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 registradora/custodiante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partes relacionadas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 administrador,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gestor e relacionados vedados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salvo exceção com independência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 registradora/custodiante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partes relacionadas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890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4,8%: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3%: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6,8%: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975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 dos 3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 dos 3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 dos 3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8541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2,5%: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Divergência: numeral 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extenso três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20%: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75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 dos 3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 dos 3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 dos 3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15,5%; ramp-up 15,75%;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target 16% (subordinadas / PL)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15,5%; ramp-up 15,75%;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target 16% (subordinadas / PL)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 reservas,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 e prestadores;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 hipóteses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 reservas,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 e prestadores;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 hipóteses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 dias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antecedência;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remuneração: 15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 dias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antecedência;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remuneração: 15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3101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PL: mínimo 2,5%;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ramp-up 2,75%; target 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 reservas,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 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 reservas,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 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 hipóteses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 hipóteses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 estimadas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3 meses 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 estimadas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3 meses 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890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930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667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083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8143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 recursos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carteira, observada a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 recursos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carteira, observada a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 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 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coberto; demais recompras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coberto; demais recompras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 existência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 existência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 precedem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distribuições;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prioritária;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 precedem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distribuições;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prioritária;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17/35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83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+ 1,14%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+ 1,37%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+ 1,35%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500.000.000,00;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950.000.000,00;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1.500.000.000,00;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18/35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935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+ 1,14%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+ 1,37%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+ 1,35%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500.000.000,00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950.000.000,00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1.500.000.000,00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19/35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41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DI + 1,20%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(capitalização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exponencial); Residual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DI + 3,00%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(capitalização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exponencial); Residual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956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877.500.000,00 inicial;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1.140.750.000,00;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291.000.000,00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de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142.500.000,00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de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120.000.000,00 inicial;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156.000.000,00;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primária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encerrada 22/04/2024;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volume distribuído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conformeanúncio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primária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encerrada 22/04/2024;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volume distribuído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conformeanúncio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20/35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75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DI + 1,20%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(capitalização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exponencial)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DI + 3,00%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(capitalização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exponencial)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877.500.000,00 inicial;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1.140.750.000,00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291.000.000,00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142.500.000,00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120.000.000,00 inicial;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156.000.000,00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de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de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21/35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930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1ª, mezanino 1ª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júnior 1ª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 1ª/2ª; mezanino A/B 1ª;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termos finais além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 pendentes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DI + 0,85% a.a.;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série: DI + 3,85% a.a.; Residual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modelos com [=] não fixam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contratada; 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R$ 2.245.625.000;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R$ 347.538.000;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R$ 90.000.000; R$ 1.000,00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R$ 3.141.592.653,59: S1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R$ 1,65 bi; S2 R$ 1.070.554.462;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 R$ 226.712.872; MB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194.325.319,59; S1/S2/MA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1,00; MB R$ 12,23 na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22/35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061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primária encerrada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24/04/2025; quatro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subclasses/séries do anúncio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DI + 0,85%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modelos com [=] não fixam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DI + 3,85%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R$ 2.245.625.000;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R$ 347.538.000;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R$ 90.000.000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R$ 3.141.592.653,59: S1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R$ 1,65 bi; S2 R$ 1.070.554.462;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 R$ 226.712.872; MB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194.325.319,59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naemissão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S1/S2/MA R$ 1,00; MB R$ 12,23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primeira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23/35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1559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Carência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27/01/2026 inclusive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Divergência: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carênciaaté 27/02/2024,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27/01/2024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Carência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27/01/2025 inclusive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27; 1ª sênior: Mensal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27/02/2026–27/01/2027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27; 1ª sênior: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divergente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27; 1ª sênior: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27/02/2025–27/01/2026,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conformequantidades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27/01/2027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Divergência:27/01/2024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anterior à 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27/01/2026;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históricos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27/02/2026–27/01/2027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Cronograma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27/02/2025–27/01/2026,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conformequantidades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24/35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608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30ºmês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inclusive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apêndice;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19/11/2026,19/1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2/2026,19/01/2027,19/02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/2027,19/03/2027,19/04/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36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36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apêndice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19/11/2026,1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9/12/2026,19/01/2027,19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/02/2027,19/03/2027,19/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04/2027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25/35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061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Sênior/mezanino: até 10/06/2027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Mensais: dia 11, desde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11/12/2024 até 11/11/2027; Jun–n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ov/2027:16,6667%;33,3333%;50%;66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,6667%;83,3333%;100%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Sênior/mezanino:11/11/2027;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júniorna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Mensais: dia 11, desde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11/12/2024 até 11/11/2027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Jun–nov/2027:16,6667%;33,3333%;5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0%;66,6667%;83,3333%;100%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26/35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015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R$ 23.900,00/mês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R$ 27.500,00/mês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R$ 23.900,00/mês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R$ 23.900,00/mês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27/35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79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R$ 27.500,00/mês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R$ 8.000,00/mês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R$ 8.000,00/mês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R$ 4.000,00/mês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R$ 4.000,00/mês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devida remuneração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cláusula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28/35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464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 sobre PL;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 sobre PL;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0,08% a.a. sobre PL; máximo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 sobre PL;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devida remuneração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custodiante, conforme cláusula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devida remuneração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custodiante, conforme cláusula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 reajustados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IPCA positivo; cálculo diário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base 252, 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 reajustados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IPCA positivo; cálculo diário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base 252, 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29/35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38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02/2026;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02/2025;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02/2026;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30/35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809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31/35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4165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32/35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887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BIG PICTURE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33/35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141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indicadores 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indicadores 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insolvência: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insolvência: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34/35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Cloudwalk (Fundos Adquirência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97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A.I.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PI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BELA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 devedor/grupo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validação de lastro;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comprovável pelo 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 devedor/grupo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validação de lastro;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comprovável pelo 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 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 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35/35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