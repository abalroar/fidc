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Natureza dos recebíveis · CCBs de refinanciamento/parcelamento de faturas e carnês de cartões administrados pela Credsystem. · Fundos.NET ID 1023849; referência 29/10/2025; data/raw/29226654000110/1023849_regulamento.txt; pp.8–11, definições; capítulo 3;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Originador/endossante · Credsystem representa titulares na emissão; instituições financeiras conveniadas endossam as CCBs. · Fundos.NET ID 1023849; referência 29/10/2025; data/raw/29226654000110/1023849_regulamento.txt; definições de CCBs e Instituições Financeiras Conveniadas; 3.1;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Devedor · Pessoas físicas titulares de cartões Credsystem. · Fundos.NET ID 1023849; referência 29/10/2025; data/raw/29226654000110/1023849_regulamento.txt; definição de Devedores;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Garantia · CCB e documentação de lastro; garantia real específica não confirmada no corpus revisto. · Fundos.NET ID 1023849; referência 29/10/2025; data/raw/29226654000110/1023849_regulamento.txt; 4.1–4.3 e documentos comprobatórios; https://fnet.bmfbovespa.com.br/fnet/publico/exibirDocumento?id=1023849&amp;cvm=true · Observação: Ausência de confirmação documental não significa inexistência de garantia em contrato individual.</a:t>
            </a:r>
          </a:p>
          <a:p>
            <a:r>
              <a:t>CNPJ 29226654000110 · Elegibilidade · CCB em reais, sem atraso na aquisição, prazo até 36 meses e anterior ao término da classe; apta a registro/custódia. · Fundos.NET ID 1023849; referência 29/10/2025; data/raw/29226654000110/1023849_regulamento.txt; 4.1, critérios de elegibilidade;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Concentração · Mesmo devedor/coobrigado: DC e ativos financeiros até 5%/PL. · Fundos.NET ID 1023849; referência 29/10/2025; data/raw/29226654000110/1023849_regulamento.txt; p.40, 3.6.1;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Subordinação mínima · Razão mínima de garantia e índice de cobertura definidos no suplemento; piso específico não localizado. · Fundos.NET ID 1023849; referência 29/10/2025; data/raw/29226654000110/1023849_regulamento.txt; 9.20–9.22; https://fnet.bmfbovespa.com.br/fnet/publico/exibirDocumento?id=1023849&amp;cvm=true · Observação: Não converter razão PL/sênior em percentual de subordinadas sem limite específico de cada série.</a:t>
            </a:r>
          </a:p>
          <a:p>
            <a:r>
              <a:t>CNPJ 29226654000110 · Gatilhos de avaliação/liquidação · NPL90 ≥62,5%; atraso150+ &gt;53% por mais de 3 meses; concentração persistente e eventos de prestadores. · Fundos.NET ID 1023849; referência 29/10/2025; data/raw/29226654000110/1023849_regulamento.txt; pp.71–74, 12.1(xv–xx)/13.1; https://fnet.bmfbovespa.com.br/fnet/publico/exibirDocumento?id=1023849&amp;cvm=true · Observação: NPL90 requer reenquadramento no mês seguinte ou reincidência em 12 meses; não aciona liquidação automática sem rito.</a:t>
            </a:r>
          </a:p>
          <a:p>
            <a:r>
              <a:t>CNPJ 29226654000110 · Reserva de caixa · Mínimo de 1 mês de despesas ordinárias, mantido em ativos financeiros. · Fundos.NET ID 1023849; referência 29/10/2025; data/raw/29226654000110/1023849_regulamento.txt; p.17, Reserva de Caixa; p.39, 3.3.1;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Derivativos/hedge · Operações em mercados de derivativos vedadas. · Fundos.NET ID 1023849; referência 29/10/2025; data/raw/29226654000110/1023849_regulamento.txt; p.39, 3.4;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PDD · Provisão conforme metodologia do Anexo IV e manual da administradora; piso uniforme não confirmado. · Fundos.NET ID 1023849; referência 29/10/2025; data/raw/29226654000110/1023849_regulamento.txt; p.66, 10.2–10.4;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Alocação mínima · Parcela superior a 50%/PL em DC elegíveis, após prazo de enquadramento do 3.2. · Fundos.NET ID 1023849; referência 29/10/2025; data/raw/29226654000110/1023849_regulamento.txt; 3.2; https://fnet.bmfbovespa.com.br/fnet/publico/exibirDocumento?id=1023849&amp;cvm=true · Observação: Preservar operador superior a; não converter em ≥50%.</a:t>
            </a:r>
          </a:p>
          <a:p>
            <a:r>
              <a:t>CNPJ 29226654000110 · Pool/revolvência · Novas aquisições previstas no waterfall; suspensão por avaliação/liquidação; não há pool estático demonstrado. · Fundos.NET ID 1023849; referência 29/10/2025; data/raw/29226654000110/1023849_regulamento.txt; 10.1; 12.1/13.1;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Duração/público-alvo · Classe fechada; séries têm prazos próprios nos suplementos; público profissional nos termos do regulamento. · Fundos.NET ID 1023849; referência 29/10/2025; data/raw/29226654000110/1023849_regulamento.txt; características da classe; capítulo 9;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Cessão/recompra · Endosso definitivo; regressos e recompras seguem hipóteses do Contrato de Endosso. · Fundos.NET ID 1023849; referência 29/10/2025; data/raw/29226654000110/1023849_regulamento.txt; 3.1.4; 4.3;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Coobrigação · Sem regresso/coobrigação do endossante, ressalvados dolo/má-fé comprovados e hipóteses contratuais. · Fundos.NET ID 1023849; referência 29/10/2025; data/raw/29226654000110/1023849_regulamento.txt; 3.1.4;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Waterfall · Despesas → reserva → obrigações seniores → novos créditos/ativos → subordinadas; liquidação preserva prioridade sênior. · Fundos.NET ID 1023849; referência 29/10/2025; data/raw/29226654000110/1023849_regulamento.txt; 10.1; p.74, 13.1.1;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Classes/séries · Sênior por séries e subordinadas; inventário completo de emissões não reconstruído sem suplementos. · Fundos.NET ID 1023849; referência 29/10/2025; data/raw/29226654000110/1023849_regulamento.txt; pp.59–60, 9.1–9.5;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Remuneração · Sênior: benchmark/spread no suplemento, não localizado; subordinadas recebem residual sem parâmetro definido. · Fundos.NET ID 1023849; referência 29/10/2025; data/raw/29226654000110/1023849_regulamento.txt; p.59, 9.1.4–9.1.8;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Volume/VNU · Emissão autorizada de subordinadas até R$ 1 bi é autorização, com volume efetivo/VNU não confirmados. · Fundos.NET ID 1023849; referência 29/10/2025; data/raw/29226654000110/1023849_regulamento.txt; p.60, 9.5.2–9.5.3;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Ofertas · Atos, suplementos e encerramentos específicos não confirmados nesta revisão. · Fundos.NET ID 1023849; referência 29/10/2025; data/raw/29226654000110/1023849_regulamento.txt; p.59, 9.1.5–9.1.8;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Carência · Prazo remetido ao suplemento de cada série. · Fundos.NET ID 1023849; referência 29/10/2025; data/raw/29226654000110/1023849_regulamento.txt; 9.1.5–9.1.8;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Juros/amortização · Cronograma por suplemento; aceleração pode dobrar parcelas e antecipar início após evento de avaliação. · Fundos.NET ID 1023849; referência 29/10/2025; data/raw/29226654000110/1023849_regulamento.txt; p.73, 12.2;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Vencimento · Vencimento por série no suplemento; cronograma fechado não identificado. · Fundos.NET ID 1023849; referência 29/10/2025; data/raw/29226654000110/1023849_regulamento.txt; 9.1.5–9.1.8;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Administração · 0,125% a.a./PL até R$ 500 mi; 0,10% acima; mínimos R$ 44 mil (12 primeiros meses)/R$ 54 mil depois; INPC anual. · Fundos.NET ID 1023849; referência 29/10/2025; data/raw/29226654000110/1023849_regulamento.txt; pp.66–67, 11.1; https://fnet.bmfbovespa.com.br/fnet/publico/exibirDocumento?id=1023849&amp;cvm=true · Observação: Taxa provisionada em 1/252 por dia útil; mínimo nominal sujeito a atualização.</a:t>
            </a:r>
          </a:p>
          <a:p>
            <a:r>
              <a:t>CNPJ 29226654000110 · Gestão · 0,600%/0,550%/0,500% a.a./PL por faixas até R$ 500 mi, R$ 1 bi e acima; mínimos R$ 34 mil/R$ 44 mil. · Fundos.NET ID 1023849; referência 29/10/2025; data/raw/29226654000110/1023849_regulamento.txt; pp.67–68, 11.2;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Custódia · 0,125% a.a./PL até R$ 500 mi; 0,10% acima; mínimo R$ 15 mil/mês; INPC anual. · Fundos.NET ID 1023849; referência 29/10/2025; data/raw/29226654000110/1023849_regulamento.txt; pp.68–69, 11.4;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Performance · Cobrança cessou em 01/01/2025; cláusula histórica previa 1,75% do excesso sobre DI, com tetos. · Fundos.NET ID 1023849; referência 29/10/2025; data/raw/29226654000110/1023849_regulamento.txt; p.68, 11.3.3; https://fnet.bmfbovespa.com.br/fnet/publico/exibirDocumento?id=1023849&amp;cvm=true · Observação: Não tratar a cláusula anterior como encargo vigente.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Alocação/subordinação IME · DC/PL e cotas subordinadas/PL: cálculo agregado com validação de classes e do denominador. · Corpus do CNPJ 29226654000110, revisão 2026-10-07T14:50:59-03:00; Fundos.NET ID 1023849, referência 29/10/2025, arquivo data/raw/29226654000110/1023849_regulamento.txt · Observação: Monitorável com ressalva: IME mensal não prova cumprimento diário nem composição jurídica por série.</a:t>
            </a:r>
          </a:p>
          <a:p>
            <a:r>
              <a:t>CNPJ 29226654000110 · Inadimplência/PDD IME · Over 30/60/90/180/crédito e PDD/crédito: proxies agregados; gatilhos contratuais exigem fórmula própria. · Corpus do CNPJ 29226654000110, revisão 2026-10-07T14:50:59-03:00; Fundos.NET ID 1023849, referência 29/10/2025, arquivo data/raw/29226654000110/1023849_regulamento.txt · Observação: Parcial: não equiparar índices de estoque/vintage/rolagem à carteira atual sem reconciliação de denominadores.</a:t>
            </a:r>
          </a:p>
          <a:p>
            <a:r>
              <a:t>CNPJ 29226654000110 · Controles documentais · Elegibilidade, concentração individual, lastro, finalidade do hedge e troca de prestadores exigem controle documental. · Corpus do CNPJ 29226654000110, revisão 2026-10-07T14:50:59-03:00; Fundos.NET ID 1023849, referência 29/10/2025, arquivo data/raw/29226654000110/1023849_regulamento.txt · Observação: Não monitorável pelo IME público sem dados individualizados; caixa e recompras ajudam apenas como proxies.</a:t>
            </a:r>
          </a:p>
          <a:p>
            <a:r>
              <a:t>CNPJ 29226654000110 · Competência IME · Cache local: 06/2026; selecionar competência para monitorar · .cache/fundonet-ime/1d6ce29d99dfe969ff023ea07c8652b9849ca2ba34dd9152a3e1af71808c020b/manifest.json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(Credsystem)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refinanciamento/parcelamento de faturas e carnês de cartões administrados pela Credsystem.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Credsystem representa titulares na emissão; instituições financeiras conveniadas endossam as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titulares de cartões Credsystem.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e documentação de lastro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em reais, sem atraso na aquisição, prazo até 36 meses e anterior ao término da classe; apta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registro/custódia.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Mesmo devedor/coobrigado: DC e ativos financeiros até 5%/PL.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(Credsystem)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Razão mínima de garantia e índice de cobertura definidos no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NPL90 ≥62,5%; atraso150+ &gt;53% por mais de 3 meses; concentração persistente e eventos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de 1 mês de despesas ordinárias, mantido em ativos financeiros.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 mercados de derivativos vedadas.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Provisão conforme metodologia do Anexo IV e manual da administradora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(Credsystem)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 superior a 50%/PL em DC elegíveis, após prazo de enquadramento do 3.2.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aquisições previstas no waterfall; suspensão por avaliação/liquidação; não há pool estático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demonstrado.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público profissional nos termos do regulamento.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 regressos e recompras seguem hipóteses do Contrato de Endosso.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regresso/coobrigação do endossante, ressalvados dolo/má-fé comprovados e hipóteses 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→ reserva → obrigações seniores → novos créditos/ativos → subordinadas; liquidação preserva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prioridade sênior.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(Credsystem)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séries e subordinadas; inventário completo de emissões não reconstruído sem suplementos.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recebem residual sem parâmetro definido.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autorizada de subordinadas até R$ 1 bi é autorização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(Credsystem)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aceleração pode dobrar parcelas e antecipar início após evento de avaliação.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(Credsystem)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0,125% a.a./PL até R$ 500 mi; 0,10% acima; mínimos R$ 44 mil (12 primeiros meses)/R$ 54 mil depois;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INPC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0,600%/0,550%/0,500% a.a./PL por faixas até R$ 500 mi, R$ 1 bi e acima; mínimos R$ 34 mil/R$ 44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0,125% a.a./PL até R$ 500 mi; 0,10% acima; mínimo R$ 15 mil/mês; INPC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Performance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Cobrança cessou em 01/01/2025; cláusula histórica previa 1,75% do excesso sobre DI, com tetos.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(Credsystem)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 cálculo agregado com validação 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 PDD/crédito: proxies agregados; gatilhos contratuais exigem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individual, lastro, finalidade do hedge e troca de prestadores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