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2026-10-07T16:44:38-03:00</a:t>
            </a:r>
          </a:p>
          <a:p>
            <a:r>
              <a:t>Maree I / Monee I: CNPJ 42922136000107</a:t>
            </a:r>
          </a:p>
          <a:p>
            <a:r>
              <a:t>Fontes:</a:t>
            </a:r>
          </a:p>
          <a:p>
            <a:r>
              <a:t>CNPJ 42922136000107 · Natureza dos recebíveis · CCB de empréstimos e unidades de recebíveis de pagamentos por cartão · Fundos.NET ID 1310906; referência 04/09/2026; data/raw/42922136000107/1310906_documentary_review.txt; Anexo,8.1–8.2, p36;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Originador/endossante · Instituições financeiras endossantes; Maree como correspondente e agente de cobrança · Fundos.NET ID 1310906; referência 04/09/2026; data/raw/42922136000107/1310906_documentary_review.txt; Anexo,8.2; Glossário;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Devedor · Tomadores de empréstimos e devedores dos arranjos de pagamento · Fundos.NET ID 1310906; referência 04/09/2026; data/raw/42922136000107/1310906_documentary_review.txt; Glossário e Anexo,8.1–8.2;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Garantia · Garantias/acessórios acompanham o crédito; sem garantia de solvência por prestadores · Fundos.NET ID 1310906; referência 04/09/2026; data/raw/42922136000107/1310906_documentary_review.txt; Anexo,6.3 e8;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Elegibilidade · CCB com parcelas futuras consecutivas e taxa mensal fixa; devedor sem atraso no fundo nas condições · Fundos.NET ID 1310906; referência 04/09/2026; data/raw/42922136000107/1310906_documentary_review.txt; Anexo,6.2, p31;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Concentração · Devedor/coobrigado ≤ 20% PL, com exceções para profissionais e requisitos documentais · Fundos.NET ID 1310906; referência 04/09/2026; data/raw/42922136000107/1310906_documentary_review.txt; Anexo,5.18; https://fnet.bmfbovespa.com.br/fnet/publico/exibirDocumento?id=1310906&amp;cvm=true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2026-10-07T16:44:38-03:00</a:t>
            </a:r>
          </a:p>
          <a:p>
            <a:r>
              <a:t>Maree I / Monee I: CNPJ 42922136000107</a:t>
            </a:r>
          </a:p>
          <a:p>
            <a:r>
              <a:t>Fontes:</a:t>
            </a:r>
          </a:p>
          <a:p>
            <a:r>
              <a:t>CNPJ 42922136000107 · Subordinação mínima · Cotas em igualdade de condições; sem estrutura de subordinação · Fundos.NET ID 1310906; referência 04/09/2026; data/raw/42922136000107/1310906_documentary_review.txt; Apêndice,1.2, p58;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Gatilhos de avaliação/liquidação · Desenquadramentos/falhas contratuais; cessação da atividade do originador; PL &lt; R$ 1 mi por 90 dias · Fundos.NET ID 1310906; referência 04/09/2026; data/raw/42922136000107/1310906_documentary_review.txt; Anexo,15–16, pp54–56;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Reserva de caixa · 3 meses de encargos e despesas estimadas · Fundos.NET ID 1310906; referência 04/09/2026; data/raw/42922136000107/1310906_documentary_review.txt; Anexo,17.3–17.6;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Derivativos/hedge · Não localizado nas fontes acessíveis desta leitura · Fundos.NET ID 1310906; referência 04/09/2026; data/raw/42922136000107/1310906_documentary_review.txt; Inventário das fontes consultadas; https://fnet.bmfbovespa.com.br/fnet/publico/exibirDocumento?id=1310906&amp;cvm=true; Fundos.NET ID 1310907; referência 31/07/2026 15:00; data/raw/42922136000107/1310907_documentary_review.txt; Inventário das fontes consultadas; https://fnet.bmfbovespa.com.br/fnet/publico/exibirDocumento?id=1310907&amp;cvm=true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42922136000107 · PDD · Após 1 dia da aquisição: 5, 97%; atraso 1–30: 58, 11%; 31–60: 87, 70%; 61–90: 96, 08%;&gt; 91: 100% · Fundos.NET ID 1310906; referência 04/09/2026; data/raw/42922136000107/1310906_documentary_review.txt; Anexo,13.2, p42; https://fnet.bmfbovespa.com.br/fnet/publico/exibirDocumento?id=1310906&amp;cvm=true · Observação: Escala específica do regulamento; não substituir por tabela genérica de PDD.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2026-10-07T16:44:38-03:00</a:t>
            </a:r>
          </a:p>
          <a:p>
            <a:r>
              <a:t>Maree I / Monee I: CNPJ 42922136000107</a:t>
            </a:r>
          </a:p>
          <a:p>
            <a:r>
              <a:t>Fontes:</a:t>
            </a:r>
          </a:p>
          <a:p>
            <a:r>
              <a:t>CNPJ 42922136000107 · Alocação mínima · Piso de 50% PL após 180 dias; objetivo 67% PL em créditos/cotas elegíveis para regime tributário · Fundos.NET ID 1310906; referência 04/09/2026; data/raw/42922136000107/1310906_documentary_review.txt; Anexo,5.3; Glossário Alocação Mínima;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Pool/revolvência · Aquisição de créditos elegíveis na vigência da classe · Fundos.NET ID 1310906; referência 04/09/2026; data/raw/42922136000107/1310906_documentary_review.txt; Anexo,5–8;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Duração/público-alvo · Classe fechada, prazo indeterminado; qualificados/profissionais; responsabilidade limitada · Fundos.NET ID 1310906; referência 04/09/2026; data/raw/42922136000107/1310906_documentary_review.txt; Parte Geral/Anexo,1–3;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Cessão/recompra · Cessão/endosso definitivo; regresso apenas nas hipóteses de culpa/fraude e vícios · Fundos.NET ID 1310906; referência 04/09/2026; data/raw/42922136000107/1310906_documentary_review.txt; Anexo,6.3;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Coobrigação · Cessão sem coobrigação; responsabilidade por vício/fraude preservada · Fundos.NET ID 1310906; referência 04/09/2026; data/raw/42922136000107/1310906_documentary_review.txt; Anexo,6.3;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Waterfall · Liquidação: encargos e distribuição proporcional da mesma classe · Fundos.NET ID 1310906; referência 04/09/2026; data/raw/42922136000107/1310906_documentary_review.txt; Anexo,16.4; https://fnet.bmfbovespa.com.br/fnet/publico/exibirDocumento?id=1310906&amp;cvm=true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2026-10-07T16:44:38-03:00</a:t>
            </a:r>
          </a:p>
          <a:p>
            <a:r>
              <a:t>Maree I / Monee I: CNPJ 42922136000107</a:t>
            </a:r>
          </a:p>
          <a:p>
            <a:r>
              <a:t>Fontes:</a:t>
            </a:r>
          </a:p>
          <a:p>
            <a:r>
              <a:t>CNPJ 42922136000107 · Classes/séries · Classe única com cotas em igualdade; VNU inicial R$ 1 mil · Fundos.NET ID 1310906; referência 04/09/2026; data/raw/42922136000107/1310906_documentary_review.txt; Apêndice,1.2–1.3, p58;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Remuneração · Sem meta de rentabilidade; cotas seguem a performance patrimonial · Fundos.NET ID 1310906; referência 04/09/2026; data/raw/42922136000107/1310906_documentary_review.txt; Apêndice,1.2, p58;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Volume/VNU · VNU inicial R$ 1 mil; volume por emissão não localizado · Fundos.NET ID 1310906; referência 04/09/2026; data/raw/42922136000107/1310906_documentary_review.txt; Apêndice,1.3, p58;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Ofertas · Ata confirma alteração de denominação do originador/agente para Maree · Fundos.NET ID 1310907; referência 31/07/2026 15:00; data/raw/42922136000107/1310907_documentary_review.txt; Deliberações, p2; https://fnet.bmfbovespa.com.br/fnet/publico/exibirDocumento?id=1310907&amp;cvm=true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2026-10-07T16:44:38-03:00</a:t>
            </a:r>
          </a:p>
          <a:p>
            <a:r>
              <a:t>Maree I / Monee I: CNPJ 42922136000107</a:t>
            </a:r>
          </a:p>
          <a:p>
            <a:r>
              <a:t>Fontes:</a:t>
            </a:r>
          </a:p>
          <a:p>
            <a:r>
              <a:t>CNPJ 42922136000107 · Carência · Carência específica não localizada; classe fechada sem meta de remuneração · Fundos.NET ID 1310906; referência 04/09/2026; data/raw/42922136000107/1310906_documentary_review.txt; Apêndice, p58;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Juros/amortização · Não localizado nas fontes acessíveis desta leitura · Fundos.NET ID 1310906; referência 04/09/2026; data/raw/42922136000107/1310906_documentary_review.txt; Inventário das fontes consultadas; https://fnet.bmfbovespa.com.br/fnet/publico/exibirDocumento?id=1310906&amp;cvm=true; Fundos.NET ID 1310907; referência 31/07/2026 15:00; data/raw/42922136000107/1310907_documentary_review.txt; Inventário das fontes consultadas; https://fnet.bmfbovespa.com.br/fnet/publico/exibirDocumento?id=1310907&amp;cvm=true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42922136000107 · Vencimento · Prazo indeterminado; cronograma fechado de amortização não identificado · Fundos.NET ID 1310906; referência 04/09/2026; data/raw/42922136000107/1310906_documentary_review.txt; Anexo,1–3; https://fnet.bmfbovespa.com.br/fnet/publico/exibirDocumento?id=1310906&amp;cvm=true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2026-10-07T16:44:38-03:00</a:t>
            </a:r>
          </a:p>
          <a:p>
            <a:r>
              <a:t>Maree I / Monee I: CNPJ 42922136000107</a:t>
            </a:r>
          </a:p>
          <a:p>
            <a:r>
              <a:t>Fontes:</a:t>
            </a:r>
          </a:p>
          <a:p>
            <a:r>
              <a:t>CNPJ 42922136000107 · Administração · 0, 25% a.a. até R$ 1 bi; 0, 225% entre R$ 1–2 bi; 0, 20% acima; mínimo não localizado · Fundos.NET ID 1310906; referência 04/09/2026; data/raw/42922136000107/1310906_documentary_review.txt; Anexo,11.1;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Gestão · 0, 20% a.a./PL; mínimo R$ 30 mil/mês; IPCA anual · Fundos.NET ID 1310906; referência 04/09/2026; data/raw/42922136000107/1310906_documentary_review.txt; Anexo,11.2; https://fnet.bmfbovespa.com.br/fnet/publico/exibirDocumento?id=1310906&amp;cvm=true · Observação: Conclusão limitada à versão citada; inventário completo não equivale a leitura integral de todos os documentos.</a:t>
            </a:r>
          </a:p>
          <a:p>
            <a:r>
              <a:t>CNPJ 42922136000107 · Custódia · Serviços de custódia/controladoria/escrituração integrados ao pacote da administração · Fundos.NET ID 1310906; referência 04/09/2026; data/raw/42922136000107/1310906_documentary_review.txt; Anexo,11.1; https://fnet.bmfbovespa.com.br/fnet/publico/exibirDocumento?id=1310906&amp;cvm=true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2026-10-07T16:44:38-03:00</a:t>
            </a:r>
          </a:p>
          <a:p>
            <a:r>
              <a:t>Maree I / Monee I: CNPJ 42922136000107</a:t>
            </a:r>
          </a:p>
          <a:p>
            <a:r>
              <a:t>Fontes:</a:t>
            </a:r>
          </a:p>
          <a:p>
            <a:r>
              <a:t>CNPJ 42922136000107 · Alocação/subordinação IME · Direitos creditórios / PL e cotas subordinadas / PL; validar fórmula contratual antes de comparar · Fundos.NET ID 1310906; referência 04/09/2026; data/raw/42922136000107/1310906_documentary_review.txt; Inventário das fontes consultadas; https://fnet.bmfbovespa.com.br/fnet/publico/exibirDocumento?id=1310906&amp;cvm=true; Fundos.NET ID 1310907; referência 31/07/2026 15:00; data/raw/42922136000107/1310907_documentary_review.txt; Inventário das fontes consultadas; https://fnet.bmfbovespa.com.br/fnet/publico/exibirDocumento?id=1310907&amp;cvm=true · Observação: Métricas padronizadas são proxies; data, unidade e denominador precisam coincidir com a regra jurídica.</a:t>
            </a:r>
          </a:p>
          <a:p>
            <a:r>
              <a:t>CNPJ 42922136000107 · Inadimplência/PDD IME · Aging e PDD agregados ajudam no alerta; índice contratual exige reconciliação · Fundos.NET ID 1310906; referência 04/09/2026; data/raw/42922136000107/1310906_documentary_review.txt; Inventário das fontes consultadas; https://fnet.bmfbovespa.com.br/fnet/publico/exibirDocumento?id=1310906&amp;cvm=true; Fundos.NET ID 1310907; referência 31/07/2026 15:00; data/raw/42922136000107/1310907_documentary_review.txt; Inventário das fontes consultadas; https://fnet.bmfbovespa.com.br/fnet/publico/exibirDocumento?id=1310907&amp;cvm=true · Observação: O IME não substitui bases por devedor, cedente, vintage ou fluxo de vencimentos.</a:t>
            </a:r>
          </a:p>
          <a:p>
            <a:r>
              <a:t>CNPJ 42922136000107 · Controles documentais · Elegibilidade, concentração, recompra jurídica e troca de prestadores exigem documentos individuais · Fundos.NET ID 1310906; referência 04/09/2026; data/raw/42922136000107/1310906_documentary_review.txt; Inventário das fontes consultadas; https://fnet.bmfbovespa.com.br/fnet/publico/exibirDocumento?id=1310906&amp;cvm=true; Fundos.NET ID 1310907; referência 31/07/2026 15:00; data/raw/42922136000107/1310907_documentary_review.txt; Inventário das fontes consultadas; https://fnet.bmfbovespa.com.br/fnet/publico/exibirDocumento?id=1310907&amp;cvm=true · Observação: Controle documental separado de posições agregadas do IME; lacuna não deve produzir enquadramento presumido.</a:t>
            </a:r>
          </a:p>
          <a:p>
            <a:r>
              <a:t>CNPJ 42922136000107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Monee I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Maree I / Monee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de empréstimos e unidades de recebíveis de pagamentos por cartão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 financeiras endossantes; Maree como correspondente e agente de cobrança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Tomadores de empréstimos e devedores dos arranjos de pagamento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Garantias/acessórios acompanham o crédito; sem garantia de solvência por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com parcelas futuras consecutivas e taxa mensal fixa; devedor sem atraso no fundo nas condições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Devedor/coobrigado ≤ 20% PL, com exceções para profissionais e requisitos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Monee I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Maree I / Monee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em igualdade de condições; sem estrutura de subordinação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Desenquadramentos/falhas contratuais; cessação da atividade do originador; PL &lt; R$ 1 mi por 90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encargos e despesas 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1 dia da aquisição: 5, 97%; atraso 1–30: 58, 11%; 31–60: 87, 70%; 61–90: 96, 08%;&gt; 91: 100%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Monee I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Maree I / Monee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Piso de 50% PL após 180 dias; objetivo 67% PL em créditos/cotas elegíveis para regime tributário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de créditos elegíveis na vigência da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fechada, prazo indeterminado; qualificados/profissionais; responsabilidade limitada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Cessão/endosso definitivo; regresso apenas nas hipóteses de culpa/fraude e vícios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sem coobrigação; responsabilidade por vício/fraude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Liquidação: encargos e distribuição proporcional da mesma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Monee I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Maree I / Monee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única com cotas em igualdade; VNU inicial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meta de rentabilidade; cotas seguem a performance patrimonial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inicial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Ata confirma alteração de denominação do originador/agente para Maree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Monee I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Maree I / Monee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 sem meta de 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indeterminado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Monee I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Maree I / Monee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25% a.a. até R$ 1 bi; 0, 225% entre R$ 1–2 bi; 0, 20% acima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20% a.a./PL; mínimo R$ 30 mil/mês; IPCA 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de custódia/controladoria/escrituração integrados ao pacote da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Monee I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Maree I / Monee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ajudam no alerta; índice contratual exige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recompra jurídica e troca de prestadores exigem documentos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