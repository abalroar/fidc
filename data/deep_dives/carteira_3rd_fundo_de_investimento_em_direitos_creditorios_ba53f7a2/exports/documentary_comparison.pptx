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3RD: CNPJ 40975325000104</a:t>
            </a:r>
          </a:p>
          <a:p>
            <a:r>
              <a:t>Fontes:</a:t>
            </a:r>
          </a:p>
          <a:p>
            <a:r>
              <a:t>CNPJ 40975325000104 · Natureza dos recebíveis · Títulos de cedentes de agro, indústria e comércio; créditos performados e padronizados. · Fundos.NET ID 1188990; 13/05/2026; data/raw/40975325000104/1188990_regulamento_cache_integral.txt; regulamento; https://fnet.bmfbovespa.com.br/fnet/publico/exibirDocumento?id=1188990&amp;cvm=true; p.35, 9.1 · Observação: Regra documental; verificar versão, base e condições antes de monitorar.</a:t>
            </a:r>
          </a:p>
          <a:p>
            <a:r>
              <a:t>CNPJ 40975325000104 · Originador/endossante · Cedentes de agro, indústria e comércio; identidades por contrato. · Fundos.NET ID 1188990; 13/05/2026; data/raw/40975325000104/1188990_regulamento_cache_integral.txt; regulamento; https://fnet.bmfbovespa.com.br/fnet/publico/exibirDocumento?id=1188990&amp;cvm=true; p.35, 9.1–9.2 · Observação: Regra documental; verificar versão, base e condições antes de monitorar.</a:t>
            </a:r>
          </a:p>
          <a:p>
            <a:r>
              <a:t>CNPJ 40975325000104 · Devedor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  <a:p>
            <a:r>
              <a:t>CNPJ 40975325000104 · Garantia · Garantias reais ou fidejussórias admitidas; sem cobertura uniforme. · Fundos.NET ID 1188990; 13/05/2026; data/raw/40975325000104/1188990_regulamento_cache_integral.txt; regulamento; https://fnet.bmfbovespa.com.br/fnet/publico/exibirDocumento?id=1188990&amp;cvm=true; p.35, 9.1(c) · Observação: Regra documental; verificar versão, base e condições antes de monitorar.</a:t>
            </a:r>
          </a:p>
          <a:p>
            <a:r>
              <a:t>CNPJ 40975325000104 · Elegibilidade · Adimplentes; devedor sem atraso no fundo; lastro e vencimento ≥5 DU da aquisição. · Fundos.NET ID 1188990; 13/05/2026; data/raw/40975325000104/1188990_regulamento_cache_integral.txt; regulamento; https://fnet.bmfbovespa.com.br/fnet/publico/exibirDocumento?id=1188990&amp;cvm=true; p.36, 10.1 · Observação: Regra documental; verificar versão, base e condições antes de monitorar.</a:t>
            </a:r>
          </a:p>
          <a:p>
            <a:r>
              <a:t>CNPJ 40975325000104 · Concentração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3RD: CNPJ 40975325000104</a:t>
            </a:r>
          </a:p>
          <a:p>
            <a:r>
              <a:t>Fontes:</a:t>
            </a:r>
          </a:p>
          <a:p>
            <a:r>
              <a:t>CNPJ 40975325000104 · Subordinação mínima · Júnior ≥10%/PL, apuração diária. · Fundos.NET ID 1188990; 13/05/2026; data/raw/40975325000104/1188990_regulamento_cache_integral.txt; regulamento; https://fnet.bmfbovespa.com.br/fnet/publico/exibirDocumento?id=1188990&amp;cvm=true; p.29, 6.1–6.2 · Observação: Regra documental; verificar versão, base e condições antes de monitorar.</a:t>
            </a:r>
          </a:p>
          <a:p>
            <a:r>
              <a:t>CNPJ 40975325000104 · Gatilhos de avaliação/liquidação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  <a:p>
            <a:r>
              <a:t>CNPJ 40975325000104 · Reserva de caixa · Reserva de encargos: 6 meses de despesas estimadas. · Fundos.NET ID 1188990; 13/05/2026; data/raw/40975325000104/1188990_regulamento_cache_integral.txt; regulamento; https://fnet.bmfbovespa.com.br/fnet/publico/exibirDocumento?id=1188990&amp;cvm=true; pp.43–44, 13.1 · Observação: Regra documental; verificar versão, base e condições antes de monitorar.</a:t>
            </a:r>
          </a:p>
          <a:p>
            <a:r>
              <a:t>CNPJ 40975325000104 · Derivativos/hedge · Exclusivamente proteção patrimonial, com contraparte central. · Fundos.NET ID 1188990; 13/05/2026; data/raw/40975325000104/1188990_regulamento_cache_integral.txt; regulamento; https://fnet.bmfbovespa.com.br/fnet/publico/exibirDocumento?id=1188990&amp;cvm=true; p.33, 8.4 · Observação: Regra documental; verificar versão, base e condições antes de monitorar.</a:t>
            </a:r>
          </a:p>
          <a:p>
            <a:r>
              <a:t>CNPJ 40975325000104 · PDD · Manual de provisões da administradora; piso PDD/crédito não confirmado. · Fundos.NET ID 1188990; 13/05/2026; data/raw/40975325000104/1188990_regulamento_cache_integral.txt; regulamento; https://fnet.bmfbovespa.com.br/fnet/publico/exibirDocumento?id=1188990&amp;cvm=true; p.14, 8.3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3RD: CNPJ 40975325000104</a:t>
            </a:r>
          </a:p>
          <a:p>
            <a:r>
              <a:t>Fontes:</a:t>
            </a:r>
          </a:p>
          <a:p>
            <a:r>
              <a:t>CNPJ 40975325000104 · Alocação mínima · 67%/PL em DC após 180 dias do início. · Fundos.NET ID 1188990; 13/05/2026; data/raw/40975325000104/1188990_regulamento_cache_integral.txt; regulamento; https://fnet.bmfbovespa.com.br/fnet/publico/exibirDocumento?id=1188990&amp;cvm=true; p.2, definição; p.33, 8.2 · Observação: Regra documental; verificar versão, base e condições antes de monitorar.</a:t>
            </a:r>
          </a:p>
          <a:p>
            <a:r>
              <a:t>CNPJ 40975325000104 · Pool/revolvência · Revolvência permitida ao longo da duração, conforme waterfall. · Fundos.NET ID 1188990; 13/05/2026; data/raw/40975325000104/1188990_regulamento_cache_integral.txt; regulamento; https://fnet.bmfbovespa.com.br/fnet/publico/exibirDocumento?id=1188990&amp;cvm=true; p.35, 9.3 · Observação: Regra documental; verificar versão, base e condições antes de monitorar.</a:t>
            </a:r>
          </a:p>
          <a:p>
            <a:r>
              <a:t>CNPJ 40975325000104 · Duração/público-alvo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  <a:p>
            <a:r>
              <a:t>CNPJ 40975325000104 · Cessão/recompra · Cessão definitiva; cedente responde pela existência do crédito. · Fundos.NET ID 1188990; 13/05/2026; data/raw/40975325000104/1188990_regulamento_cache_integral.txt; regulamento; https://fnet.bmfbovespa.com.br/fnet/publico/exibirDocumento?id=1188990&amp;cvm=true; p.35, 9.2 · Observação: Regra documental; verificar versão, base e condições antes de monitorar.</a:t>
            </a:r>
          </a:p>
          <a:p>
            <a:r>
              <a:t>CNPJ 40975325000104 · Coobrigação · Aquisição com ou sem coobrigação. · Fundos.NET ID 1188990; 13/05/2026; data/raw/40975325000104/1188990_regulamento_cache_integral.txt; regulamento; https://fnet.bmfbovespa.com.br/fnet/publico/exibirDocumento?id=1188990&amp;cvm=true; p.35, 9.2(a) · Observação: Regra documental; verificar versão, base e condições antes de monitorar.</a:t>
            </a:r>
          </a:p>
          <a:p>
            <a:r>
              <a:t>CNPJ 40975325000104 · Waterfall · Encargos → derivativos → reserva → resgates → novas aquisições. · Fundos.NET ID 1188990; 13/05/2026; data/raw/40975325000104/1188990_regulamento_cache_integral.txt; regulamento; https://fnet.bmfbovespa.com.br/fnet/publico/exibirDocumento?id=1188990&amp;cvm=true; p.44, 14.1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3RD: CNPJ 40975325000104</a:t>
            </a:r>
          </a:p>
          <a:p>
            <a:r>
              <a:t>Fontes:</a:t>
            </a:r>
          </a:p>
          <a:p>
            <a:r>
              <a:t>CNPJ 40975325000104 · Classes/séries · Sênior, mezanino e júnior conforme suplemento existente. · Fundos.NET ID 1188990; 13/05/2026; data/raw/40975325000104/1188990_regulamento_cache_integral.txt; regulamento; https://fnet.bmfbovespa.com.br/fnet/publico/exibirDocumento?id=1188990&amp;cvm=true; p.26, 5.1 · Observação: Regra documental; verificar versão, base e condições antes de monitorar.</a:t>
            </a:r>
          </a:p>
          <a:p>
            <a:r>
              <a:t>CNPJ 40975325000104 · Remuneração · Spread final não localizado nesta revisão; conferir suplemento preenchido. · Fundos.NET ID 1188990; 13/05/2026; data/raw/40975325000104/1188990_regulamento_cache_integral.txt; regulamento; https://fnet.bmfbovespa.com.br/fnet/publico/exibirDocumento?id=1188990&amp;cvm=true; escopo e condições da revisão · Observação: Taxas de prestadores não representam remuneração das cotas.</a:t>
            </a:r>
          </a:p>
          <a:p>
            <a:r>
              <a:t>CNPJ 40975325000104 · Volume/VNU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  <a:p>
            <a:r>
              <a:t>CNPJ 40975325000104 · Ofertas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3RD: CNPJ 40975325000104</a:t>
            </a:r>
          </a:p>
          <a:p>
            <a:r>
              <a:t>Fontes:</a:t>
            </a:r>
          </a:p>
          <a:p>
            <a:r>
              <a:t>CNPJ 40975325000104 · Carência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  <a:p>
            <a:r>
              <a:t>CNPJ 40975325000104 · Juros/amortização · Cronograma fechado não identificado nesta revisão; conferir série/suplemento. · Fundos.NET ID 1188990; 13/05/2026; data/raw/40975325000104/1188990_regulamento_cache_integral.txt; regulamento; https://fnet.bmfbovespa.com.br/fnet/publico/exibirDocumento?id=1188990&amp;cvm=true; escopo e condições da revisão · Observação: Data do regulamento não equivale a data de integralização.</a:t>
            </a:r>
          </a:p>
          <a:p>
            <a:r>
              <a:t>CNPJ 40975325000104 · Vencimento · Não confirmado na revisão dirigida; conferir documento ou cláusula específica. · Fundos.NET ID 1188990; 13/05/2026; data/raw/40975325000104/1188990_regulamento_cache_integral.txt; regulamento; https://fnet.bmfbovespa.com.br/fnet/publico/exibirDocumento?id=1188990&amp;cvm=true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3RD: CNPJ 40975325000104</a:t>
            </a:r>
          </a:p>
          <a:p>
            <a:r>
              <a:t>Fontes:</a:t>
            </a:r>
          </a:p>
          <a:p>
            <a:r>
              <a:t>CNPJ 40975325000104 · Administração · R$ 7 mil/mês no primeiro ano da migração; depois percentual 0,24% e mínimo R$ 7 mil; IGP-M. · Fundos.NET ID 1188990; 13/05/2026; data/raw/40975325000104/1188990_regulamento_cache_integral.txt; regulamento; https://fnet.bmfbovespa.com.br/fnet/publico/exibirDocumento?id=1188990&amp;cvm=true; p.30, 7.1–7.2 · Observação: Regra documental; verificar versão, base e condições antes de monitorar.</a:t>
            </a:r>
          </a:p>
          <a:p>
            <a:r>
              <a:t>CNPJ 40975325000104 · Gestão · R$ 8 mil/mês no primeiro ano; depois percentual 0,40% e mínimo R$ 8 mil; IGP-M. · Fundos.NET ID 1188990; 13/05/2026; data/raw/40975325000104/1188990_regulamento_cache_integral.txt; regulamento; https://fnet.bmfbovespa.com.br/fnet/publico/exibirDocumento?id=1188990&amp;cvm=true; pp.30–31, 7.1/7.3 · Observação: Regra documental; verificar versão, base e condições antes de monitorar.</a:t>
            </a:r>
          </a:p>
          <a:p>
            <a:r>
              <a:t>CNPJ 40975325000104 · Custódia · R$ 7 mil/mês no primeiro ano; depois 0,06% a.a./PL, mínimo R$ 8 mil. · Fundos.NET ID 1188990; 13/05/2026; data/raw/40975325000104/1188990_regulamento_cache_integral.txt; regulamento; https://fnet.bmfbovespa.com.br/fnet/publico/exibirDocumento?id=1188990&amp;cvm=true; pp.30–31, 7.1/7.4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3RD: CNPJ 40975325000104</a:t>
            </a:r>
          </a:p>
          <a:p>
            <a:r>
              <a:t>Fontes:</a:t>
            </a:r>
          </a:p>
          <a:p>
            <a:r>
              <a:t>CNPJ 40975325000104 · Alocação/subordinação IME · DC/PL e cotas por categoria/PL; validar regra e denominador. · Fundos.NET ID 1188990; 13/05/2026; data/raw/40975325000104/1188990_regulamento_cache_integral.txt; regulamento; https://fnet.bmfbovespa.com.br/fnet/publico/exibirDocumento?id=1188990&amp;cvm=true; escopo e condições da revisão · Observação: Proxy agregado; não comprova enquadramento diário nem prioridade por série.</a:t>
            </a:r>
          </a:p>
          <a:p>
            <a:r>
              <a:t>CNPJ 40975325000104 · Inadimplência/PDD IME · Aging e PDD/crédito agregados; conciliar índice contratual. · Fundos.NET ID 1188990; 13/05/2026; data/raw/40975325000104/1188990_regulamento_cache_integral.txt; regulamento; https://fnet.bmfbovespa.com.br/fnet/publico/exibirDocumento?id=1188990&amp;cvm=true; escopo e condições da revisão · Observação: Proxy parcial; vintage, efeito vagão e defasagem não reproduzidos automaticamente.</a:t>
            </a:r>
          </a:p>
          <a:p>
            <a:r>
              <a:t>CNPJ 40975325000104 · Controles documentais · Lastro, elegibilidade, concentração individual e prestadores exigem documentos. · Fundos.NET ID 1188990; 13/05/2026; data/raw/40975325000104/1188990_regulamento_cache_integral.txt; regulamento; https://fnet.bmfbovespa.com.br/fnet/publico/exibirDocumento?id=1188990&amp;cvm=true; escopo e condições da revisão · Observação: IME público sem granularidade individual; não usar como prova de conformidade.</a:t>
            </a:r>
          </a:p>
          <a:p>
            <a:r>
              <a:t>CNPJ 40975325000104 · Competência IME · Cache local: 04/2026; selecionar competência para monitorar · .cache/fundonet-ime/6ba65de0d467b5665922cdaa482a0be2d065c44d1051ed933a4c2a800bd06aa2/manifest.json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3rd fundo de investimento em direitos creditorios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Títulos de cedentes de agro, indústria e comércio; créditos performados e padronizados.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de agro, indústria e comércio; identidades por contrato.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reais ou fidejussórias admitidas; sem cobertura uniforme.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devedor sem atraso no fundo; lastro e vencimento ≥5 DU da aquisição.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3rd fundo de investimento em direitos creditorios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≥10%/PL, apuração diária.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encargos: 6 meses de despesas estimadas.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Exclusivamente proteção patrimonial, com contraparte central.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Manual de provisões da administradora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3rd fundo de investimento em direitos creditorios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 após 180 dias do início.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permitida ao longo da duração, conforme waterfall.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definitiva; cedente responde pela existência do crédito.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com ou sem coobrigação.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derivativos → reserva → resgates → novas 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3rd fundo de investimento em direitos creditorios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 conforme suplemento existente.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3rd fundo de investimento em direitos creditorios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3rd fundo de investimento em direitos creditorios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R$ 7 mil/mês no primeiro ano da migração; depois percentual 0,24% e mínimo R$ 7 mil; IGP-M.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R$ 8 mil/mês no primeiro ano; depois percentual 0,40% e mínimo R$ 8 mil; IGP-M.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R$ 7 mil/mês no primeiro ano; depois 0,06% a.a./PL, mínimo R$ 8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3rd fundo de investimento em direitos creditorios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04/2026;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