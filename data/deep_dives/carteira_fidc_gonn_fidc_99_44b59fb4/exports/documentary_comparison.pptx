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2026-10-07T16:49:45-03:00</a:t>
            </a:r>
          </a:p>
          <a:p>
            <a:r>
              <a:t>GONN: CNPJ 47669805000196</a:t>
            </a:r>
          </a:p>
          <a:p>
            <a:r>
              <a:t>Fontes:</a:t>
            </a:r>
          </a:p>
          <a:p>
            <a:r>
              <a:t>CNPJ 47669805000196 · Natureza dos recebíveis · Crédito pessoal digital da Plataforma 99, representado por CCBs · Fundos.NET ID 1046752 | 06/11/2025 | regulamento | p. 109; Anexo III itens1–3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  <a:p>
            <a:r>
              <a:t>CNPJ 47669805000196 · Originador/endossante · Instituições financeiras parceiras e 99 Pay; entrada da 99 Pay SCD condicionada à auditoria/aprovação do sênior · Fundos.NET ID 1046757 | 06/11/2025 16:00 | assembleia | p. 2–5; Ordem do dia6(c); Deliberações7.1–7.2 | data/raw/47669805000196/1046757_assembleia_review_20261007.pdf | https://fnet.bmfbovespa.com.br/fnet/publico/visualizarDocumento?id=1046757 · Observação: Ata aprova autorização condicional; conclusão da auditoria e notificação autorizativa não localizadas.</a:t>
            </a:r>
          </a:p>
          <a:p>
            <a:r>
              <a:t>CNPJ 47669805000196 · Devedor · Pessoas físicas residentes no Brasil,20–70 anos, usuários da Plataforma 99 · Fundos.NET ID 1046752 | 06/11/2025 | regulamento | p. 109; Anexo III itens3–4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  <a:p>
            <a:r>
              <a:t>CNPJ 47669805000196 · Garantia · Conta caução da 99 Pay SCD com cessão fiduciária; garantias adicionais referidas em contratos próprios · Fundos.NET ID 1046757 | 06/11/2025 16:00 | assembleia | p. 3; Ordem do dia6(d) | data/raw/47669805000196/1046757_assembleia_review_20261007.pdf | https://fnet.bmfbovespa.com.br/fnet/publico/visualizarDocumento?id=1046757 · Observação: Não atribuir garantia de solvência a cada CCB; instrumentos adicionais completos não revisados.</a:t>
            </a:r>
          </a:p>
          <a:p>
            <a:r>
              <a:t>CNPJ 47669805000196 · Elegibilidade · CCB≤R$ 15 mil, prazo original≤18 meses, taxa fixa; adimplente perante fundo; desconto≤13% a.m. · Fundos.NET ID 1046752 | 06/11/2025 | regulamento | p. 40; 7.1 | data/raw/47669805000196/1046752_documentary_review.pdf | https://fnet.bmfbovespa.com.br/fnet/publico/visualizarDocumento?id=1046752 · Observação: Preço de aquisição≤100% saldo; limites de originação não correspondem à remuneração das cotas. Período transitório 16/10/2024–31/03/2025 expirou.</a:t>
            </a:r>
          </a:p>
          <a:p>
            <a:r>
              <a:t>CNPJ 47669805000196 · Concentração · Direitos ajustados: novos usuários≤65% após 12 meses; estudantes 2,5%; prazo&gt;12 meses 5%; estado principal 50%, top 5 estados 80% · Fundos.NET ID 1046752 | 06/11/2025 | regulamento | p. 114–115; Anexo V | data/raw/47669805000196/1046752_documentary_review.pdf | https://fnet.bmfbovespa.com.br/fnet/publico/visualizarDocumento?id=1046752 · Observação: Há limites adicionais por DiDi Score, histórico de transações e saldo&gt;R$ 10 mil. Base é Direitos Creditórios Ajustados; IME não tem granularidade necessária.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2026-10-07T16:49:45-03:00</a:t>
            </a:r>
          </a:p>
          <a:p>
            <a:r>
              <a:t>GONN: CNPJ 47669805000196</a:t>
            </a:r>
          </a:p>
          <a:p>
            <a:r>
              <a:t>Fontes:</a:t>
            </a:r>
          </a:p>
          <a:p>
            <a:r>
              <a:t>CNPJ 47669805000196 · Subordinação mínima · Júnior / PL≥35%; senioridade limitada à base de captação ponderada 65% recorrentes/50% novos/0% atrasados 15+ · Fundos.NET ID 1046752 | 06/11/2025 | regulamento | p. 30–31, 33; Definições Relação Mínima, Razão de Adiantamento e Senioridade Máxima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  <a:p>
            <a:r>
              <a:t>CNPJ 47669805000196 · Gatilhos de avaliação/liquidação · Rolagem 30+&gt;7% ou inadimplência 15+&gt;14% reduz advance rate; rolagem&gt;8% acelera e&gt;9% avalia · Fundos.NET ID 1046752 | 06/11/2025 | regulamento | p. 116–118; Anexo VI | data/raw/47669805000196/1046752_documentary_review.pdf | https://fnet.bmfbovespa.com.br/fnet/publico/visualizarDocumento?id=1046752 · Observação: Gatilhos por safra/MOB; juros excedentes&lt;7,5% acelera/&lt;5% avalia; perda relevanteMOB 3–5/6–8/9+17,5/25/32,5% acelera e 20/27,5/35% avalia. Janela de cura e assembleia podem alterar consequência.</a:t>
            </a:r>
          </a:p>
          <a:p>
            <a:r>
              <a:t>CNPJ 47669805000196 · Reserva de caixa · 1 mês de despesas +1 mês de benchmark sênior; sem chamadas de capital até recomposição · Fundos.NET ID 1046752 | 06/11/2025 | regulamento | p. 32, 78; Definições; 19.1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  <a:p>
            <a:r>
              <a:t>CNPJ 47669805000196 · Derivativos/hedge · Proteção patrimonial ou troca de indexador sem risco de capital · Fundos.NET ID 1046752 | 06/11/2025 | regulamento | p. 38; 5.7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  <a:p>
            <a:r>
              <a:t>CNPJ 47669805000196 · PDD · Metodologia por devedor disponível no site do administrador; tabela percentual não consta da cláusula · Fundos.NET ID 1046752 | 06/11/2025 | regulamento | p. 44–45; 9.3–9.6 | data/raw/47669805000196/1046752_documentary_review.pdf | https://fnet.bmfbovespa.com.br/fnet/publico/visualizarDocumento?id=1046752 · Observação: Obter manual vigente para testar provisionamento; PDD/crédito agregado é proxy parcial.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2026-10-07T16:49:45-03:00</a:t>
            </a:r>
          </a:p>
          <a:p>
            <a:r>
              <a:t>GONN: CNPJ 47669805000196</a:t>
            </a:r>
          </a:p>
          <a:p>
            <a:r>
              <a:t>Fontes:</a:t>
            </a:r>
          </a:p>
          <a:p>
            <a:r>
              <a:t>CNPJ 47669805000196 · Alocação mínima · 50% PL em direitos creditórios; prazo 180 dias, sujeito à prorrogação CVM · Fundos.NET ID 1046752 | 06/11/2025 | regulamento | p. 9, 116; Alocação Mínima; Anexo VI(vi)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  <a:p>
            <a:r>
              <a:t>CNPJ 47669805000196 · Pool/revolvência · Aquisições até data limite do apêndice; suspensas nos eventos e durante amortização antecipada · Fundos.NET ID 1046752 | 06/11/2025 | regulamento | p. 78–80; 19.2–19.6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  <a:p>
            <a:r>
              <a:t>CNPJ 47669805000196 · Duração/público-alvo · Investidores profissionais; única cota sênior destinada a um único investidor · Fundos.NET ID 1046752 | 06/11/2025 | regulamento | p. 36–37; 2.1; 3.1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  <a:p>
            <a:r>
              <a:t>CNPJ 47669805000196 · Cessão/recompra · Endosso em cada aquisição; desenquadramento posterior não exige alienação/regresso, salvo culpa ou dolo · Fundos.NET ID 1046752 | 06/11/2025 | regulamento | p. 40, 43–44; 7.2.1; 7.6; 8.4–8.5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  <a:p>
            <a:r>
              <a:t>CNPJ 47669805000196 · Coobrigação · Termos de endosso sem coobrigação; garantias adicionais são eventos contratuais separados · Fundos.NET ID 1046752 | 06/11/2025 | regulamento | p. 34; Definição Termos de Endosso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  <a:p>
            <a:r>
              <a:t>CNPJ 47669805000196 · Waterfall · Despesas; benchmark e reenquadramento sênior; cobrança; reservas; júnior; aquisições. Após eventos: principal sênior antes do júnior · Fundos.NET ID 1046752 | 06/11/2025 | regulamento | p. 78–80; 19.2–19.3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2026-10-07T16:49:45-03:00</a:t>
            </a:r>
          </a:p>
          <a:p>
            <a:r>
              <a:t>GONN: CNPJ 47669805000196</a:t>
            </a:r>
          </a:p>
          <a:p>
            <a:r>
              <a:t>Fontes:</a:t>
            </a:r>
          </a:p>
          <a:p>
            <a:r>
              <a:t>CNPJ 47669805000196 · Classes/séries · Uma sênior e júnior; aprovada 2ª emissão e consolidação sênior 1/2 em uma cota · Fundos.NET ID 1046757 | 06/11/2025 16:00 | assembleia | p. 2, 9; Ordem do dia6(a)–(b); Anexo II | data/raw/47669805000196/1046757_assembleia_review_20261007.pdf | https://fnet.bmfbovespa.com.br/fnet/publico/visualizarDocumento?id=1046757 · Observação: Regra da versão indicada; resumo sujeito às condições completas da cláusula. IME agregado não comprova elegibilidade individual.</a:t>
            </a:r>
          </a:p>
          <a:p>
            <a:r>
              <a:t>CNPJ 47669805000196 · Remuneração · Benchmark/spread regular não localizado; adicional não utilização 0,75% a.a. sobre parcela não utilizada · Fundos.NET ID 1046752 | 06/11/2025 | regulamento | p. 1–2; Trecho de apêndice | data/raw/47669805000196/1046752_documentary_review.pdf | https://fnet.bmfbovespa.com.br/fnet/publico/visualizarDocumento?id=1046752 · Observação: PDF começa na página interna 5 do apêndice; trecho inicial com benchmark regular ausente. Adicional 0,75% não é spread regular da cota. Utilização mínima e evento qualificado têm fórmulas próprias.</a:t>
            </a:r>
          </a:p>
          <a:p>
            <a:r>
              <a:t>CNPJ 47669805000196 · Volume/VNU · 2ª emissão:1 cota sênior deR$ 150 mi; consolidação aprovada, volume final consolidado não localizado · Fundos.NET ID 1046757 | 06/11/2025 16:00 | assembleia | p. 9–10; Apêndice2ª emissão | data/raw/47669805000196/1046757_assembleia_review_20261007.pdf | https://fnet.bmfbovespa.com.br/fnet/publico/visualizarDocumento?id=1046757 · Observação: Colocação privada sem distribuição parcial; emissão na primeira subscrição, data efetiva não localizada.</a:t>
            </a:r>
          </a:p>
          <a:p>
            <a:r>
              <a:t>CNPJ 47669805000196 · Ofertas · 2ª emissão privada aprovada 06/11/2025; chamadas de capital com antecedência mínima 5 DU · Fundos.NET ID 1046757 | 06/11/2025 16:00 | assembleia | p. 9–10; Apêndice2ª emissão | data/raw/47669805000196/1046757_assembleia_review_20261007.pdf | https://fnet.bmfbovespa.com.br/fnet/publico/visualizarDocumento?id=1046757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2026-10-07T16:49:45-03:00</a:t>
            </a:r>
          </a:p>
          <a:p>
            <a:r>
              <a:t>GONN: CNPJ 47669805000196</a:t>
            </a:r>
          </a:p>
          <a:p>
            <a:r>
              <a:t>Fontes:</a:t>
            </a:r>
          </a:p>
          <a:p>
            <a:r>
              <a:t>CNPJ 47669805000196 · Carência · Carência/cronograma regular não localizados na parte acessível dos apêndices · Fundos.NET ID 1046752 | 06/11/2025 | regulamento | p. 104–105; Modelo de apêndice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  <a:p>
            <a:r>
              <a:t>CNPJ 47669805000196 · Juros/amortização · Amortização extraordinária sêniorR$ 105 mi aprovada em dezembro 2025; pagamento em até 2 DU da assinatura · Fundos.NET ID 1075573 | 18/12/2025 10:00 | assembleia | p. 1–2; Ordem do dia5; Deliberação6 | data/raw/47669805000196/1075573_documentary_review.pdf | https://fnet.bmfbovespa.com.br/fnet/publico/visualizarDocumento?id=1075573 · Observação: Título e fecho 18/12/2025, abertura 17/12/2025. Deliberação aprovada, execução do pagamento não comprovada.</a:t>
            </a:r>
          </a:p>
          <a:p>
            <a:r>
              <a:t>CNPJ 47669805000196 · Vencimento · Prazo/data final remetidos ao apêndice; cronograma fechado não identificado · Fundos.NET ID 1046752 | 06/11/2025 | regulamento | p. 62, 104–105; 12.4; Modelo de apêndice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2026-10-07T16:49:45-03:00</a:t>
            </a:r>
          </a:p>
          <a:p>
            <a:r>
              <a:t>GONN: CNPJ 47669805000196</a:t>
            </a:r>
          </a:p>
          <a:p>
            <a:r>
              <a:t>Fontes:</a:t>
            </a:r>
          </a:p>
          <a:p>
            <a:r>
              <a:t>CNPJ 47669805000196 · Administração · 0,10% a.a. PL +faixas 0,11/0,09/0,07% atéR$ 500 mi/1 bi/acima; mínimoR$ 27 mil/mês · Fundos.NET ID 1046752 | 06/11/2025 | regulamento | p. 77–78; 18.1; 18.8 | data/raw/47669805000196/1046752_documentary_review.pdf | https://fnet.bmfbovespa.com.br/fnet/publico/visualizarDocumento?id=1046752 · Observação: ReajusteIGP-M; pacote inclui administração/controladoria/processamento e serviços descritos; observar soma das parcelas.</a:t>
            </a:r>
          </a:p>
          <a:p>
            <a:r>
              <a:t>CNPJ 47669805000196 · Gestão · 10% a.a. sobre taxa de administração, limitadoR$ 4 mil; periodicidade do teto requer validação · Fundos.NET ID 1046752 | 06/11/2025 | regulamento | p. 77–78; 18.3; 18.8 | data/raw/47669805000196/1046752_documentary_review.pdf | https://fnet.bmfbovespa.com.br/fnet/publico/visualizarDocumento?id=1046752 · Observação: Literal da cláusula: base é taxa de administração. Não converter para percentual do PL nem inferir periodicidade ausente do teto.</a:t>
            </a:r>
          </a:p>
          <a:p>
            <a:r>
              <a:t>CNPJ 47669805000196 · Custódia · 0,05% a.a. PL; mínimoR$ 3 mil/mês; IGP-M · Fundos.NET ID 1046752 | 06/11/2025 | regulamento | p. 77–78; 18.2; 18.8 | data/raw/47669805000196/1046752_documentary_review.pdf | https://fnet.bmfbovespa.com.br/fnet/publico/visualizarDocumento?id=1046752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2026-10-07T16:49:45-03:00</a:t>
            </a:r>
          </a:p>
          <a:p>
            <a:r>
              <a:t>GONN: CNPJ 47669805000196</a:t>
            </a:r>
          </a:p>
          <a:p>
            <a:r>
              <a:t>Fontes:</a:t>
            </a:r>
          </a:p>
          <a:p>
            <a:r>
              <a:t>CNPJ 47669805000196 · Alocação/subordinação IME · Direitos creditórios / PL e cotas subordinadas / PL; validar ativo elegível, subclasses e fórmula contratual · data/raw/47669805000196/access_status_20261007.txt | Consulta Fundos.NET por CNPJ 47669805000196 em 07/10/2026; inventário completo com 94 registros · Observação: Avaliação metodológica do IME público; dados de cache e monitoramento ao vivo são apresentados separadamente.</a:t>
            </a:r>
          </a:p>
          <a:p>
            <a:r>
              <a:t>CNPJ 47669805000196 · Inadimplência/PDD IME · Over 30/60/90 e PDD / crédito: indicadores agregados; gatilhos dependem de denominador e janela contratual · data/raw/47669805000196/access_status_20261007.txt | Consulta Fundos.NET por CNPJ 47669805000196 em 07/10/2026; inventário completo com 94 registros · Observação: Avaliação metodológica do IME público; dados de cache e monitoramento ao vivo são apresentados separadamente.</a:t>
            </a:r>
          </a:p>
          <a:p>
            <a:r>
              <a:t>CNPJ 47669805000196 · Controles documentais · Elegibilidade, concentração por devedor/grupo, lastro, prestadores e eventos: validação documental e operacional · data/raw/47669805000196/access_status_20261007.txt | Consulta Fundos.NET por CNPJ 47669805000196 em 07/10/2026; inventário completo com 94 registros · Observação: Avaliação metodológica do IME público; dados de cache e monitoramento ao vivo são apresentados separadamente.</a:t>
            </a:r>
          </a:p>
          <a:p>
            <a:r>
              <a:t>CNPJ 47669805000196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GONN (FIDC 99)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656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GONN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pessoal digital da Plataforma 99, representado por CCBs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Instituições financeiras parceiras e 99 Pay; entrada da 99 Pay SCD condicionada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auditoria/aprovação do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residentes no Brasil,20–70 anos, usuários da Plataforma 99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Conta caução da 99 Pay SCD com cessão fiduciária; garantias adicionais referidas em contratos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CCB≤R$ 15 mil, prazo original≤18 meses, taxa fixa; adimplente perante fundo; desconto≤13% a.m.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ajustados: novos usuários≤65% após 12 meses; estudantes 2,5%; prazo&gt;12 meses 5%; estado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50%, top 5 estados 80%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GONN (FIDC 99)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3728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GONN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/ PL≥35%; senioridade limitada à base de captação ponderada 65% recorrentes/50% novos/0%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atrasados 15+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Rolagem 30+&gt;7% ou inadimplência 15+&gt;14% reduz advance rate; rolagem&gt;8% acelera e&gt;9% avalia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 mês de despesas +1 mês de benchmark sênior; sem chamadas de capital até recomposição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 ou troca de indexador sem risco de capital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Metodologia por devedor disponível no site do administrador; tabela percentual não consta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GONN (FIDC 99)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GONN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 PL em direitos creditórios; prazo 180 dias, sujeito à prorrogação CVM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até data limite do apêndice; suspensas nos eventos e durante amortização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Investidores profissionais; única cota sênior destinada a um único investidor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em cada aquisição; desenquadramento posterior não exige alienação/regresso, salvo culpa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dolo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Termos de endosso sem coobrigação; garantias adicionais são eventos contratuais separados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Despesas; benchmark e reenquadramento sênior; cobrança; reservas; júnior; aquisições. Após eventos: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sênior antes do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GONN (FIDC 99)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GONN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Uma sênior e júnior; aprovada 2ª emissão e consolidação sênior 1/2 em uma cota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Benchmark/spread regular não localizado; adicional não utilização 0,75% a.a. sobre parcela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utilizada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emissão:1 cota sênior deR$ 150 mi; consolidação aprovada, volume final consolidado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 privada aprovada 06/11/2025; chamadas de capital com antecedência mínima 5 DU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GONN (FIDC 99)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431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GONN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Carência/cronograma regular não localizados na parte acessível dos apêndices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extraordinária sêniorR$ 105 mi aprovada em dezembro 2025; pagamento em até 2 DU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assinatura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Prazo/data final remetidos ao apêndice; cronograma fechado não identificado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GONN (FIDC 99)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GONN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 a.a. PL +faixas 0,11/0,09/0,07% atéR$ 500 mi/1 bi/acima; mínimoR$ 27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a.a. sobre taxa de administração, limitadoR$ 4 mil; periodicidade do teto requer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0,05% a.a. PL; mínimoR$ 3 mil/mês; IGP-M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GONN (FIDC 99)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GONN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PL; validar ativo elegível, subclasses e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 indicadores agregados; gatilhos dependem de denominador e janela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por devedor/grupo, lastro, prestadores e eventos: 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