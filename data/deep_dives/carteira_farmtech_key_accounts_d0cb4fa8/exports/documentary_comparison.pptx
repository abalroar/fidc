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2026-10-07T16:35:18-03:00</a:t>
            </a:r>
          </a:p>
          <a:p>
            <a:r>
              <a:t>FARMTECH KEY ACCOUNTS: CNPJ 58154011000106</a:t>
            </a:r>
          </a:p>
          <a:p>
            <a:r>
              <a:t>Fontes:</a:t>
            </a:r>
          </a:p>
          <a:p>
            <a:r>
              <a:t>CNPJ 58154011000106 · Natureza dos recebíveis · Agronegócio: CPR-F, notas comerciais, notas promissórias e recebíveis de notas fiscais · Fundos.NET ID 803107 | 13/12/2024 | regulamento | p. 17–18; Direitos Creditórios; Documentos Comprobatórios | data/raw/58154011000106/803107_regulamento_review_20261007.pdf | https://fnet.bmfbovespa.com.br/fnet/publico/visualizarDocumento?id=803107 · Observação: Regra da versão indicada; resumo sujeito às condições completas da cláusula. IME agregado não comprova elegibilidade individual.</a:t>
            </a:r>
          </a:p>
          <a:p>
            <a:r>
              <a:t>CNPJ 58154011000106 · Originador/endossante · Não localizado nas fontes acessíveis desta leitura · data/raw/58154011000106/access_status_20261007.txt | Consulta Fundos.NET por CNPJ 58154011000106 em 07/10/2026; inventário completo com 44 registros · Observação: Lacuna na revisão dirigida; obter cláusula específica antes de concluir ausência ou enquadramento.</a:t>
            </a:r>
          </a:p>
          <a:p>
            <a:r>
              <a:t>CNPJ 58154011000106 · Devedor · Não localizado nas fontes acessíveis desta leitura · data/raw/58154011000106/access_status_20261007.txt | Consulta Fundos.NET por CNPJ 58154011000106 em 07/10/2026; inventário completo com 44 registros · Observação: Lacuna na revisão dirigida; obter cláusula específica antes de concluir ausência ou enquadramento.</a:t>
            </a:r>
          </a:p>
          <a:p>
            <a:r>
              <a:t>CNPJ 58154011000106 · Garantia · Não localizado nas fontes acessíveis desta leitura · data/raw/58154011000106/access_status_20261007.txt | Consulta Fundos.NET por CNPJ 58154011000106 em 07/10/2026; inventário completo com 44 registros · Observação: Lacuna na revisão dirigida; obter cláusula específica antes de concluir ausência ou enquadramento.</a:t>
            </a:r>
          </a:p>
          <a:p>
            <a:r>
              <a:t>CNPJ 58154011000106 · Elegibilidade · Vincendos; BRL; 30–360 dias; até 20% do PL pode vencer em 540 dias; antes do resgate sênior · Fundos.NET ID 803107 | 13/12/2024 | regulamento | p. 57; 4.13 | data/raw/58154011000106/803107_regulamento_review_20261007.pdf | https://fnet.bmfbovespa.com.br/fnet/publico/visualizarDocumento?id=803107 · Observação: Regra da versão indicada; resumo sujeito às condições completas da cláusula. IME agregado não comprova elegibilidade individual.</a:t>
            </a:r>
          </a:p>
          <a:p>
            <a:r>
              <a:t>CNPJ 58154011000106 · Concentração · Devedor ≤4% do PL, com exceções especiais; top 5 ≤20%; PF rural ≤10%; MT ≤50%, demais UF ≤30% cada; ≥50 devedores · Fundos.NET ID 803107 | 13/12/2024 | regulamento | p. 57–58,90; 4.13(g–j); 9.4(g) | data/raw/58154011000106/803107_regulamento_review_20261007.pdf | https://fnet.bmfbovespa.com.br/fnet/publico/visualizarDocumento?id=803107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2026-10-07T16:35:18-03:00</a:t>
            </a:r>
          </a:p>
          <a:p>
            <a:r>
              <a:t>FARMTECH KEY ACCOUNTS: CNPJ 58154011000106</a:t>
            </a:r>
          </a:p>
          <a:p>
            <a:r>
              <a:t>Fontes:</a:t>
            </a:r>
          </a:p>
          <a:p>
            <a:r>
              <a:t>CNPJ 58154011000106 · Subordinação mínima · Sênior / PL ≤81%; índices próprios sênior e mezanino usam fatores 81% e 95% · Fundos.NET ID 803107 | 13/12/2024 | regulamento | p. 90; 9.4(h–k) | data/raw/58154011000106/803107_regulamento_review_20261007.pdf | https://fnet.bmfbovespa.com.br/fnet/publico/visualizarDocumento?id=803107 · Observação: Preservadas fórmulas documentais. Índice de cobertura top 4/subordinadas escrito ≥1; validar sentido econômico e unidade antes de automatizar.</a:t>
            </a:r>
          </a:p>
          <a:p>
            <a:r>
              <a:t>CNPJ 58154011000106 · Gatilhos de avaliação/liquidação · Atrasos 61–360 ≤7%; 91–360 ≤4% dos ativos líquidos de provisões; descumprimento após cura gera avaliação · Fundos.NET ID 803107 | 13/12/2024 | regulamento | p. 88,90–91; 9.4; 10.1 | data/raw/58154011000106/803107_regulamento_review_20261007.pdf | https://fnet.bmfbovespa.com.br/fnet/publico/visualizarDocumento?id=803107 · Observação: Regra da versão indicada; resumo sujeito às condições completas da cláusula. IME agregado não comprova elegibilidade individual.</a:t>
            </a:r>
          </a:p>
          <a:p>
            <a:r>
              <a:t>CNPJ 58154011000106 · Reserva de caixa · Liquidez: 9 meses de despesas pro rata ou 3 sequencial; pagamento integral reservado desde D-30 · Fundos.NET ID 803107 | 13/12/2024 | regulamento | p. 88; 9.1–9.2 | data/raw/58154011000106/803107_regulamento_review_20261007.pdf | https://fnet.bmfbovespa.com.br/fnet/publico/visualizarDocumento?id=803107 · Observação: Regra da versão indicada; resumo sujeito às condições completas da cláusula. IME agregado não comprova elegibilidade individual.</a:t>
            </a:r>
          </a:p>
          <a:p>
            <a:r>
              <a:t>CNPJ 58154011000106 · Derivativos/hedge · Proteção patrimonial; melhores esforços para parcela preponderante protegida, sem condição prévia à aquisição · Fundos.NET ID 803107 | 13/12/2024 | regulamento | p. 61; 4.27 | data/raw/58154011000106/803107_regulamento_review_20261007.pdf | https://fnet.bmfbovespa.com.br/fnet/publico/visualizarDocumento?id=803107 · Observação: Regra da versão indicada; resumo sujeito às condições completas da cláusula. IME agregado não comprova elegibilidade individual.</a:t>
            </a:r>
          </a:p>
          <a:p>
            <a:r>
              <a:t>CNPJ 58154011000106 · PDD · Não localizado nas fontes acessíveis desta leitura · data/raw/58154011000106/access_status_20261007.txt | Consulta Fundos.NET por CNPJ 58154011000106 em 07/10/2026; inventário completo com 44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2026-10-07T16:35:18-03:00</a:t>
            </a:r>
          </a:p>
          <a:p>
            <a:r>
              <a:t>FARMTECH KEY ACCOUNTS: CNPJ 58154011000106</a:t>
            </a:r>
          </a:p>
          <a:p>
            <a:r>
              <a:t>Fontes:</a:t>
            </a:r>
          </a:p>
          <a:p>
            <a:r>
              <a:t>CNPJ 58154011000106 · Alocação mínima · Direitos ≥50% do PL em 180 dias; objetivo fiscal ≥67% da carteira definido separadamente · Fundos.NET ID 803107 | 13/12/2024 | regulamento | p. 6,59; Alocações mínimas; 4.16–4.17 | data/raw/58154011000106/803107_regulamento_review_20261007.pdf | https://fnet.bmfbovespa.com.br/fnet/publico/visualizarDocumento?id=803107 · Observação: Regra da versão indicada; resumo sujeito às condições completas da cláusula. IME agregado não comprova elegibilidade individual.</a:t>
            </a:r>
          </a:p>
          <a:p>
            <a:r>
              <a:t>CNPJ 58154011000106 · Pool/revolvência · Revolvência admitida durante período de investimento e ordem de alocação · Fundos.NET ID 803107 | 13/12/2024 | regulamento | p. 60–61; 4.18; 4.26 | data/raw/58154011000106/803107_regulamento_review_20261007.pdf | https://fnet.bmfbovespa.com.br/fnet/publico/visualizarDocumento?id=803107 · Observação: Regra da versão indicada; resumo sujeito às condições completas da cláusula. IME agregado não comprova elegibilidade individual.</a:t>
            </a:r>
          </a:p>
          <a:p>
            <a:r>
              <a:t>CNPJ 58154011000106 · Duração/público-alvo · Não localizado nas fontes acessíveis desta leitura · data/raw/58154011000106/access_status_20261007.txt | Consulta Fundos.NET por CNPJ 58154011000106 em 07/10/2026; inventário completo com 44 registros · Observação: Lacuna na revisão dirigida; obter cláusula específica antes de concluir ausência ou enquadramento.</a:t>
            </a:r>
          </a:p>
          <a:p>
            <a:r>
              <a:t>CNPJ 58154011000106 · Cessão/recompra · Resolução e indenização conforme contratos; desenquadramento superveniente não gera regresso, salvo culpa/dolo · Fundos.NET ID 803107 | 13/12/2024 | regulamento | p. 58,60; 4.13.3; 4.20–4.22 | data/raw/58154011000106/803107_regulamento_review_20261007.pdf | https://fnet.bmfbovespa.com.br/fnet/publico/visualizarDocumento?id=803107 · Observação: Regra da versão indicada; resumo sujeito às condições completas da cláusula. IME agregado não comprova elegibilidade individual.</a:t>
            </a:r>
          </a:p>
          <a:p>
            <a:r>
              <a:t>CNPJ 58154011000106 · Coobrigação · Não localizado nas fontes acessíveis desta leitura · data/raw/58154011000106/access_status_20261007.txt | Consulta Fundos.NET por CNPJ 58154011000106 em 07/10/2026; inventário completo com 44 registros · Observação: Lacuna na revisão dirigida; obter cláusula específica antes de concluir ausência ou enquadramento.</a:t>
            </a:r>
          </a:p>
          <a:p>
            <a:r>
              <a:t>CNPJ 58154011000106 · Waterfall · Não localizado nas fontes acessíveis desta leitura · data/raw/58154011000106/access_status_20261007.txt | Consulta Fundos.NET por CNPJ 58154011000106 em 07/10/2026; inventário completo com 44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2026-10-07T16:35:18-03:00</a:t>
            </a:r>
          </a:p>
          <a:p>
            <a:r>
              <a:t>FARMTECH KEY ACCOUNTS: CNPJ 58154011000106</a:t>
            </a:r>
          </a:p>
          <a:p>
            <a:r>
              <a:t>Fontes:</a:t>
            </a:r>
          </a:p>
          <a:p>
            <a:r>
              <a:t>CNPJ 58154011000106 · Classes/séries · Sênior 3ª série e mezanino 2ª série retificados em 28/11/2025 · Fundos.NET ID 1049257 | 28/11/2025 | emissao | p. 1–6; Apêndices I/II | data/raw/58154011000106/1049257_emissao_review_20261007.pdf | https://fnet.bmfbovespa.com.br/fnet/publico/visualizarDocumento?id=1049257 · Observação: Regra da versão indicada; resumo sujeito às condições completas da cláusula. IME agregado não comprova elegibilidade individual.</a:t>
            </a:r>
          </a:p>
          <a:p>
            <a:r>
              <a:t>CNPJ 58154011000106 · Remuneração · Sênior 3ª: DI + 2,00% a.a.; mezanino 2ª: DI + 8,00% a.a. · Fundos.NET ID 1049257 | 28/11/2025 | emissao | p. 3,5–6; Sobretaxas e índice referencial | data/raw/58154011000106/1049257_emissao_review_20261007.pdf | https://fnet.bmfbovespa.com.br/fnet/publico/visualizarDocumento?id=1049257 · Observação: Regra da versão indicada; resumo sujeito às condições completas da cláusula. IME agregado não comprova elegibilidade individual.</a:t>
            </a:r>
          </a:p>
          <a:p>
            <a:r>
              <a:t>CNPJ 58154011000106 · Volume/VNU · Sênior 3ª R$ 100 mi/100 mil cotas; mezanino 2ª R$ 10 mi/10 mil; VNU R$ 1 mil · Fundos.NET ID 1049257 | 28/11/2025 | emissao | p. 3,5; Montante/quantidade/VNU | data/raw/58154011000106/1049257_emissao_review_20261007.pdf | https://fnet.bmfbovespa.com.br/fnet/publico/visualizarDocumento?id=1049257 · Observação: Regra da versão indicada; resumo sujeito às condições completas da cláusula. IME agregado não comprova elegibilidade individual.</a:t>
            </a:r>
          </a:p>
          <a:p>
            <a:r>
              <a:t>CNPJ 58154011000106 · Ofertas · Colocação privada; data de emissão corresponde à primeira integralização · Fundos.NET ID 1049257 | 28/11/2025 | emissao | p. 3,5; Regime e data emissão | data/raw/58154011000106/1049257_emissao_review_20261007.pdf | https://fnet.bmfbovespa.com.br/fnet/publico/visualizarDocumento?id=1049257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2026-10-07T16:35:18-03:00</a:t>
            </a:r>
          </a:p>
          <a:p>
            <a:r>
              <a:t>FARMTECH KEY ACCOUNTS: CNPJ 58154011000106</a:t>
            </a:r>
          </a:p>
          <a:p>
            <a:r>
              <a:t>Fontes:</a:t>
            </a:r>
          </a:p>
          <a:p>
            <a:r>
              <a:t>CNPJ 58154011000106 · Carência · Principal em carência até amortização total; pro rata paga em 10/julho e 10/novembro · Fundos.NET ID 1049257 | 28/11/2025 | emissao | p. 4,6; Metas e datas | data/raw/58154011000106/1049257_emissao_review_20261007.pdf | https://fnet.bmfbovespa.com.br/fnet/publico/visualizarDocumento?id=1049257 · Observação: Regra da versão indicada; resumo sujeito às condições completas da cláusula. IME agregado não comprova elegibilidade individual.</a:t>
            </a:r>
          </a:p>
          <a:p>
            <a:r>
              <a:t>CNPJ 58154011000106 · Juros/amortização · AGO 01/09/2026 aprovou R$ 89,385 mi de amortização extraordinária em até 2 DU; execução não comprovada · Fundos.NET ID 1308215 | 01/09/2026 10:00 | assembleia | p. 1–2; Deliberação I | data/raw/58154011000106/1308215_assembleia_review_20261007.pdf | https://fnet.bmfbovespa.com.br/fnet/publico/visualizarDocumento?id=1308215 · Observação: Regra da versão indicada; resumo sujeito às condições completas da cláusula. IME agregado não comprova elegibilidade individual.</a:t>
            </a:r>
          </a:p>
          <a:p>
            <a:r>
              <a:t>CNPJ 58154011000106 · Vencimento · Sênior 3ª/mezanino 2ª: 10/11/2026; total esperado 10/07/2026 · Fundos.NET ID 1049257 | 28/11/2025 | emissao | p. 3,5; Datas amortização | data/raw/58154011000106/1049257_emissao_review_20261007.pdf | https://fnet.bmfbovespa.com.br/fnet/publico/visualizarDocumento?id=1049257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2026-10-07T16:35:18-03:00</a:t>
            </a:r>
          </a:p>
          <a:p>
            <a:r>
              <a:t>FARMTECH KEY ACCOUNTS: CNPJ 58154011000106</a:t>
            </a:r>
          </a:p>
          <a:p>
            <a:r>
              <a:t>Fontes:</a:t>
            </a:r>
          </a:p>
          <a:p>
            <a:r>
              <a:t>CNPJ 58154011000106 · Administração · Marginal 0,15% a.a. sobre PL até R$ 100 mi +0,10% acima; mínimo R$ 27 mil/mês; IPCA · Fundos.NET ID 803107 | 13/12/2024 | regulamento | p. 126–127; 12.2; 12.4 | data/raw/58154011000106/803107_regulamento_review_20261007.pdf | https://fnet.bmfbovespa.com.br/fnet/publico/visualizarDocumento?id=803107 · Observação: Regra da versão indicada; resumo sujeito às condições completas da cláusula. IME agregado não comprova elegibilidade individual.</a:t>
            </a:r>
          </a:p>
          <a:p>
            <a:r>
              <a:t>CNPJ 58154011000106 · Gestão · 1,00% a.a. sobre PL; mínimo R$ 312,5 mil/mês; IPCA; performance prevista sem percentual fechado localizado · Fundos.NET ID 803107 | 13/12/2024 | regulamento | p. 127–128; 12.3; 12.8–12.10 | data/raw/58154011000106/803107_regulamento_review_20261007.pdf | https://fnet.bmfbovespa.com.br/fnet/publico/visualizarDocumento?id=803107 · Observação: Regra da versão indicada; resumo sujeito às condições completas da cláusula. IME agregado não comprova elegibilidade individual.</a:t>
            </a:r>
          </a:p>
          <a:p>
            <a:r>
              <a:t>CNPJ 58154011000106 · Custódia · Incluída na administração; escrituração R$ 2 mil/mês e lastro R$ 5 mil/mês adicionais · Fundos.NET ID 803107 | 13/12/2024 | regulamento | p. 126–127; 12.2(ii); 12.6 | data/raw/58154011000106/803107_regulamento_review_20261007.pdf | https://fnet.bmfbovespa.com.br/fnet/publico/visualizarDocumento?id=803107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2026-10-07T16:35:18-03:00</a:t>
            </a:r>
          </a:p>
          <a:p>
            <a:r>
              <a:t>FARMTECH KEY ACCOUNTS: CNPJ 58154011000106</a:t>
            </a:r>
          </a:p>
          <a:p>
            <a:r>
              <a:t>Fontes:</a:t>
            </a:r>
          </a:p>
          <a:p>
            <a:r>
              <a:t>CNPJ 58154011000106 · Alocação/subordinação IME · Direitos creditórios / PL e cotas subordinadas / PL; validar ativo elegível, subclasses e fórmula contratual · data/raw/58154011000106/access_status_20261007.txt | Consulta Fundos.NET por CNPJ 58154011000106 em 07/10/2026; inventário completo com 44 registros · Observação: Avaliação metodológica do IME público; dados de cache e monitoramento ao vivo são apresentados separadamente.</a:t>
            </a:r>
          </a:p>
          <a:p>
            <a:r>
              <a:t>CNPJ 58154011000106 · Inadimplência/PDD IME · Over 30/60/90 e PDD / crédito: indicadores agregados; gatilhos dependem de denominador e janela contratual · data/raw/58154011000106/access_status_20261007.txt | Consulta Fundos.NET por CNPJ 58154011000106 em 07/10/2026; inventário completo com 44 registros · Observação: Avaliação metodológica do IME público; dados de cache e monitoramento ao vivo são apresentados separadamente.</a:t>
            </a:r>
          </a:p>
          <a:p>
            <a:r>
              <a:t>CNPJ 58154011000106 · Controles documentais · Elegibilidade, concentração por devedor/grupo, lastro, prestadores e eventos: validação documental e operacional · data/raw/58154011000106/access_status_20261007.txt | Consulta Fundos.NET por CNPJ 58154011000106 em 07/10/2026; inventário completo com 44 registros · Observação: Avaliação metodológica do IME público; dados de cache e monitoramento ao vivo são apresentados separadamente.</a:t>
            </a:r>
          </a:p>
          <a:p>
            <a:r>
              <a:t>CNPJ 58154011000106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FARMTECH KEY ACCOUNTS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FARMTECH KEY ACCOUNTS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Agronegócio: CPR-F, notas comerciais, notas promissórias e recebíveis de notas fiscais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Vincendos; BRL; 30–360 dias; até 20% do PL pode vencer em 540 dias; antes do resgate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≤4% do PL, com exceções especiais; top 5 ≤20%; PF rural ≤10%; MT ≤50%, demais UF ≤30% cada;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≥50 devedores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FARMTECH KEY ACCOUNTS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185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FARMTECH KEY ACCOUNTS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/ PL ≤81%; índices próprios sênior e mezanino usam fatores 81% e 95%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Atrasos 61–360 ≤7%; 91–360 ≤4% dos ativos líquidos de provisões; descumprimento após cura gera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Liquidez: 9 meses de despesas pro rata ou 3 sequencial; pagamento integral reservado desde D-30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patrimonial; melhores esforços para parcela preponderante protegida, sem condição prévia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FARMTECH KEY ACCOUNTS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FARMTECH KEY ACCOUNTS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≥50% do PL em 180 dias; objetivo fiscal ≥67% da carteira definido separadamente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Revolvência admitida durante período de investimento e ordem de alocação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e indenização conforme contratos; desenquadramento superveniente não gera regresso, salvo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culpa/dolo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FARMTECH KEY ACCOUNTS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FARMTECH KEY ACCOUNTS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3ª série e mezanino 2ª série retificados em 28/11/2025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3ª: DI + 2,00% a.a.; mezanino 2ª: DI + 8,00%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3ª R$ 100 mi/100 mil cotas; mezanino 2ª R$ 10 mi/10 mil; VNU R$ 1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Colocação privada; data de emissão corresponde à primeira 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FARMTECH KEY ACCOUNTS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431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FARMTECH KEY ACCOUNTS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em carência até amortização total; pro rata paga em 10/julho e 10/novembro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AGO 01/09/2026 aprovou R$ 89,385 mi de amortização extraordinária em até 2 DU; execução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comprovada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3ª/mezanino 2ª: 10/11/2026; total esperado 10/07/2026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FARMTECH KEY ACCOUNTS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431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FARMTECH KEY ACCOUNTS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Marginal 0,15% a.a. sobre PL até R$ 100 mi +0,10% acima; mínimo R$ 27 mil/mês; IPCA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1,00% a.a. sobre PL; mínimo R$ 312,5 mil/mês; IPCA; performance prevista sem percentual fechado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administração; escrituração R$ 2 mil/mês e lastro R$ 5 mil/mês 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FARMTECH KEY ACCOUNTS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FARMTECH KEY ACCOUNTS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PL; validar ativo elegível, subclasses e fórmula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 crédito: indicadores agregados; gatilhos dependem de denominador e janela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por devedor/grupo, lastro, prestadores e eventos: validação documental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