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Natureza dos recebíveis · Operações financeiras nas cadeias produtivas do agronegócio; imóveis rurais complementares · data/raw/48946335000123/1000248_regulamento.pdf | Fundos.NET ID 1000248 | 29/09/2025 | regulamento | p. 29-30 · Observação: Regra da versão documental citada; série e operação concreta dependem dos respectivos instrumentos.</a:t>
            </a:r>
          </a:p>
          <a:p>
            <a:r>
              <a:t>CNPJ 48946335000123 · Originador/endossante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Devedor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Garantia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Elegibilidade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Concentração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Subordinação mínima · SêniorA≤50% PL; sêniorA+B≤75%; mezanino≥15%; júniorA+B≥10% · data/raw/48946335000123/1000248_regulamento.pdf | Fundos.NET ID 1000248 | 29/09/2025 | regulamento | p. 57 · Observação: Regra da versão documental citada; série e operação concreta dependem dos respectivos instrumentos.</a:t>
            </a:r>
          </a:p>
          <a:p>
            <a:r>
              <a:t>CNPJ 48946335000123 · Gatilhos de avaliação/liquidação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Reserva de caixa · Despesas estimadas dos próximos3 meses · data/raw/48946335000123/1000248_regulamento.pdf | Fundos.NET ID 1000248 | 29/09/2025 | regulamento | p. 64,66 · Observação: Regra da versão documental citada; série e operação concreta dependem dos respectivos instrumentos.</a:t>
            </a:r>
          </a:p>
          <a:p>
            <a:r>
              <a:t>CNPJ 48946335000123 · Derivativos/hedge · Proteção patrimonial/troca de indexador sem exposição a risco de capital · data/raw/48946335000123/1000248_regulamento.pdf | Fundos.NET ID 1000248 | 29/09/2025 | regulamento | p. 34 · Observação: Regra da versão documental citada; série e operação concreta dependem dos respectivos instrumentos.</a:t>
            </a:r>
          </a:p>
          <a:p>
            <a:r>
              <a:t>CNPJ 48946335000123 · PDD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Alocação mínima · DC &gt;50% PL em180 dias; prorrogação depende de autorização CVM · data/raw/48946335000123/1000248_regulamento.pdf | Fundos.NET ID 1000248 | 29/09/2025 | regulamento | p. 33 · Observação: Regra da versão documental citada; série e operação concreta dependem dos respectivos instrumentos.</a:t>
            </a:r>
          </a:p>
          <a:p>
            <a:r>
              <a:t>CNPJ 48946335000123 · Pool/revolvência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Duração/público-alvo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Cessão/recompra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Coobrigação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Waterfall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Classes/séries · 2ª emissão Júnior A · data/raw/48946335000123/737336_emissao.pdf | Fundos.NET ID 737336 | 12/09/2024 | emissao | p. 19 · Observação: Cláusula documental; confirmar versão aplicável e instrumento específico antes de ativar controle.</a:t>
            </a:r>
          </a:p>
          <a:p>
            <a:r>
              <a:t>CNPJ 48946335000123 · Remuneração · 2ª emissão: DI +3,25% A; +4,50% B; +6% mezz; +10,75% júnior A · data/raw/48946335000123/737336_emissao.pdf | Fundos.NET ID 737336 | 12/09/2024 | emissao | p. 4,8,13,19 · Observação: Sênior A/B têm sobretaxa expressa ao ano. Período de sobretaxa mezanino/júnior não explícito nos campos citados; validar fórmulas antes de anualizar.</a:t>
            </a:r>
          </a:p>
          <a:p>
            <a:r>
              <a:t>CNPJ 48946335000123 · Volume/VNU · 2ª emissão: A R$ 39,85 mi; B20,7 mi; mezz7,4 mi; júnior A5 mi; VNU R$ 1 mil inicial · data/raw/48946335000123/737336_emissao.pdf | Fundos.NET ID 737336 | 12/09/2024 | emissao | p. 4,8,13,19 · Observação: Cláusula documental; confirmar versão aplicável e instrumento específico antes de ativar controle.</a:t>
            </a:r>
          </a:p>
          <a:p>
            <a:r>
              <a:t>CNPJ 48946335000123 · Ofertas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Carência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Juros/amortização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48946335000123 · Vencimento · 2ª emissão: A36 meses; B/mezz60 meses; júnior A72 meses desde26/08/2024 · data/raw/48946335000123/737336_emissao.pdf | Fundos.NET ID 737336 | 12/09/2024 | emissao | p. 4,8,13,19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Administração · 0,25% a.a. PL; mínimo R$ 20 mil/mês; despesas por evento adicionais · data/raw/48946335000123/1000248_regulamento.pdf | Fundos.NET ID 1000248 | 29/09/2025 | regulamento | p. 13 · Observação: Regra da versão documental citada; série e operação concreta dependem dos respectivos instrumentos.</a:t>
            </a:r>
          </a:p>
          <a:p>
            <a:r>
              <a:t>CNPJ 48946335000123 · Gestão · 1% a.a. PL; mínimo não localizado nas cláusulas revisadas · data/raw/48946335000123/1000248_regulamento.pdf | Fundos.NET ID 1000248 | 29/09/2025 | regulamento | p. 14 · Observação: Regra da versão documental citada; série e operação concreta dependem dos respectivos instrumentos.</a:t>
            </a:r>
          </a:p>
          <a:p>
            <a:r>
              <a:t>CNPJ 48946335000123 · Custódia · Não localizado nas cláusulas revisadas; requer documento aplicável · data/raw/48946335000123/1000248_regulamento.pdf | Fundos.NET ID 1000248 | 29/09/2025; data/raw/48946335000123/737336_emissao.pdf | Fundos.NET ID 737336 | 12/09/2024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2026-10-07T16:23:18-03:00</a:t>
            </a:r>
          </a:p>
          <a:p>
            <a:r>
              <a:t>Nagro Oikos: CNPJ 48946335000123</a:t>
            </a:r>
          </a:p>
          <a:p>
            <a:r>
              <a:t>Fontes:</a:t>
            </a:r>
          </a:p>
          <a:p>
            <a:r>
              <a:t>CNPJ 48946335000123 · Alocação/subordinação IME · DC/PL e composição de cotas ajudam; validar numerador, denominador e versão contratual · data/raw/48946335000123/1000248_regulamento.pdf | Fundos.NET ID 1000248 | 29/09/2025; data/raw/48946335000123/737336_emissao.pdf | Fundos.NET ID 737336 | 12/09/2024 · Observação: Proxy metodológica. FIC investe em cotas: não usar DC/PL como substituto da alocação em fundos-alvo. Nenhum saldo observado nesta revisão documental.</a:t>
            </a:r>
          </a:p>
          <a:p>
            <a:r>
              <a:t>CNPJ 48946335000123 · Inadimplência/PDD IME · Over e PDD agregados são alertas; fórmulas contratuais exigem validação · data/raw/48946335000123/1000248_regulamento.pdf | Fundos.NET ID 1000248 | 29/09/2025; data/raw/48946335000123/737336_emissao.pdf | Fundos.NET ID 737336 | 12/09/2024 · Observação: Não reproduzem médias móveis, coortes, exposição individual, motivo de recompra, chargeback e perdas históricas sem dados adicionais.</a:t>
            </a:r>
          </a:p>
          <a:p>
            <a:r>
              <a:t>CNPJ 48946335000123 · Controles documentais · Elegibilidade, concentração, lastro e eventos exigem controles por contrato · data/raw/48946335000123/1000248_regulamento.pdf | Fundos.NET ID 1000248 | 29/09/2025; data/raw/48946335000123/737336_emissao.pdf | Fundos.NET ID 737336 | 12/09/2024 · Observação: IME público agregado não certifica devedor/cedente/grupo nem alterações de prestadores e cross default.</a:t>
            </a:r>
          </a:p>
          <a:p>
            <a:r>
              <a:t>CNPJ 48946335000123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financeiras nas cadeias produtivas do agronegócio; imóveis rurais complementares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SêniorA≤50% PL; sêniorA+B≤75%; mezanino≥15%; júniorA+B≥10%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estimadas dos próximos3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patrimonial/troca de indexador sem exposição a risco de capital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&gt;50% PL em180 dias; prorrogação depende de autorização CVM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 Júnior 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 DI +3,25% A; +4,50% B; +6% mezz; +10,75% júnior 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 A R$ 39,85 mi; B20,7 mi; mezz7,4 mi; júnior A5 mi; VNU R$ 1 mil inicial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emissão: A36 meses; B/mezz60 meses; júnior A72 meses desde26/08/2024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0,25% a.a. PL; mínimo R$ 20 mil/mês; despesas por evento adicionais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1% a.a.;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NAGRO OIKOS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Nagro Oikos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