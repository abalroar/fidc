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2026-10-07T16:20:21-03:00</a:t>
            </a:r>
          </a:p>
          <a:p>
            <a:r>
              <a:t>NAGRO GHIA: CNPJ 42133756000159</a:t>
            </a:r>
          </a:p>
          <a:p>
            <a:r>
              <a:t>Fontes:</a:t>
            </a:r>
          </a:p>
          <a:p>
            <a:r>
              <a:t>CNPJ 42133756000159 · Natureza dos recebíveis · FIAGRO: crédito produtor rural, giro e antecipação de recebíveis; CCB, CPR/CPR-F e CDA/WA · Fundos.NET ID 1000165 | 25/09/2025 | regulamento | p. 33; 6.1.2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Originador/endossante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Devedor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Garantia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Elegibilidade · Devedor sem atraso na carteira; prazo mínimo&gt;3 meses; lastro e parecer de crédito; condições específicas por operação · Fundos.NET ID 1000165 | 25/09/2025 | regulamento | p. 37–41; 7.1–7.2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Concentração · Exposição&gt;20% por devedor/coobrigado permitida sob condições de registro/auditoria; conciliar exceções por ativo · Fundos.NET ID 1000165 | 25/09/2025 | regulamento | p. 35–36; 6.3.2–6.3.3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2026-10-07T16:20:21-03:00</a:t>
            </a:r>
          </a:p>
          <a:p>
            <a:r>
              <a:t>NAGRO GHIA: CNPJ 42133756000159</a:t>
            </a:r>
          </a:p>
          <a:p>
            <a:r>
              <a:t>Fontes:</a:t>
            </a:r>
          </a:p>
          <a:p>
            <a:r>
              <a:t>CNPJ 42133756000159 · Subordinação mínima · Razões de garantia: sênior≥35% e mezanino≥20% após 180 dias; fórmulas conflitantes no glossário · Fundos.NET ID 1000165 | 25/09/2025 | regulamento | p. 49,90; 8.8.1–8.8.2;definições | data/raw/42133756000159/1000165_regulamento_review_20261007.pdf | https://fnet.bmfbovespa.com.br/fnet/publico/visualizarDocumento?id=1000165 · Observação: Glossário define sênior como cotas seniores/PL e mezanino como mezanino+júnior/PL. Não traduzir 35/20% automaticamente em subordinação econômica; confirmar fórmula no administrador.</a:t>
            </a:r>
          </a:p>
          <a:p>
            <a:r>
              <a:t>CNPJ 42133756000159 · Gatilhos de avaliação/liquidação · Avaliação: descumprimentos/prestadores; liquidação: PL médio&lt;R$ 1 mi por 90 dias, entre outros eventos · Fundos.NET ID 1000165 | 25/09/2025 | regulamento | p. 59–61; 14.1–14.2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Reserva de caixa · 3 meses calendário de encargos estimados, recomposição diária · Fundos.NET ID 1000165 | 25/09/2025 | regulamento | p. 55; 11.1(ii)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Derivativos/hedge · Proteção patrimonial ou troca de indexador sem risco de capital; suplemento prevê opções de compra DI · Fundos.NET ID 1000165 | 25/09/2025 | regulamento | p. 36,84; 6.4.2;definição Contratos Opção DI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PDD · 61–180 dias: provisionar 1/120 do valor presente por dia; após 180 dias 100%; efeito vagão · Fundos.NET ID 1000165 | 25/09/2025 | regulamento | p. 34; 6.1.11–6.1.12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2026-10-07T16:20:21-03:00</a:t>
            </a:r>
          </a:p>
          <a:p>
            <a:r>
              <a:t>NAGRO GHIA: CNPJ 42133756000159</a:t>
            </a:r>
          </a:p>
          <a:p>
            <a:r>
              <a:t>Fontes:</a:t>
            </a:r>
          </a:p>
          <a:p>
            <a:r>
              <a:t>CNPJ 42133756000159 · Alocação mínima · Direitos creditórios&gt;67% do PL em 180 dias; numeral diverge do extenso na cláusula · Fundos.NET ID 1000165 | 25/09/2025 | regulamento | p. 35; 6.3.1 | data/raw/42133756000159/1000165_regulamento_review_20261007.pdf | https://fnet.bmfbovespa.com.br/fnet/publico/visualizarDocumento?id=1000165 · Observação: Cláusula usa 67% e escreve sessenta por cento; confirmar divergência documental. Prazo de prorrogação depende de CVM.</a:t>
            </a:r>
          </a:p>
          <a:p>
            <a:r>
              <a:t>CNPJ 42133756000159 · Pool/revolvência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Duração/público-alvo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Cessão/recompra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Coobrigação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Waterfall · Encargos; reserva despesas; aquisições; sênior; mezanino; ativos financeiros; júnior · Fundos.NET ID 1000165 | 25/09/2025 | regulamento | p. 55; 11.1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2026-10-07T16:20:21-03:00</a:t>
            </a:r>
          </a:p>
          <a:p>
            <a:r>
              <a:t>NAGRO GHIA: CNPJ 42133756000159</a:t>
            </a:r>
          </a:p>
          <a:p>
            <a:r>
              <a:t>Fontes:</a:t>
            </a:r>
          </a:p>
          <a:p>
            <a:r>
              <a:t>CNPJ 42133756000159 · Classes/séries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Remuneração · Benchmark sênior/mezanino remetido a apêndices; spread final não localizado · Fundos.NET ID 1000165 | 25/09/2025 | regulamento | p. 51; 9.3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Volume/VNU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Ofertas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2026-10-07T16:20:21-03:00</a:t>
            </a:r>
          </a:p>
          <a:p>
            <a:r>
              <a:t>NAGRO GHIA: CNPJ 42133756000159</a:t>
            </a:r>
          </a:p>
          <a:p>
            <a:r>
              <a:t>Fontes:</a:t>
            </a:r>
          </a:p>
          <a:p>
            <a:r>
              <a:t>CNPJ 42133756000159 · Carência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Juros/amortização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  <a:p>
            <a:r>
              <a:t>CNPJ 42133756000159 · Vencimento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2026-10-07T16:20:21-03:00</a:t>
            </a:r>
          </a:p>
          <a:p>
            <a:r>
              <a:t>NAGRO GHIA: CNPJ 42133756000159</a:t>
            </a:r>
          </a:p>
          <a:p>
            <a:r>
              <a:t>Fontes:</a:t>
            </a:r>
          </a:p>
          <a:p>
            <a:r>
              <a:t>CNPJ 42133756000159 · Administração · 0,30% a.a. sobre PL; mínimoR$ 20 mil/mês · Fundos.NET ID 1000165 | 25/09/2025 | regulamento | p. 15; 8.1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Gestão · 0,70% a.a. sobre PL, pagamento mensal · Fundos.NET ID 1000165 | 25/09/2025 | regulamento | p. 15; 8.2 | data/raw/42133756000159/1000165_regulamento_review_20261007.pdf | https://fnet.bmfbovespa.com.br/fnet/publico/visualizarDocumento?id=1000165 · Observação: Regra da versão indicada; resumo sujeito às condições completas da cláusula. IME agregado não comprova elegibilidade individual.</a:t>
            </a:r>
          </a:p>
          <a:p>
            <a:r>
              <a:t>CNPJ 42133756000159 · Custódia · Não localizado nas fontes acessíveis desta leitura · data/raw/42133756000159/access_status_20261007.txt | Consulta Fundos.NET por CNPJ 42133756000159 em 07/10/2026; inventário completo com 220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2026-10-07T16:20:21-03:00</a:t>
            </a:r>
          </a:p>
          <a:p>
            <a:r>
              <a:t>NAGRO GHIA: CNPJ 42133756000159</a:t>
            </a:r>
          </a:p>
          <a:p>
            <a:r>
              <a:t>Fontes:</a:t>
            </a:r>
          </a:p>
          <a:p>
            <a:r>
              <a:t>CNPJ 42133756000159 · Alocação/subordinação IME · Direitos creditórios / PL e cotas subordinadas / PL; validar ativo elegível, subclasses e fórmula contratual · data/raw/42133756000159/access_status_20261007.txt | Consulta Fundos.NET por CNPJ 42133756000159 em 07/10/2026; inventário completo com 220 registros · Observação: Avaliação metodológica do IME público; dados de cache e monitoramento ao vivo são apresentados separadamente.</a:t>
            </a:r>
          </a:p>
          <a:p>
            <a:r>
              <a:t>CNPJ 42133756000159 · Inadimplência/PDD IME · Over 30/60/90 e PDD / crédito: indicadores agregados; gatilhos dependem de denominador e janela contratual · data/raw/42133756000159/access_status_20261007.txt | Consulta Fundos.NET por CNPJ 42133756000159 em 07/10/2026; inventário completo com 220 registros · Observação: Avaliação metodológica do IME público; dados de cache e monitoramento ao vivo são apresentados separadamente.</a:t>
            </a:r>
          </a:p>
          <a:p>
            <a:r>
              <a:t>CNPJ 42133756000159 · Controles documentais · Elegibilidade, concentração por devedor/grupo, lastro, prestadores e eventos: validação documental e operacional · data/raw/42133756000159/access_status_20261007.txt | Consulta Fundos.NET por CNPJ 42133756000159 em 07/10/2026; inventário completo com 220 registros · Observação: Avaliação metodológica do IME público; dados de cache e monitoramento ao vivo são apresentados separadamente.</a:t>
            </a:r>
          </a:p>
          <a:p>
            <a:r>
              <a:t>CNPJ 42133756000159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GHIA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GHIA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FIAGRO: crédito produtor rural, giro e antecipação de recebíveis; CCB, CPR/CPR-F e CDA/WA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sem atraso na carteira; prazo mínimo&gt;3 meses; lastro e parecer de crédito;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específicas por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Exposição&gt;20% por devedor/coobrigado permitida sob condições de registro/auditoria; conciliar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exceções por ativo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GHIA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GHIA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Razões de garantia: sênior≥35% e mezanino≥20% após 180 dias; fórmulas conflitantes no glossário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Avaliação: descumprimentos/prestadores; liquidação: PL médio&lt;R$ 1 mi por 90 dias, entre outros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calendário de encargos estimados, recomposição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 troca de indexador sem risco de capital; suplemento prevê opções de compra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61–180 dias: provisionar 1/120 do valor presente por dia; após 180 dias 100%; efeito vagão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GHIA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GHIA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creditórios&gt;67% do PL em 180 dias; numeral diverge do extenso na cláusula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Encargos; reserva despesas; aquisições; sênior; mezanino; ativos financeiros;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GHIA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GHIA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GHIA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GHIA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GHIA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GHIA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0,30% a.a. sobre PL; mínimoR$ 20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0,70% a.a. sobre PL, pagamento 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GHIA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GHIA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