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2026-10-07T16:30:31-03:00</a:t>
            </a:r>
          </a:p>
          <a:p>
            <a:r>
              <a:t>Via Multicrédito FIC: CNPJ 22175345000119</a:t>
            </a:r>
          </a:p>
          <a:p>
            <a:r>
              <a:t>Vitae FIC: CNPJ 59357545000100</a:t>
            </a:r>
          </a:p>
          <a:p>
            <a:r>
              <a:t>Fontes:</a:t>
            </a:r>
          </a:p>
          <a:p>
            <a:r>
              <a:t>CNPJ 22175345000119 · Natureza dos recebíveis · FIC: cotas de fundos-alvo FIDC; exposição indireta aos direitos creditórios · data/raw/22175345000119/1199304_regulamento.pdf | Fundos.NET ID 1199304 | 19/05/2026 | regulamento | p. 10-12 · Observação: Cláusula documental; confirmar versão aplicável e instrumento específico antes de ativar controle.</a:t>
            </a:r>
          </a:p>
          <a:p>
            <a:r>
              <a:t>CNPJ 59357545000100 · Natureza dos recebíveis · FIC: investimento preponderante em cotas de outros FIDCs · data/raw/59357545000100/1002276_regulamento.pdf | Fundos.NET ID 1002276 | 28/01/2025 | regulamento | p. 43 · Observação: Regra da versão citada; contratos e séries exigem seus instrumentos próprios.</a:t>
            </a:r>
          </a:p>
          <a:p>
            <a:r>
              <a:t>CNPJ 22175345000119 · Originador/endossante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Originador/endossante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Devedor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Devedor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Garantia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Garantia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Elegibilidade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Elegibilidade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Concentração · Cotas sênior de um FIDC ≤20% PL; subordinadas limitadas ao PL subordinado do FIC · data/raw/22175345000119/1199304_regulamento.pdf | Fundos.NET ID 1199304 | 19/05/2026 | regulamento | p. 12 · Observação: Cláusula documental; confirmar versão aplicável e instrumento específico antes de ativar controle.</a:t>
            </a:r>
          </a:p>
          <a:p>
            <a:r>
              <a:t>CNPJ 59357545000100 · Concentração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2026-10-07T16:30:31-03:00</a:t>
            </a:r>
          </a:p>
          <a:p>
            <a:r>
              <a:t>Via Multicrédito FIC: CNPJ 22175345000119</a:t>
            </a:r>
          </a:p>
          <a:p>
            <a:r>
              <a:t>Vitae FIC: CNPJ 59357545000100</a:t>
            </a:r>
          </a:p>
          <a:p>
            <a:r>
              <a:t>Fontes:</a:t>
            </a:r>
          </a:p>
          <a:p>
            <a:r>
              <a:t>CNPJ 22175345000119 · Subordinação mínima · Razão sênior ≥125%; mezanino ≥111,11%; validar definição contratual do numerador · data/raw/22175345000119/1199304_regulamento.pdf | Fundos.NET ID 1199304 | 19/05/2026 | regulamento | p. 43-44 · Observação: Razões de cobertura não devem ser expostas como125%/111,11% de cotas subordinadas/PL.</a:t>
            </a:r>
          </a:p>
          <a:p>
            <a:r>
              <a:t>CNPJ 59357545000100 · Subordinação mínima · Sem piso atual; regras futuras descrevem seniores ≥50% PL e mezaninos ≥25% PL · data/raw/59357545000100/1002276_regulamento.pdf | Fundos.NET ID 1002276 | 28/01/2025 | regulamento | p. 55 · Observação: Art.62 afirma ausência atual de subordinação e depois define cotas seniores/PL. Não converter em proteção subordinada de 50%.</a:t>
            </a:r>
          </a:p>
          <a:p>
            <a:r>
              <a:t>CNPJ 22175345000119 · Gatilhos de avaliação/liquidação · Falhas de prestadores; PL &lt;R$ 1 mi após90 dias por90 dias; falta de cura da razão mínima · data/raw/22175345000119/1199304_regulamento.pdf | Fundos.NET ID 1199304 | 19/05/2026 | regulamento | p. 22-23 · Observação: Cláusula documental; confirmar versão aplicável e instrumento específico antes de ativar controle.</a:t>
            </a:r>
          </a:p>
          <a:p>
            <a:r>
              <a:t>CNPJ 59357545000100 · Gatilhos de avaliação/liquidação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Reserva de caixa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Reserva de caixa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Derivativos/hedge · Derivativos, ativos no exterior e day trade vedados · data/raw/22175345000119/1199304_regulamento.pdf | Fundos.NET ID 1199304 | 19/05/2026 | regulamento | p. 13 · Observação: Cláusula documental; confirmar versão aplicável e instrumento específico antes de ativar controle.</a:t>
            </a:r>
          </a:p>
          <a:p>
            <a:r>
              <a:t>CNPJ 59357545000100 · Derivativos/hedge · Derivativos vedados, inclusive hedge · data/raw/59357545000100/1002276_regulamento.pdf | Fundos.NET ID 1002276 | 28/01/2025 | regulamento | p. 43 · Observação: Regra da versão citada; contratos e séries exigem seus instrumentos próprios.</a:t>
            </a:r>
          </a:p>
          <a:p>
            <a:r>
              <a:t>CNPJ 22175345000119 · PDD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PDD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2026-10-07T16:30:31-03:00</a:t>
            </a:r>
          </a:p>
          <a:p>
            <a:r>
              <a:t>Via Multicrédito FIC: CNPJ 22175345000119</a:t>
            </a:r>
          </a:p>
          <a:p>
            <a:r>
              <a:t>Vitae FIC: CNPJ 59357545000100</a:t>
            </a:r>
          </a:p>
          <a:p>
            <a:r>
              <a:t>Fontes:</a:t>
            </a:r>
          </a:p>
          <a:p>
            <a:r>
              <a:t>CNPJ 22175345000119 · Alocação mínima · Cotas de fundos-alvo ≥85% PL após180 dias · data/raw/22175345000119/1199304_regulamento.pdf | Fundos.NET ID 1199304 | 19/05/2026 | regulamento | p. 12 · Observação: Regra em cotas de FIDC; soma de DC do IME do FIC não substitui esse percentual.</a:t>
            </a:r>
          </a:p>
          <a:p>
            <a:r>
              <a:t>CNPJ 59357545000100 · Alocação mínima · Cotas de outros FIDCs ≥67% PL; prazo diverge 180 e noventa dias · data/raw/59357545000100/1002276_regulamento.pdf | Fundos.NET ID 1002276 | 28/01/2025 | regulamento | p. 43 · Observação: Enquadramento em fundos-alvo não é DC/PL. Prazo requer confirmação do administrador.</a:t>
            </a:r>
          </a:p>
          <a:p>
            <a:r>
              <a:t>CNPJ 22175345000119 · Pool/revolvência · Reinvestimento em cotas de FIDC ou amortização a critério do gestor · data/raw/22175345000119/1199304_regulamento.pdf | Fundos.NET ID 1199304 | 19/05/2026 | regulamento | p. 13 · Observação: Cláusula documental; confirmar versão aplicável e instrumento específico antes de ativar controle.</a:t>
            </a:r>
          </a:p>
          <a:p>
            <a:r>
              <a:t>CNPJ 59357545000100 · Pool/revolvência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Duração/público-alvo · Qualificados; resgates conforme subclasse · data/raw/22175345000119/1199304_regulamento.pdf | Fundos.NET ID 1199304 | 19/05/2026 | regulamento | p. 9,16 · Observação: Cláusula documental; confirmar versão aplicável e instrumento específico antes de ativar controle.</a:t>
            </a:r>
          </a:p>
          <a:p>
            <a:r>
              <a:t>CNPJ 59357545000100 · Duração/público-alvo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Cessão/recompra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Cessão/recompra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Coobrigação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Coobrigação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Waterfall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Waterfall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2026-10-07T16:30:31-03:00</a:t>
            </a:r>
          </a:p>
          <a:p>
            <a:r>
              <a:t>Via Multicrédito FIC: CNPJ 22175345000119</a:t>
            </a:r>
          </a:p>
          <a:p>
            <a:r>
              <a:t>Vitae FIC: CNPJ 59357545000100</a:t>
            </a:r>
          </a:p>
          <a:p>
            <a:r>
              <a:t>Fontes:</a:t>
            </a:r>
          </a:p>
          <a:p>
            <a:r>
              <a:t>CNPJ 22175345000119 · Classes/séries · Sênior, mezanino e júnior · data/raw/22175345000119/1199304_regulamento.pdf | Fundos.NET ID 1199304 | 19/05/2026 | regulamento | p. 9,42-44 · Observação: Cláusula documental; confirmar versão aplicável e instrumento específico antes de ativar controle.</a:t>
            </a:r>
          </a:p>
          <a:p>
            <a:r>
              <a:t>CNPJ 59357545000100 · Classes/séries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Remuneração · Sênior CDI +2,50%; mezanino CDI +3,50% nos apêndices · data/raw/22175345000119/1199304_regulamento.pdf | Fundos.NET ID 1199304 | 19/05/2026 | regulamento | p. 42,44 · Observação: Texto dos apêndices não explicita a unidade temporal junto à sobretaxa; confirmar base anual antes de calcular retorno. Meta sem garantia.</a:t>
            </a:r>
          </a:p>
          <a:p>
            <a:r>
              <a:t>CNPJ 59357545000100 · Remuneração · Spread final não localizado nas cláusulas revisadas; requer suplemento ou ato específico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Volume/VNU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Volume/VNU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Ofertas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Ofertas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2026-10-07T16:30:31-03:00</a:t>
            </a:r>
          </a:p>
          <a:p>
            <a:r>
              <a:t>Via Multicrédito FIC: CNPJ 22175345000119</a:t>
            </a:r>
          </a:p>
          <a:p>
            <a:r>
              <a:t>Vitae FIC: CNPJ 59357545000100</a:t>
            </a:r>
          </a:p>
          <a:p>
            <a:r>
              <a:t>Fontes:</a:t>
            </a:r>
          </a:p>
          <a:p>
            <a:r>
              <a:t>CNPJ 22175345000119 · Carência · Apêndices: sem carência; resgate sênior/mezanino a partir do91ºdia após pedido · data/raw/22175345000119/1199304_regulamento.pdf | Fundos.NET ID 1199304 | 19/05/2026 | regulamento | p. 42,44,16 · Observação: Cláusula documental; confirmar versão aplicável e instrumento específico antes de ativar controle.</a:t>
            </a:r>
          </a:p>
          <a:p>
            <a:r>
              <a:t>CNPJ 59357545000100 · Carência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Juros/amortização · Ganhos por resgate; sênior/mezanino D+91, dependentes de liquidez; júnior com condições próprias · data/raw/22175345000119/1199304_regulamento.pdf | Fundos.NET ID 1199304 | 19/05/2026 | regulamento | p. 9,16 · Observação: Cláusula documental; confirmar versão aplicável e instrumento específico antes de ativar controle.</a:t>
            </a:r>
          </a:p>
          <a:p>
            <a:r>
              <a:t>CNPJ 59357545000100 · Juros/amortização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22175345000119 · Vencimento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Vencimento · Não localizado nas cláusulas revisadas; requer documento aplicável · data/raw/59357545000100/1002276_regulamento.pdf | Fundos.NET ID 1002276 | 28/01/2025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2026-10-07T16:30:31-03:00</a:t>
            </a:r>
          </a:p>
          <a:p>
            <a:r>
              <a:t>Via Multicrédito FIC: CNPJ 22175345000119</a:t>
            </a:r>
          </a:p>
          <a:p>
            <a:r>
              <a:t>Vitae FIC: CNPJ 59357545000100</a:t>
            </a:r>
          </a:p>
          <a:p>
            <a:r>
              <a:t>Fontes:</a:t>
            </a:r>
          </a:p>
          <a:p>
            <a:r>
              <a:t>CNPJ 22175345000119 · Administração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Administração · 0,05% a.a. PL; mínimo R$ 5 mil/mês; IPCA · data/raw/59357545000100/1002276_regulamento.pdf | Fundos.NET ID 1002276 | 28/01/2025 | regulamento | p. 41-42 · Observação: Regra da versão citada; contratos e séries exigem seus instrumentos próprios.</a:t>
            </a:r>
          </a:p>
          <a:p>
            <a:r>
              <a:t>CNPJ 22175345000119 · Gestão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Gestão · 0,05% a.a. PL; mínimo R$ 5 mil/mês; IPCA · data/raw/59357545000100/1002276_regulamento.pdf | Fundos.NET ID 1002276 | 28/01/2025 | regulamento | p. 42 · Observação: Regra da versão citada; contratos e séries exigem seus instrumentos próprios.</a:t>
            </a:r>
          </a:p>
          <a:p>
            <a:r>
              <a:t>CNPJ 22175345000119 · Custódia · Não localizado nas cláusulas revisadas; requer documento aplicável · data/raw/22175345000119/1199304_regulamento.pdf | Fundos.NET ID 1199304 | 19/05/2026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59357545000100 · Custódia · Incluída na administração · data/raw/59357545000100/1002276_regulamento.pdf | Fundos.NET ID 1002276 | 28/01/2025 | regulamento | p. 42 · Observação: Regra da versão citada; contratos e séries exigem seus instrumentos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2026-10-07T16:30:31-03:00</a:t>
            </a:r>
          </a:p>
          <a:p>
            <a:r>
              <a:t>Via Multicrédito FIC: CNPJ 22175345000119</a:t>
            </a:r>
          </a:p>
          <a:p>
            <a:r>
              <a:t>Vitae FIC: CNPJ 59357545000100</a:t>
            </a:r>
          </a:p>
          <a:p>
            <a:r>
              <a:t>Fontes:</a:t>
            </a:r>
          </a:p>
          <a:p>
            <a:r>
              <a:t>CNPJ 22175345000119 · Alocação/subordinação IME · DC/PL e composição de cotas ajudam; validar numerador, denominador e versão contratual · data/raw/22175345000119/1199304_regulamento.pdf | Fundos.NET ID 1199304 | 19/05/2026 · Observação: Proxy metodológica. FIC investe em cotas: não usar DC/PL como substituto da alocação em fundos-alvo. Nenhum saldo observado nesta revisão documental.</a:t>
            </a:r>
          </a:p>
          <a:p>
            <a:r>
              <a:t>CNPJ 59357545000100 · Alocação/subordinação IME · DC/PL e composição de cotas ajudam; validar numerador, denominador e versão contratual · data/raw/59357545000100/1002276_regulamento.pdf | Fundos.NET ID 1002276 | 28/01/2025 · Observação: Proxy metodológica. FIC investe em cotas: não usar DC/PL como substituto da alocação em fundos-alvo. Nenhum saldo observado nesta revisão documental.</a:t>
            </a:r>
          </a:p>
          <a:p>
            <a:r>
              <a:t>CNPJ 22175345000119 · Inadimplência/PDD IME · Over e PDD agregados são alertas; fórmulas contratuais exigem validação · data/raw/22175345000119/1199304_regulamento.pdf | Fundos.NET ID 1199304 | 19/05/2026 · Observação: Não reproduzem médias móveis, coortes, exposição individual, motivo de recompra, chargeback e perdas históricas sem dados adicionais.</a:t>
            </a:r>
          </a:p>
          <a:p>
            <a:r>
              <a:t>CNPJ 59357545000100 · Inadimplência/PDD IME · Over e PDD agregados são alertas; fórmulas contratuais exigem validação · data/raw/59357545000100/1002276_regulamento.pdf | Fundos.NET ID 1002276 | 28/01/2025 · Observação: Não reproduzem médias móveis, coortes, exposição individual, motivo de recompra, chargeback e perdas históricas sem dados adicionais.</a:t>
            </a:r>
          </a:p>
          <a:p>
            <a:r>
              <a:t>CNPJ 22175345000119 · Controles documentais · Elegibilidade, concentração, lastro e eventos exigem controles por contrato · data/raw/22175345000119/1199304_regulamento.pdf | Fundos.NET ID 1199304 | 19/05/2026 · Observação: IME público agregado não certifica devedor/cedente/grupo nem alterações de prestadores e cross default.</a:t>
            </a:r>
          </a:p>
          <a:p>
            <a:r>
              <a:t>CNPJ 59357545000100 · Controles documentais · Elegibilidade, concentração, lastro e eventos exigem controles por contrato · data/raw/59357545000100/1002276_regulamento.pdf | Fundos.NET ID 1002276 | 28/01/2025 · Observação: IME público agregado não certifica devedor/cedente/grupo nem alterações de prestadores e cross default.</a:t>
            </a:r>
          </a:p>
          <a:p>
            <a:r>
              <a:t>CNPJ 22175345000119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59357545000100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FIC FIDC Via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Multicrédito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Vitae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FIC: cotas de fundos-alvo FIDC; exposição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indireta aos direitos creditórios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FIC: investimento preponderante em cotas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outros FIDCs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sênior de um FIDC ≤20% PL; subordinadas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limitadas ao PL subordinado do FIC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FIC FIDC Via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7477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Multicrédito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Vitae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Razão sênior ≥125%; mezanino ≥111,11%; validar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definição contratual do numerador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piso atual; regras futuras descrevem seniores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≥50% PL e mezaninos ≥25%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Falhas de prestadores; PL &lt;R$ 1 mi após90 dias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por90 dias; falta de cura da razão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Derivativos, ativos no exterior e day trade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vedados, inclusive 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FIC FIDC Via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Multicrédito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Vitae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de fundos-alvo ≥85% PL após180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Cotas de outros FIDCs ≥67% PL; prazo diverge 180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 noventa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 em cotas de FIDC ou amortização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critério do gestor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Qualificados; resgates conforme subclasse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FIC FIDC Via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276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Multicrédito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Vitae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CDI +2,50%; mezanino CDI +3,50% nos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nas cláusulas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revisadas; requer suplemento ou ato específico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FIC FIDC Via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Multicrédito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Vitae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Apêndices: sem carência; resgate sênior/mezanino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 partir do91ºdia após pedido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36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Ganhos por resgate; sênior/mezanino D+91,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dependentes de liquidez; júnior com condições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FIC FIDC Via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18059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Multicrédito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Vitae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 PL; mínimo R$ 5 mil/mês;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0,05% a.a. PL; mínimo R$ 5 mil/mês; IPCA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cláusulas revisadas; requer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documento aplicável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FIC FIDC Via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0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4491075"/>
                <a:gridCol w="4491075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Via Multicrédito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Vitae FIC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ajudam; validar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numerador, denominador e versão 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