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2026-10-07T16:18:13-03:00</a:t>
            </a:r>
          </a:p>
          <a:p>
            <a:r>
              <a:t>IOX I: CNPJ 19388423000159</a:t>
            </a:r>
          </a:p>
          <a:p>
            <a:r>
              <a:t>Fontes:</a:t>
            </a:r>
          </a:p>
          <a:p>
            <a:r>
              <a:t>CNPJ 19388423000159 · Natureza dos recebíveis · Multissetorial performado: duplicatas, cheques, CCBs, cartões e notas comerciais · data/raw/19388423000159/1230432_regulamento.pdf | Fundos.NET ID 1230432 | 26/06/2026 | regulamento | p. 61-62 · Observação: Cláusula documental; confirmar versão aplicável e instrumento específico antes de ativar controle.</a:t>
            </a:r>
          </a:p>
          <a:p>
            <a:r>
              <a:t>CNPJ 19388423000159 · Originador/endossante · Cedentes PJ e instituições financeiras brasileiras; sem originador exclusivo · data/raw/19388423000159/1230432_regulamento.pdf | Fundos.NET ID 1230432 | 26/06/2026 | regulamento | p. 60,66 · Observação: Cláusula documental; confirmar versão aplicável e instrumento específico antes de ativar controle.</a:t>
            </a:r>
          </a:p>
          <a:p>
            <a:r>
              <a:t>CNPJ 19388423000159 · Devedor · Não localizado nas cláusulas revisadas; requer documento aplicável · data/raw/19388423000159/1230432_regulamento.pdf | Fundos.NET ID 1230432 | 26/06/2026; data/raw/19388423000159/1300032_emissao.pdf | Fundos.NET ID 1300032 | 25/08/2026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19388423000159 · Garantia · Não localizado nas cláusulas revisadas; requer documento aplicável · data/raw/19388423000159/1230432_regulamento.pdf | Fundos.NET ID 1230432 | 26/06/2026; data/raw/19388423000159/1300032_emissao.pdf | Fundos.NET ID 1300032 | 25/08/2026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19388423000159 · Elegibilidade · Adimplente; desconto ≥1,20% a.m.; cheques ≤180d, duplicatas ≤365d, contratos ≤540d, CCB/NC ≤36m · data/raw/19388423000159/1230432_regulamento.pdf | Fundos.NET ID 1230432 | 26/06/2026 | regulamento | p. 66-68 · Observação: Desconto é taxa dos direitos creditórios; não é spread das cotas. Taxa média mínima de cessão: 200% da DI.</a:t>
            </a:r>
          </a:p>
          <a:p>
            <a:r>
              <a:t>CNPJ 19388423000159 · Concentração · Devedor/grupo ≤4% PL; top10 ≤35%; cedente ≤3,5% (exceto CCB); top10 ≤30% · data/raw/19388423000159/1230432_regulamento.pdf | Fundos.NET ID 1230432 | 26/06/2026 | regulamento | p. 63-65 · Observação: Valor presente líquido de PDD; limites adicionais por instrumento e grupo econômico na tabela contratual.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2026-10-07T16:18:13-03:00</a:t>
            </a:r>
          </a:p>
          <a:p>
            <a:r>
              <a:t>IOX I: CNPJ 19388423000159</a:t>
            </a:r>
          </a:p>
          <a:p>
            <a:r>
              <a:t>Fontes:</a:t>
            </a:r>
          </a:p>
          <a:p>
            <a:r>
              <a:t>CNPJ 19388423000159 · Subordinação mínima · Sênior: mezanino+júnior/PL ≥33%; mezanino: júnior/PL ≥18% · data/raw/19388423000159/1230432_regulamento.pdf | Fundos.NET ID 1230432 | 26/06/2026 | regulamento | p. 94 · Observação: Cláusula documental; confirmar versão aplicável e instrumento específico antes de ativar controle.</a:t>
            </a:r>
          </a:p>
          <a:p>
            <a:r>
              <a:t>CNPJ 19388423000159 · Gatilhos de avaliação/liquidação · Inadimplência contratual &gt;5% por20 DU; liquidez &lt;1 por30d; desenquadramentos com cura específica · data/raw/19388423000159/1230432_regulamento.pdf | Fundos.NET ID 1230432 | 26/06/2026 | regulamento | p. 92-96 · Observação: Inadimplência = média móvel3 meses de índice de atraso90 dias sobre vencimentos da coorte mensal, não Over90/Crédito.</a:t>
            </a:r>
          </a:p>
          <a:p>
            <a:r>
              <a:t>CNPJ 19388423000159 · Reserva de caixa · 1% PL; amortização integral reservada até D−5 DU, formação a partir de D−25 DU · data/raw/19388423000159/1230432_regulamento.pdf | Fundos.NET ID 1230432 | 26/06/2026 | regulamento | p. 90-91 · Observação: Cláusula documental; confirmar versão aplicável e instrumento específico antes de ativar controle.</a:t>
            </a:r>
          </a:p>
          <a:p>
            <a:r>
              <a:t>CNPJ 19388423000159 · Derivativos/hedge · Proteção patrimonial e troca de indexador, sem exposição a risco de capital · data/raw/19388423000159/1230432_regulamento.pdf | Fundos.NET ID 1230432 | 26/06/2026 | regulamento | p. 65 · Observação: Cláusula documental; confirmar versão aplicável e instrumento específico antes de ativar controle.</a:t>
            </a:r>
          </a:p>
          <a:p>
            <a:r>
              <a:t>CNPJ 19388423000159 · PDD · Não localizado nas cláusulas revisadas; requer documento aplicável · data/raw/19388423000159/1230432_regulamento.pdf | Fundos.NET ID 1230432 | 26/06/2026; data/raw/19388423000159/1300032_emissao.pdf | Fundos.NET ID 1300032 | 25/08/2026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2026-10-07T16:18:13-03:00</a:t>
            </a:r>
          </a:p>
          <a:p>
            <a:r>
              <a:t>IOX I: CNPJ 19388423000159</a:t>
            </a:r>
          </a:p>
          <a:p>
            <a:r>
              <a:t>Fontes:</a:t>
            </a:r>
          </a:p>
          <a:p>
            <a:r>
              <a:t>CNPJ 19388423000159 · Alocação mínima · Não localizado nas cláusulas revisadas; requer documento aplicável · data/raw/19388423000159/1230432_regulamento.pdf | Fundos.NET ID 1230432 | 26/06/2026; data/raw/19388423000159/1300032_emissao.pdf | Fundos.NET ID 1300032 | 25/08/2026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19388423000159 · Pool/revolvência · Revolvente durante prazo indeterminado · data/raw/19388423000159/1230432_regulamento.pdf | Fundos.NET ID 1230432 | 26/06/2026 | regulamento | p. 58 · Observação: Cláusula documental; confirmar versão aplicável e instrumento específico antes de ativar controle.</a:t>
            </a:r>
          </a:p>
          <a:p>
            <a:r>
              <a:t>CNPJ 19388423000159 · Duração/público-alvo · Classe fechada, indeterminada; qualificados; responsabilidade ilimitada · data/raw/19388423000159/1230432_regulamento.pdf | Fundos.NET ID 1230432 | 26/06/2026 | regulamento | p. 52-53,99 · Observação: Cláusula documental; confirmar versão aplicável e instrumento específico antes de ativar controle.</a:t>
            </a:r>
          </a:p>
          <a:p>
            <a:r>
              <a:t>CNPJ 19388423000159 · Cessão/recompra · Substituição por vícios; recompra facultativa; índice30 dias/VP da carteira &lt;10% · data/raw/19388423000159/1230432_regulamento.pdf | Fundos.NET ID 1230432 | 26/06/2026 | regulamento | p. 48,65 · Observação: Cláusula documental; confirmar versão aplicável e instrumento específico antes de ativar controle.</a:t>
            </a:r>
          </a:p>
          <a:p>
            <a:r>
              <a:t>CNPJ 19388423000159 · Coobrigação · Cessões podem ter ou não coobrigação conforme contrato · data/raw/19388423000159/1230432_regulamento.pdf | Fundos.NET ID 1230432 | 26/06/2026 | regulamento | p. 43-44,60 · Observação: Cláusula documental; confirmar versão aplicável e instrumento específico antes de ativar controle.</a:t>
            </a:r>
          </a:p>
          <a:p>
            <a:r>
              <a:t>CNPJ 19388423000159 · Waterfall · Despesas → caixa → sênior → mezanino → júnior → novas aquisições · data/raw/19388423000159/1230432_regulamento.pdf | Fundos.NET ID 1230432 | 26/06/2026 | regulamento | p. 89-90 · Observação: Cláusula documental; confirmar versão aplicável e instrumento específico antes de ativar controle.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2026-10-07T16:18:13-03:00</a:t>
            </a:r>
          </a:p>
          <a:p>
            <a:r>
              <a:t>IOX I: CNPJ 19388423000159</a:t>
            </a:r>
          </a:p>
          <a:p>
            <a:r>
              <a:t>Fontes:</a:t>
            </a:r>
          </a:p>
          <a:p>
            <a:r>
              <a:t>CNPJ 19388423000159 · Classes/séries · Sênior, mezanino e júnior; ofertas sênior 23–28 e mezaninoO–S encerradas em25/08/2026 · data/raw/19388423000159/1300032_emissao.pdf | Fundos.NET ID 1300032 | 25/08/2026 | emissao | p. 1-33 · Observação: Cláusula documental; confirmar versão aplicável e instrumento específico antes de ativar controle.</a:t>
            </a:r>
          </a:p>
          <a:p>
            <a:r>
              <a:t>CNPJ 19388423000159 · Remuneração · Meta por suplemento/apêndice; spread final não localizado nas fontes revisadas · data/raw/19388423000159/1230432_regulamento.pdf | Fundos.NET ID 1230432 | 26/06/2026 | regulamento | p. 49,58,86 · Observação: Cláusula documental; confirmar versão aplicável e instrumento específico antes de ativar controle.</a:t>
            </a:r>
          </a:p>
          <a:p>
            <a:r>
              <a:t>CNPJ 19388423000159 · Volume/VNU · Teto ofertado: sênior 23 R$ 130 mi,24 R$ 100 mi,25 R$ 75 mi; VNU R$ 1.000 · data/raw/19388423000159/1300032_emissao.pdf | Fundos.NET ID 1300032 | 25/08/2026 | emissao | p. 1,4,7 · Observação: Cabeçalho reporta montante ofertado; não tratar teto como valor integralmente distribuído sem tabela final por série.</a:t>
            </a:r>
          </a:p>
          <a:p>
            <a:r>
              <a:t>CNPJ 19388423000159 · Ofertas · Não localizado nas cláusulas revisadas; requer documento aplicável · data/raw/19388423000159/1230432_regulamento.pdf | Fundos.NET ID 1230432 | 26/06/2026; data/raw/19388423000159/1300032_emissao.pdf | Fundos.NET ID 1300032 | 25/08/2026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2026-10-07T16:18:13-03:00</a:t>
            </a:r>
          </a:p>
          <a:p>
            <a:r>
              <a:t>IOX I: CNPJ 19388423000159</a:t>
            </a:r>
          </a:p>
          <a:p>
            <a:r>
              <a:t>Fontes:</a:t>
            </a:r>
          </a:p>
          <a:p>
            <a:r>
              <a:t>CNPJ 19388423000159 · Carência · Não localizado nas cláusulas revisadas; requer documento aplicável · data/raw/19388423000159/1230432_regulamento.pdf | Fundos.NET ID 1230432 | 26/06/2026; data/raw/19388423000159/1300032_emissao.pdf | Fundos.NET ID 1300032 | 25/08/2026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19388423000159 · Juros/amortização · Calendário por suplemento; extraordinária e aceleração permitidas com reservas e subordinação · data/raw/19388423000159/1230432_regulamento.pdf | Fundos.NET ID 1230432 | 26/06/2026 | regulamento | p. 86-87 · Observação: Cláusula documental; confirmar versão aplicável e instrumento específico antes de ativar controle.</a:t>
            </a:r>
          </a:p>
          <a:p>
            <a:r>
              <a:t>CNPJ 19388423000159 · Vencimento · Não localizado nas cláusulas revisadas; requer documento aplicável · data/raw/19388423000159/1230432_regulamento.pdf | Fundos.NET ID 1230432 | 26/06/2026; data/raw/19388423000159/1300032_emissao.pdf | Fundos.NET ID 1300032 | 25/08/2026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2026-10-07T16:18:13-03:00</a:t>
            </a:r>
          </a:p>
          <a:p>
            <a:r>
              <a:t>IOX I: CNPJ 19388423000159</a:t>
            </a:r>
          </a:p>
          <a:p>
            <a:r>
              <a:t>Fontes:</a:t>
            </a:r>
          </a:p>
          <a:p>
            <a:r>
              <a:t>CNPJ 19388423000159 · Administração · Faixas marginais PL:0,50%/0,40%/0,35%/0,30%/0,25%/0,20% a.a.; mínimo R$ 1 mil/mês · data/raw/19388423000159/1230432_regulamento.pdf | Fundos.NET ID 1230432 | 26/06/2026 | regulamento | p. 55-57 · Observação: Faixas até 20/50/100/150/200 mi e excedente; valores fixos reajustados pelo IGP-M positivo anual.</a:t>
            </a:r>
          </a:p>
          <a:p>
            <a:r>
              <a:t>CNPJ 19388423000159 · Gestão · 1% a.a. PL; mínimo R$ 3 mil/mês · data/raw/19388423000159/1230432_regulamento.pdf | Fundos.NET ID 1230432 | 26/06/2026 | regulamento | p. 57 · Observação: Cláusula documental; confirmar versão aplicável e instrumento específico antes de ativar controle.</a:t>
            </a:r>
          </a:p>
          <a:p>
            <a:r>
              <a:t>CNPJ 19388423000159 · Custódia · Taxa máxima R$ 2 mil; periodicidade de pagamento mensal na cláusula4.2 · data/raw/19388423000159/1230432_regulamento.pdf | Fundos.NET ID 1230432 | 26/06/2026 | regulamento | p. 57 · Observação: Cláusula documental; confirmar versão aplicável e instrumento específico antes de ativar controle.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2026-10-07T16:18:13-03:00</a:t>
            </a:r>
          </a:p>
          <a:p>
            <a:r>
              <a:t>IOX I: CNPJ 19388423000159</a:t>
            </a:r>
          </a:p>
          <a:p>
            <a:r>
              <a:t>Fontes:</a:t>
            </a:r>
          </a:p>
          <a:p>
            <a:r>
              <a:t>CNPJ 19388423000159 · Alocação/subordinação IME · DC/PL e composição de cotas ajudam; validar numerador, denominador e versão contratual · data/raw/19388423000159/1230432_regulamento.pdf | Fundos.NET ID 1230432 | 26/06/2026; data/raw/19388423000159/1300032_emissao.pdf | Fundos.NET ID 1300032 | 25/08/2026 · Observação: Proxy metodológica. FIC investe em cotas: não usar DC/PL como substituto da alocação em fundos-alvo. Nenhum saldo observado nesta revisão documental.</a:t>
            </a:r>
          </a:p>
          <a:p>
            <a:r>
              <a:t>CNPJ 19388423000159 · Inadimplência/PDD IME · Over e PDD agregados são alertas; fórmulas contratuais exigem validação · data/raw/19388423000159/1230432_regulamento.pdf | Fundos.NET ID 1230432 | 26/06/2026; data/raw/19388423000159/1300032_emissao.pdf | Fundos.NET ID 1300032 | 25/08/2026 · Observação: Não reproduzem médias móveis, coortes, exposição individual, motivo de recompra, chargeback e perdas históricas sem dados adicionais.</a:t>
            </a:r>
          </a:p>
          <a:p>
            <a:r>
              <a:t>CNPJ 19388423000159 · Controles documentais · Elegibilidade, concentração, lastro e eventos exigem controles por contrato · data/raw/19388423000159/1230432_regulamento.pdf | Fundos.NET ID 1230432 | 26/06/2026; data/raw/19388423000159/1300032_emissao.pdf | Fundos.NET ID 1300032 | 25/08/2026 · Observação: IME público agregado não certifica devedor/cedente/grupo nem alterações de prestadores e cross default.</a:t>
            </a:r>
          </a:p>
          <a:p>
            <a:r>
              <a:t>CNPJ 19388423000159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IOX I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IOX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Multissetorial performado: duplicatas, cheques, CCBs, cartões e notas comerciais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Cedentes PJ e instituições financeiras brasileiras; sem originador exclusivo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Adimplente; desconto ≥1,20% a.m.; cheques ≤180d, duplicatas ≤365d, contratos ≤540d, CCB/NC ≤36m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Devedor/grupo ≤4% PL; top10 ≤35%; cedente ≤3,5% (exceto CCB); top10 ≤30%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IOX I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IOX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Sênior: mezanino+júnior/PL ≥33%; mezanino: júnior/PL ≥18%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Inadimplência contratual &gt;5% por20 DU; liquidez &lt;1 por30d; desenquadramentos com cura específica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1% PL; amortização integral reservada até D−5 DU, formação a partir de D−25 DU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patrimonial e troca de indexador, sem exposição a risco de capital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IOX I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IOX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Revolvente durante prazo indeterminado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fechada, indeterminada; qualificados; responsabilidade ilimitada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Substituição por vícios; recompra facultativa; índice30 dias/VP da carteira &lt;10%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Cessões podem ter ou não coobrigação conforme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 → caixa → sênior → mezanino → júnior → novas aquisições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IOX I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IOX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mezanino e júnior; ofertas sênior 23–28 e mezaninoO–S encerradas em25/08/2026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Teto ofertado: sênior 23 R$ 130 mi,24 R$ 100 mi,25 R$ 75 mi; VNU R$ 1.000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IOX I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IOX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extraordinária e aceleração permitidas com reservas e subordinação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IOX I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IOX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marginais PL:0,50%/0,40%/0,35%/0,30%/0,25%/0,20% a.a.; mínimo R$ 1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1% a.a. PL; mínimo R$ 3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Taxa máxima R$ 2 mil; periodicidade de pagamento mensal na cláusula4.2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IOX I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IOX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composição de cotas ajudam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e PDD agregados são alertas; fórmulas contratuais exigem validação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lastro e eventos exigem controles por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