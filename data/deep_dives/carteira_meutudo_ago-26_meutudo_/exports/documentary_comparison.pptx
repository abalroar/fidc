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2026-10-07T14:59:40-03:00</a:t>
            </a:r>
          </a:p>
          <a:p>
            <a:r>
              <a:t>MT Consignado Privado I: CNPJ 60010416000112</a:t>
            </a:r>
          </a:p>
          <a:p>
            <a:r>
              <a:t>MT Consignado Privado II: CNPJ 58458416000138</a:t>
            </a:r>
          </a:p>
          <a:p>
            <a:r>
              <a:t>FGTS MT II: CNPJ 53179862000190</a:t>
            </a:r>
          </a:p>
          <a:p>
            <a:r>
              <a:t>MT INSS Receivables II: CNPJ 40752367000186</a:t>
            </a:r>
          </a:p>
          <a:p>
            <a:r>
              <a:t>MT INSS Receivables III: CNPJ 44173467000109</a:t>
            </a:r>
          </a:p>
          <a:p>
            <a:r>
              <a:t>MT INSS Receivables V: CNPJ 51290497000160</a:t>
            </a:r>
          </a:p>
          <a:p>
            <a:r>
              <a:t>MT FGTS Receivables IV: CNPJ 62010175000137</a:t>
            </a:r>
          </a:p>
          <a:p>
            <a:r>
              <a:t>MT INSS Receivables VI: CNPJ 62310468000130</a:t>
            </a:r>
          </a:p>
          <a:p>
            <a:r>
              <a:t>MT FGTS Receivables II: CNPJ 54464892000100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60010416000112 · Natureza dos recebíveis · CCBs eletrônicas de consignado privado pela Plataforma MT; TVM elegíveis limitados · Fundos.NET ID 1051393 · 09/10/2025 · Regulamento · p. 9-11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Natureza dos recebíveis · CCBs de consignado privado pela Plataforma MT · Fundos.NET ID 982232 · 28/08/2025 · Regulamento · p. 7-9 · data/raw/58458416000138/982232_documentary_review.pdf · https://fnet.bmfbovespa.com.br/fnet/publico/exibirDocumento?id=982232 · Observação: Conclusão documental revisada; preservar a versão e a unidade indicadas.</a:t>
            </a:r>
          </a:p>
          <a:p>
            <a:r>
              <a:t>CNPJ 53179862000190 · Natureza dos recebíveis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Natureza dos recebíveis · CCBs de consignado INSS pela Plataforma MT; TVM elegíveis de conglomerados S1 · Fundos.NET ID 846588 · 21/02/2025 · Regulamento · p. 9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Natureza dos recebíveis · CCBs de consignado INSS pela Plataforma MT · Fundos.NET ID 791513 · 28/11/2024 · Regulamento · p. 10-13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51290497000160 · Natureza dos recebíveis · CCBs de consignado INSS pela Plataforma MT · Fundos.NET ID 956736 · 28/07/2025 · Regulamento · p. 9-11, 60 · data/raw/51290497000160/956736_documentary_review.pdf · https://fnet.bmfbovespa.com.br/fnet/publico/exibirDocumento?id=956736 · Observação: Conclusão documental revisada; preservar a versão e a unidade indicadas.</a:t>
            </a:r>
          </a:p>
          <a:p>
            <a:r>
              <a:t>CNPJ 62010175000137 · Natureza dos recebíveis · CCBs de antecipação de saque-aniversário FGTS · Fundos.NET ID 971924 · 13/08/2025 · Regulamento · p. 12-15 · data/raw/62010175000137/971924_documentary_review.pdf · https://fnet.bmfbovespa.com.br/fnet/publico/exibirDocumento?id=971924 · Observação: Conclusão documental revisada; preservar a versão e a unidade indicadas.</a:t>
            </a:r>
          </a:p>
          <a:p>
            <a:r>
              <a:t>CNPJ 62310468000130 · Natureza dos recebíveis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Natureza dos recebíveis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Natureza dos recebíveis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Originador/endossante · Parati CFI; Plataforma MT/Tudo Serviços no processamento e cobrança · Fundos.NET ID 1051393 · 09/10/2025 · Regulamento · p. 41-43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Originador/endossante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Originador/endossante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Originador/endossante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Originador/endossante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Originador/endossante · Parati; QI Tech; outras IFs aprovadas e conveniadas INSS · Fundos.NET ID 956736 · 28/07/2025 · Regulamento · p. 60 · data/raw/51290497000160/956736_documentary_review.pdf · https://fnet.bmfbovespa.com.br/fnet/publico/exibirDocumento?id=956736 · Observação: Conclusão documental revisada; preservar a versão e a unidade indicadas.</a:t>
            </a:r>
          </a:p>
          <a:p>
            <a:r>
              <a:t>CNPJ 62010175000137 · Originador/endossante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Originador/endossante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Originador/endossante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Originador/endossante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Devedor · Pessoa física com consignação averbada na Dataprev · Fundos.NET ID 1051393 · 09/10/2025 · Regulamento · p. 9-10, 42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Devedor · Pessoa física com averbação privada; idade ≤ 64a11m29d · Fundos.NET ID 982232 · 28/08/2025 · Regulamento · p. 7 · data/raw/58458416000138/982232_documentary_review.pdf · https://fnet.bmfbovespa.com.br/fnet/publico/exibirDocumento?id=982232 · Observação: Conclusão documental revisada; preservar a versão e a unidade indicadas.</a:t>
            </a:r>
          </a:p>
          <a:p>
            <a:r>
              <a:t>CNPJ 53179862000190 · Devedor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Devedor · Beneficiários/pensionistas INSS; devedor do TVM conforme instrumento · Fundos.NET ID 846588 · 21/02/2025 · Regulamento · p. 9-10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Devedor · Beneficiários e pensionistas INSS · Fundos.NET ID 791513 · 28/11/2024 · Regulamento · p. 10-13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51290497000160 · Devedor · Beneficiário/pensionista INSS; idade final ≤ 76a11m29d, inválidos ≤ 72a11m29d · Fundos.NET ID 956736 · 28/07/2025 · Regulamento · p. 10-11 · data/raw/51290497000160/956736_documentary_review.pdf · https://fnet.bmfbovespa.com.br/fnet/publico/exibirDocumento?id=956736 · Observação: Conclusão documental revisada; preservar a versão e a unidade indicadas.</a:t>
            </a:r>
          </a:p>
          <a:p>
            <a:r>
              <a:t>CNPJ 62010175000137 · Devedor · Pessoa física titular FGTS, ≥ 18 anos; devedores &gt; 71 anos limitados · Fundos.NET ID 971924 · 13/08/2025 · Regulamento · p. 14 · data/raw/62010175000137/971924_documentary_review.pdf · https://fnet.bmfbovespa.com.br/fnet/publico/exibirDocumento?id=971924 · Observação: Conclusão documental revisada; preservar a versão e a unidade indicadas.</a:t>
            </a:r>
          </a:p>
          <a:p>
            <a:r>
              <a:t>CNPJ 62310468000130 · Devedor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Devedor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Devedor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Garantia · Fluxo de consignação; garantias adicionais não demonstradas · Fundos.NET ID 1051393 · 09/10/2025 · Regulamento · p. 9-11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Garantia · Consignação averbada; garantias finais no contrato de endosso · Fundos.NET ID 982232 · 28/08/2025 · Regulamento · p. 7-9 · data/raw/58458416000138/982232_documentary_review.pdf · https://fnet.bmfbovespa.com.br/fnet/publico/exibirDocumento?id=982232 · Observação: Conclusão documental revisada; preservar a versão e a unidade indicadas.</a:t>
            </a:r>
          </a:p>
          <a:p>
            <a:r>
              <a:t>CNPJ 53179862000190 · Garantia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Garantia · Consignação INSS/Dataprev; garantias do TVM conforme instrumento · Fundos.NET ID 846588 · 21/02/2025 · Regulamento · p. 9-10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Garantia · Consignação de benefícios INSS/Dataprev · Fundos.NET ID 791513 · 28/11/2024 · Regulamento · p. 10-13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51290497000160 · Garantia · Consignação INSS/Dataprev; portabilidade e glosa sujeitas a defesa da carteira · Fundos.NET ID 956736 · 28/07/2025 · Regulamento · p. 9-11, 60 · data/raw/51290497000160/956736_documentary_review.pdf · https://fnet.bmfbovespa.com.br/fnet/publico/exibirDocumento?id=956736 · Observação: Conclusão documental revisada; preservar a versão e a unidade indicadas.</a:t>
            </a:r>
          </a:p>
          <a:p>
            <a:r>
              <a:t>CNPJ 62010175000137 · Garantia · Cessão fiduciária do saque-aniversário FGTS · Fundos.NET ID 971924 · 13/08/2025 · Regulamento · p. 12-15 · data/raw/62010175000137/971924_documentary_review.pdf · https://fnet.bmfbovespa.com.br/fnet/publico/exibirDocumento?id=971924 · Observação: Conclusão documental revisada; preservar a versão e a unidade indicadas.</a:t>
            </a:r>
          </a:p>
          <a:p>
            <a:r>
              <a:t>CNPJ 62310468000130 · Garantia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Garantia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Garantia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Elegibilidade · CCB prefixada; idade ≤ 64a11m29d; limite por devedor R$ 150 mil pela cl. 4.4.1 · Fundos.NET ID 1051393 · 09/10/2025 · Regulamento · p. 9-10 · data/raw/60010416000112/1051393_documentary_review.pdf · https://fnet.bmfbovespa.com.br/fnet/publico/exibirDocumento?id=1051393 · Observação: Cláusula 4.4(ii) conserva R$ 100 mil, enquanto 4.4.1 dispõe passagem a R$ 150 mil; aplicar também limites do contrato de endosso, não localizado.</a:t>
            </a:r>
          </a:p>
          <a:p>
            <a:r>
              <a:t>CNPJ 58458416000138 · Elegibilidade · CCB prefixada/adimplente; duration média ≤ 30 meses · Fundos.NET ID 982232 · 28/08/2025 · Regulamento · p. 7-8 · data/raw/58458416000138/982232_documentary_review.pdf · https://fnet.bmfbovespa.com.br/fnet/publico/exibirDocumento?id=982232 · Observação: Preço mínimo de compra e limites do endosso não integralmente obtidos.</a:t>
            </a:r>
          </a:p>
          <a:p>
            <a:r>
              <a:t>CNPJ 53179862000190 · Elegibilidade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Elegibilidade · CCB prefixada/adimplente; valor principal ≥ R$ 200; prazo conforme limite legal · Fundos.NET ID 846588 · 21/02/2025 · Regulamento · p. 10-11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Elegibilidade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Elegibilidade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Elegibilidade · CCB adimplente; prazo ≤ 4.415 dias e até vencimento sênior · Fundos.NET ID 971924 · 13/08/2025 · Regulamento · p. 14 · data/raw/62010175000137/971924_documentary_review.pdf · https://fnet.bmfbovespa.com.br/fnet/publico/exibirDocumento?id=971924 · Observação: Conclusão documental revisada; preservar a versão e a unidade indicadas.</a:t>
            </a:r>
          </a:p>
          <a:p>
            <a:r>
              <a:t>CNPJ 62310468000130 · Elegibilidade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Elegibilidade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Elegibilidade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Concentração · TVM ≤ 3% do PL; CDB/RDB do endossante ≤ R$ 25 mi; limites privados no contrato · Fundos.NET ID 1051393 · 09/10/2025 · Regulamento · p. 11-12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Concentração · Por devedor ≤ R$ 100 mil; por empregador ≤ 3% do PL · Fundos.NET ID 982232 · 28/08/2025 · Regulamento · p. 7 · data/raw/58458416000138/982232_documentary_review.pdf · https://fnet.bmfbovespa.com.br/fnet/publico/exibirDocumento?id=982232 · Observação: Conclusão documental revisada; preservar a versão e a unidade indicadas.</a:t>
            </a:r>
          </a:p>
          <a:p>
            <a:r>
              <a:t>CNPJ 53179862000190 · Concentração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Concentração · Por devedor R$ 85 mil; até R$ 150 mil para faixa etária ≤ 60a11m29d e bloco ≤ 5% dos DC · Fundos.NET ID 846588 · 21/02/2025 · Regulamento · p. 10 · data/raw/40752367000186/846588_documentary_review.pdf · https://fnet.bmfbovespa.com.br/fnet/publico/exibirDocumento?id=846588 · Observação: Exceção exige simultaneamente idade e concentração agregada do bloco acima R$ 85 mil.</a:t>
            </a:r>
          </a:p>
          <a:p>
            <a:r>
              <a:t>CNPJ 44173467000109 · Concentração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Concentração · Devedor &gt; 61 anos até R$ 60 mil; ≤ 61 anos até R$ 120 mil; invalidez ≤ 20% do PL · Fundos.NET ID 956736 · 28/07/2025 · Regulamento · p. 10-11 · data/raw/51290497000160/956736_documentary_review.pdf · https://fnet.bmfbovespa.com.br/fnet/publico/exibirDocumento?id=956736 · Observação: Demais bandas de idade e critérios mantidos no regulamento, sem consolidação indevida.</a:t>
            </a:r>
          </a:p>
          <a:p>
            <a:r>
              <a:t>CNPJ 62010175000137 · Concentração · Top 5/10/15/20/50/100: R$ 0,6/1/1,5/2/5/10 mi · Fundos.NET ID 971924 · 13/08/2025 · Regulamento · p. 14 · data/raw/62010175000137/971924_documentary_review.pdf · https://fnet.bmfbovespa.com.br/fnet/publico/exibirDocumento?id=971924 · Observação: Bloco de devedores &gt;71 anos ≤5% da carteira pelo valor de aquisição.</a:t>
            </a:r>
          </a:p>
          <a:p>
            <a:r>
              <a:t>CNPJ 62310468000130 · Concentração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Concentração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Concentração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2026-10-07T14:59:40-03:00</a:t>
            </a:r>
          </a:p>
          <a:p>
            <a:r>
              <a:t>MT Consignado Privado I: CNPJ 60010416000112</a:t>
            </a:r>
          </a:p>
          <a:p>
            <a:r>
              <a:t>MT Consignado Privado II: CNPJ 58458416000138</a:t>
            </a:r>
          </a:p>
          <a:p>
            <a:r>
              <a:t>FGTS MT II: CNPJ 53179862000190</a:t>
            </a:r>
          </a:p>
          <a:p>
            <a:r>
              <a:t>MT INSS Receivables II: CNPJ 40752367000186</a:t>
            </a:r>
          </a:p>
          <a:p>
            <a:r>
              <a:t>MT INSS Receivables III: CNPJ 44173467000109</a:t>
            </a:r>
          </a:p>
          <a:p>
            <a:r>
              <a:t>MT INSS Receivables V: CNPJ 51290497000160</a:t>
            </a:r>
          </a:p>
          <a:p>
            <a:r>
              <a:t>MT FGTS Receivables IV: CNPJ 62010175000137</a:t>
            </a:r>
          </a:p>
          <a:p>
            <a:r>
              <a:t>MT INSS Receivables VI: CNPJ 62310468000130</a:t>
            </a:r>
          </a:p>
          <a:p>
            <a:r>
              <a:t>MT FGTS Receivables II: CNPJ 54464892000100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60010416000112 · Natureza dos recebíveis · CCBs eletrônicas de consignado privado pela Plataforma MT; TVM elegíveis limitados · Fundos.NET ID 1051393 · 09/10/2025 · Regulamento · p. 9-11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Natureza dos recebíveis · CCBs de consignado privado pela Plataforma MT · Fundos.NET ID 982232 · 28/08/2025 · Regulamento · p. 7-9 · data/raw/58458416000138/982232_documentary_review.pdf · https://fnet.bmfbovespa.com.br/fnet/publico/exibirDocumento?id=982232 · Observação: Conclusão documental revisada; preservar a versão e a unidade indicadas.</a:t>
            </a:r>
          </a:p>
          <a:p>
            <a:r>
              <a:t>CNPJ 53179862000190 · Natureza dos recebíveis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Natureza dos recebíveis · CCBs de consignado INSS pela Plataforma MT; TVM elegíveis de conglomerados S1 · Fundos.NET ID 846588 · 21/02/2025 · Regulamento · p. 9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Natureza dos recebíveis · CCBs de consignado INSS pela Plataforma MT · Fundos.NET ID 791513 · 28/11/2024 · Regulamento · p. 10-13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51290497000160 · Natureza dos recebíveis · CCBs de consignado INSS pela Plataforma MT · Fundos.NET ID 956736 · 28/07/2025 · Regulamento · p. 9-11, 60 · data/raw/51290497000160/956736_documentary_review.pdf · https://fnet.bmfbovespa.com.br/fnet/publico/exibirDocumento?id=956736 · Observação: Conclusão documental revisada; preservar a versão e a unidade indicadas.</a:t>
            </a:r>
          </a:p>
          <a:p>
            <a:r>
              <a:t>CNPJ 62010175000137 · Natureza dos recebíveis · CCBs de antecipação de saque-aniversário FGTS · Fundos.NET ID 971924 · 13/08/2025 · Regulamento · p. 12-15 · data/raw/62010175000137/971924_documentary_review.pdf · https://fnet.bmfbovespa.com.br/fnet/publico/exibirDocumento?id=971924 · Observação: Conclusão documental revisada; preservar a versão e a unidade indicadas.</a:t>
            </a:r>
          </a:p>
          <a:p>
            <a:r>
              <a:t>CNPJ 62310468000130 · Natureza dos recebíveis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Natureza dos recebíveis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Natureza dos recebíveis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Originador/endossante · Parati CFI; Plataforma MT/Tudo Serviços no processamento e cobrança · Fundos.NET ID 1051393 · 09/10/2025 · Regulamento · p. 41-43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Originador/endossante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Originador/endossante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Originador/endossante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Originador/endossante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Originador/endossante · Parati; QI Tech; outras IFs aprovadas e conveniadas INSS · Fundos.NET ID 956736 · 28/07/2025 · Regulamento · p. 60 · data/raw/51290497000160/956736_documentary_review.pdf · https://fnet.bmfbovespa.com.br/fnet/publico/exibirDocumento?id=956736 · Observação: Conclusão documental revisada; preservar a versão e a unidade indicadas.</a:t>
            </a:r>
          </a:p>
          <a:p>
            <a:r>
              <a:t>CNPJ 62010175000137 · Originador/endossante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Originador/endossante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Originador/endossante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Originador/endossante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Devedor · Pessoa física com consignação averbada na Dataprev · Fundos.NET ID 1051393 · 09/10/2025 · Regulamento · p. 9-10, 42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Devedor · Pessoa física com averbação privada; idade ≤ 64a11m29d · Fundos.NET ID 982232 · 28/08/2025 · Regulamento · p. 7 · data/raw/58458416000138/982232_documentary_review.pdf · https://fnet.bmfbovespa.com.br/fnet/publico/exibirDocumento?id=982232 · Observação: Conclusão documental revisada; preservar a versão e a unidade indicadas.</a:t>
            </a:r>
          </a:p>
          <a:p>
            <a:r>
              <a:t>CNPJ 53179862000190 · Devedor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Devedor · Beneficiários/pensionistas INSS; devedor do TVM conforme instrumento · Fundos.NET ID 846588 · 21/02/2025 · Regulamento · p. 9-10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Devedor · Beneficiários e pensionistas INSS · Fundos.NET ID 791513 · 28/11/2024 · Regulamento · p. 10-13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51290497000160 · Devedor · Beneficiário/pensionista INSS; idade final ≤ 76a11m29d, inválidos ≤ 72a11m29d · Fundos.NET ID 956736 · 28/07/2025 · Regulamento · p. 10-11 · data/raw/51290497000160/956736_documentary_review.pdf · https://fnet.bmfbovespa.com.br/fnet/publico/exibirDocumento?id=956736 · Observação: Conclusão documental revisada; preservar a versão e a unidade indicadas.</a:t>
            </a:r>
          </a:p>
          <a:p>
            <a:r>
              <a:t>CNPJ 62010175000137 · Devedor · Pessoa física titular FGTS, ≥ 18 anos; devedores &gt; 71 anos limitados · Fundos.NET ID 971924 · 13/08/2025 · Regulamento · p. 14 · data/raw/62010175000137/971924_documentary_review.pdf · https://fnet.bmfbovespa.com.br/fnet/publico/exibirDocumento?id=971924 · Observação: Conclusão documental revisada; preservar a versão e a unidade indicadas.</a:t>
            </a:r>
          </a:p>
          <a:p>
            <a:r>
              <a:t>CNPJ 62310468000130 · Devedor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Devedor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Devedor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Garantia · Fluxo de consignação; garantias adicionais não demonstradas · Fundos.NET ID 1051393 · 09/10/2025 · Regulamento · p. 9-11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Garantia · Consignação averbada; garantias finais no contrato de endosso · Fundos.NET ID 982232 · 28/08/2025 · Regulamento · p. 7-9 · data/raw/58458416000138/982232_documentary_review.pdf · https://fnet.bmfbovespa.com.br/fnet/publico/exibirDocumento?id=982232 · Observação: Conclusão documental revisada; preservar a versão e a unidade indicadas.</a:t>
            </a:r>
          </a:p>
          <a:p>
            <a:r>
              <a:t>CNPJ 53179862000190 · Garantia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Garantia · Consignação INSS/Dataprev; garantias do TVM conforme instrumento · Fundos.NET ID 846588 · 21/02/2025 · Regulamento · p. 9-10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Garantia · Consignação de benefícios INSS/Dataprev · Fundos.NET ID 791513 · 28/11/2024 · Regulamento · p. 10-13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51290497000160 · Garantia · Consignação INSS/Dataprev; portabilidade e glosa sujeitas a defesa da carteira · Fundos.NET ID 956736 · 28/07/2025 · Regulamento · p. 9-11, 60 · data/raw/51290497000160/956736_documentary_review.pdf · https://fnet.bmfbovespa.com.br/fnet/publico/exibirDocumento?id=956736 · Observação: Conclusão documental revisada; preservar a versão e a unidade indicadas.</a:t>
            </a:r>
          </a:p>
          <a:p>
            <a:r>
              <a:t>CNPJ 62010175000137 · Garantia · Cessão fiduciária do saque-aniversário FGTS · Fundos.NET ID 971924 · 13/08/2025 · Regulamento · p. 12-15 · data/raw/62010175000137/971924_documentary_review.pdf · https://fnet.bmfbovespa.com.br/fnet/publico/exibirDocumento?id=971924 · Observação: Conclusão documental revisada; preservar a versão e a unidade indicadas.</a:t>
            </a:r>
          </a:p>
          <a:p>
            <a:r>
              <a:t>CNPJ 62310468000130 · Garantia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Garantia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Garantia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Elegibilidade · CCB prefixada; idade ≤ 64a11m29d; limite por devedor R$ 150 mil pela cl. 4.4.1 · Fundos.NET ID 1051393 · 09/10/2025 · Regulamento · p. 9-10 · data/raw/60010416000112/1051393_documentary_review.pdf · https://fnet.bmfbovespa.com.br/fnet/publico/exibirDocumento?id=1051393 · Observação: Cláusula 4.4(ii) conserva R$ 100 mil, enquanto 4.4.1 dispõe passagem a R$ 150 mil; aplicar também limites do contrato de endosso, não localizado.</a:t>
            </a:r>
          </a:p>
          <a:p>
            <a:r>
              <a:t>CNPJ 58458416000138 · Elegibilidade · CCB prefixada/adimplente; duration média ≤ 30 meses · Fundos.NET ID 982232 · 28/08/2025 · Regulamento · p. 7-8 · data/raw/58458416000138/982232_documentary_review.pdf · https://fnet.bmfbovespa.com.br/fnet/publico/exibirDocumento?id=982232 · Observação: Preço mínimo de compra e limites do endosso não integralmente obtidos.</a:t>
            </a:r>
          </a:p>
          <a:p>
            <a:r>
              <a:t>CNPJ 53179862000190 · Elegibilidade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Elegibilidade · CCB prefixada/adimplente; valor principal ≥ R$ 200; prazo conforme limite legal · Fundos.NET ID 846588 · 21/02/2025 · Regulamento · p. 10-11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Elegibilidade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Elegibilidade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Elegibilidade · CCB adimplente; prazo ≤ 4.415 dias e até vencimento sênior · Fundos.NET ID 971924 · 13/08/2025 · Regulamento · p. 14 · data/raw/62010175000137/971924_documentary_review.pdf · https://fnet.bmfbovespa.com.br/fnet/publico/exibirDocumento?id=971924 · Observação: Conclusão documental revisada; preservar a versão e a unidade indicadas.</a:t>
            </a:r>
          </a:p>
          <a:p>
            <a:r>
              <a:t>CNPJ 62310468000130 · Elegibilidade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Elegibilidade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Elegibilidade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Concentração · TVM ≤ 3% do PL; CDB/RDB do endossante ≤ R$ 25 mi; limites privados no contrato · Fundos.NET ID 1051393 · 09/10/2025 · Regulamento · p. 11-12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Concentração · Por devedor ≤ R$ 100 mil; por empregador ≤ 3% do PL · Fundos.NET ID 982232 · 28/08/2025 · Regulamento · p. 7 · data/raw/58458416000138/982232_documentary_review.pdf · https://fnet.bmfbovespa.com.br/fnet/publico/exibirDocumento?id=982232 · Observação: Conclusão documental revisada; preservar a versão e a unidade indicadas.</a:t>
            </a:r>
          </a:p>
          <a:p>
            <a:r>
              <a:t>CNPJ 53179862000190 · Concentração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Concentração · Por devedor R$ 85 mil; até R$ 150 mil para faixa etária ≤ 60a11m29d e bloco ≤ 5% dos DC · Fundos.NET ID 846588 · 21/02/2025 · Regulamento · p. 10 · data/raw/40752367000186/846588_documentary_review.pdf · https://fnet.bmfbovespa.com.br/fnet/publico/exibirDocumento?id=846588 · Observação: Exceção exige simultaneamente idade e concentração agregada do bloco acima R$ 85 mil.</a:t>
            </a:r>
          </a:p>
          <a:p>
            <a:r>
              <a:t>CNPJ 44173467000109 · Concentração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Concentração · Devedor &gt; 61 anos até R$ 60 mil; ≤ 61 anos até R$ 120 mil; invalidez ≤ 20% do PL · Fundos.NET ID 956736 · 28/07/2025 · Regulamento · p. 10-11 · data/raw/51290497000160/956736_documentary_review.pdf · https://fnet.bmfbovespa.com.br/fnet/publico/exibirDocumento?id=956736 · Observação: Demais bandas de idade e critérios mantidos no regulamento, sem consolidação indevida.</a:t>
            </a:r>
          </a:p>
          <a:p>
            <a:r>
              <a:t>CNPJ 62010175000137 · Concentração · Top 5/10/15/20/50/100: R$ 0,6/1/1,5/2/5/10 mi · Fundos.NET ID 971924 · 13/08/2025 · Regulamento · p. 14 · data/raw/62010175000137/971924_documentary_review.pdf · https://fnet.bmfbovespa.com.br/fnet/publico/exibirDocumento?id=971924 · Observação: Bloco de devedores &gt;71 anos ≤5% da carteira pelo valor de aquisição.</a:t>
            </a:r>
          </a:p>
          <a:p>
            <a:r>
              <a:t>CNPJ 62310468000130 · Concentração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Concentração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Concentração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2026-10-07T14:59:40-03:00</a:t>
            </a:r>
          </a:p>
          <a:p>
            <a:r>
              <a:t>MT Consignado Privado I: CNPJ 60010416000112</a:t>
            </a:r>
          </a:p>
          <a:p>
            <a:r>
              <a:t>MT Consignado Privado II: CNPJ 58458416000138</a:t>
            </a:r>
          </a:p>
          <a:p>
            <a:r>
              <a:t>FGTS MT II: CNPJ 53179862000190</a:t>
            </a:r>
          </a:p>
          <a:p>
            <a:r>
              <a:t>MT INSS Receivables II: CNPJ 40752367000186</a:t>
            </a:r>
          </a:p>
          <a:p>
            <a:r>
              <a:t>MT INSS Receivables III: CNPJ 44173467000109</a:t>
            </a:r>
          </a:p>
          <a:p>
            <a:r>
              <a:t>MT INSS Receivables V: CNPJ 51290497000160</a:t>
            </a:r>
          </a:p>
          <a:p>
            <a:r>
              <a:t>MT FGTS Receivables IV: CNPJ 62010175000137</a:t>
            </a:r>
          </a:p>
          <a:p>
            <a:r>
              <a:t>MT INSS Receivables VI: CNPJ 62310468000130</a:t>
            </a:r>
          </a:p>
          <a:p>
            <a:r>
              <a:t>MT FGTS Receivables II: CNPJ 54464892000100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60010416000112 · Natureza dos recebíveis · CCBs eletrônicas de consignado privado pela Plataforma MT; TVM elegíveis limitados · Fundos.NET ID 1051393 · 09/10/2025 · Regulamento · p. 9-11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Natureza dos recebíveis · CCBs de consignado privado pela Plataforma MT · Fundos.NET ID 982232 · 28/08/2025 · Regulamento · p. 7-9 · data/raw/58458416000138/982232_documentary_review.pdf · https://fnet.bmfbovespa.com.br/fnet/publico/exibirDocumento?id=982232 · Observação: Conclusão documental revisada; preservar a versão e a unidade indicadas.</a:t>
            </a:r>
          </a:p>
          <a:p>
            <a:r>
              <a:t>CNPJ 53179862000190 · Natureza dos recebíveis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Natureza dos recebíveis · CCBs de consignado INSS pela Plataforma MT; TVM elegíveis de conglomerados S1 · Fundos.NET ID 846588 · 21/02/2025 · Regulamento · p. 9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Natureza dos recebíveis · CCBs de consignado INSS pela Plataforma MT · Fundos.NET ID 791513 · 28/11/2024 · Regulamento · p. 10-13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51290497000160 · Natureza dos recebíveis · CCBs de consignado INSS pela Plataforma MT · Fundos.NET ID 956736 · 28/07/2025 · Regulamento · p. 9-11, 60 · data/raw/51290497000160/956736_documentary_review.pdf · https://fnet.bmfbovespa.com.br/fnet/publico/exibirDocumento?id=956736 · Observação: Conclusão documental revisada; preservar a versão e a unidade indicadas.</a:t>
            </a:r>
          </a:p>
          <a:p>
            <a:r>
              <a:t>CNPJ 62010175000137 · Natureza dos recebíveis · CCBs de antecipação de saque-aniversário FGTS · Fundos.NET ID 971924 · 13/08/2025 · Regulamento · p. 12-15 · data/raw/62010175000137/971924_documentary_review.pdf · https://fnet.bmfbovespa.com.br/fnet/publico/exibirDocumento?id=971924 · Observação: Conclusão documental revisada; preservar a versão e a unidade indicadas.</a:t>
            </a:r>
          </a:p>
          <a:p>
            <a:r>
              <a:t>CNPJ 62310468000130 · Natureza dos recebíveis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Natureza dos recebíveis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Natureza dos recebíveis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Originador/endossante · Parati CFI; Plataforma MT/Tudo Serviços no processamento e cobrança · Fundos.NET ID 1051393 · 09/10/2025 · Regulamento · p. 41-43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Originador/endossante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Originador/endossante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Originador/endossante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Originador/endossante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Originador/endossante · Parati; QI Tech; outras IFs aprovadas e conveniadas INSS · Fundos.NET ID 956736 · 28/07/2025 · Regulamento · p. 60 · data/raw/51290497000160/956736_documentary_review.pdf · https://fnet.bmfbovespa.com.br/fnet/publico/exibirDocumento?id=956736 · Observação: Conclusão documental revisada; preservar a versão e a unidade indicadas.</a:t>
            </a:r>
          </a:p>
          <a:p>
            <a:r>
              <a:t>CNPJ 62010175000137 · Originador/endossante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Originador/endossante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Originador/endossante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Originador/endossante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Devedor · Pessoa física com consignação averbada na Dataprev · Fundos.NET ID 1051393 · 09/10/2025 · Regulamento · p. 9-10, 42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Devedor · Pessoa física com averbação privada; idade ≤ 64a11m29d · Fundos.NET ID 982232 · 28/08/2025 · Regulamento · p. 7 · data/raw/58458416000138/982232_documentary_review.pdf · https://fnet.bmfbovespa.com.br/fnet/publico/exibirDocumento?id=982232 · Observação: Conclusão documental revisada; preservar a versão e a unidade indicadas.</a:t>
            </a:r>
          </a:p>
          <a:p>
            <a:r>
              <a:t>CNPJ 53179862000190 · Devedor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Devedor · Beneficiários/pensionistas INSS; devedor do TVM conforme instrumento · Fundos.NET ID 846588 · 21/02/2025 · Regulamento · p. 9-10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Devedor · Beneficiários e pensionistas INSS · Fundos.NET ID 791513 · 28/11/2024 · Regulamento · p. 10-13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51290497000160 · Devedor · Beneficiário/pensionista INSS; idade final ≤ 76a11m29d, inválidos ≤ 72a11m29d · Fundos.NET ID 956736 · 28/07/2025 · Regulamento · p. 10-11 · data/raw/51290497000160/956736_documentary_review.pdf · https://fnet.bmfbovespa.com.br/fnet/publico/exibirDocumento?id=956736 · Observação: Conclusão documental revisada; preservar a versão e a unidade indicadas.</a:t>
            </a:r>
          </a:p>
          <a:p>
            <a:r>
              <a:t>CNPJ 62010175000137 · Devedor · Pessoa física titular FGTS, ≥ 18 anos; devedores &gt; 71 anos limitados · Fundos.NET ID 971924 · 13/08/2025 · Regulamento · p. 14 · data/raw/62010175000137/971924_documentary_review.pdf · https://fnet.bmfbovespa.com.br/fnet/publico/exibirDocumento?id=971924 · Observação: Conclusão documental revisada; preservar a versão e a unidade indicadas.</a:t>
            </a:r>
          </a:p>
          <a:p>
            <a:r>
              <a:t>CNPJ 62310468000130 · Devedor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Devedor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Devedor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Garantia · Fluxo de consignação; garantias adicionais não demonstradas · Fundos.NET ID 1051393 · 09/10/2025 · Regulamento · p. 9-11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Garantia · Consignação averbada; garantias finais no contrato de endosso · Fundos.NET ID 982232 · 28/08/2025 · Regulamento · p. 7-9 · data/raw/58458416000138/982232_documentary_review.pdf · https://fnet.bmfbovespa.com.br/fnet/publico/exibirDocumento?id=982232 · Observação: Conclusão documental revisada; preservar a versão e a unidade indicadas.</a:t>
            </a:r>
          </a:p>
          <a:p>
            <a:r>
              <a:t>CNPJ 53179862000190 · Garantia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Garantia · Consignação INSS/Dataprev; garantias do TVM conforme instrumento · Fundos.NET ID 846588 · 21/02/2025 · Regulamento · p. 9-10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Garantia · Consignação de benefícios INSS/Dataprev · Fundos.NET ID 791513 · 28/11/2024 · Regulamento · p. 10-13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51290497000160 · Garantia · Consignação INSS/Dataprev; portabilidade e glosa sujeitas a defesa da carteira · Fundos.NET ID 956736 · 28/07/2025 · Regulamento · p. 9-11, 60 · data/raw/51290497000160/956736_documentary_review.pdf · https://fnet.bmfbovespa.com.br/fnet/publico/exibirDocumento?id=956736 · Observação: Conclusão documental revisada; preservar a versão e a unidade indicadas.</a:t>
            </a:r>
          </a:p>
          <a:p>
            <a:r>
              <a:t>CNPJ 62010175000137 · Garantia · Cessão fiduciária do saque-aniversário FGTS · Fundos.NET ID 971924 · 13/08/2025 · Regulamento · p. 12-15 · data/raw/62010175000137/971924_documentary_review.pdf · https://fnet.bmfbovespa.com.br/fnet/publico/exibirDocumento?id=971924 · Observação: Conclusão documental revisada; preservar a versão e a unidade indicadas.</a:t>
            </a:r>
          </a:p>
          <a:p>
            <a:r>
              <a:t>CNPJ 62310468000130 · Garantia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Garantia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Garantia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Elegibilidade · CCB prefixada; idade ≤ 64a11m29d; limite por devedor R$ 150 mil pela cl. 4.4.1 · Fundos.NET ID 1051393 · 09/10/2025 · Regulamento · p. 9-10 · data/raw/60010416000112/1051393_documentary_review.pdf · https://fnet.bmfbovespa.com.br/fnet/publico/exibirDocumento?id=1051393 · Observação: Cláusula 4.4(ii) conserva R$ 100 mil, enquanto 4.4.1 dispõe passagem a R$ 150 mil; aplicar também limites do contrato de endosso, não localizado.</a:t>
            </a:r>
          </a:p>
          <a:p>
            <a:r>
              <a:t>CNPJ 58458416000138 · Elegibilidade · CCB prefixada/adimplente; duration média ≤ 30 meses · Fundos.NET ID 982232 · 28/08/2025 · Regulamento · p. 7-8 · data/raw/58458416000138/982232_documentary_review.pdf · https://fnet.bmfbovespa.com.br/fnet/publico/exibirDocumento?id=982232 · Observação: Preço mínimo de compra e limites do endosso não integralmente obtidos.</a:t>
            </a:r>
          </a:p>
          <a:p>
            <a:r>
              <a:t>CNPJ 53179862000190 · Elegibilidade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Elegibilidade · CCB prefixada/adimplente; valor principal ≥ R$ 200; prazo conforme limite legal · Fundos.NET ID 846588 · 21/02/2025 · Regulamento · p. 10-11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Elegibilidade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Elegibilidade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Elegibilidade · CCB adimplente; prazo ≤ 4.415 dias e até vencimento sênior · Fundos.NET ID 971924 · 13/08/2025 · Regulamento · p. 14 · data/raw/62010175000137/971924_documentary_review.pdf · https://fnet.bmfbovespa.com.br/fnet/publico/exibirDocumento?id=971924 · Observação: Conclusão documental revisada; preservar a versão e a unidade indicadas.</a:t>
            </a:r>
          </a:p>
          <a:p>
            <a:r>
              <a:t>CNPJ 62310468000130 · Elegibilidade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Elegibilidade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Elegibilidade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Concentração · TVM ≤ 3% do PL; CDB/RDB do endossante ≤ R$ 25 mi; limites privados no contrato · Fundos.NET ID 1051393 · 09/10/2025 · Regulamento · p. 11-12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Concentração · Por devedor ≤ R$ 100 mil; por empregador ≤ 3% do PL · Fundos.NET ID 982232 · 28/08/2025 · Regulamento · p. 7 · data/raw/58458416000138/982232_documentary_review.pdf · https://fnet.bmfbovespa.com.br/fnet/publico/exibirDocumento?id=982232 · Observação: Conclusão documental revisada; preservar a versão e a unidade indicadas.</a:t>
            </a:r>
          </a:p>
          <a:p>
            <a:r>
              <a:t>CNPJ 53179862000190 · Concentração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Concentração · Por devedor R$ 85 mil; até R$ 150 mil para faixa etária ≤ 60a11m29d e bloco ≤ 5% dos DC · Fundos.NET ID 846588 · 21/02/2025 · Regulamento · p. 10 · data/raw/40752367000186/846588_documentary_review.pdf · https://fnet.bmfbovespa.com.br/fnet/publico/exibirDocumento?id=846588 · Observação: Exceção exige simultaneamente idade e concentração agregada do bloco acima R$ 85 mil.</a:t>
            </a:r>
          </a:p>
          <a:p>
            <a:r>
              <a:t>CNPJ 44173467000109 · Concentração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Concentração · Devedor &gt; 61 anos até R$ 60 mil; ≤ 61 anos até R$ 120 mil; invalidez ≤ 20% do PL · Fundos.NET ID 956736 · 28/07/2025 · Regulamento · p. 10-11 · data/raw/51290497000160/956736_documentary_review.pdf · https://fnet.bmfbovespa.com.br/fnet/publico/exibirDocumento?id=956736 · Observação: Demais bandas de idade e critérios mantidos no regulamento, sem consolidação indevida.</a:t>
            </a:r>
          </a:p>
          <a:p>
            <a:r>
              <a:t>CNPJ 62010175000137 · Concentração · Top 5/10/15/20/50/100: R$ 0,6/1/1,5/2/5/10 mi · Fundos.NET ID 971924 · 13/08/2025 · Regulamento · p. 14 · data/raw/62010175000137/971924_documentary_review.pdf · https://fnet.bmfbovespa.com.br/fnet/publico/exibirDocumento?id=971924 · Observação: Bloco de devedores &gt;71 anos ≤5% da carteira pelo valor de aquisição.</a:t>
            </a:r>
          </a:p>
          <a:p>
            <a:r>
              <a:t>CNPJ 62310468000130 · Concentração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Concentração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Concentração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2026-10-07T14:59:40-03:00</a:t>
            </a:r>
          </a:p>
          <a:p>
            <a:r>
              <a:t>MT Consignado Privado I: CNPJ 60010416000112</a:t>
            </a:r>
          </a:p>
          <a:p>
            <a:r>
              <a:t>MT Consignado Privado II: CNPJ 58458416000138</a:t>
            </a:r>
          </a:p>
          <a:p>
            <a:r>
              <a:t>FGTS MT II: CNPJ 53179862000190</a:t>
            </a:r>
          </a:p>
          <a:p>
            <a:r>
              <a:t>MT INSS Receivables II: CNPJ 40752367000186</a:t>
            </a:r>
          </a:p>
          <a:p>
            <a:r>
              <a:t>MT INSS Receivables III: CNPJ 44173467000109</a:t>
            </a:r>
          </a:p>
          <a:p>
            <a:r>
              <a:t>MT INSS Receivables V: CNPJ 51290497000160</a:t>
            </a:r>
          </a:p>
          <a:p>
            <a:r>
              <a:t>MT FGTS Receivables IV: CNPJ 62010175000137</a:t>
            </a:r>
          </a:p>
          <a:p>
            <a:r>
              <a:t>MT INSS Receivables VI: CNPJ 62310468000130</a:t>
            </a:r>
          </a:p>
          <a:p>
            <a:r>
              <a:t>MT FGTS Receivables II: CNPJ 54464892000100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60010416000112 · Natureza dos recebíveis · CCBs eletrônicas de consignado privado pela Plataforma MT; TVM elegíveis limitados · Fundos.NET ID 1051393 · 09/10/2025 · Regulamento · p. 9-11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Natureza dos recebíveis · CCBs de consignado privado pela Plataforma MT · Fundos.NET ID 982232 · 28/08/2025 · Regulamento · p. 7-9 · data/raw/58458416000138/982232_documentary_review.pdf · https://fnet.bmfbovespa.com.br/fnet/publico/exibirDocumento?id=982232 · Observação: Conclusão documental revisada; preservar a versão e a unidade indicadas.</a:t>
            </a:r>
          </a:p>
          <a:p>
            <a:r>
              <a:t>CNPJ 53179862000190 · Natureza dos recebíveis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Natureza dos recebíveis · CCBs de consignado INSS pela Plataforma MT; TVM elegíveis de conglomerados S1 · Fundos.NET ID 846588 · 21/02/2025 · Regulamento · p. 9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Natureza dos recebíveis · CCBs de consignado INSS pela Plataforma MT · Fundos.NET ID 791513 · 28/11/2024 · Regulamento · p. 10-13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51290497000160 · Natureza dos recebíveis · CCBs de consignado INSS pela Plataforma MT · Fundos.NET ID 956736 · 28/07/2025 · Regulamento · p. 9-11, 60 · data/raw/51290497000160/956736_documentary_review.pdf · https://fnet.bmfbovespa.com.br/fnet/publico/exibirDocumento?id=956736 · Observação: Conclusão documental revisada; preservar a versão e a unidade indicadas.</a:t>
            </a:r>
          </a:p>
          <a:p>
            <a:r>
              <a:t>CNPJ 62010175000137 · Natureza dos recebíveis · CCBs de antecipação de saque-aniversário FGTS · Fundos.NET ID 971924 · 13/08/2025 · Regulamento · p. 12-15 · data/raw/62010175000137/971924_documentary_review.pdf · https://fnet.bmfbovespa.com.br/fnet/publico/exibirDocumento?id=971924 · Observação: Conclusão documental revisada; preservar a versão e a unidade indicadas.</a:t>
            </a:r>
          </a:p>
          <a:p>
            <a:r>
              <a:t>CNPJ 62310468000130 · Natureza dos recebíveis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Natureza dos recebíveis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Natureza dos recebíveis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Originador/endossante · Parati CFI; Plataforma MT/Tudo Serviços no processamento e cobrança · Fundos.NET ID 1051393 · 09/10/2025 · Regulamento · p. 41-43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Originador/endossante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Originador/endossante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Originador/endossante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Originador/endossante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Originador/endossante · Parati; QI Tech; outras IFs aprovadas e conveniadas INSS · Fundos.NET ID 956736 · 28/07/2025 · Regulamento · p. 60 · data/raw/51290497000160/956736_documentary_review.pdf · https://fnet.bmfbovespa.com.br/fnet/publico/exibirDocumento?id=956736 · Observação: Conclusão documental revisada; preservar a versão e a unidade indicadas.</a:t>
            </a:r>
          </a:p>
          <a:p>
            <a:r>
              <a:t>CNPJ 62010175000137 · Originador/endossante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Originador/endossante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Originador/endossante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Originador/endossante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Devedor · Pessoa física com consignação averbada na Dataprev · Fundos.NET ID 1051393 · 09/10/2025 · Regulamento · p. 9-10, 42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Devedor · Pessoa física com averbação privada; idade ≤ 64a11m29d · Fundos.NET ID 982232 · 28/08/2025 · Regulamento · p. 7 · data/raw/58458416000138/982232_documentary_review.pdf · https://fnet.bmfbovespa.com.br/fnet/publico/exibirDocumento?id=982232 · Observação: Conclusão documental revisada; preservar a versão e a unidade indicadas.</a:t>
            </a:r>
          </a:p>
          <a:p>
            <a:r>
              <a:t>CNPJ 53179862000190 · Devedor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Devedor · Beneficiários/pensionistas INSS; devedor do TVM conforme instrumento · Fundos.NET ID 846588 · 21/02/2025 · Regulamento · p. 9-10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Devedor · Beneficiários e pensionistas INSS · Fundos.NET ID 791513 · 28/11/2024 · Regulamento · p. 10-13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51290497000160 · Devedor · Beneficiário/pensionista INSS; idade final ≤ 76a11m29d, inválidos ≤ 72a11m29d · Fundos.NET ID 956736 · 28/07/2025 · Regulamento · p. 10-11 · data/raw/51290497000160/956736_documentary_review.pdf · https://fnet.bmfbovespa.com.br/fnet/publico/exibirDocumento?id=956736 · Observação: Conclusão documental revisada; preservar a versão e a unidade indicadas.</a:t>
            </a:r>
          </a:p>
          <a:p>
            <a:r>
              <a:t>CNPJ 62010175000137 · Devedor · Pessoa física titular FGTS, ≥ 18 anos; devedores &gt; 71 anos limitados · Fundos.NET ID 971924 · 13/08/2025 · Regulamento · p. 14 · data/raw/62010175000137/971924_documentary_review.pdf · https://fnet.bmfbovespa.com.br/fnet/publico/exibirDocumento?id=971924 · Observação: Conclusão documental revisada; preservar a versão e a unidade indicadas.</a:t>
            </a:r>
          </a:p>
          <a:p>
            <a:r>
              <a:t>CNPJ 62310468000130 · Devedor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Devedor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Devedor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Garantia · Fluxo de consignação; garantias adicionais não demonstradas · Fundos.NET ID 1051393 · 09/10/2025 · Regulamento · p. 9-11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Garantia · Consignação averbada; garantias finais no contrato de endosso · Fundos.NET ID 982232 · 28/08/2025 · Regulamento · p. 7-9 · data/raw/58458416000138/982232_documentary_review.pdf · https://fnet.bmfbovespa.com.br/fnet/publico/exibirDocumento?id=982232 · Observação: Conclusão documental revisada; preservar a versão e a unidade indicadas.</a:t>
            </a:r>
          </a:p>
          <a:p>
            <a:r>
              <a:t>CNPJ 53179862000190 · Garantia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Garantia · Consignação INSS/Dataprev; garantias do TVM conforme instrumento · Fundos.NET ID 846588 · 21/02/2025 · Regulamento · p. 9-10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Garantia · Consignação de benefícios INSS/Dataprev · Fundos.NET ID 791513 · 28/11/2024 · Regulamento · p. 10-13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51290497000160 · Garantia · Consignação INSS/Dataprev; portabilidade e glosa sujeitas a defesa da carteira · Fundos.NET ID 956736 · 28/07/2025 · Regulamento · p. 9-11, 60 · data/raw/51290497000160/956736_documentary_review.pdf · https://fnet.bmfbovespa.com.br/fnet/publico/exibirDocumento?id=956736 · Observação: Conclusão documental revisada; preservar a versão e a unidade indicadas.</a:t>
            </a:r>
          </a:p>
          <a:p>
            <a:r>
              <a:t>CNPJ 62010175000137 · Garantia · Cessão fiduciária do saque-aniversário FGTS · Fundos.NET ID 971924 · 13/08/2025 · Regulamento · p. 12-15 · data/raw/62010175000137/971924_documentary_review.pdf · https://fnet.bmfbovespa.com.br/fnet/publico/exibirDocumento?id=971924 · Observação: Conclusão documental revisada; preservar a versão e a unidade indicadas.</a:t>
            </a:r>
          </a:p>
          <a:p>
            <a:r>
              <a:t>CNPJ 62310468000130 · Garantia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Garantia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Garantia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Elegibilidade · CCB prefixada; idade ≤ 64a11m29d; limite por devedor R$ 150 mil pela cl. 4.4.1 · Fundos.NET ID 1051393 · 09/10/2025 · Regulamento · p. 9-10 · data/raw/60010416000112/1051393_documentary_review.pdf · https://fnet.bmfbovespa.com.br/fnet/publico/exibirDocumento?id=1051393 · Observação: Cláusula 4.4(ii) conserva R$ 100 mil, enquanto 4.4.1 dispõe passagem a R$ 150 mil; aplicar também limites do contrato de endosso, não localizado.</a:t>
            </a:r>
          </a:p>
          <a:p>
            <a:r>
              <a:t>CNPJ 58458416000138 · Elegibilidade · CCB prefixada/adimplente; duration média ≤ 30 meses · Fundos.NET ID 982232 · 28/08/2025 · Regulamento · p. 7-8 · data/raw/58458416000138/982232_documentary_review.pdf · https://fnet.bmfbovespa.com.br/fnet/publico/exibirDocumento?id=982232 · Observação: Preço mínimo de compra e limites do endosso não integralmente obtidos.</a:t>
            </a:r>
          </a:p>
          <a:p>
            <a:r>
              <a:t>CNPJ 53179862000190 · Elegibilidade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Elegibilidade · CCB prefixada/adimplente; valor principal ≥ R$ 200; prazo conforme limite legal · Fundos.NET ID 846588 · 21/02/2025 · Regulamento · p. 10-11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Elegibilidade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Elegibilidade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Elegibilidade · CCB adimplente; prazo ≤ 4.415 dias e até vencimento sênior · Fundos.NET ID 971924 · 13/08/2025 · Regulamento · p. 14 · data/raw/62010175000137/971924_documentary_review.pdf · https://fnet.bmfbovespa.com.br/fnet/publico/exibirDocumento?id=971924 · Observação: Conclusão documental revisada; preservar a versão e a unidade indicadas.</a:t>
            </a:r>
          </a:p>
          <a:p>
            <a:r>
              <a:t>CNPJ 62310468000130 · Elegibilidade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Elegibilidade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Elegibilidade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Concentração · TVM ≤ 3% do PL; CDB/RDB do endossante ≤ R$ 25 mi; limites privados no contrato · Fundos.NET ID 1051393 · 09/10/2025 · Regulamento · p. 11-12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Concentração · Por devedor ≤ R$ 100 mil; por empregador ≤ 3% do PL · Fundos.NET ID 982232 · 28/08/2025 · Regulamento · p. 7 · data/raw/58458416000138/982232_documentary_review.pdf · https://fnet.bmfbovespa.com.br/fnet/publico/exibirDocumento?id=982232 · Observação: Conclusão documental revisada; preservar a versão e a unidade indicadas.</a:t>
            </a:r>
          </a:p>
          <a:p>
            <a:r>
              <a:t>CNPJ 53179862000190 · Concentração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Concentração · Por devedor R$ 85 mil; até R$ 150 mil para faixa etária ≤ 60a11m29d e bloco ≤ 5% dos DC · Fundos.NET ID 846588 · 21/02/2025 · Regulamento · p. 10 · data/raw/40752367000186/846588_documentary_review.pdf · https://fnet.bmfbovespa.com.br/fnet/publico/exibirDocumento?id=846588 · Observação: Exceção exige simultaneamente idade e concentração agregada do bloco acima R$ 85 mil.</a:t>
            </a:r>
          </a:p>
          <a:p>
            <a:r>
              <a:t>CNPJ 44173467000109 · Concentração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Concentração · Devedor &gt; 61 anos até R$ 60 mil; ≤ 61 anos até R$ 120 mil; invalidez ≤ 20% do PL · Fundos.NET ID 956736 · 28/07/2025 · Regulamento · p. 10-11 · data/raw/51290497000160/956736_documentary_review.pdf · https://fnet.bmfbovespa.com.br/fnet/publico/exibirDocumento?id=956736 · Observação: Demais bandas de idade e critérios mantidos no regulamento, sem consolidação indevida.</a:t>
            </a:r>
          </a:p>
          <a:p>
            <a:r>
              <a:t>CNPJ 62010175000137 · Concentração · Top 5/10/15/20/50/100: R$ 0,6/1/1,5/2/5/10 mi · Fundos.NET ID 971924 · 13/08/2025 · Regulamento · p. 14 · data/raw/62010175000137/971924_documentary_review.pdf · https://fnet.bmfbovespa.com.br/fnet/publico/exibirDocumento?id=971924 · Observação: Bloco de devedores &gt;71 anos ≤5% da carteira pelo valor de aquisição.</a:t>
            </a:r>
          </a:p>
          <a:p>
            <a:r>
              <a:t>CNPJ 62310468000130 · Concentração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Concentração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Concentração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2026-10-07T14:59:40-03:00</a:t>
            </a:r>
          </a:p>
          <a:p>
            <a:r>
              <a:t>MT Consignado Privado I: CNPJ 60010416000112</a:t>
            </a:r>
          </a:p>
          <a:p>
            <a:r>
              <a:t>MT Consignado Privado II: CNPJ 58458416000138</a:t>
            </a:r>
          </a:p>
          <a:p>
            <a:r>
              <a:t>FGTS MT II: CNPJ 53179862000190</a:t>
            </a:r>
          </a:p>
          <a:p>
            <a:r>
              <a:t>MT INSS Receivables II: CNPJ 40752367000186</a:t>
            </a:r>
          </a:p>
          <a:p>
            <a:r>
              <a:t>MT INSS Receivables III: CNPJ 44173467000109</a:t>
            </a:r>
          </a:p>
          <a:p>
            <a:r>
              <a:t>MT INSS Receivables V: CNPJ 51290497000160</a:t>
            </a:r>
          </a:p>
          <a:p>
            <a:r>
              <a:t>MT FGTS Receivables IV: CNPJ 62010175000137</a:t>
            </a:r>
          </a:p>
          <a:p>
            <a:r>
              <a:t>MT INSS Receivables VI: CNPJ 62310468000130</a:t>
            </a:r>
          </a:p>
          <a:p>
            <a:r>
              <a:t>MT FGTS Receivables II: CNPJ 54464892000100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60010416000112 · Subordinação mínima · Subordinadas/PL ≥ 5%, apuração diária · Fundos.NET ID 1051393 · 09/10/2025 · Regulamento · p. 45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Subordinação mínima · Mezanino + júnior/PL ≥ 30%; júnior/PL ≥ 10% · Fundos.NET ID 982232 · 28/08/2025 · Regulamento · p. 39 · data/raw/58458416000138/982232_documentary_review.pdf · https://fnet.bmfbovespa.com.br/fnet/publico/exibirDocumento?id=982232 · Observação: Regulamento acessível 28/08/2025; versão de 06/08/2026 não obtida.</a:t>
            </a:r>
          </a:p>
          <a:p>
            <a:r>
              <a:t>CNPJ 53179862000190 · Subordinação mínima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Subordinação mínima · Subclasse única, pari passu; sem prioridade/subordinação entre cotas · Fundos.NET ID 846588 · 21/02/2025 · Regulamento · p. 8, 14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Subordinação mínima · Subordinadas/PL ≥ 10%; júnior/patrimônio subordinado ≥ 10% · Fundos.NET ID 791513 · 28/11/2024 · Regulamento · p. 19 · data/raw/44173467000109/791513_documentary_review.pdf · https://fnet.bmfbovespa.com.br/fnet/publico/exibirDocumento?id=791513 · Observação: Segundo piso usa patrimônio subordinado, não PL total. Razão de garantia de 111,11% em cada nível.</a:t>
            </a:r>
          </a:p>
          <a:p>
            <a:r>
              <a:t>CNPJ 51290497000160 · Subordinação mínima · Mezanino + júnior/PL ≥ 10%; júnior/PL ≥ 1% · Fundos.NET ID 956736 · 28/07/2025 · Regulamento · p. 61 · data/raw/51290497000160/956736_documentary_review.pdf · https://fnet.bmfbovespa.com.br/fnet/publico/exibirDocumento?id=956736 · Observação: Conclusão documental revisada; preservar a versão e a unidade indicadas.</a:t>
            </a:r>
          </a:p>
          <a:p>
            <a:r>
              <a:t>CNPJ 62010175000137 · Subordinação mínima · Sênior 13,5% no investimento e 15% depois; júnior 3,5% e 5% do PL · Fundos.NET ID 971924 · 13/08/2025 · Regulamento · p. 74-75 · data/raw/62010175000137/971924_documentary_review.pdf · https://fnet.bmfbovespa.com.br/fnet/publico/exibirDocumento?id=971924 · Observação: Índices ajustados são 20% e 10%; não confundir com pisos ordinários. Waiver de até 1,5 pp nos seis primeiros meses não elimina cálculo.</a:t>
            </a:r>
          </a:p>
          <a:p>
            <a:r>
              <a:t>CNPJ 62310468000130 · Subordinação mínima · Subordinadas/PL ≥ 5%; júnior/PL ≥ 5%, desde 46º dia da 1ª integralização · Fundos.NET ID 985036 · 04/09/2025 · Atos de Deliberação do Administrador · p. 3 · data/raw/62310468000130/985036_documentary_review.pdf · https://fnet.bmfbovespa.com.br/fnet/publico/exibirDocumento?id=985036 · Observação: Fonte acessível de 04/09/2025; regulamento consolidado posterior não obtido. Não afirmar vigência integral dos pisos antigos.</a:t>
            </a:r>
          </a:p>
          <a:p>
            <a:r>
              <a:t>CNPJ 54464892000100 · Subordinação mínima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Subordinação mínima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Gatilhos de avaliação/liquidação · Subordinação desenquadrada por 10 DU; atraso no pagamento sênior não sanado em 2 DU · Fundos.NET ID 1051393 · 09/10/2025 · Regulamento · p. 19-22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Gatilhos de avaliação/liquidação · Perdas estoque &gt; 15% e rentabilidade júnior negativa em 2 verificações · Fundos.NET ID 982232 · 28/08/2025 · Regulamento · p. 17, 39 · data/raw/58458416000138/982232_documentary_review.pdf · https://fnet.bmfbovespa.com.br/fnet/publico/exibirDocumento?id=982232 · Observação: Critérios conjuntos. Índice usa arrasto das CCBs com parcela &gt; 90 dias/face adquirido; diferente de Over/Crédito.</a:t>
            </a:r>
          </a:p>
          <a:p>
            <a:r>
              <a:t>CNPJ 53179862000190 · Gatilhos de avaliação/liquidação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Gatilhos de avaliação/liquidação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Gatilhos de avaliação/liquidação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Gatilhos de avaliação/liquidação · Inadimplência cumulativa &gt; 7,82%; subordinação fora por &gt; 13 DU; rating cai 2 níveis · Fundos.NET ID 956736 · 28/07/2025 · Regulamento · p. 24, 61 · data/raw/51290497000160/956736_documentary_review.pdf · https://fnet.bmfbovespa.com.br/fnet/publico/exibirDocumento?id=956736 · Observação: Índice cumulativo usa face, arrasto de CCB, atraso 120 dias e óbito; numerador não sai por reinicialização.</a:t>
            </a:r>
          </a:p>
          <a:p>
            <a:r>
              <a:t>CNPJ 62010175000137 · Gatilhos de avaliação/liquidação · Arrecadação &lt; 95%; atraso Over 90 &gt; 1%; diluição &gt; 1%; falha repasse FGTS · Fundos.NET ID 971924 · 13/08/2025 · Regulamento · p. 35, 74 · data/raw/62010175000137/971924_documentary_review.pdf · https://fnet.bmfbovespa.com.br/fnet/publico/exibirDocumento?id=971924 · Observação: Atraso usa todas parcelas de CCB com atraso &gt;90/face carteira; IME Over tem conceito diverso.</a:t>
            </a:r>
          </a:p>
          <a:p>
            <a:r>
              <a:t>CNPJ 62310468000130 · Gatilhos de avaliação/liquidação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Gatilhos de avaliação/liquidação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Gatilhos de avaliação/liquidação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Reserva de caixa · Não localizado no corpus acessível · Corpus acessível CNPJ 60010416000112: ID 1051393 (09/10/2025), data/raw/60010416000112/1051393_documentary_review.pdf; ID 993786 (20/03/2025), data/raw/60010416000112/993786_documentary_review.pdf; ID 993785 (20/03/2025), data/raw/60010416000112/993785_documentary_review.pdf · Observação: Lacuna documental explícita; exige regulamento, anexo, suplemento ou contrato aplicável.</a:t>
            </a:r>
          </a:p>
          <a:p>
            <a:r>
              <a:t>CNPJ 58458416000138 · Reserva de caixa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Reserva de caixa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Reserva de caixa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Reserva de caixa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Reserva de caixa · Despesas 1% do PL + defesa da carteira 1% do PL · Fundos.NET ID 956736 · 28/07/2025 · Regulamento · p. 8 · data/raw/51290497000160/956736_documentary_review.pdf · https://fnet.bmfbovespa.com.br/fnet/publico/exibirDocumento?id=956736 · Observação: Conclusão documental revisada; preservar a versão e a unidade indicadas.</a:t>
            </a:r>
          </a:p>
          <a:p>
            <a:r>
              <a:t>CNPJ 62010175000137 · Reserva de caixa · Liquidez: 2 meses de despesas; derivativo: reserva do MTM líquido devedor · Fundos.NET ID 971924 · 13/08/2025 · Regulamento · p. 77 · data/raw/62010175000137/971924_documentary_review.pdf · https://fnet.bmfbovespa.com.br/fnet/publico/exibirDocumento?id=971924 · Observação: Reserva do derivativo depende de período contratual e evento; não impor percentual genérico de caixa.</a:t>
            </a:r>
          </a:p>
          <a:p>
            <a:r>
              <a:t>CNPJ 62310468000130 · Reserva de caixa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Reserva de caixa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Reserva de caixa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Derivativos/hedge · Proteção patrimonial ou troca de indexador sem exposição a risco de capital · Fundos.NET ID 1051393 · 09/10/2025 · Regulamento · p. 13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Derivativos/hedge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Derivativos/hedge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Derivativos/hedge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Derivativos/hedge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Derivativos/hedge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Derivativos/hedge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Derivativos/hedge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Derivativos/hedge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Derivativos/hedge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PDD · Não localizado no corpus acessível · Corpus acessível CNPJ 60010416000112: ID 1051393 (09/10/2025), data/raw/60010416000112/1051393_documentary_review.pdf; ID 993786 (20/03/2025), data/raw/60010416000112/993786_documentary_review.pdf; ID 993785 (20/03/2025), data/raw/60010416000112/993785_documentary_review.pdf · Observação: Lacuna documental explícita; exige regulamento, anexo, suplemento ou contrato aplicável.</a:t>
            </a:r>
          </a:p>
          <a:p>
            <a:r>
              <a:t>CNPJ 58458416000138 · PDD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PDD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PDD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PDD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PDD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PDD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PDD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PDD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PDD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2026-10-07T14:59:40-03:00</a:t>
            </a:r>
          </a:p>
          <a:p>
            <a:r>
              <a:t>MT Consignado Privado I: CNPJ 60010416000112</a:t>
            </a:r>
          </a:p>
          <a:p>
            <a:r>
              <a:t>MT Consignado Privado II: CNPJ 58458416000138</a:t>
            </a:r>
          </a:p>
          <a:p>
            <a:r>
              <a:t>FGTS MT II: CNPJ 53179862000190</a:t>
            </a:r>
          </a:p>
          <a:p>
            <a:r>
              <a:t>MT INSS Receivables II: CNPJ 40752367000186</a:t>
            </a:r>
          </a:p>
          <a:p>
            <a:r>
              <a:t>MT INSS Receivables III: CNPJ 44173467000109</a:t>
            </a:r>
          </a:p>
          <a:p>
            <a:r>
              <a:t>MT INSS Receivables V: CNPJ 51290497000160</a:t>
            </a:r>
          </a:p>
          <a:p>
            <a:r>
              <a:t>MT FGTS Receivables IV: CNPJ 62010175000137</a:t>
            </a:r>
          </a:p>
          <a:p>
            <a:r>
              <a:t>MT INSS Receivables VI: CNPJ 62310468000130</a:t>
            </a:r>
          </a:p>
          <a:p>
            <a:r>
              <a:t>MT FGTS Receivables II: CNPJ 54464892000100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60010416000112 · Subordinação mínima · Subordinadas/PL ≥ 5%, apuração diária · Fundos.NET ID 1051393 · 09/10/2025 · Regulamento · p. 45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Subordinação mínima · Mezanino + júnior/PL ≥ 30%; júnior/PL ≥ 10% · Fundos.NET ID 982232 · 28/08/2025 · Regulamento · p. 39 · data/raw/58458416000138/982232_documentary_review.pdf · https://fnet.bmfbovespa.com.br/fnet/publico/exibirDocumento?id=982232 · Observação: Regulamento acessível 28/08/2025; versão de 06/08/2026 não obtida.</a:t>
            </a:r>
          </a:p>
          <a:p>
            <a:r>
              <a:t>CNPJ 53179862000190 · Subordinação mínima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Subordinação mínima · Subclasse única, pari passu; sem prioridade/subordinação entre cotas · Fundos.NET ID 846588 · 21/02/2025 · Regulamento · p. 8, 14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Subordinação mínima · Subordinadas/PL ≥ 10%; júnior/patrimônio subordinado ≥ 10% · Fundos.NET ID 791513 · 28/11/2024 · Regulamento · p. 19 · data/raw/44173467000109/791513_documentary_review.pdf · https://fnet.bmfbovespa.com.br/fnet/publico/exibirDocumento?id=791513 · Observação: Segundo piso usa patrimônio subordinado, não PL total. Razão de garantia de 111,11% em cada nível.</a:t>
            </a:r>
          </a:p>
          <a:p>
            <a:r>
              <a:t>CNPJ 51290497000160 · Subordinação mínima · Mezanino + júnior/PL ≥ 10%; júnior/PL ≥ 1% · Fundos.NET ID 956736 · 28/07/2025 · Regulamento · p. 61 · data/raw/51290497000160/956736_documentary_review.pdf · https://fnet.bmfbovespa.com.br/fnet/publico/exibirDocumento?id=956736 · Observação: Conclusão documental revisada; preservar a versão e a unidade indicadas.</a:t>
            </a:r>
          </a:p>
          <a:p>
            <a:r>
              <a:t>CNPJ 62010175000137 · Subordinação mínima · Sênior 13,5% no investimento e 15% depois; júnior 3,5% e 5% do PL · Fundos.NET ID 971924 · 13/08/2025 · Regulamento · p. 74-75 · data/raw/62010175000137/971924_documentary_review.pdf · https://fnet.bmfbovespa.com.br/fnet/publico/exibirDocumento?id=971924 · Observação: Índices ajustados são 20% e 10%; não confundir com pisos ordinários. Waiver de até 1,5 pp nos seis primeiros meses não elimina cálculo.</a:t>
            </a:r>
          </a:p>
          <a:p>
            <a:r>
              <a:t>CNPJ 62310468000130 · Subordinação mínima · Subordinadas/PL ≥ 5%; júnior/PL ≥ 5%, desde 46º dia da 1ª integralização · Fundos.NET ID 985036 · 04/09/2025 · Atos de Deliberação do Administrador · p. 3 · data/raw/62310468000130/985036_documentary_review.pdf · https://fnet.bmfbovespa.com.br/fnet/publico/exibirDocumento?id=985036 · Observação: Fonte acessível de 04/09/2025; regulamento consolidado posterior não obtido. Não afirmar vigência integral dos pisos antigos.</a:t>
            </a:r>
          </a:p>
          <a:p>
            <a:r>
              <a:t>CNPJ 54464892000100 · Subordinação mínima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Subordinação mínima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Gatilhos de avaliação/liquidação · Subordinação desenquadrada por 10 DU; atraso no pagamento sênior não sanado em 2 DU · Fundos.NET ID 1051393 · 09/10/2025 · Regulamento · p. 19-22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Gatilhos de avaliação/liquidação · Perdas estoque &gt; 15% e rentabilidade júnior negativa em 2 verificações · Fundos.NET ID 982232 · 28/08/2025 · Regulamento · p. 17, 39 · data/raw/58458416000138/982232_documentary_review.pdf · https://fnet.bmfbovespa.com.br/fnet/publico/exibirDocumento?id=982232 · Observação: Critérios conjuntos. Índice usa arrasto das CCBs com parcela &gt; 90 dias/face adquirido; diferente de Over/Crédito.</a:t>
            </a:r>
          </a:p>
          <a:p>
            <a:r>
              <a:t>CNPJ 53179862000190 · Gatilhos de avaliação/liquidação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Gatilhos de avaliação/liquidação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Gatilhos de avaliação/liquidação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Gatilhos de avaliação/liquidação · Inadimplência cumulativa &gt; 7,82%; subordinação fora por &gt; 13 DU; rating cai 2 níveis · Fundos.NET ID 956736 · 28/07/2025 · Regulamento · p. 24, 61 · data/raw/51290497000160/956736_documentary_review.pdf · https://fnet.bmfbovespa.com.br/fnet/publico/exibirDocumento?id=956736 · Observação: Índice cumulativo usa face, arrasto de CCB, atraso 120 dias e óbito; numerador não sai por reinicialização.</a:t>
            </a:r>
          </a:p>
          <a:p>
            <a:r>
              <a:t>CNPJ 62010175000137 · Gatilhos de avaliação/liquidação · Arrecadação &lt; 95%; atraso Over 90 &gt; 1%; diluição &gt; 1%; falha repasse FGTS · Fundos.NET ID 971924 · 13/08/2025 · Regulamento · p. 35, 74 · data/raw/62010175000137/971924_documentary_review.pdf · https://fnet.bmfbovespa.com.br/fnet/publico/exibirDocumento?id=971924 · Observação: Atraso usa todas parcelas de CCB com atraso &gt;90/face carteira; IME Over tem conceito diverso.</a:t>
            </a:r>
          </a:p>
          <a:p>
            <a:r>
              <a:t>CNPJ 62310468000130 · Gatilhos de avaliação/liquidação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Gatilhos de avaliação/liquidação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Gatilhos de avaliação/liquidação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Reserva de caixa · Não localizado no corpus acessível · Corpus acessível CNPJ 60010416000112: ID 1051393 (09/10/2025), data/raw/60010416000112/1051393_documentary_review.pdf; ID 993786 (20/03/2025), data/raw/60010416000112/993786_documentary_review.pdf; ID 993785 (20/03/2025), data/raw/60010416000112/993785_documentary_review.pdf · Observação: Lacuna documental explícita; exige regulamento, anexo, suplemento ou contrato aplicável.</a:t>
            </a:r>
          </a:p>
          <a:p>
            <a:r>
              <a:t>CNPJ 58458416000138 · Reserva de caixa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Reserva de caixa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Reserva de caixa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Reserva de caixa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Reserva de caixa · Despesas 1% do PL + defesa da carteira 1% do PL · Fundos.NET ID 956736 · 28/07/2025 · Regulamento · p. 8 · data/raw/51290497000160/956736_documentary_review.pdf · https://fnet.bmfbovespa.com.br/fnet/publico/exibirDocumento?id=956736 · Observação: Conclusão documental revisada; preservar a versão e a unidade indicadas.</a:t>
            </a:r>
          </a:p>
          <a:p>
            <a:r>
              <a:t>CNPJ 62010175000137 · Reserva de caixa · Liquidez: 2 meses de despesas; derivativo: reserva do MTM líquido devedor · Fundos.NET ID 971924 · 13/08/2025 · Regulamento · p. 77 · data/raw/62010175000137/971924_documentary_review.pdf · https://fnet.bmfbovespa.com.br/fnet/publico/exibirDocumento?id=971924 · Observação: Reserva do derivativo depende de período contratual e evento; não impor percentual genérico de caixa.</a:t>
            </a:r>
          </a:p>
          <a:p>
            <a:r>
              <a:t>CNPJ 62310468000130 · Reserva de caixa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Reserva de caixa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Reserva de caixa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Derivativos/hedge · Proteção patrimonial ou troca de indexador sem exposição a risco de capital · Fundos.NET ID 1051393 · 09/10/2025 · Regulamento · p. 13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Derivativos/hedge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Derivativos/hedge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Derivativos/hedge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Derivativos/hedge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Derivativos/hedge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Derivativos/hedge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Derivativos/hedge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Derivativos/hedge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Derivativos/hedge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PDD · Não localizado no corpus acessível · Corpus acessível CNPJ 60010416000112: ID 1051393 (09/10/2025), data/raw/60010416000112/1051393_documentary_review.pdf; ID 993786 (20/03/2025), data/raw/60010416000112/993786_documentary_review.pdf; ID 993785 (20/03/2025), data/raw/60010416000112/993785_documentary_review.pdf · Observação: Lacuna documental explícita; exige regulamento, anexo, suplemento ou contrato aplicável.</a:t>
            </a:r>
          </a:p>
          <a:p>
            <a:r>
              <a:t>CNPJ 58458416000138 · PDD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PDD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PDD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PDD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PDD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PDD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PDD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PDD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PDD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2026-10-07T14:59:40-03:00</a:t>
            </a:r>
          </a:p>
          <a:p>
            <a:r>
              <a:t>MT Consignado Privado I: CNPJ 60010416000112</a:t>
            </a:r>
          </a:p>
          <a:p>
            <a:r>
              <a:t>MT Consignado Privado II: CNPJ 58458416000138</a:t>
            </a:r>
          </a:p>
          <a:p>
            <a:r>
              <a:t>FGTS MT II: CNPJ 53179862000190</a:t>
            </a:r>
          </a:p>
          <a:p>
            <a:r>
              <a:t>MT INSS Receivables II: CNPJ 40752367000186</a:t>
            </a:r>
          </a:p>
          <a:p>
            <a:r>
              <a:t>MT INSS Receivables III: CNPJ 44173467000109</a:t>
            </a:r>
          </a:p>
          <a:p>
            <a:r>
              <a:t>MT INSS Receivables V: CNPJ 51290497000160</a:t>
            </a:r>
          </a:p>
          <a:p>
            <a:r>
              <a:t>MT FGTS Receivables IV: CNPJ 62010175000137</a:t>
            </a:r>
          </a:p>
          <a:p>
            <a:r>
              <a:t>MT INSS Receivables VI: CNPJ 62310468000130</a:t>
            </a:r>
          </a:p>
          <a:p>
            <a:r>
              <a:t>MT FGTS Receivables II: CNPJ 54464892000100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60010416000112 · Subordinação mínima · Subordinadas/PL ≥ 5%, apuração diária · Fundos.NET ID 1051393 · 09/10/2025 · Regulamento · p. 45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Subordinação mínima · Mezanino + júnior/PL ≥ 30%; júnior/PL ≥ 10% · Fundos.NET ID 982232 · 28/08/2025 · Regulamento · p. 39 · data/raw/58458416000138/982232_documentary_review.pdf · https://fnet.bmfbovespa.com.br/fnet/publico/exibirDocumento?id=982232 · Observação: Regulamento acessível 28/08/2025; versão de 06/08/2026 não obtida.</a:t>
            </a:r>
          </a:p>
          <a:p>
            <a:r>
              <a:t>CNPJ 53179862000190 · Subordinação mínima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Subordinação mínima · Subclasse única, pari passu; sem prioridade/subordinação entre cotas · Fundos.NET ID 846588 · 21/02/2025 · Regulamento · p. 8, 14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Subordinação mínima · Subordinadas/PL ≥ 10%; júnior/patrimônio subordinado ≥ 10% · Fundos.NET ID 791513 · 28/11/2024 · Regulamento · p. 19 · data/raw/44173467000109/791513_documentary_review.pdf · https://fnet.bmfbovespa.com.br/fnet/publico/exibirDocumento?id=791513 · Observação: Segundo piso usa patrimônio subordinado, não PL total. Razão de garantia de 111,11% em cada nível.</a:t>
            </a:r>
          </a:p>
          <a:p>
            <a:r>
              <a:t>CNPJ 51290497000160 · Subordinação mínima · Mezanino + júnior/PL ≥ 10%; júnior/PL ≥ 1% · Fundos.NET ID 956736 · 28/07/2025 · Regulamento · p. 61 · data/raw/51290497000160/956736_documentary_review.pdf · https://fnet.bmfbovespa.com.br/fnet/publico/exibirDocumento?id=956736 · Observação: Conclusão documental revisada; preservar a versão e a unidade indicadas.</a:t>
            </a:r>
          </a:p>
          <a:p>
            <a:r>
              <a:t>CNPJ 62010175000137 · Subordinação mínima · Sênior 13,5% no investimento e 15% depois; júnior 3,5% e 5% do PL · Fundos.NET ID 971924 · 13/08/2025 · Regulamento · p. 74-75 · data/raw/62010175000137/971924_documentary_review.pdf · https://fnet.bmfbovespa.com.br/fnet/publico/exibirDocumento?id=971924 · Observação: Índices ajustados são 20% e 10%; não confundir com pisos ordinários. Waiver de até 1,5 pp nos seis primeiros meses não elimina cálculo.</a:t>
            </a:r>
          </a:p>
          <a:p>
            <a:r>
              <a:t>CNPJ 62310468000130 · Subordinação mínima · Subordinadas/PL ≥ 5%; júnior/PL ≥ 5%, desde 46º dia da 1ª integralização · Fundos.NET ID 985036 · 04/09/2025 · Atos de Deliberação do Administrador · p. 3 · data/raw/62310468000130/985036_documentary_review.pdf · https://fnet.bmfbovespa.com.br/fnet/publico/exibirDocumento?id=985036 · Observação: Fonte acessível de 04/09/2025; regulamento consolidado posterior não obtido. Não afirmar vigência integral dos pisos antigos.</a:t>
            </a:r>
          </a:p>
          <a:p>
            <a:r>
              <a:t>CNPJ 54464892000100 · Subordinação mínima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Subordinação mínima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Gatilhos de avaliação/liquidação · Subordinação desenquadrada por 10 DU; atraso no pagamento sênior não sanado em 2 DU · Fundos.NET ID 1051393 · 09/10/2025 · Regulamento · p. 19-22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Gatilhos de avaliação/liquidação · Perdas estoque &gt; 15% e rentabilidade júnior negativa em 2 verificações · Fundos.NET ID 982232 · 28/08/2025 · Regulamento · p. 17, 39 · data/raw/58458416000138/982232_documentary_review.pdf · https://fnet.bmfbovespa.com.br/fnet/publico/exibirDocumento?id=982232 · Observação: Critérios conjuntos. Índice usa arrasto das CCBs com parcela &gt; 90 dias/face adquirido; diferente de Over/Crédito.</a:t>
            </a:r>
          </a:p>
          <a:p>
            <a:r>
              <a:t>CNPJ 53179862000190 · Gatilhos de avaliação/liquidação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Gatilhos de avaliação/liquidação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Gatilhos de avaliação/liquidação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Gatilhos de avaliação/liquidação · Inadimplência cumulativa &gt; 7,82%; subordinação fora por &gt; 13 DU; rating cai 2 níveis · Fundos.NET ID 956736 · 28/07/2025 · Regulamento · p. 24, 61 · data/raw/51290497000160/956736_documentary_review.pdf · https://fnet.bmfbovespa.com.br/fnet/publico/exibirDocumento?id=956736 · Observação: Índice cumulativo usa face, arrasto de CCB, atraso 120 dias e óbito; numerador não sai por reinicialização.</a:t>
            </a:r>
          </a:p>
          <a:p>
            <a:r>
              <a:t>CNPJ 62010175000137 · Gatilhos de avaliação/liquidação · Arrecadação &lt; 95%; atraso Over 90 &gt; 1%; diluição &gt; 1%; falha repasse FGTS · Fundos.NET ID 971924 · 13/08/2025 · Regulamento · p. 35, 74 · data/raw/62010175000137/971924_documentary_review.pdf · https://fnet.bmfbovespa.com.br/fnet/publico/exibirDocumento?id=971924 · Observação: Atraso usa todas parcelas de CCB com atraso &gt;90/face carteira; IME Over tem conceito diverso.</a:t>
            </a:r>
          </a:p>
          <a:p>
            <a:r>
              <a:t>CNPJ 62310468000130 · Gatilhos de avaliação/liquidação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Gatilhos de avaliação/liquidação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Gatilhos de avaliação/liquidação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Reserva de caixa · Não localizado no corpus acessível · Corpus acessível CNPJ 60010416000112: ID 1051393 (09/10/2025), data/raw/60010416000112/1051393_documentary_review.pdf; ID 993786 (20/03/2025), data/raw/60010416000112/993786_documentary_review.pdf; ID 993785 (20/03/2025), data/raw/60010416000112/993785_documentary_review.pdf · Observação: Lacuna documental explícita; exige regulamento, anexo, suplemento ou contrato aplicável.</a:t>
            </a:r>
          </a:p>
          <a:p>
            <a:r>
              <a:t>CNPJ 58458416000138 · Reserva de caixa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Reserva de caixa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Reserva de caixa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Reserva de caixa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Reserva de caixa · Despesas 1% do PL + defesa da carteira 1% do PL · Fundos.NET ID 956736 · 28/07/2025 · Regulamento · p. 8 · data/raw/51290497000160/956736_documentary_review.pdf · https://fnet.bmfbovespa.com.br/fnet/publico/exibirDocumento?id=956736 · Observação: Conclusão documental revisada; preservar a versão e a unidade indicadas.</a:t>
            </a:r>
          </a:p>
          <a:p>
            <a:r>
              <a:t>CNPJ 62010175000137 · Reserva de caixa · Liquidez: 2 meses de despesas; derivativo: reserva do MTM líquido devedor · Fundos.NET ID 971924 · 13/08/2025 · Regulamento · p. 77 · data/raw/62010175000137/971924_documentary_review.pdf · https://fnet.bmfbovespa.com.br/fnet/publico/exibirDocumento?id=971924 · Observação: Reserva do derivativo depende de período contratual e evento; não impor percentual genérico de caixa.</a:t>
            </a:r>
          </a:p>
          <a:p>
            <a:r>
              <a:t>CNPJ 62310468000130 · Reserva de caixa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Reserva de caixa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Reserva de caixa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Derivativos/hedge · Proteção patrimonial ou troca de indexador sem exposição a risco de capital · Fundos.NET ID 1051393 · 09/10/2025 · Regulamento · p. 13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Derivativos/hedge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Derivativos/hedge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Derivativos/hedge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Derivativos/hedge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Derivativos/hedge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Derivativos/hedge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Derivativos/hedge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Derivativos/hedge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Derivativos/hedge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PDD · Não localizado no corpus acessível · Corpus acessível CNPJ 60010416000112: ID 1051393 (09/10/2025), data/raw/60010416000112/1051393_documentary_review.pdf; ID 993786 (20/03/2025), data/raw/60010416000112/993786_documentary_review.pdf; ID 993785 (20/03/2025), data/raw/60010416000112/993785_documentary_review.pdf · Observação: Lacuna documental explícita; exige regulamento, anexo, suplemento ou contrato aplicável.</a:t>
            </a:r>
          </a:p>
          <a:p>
            <a:r>
              <a:t>CNPJ 58458416000138 · PDD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PDD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PDD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PDD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PDD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PDD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PDD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PDD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PDD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2026-10-07T14:59:40-03:00</a:t>
            </a:r>
          </a:p>
          <a:p>
            <a:r>
              <a:t>MT Consignado Privado I: CNPJ 60010416000112</a:t>
            </a:r>
          </a:p>
          <a:p>
            <a:r>
              <a:t>MT Consignado Privado II: CNPJ 58458416000138</a:t>
            </a:r>
          </a:p>
          <a:p>
            <a:r>
              <a:t>FGTS MT II: CNPJ 53179862000190</a:t>
            </a:r>
          </a:p>
          <a:p>
            <a:r>
              <a:t>MT INSS Receivables II: CNPJ 40752367000186</a:t>
            </a:r>
          </a:p>
          <a:p>
            <a:r>
              <a:t>MT INSS Receivables III: CNPJ 44173467000109</a:t>
            </a:r>
          </a:p>
          <a:p>
            <a:r>
              <a:t>MT INSS Receivables V: CNPJ 51290497000160</a:t>
            </a:r>
          </a:p>
          <a:p>
            <a:r>
              <a:t>MT FGTS Receivables IV: CNPJ 62010175000137</a:t>
            </a:r>
          </a:p>
          <a:p>
            <a:r>
              <a:t>MT INSS Receivables VI: CNPJ 62310468000130</a:t>
            </a:r>
          </a:p>
          <a:p>
            <a:r>
              <a:t>MT FGTS Receivables II: CNPJ 54464892000100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60010416000112 · Alocação mínima · 50% regulatório e 67% tributário do PL após 180 dias · Fundos.NET ID 1051393 · 09/10/2025 · Regulamento · p. 11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Alocação mínima · 50% regulatório e 67% tributário do PL após 180 dias · Fundos.NET ID 982232 · 28/08/2025 · Regulamento · p. 9 · data/raw/58458416000138/982232_documentary_review.pdf · https://fnet.bmfbovespa.com.br/fnet/publico/exibirDocumento?id=982232 · Observação: Conclusão documental revisada; preservar a versão e a unidade indicadas.</a:t>
            </a:r>
          </a:p>
          <a:p>
            <a:r>
              <a:t>CNPJ 53179862000190 · Alocação mínima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Alocação mínima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Alocação mínima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Alocação mínima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Alocação mínima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Alocação mínima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Alocação mínima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Alocação mínima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Pool/revolvência · Revolvente durante 24 meses da 1ª integralização; depois amortização · Fundos.NET ID 1051393 · 09/10/2025 · Regulamento · p. 12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Pool/revolvência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Pool/revolvência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Pool/revolvência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Pool/revolvência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Pool/revolvência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Pool/revolvência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Pool/revolvência · Sênior 2ª série: revolvência por 18 meses da 1ª integralização sênior · Fundos.NET ID 1153512 · 01/04/2026 · Atos de Deliberação do Administrador · p. 9 · data/raw/62310468000130/1153512_documentary_review.pdf · https://fnet.bmfbovespa.com.br/fnet/publico/exibirDocumento?id=1153512 · Observação: Marco deve ser confirmado na implementação; fonte visual.</a:t>
            </a:r>
          </a:p>
          <a:p>
            <a:r>
              <a:t>CNPJ 54464892000100 · Pool/revolvência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Pool/revolvência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Duração/público-alvo · Fechado; classe indeterminada; profissionais; subordinada vinculada ao agente · Fundos.NET ID 1051393 · 09/10/2025 · Regulamento · p. 8, 46, 48-50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Duração/público-alvo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Duração/público-alvo · Fundo qualificados; oferta desta série exclusiva a profissionais · Fundos.NET ID 908443 · 31/03/2025 · Atos de Deliberação do Administrador · p. 3 · data/raw/53179862000190/908443_documentary_review.pdf · https://fnet.bmfbovespa.com.br/fnet/publico/exibirDocumento?id=908443 · Observação: Conclusão documental revisada; preservar a versão e a unidade indicadas.</a:t>
            </a:r>
          </a:p>
          <a:p>
            <a:r>
              <a:t>CNPJ 40752367000186 · Duração/público-alvo · Fechado, indeterminado; único cotista ou grupo indissociável profissional · Fundos.NET ID 846588 · 21/02/2025 · Regulamento · p. 8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Duração/público-alvo · Classe fechada, indeterminada; cotistas profissionais · Fundos.NET ID 791513 · 28/11/2024 · Regulamento · p. 8-9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51290497000160 · Duração/público-alvo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Duração/público-alvo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Duração/público-alvo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Duração/público-alvo · Classe fechada; demais condições dependem de regulamento · Fundos.NET ID 823583 · 21/01/2025 · Oferta Pública de Distribuição de Cotas · p. 1 · data/raw/54464892000100/823583_documentary_review.pdf · https://fnet.bmfbovespa.com.br/fnet/publico/exibirDocumento?id=823583 · Observação: Conclusão documental revisada; preservar a versão e a unidade indicadas.</a:t>
            </a:r>
          </a:p>
          <a:p>
            <a:r>
              <a:t>CNPJ 63953620000165 · Duração/público-alvo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Cessão/recompra · Endosso em preto; resolução por desconformidade original; opção de venda ao agente · Fundos.NET ID 1051393 · 09/10/2025 · Regulamento · p. 10-11 · data/raw/60010416000112/1051393_documentary_review.pdf · https://fnet.bmfbovespa.com.br/fnet/publico/exibirDocumento?id=1051393 · Observação: Condições e preços finais remetidos ao contrato de endosso, não obtido nesta leitura.</a:t>
            </a:r>
          </a:p>
          <a:p>
            <a:r>
              <a:t>CNPJ 58458416000138 · Cessão/recompra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Cessão/recompra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Cessão/recompra · Endosso definitivo em preto; resolução/opção de venda conforme contrato · Fundos.NET ID 846588 · 21/02/2025 · Regulamento · p. 10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Cessão/recompra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Cessão/recompra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Cessão/recompra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Cessão/recompra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Cessão/recompra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Cessão/recompra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Coobrigação · Sem coobrigação por deterioração posterior; má-fé, culpa, dolo e vícios preservados · Fundos.NET ID 1051393 · 09/10/2025 · Regulamento · p. 10-11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Coobrigação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Coobrigação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Coobrigação · Sem coobrigação; obrigações por vícios no contrato de cessão · Fundos.NET ID 846588 · 21/02/2025 · Regulamento · p. 10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Coobrigação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Coobrigação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Coobrigação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Coobrigação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Coobrigação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Coobrigação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Waterfall · Investimento: encargos → derivativos → aquisições; depois sênior antes de subordinada · Fundos.NET ID 1051393 · 09/10/2025 · Regulamento · p. 16-17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Waterfall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Waterfall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Waterfall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Waterfall · Despesas/derivativos → reservas → sênior → mezanino → júnior · Fundos.NET ID 791513 · 28/11/2024 · Regulamento · p. 22-23 · data/raw/44173467000109/791513_documentary_review.pdf · https://fnet.bmfbovespa.com.br/fnet/publico/exibirDocumento?id=791513 · Observação: Amortização pro rata sênior/mezanino condicionada às razões de garantia.</a:t>
            </a:r>
          </a:p>
          <a:p>
            <a:r>
              <a:t>CNPJ 51290497000160 · Waterfall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Waterfall · Encargos/reservas/derivativos → sênior → mezanino → júnior · Fundos.NET ID 971924 · 13/08/2025 · Regulamento · p. 28-30 · data/raw/62010175000137/971924_documentary_review.pdf · https://fnet.bmfbovespa.com.br/fnet/publico/exibirDocumento?id=971924 · Observação: Conclusão documental revisada; preservar a versão e a unidade indicadas.</a:t>
            </a:r>
          </a:p>
          <a:p>
            <a:r>
              <a:t>CNPJ 62310468000130 · Waterfall · Encargos/reserva → sênior → mezanino → júnior conforme investimento · Fundos.NET ID 985036 · 04/09/2025 · Atos de Deliberação do Administrador · p. 2-3 · data/raw/62310468000130/985036_documentary_review.pdf · https://fnet.bmfbovespa.com.br/fnet/publico/exibirDocumento?id=985036 · Observação: Conclusão documental revisada; preservar a versão e a unidade indicadas.</a:t>
            </a:r>
          </a:p>
          <a:p>
            <a:r>
              <a:t>CNPJ 54464892000100 · Waterfall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Waterfall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2026-10-07T14:59:40-03:00</a:t>
            </a:r>
          </a:p>
          <a:p>
            <a:r>
              <a:t>MT Consignado Privado I: CNPJ 60010416000112</a:t>
            </a:r>
          </a:p>
          <a:p>
            <a:r>
              <a:t>MT Consignado Privado II: CNPJ 58458416000138</a:t>
            </a:r>
          </a:p>
          <a:p>
            <a:r>
              <a:t>FGTS MT II: CNPJ 53179862000190</a:t>
            </a:r>
          </a:p>
          <a:p>
            <a:r>
              <a:t>MT INSS Receivables II: CNPJ 40752367000186</a:t>
            </a:r>
          </a:p>
          <a:p>
            <a:r>
              <a:t>MT INSS Receivables III: CNPJ 44173467000109</a:t>
            </a:r>
          </a:p>
          <a:p>
            <a:r>
              <a:t>MT INSS Receivables V: CNPJ 51290497000160</a:t>
            </a:r>
          </a:p>
          <a:p>
            <a:r>
              <a:t>MT FGTS Receivables IV: CNPJ 62010175000137</a:t>
            </a:r>
          </a:p>
          <a:p>
            <a:r>
              <a:t>MT INSS Receivables VI: CNPJ 62310468000130</a:t>
            </a:r>
          </a:p>
          <a:p>
            <a:r>
              <a:t>MT FGTS Receivables II: CNPJ 54464892000100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60010416000112 · Alocação mínima · 50% regulatório e 67% tributário do PL após 180 dias · Fundos.NET ID 1051393 · 09/10/2025 · Regulamento · p. 11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Alocação mínima · 50% regulatório e 67% tributário do PL após 180 dias · Fundos.NET ID 982232 · 28/08/2025 · Regulamento · p. 9 · data/raw/58458416000138/982232_documentary_review.pdf · https://fnet.bmfbovespa.com.br/fnet/publico/exibirDocumento?id=982232 · Observação: Conclusão documental revisada; preservar a versão e a unidade indicadas.</a:t>
            </a:r>
          </a:p>
          <a:p>
            <a:r>
              <a:t>CNPJ 53179862000190 · Alocação mínima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Alocação mínima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Alocação mínima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Alocação mínima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Alocação mínima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Alocação mínima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Alocação mínima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Alocação mínima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Pool/revolvência · Revolvente durante 24 meses da 1ª integralização; depois amortização · Fundos.NET ID 1051393 · 09/10/2025 · Regulamento · p. 12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Pool/revolvência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Pool/revolvência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Pool/revolvência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Pool/revolvência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Pool/revolvência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Pool/revolvência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Pool/revolvência · Sênior 2ª série: revolvência por 18 meses da 1ª integralização sênior · Fundos.NET ID 1153512 · 01/04/2026 · Atos de Deliberação do Administrador · p. 9 · data/raw/62310468000130/1153512_documentary_review.pdf · https://fnet.bmfbovespa.com.br/fnet/publico/exibirDocumento?id=1153512 · Observação: Marco deve ser confirmado na implementação; fonte visual.</a:t>
            </a:r>
          </a:p>
          <a:p>
            <a:r>
              <a:t>CNPJ 54464892000100 · Pool/revolvência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Pool/revolvência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Duração/público-alvo · Fechado; classe indeterminada; profissionais; subordinada vinculada ao agente · Fundos.NET ID 1051393 · 09/10/2025 · Regulamento · p. 8, 46, 48-50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Duração/público-alvo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Duração/público-alvo · Fundo qualificados; oferta desta série exclusiva a profissionais · Fundos.NET ID 908443 · 31/03/2025 · Atos de Deliberação do Administrador · p. 3 · data/raw/53179862000190/908443_documentary_review.pdf · https://fnet.bmfbovespa.com.br/fnet/publico/exibirDocumento?id=908443 · Observação: Conclusão documental revisada; preservar a versão e a unidade indicadas.</a:t>
            </a:r>
          </a:p>
          <a:p>
            <a:r>
              <a:t>CNPJ 40752367000186 · Duração/público-alvo · Fechado, indeterminado; único cotista ou grupo indissociável profissional · Fundos.NET ID 846588 · 21/02/2025 · Regulamento · p. 8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Duração/público-alvo · Classe fechada, indeterminada; cotistas profissionais · Fundos.NET ID 791513 · 28/11/2024 · Regulamento · p. 8-9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51290497000160 · Duração/público-alvo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Duração/público-alvo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Duração/público-alvo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Duração/público-alvo · Classe fechada; demais condições dependem de regulamento · Fundos.NET ID 823583 · 21/01/2025 · Oferta Pública de Distribuição de Cotas · p. 1 · data/raw/54464892000100/823583_documentary_review.pdf · https://fnet.bmfbovespa.com.br/fnet/publico/exibirDocumento?id=823583 · Observação: Conclusão documental revisada; preservar a versão e a unidade indicadas.</a:t>
            </a:r>
          </a:p>
          <a:p>
            <a:r>
              <a:t>CNPJ 63953620000165 · Duração/público-alvo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Cessão/recompra · Endosso em preto; resolução por desconformidade original; opção de venda ao agente · Fundos.NET ID 1051393 · 09/10/2025 · Regulamento · p. 10-11 · data/raw/60010416000112/1051393_documentary_review.pdf · https://fnet.bmfbovespa.com.br/fnet/publico/exibirDocumento?id=1051393 · Observação: Condições e preços finais remetidos ao contrato de endosso, não obtido nesta leitura.</a:t>
            </a:r>
          </a:p>
          <a:p>
            <a:r>
              <a:t>CNPJ 58458416000138 · Cessão/recompra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Cessão/recompra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Cessão/recompra · Endosso definitivo em preto; resolução/opção de venda conforme contrato · Fundos.NET ID 846588 · 21/02/2025 · Regulamento · p. 10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Cessão/recompra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Cessão/recompra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Cessão/recompra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Cessão/recompra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Cessão/recompra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Cessão/recompra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Coobrigação · Sem coobrigação por deterioração posterior; má-fé, culpa, dolo e vícios preservados · Fundos.NET ID 1051393 · 09/10/2025 · Regulamento · p. 10-11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Coobrigação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Coobrigação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Coobrigação · Sem coobrigação; obrigações por vícios no contrato de cessão · Fundos.NET ID 846588 · 21/02/2025 · Regulamento · p. 10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Coobrigação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Coobrigação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Coobrigação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Coobrigação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Coobrigação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Coobrigação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Waterfall · Investimento: encargos → derivativos → aquisições; depois sênior antes de subordinada · Fundos.NET ID 1051393 · 09/10/2025 · Regulamento · p. 16-17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Waterfall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Waterfall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Waterfall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Waterfall · Despesas/derivativos → reservas → sênior → mezanino → júnior · Fundos.NET ID 791513 · 28/11/2024 · Regulamento · p. 22-23 · data/raw/44173467000109/791513_documentary_review.pdf · https://fnet.bmfbovespa.com.br/fnet/publico/exibirDocumento?id=791513 · Observação: Amortização pro rata sênior/mezanino condicionada às razões de garantia.</a:t>
            </a:r>
          </a:p>
          <a:p>
            <a:r>
              <a:t>CNPJ 51290497000160 · Waterfall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Waterfall · Encargos/reservas/derivativos → sênior → mezanino → júnior · Fundos.NET ID 971924 · 13/08/2025 · Regulamento · p. 28-30 · data/raw/62010175000137/971924_documentary_review.pdf · https://fnet.bmfbovespa.com.br/fnet/publico/exibirDocumento?id=971924 · Observação: Conclusão documental revisada; preservar a versão e a unidade indicadas.</a:t>
            </a:r>
          </a:p>
          <a:p>
            <a:r>
              <a:t>CNPJ 62310468000130 · Waterfall · Encargos/reserva → sênior → mezanino → júnior conforme investimento · Fundos.NET ID 985036 · 04/09/2025 · Atos de Deliberação do Administrador · p. 2-3 · data/raw/62310468000130/985036_documentary_review.pdf · https://fnet.bmfbovespa.com.br/fnet/publico/exibirDocumento?id=985036 · Observação: Conclusão documental revisada; preservar a versão e a unidade indicadas.</a:t>
            </a:r>
          </a:p>
          <a:p>
            <a:r>
              <a:t>CNPJ 54464892000100 · Waterfall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Waterfall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2026-10-07T14:59:40-03:00</a:t>
            </a:r>
          </a:p>
          <a:p>
            <a:r>
              <a:t>MT Consignado Privado I: CNPJ 60010416000112</a:t>
            </a:r>
          </a:p>
          <a:p>
            <a:r>
              <a:t>MT Consignado Privado II: CNPJ 58458416000138</a:t>
            </a:r>
          </a:p>
          <a:p>
            <a:r>
              <a:t>FGTS MT II: CNPJ 53179862000190</a:t>
            </a:r>
          </a:p>
          <a:p>
            <a:r>
              <a:t>MT INSS Receivables II: CNPJ 40752367000186</a:t>
            </a:r>
          </a:p>
          <a:p>
            <a:r>
              <a:t>MT INSS Receivables III: CNPJ 44173467000109</a:t>
            </a:r>
          </a:p>
          <a:p>
            <a:r>
              <a:t>MT INSS Receivables V: CNPJ 51290497000160</a:t>
            </a:r>
          </a:p>
          <a:p>
            <a:r>
              <a:t>MT FGTS Receivables IV: CNPJ 62010175000137</a:t>
            </a:r>
          </a:p>
          <a:p>
            <a:r>
              <a:t>MT INSS Receivables VI: CNPJ 62310468000130</a:t>
            </a:r>
          </a:p>
          <a:p>
            <a:r>
              <a:t>MT FGTS Receivables II: CNPJ 54464892000100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60010416000112 · Alocação mínima · 50% regulatório e 67% tributário do PL após 180 dias · Fundos.NET ID 1051393 · 09/10/2025 · Regulamento · p. 11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Alocação mínima · 50% regulatório e 67% tributário do PL após 180 dias · Fundos.NET ID 982232 · 28/08/2025 · Regulamento · p. 9 · data/raw/58458416000138/982232_documentary_review.pdf · https://fnet.bmfbovespa.com.br/fnet/publico/exibirDocumento?id=982232 · Observação: Conclusão documental revisada; preservar a versão e a unidade indicadas.</a:t>
            </a:r>
          </a:p>
          <a:p>
            <a:r>
              <a:t>CNPJ 53179862000190 · Alocação mínima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Alocação mínima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Alocação mínima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Alocação mínima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Alocação mínima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Alocação mínima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Alocação mínima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Alocação mínima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Pool/revolvência · Revolvente durante 24 meses da 1ª integralização; depois amortização · Fundos.NET ID 1051393 · 09/10/2025 · Regulamento · p. 12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Pool/revolvência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Pool/revolvência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Pool/revolvência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Pool/revolvência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Pool/revolvência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Pool/revolvência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Pool/revolvência · Sênior 2ª série: revolvência por 18 meses da 1ª integralização sênior · Fundos.NET ID 1153512 · 01/04/2026 · Atos de Deliberação do Administrador · p. 9 · data/raw/62310468000130/1153512_documentary_review.pdf · https://fnet.bmfbovespa.com.br/fnet/publico/exibirDocumento?id=1153512 · Observação: Marco deve ser confirmado na implementação; fonte visual.</a:t>
            </a:r>
          </a:p>
          <a:p>
            <a:r>
              <a:t>CNPJ 54464892000100 · Pool/revolvência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Pool/revolvência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Duração/público-alvo · Fechado; classe indeterminada; profissionais; subordinada vinculada ao agente · Fundos.NET ID 1051393 · 09/10/2025 · Regulamento · p. 8, 46, 48-50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Duração/público-alvo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Duração/público-alvo · Fundo qualificados; oferta desta série exclusiva a profissionais · Fundos.NET ID 908443 · 31/03/2025 · Atos de Deliberação do Administrador · p. 3 · data/raw/53179862000190/908443_documentary_review.pdf · https://fnet.bmfbovespa.com.br/fnet/publico/exibirDocumento?id=908443 · Observação: Conclusão documental revisada; preservar a versão e a unidade indicadas.</a:t>
            </a:r>
          </a:p>
          <a:p>
            <a:r>
              <a:t>CNPJ 40752367000186 · Duração/público-alvo · Fechado, indeterminado; único cotista ou grupo indissociável profissional · Fundos.NET ID 846588 · 21/02/2025 · Regulamento · p. 8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Duração/público-alvo · Classe fechada, indeterminada; cotistas profissionais · Fundos.NET ID 791513 · 28/11/2024 · Regulamento · p. 8-9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51290497000160 · Duração/público-alvo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Duração/público-alvo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Duração/público-alvo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Duração/público-alvo · Classe fechada; demais condições dependem de regulamento · Fundos.NET ID 823583 · 21/01/2025 · Oferta Pública de Distribuição de Cotas · p. 1 · data/raw/54464892000100/823583_documentary_review.pdf · https://fnet.bmfbovespa.com.br/fnet/publico/exibirDocumento?id=823583 · Observação: Conclusão documental revisada; preservar a versão e a unidade indicadas.</a:t>
            </a:r>
          </a:p>
          <a:p>
            <a:r>
              <a:t>CNPJ 63953620000165 · Duração/público-alvo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Cessão/recompra · Endosso em preto; resolução por desconformidade original; opção de venda ao agente · Fundos.NET ID 1051393 · 09/10/2025 · Regulamento · p. 10-11 · data/raw/60010416000112/1051393_documentary_review.pdf · https://fnet.bmfbovespa.com.br/fnet/publico/exibirDocumento?id=1051393 · Observação: Condições e preços finais remetidos ao contrato de endosso, não obtido nesta leitura.</a:t>
            </a:r>
          </a:p>
          <a:p>
            <a:r>
              <a:t>CNPJ 58458416000138 · Cessão/recompra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Cessão/recompra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Cessão/recompra · Endosso definitivo em preto; resolução/opção de venda conforme contrato · Fundos.NET ID 846588 · 21/02/2025 · Regulamento · p. 10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Cessão/recompra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Cessão/recompra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Cessão/recompra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Cessão/recompra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Cessão/recompra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Cessão/recompra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Coobrigação · Sem coobrigação por deterioração posterior; má-fé, culpa, dolo e vícios preservados · Fundos.NET ID 1051393 · 09/10/2025 · Regulamento · p. 10-11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Coobrigação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Coobrigação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Coobrigação · Sem coobrigação; obrigações por vícios no contrato de cessão · Fundos.NET ID 846588 · 21/02/2025 · Regulamento · p. 10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Coobrigação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Coobrigação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Coobrigação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Coobrigação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Coobrigação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Coobrigação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Waterfall · Investimento: encargos → derivativos → aquisições; depois sênior antes de subordinada · Fundos.NET ID 1051393 · 09/10/2025 · Regulamento · p. 16-17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Waterfall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Waterfall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Waterfall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Waterfall · Despesas/derivativos → reservas → sênior → mezanino → júnior · Fundos.NET ID 791513 · 28/11/2024 · Regulamento · p. 22-23 · data/raw/44173467000109/791513_documentary_review.pdf · https://fnet.bmfbovespa.com.br/fnet/publico/exibirDocumento?id=791513 · Observação: Amortização pro rata sênior/mezanino condicionada às razões de garantia.</a:t>
            </a:r>
          </a:p>
          <a:p>
            <a:r>
              <a:t>CNPJ 51290497000160 · Waterfall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Waterfall · Encargos/reservas/derivativos → sênior → mezanino → júnior · Fundos.NET ID 971924 · 13/08/2025 · Regulamento · p. 28-30 · data/raw/62010175000137/971924_documentary_review.pdf · https://fnet.bmfbovespa.com.br/fnet/publico/exibirDocumento?id=971924 · Observação: Conclusão documental revisada; preservar a versão e a unidade indicadas.</a:t>
            </a:r>
          </a:p>
          <a:p>
            <a:r>
              <a:t>CNPJ 62310468000130 · Waterfall · Encargos/reserva → sênior → mezanino → júnior conforme investimento · Fundos.NET ID 985036 · 04/09/2025 · Atos de Deliberação do Administrador · p. 2-3 · data/raw/62310468000130/985036_documentary_review.pdf · https://fnet.bmfbovespa.com.br/fnet/publico/exibirDocumento?id=985036 · Observação: Conclusão documental revisada; preservar a versão e a unidade indicadas.</a:t>
            </a:r>
          </a:p>
          <a:p>
            <a:r>
              <a:t>CNPJ 54464892000100 · Waterfall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Waterfall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2026-10-07T14:59:40-03:00</a:t>
            </a:r>
          </a:p>
          <a:p>
            <a:r>
              <a:t>MT Consignado Privado I: CNPJ 60010416000112</a:t>
            </a:r>
          </a:p>
          <a:p>
            <a:r>
              <a:t>MT Consignado Privado II: CNPJ 58458416000138</a:t>
            </a:r>
          </a:p>
          <a:p>
            <a:r>
              <a:t>FGTS MT II: CNPJ 53179862000190</a:t>
            </a:r>
          </a:p>
          <a:p>
            <a:r>
              <a:t>MT INSS Receivables II: CNPJ 40752367000186</a:t>
            </a:r>
          </a:p>
          <a:p>
            <a:r>
              <a:t>MT INSS Receivables III: CNPJ 44173467000109</a:t>
            </a:r>
          </a:p>
          <a:p>
            <a:r>
              <a:t>MT INSS Receivables V: CNPJ 51290497000160</a:t>
            </a:r>
          </a:p>
          <a:p>
            <a:r>
              <a:t>MT FGTS Receivables IV: CNPJ 62010175000137</a:t>
            </a:r>
          </a:p>
          <a:p>
            <a:r>
              <a:t>MT INSS Receivables VI: CNPJ 62310468000130</a:t>
            </a:r>
          </a:p>
          <a:p>
            <a:r>
              <a:t>MT FGTS Receivables II: CNPJ 54464892000100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60010416000112 · Alocação mínima · 50% regulatório e 67% tributário do PL após 180 dias · Fundos.NET ID 1051393 · 09/10/2025 · Regulamento · p. 11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Alocação mínima · 50% regulatório e 67% tributário do PL após 180 dias · Fundos.NET ID 982232 · 28/08/2025 · Regulamento · p. 9 · data/raw/58458416000138/982232_documentary_review.pdf · https://fnet.bmfbovespa.com.br/fnet/publico/exibirDocumento?id=982232 · Observação: Conclusão documental revisada; preservar a versão e a unidade indicadas.</a:t>
            </a:r>
          </a:p>
          <a:p>
            <a:r>
              <a:t>CNPJ 53179862000190 · Alocação mínima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Alocação mínima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Alocação mínima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Alocação mínima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Alocação mínima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Alocação mínima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Alocação mínima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Alocação mínima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Pool/revolvência · Revolvente durante 24 meses da 1ª integralização; depois amortização · Fundos.NET ID 1051393 · 09/10/2025 · Regulamento · p. 12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Pool/revolvência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Pool/revolvência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Pool/revolvência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Pool/revolvência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Pool/revolvência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Pool/revolvência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Pool/revolvência · Sênior 2ª série: revolvência por 18 meses da 1ª integralização sênior · Fundos.NET ID 1153512 · 01/04/2026 · Atos de Deliberação do Administrador · p. 9 · data/raw/62310468000130/1153512_documentary_review.pdf · https://fnet.bmfbovespa.com.br/fnet/publico/exibirDocumento?id=1153512 · Observação: Marco deve ser confirmado na implementação; fonte visual.</a:t>
            </a:r>
          </a:p>
          <a:p>
            <a:r>
              <a:t>CNPJ 54464892000100 · Pool/revolvência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Pool/revolvência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Duração/público-alvo · Fechado; classe indeterminada; profissionais; subordinada vinculada ao agente · Fundos.NET ID 1051393 · 09/10/2025 · Regulamento · p. 8, 46, 48-50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Duração/público-alvo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Duração/público-alvo · Fundo qualificados; oferta desta série exclusiva a profissionais · Fundos.NET ID 908443 · 31/03/2025 · Atos de Deliberação do Administrador · p. 3 · data/raw/53179862000190/908443_documentary_review.pdf · https://fnet.bmfbovespa.com.br/fnet/publico/exibirDocumento?id=908443 · Observação: Conclusão documental revisada; preservar a versão e a unidade indicadas.</a:t>
            </a:r>
          </a:p>
          <a:p>
            <a:r>
              <a:t>CNPJ 40752367000186 · Duração/público-alvo · Fechado, indeterminado; único cotista ou grupo indissociável profissional · Fundos.NET ID 846588 · 21/02/2025 · Regulamento · p. 8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Duração/público-alvo · Classe fechada, indeterminada; cotistas profissionais · Fundos.NET ID 791513 · 28/11/2024 · Regulamento · p. 8-9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51290497000160 · Duração/público-alvo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Duração/público-alvo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Duração/público-alvo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Duração/público-alvo · Classe fechada; demais condições dependem de regulamento · Fundos.NET ID 823583 · 21/01/2025 · Oferta Pública de Distribuição de Cotas · p. 1 · data/raw/54464892000100/823583_documentary_review.pdf · https://fnet.bmfbovespa.com.br/fnet/publico/exibirDocumento?id=823583 · Observação: Conclusão documental revisada; preservar a versão e a unidade indicadas.</a:t>
            </a:r>
          </a:p>
          <a:p>
            <a:r>
              <a:t>CNPJ 63953620000165 · Duração/público-alvo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Cessão/recompra · Endosso em preto; resolução por desconformidade original; opção de venda ao agente · Fundos.NET ID 1051393 · 09/10/2025 · Regulamento · p. 10-11 · data/raw/60010416000112/1051393_documentary_review.pdf · https://fnet.bmfbovespa.com.br/fnet/publico/exibirDocumento?id=1051393 · Observação: Condições e preços finais remetidos ao contrato de endosso, não obtido nesta leitura.</a:t>
            </a:r>
          </a:p>
          <a:p>
            <a:r>
              <a:t>CNPJ 58458416000138 · Cessão/recompra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Cessão/recompra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Cessão/recompra · Endosso definitivo em preto; resolução/opção de venda conforme contrato · Fundos.NET ID 846588 · 21/02/2025 · Regulamento · p. 10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Cessão/recompra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Cessão/recompra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Cessão/recompra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Cessão/recompra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Cessão/recompra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Cessão/recompra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Coobrigação · Sem coobrigação por deterioração posterior; má-fé, culpa, dolo e vícios preservados · Fundos.NET ID 1051393 · 09/10/2025 · Regulamento · p. 10-11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Coobrigação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Coobrigação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Coobrigação · Sem coobrigação; obrigações por vícios no contrato de cessão · Fundos.NET ID 846588 · 21/02/2025 · Regulamento · p. 10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Coobrigação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Coobrigação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Coobrigação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Coobrigação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Coobrigação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Coobrigação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Waterfall · Investimento: encargos → derivativos → aquisições; depois sênior antes de subordinada · Fundos.NET ID 1051393 · 09/10/2025 · Regulamento · p. 16-17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Waterfall · Não localizado no corpus acessível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Lacuna documental explícita; exige regulamento, anexo, suplemento ou contrato aplicável.</a:t>
            </a:r>
          </a:p>
          <a:p>
            <a:r>
              <a:t>CNPJ 53179862000190 · Waterfall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Waterfall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Waterfall · Despesas/derivativos → reservas → sênior → mezanino → júnior · Fundos.NET ID 791513 · 28/11/2024 · Regulamento · p. 22-23 · data/raw/44173467000109/791513_documentary_review.pdf · https://fnet.bmfbovespa.com.br/fnet/publico/exibirDocumento?id=791513 · Observação: Amortização pro rata sênior/mezanino condicionada às razões de garantia.</a:t>
            </a:r>
          </a:p>
          <a:p>
            <a:r>
              <a:t>CNPJ 51290497000160 · Waterfall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Waterfall · Encargos/reservas/derivativos → sênior → mezanino → júnior · Fundos.NET ID 971924 · 13/08/2025 · Regulamento · p. 28-30 · data/raw/62010175000137/971924_documentary_review.pdf · https://fnet.bmfbovespa.com.br/fnet/publico/exibirDocumento?id=971924 · Observação: Conclusão documental revisada; preservar a versão e a unidade indicadas.</a:t>
            </a:r>
          </a:p>
          <a:p>
            <a:r>
              <a:t>CNPJ 62310468000130 · Waterfall · Encargos/reserva → sênior → mezanino → júnior conforme investimento · Fundos.NET ID 985036 · 04/09/2025 · Atos de Deliberação do Administrador · p. 2-3 · data/raw/62310468000130/985036_documentary_review.pdf · https://fnet.bmfbovespa.com.br/fnet/publico/exibirDocumento?id=985036 · Observação: Conclusão documental revisada; preservar a versão e a unidade indicadas.</a:t>
            </a:r>
          </a:p>
          <a:p>
            <a:r>
              <a:t>CNPJ 54464892000100 · Waterfall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Waterfall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2026-10-07T14:59:40-03:00</a:t>
            </a:r>
          </a:p>
          <a:p>
            <a:r>
              <a:t>MT Consignado Privado I: CNPJ 60010416000112</a:t>
            </a:r>
          </a:p>
          <a:p>
            <a:r>
              <a:t>MT Consignado Privado II: CNPJ 58458416000138</a:t>
            </a:r>
          </a:p>
          <a:p>
            <a:r>
              <a:t>FGTS MT II: CNPJ 53179862000190</a:t>
            </a:r>
          </a:p>
          <a:p>
            <a:r>
              <a:t>MT INSS Receivables II: CNPJ 40752367000186</a:t>
            </a:r>
          </a:p>
          <a:p>
            <a:r>
              <a:t>MT INSS Receivables III: CNPJ 44173467000109</a:t>
            </a:r>
          </a:p>
          <a:p>
            <a:r>
              <a:t>MT INSS Receivables V: CNPJ 51290497000160</a:t>
            </a:r>
          </a:p>
          <a:p>
            <a:r>
              <a:t>MT FGTS Receivables IV: CNPJ 62010175000137</a:t>
            </a:r>
          </a:p>
          <a:p>
            <a:r>
              <a:t>MT INSS Receivables VI: CNPJ 62310468000130</a:t>
            </a:r>
          </a:p>
          <a:p>
            <a:r>
              <a:t>MT FGTS Receivables II: CNPJ 54464892000100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60010416000112 · Classes/séries · Sênior por séries; subordinada residual · Fundos.NET ID 1051393 · 09/10/2025 · Regulamento · p. 13-14, 48-50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Classes/séries · Sênior, subordinada mezanino e subordinada júnior · Fundos.NET ID 982232 · 28/08/2025 · Regulamento · p. 11 · data/raw/58458416000138/982232_documentary_review.pdf · https://fnet.bmfbovespa.com.br/fnet/publico/exibirDocumento?id=982232 · Observação: Conclusão documental revisada; preservar a versão e a unidade indicadas.</a:t>
            </a:r>
          </a:p>
          <a:p>
            <a:r>
              <a:t>CNPJ 53179862000190 · Classes/séries · Sênior e mezanino A por séries; demais classes sem validação integral · Fundos.NET ID 908443 · 31/03/2025 · Atos de Deliberação do Administrador · p. 1-3 · data/raw/53179862000190/908443_documentary_review.pdf · https://fnet.bmfbovespa.com.br/fnet/publico/exibirDocumento?id=908443 · Observação: Conclusão documental revisada; preservar a versão e a unidade indicadas.</a:t>
            </a:r>
          </a:p>
          <a:p>
            <a:r>
              <a:t>CNPJ 40752367000186 · Classes/séries · Subclasse única · Fundos.NET ID 846588 · 21/02/2025 · Regulamento · p. 14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Classes/séries · Sênior por série; subordinada mezanino; subordinada júnior · Fundos.NET ID 791513 · 28/11/2024 · Regulamento · p. 16-18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51290497000160 · Classes/séries · Classe A: sênior; mezanino; júnior · Fundos.NET ID 956736 · 28/07/2025 · Regulamento · p. 61, 68-80 · data/raw/51290497000160/956736_documentary_review.pdf · https://fnet.bmfbovespa.com.br/fnet/publico/exibirDocumento?id=956736 · Observação: Conclusão documental revisada; preservar a versão e a unidade indicadas.</a:t>
            </a:r>
          </a:p>
          <a:p>
            <a:r>
              <a:t>CNPJ 62010175000137 · Classes/séries · Sênior por série; mezanino por série; júnior · Fundos.NET ID 971924 · 13/08/2025 · Regulamento · p. 74-75 · data/raw/62010175000137/971924_documentary_review.pdf · https://fnet.bmfbovespa.com.br/fnet/publico/exibirDocumento?id=971924 · Observação: Conclusão documental revisada; preservar a versão e a unidade indicadas.</a:t>
            </a:r>
          </a:p>
          <a:p>
            <a:r>
              <a:t>CNPJ 62310468000130 · Classes/séries · Sênior; mezanino; júnior · Fundos.NET ID 985036 · 04/09/2025 · Atos de Deliberação do Administrador · p. 1-3 · data/raw/62310468000130/985036_documentary_review.pdf · https://fnet.bmfbovespa.com.br/fnet/publico/exibirDocumento?id=985036 · Observação: Conclusão documental revisada; preservar a versão e a unidade indicadas.</a:t>
            </a:r>
          </a:p>
          <a:p>
            <a:r>
              <a:t>CNPJ 54464892000100 · Classes/séries · Classe A: 2ª série sênior e 2ª emissão mezanino · Fundos.NET ID 823583 · 21/01/2025 · Oferta Pública de Distribuição de Cotas · p. 1 · data/raw/54464892000100/823583_documentary_review.pdf · https://fnet.bmfbovespa.com.br/fnet/publico/exibirDocumento?id=823583 · Observação: Conclusão documental revisada; preservar a versão e a unidade indicadas.</a:t>
            </a:r>
          </a:p>
          <a:p>
            <a:r>
              <a:t>CNPJ 63953620000165 · Classes/séries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Remuneração · 1ª sênior: DI + 4,80% a.a. + 15% do excesso de spread; teto DI + 6,00% · Fundos.NET ID 993785 · 20/03/2025 · Atos de Deliberação do Administrador · p. 4-5 · data/raw/60010416000112/993785_documentary_review.pdf · https://fnet.bmfbovespa.com.br/fnet/publico/exibirDocumento?id=993785 · Observação: Remuneração da primeira série; séries posteriores exigem respectivos atos. Não atribuir essa taxa a todas as séries.</a:t>
            </a:r>
          </a:p>
          <a:p>
            <a:r>
              <a:t>CNPJ 58458416000138 · Remuneração · 2ª emissão da 1ª série sênior: DI + 3,00% a.a. · Fundos.NET ID 1009401 · 08/10/2025 · Atos de Deliberação do Administrador · p. 3-4 · data/raw/58458416000138/1009401_documentary_review.pdf · https://fnet.bmfbovespa.com.br/fnet/publico/exibirDocumento?id=1009401 · Observação: Mezanino individualizado em emissions_rows.</a:t>
            </a:r>
          </a:p>
          <a:p>
            <a:r>
              <a:t>CNPJ 53179862000190 · Remuneração · 2ª série mezanino A: DI + 4,00% a.a. · Fundos.NET ID 908443 · 31/03/2025 · Atos de Deliberação do Administrador · p. 4 · data/raw/53179862000190/908443_documentary_review.pdf · https://fnet.bmfbovespa.com.br/fnet/publico/exibirDocumento?id=908443 · Observação: Não atribuir ao sênior ou às 3ª/4ª séries.</a:t>
            </a:r>
          </a:p>
          <a:p>
            <a:r>
              <a:t>CNPJ 40752367000186 · Remuneração · Cota patrimonial; sem DI + spread contratual para subclasse única · Fundos.NET ID 846588 · 21/02/2025 · Regulamento · p. 14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Remuneração · Benchmark sênior/mezanino remetido ao suplemento; spread final não localizado · Fundos.NET ID 791513 · 28/11/2024 · Regulamento · p. 51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51290497000160 · Remuneração · Taxas por suplemento; spread final não localizado no regulamento acessível · Fundos.NET ID 956736 · 28/07/2025 · Regulamento · p. 68-80 · data/raw/51290497000160/956736_documentary_review.pdf · https://fnet.bmfbovespa.com.br/fnet/publico/exibirDocumento?id=956736 · Observação: Taxa mínima de endosso 19,44% a.a. não é remuneração de cotas.</a:t>
            </a:r>
          </a:p>
          <a:p>
            <a:r>
              <a:t>CNPJ 62010175000137 · Remuneração · Spread final não localizado no anúncio acessível; exige suplemento · Fundos.NET ID 975532 · 21/08/2025 · Oferta Pública de Distribuição de Cotas · p. 1-5 · data/raw/62010175000137/975532_documentary_review.pdf · https://fnet.bmfbovespa.com.br/fnet/publico/exibirDocumento?id=975532 · Observação: Conclusão documental revisada; preservar a versão e a unidade indicadas.</a:t>
            </a:r>
          </a:p>
          <a:p>
            <a:r>
              <a:t>CNPJ 62310468000130 · Remuneração · 2ª sênior: DI + 0,95% a.a.; mezanino 1ª série, 2ª emissão: DI + 3,50% · Fundos.NET ID 1153512 · 01/04/2026 · Atos de Deliberação do Administrador · p. 4, 8, 12 · data/raw/62310468000130/1153512_documentary_review.pdf · https://fnet.bmfbovespa.com.br/fnet/publico/exibirDocumento?id=1153512 · Observação: PDF com codificação de texto corrompida; valores conferidos visualmente nas páginas renderizadas.</a:t>
            </a:r>
          </a:p>
          <a:p>
            <a:r>
              <a:t>CNPJ 54464892000100 · Remuneração · Spread final não localizado no anúncio; regulamento/suplementos inacessíveis · Fundos.NET ID 823583 · 21/01/2025 · Oferta Pública de Distribuição de Cotas · p. 1-3 · data/raw/54464892000100/823583_documentary_review.pdf · https://fnet.bmfbovespa.com.br/fnet/publico/exibirDocumento?id=823583 · Observação: Não extrapolar taxa de outro CNPJ ou outra série.</a:t>
            </a:r>
          </a:p>
          <a:p>
            <a:r>
              <a:t>CNPJ 63953620000165 · Remuneração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Volume/VNU · 1ª: 475 mil sênior + 25 mil subordinadas; R$ 500 mi; VNU R$ 1.000 · Fundos.NET ID 993785 · 20/03/2025 · Atos de Deliberação do Administrador · p. 2 · data/raw/60010416000112/993785_documentary_review.pdf · https://fnet.bmfbovespa.com.br/fnet/publico/exibirDocumento?id=993785 · Observação: Conclusão documental revisada; preservar a versão e a unidade indicadas.</a:t>
            </a:r>
          </a:p>
          <a:p>
            <a:r>
              <a:t>CNPJ 58458416000138 · Volume/VNU · 3ª júnior R$ 13 mi; VNU patrimonial vigente na integralização · Fundos.NET ID 1237489 · 01/07/2026 · Atos de Deliberação do Administrador · p. 3 · data/raw/58458416000138/1237489_documentary_review.pdf · https://fnet.bmfbovespa.com.br/fnet/publico/exibirDocumento?id=1237489 · Observação: Conclusão documental revisada; preservar a versão e a unidade indicadas.</a:t>
            </a:r>
          </a:p>
          <a:p>
            <a:r>
              <a:t>CNPJ 53179862000190 · Volume/VNU · 3ª: 53.316,2271 sênior e 1.878,6298 mezanino A; VNU inicial R$ 1.000 · Fundos.NET ID 1090574 · 23/01/2026 · Oferta Pública de Distribuição de Cotas · p. 1 · data/raw/53179862000190/1090574_documentary_review.pdf · https://fnet.bmfbovespa.com.br/fnet/publico/exibirDocumento?id=1090574 · Observação: Valor final do anúncio: R$ 56.958.011,98.</a:t>
            </a:r>
          </a:p>
          <a:p>
            <a:r>
              <a:t>CNPJ 40752367000186 · Volume/VNU · 1ª emissão até R$ 300 mi; 300 mil cotas; VNU R$ 1.000 · Fundos.NET ID 846588 · 21/02/2025 · Regulamento · p. 14 · data/raw/40752367000186/846588_documentary_review.pdf · https://fnet.bmfbovespa.com.br/fnet/publico/exibirDocumento?id=846588 · Observação: Valor aprovado histórico, não PL atual.</a:t>
            </a:r>
          </a:p>
          <a:p>
            <a:r>
              <a:t>CNPJ 44173467000109 · Volume/VNU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Volume/VNU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Volume/VNU · 1ª oferta até R$ 500 mi sênior + R$ 58,824 mi mezanino; VNU R$ 1.000 · Fundos.NET ID 975532 · 21/08/2025 · Oferta Pública de Distribuição de Cotas · p. 1-2 · data/raw/62010175000137/975532_documentary_review.pdf · https://fnet.bmfbovespa.com.br/fnet/publico/exibirDocumento?id=975532 · Observação: Anúncio de início; resultado final não localizado.</a:t>
            </a:r>
          </a:p>
          <a:p>
            <a:r>
              <a:t>CNPJ 62310468000130 · Volume/VNU · 2ª sênior R$ 600 mi; 2ª mezanino R$ 105 mi; 3ª júnior R$ 36 mi; VNU R$ 1.000 · Fundos.NET ID 1153512 · 01/04/2026 · Atos de Deliberação do Administrador · p. 2, 4, 8 · data/raw/62310468000130/1153512_documentary_review.pdf · https://fnet.bmfbovespa.com.br/fnet/publico/exibirDocumento?id=1153512 · Observação: Deliberação 01/04/2026; valores aprovados em colocação privada.</a:t>
            </a:r>
          </a:p>
          <a:p>
            <a:r>
              <a:t>CNPJ 54464892000100 · Volume/VNU · Distribuídos R$ 400 mi sênior + R$ 47,06 mi mezanino; VNU R$ 1.000 · Fundos.NET ID 823583 · 21/01/2025 · Oferta Pública de Distribuição de Cotas · p. 1-3 · data/raw/54464892000100/823583_documentary_review.pdf · https://fnet.bmfbovespa.com.br/fnet/publico/exibirDocumento?id=823583 · Observação: Conclusão documental revisada; preservar a versão e a unidade indicadas.</a:t>
            </a:r>
          </a:p>
          <a:p>
            <a:r>
              <a:t>CNPJ 63953620000165 · Volume/VNU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Ofertas · 1ª emissão deliberada 20/03/2025; distribuição final não localizada neste corpus · Fundos.NET ID 993785 · 20/03/2025 · Atos de Deliberação do Administrador · p. 1-2 · data/raw/60010416000112/993785_documentary_review.pdf · https://fnet.bmfbovespa.com.br/fnet/publico/exibirDocumento?id=993785 · Observação: Conclusão documental revisada; preservar a versão e a unidade indicadas.</a:t>
            </a:r>
          </a:p>
          <a:p>
            <a:r>
              <a:t>CNPJ 58458416000138 · Ofertas · 3ª júnior: R$ 13 mi para reenquadramento; deliberação 01/07/2026 · Fundos.NET ID 1237489 · 01/07/2026 · Atos de Deliberação do Administrador · p. 1-3 · data/raw/58458416000138/1237489_documentary_review.pdf · https://fnet.bmfbovespa.com.br/fnet/publico/exibirDocumento?id=1237489 · Observação: Privada, VNU vigente; não há benchmark júnior.</a:t>
            </a:r>
          </a:p>
          <a:p>
            <a:r>
              <a:t>CNPJ 53179862000190 · Ofertas · 3ª série encerrada 23/01/2026; distribuídos R$ 56.958.011,98 · Fundos.NET ID 1090574 · 23/01/2026 · Oferta Pública de Distribuição de Cotas · p. 1 · data/raw/53179862000190/1090574_documentary_review.pdf · https://fnet.bmfbovespa.com.br/fnet/publico/exibirDocumento?id=1090574 · Observação: Cotas atualizadas fazem volume distribuído diferir de quantidade × VNU inicial.</a:t>
            </a:r>
          </a:p>
          <a:p>
            <a:r>
              <a:t>CNPJ 40752367000186 · Ofertas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Ofertas · 3ª emissão júnior: até R$ 500 mil; VNU R$ 1.000; deliberada 30/12/2025 · Fundos.NET ID 1078471 · 30/12/2025 · Atos de Deliberação do Administrador · p. 1 · data/raw/44173467000109/1078471_documentary_review.pdf · https://fnet.bmfbovespa.com.br/fnet/publico/exibirDocumento?id=1078471 · Observação: Para recompor garantia; cancelado saldo anterior não subscrito e não integralizado.</a:t>
            </a:r>
          </a:p>
          <a:p>
            <a:r>
              <a:t>CNPJ 51290497000160 · Ofertas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Ofertas · 1ª oferta registrada 20/08/2025 · Fundos.NET ID 975532 · 21/08/2025 · Oferta Pública de Distribuição de Cotas · p. 1 · data/raw/62010175000137/975532_documentary_review.pdf · https://fnet.bmfbovespa.com.br/fnet/publico/exibirDocumento?id=975532 · Observação: Conclusão documental revisada; preservar a versão e a unidade indicadas.</a:t>
            </a:r>
          </a:p>
          <a:p>
            <a:r>
              <a:t>CNPJ 62310468000130 · Ofertas · Novas emissões privadas deliberadas 01/04/2026 · Fundos.NET ID 1153512 · 01/04/2026 · Atos de Deliberação do Administrador · p. 2-3 · data/raw/62310468000130/1153512_documentary_review.pdf · https://fnet.bmfbovespa.com.br/fnet/publico/exibirDocumento?id=1153512 · Observação: Conclusão documental revisada; preservar a versão e a unidade indicadas.</a:t>
            </a:r>
          </a:p>
          <a:p>
            <a:r>
              <a:t>CNPJ 54464892000100 · Ofertas · Encerramento 21/01/2025; registro 14/10/2024 · Fundos.NET ID 823583 · 21/01/2025 · Oferta Pública de Distribuição de Cotas · p. 1, 3 · data/raw/54464892000100/823583_documentary_review.pdf · https://fnet.bmfbovespa.com.br/fnet/publico/exibirDocumento?id=823583 · Observação: Conclusão documental revisada; preservar a versão e a unidade indicadas.</a:t>
            </a:r>
          </a:p>
          <a:p>
            <a:r>
              <a:t>CNPJ 63953620000165 · Ofertas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Remuneração adicional · Não localizado nas fontes acessíveis desta leitura · ID 1051393 · 09/10/2025 · data/raw/60010416000112/1051393_documentary_review.pdf; ID 993786 · 20/03/2025 · data/raw/60010416000112/993786_documentary_review.pdf; ID 993785 · 20/03/2025 · data/raw/60010416000112/993785_documentary_review.pdf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58458416000138 · Remuneração adicional · Não localizado nas fontes acessíveis desta leitura · ID 982232 · 28/08/2025 · data/raw/58458416000138/982232_documentary_review.pdf; ID 1237489 · 01/07/2026 · data/raw/58458416000138/1237489_documentary_review.pdf; ID 1009401 · 08/10/2025 · data/raw/58458416000138/1009401_documentary_review.pdf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53179862000190 · Remuneração adicional · Não localizado nas fontes acessíveis desta leitura · ID 1232504 · 29/06/2026 · data/raw/53179862000190/1232504_documentary_review.pdf; ID 1090574 · 23/01/2026 · data/raw/53179862000190/1090574_documentary_review.pdf; ID 953854 · 28/07/2025 · data/raw/53179862000190/953854_documentary_review.pdf; ID 926238 · 16/06/2025 · data/raw/53179862000190/926238_documentary_review.pdf; ID 908443 · 31/03/2025 · data/raw/53179862000190/908443_documentary_review.pdf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40752367000186 · Remuneração adicional · Não localizado nas fontes acessíveis desta leitura · ID 846588 · 21/02/2025 · data/raw/40752367000186/846588_documentary_review.pdf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44173467000109 · Remuneração adicional · Não localizado nas fontes acessíveis desta leitura · ID 1078471 · 30/12/2025 · data/raw/44173467000109/1078471_documentary_review.pdf; ID 791513 · 28/11/2024 · data/raw/44173467000109/791513_documentary_review.pdf; ID 467860 · 10/05/2023 · data/raw/44173467000109/467860_documentary_review.pdf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51290497000160 · Remuneração adicional · Não localizado nas fontes acessíveis desta leitura · ID 956736 · 28/07/2025 · data/raw/51290497000160/956736_documentary_review.pdf; ID 913141 · 21/05/2025 · data/raw/51290497000160/913141_documentary_review.pdf; ID 557485 · 21/11/2023 · data/raw/51290497000160/557485_documentary_review.pdf; ID 551560 · 10/11/2023 · data/raw/51290497000160/551560_documentary_review.pdf; ID 545845 · 06/11/2023 · data/raw/51290497000160/545845_documentary_review.pdf; ID 528268 · 28/09/2023 · data/raw/51290497000160/528268_documentary_review.pdf; ID 526857 · 26/09/2023 · data/raw/51290497000160/526857_documentary_review.pdf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62010175000137 · Remuneração adicional · Não localizado nas fontes acessíveis desta leitura · ID 971924 · 13/08/2025 · data/raw/62010175000137/971924_documentary_review.pdf; ID 975532 · 21/08/2025 · data/raw/62010175000137/975532_documentary_review.pdf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62310468000130 · Remuneração adicional · Sênior/mezanino: 0,38% do valor integralizado, parcela única em até 40 dias · Fundos.NET ID 985036 · 04/09/2025 · Atos de Deliberação do Administrador · p. 1 · data/raw/62310468000130/985036_documentary_review.pdf · https://fnet.bmfbovespa.com.br/fnet/publico/exibirDocumento?id=985036 · Observação: Benefício adicional da versão de 04/09/2025; confirmar manutenção para séries posteriores.</a:t>
            </a:r>
          </a:p>
          <a:p>
            <a:r>
              <a:t>CNPJ 54464892000100 · Remuneração adicional · Não localizado nas fontes acessíveis desta leitura · ID 823583 · 21/01/2025 · data/raw/54464892000100/823583_documentary_review.pdf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63953620000165 · Remuneração adicional · Não localizado nas fontes acessíveis desta leitura · Unidade de análise: CNPJ da carteira. Conclusões restritas às páginas materiais dos PDFs locais identificados; inventário pode ser preservado de consulta anterior quando Fundos.NET falha. Não certifica leitura integral de todos os documentos do inventário.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2026-10-07T14:59:40-03:00</a:t>
            </a:r>
          </a:p>
          <a:p>
            <a:r>
              <a:t>MT Consignado Privado I: CNPJ 60010416000112</a:t>
            </a:r>
          </a:p>
          <a:p>
            <a:r>
              <a:t>MT Consignado Privado II: CNPJ 58458416000138</a:t>
            </a:r>
          </a:p>
          <a:p>
            <a:r>
              <a:t>FGTS MT II: CNPJ 53179862000190</a:t>
            </a:r>
          </a:p>
          <a:p>
            <a:r>
              <a:t>MT INSS Receivables II: CNPJ 40752367000186</a:t>
            </a:r>
          </a:p>
          <a:p>
            <a:r>
              <a:t>MT INSS Receivables III: CNPJ 44173467000109</a:t>
            </a:r>
          </a:p>
          <a:p>
            <a:r>
              <a:t>MT INSS Receivables V: CNPJ 51290497000160</a:t>
            </a:r>
          </a:p>
          <a:p>
            <a:r>
              <a:t>MT FGTS Receivables IV: CNPJ 62010175000137</a:t>
            </a:r>
          </a:p>
          <a:p>
            <a:r>
              <a:t>MT INSS Receivables VI: CNPJ 62310468000130</a:t>
            </a:r>
          </a:p>
          <a:p>
            <a:r>
              <a:t>MT FGTS Receivables II: CNPJ 54464892000100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60010416000112 · Classes/séries · Sênior por séries; subordinada residual · Fundos.NET ID 1051393 · 09/10/2025 · Regulamento · p. 13-14, 48-50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Classes/séries · Sênior, subordinada mezanino e subordinada júnior · Fundos.NET ID 982232 · 28/08/2025 · Regulamento · p. 11 · data/raw/58458416000138/982232_documentary_review.pdf · https://fnet.bmfbovespa.com.br/fnet/publico/exibirDocumento?id=982232 · Observação: Conclusão documental revisada; preservar a versão e a unidade indicadas.</a:t>
            </a:r>
          </a:p>
          <a:p>
            <a:r>
              <a:t>CNPJ 53179862000190 · Classes/séries · Sênior e mezanino A por séries; demais classes sem validação integral · Fundos.NET ID 908443 · 31/03/2025 · Atos de Deliberação do Administrador · p. 1-3 · data/raw/53179862000190/908443_documentary_review.pdf · https://fnet.bmfbovespa.com.br/fnet/publico/exibirDocumento?id=908443 · Observação: Conclusão documental revisada; preservar a versão e a unidade indicadas.</a:t>
            </a:r>
          </a:p>
          <a:p>
            <a:r>
              <a:t>CNPJ 40752367000186 · Classes/séries · Subclasse única · Fundos.NET ID 846588 · 21/02/2025 · Regulamento · p. 14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Classes/séries · Sênior por série; subordinada mezanino; subordinada júnior · Fundos.NET ID 791513 · 28/11/2024 · Regulamento · p. 16-18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51290497000160 · Classes/séries · Classe A: sênior; mezanino; júnior · Fundos.NET ID 956736 · 28/07/2025 · Regulamento · p. 61, 68-80 · data/raw/51290497000160/956736_documentary_review.pdf · https://fnet.bmfbovespa.com.br/fnet/publico/exibirDocumento?id=956736 · Observação: Conclusão documental revisada; preservar a versão e a unidade indicadas.</a:t>
            </a:r>
          </a:p>
          <a:p>
            <a:r>
              <a:t>CNPJ 62010175000137 · Classes/séries · Sênior por série; mezanino por série; júnior · Fundos.NET ID 971924 · 13/08/2025 · Regulamento · p. 74-75 · data/raw/62010175000137/971924_documentary_review.pdf · https://fnet.bmfbovespa.com.br/fnet/publico/exibirDocumento?id=971924 · Observação: Conclusão documental revisada; preservar a versão e a unidade indicadas.</a:t>
            </a:r>
          </a:p>
          <a:p>
            <a:r>
              <a:t>CNPJ 62310468000130 · Classes/séries · Sênior; mezanino; júnior · Fundos.NET ID 985036 · 04/09/2025 · Atos de Deliberação do Administrador · p. 1-3 · data/raw/62310468000130/985036_documentary_review.pdf · https://fnet.bmfbovespa.com.br/fnet/publico/exibirDocumento?id=985036 · Observação: Conclusão documental revisada; preservar a versão e a unidade indicadas.</a:t>
            </a:r>
          </a:p>
          <a:p>
            <a:r>
              <a:t>CNPJ 54464892000100 · Classes/séries · Classe A: 2ª série sênior e 2ª emissão mezanino · Fundos.NET ID 823583 · 21/01/2025 · Oferta Pública de Distribuição de Cotas · p. 1 · data/raw/54464892000100/823583_documentary_review.pdf · https://fnet.bmfbovespa.com.br/fnet/publico/exibirDocumento?id=823583 · Observação: Conclusão documental revisada; preservar a versão e a unidade indicadas.</a:t>
            </a:r>
          </a:p>
          <a:p>
            <a:r>
              <a:t>CNPJ 63953620000165 · Classes/séries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Remuneração · 1ª sênior: DI + 4,80% a.a. + 15% do excesso de spread; teto DI + 6,00% · Fundos.NET ID 993785 · 20/03/2025 · Atos de Deliberação do Administrador · p. 4-5 · data/raw/60010416000112/993785_documentary_review.pdf · https://fnet.bmfbovespa.com.br/fnet/publico/exibirDocumento?id=993785 · Observação: Remuneração da primeira série; séries posteriores exigem respectivos atos. Não atribuir essa taxa a todas as séries.</a:t>
            </a:r>
          </a:p>
          <a:p>
            <a:r>
              <a:t>CNPJ 58458416000138 · Remuneração · 2ª emissão da 1ª série sênior: DI + 3,00% a.a. · Fundos.NET ID 1009401 · 08/10/2025 · Atos de Deliberação do Administrador · p. 3-4 · data/raw/58458416000138/1009401_documentary_review.pdf · https://fnet.bmfbovespa.com.br/fnet/publico/exibirDocumento?id=1009401 · Observação: Mezanino individualizado em emissions_rows.</a:t>
            </a:r>
          </a:p>
          <a:p>
            <a:r>
              <a:t>CNPJ 53179862000190 · Remuneração · 2ª série mezanino A: DI + 4,00% a.a. · Fundos.NET ID 908443 · 31/03/2025 · Atos de Deliberação do Administrador · p. 4 · data/raw/53179862000190/908443_documentary_review.pdf · https://fnet.bmfbovespa.com.br/fnet/publico/exibirDocumento?id=908443 · Observação: Não atribuir ao sênior ou às 3ª/4ª séries.</a:t>
            </a:r>
          </a:p>
          <a:p>
            <a:r>
              <a:t>CNPJ 40752367000186 · Remuneração · Cota patrimonial; sem DI + spread contratual para subclasse única · Fundos.NET ID 846588 · 21/02/2025 · Regulamento · p. 14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Remuneração · Benchmark sênior/mezanino remetido ao suplemento; spread final não localizado · Fundos.NET ID 791513 · 28/11/2024 · Regulamento · p. 51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51290497000160 · Remuneração · Taxas por suplemento; spread final não localizado no regulamento acessível · Fundos.NET ID 956736 · 28/07/2025 · Regulamento · p. 68-80 · data/raw/51290497000160/956736_documentary_review.pdf · https://fnet.bmfbovespa.com.br/fnet/publico/exibirDocumento?id=956736 · Observação: Taxa mínima de endosso 19,44% a.a. não é remuneração de cotas.</a:t>
            </a:r>
          </a:p>
          <a:p>
            <a:r>
              <a:t>CNPJ 62010175000137 · Remuneração · Spread final não localizado no anúncio acessível; exige suplemento · Fundos.NET ID 975532 · 21/08/2025 · Oferta Pública de Distribuição de Cotas · p. 1-5 · data/raw/62010175000137/975532_documentary_review.pdf · https://fnet.bmfbovespa.com.br/fnet/publico/exibirDocumento?id=975532 · Observação: Conclusão documental revisada; preservar a versão e a unidade indicadas.</a:t>
            </a:r>
          </a:p>
          <a:p>
            <a:r>
              <a:t>CNPJ 62310468000130 · Remuneração · 2ª sênior: DI + 0,95% a.a.; mezanino 1ª série, 2ª emissão: DI + 3,50% · Fundos.NET ID 1153512 · 01/04/2026 · Atos de Deliberação do Administrador · p. 4, 8, 12 · data/raw/62310468000130/1153512_documentary_review.pdf · https://fnet.bmfbovespa.com.br/fnet/publico/exibirDocumento?id=1153512 · Observação: PDF com codificação de texto corrompida; valores conferidos visualmente nas páginas renderizadas.</a:t>
            </a:r>
          </a:p>
          <a:p>
            <a:r>
              <a:t>CNPJ 54464892000100 · Remuneração · Spread final não localizado no anúncio; regulamento/suplementos inacessíveis · Fundos.NET ID 823583 · 21/01/2025 · Oferta Pública de Distribuição de Cotas · p. 1-3 · data/raw/54464892000100/823583_documentary_review.pdf · https://fnet.bmfbovespa.com.br/fnet/publico/exibirDocumento?id=823583 · Observação: Não extrapolar taxa de outro CNPJ ou outra série.</a:t>
            </a:r>
          </a:p>
          <a:p>
            <a:r>
              <a:t>CNPJ 63953620000165 · Remuneração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Volume/VNU · 1ª: 475 mil sênior + 25 mil subordinadas; R$ 500 mi; VNU R$ 1.000 · Fundos.NET ID 993785 · 20/03/2025 · Atos de Deliberação do Administrador · p. 2 · data/raw/60010416000112/993785_documentary_review.pdf · https://fnet.bmfbovespa.com.br/fnet/publico/exibirDocumento?id=993785 · Observação: Conclusão documental revisada; preservar a versão e a unidade indicadas.</a:t>
            </a:r>
          </a:p>
          <a:p>
            <a:r>
              <a:t>CNPJ 58458416000138 · Volume/VNU · 3ª júnior R$ 13 mi; VNU patrimonial vigente na integralização · Fundos.NET ID 1237489 · 01/07/2026 · Atos de Deliberação do Administrador · p. 3 · data/raw/58458416000138/1237489_documentary_review.pdf · https://fnet.bmfbovespa.com.br/fnet/publico/exibirDocumento?id=1237489 · Observação: Conclusão documental revisada; preservar a versão e a unidade indicadas.</a:t>
            </a:r>
          </a:p>
          <a:p>
            <a:r>
              <a:t>CNPJ 53179862000190 · Volume/VNU · 3ª: 53.316,2271 sênior e 1.878,6298 mezanino A; VNU inicial R$ 1.000 · Fundos.NET ID 1090574 · 23/01/2026 · Oferta Pública de Distribuição de Cotas · p. 1 · data/raw/53179862000190/1090574_documentary_review.pdf · https://fnet.bmfbovespa.com.br/fnet/publico/exibirDocumento?id=1090574 · Observação: Valor final do anúncio: R$ 56.958.011,98.</a:t>
            </a:r>
          </a:p>
          <a:p>
            <a:r>
              <a:t>CNPJ 40752367000186 · Volume/VNU · 1ª emissão até R$ 300 mi; 300 mil cotas; VNU R$ 1.000 · Fundos.NET ID 846588 · 21/02/2025 · Regulamento · p. 14 · data/raw/40752367000186/846588_documentary_review.pdf · https://fnet.bmfbovespa.com.br/fnet/publico/exibirDocumento?id=846588 · Observação: Valor aprovado histórico, não PL atual.</a:t>
            </a:r>
          </a:p>
          <a:p>
            <a:r>
              <a:t>CNPJ 44173467000109 · Volume/VNU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Volume/VNU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Volume/VNU · 1ª oferta até R$ 500 mi sênior + R$ 58,824 mi mezanino; VNU R$ 1.000 · Fundos.NET ID 975532 · 21/08/2025 · Oferta Pública de Distribuição de Cotas · p. 1-2 · data/raw/62010175000137/975532_documentary_review.pdf · https://fnet.bmfbovespa.com.br/fnet/publico/exibirDocumento?id=975532 · Observação: Anúncio de início; resultado final não localizado.</a:t>
            </a:r>
          </a:p>
          <a:p>
            <a:r>
              <a:t>CNPJ 62310468000130 · Volume/VNU · 2ª sênior R$ 600 mi; 2ª mezanino R$ 105 mi; 3ª júnior R$ 36 mi; VNU R$ 1.000 · Fundos.NET ID 1153512 · 01/04/2026 · Atos de Deliberação do Administrador · p. 2, 4, 8 · data/raw/62310468000130/1153512_documentary_review.pdf · https://fnet.bmfbovespa.com.br/fnet/publico/exibirDocumento?id=1153512 · Observação: Deliberação 01/04/2026; valores aprovados em colocação privada.</a:t>
            </a:r>
          </a:p>
          <a:p>
            <a:r>
              <a:t>CNPJ 54464892000100 · Volume/VNU · Distribuídos R$ 400 mi sênior + R$ 47,06 mi mezanino; VNU R$ 1.000 · Fundos.NET ID 823583 · 21/01/2025 · Oferta Pública de Distribuição de Cotas · p. 1-3 · data/raw/54464892000100/823583_documentary_review.pdf · https://fnet.bmfbovespa.com.br/fnet/publico/exibirDocumento?id=823583 · Observação: Conclusão documental revisada; preservar a versão e a unidade indicadas.</a:t>
            </a:r>
          </a:p>
          <a:p>
            <a:r>
              <a:t>CNPJ 63953620000165 · Volume/VNU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Ofertas · 1ª emissão deliberada 20/03/2025; distribuição final não localizada neste corpus · Fundos.NET ID 993785 · 20/03/2025 · Atos de Deliberação do Administrador · p. 1-2 · data/raw/60010416000112/993785_documentary_review.pdf · https://fnet.bmfbovespa.com.br/fnet/publico/exibirDocumento?id=993785 · Observação: Conclusão documental revisada; preservar a versão e a unidade indicadas.</a:t>
            </a:r>
          </a:p>
          <a:p>
            <a:r>
              <a:t>CNPJ 58458416000138 · Ofertas · 3ª júnior: R$ 13 mi para reenquadramento; deliberação 01/07/2026 · Fundos.NET ID 1237489 · 01/07/2026 · Atos de Deliberação do Administrador · p. 1-3 · data/raw/58458416000138/1237489_documentary_review.pdf · https://fnet.bmfbovespa.com.br/fnet/publico/exibirDocumento?id=1237489 · Observação: Privada, VNU vigente; não há benchmark júnior.</a:t>
            </a:r>
          </a:p>
          <a:p>
            <a:r>
              <a:t>CNPJ 53179862000190 · Ofertas · 3ª série encerrada 23/01/2026; distribuídos R$ 56.958.011,98 · Fundos.NET ID 1090574 · 23/01/2026 · Oferta Pública de Distribuição de Cotas · p. 1 · data/raw/53179862000190/1090574_documentary_review.pdf · https://fnet.bmfbovespa.com.br/fnet/publico/exibirDocumento?id=1090574 · Observação: Cotas atualizadas fazem volume distribuído diferir de quantidade × VNU inicial.</a:t>
            </a:r>
          </a:p>
          <a:p>
            <a:r>
              <a:t>CNPJ 40752367000186 · Ofertas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Ofertas · 3ª emissão júnior: até R$ 500 mil; VNU R$ 1.000; deliberada 30/12/2025 · Fundos.NET ID 1078471 · 30/12/2025 · Atos de Deliberação do Administrador · p. 1 · data/raw/44173467000109/1078471_documentary_review.pdf · https://fnet.bmfbovespa.com.br/fnet/publico/exibirDocumento?id=1078471 · Observação: Para recompor garantia; cancelado saldo anterior não subscrito e não integralizado.</a:t>
            </a:r>
          </a:p>
          <a:p>
            <a:r>
              <a:t>CNPJ 51290497000160 · Ofertas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Ofertas · 1ª oferta registrada 20/08/2025 · Fundos.NET ID 975532 · 21/08/2025 · Oferta Pública de Distribuição de Cotas · p. 1 · data/raw/62010175000137/975532_documentary_review.pdf · https://fnet.bmfbovespa.com.br/fnet/publico/exibirDocumento?id=975532 · Observação: Conclusão documental revisada; preservar a versão e a unidade indicadas.</a:t>
            </a:r>
          </a:p>
          <a:p>
            <a:r>
              <a:t>CNPJ 62310468000130 · Ofertas · Novas emissões privadas deliberadas 01/04/2026 · Fundos.NET ID 1153512 · 01/04/2026 · Atos de Deliberação do Administrador · p. 2-3 · data/raw/62310468000130/1153512_documentary_review.pdf · https://fnet.bmfbovespa.com.br/fnet/publico/exibirDocumento?id=1153512 · Observação: Conclusão documental revisada; preservar a versão e a unidade indicadas.</a:t>
            </a:r>
          </a:p>
          <a:p>
            <a:r>
              <a:t>CNPJ 54464892000100 · Ofertas · Encerramento 21/01/2025; registro 14/10/2024 · Fundos.NET ID 823583 · 21/01/2025 · Oferta Pública de Distribuição de Cotas · p. 1, 3 · data/raw/54464892000100/823583_documentary_review.pdf · https://fnet.bmfbovespa.com.br/fnet/publico/exibirDocumento?id=823583 · Observação: Conclusão documental revisada; preservar a versão e a unidade indicadas.</a:t>
            </a:r>
          </a:p>
          <a:p>
            <a:r>
              <a:t>CNPJ 63953620000165 · Ofertas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Remuneração adicional · Não localizado nas fontes acessíveis desta leitura · ID 1051393 · 09/10/2025 · data/raw/60010416000112/1051393_documentary_review.pdf; ID 993786 · 20/03/2025 · data/raw/60010416000112/993786_documentary_review.pdf; ID 993785 · 20/03/2025 · data/raw/60010416000112/993785_documentary_review.pdf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58458416000138 · Remuneração adicional · Não localizado nas fontes acessíveis desta leitura · ID 982232 · 28/08/2025 · data/raw/58458416000138/982232_documentary_review.pdf; ID 1237489 · 01/07/2026 · data/raw/58458416000138/1237489_documentary_review.pdf; ID 1009401 · 08/10/2025 · data/raw/58458416000138/1009401_documentary_review.pdf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53179862000190 · Remuneração adicional · Não localizado nas fontes acessíveis desta leitura · ID 1232504 · 29/06/2026 · data/raw/53179862000190/1232504_documentary_review.pdf; ID 1090574 · 23/01/2026 · data/raw/53179862000190/1090574_documentary_review.pdf; ID 953854 · 28/07/2025 · data/raw/53179862000190/953854_documentary_review.pdf; ID 926238 · 16/06/2025 · data/raw/53179862000190/926238_documentary_review.pdf; ID 908443 · 31/03/2025 · data/raw/53179862000190/908443_documentary_review.pdf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40752367000186 · Remuneração adicional · Não localizado nas fontes acessíveis desta leitura · ID 846588 · 21/02/2025 · data/raw/40752367000186/846588_documentary_review.pdf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44173467000109 · Remuneração adicional · Não localizado nas fontes acessíveis desta leitura · ID 1078471 · 30/12/2025 · data/raw/44173467000109/1078471_documentary_review.pdf; ID 791513 · 28/11/2024 · data/raw/44173467000109/791513_documentary_review.pdf; ID 467860 · 10/05/2023 · data/raw/44173467000109/467860_documentary_review.pdf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51290497000160 · Remuneração adicional · Não localizado nas fontes acessíveis desta leitura · ID 956736 · 28/07/2025 · data/raw/51290497000160/956736_documentary_review.pdf; ID 913141 · 21/05/2025 · data/raw/51290497000160/913141_documentary_review.pdf; ID 557485 · 21/11/2023 · data/raw/51290497000160/557485_documentary_review.pdf; ID 551560 · 10/11/2023 · data/raw/51290497000160/551560_documentary_review.pdf; ID 545845 · 06/11/2023 · data/raw/51290497000160/545845_documentary_review.pdf; ID 528268 · 28/09/2023 · data/raw/51290497000160/528268_documentary_review.pdf; ID 526857 · 26/09/2023 · data/raw/51290497000160/526857_documentary_review.pdf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62010175000137 · Remuneração adicional · Não localizado nas fontes acessíveis desta leitura · ID 971924 · 13/08/2025 · data/raw/62010175000137/971924_documentary_review.pdf; ID 975532 · 21/08/2025 · data/raw/62010175000137/975532_documentary_review.pdf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62310468000130 · Remuneração adicional · Sênior/mezanino: 0,38% do valor integralizado, parcela única em até 40 dias · Fundos.NET ID 985036 · 04/09/2025 · Atos de Deliberação do Administrador · p. 1 · data/raw/62310468000130/985036_documentary_review.pdf · https://fnet.bmfbovespa.com.br/fnet/publico/exibirDocumento?id=985036 · Observação: Benefício adicional da versão de 04/09/2025; confirmar manutenção para séries posteriores.</a:t>
            </a:r>
          </a:p>
          <a:p>
            <a:r>
              <a:t>CNPJ 54464892000100 · Remuneração adicional · Não localizado nas fontes acessíveis desta leitura · ID 823583 · 21/01/2025 · data/raw/54464892000100/823583_documentary_review.pdf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63953620000165 · Remuneração adicional · Não localizado nas fontes acessíveis desta leitura · Unidade de análise: CNPJ da carteira. Conclusões restritas às páginas materiais dos PDFs locais identificados; inventário pode ser preservado de consulta anterior quando Fundos.NET falha. Não certifica leitura integral de todos os documentos do inventário.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2026-10-07T14:59:40-03:00</a:t>
            </a:r>
          </a:p>
          <a:p>
            <a:r>
              <a:t>MT Consignado Privado I: CNPJ 60010416000112</a:t>
            </a:r>
          </a:p>
          <a:p>
            <a:r>
              <a:t>MT Consignado Privado II: CNPJ 58458416000138</a:t>
            </a:r>
          </a:p>
          <a:p>
            <a:r>
              <a:t>FGTS MT II: CNPJ 53179862000190</a:t>
            </a:r>
          </a:p>
          <a:p>
            <a:r>
              <a:t>MT INSS Receivables II: CNPJ 40752367000186</a:t>
            </a:r>
          </a:p>
          <a:p>
            <a:r>
              <a:t>MT INSS Receivables III: CNPJ 44173467000109</a:t>
            </a:r>
          </a:p>
          <a:p>
            <a:r>
              <a:t>MT INSS Receivables V: CNPJ 51290497000160</a:t>
            </a:r>
          </a:p>
          <a:p>
            <a:r>
              <a:t>MT FGTS Receivables IV: CNPJ 62010175000137</a:t>
            </a:r>
          </a:p>
          <a:p>
            <a:r>
              <a:t>MT INSS Receivables VI: CNPJ 62310468000130</a:t>
            </a:r>
          </a:p>
          <a:p>
            <a:r>
              <a:t>MT FGTS Receivables II: CNPJ 54464892000100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60010416000112 · Classes/séries · Sênior por séries; subordinada residual · Fundos.NET ID 1051393 · 09/10/2025 · Regulamento · p. 13-14, 48-50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Classes/séries · Sênior, subordinada mezanino e subordinada júnior · Fundos.NET ID 982232 · 28/08/2025 · Regulamento · p. 11 · data/raw/58458416000138/982232_documentary_review.pdf · https://fnet.bmfbovespa.com.br/fnet/publico/exibirDocumento?id=982232 · Observação: Conclusão documental revisada; preservar a versão e a unidade indicadas.</a:t>
            </a:r>
          </a:p>
          <a:p>
            <a:r>
              <a:t>CNPJ 53179862000190 · Classes/séries · Sênior e mezanino A por séries; demais classes sem validação integral · Fundos.NET ID 908443 · 31/03/2025 · Atos de Deliberação do Administrador · p. 1-3 · data/raw/53179862000190/908443_documentary_review.pdf · https://fnet.bmfbovespa.com.br/fnet/publico/exibirDocumento?id=908443 · Observação: Conclusão documental revisada; preservar a versão e a unidade indicadas.</a:t>
            </a:r>
          </a:p>
          <a:p>
            <a:r>
              <a:t>CNPJ 40752367000186 · Classes/séries · Subclasse única · Fundos.NET ID 846588 · 21/02/2025 · Regulamento · p. 14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Classes/séries · Sênior por série; subordinada mezanino; subordinada júnior · Fundos.NET ID 791513 · 28/11/2024 · Regulamento · p. 16-18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51290497000160 · Classes/séries · Classe A: sênior; mezanino; júnior · Fundos.NET ID 956736 · 28/07/2025 · Regulamento · p. 61, 68-80 · data/raw/51290497000160/956736_documentary_review.pdf · https://fnet.bmfbovespa.com.br/fnet/publico/exibirDocumento?id=956736 · Observação: Conclusão documental revisada; preservar a versão e a unidade indicadas.</a:t>
            </a:r>
          </a:p>
          <a:p>
            <a:r>
              <a:t>CNPJ 62010175000137 · Classes/séries · Sênior por série; mezanino por série; júnior · Fundos.NET ID 971924 · 13/08/2025 · Regulamento · p. 74-75 · data/raw/62010175000137/971924_documentary_review.pdf · https://fnet.bmfbovespa.com.br/fnet/publico/exibirDocumento?id=971924 · Observação: Conclusão documental revisada; preservar a versão e a unidade indicadas.</a:t>
            </a:r>
          </a:p>
          <a:p>
            <a:r>
              <a:t>CNPJ 62310468000130 · Classes/séries · Sênior; mezanino; júnior · Fundos.NET ID 985036 · 04/09/2025 · Atos de Deliberação do Administrador · p. 1-3 · data/raw/62310468000130/985036_documentary_review.pdf · https://fnet.bmfbovespa.com.br/fnet/publico/exibirDocumento?id=985036 · Observação: Conclusão documental revisada; preservar a versão e a unidade indicadas.</a:t>
            </a:r>
          </a:p>
          <a:p>
            <a:r>
              <a:t>CNPJ 54464892000100 · Classes/séries · Classe A: 2ª série sênior e 2ª emissão mezanino · Fundos.NET ID 823583 · 21/01/2025 · Oferta Pública de Distribuição de Cotas · p. 1 · data/raw/54464892000100/823583_documentary_review.pdf · https://fnet.bmfbovespa.com.br/fnet/publico/exibirDocumento?id=823583 · Observação: Conclusão documental revisada; preservar a versão e a unidade indicadas.</a:t>
            </a:r>
          </a:p>
          <a:p>
            <a:r>
              <a:t>CNPJ 63953620000165 · Classes/séries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Remuneração · 1ª sênior: DI + 4,80% a.a. + 15% do excesso de spread; teto DI + 6,00% · Fundos.NET ID 993785 · 20/03/2025 · Atos de Deliberação do Administrador · p. 4-5 · data/raw/60010416000112/993785_documentary_review.pdf · https://fnet.bmfbovespa.com.br/fnet/publico/exibirDocumento?id=993785 · Observação: Remuneração da primeira série; séries posteriores exigem respectivos atos. Não atribuir essa taxa a todas as séries.</a:t>
            </a:r>
          </a:p>
          <a:p>
            <a:r>
              <a:t>CNPJ 58458416000138 · Remuneração · 2ª emissão da 1ª série sênior: DI + 3,00% a.a. · Fundos.NET ID 1009401 · 08/10/2025 · Atos de Deliberação do Administrador · p. 3-4 · data/raw/58458416000138/1009401_documentary_review.pdf · https://fnet.bmfbovespa.com.br/fnet/publico/exibirDocumento?id=1009401 · Observação: Mezanino individualizado em emissions_rows.</a:t>
            </a:r>
          </a:p>
          <a:p>
            <a:r>
              <a:t>CNPJ 53179862000190 · Remuneração · 2ª série mezanino A: DI + 4,00% a.a. · Fundos.NET ID 908443 · 31/03/2025 · Atos de Deliberação do Administrador · p. 4 · data/raw/53179862000190/908443_documentary_review.pdf · https://fnet.bmfbovespa.com.br/fnet/publico/exibirDocumento?id=908443 · Observação: Não atribuir ao sênior ou às 3ª/4ª séries.</a:t>
            </a:r>
          </a:p>
          <a:p>
            <a:r>
              <a:t>CNPJ 40752367000186 · Remuneração · Cota patrimonial; sem DI + spread contratual para subclasse única · Fundos.NET ID 846588 · 21/02/2025 · Regulamento · p. 14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Remuneração · Benchmark sênior/mezanino remetido ao suplemento; spread final não localizado · Fundos.NET ID 791513 · 28/11/2024 · Regulamento · p. 51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51290497000160 · Remuneração · Taxas por suplemento; spread final não localizado no regulamento acessível · Fundos.NET ID 956736 · 28/07/2025 · Regulamento · p. 68-80 · data/raw/51290497000160/956736_documentary_review.pdf · https://fnet.bmfbovespa.com.br/fnet/publico/exibirDocumento?id=956736 · Observação: Taxa mínima de endosso 19,44% a.a. não é remuneração de cotas.</a:t>
            </a:r>
          </a:p>
          <a:p>
            <a:r>
              <a:t>CNPJ 62010175000137 · Remuneração · Spread final não localizado no anúncio acessível; exige suplemento · Fundos.NET ID 975532 · 21/08/2025 · Oferta Pública de Distribuição de Cotas · p. 1-5 · data/raw/62010175000137/975532_documentary_review.pdf · https://fnet.bmfbovespa.com.br/fnet/publico/exibirDocumento?id=975532 · Observação: Conclusão documental revisada; preservar a versão e a unidade indicadas.</a:t>
            </a:r>
          </a:p>
          <a:p>
            <a:r>
              <a:t>CNPJ 62310468000130 · Remuneração · 2ª sênior: DI + 0,95% a.a.; mezanino 1ª série, 2ª emissão: DI + 3,50% · Fundos.NET ID 1153512 · 01/04/2026 · Atos de Deliberação do Administrador · p. 4, 8, 12 · data/raw/62310468000130/1153512_documentary_review.pdf · https://fnet.bmfbovespa.com.br/fnet/publico/exibirDocumento?id=1153512 · Observação: PDF com codificação de texto corrompida; valores conferidos visualmente nas páginas renderizadas.</a:t>
            </a:r>
          </a:p>
          <a:p>
            <a:r>
              <a:t>CNPJ 54464892000100 · Remuneração · Spread final não localizado no anúncio; regulamento/suplementos inacessíveis · Fundos.NET ID 823583 · 21/01/2025 · Oferta Pública de Distribuição de Cotas · p. 1-3 · data/raw/54464892000100/823583_documentary_review.pdf · https://fnet.bmfbovespa.com.br/fnet/publico/exibirDocumento?id=823583 · Observação: Não extrapolar taxa de outro CNPJ ou outra série.</a:t>
            </a:r>
          </a:p>
          <a:p>
            <a:r>
              <a:t>CNPJ 63953620000165 · Remuneração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Volume/VNU · 1ª: 475 mil sênior + 25 mil subordinadas; R$ 500 mi; VNU R$ 1.000 · Fundos.NET ID 993785 · 20/03/2025 · Atos de Deliberação do Administrador · p. 2 · data/raw/60010416000112/993785_documentary_review.pdf · https://fnet.bmfbovespa.com.br/fnet/publico/exibirDocumento?id=993785 · Observação: Conclusão documental revisada; preservar a versão e a unidade indicadas.</a:t>
            </a:r>
          </a:p>
          <a:p>
            <a:r>
              <a:t>CNPJ 58458416000138 · Volume/VNU · 3ª júnior R$ 13 mi; VNU patrimonial vigente na integralização · Fundos.NET ID 1237489 · 01/07/2026 · Atos de Deliberação do Administrador · p. 3 · data/raw/58458416000138/1237489_documentary_review.pdf · https://fnet.bmfbovespa.com.br/fnet/publico/exibirDocumento?id=1237489 · Observação: Conclusão documental revisada; preservar a versão e a unidade indicadas.</a:t>
            </a:r>
          </a:p>
          <a:p>
            <a:r>
              <a:t>CNPJ 53179862000190 · Volume/VNU · 3ª: 53.316,2271 sênior e 1.878,6298 mezanino A; VNU inicial R$ 1.000 · Fundos.NET ID 1090574 · 23/01/2026 · Oferta Pública de Distribuição de Cotas · p. 1 · data/raw/53179862000190/1090574_documentary_review.pdf · https://fnet.bmfbovespa.com.br/fnet/publico/exibirDocumento?id=1090574 · Observação: Valor final do anúncio: R$ 56.958.011,98.</a:t>
            </a:r>
          </a:p>
          <a:p>
            <a:r>
              <a:t>CNPJ 40752367000186 · Volume/VNU · 1ª emissão até R$ 300 mi; 300 mil cotas; VNU R$ 1.000 · Fundos.NET ID 846588 · 21/02/2025 · Regulamento · p. 14 · data/raw/40752367000186/846588_documentary_review.pdf · https://fnet.bmfbovespa.com.br/fnet/publico/exibirDocumento?id=846588 · Observação: Valor aprovado histórico, não PL atual.</a:t>
            </a:r>
          </a:p>
          <a:p>
            <a:r>
              <a:t>CNPJ 44173467000109 · Volume/VNU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Volume/VNU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Volume/VNU · 1ª oferta até R$ 500 mi sênior + R$ 58,824 mi mezanino; VNU R$ 1.000 · Fundos.NET ID 975532 · 21/08/2025 · Oferta Pública de Distribuição de Cotas · p. 1-2 · data/raw/62010175000137/975532_documentary_review.pdf · https://fnet.bmfbovespa.com.br/fnet/publico/exibirDocumento?id=975532 · Observação: Anúncio de início; resultado final não localizado.</a:t>
            </a:r>
          </a:p>
          <a:p>
            <a:r>
              <a:t>CNPJ 62310468000130 · Volume/VNU · 2ª sênior R$ 600 mi; 2ª mezanino R$ 105 mi; 3ª júnior R$ 36 mi; VNU R$ 1.000 · Fundos.NET ID 1153512 · 01/04/2026 · Atos de Deliberação do Administrador · p. 2, 4, 8 · data/raw/62310468000130/1153512_documentary_review.pdf · https://fnet.bmfbovespa.com.br/fnet/publico/exibirDocumento?id=1153512 · Observação: Deliberação 01/04/2026; valores aprovados em colocação privada.</a:t>
            </a:r>
          </a:p>
          <a:p>
            <a:r>
              <a:t>CNPJ 54464892000100 · Volume/VNU · Distribuídos R$ 400 mi sênior + R$ 47,06 mi mezanino; VNU R$ 1.000 · Fundos.NET ID 823583 · 21/01/2025 · Oferta Pública de Distribuição de Cotas · p. 1-3 · data/raw/54464892000100/823583_documentary_review.pdf · https://fnet.bmfbovespa.com.br/fnet/publico/exibirDocumento?id=823583 · Observação: Conclusão documental revisada; preservar a versão e a unidade indicadas.</a:t>
            </a:r>
          </a:p>
          <a:p>
            <a:r>
              <a:t>CNPJ 63953620000165 · Volume/VNU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Ofertas · 1ª emissão deliberada 20/03/2025; distribuição final não localizada neste corpus · Fundos.NET ID 993785 · 20/03/2025 · Atos de Deliberação do Administrador · p. 1-2 · data/raw/60010416000112/993785_documentary_review.pdf · https://fnet.bmfbovespa.com.br/fnet/publico/exibirDocumento?id=993785 · Observação: Conclusão documental revisada; preservar a versão e a unidade indicadas.</a:t>
            </a:r>
          </a:p>
          <a:p>
            <a:r>
              <a:t>CNPJ 58458416000138 · Ofertas · 3ª júnior: R$ 13 mi para reenquadramento; deliberação 01/07/2026 · Fundos.NET ID 1237489 · 01/07/2026 · Atos de Deliberação do Administrador · p. 1-3 · data/raw/58458416000138/1237489_documentary_review.pdf · https://fnet.bmfbovespa.com.br/fnet/publico/exibirDocumento?id=1237489 · Observação: Privada, VNU vigente; não há benchmark júnior.</a:t>
            </a:r>
          </a:p>
          <a:p>
            <a:r>
              <a:t>CNPJ 53179862000190 · Ofertas · 3ª série encerrada 23/01/2026; distribuídos R$ 56.958.011,98 · Fundos.NET ID 1090574 · 23/01/2026 · Oferta Pública de Distribuição de Cotas · p. 1 · data/raw/53179862000190/1090574_documentary_review.pdf · https://fnet.bmfbovespa.com.br/fnet/publico/exibirDocumento?id=1090574 · Observação: Cotas atualizadas fazem volume distribuído diferir de quantidade × VNU inicial.</a:t>
            </a:r>
          </a:p>
          <a:p>
            <a:r>
              <a:t>CNPJ 40752367000186 · Ofertas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Ofertas · 3ª emissão júnior: até R$ 500 mil; VNU R$ 1.000; deliberada 30/12/2025 · Fundos.NET ID 1078471 · 30/12/2025 · Atos de Deliberação do Administrador · p. 1 · data/raw/44173467000109/1078471_documentary_review.pdf · https://fnet.bmfbovespa.com.br/fnet/publico/exibirDocumento?id=1078471 · Observação: Para recompor garantia; cancelado saldo anterior não subscrito e não integralizado.</a:t>
            </a:r>
          </a:p>
          <a:p>
            <a:r>
              <a:t>CNPJ 51290497000160 · Ofertas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Ofertas · 1ª oferta registrada 20/08/2025 · Fundos.NET ID 975532 · 21/08/2025 · Oferta Pública de Distribuição de Cotas · p. 1 · data/raw/62010175000137/975532_documentary_review.pdf · https://fnet.bmfbovespa.com.br/fnet/publico/exibirDocumento?id=975532 · Observação: Conclusão documental revisada; preservar a versão e a unidade indicadas.</a:t>
            </a:r>
          </a:p>
          <a:p>
            <a:r>
              <a:t>CNPJ 62310468000130 · Ofertas · Novas emissões privadas deliberadas 01/04/2026 · Fundos.NET ID 1153512 · 01/04/2026 · Atos de Deliberação do Administrador · p. 2-3 · data/raw/62310468000130/1153512_documentary_review.pdf · https://fnet.bmfbovespa.com.br/fnet/publico/exibirDocumento?id=1153512 · Observação: Conclusão documental revisada; preservar a versão e a unidade indicadas.</a:t>
            </a:r>
          </a:p>
          <a:p>
            <a:r>
              <a:t>CNPJ 54464892000100 · Ofertas · Encerramento 21/01/2025; registro 14/10/2024 · Fundos.NET ID 823583 · 21/01/2025 · Oferta Pública de Distribuição de Cotas · p. 1, 3 · data/raw/54464892000100/823583_documentary_review.pdf · https://fnet.bmfbovespa.com.br/fnet/publico/exibirDocumento?id=823583 · Observação: Conclusão documental revisada; preservar a versão e a unidade indicadas.</a:t>
            </a:r>
          </a:p>
          <a:p>
            <a:r>
              <a:t>CNPJ 63953620000165 · Ofertas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Remuneração adicional · Não localizado nas fontes acessíveis desta leitura · ID 1051393 · 09/10/2025 · data/raw/60010416000112/1051393_documentary_review.pdf; ID 993786 · 20/03/2025 · data/raw/60010416000112/993786_documentary_review.pdf; ID 993785 · 20/03/2025 · data/raw/60010416000112/993785_documentary_review.pdf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58458416000138 · Remuneração adicional · Não localizado nas fontes acessíveis desta leitura · ID 982232 · 28/08/2025 · data/raw/58458416000138/982232_documentary_review.pdf; ID 1237489 · 01/07/2026 · data/raw/58458416000138/1237489_documentary_review.pdf; ID 1009401 · 08/10/2025 · data/raw/58458416000138/1009401_documentary_review.pdf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53179862000190 · Remuneração adicional · Não localizado nas fontes acessíveis desta leitura · ID 1232504 · 29/06/2026 · data/raw/53179862000190/1232504_documentary_review.pdf; ID 1090574 · 23/01/2026 · data/raw/53179862000190/1090574_documentary_review.pdf; ID 953854 · 28/07/2025 · data/raw/53179862000190/953854_documentary_review.pdf; ID 926238 · 16/06/2025 · data/raw/53179862000190/926238_documentary_review.pdf; ID 908443 · 31/03/2025 · data/raw/53179862000190/908443_documentary_review.pdf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40752367000186 · Remuneração adicional · Não localizado nas fontes acessíveis desta leitura · ID 846588 · 21/02/2025 · data/raw/40752367000186/846588_documentary_review.pdf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44173467000109 · Remuneração adicional · Não localizado nas fontes acessíveis desta leitura · ID 1078471 · 30/12/2025 · data/raw/44173467000109/1078471_documentary_review.pdf; ID 791513 · 28/11/2024 · data/raw/44173467000109/791513_documentary_review.pdf; ID 467860 · 10/05/2023 · data/raw/44173467000109/467860_documentary_review.pdf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51290497000160 · Remuneração adicional · Não localizado nas fontes acessíveis desta leitura · ID 956736 · 28/07/2025 · data/raw/51290497000160/956736_documentary_review.pdf; ID 913141 · 21/05/2025 · data/raw/51290497000160/913141_documentary_review.pdf; ID 557485 · 21/11/2023 · data/raw/51290497000160/557485_documentary_review.pdf; ID 551560 · 10/11/2023 · data/raw/51290497000160/551560_documentary_review.pdf; ID 545845 · 06/11/2023 · data/raw/51290497000160/545845_documentary_review.pdf; ID 528268 · 28/09/2023 · data/raw/51290497000160/528268_documentary_review.pdf; ID 526857 · 26/09/2023 · data/raw/51290497000160/526857_documentary_review.pdf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62010175000137 · Remuneração adicional · Não localizado nas fontes acessíveis desta leitura · ID 971924 · 13/08/2025 · data/raw/62010175000137/971924_documentary_review.pdf; ID 975532 · 21/08/2025 · data/raw/62010175000137/975532_documentary_review.pdf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62310468000130 · Remuneração adicional · Sênior/mezanino: 0,38% do valor integralizado, parcela única em até 40 dias · Fundos.NET ID 985036 · 04/09/2025 · Atos de Deliberação do Administrador · p. 1 · data/raw/62310468000130/985036_documentary_review.pdf · https://fnet.bmfbovespa.com.br/fnet/publico/exibirDocumento?id=985036 · Observação: Benefício adicional da versão de 04/09/2025; confirmar manutenção para séries posteriores.</a:t>
            </a:r>
          </a:p>
          <a:p>
            <a:r>
              <a:t>CNPJ 54464892000100 · Remuneração adicional · Não localizado nas fontes acessíveis desta leitura · ID 823583 · 21/01/2025 · data/raw/54464892000100/823583_documentary_review.pdf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63953620000165 · Remuneração adicional · Não localizado nas fontes acessíveis desta leitura · Unidade de análise: CNPJ da carteira. Conclusões restritas às páginas materiais dos PDFs locais identificados; inventário pode ser preservado de consulta anterior quando Fundos.NET falha. Não certifica leitura integral de todos os documentos do inventário.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2026-10-07T14:59:40-03:00</a:t>
            </a:r>
          </a:p>
          <a:p>
            <a:r>
              <a:t>MT Consignado Privado I: CNPJ 60010416000112</a:t>
            </a:r>
          </a:p>
          <a:p>
            <a:r>
              <a:t>MT Consignado Privado II: CNPJ 58458416000138</a:t>
            </a:r>
          </a:p>
          <a:p>
            <a:r>
              <a:t>FGTS MT II: CNPJ 53179862000190</a:t>
            </a:r>
          </a:p>
          <a:p>
            <a:r>
              <a:t>MT INSS Receivables II: CNPJ 40752367000186</a:t>
            </a:r>
          </a:p>
          <a:p>
            <a:r>
              <a:t>MT INSS Receivables III: CNPJ 44173467000109</a:t>
            </a:r>
          </a:p>
          <a:p>
            <a:r>
              <a:t>MT INSS Receivables V: CNPJ 51290497000160</a:t>
            </a:r>
          </a:p>
          <a:p>
            <a:r>
              <a:t>MT FGTS Receivables IV: CNPJ 62010175000137</a:t>
            </a:r>
          </a:p>
          <a:p>
            <a:r>
              <a:t>MT INSS Receivables VI: CNPJ 62310468000130</a:t>
            </a:r>
          </a:p>
          <a:p>
            <a:r>
              <a:t>MT FGTS Receivables II: CNPJ 54464892000100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60010416000112 · Carência · Sem amortização durante período de investimento de 24 meses, salvo reenquadramento · Fundos.NET ID 1051393 · 09/10/2025 · Regulamento · p. 12, 15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Carência · Sênior: amortização principal de 0% até 08/04/2026 · Fundos.NET ID 1009401 · 08/10/2025 · Atos de Deliberação do Administrador · p. 4 · data/raw/58458416000138/1009401_documentary_review.pdf · https://fnet.bmfbovespa.com.br/fnet/publico/exibirDocumento?id=1009401 · Observação: Tabela inclui datas anteriores à deliberação de 08/10/2025; validar data de 1ª integralização e aplicabilidade à emissão adicional.</a:t>
            </a:r>
          </a:p>
          <a:p>
            <a:r>
              <a:t>CNPJ 53179862000190 · Carência · Mezanino A 2ª: primeira amortização até 30/03/2025 · Fundos.NET ID 908443 · 31/03/2025 · Atos de Deliberação do Administrador · p. 4 · data/raw/53179862000190/908443_documentary_review.pdf · https://fnet.bmfbovespa.com.br/fnet/publico/exibirDocumento?id=908443 · Observação: Conclusão documental revisada; preservar a versão e a unidade indicadas.</a:t>
            </a:r>
          </a:p>
          <a:p>
            <a:r>
              <a:t>CNPJ 40752367000186 · Carência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Carência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Carência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Carência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Carência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Carência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Carência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Juros/amortização · Mensal após investimento, por recursos disponíveis/cash sweep e subordinação atendida · Fundos.NET ID 993785 · 20/03/2025 · Atos de Deliberação do Administrador · p. 5-6 · data/raw/60010416000112/993785_documentary_review.pdf · https://fnet.bmfbovespa.com.br/fnet/publico/exibirDocumento?id=993785 · Observação: Conclusão documental revisada; preservar a versão e a unidade indicadas.</a:t>
            </a:r>
          </a:p>
          <a:p>
            <a:r>
              <a:t>CNPJ 58458416000138 · Juros/amortização · Sênior: principal mensal sobre saldo, de 08/05/2026 a 05/04/2030 · Fundos.NET ID 1009401 · 08/10/2025 · Atos de Deliberação do Administrador · p. 4-5 · data/raw/58458416000138/1009401_documentary_review.pdf · https://fnet.bmfbovespa.com.br/fnet/publico/exibirDocumento?id=1009401 · Observação: Percentuais crescentes aplicados ao saldo; não somar como percentual do principal inicial.</a:t>
            </a:r>
          </a:p>
          <a:p>
            <a:r>
              <a:t>CNPJ 53179862000190 · Juros/amortização · Mezanino A 2ª: juros mensais dia 15; principal em 96 parcelas escalonadas · Fundos.NET ID 908443 · 31/03/2025 · Atos de Deliberação do Administrador · p. 4-6 · data/raw/53179862000190/908443_documentary_review.pdf · https://fnet.bmfbovespa.com.br/fnet/publico/exibirDocumento?id=908443 · Observação: Cronograma corrigido em 31/03/2025, tendo integralização em fevereiro/2025.</a:t>
            </a:r>
          </a:p>
          <a:p>
            <a:r>
              <a:t>CNPJ 40752367000186 · Juros/amortização · Rendimentos distribuídos por amortização/resgate conforme deliberação · Fundos.NET ID 846588 · 21/02/2025 · Regulamento · p. 9, 15-16 · data/raw/40752367000186/846588_documentary_review.pdf · https://fnet.bmfbovespa.com.br/fnet/publico/exibirDocumento?id=846588 · Observação: Cronograma fechado não localizado.</a:t>
            </a:r>
          </a:p>
          <a:p>
            <a:r>
              <a:t>CNPJ 44173467000109 · Juros/amortização · Caixa disponível líquido de reservas; reenquadramento prioriza sênior · Fundos.NET ID 791513 · 28/11/2024 · Regulamento · p. 21-23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51290497000160 · Juros/amortização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Juros/amortização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Juros/amortização · Sênior 2ª série por cash sweep, proporção da subclasse/série no PL · Fundos.NET ID 1153512 · 01/04/2026 · Atos de Deliberação do Administrador · p. 9 · data/raw/62310468000130/1153512_documentary_review.pdf · https://fnet.bmfbovespa.com.br/fnet/publico/exibirDocumento?id=1153512 · Observação: Calendário fechado não identificado.</a:t>
            </a:r>
          </a:p>
          <a:p>
            <a:r>
              <a:t>CNPJ 54464892000100 · Juros/amortização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Juros/amortização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Vencimento · Classe indeterminada; prazo final de cada série remetido ao suplemento · Fundos.NET ID 1051393 · 09/10/2025 · Regulamento · p. 8, 48, 53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Vencimento · Sênior 2ª emissão/1ª série: 05/04/2030, principal final 100% do saldo · Fundos.NET ID 1009401 · 08/10/2025 · Atos de Deliberação do Administrador · p. 5 · data/raw/58458416000138/1009401_documentary_review.pdf · https://fnet.bmfbovespa.com.br/fnet/publico/exibirDocumento?id=1009401 · Observação: Conclusão documental revisada; preservar a versão e a unidade indicadas.</a:t>
            </a:r>
          </a:p>
          <a:p>
            <a:r>
              <a:t>CNPJ 53179862000190 · Vencimento · Mezanino A 2ª: último pagamento conforme tabela de 96 amortizações · Fundos.NET ID 908443 · 31/03/2025 · Atos de Deliberação do Administrador · p. 4-6 · data/raw/53179862000190/908443_documentary_review.pdf · https://fnet.bmfbovespa.com.br/fnet/publico/exibirDocumento?id=908443 · Observação: Data final individualizada em emissions_rows.</a:t>
            </a:r>
          </a:p>
          <a:p>
            <a:r>
              <a:t>CNPJ 40752367000186 · Vencimento · Prazo indeterminado; resgate conforme eventos de liquidação · Fundos.NET ID 846588 · 21/02/2025 · Regulamento · p. 8, 14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Vencimento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Vencimento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Vencimento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Vencimento · Sênior 2ª série: prazo esperado até 120 meses da 1ª integralização · Fundos.NET ID 1153512 · 01/04/2026 · Atos de Deliberação do Administrador · p. 8 · data/raw/62310468000130/1153512_documentary_review.pdf · https://fnet.bmfbovespa.com.br/fnet/publico/exibirDocumento?id=1153512 · Observação: Pode resgatar antes por regime de amortização; não fixar data sem marco.</a:t>
            </a:r>
          </a:p>
          <a:p>
            <a:r>
              <a:t>CNPJ 54464892000100 · Vencimento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Vencimento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2026-10-07T14:59:40-03:00</a:t>
            </a:r>
          </a:p>
          <a:p>
            <a:r>
              <a:t>MT Consignado Privado I: CNPJ 60010416000112</a:t>
            </a:r>
          </a:p>
          <a:p>
            <a:r>
              <a:t>MT Consignado Privado II: CNPJ 58458416000138</a:t>
            </a:r>
          </a:p>
          <a:p>
            <a:r>
              <a:t>FGTS MT II: CNPJ 53179862000190</a:t>
            </a:r>
          </a:p>
          <a:p>
            <a:r>
              <a:t>MT INSS Receivables II: CNPJ 40752367000186</a:t>
            </a:r>
          </a:p>
          <a:p>
            <a:r>
              <a:t>MT INSS Receivables III: CNPJ 44173467000109</a:t>
            </a:r>
          </a:p>
          <a:p>
            <a:r>
              <a:t>MT INSS Receivables V: CNPJ 51290497000160</a:t>
            </a:r>
          </a:p>
          <a:p>
            <a:r>
              <a:t>MT FGTS Receivables IV: CNPJ 62010175000137</a:t>
            </a:r>
          </a:p>
          <a:p>
            <a:r>
              <a:t>MT INSS Receivables VI: CNPJ 62310468000130</a:t>
            </a:r>
          </a:p>
          <a:p>
            <a:r>
              <a:t>MT FGTS Receivables II: CNPJ 54464892000100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60010416000112 · Carência · Sem amortização durante período de investimento de 24 meses, salvo reenquadramento · Fundos.NET ID 1051393 · 09/10/2025 · Regulamento · p. 12, 15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Carência · Sênior: amortização principal de 0% até 08/04/2026 · Fundos.NET ID 1009401 · 08/10/2025 · Atos de Deliberação do Administrador · p. 4 · data/raw/58458416000138/1009401_documentary_review.pdf · https://fnet.bmfbovespa.com.br/fnet/publico/exibirDocumento?id=1009401 · Observação: Tabela inclui datas anteriores à deliberação de 08/10/2025; validar data de 1ª integralização e aplicabilidade à emissão adicional.</a:t>
            </a:r>
          </a:p>
          <a:p>
            <a:r>
              <a:t>CNPJ 53179862000190 · Carência · Mezanino A 2ª: primeira amortização até 30/03/2025 · Fundos.NET ID 908443 · 31/03/2025 · Atos de Deliberação do Administrador · p. 4 · data/raw/53179862000190/908443_documentary_review.pdf · https://fnet.bmfbovespa.com.br/fnet/publico/exibirDocumento?id=908443 · Observação: Conclusão documental revisada; preservar a versão e a unidade indicadas.</a:t>
            </a:r>
          </a:p>
          <a:p>
            <a:r>
              <a:t>CNPJ 40752367000186 · Carência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Carência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Carência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Carência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Carência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Carência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Carência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Juros/amortização · Mensal após investimento, por recursos disponíveis/cash sweep e subordinação atendida · Fundos.NET ID 993785 · 20/03/2025 · Atos de Deliberação do Administrador · p. 5-6 · data/raw/60010416000112/993785_documentary_review.pdf · https://fnet.bmfbovespa.com.br/fnet/publico/exibirDocumento?id=993785 · Observação: Conclusão documental revisada; preservar a versão e a unidade indicadas.</a:t>
            </a:r>
          </a:p>
          <a:p>
            <a:r>
              <a:t>CNPJ 58458416000138 · Juros/amortização · Sênior: principal mensal sobre saldo, de 08/05/2026 a 05/04/2030 · Fundos.NET ID 1009401 · 08/10/2025 · Atos de Deliberação do Administrador · p. 4-5 · data/raw/58458416000138/1009401_documentary_review.pdf · https://fnet.bmfbovespa.com.br/fnet/publico/exibirDocumento?id=1009401 · Observação: Percentuais crescentes aplicados ao saldo; não somar como percentual do principal inicial.</a:t>
            </a:r>
          </a:p>
          <a:p>
            <a:r>
              <a:t>CNPJ 53179862000190 · Juros/amortização · Mezanino A 2ª: juros mensais dia 15; principal em 96 parcelas escalonadas · Fundos.NET ID 908443 · 31/03/2025 · Atos de Deliberação do Administrador · p. 4-6 · data/raw/53179862000190/908443_documentary_review.pdf · https://fnet.bmfbovespa.com.br/fnet/publico/exibirDocumento?id=908443 · Observação: Cronograma corrigido em 31/03/2025, tendo integralização em fevereiro/2025.</a:t>
            </a:r>
          </a:p>
          <a:p>
            <a:r>
              <a:t>CNPJ 40752367000186 · Juros/amortização · Rendimentos distribuídos por amortização/resgate conforme deliberação · Fundos.NET ID 846588 · 21/02/2025 · Regulamento · p. 9, 15-16 · data/raw/40752367000186/846588_documentary_review.pdf · https://fnet.bmfbovespa.com.br/fnet/publico/exibirDocumento?id=846588 · Observação: Cronograma fechado não localizado.</a:t>
            </a:r>
          </a:p>
          <a:p>
            <a:r>
              <a:t>CNPJ 44173467000109 · Juros/amortização · Caixa disponível líquido de reservas; reenquadramento prioriza sênior · Fundos.NET ID 791513 · 28/11/2024 · Regulamento · p. 21-23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51290497000160 · Juros/amortização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Juros/amortização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Juros/amortização · Sênior 2ª série por cash sweep, proporção da subclasse/série no PL · Fundos.NET ID 1153512 · 01/04/2026 · Atos de Deliberação do Administrador · p. 9 · data/raw/62310468000130/1153512_documentary_review.pdf · https://fnet.bmfbovespa.com.br/fnet/publico/exibirDocumento?id=1153512 · Observação: Calendário fechado não identificado.</a:t>
            </a:r>
          </a:p>
          <a:p>
            <a:r>
              <a:t>CNPJ 54464892000100 · Juros/amortização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Juros/amortização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Vencimento · Classe indeterminada; prazo final de cada série remetido ao suplemento · Fundos.NET ID 1051393 · 09/10/2025 · Regulamento · p. 8, 48, 53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Vencimento · Sênior 2ª emissão/1ª série: 05/04/2030, principal final 100% do saldo · Fundos.NET ID 1009401 · 08/10/2025 · Atos de Deliberação do Administrador · p. 5 · data/raw/58458416000138/1009401_documentary_review.pdf · https://fnet.bmfbovespa.com.br/fnet/publico/exibirDocumento?id=1009401 · Observação: Conclusão documental revisada; preservar a versão e a unidade indicadas.</a:t>
            </a:r>
          </a:p>
          <a:p>
            <a:r>
              <a:t>CNPJ 53179862000190 · Vencimento · Mezanino A 2ª: último pagamento conforme tabela de 96 amortizações · Fundos.NET ID 908443 · 31/03/2025 · Atos de Deliberação do Administrador · p. 4-6 · data/raw/53179862000190/908443_documentary_review.pdf · https://fnet.bmfbovespa.com.br/fnet/publico/exibirDocumento?id=908443 · Observação: Data final individualizada em emissions_rows.</a:t>
            </a:r>
          </a:p>
          <a:p>
            <a:r>
              <a:t>CNPJ 40752367000186 · Vencimento · Prazo indeterminado; resgate conforme eventos de liquidação · Fundos.NET ID 846588 · 21/02/2025 · Regulamento · p. 8, 14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Vencimento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Vencimento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Vencimento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Vencimento · Sênior 2ª série: prazo esperado até 120 meses da 1ª integralização · Fundos.NET ID 1153512 · 01/04/2026 · Atos de Deliberação do Administrador · p. 8 · data/raw/62310468000130/1153512_documentary_review.pdf · https://fnet.bmfbovespa.com.br/fnet/publico/exibirDocumento?id=1153512 · Observação: Pode resgatar antes por regime de amortização; não fixar data sem marco.</a:t>
            </a:r>
          </a:p>
          <a:p>
            <a:r>
              <a:t>CNPJ 54464892000100 · Vencimento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Vencimento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2026-10-07T14:59:40-03:00</a:t>
            </a:r>
          </a:p>
          <a:p>
            <a:r>
              <a:t>MT Consignado Privado I: CNPJ 60010416000112</a:t>
            </a:r>
          </a:p>
          <a:p>
            <a:r>
              <a:t>MT Consignado Privado II: CNPJ 58458416000138</a:t>
            </a:r>
          </a:p>
          <a:p>
            <a:r>
              <a:t>FGTS MT II: CNPJ 53179862000190</a:t>
            </a:r>
          </a:p>
          <a:p>
            <a:r>
              <a:t>MT INSS Receivables II: CNPJ 40752367000186</a:t>
            </a:r>
          </a:p>
          <a:p>
            <a:r>
              <a:t>MT INSS Receivables III: CNPJ 44173467000109</a:t>
            </a:r>
          </a:p>
          <a:p>
            <a:r>
              <a:t>MT INSS Receivables V: CNPJ 51290497000160</a:t>
            </a:r>
          </a:p>
          <a:p>
            <a:r>
              <a:t>MT FGTS Receivables IV: CNPJ 62010175000137</a:t>
            </a:r>
          </a:p>
          <a:p>
            <a:r>
              <a:t>MT INSS Receivables VI: CNPJ 62310468000130</a:t>
            </a:r>
          </a:p>
          <a:p>
            <a:r>
              <a:t>MT FGTS Receivables II: CNPJ 54464892000100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60010416000112 · Carência · Sem amortização durante período de investimento de 24 meses, salvo reenquadramento · Fundos.NET ID 1051393 · 09/10/2025 · Regulamento · p. 12, 15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Carência · Sênior: amortização principal de 0% até 08/04/2026 · Fundos.NET ID 1009401 · 08/10/2025 · Atos de Deliberação do Administrador · p. 4 · data/raw/58458416000138/1009401_documentary_review.pdf · https://fnet.bmfbovespa.com.br/fnet/publico/exibirDocumento?id=1009401 · Observação: Tabela inclui datas anteriores à deliberação de 08/10/2025; validar data de 1ª integralização e aplicabilidade à emissão adicional.</a:t>
            </a:r>
          </a:p>
          <a:p>
            <a:r>
              <a:t>CNPJ 53179862000190 · Carência · Mezanino A 2ª: primeira amortização até 30/03/2025 · Fundos.NET ID 908443 · 31/03/2025 · Atos de Deliberação do Administrador · p. 4 · data/raw/53179862000190/908443_documentary_review.pdf · https://fnet.bmfbovespa.com.br/fnet/publico/exibirDocumento?id=908443 · Observação: Conclusão documental revisada; preservar a versão e a unidade indicadas.</a:t>
            </a:r>
          </a:p>
          <a:p>
            <a:r>
              <a:t>CNPJ 40752367000186 · Carência · Não localizado no corpus acessível · Corpus acessível CNPJ 40752367000186: ID 846588 (21/02/2025), data/raw/40752367000186/846588_documentary_review.pdf · Observação: Lacuna documental explícita; exige regulamento, anexo, suplemento ou contrato aplicável.</a:t>
            </a:r>
          </a:p>
          <a:p>
            <a:r>
              <a:t>CNPJ 44173467000109 · Carência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Carência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Carência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Carência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Carência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Carência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Juros/amortização · Mensal após investimento, por recursos disponíveis/cash sweep e subordinação atendida · Fundos.NET ID 993785 · 20/03/2025 · Atos de Deliberação do Administrador · p. 5-6 · data/raw/60010416000112/993785_documentary_review.pdf · https://fnet.bmfbovespa.com.br/fnet/publico/exibirDocumento?id=993785 · Observação: Conclusão documental revisada; preservar a versão e a unidade indicadas.</a:t>
            </a:r>
          </a:p>
          <a:p>
            <a:r>
              <a:t>CNPJ 58458416000138 · Juros/amortização · Sênior: principal mensal sobre saldo, de 08/05/2026 a 05/04/2030 · Fundos.NET ID 1009401 · 08/10/2025 · Atos de Deliberação do Administrador · p. 4-5 · data/raw/58458416000138/1009401_documentary_review.pdf · https://fnet.bmfbovespa.com.br/fnet/publico/exibirDocumento?id=1009401 · Observação: Percentuais crescentes aplicados ao saldo; não somar como percentual do principal inicial.</a:t>
            </a:r>
          </a:p>
          <a:p>
            <a:r>
              <a:t>CNPJ 53179862000190 · Juros/amortização · Mezanino A 2ª: juros mensais dia 15; principal em 96 parcelas escalonadas · Fundos.NET ID 908443 · 31/03/2025 · Atos de Deliberação do Administrador · p. 4-6 · data/raw/53179862000190/908443_documentary_review.pdf · https://fnet.bmfbovespa.com.br/fnet/publico/exibirDocumento?id=908443 · Observação: Cronograma corrigido em 31/03/2025, tendo integralização em fevereiro/2025.</a:t>
            </a:r>
          </a:p>
          <a:p>
            <a:r>
              <a:t>CNPJ 40752367000186 · Juros/amortização · Rendimentos distribuídos por amortização/resgate conforme deliberação · Fundos.NET ID 846588 · 21/02/2025 · Regulamento · p. 9, 15-16 · data/raw/40752367000186/846588_documentary_review.pdf · https://fnet.bmfbovespa.com.br/fnet/publico/exibirDocumento?id=846588 · Observação: Cronograma fechado não localizado.</a:t>
            </a:r>
          </a:p>
          <a:p>
            <a:r>
              <a:t>CNPJ 44173467000109 · Juros/amortização · Caixa disponível líquido de reservas; reenquadramento prioriza sênior · Fundos.NET ID 791513 · 28/11/2024 · Regulamento · p. 21-23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51290497000160 · Juros/amortização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Juros/amortização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Juros/amortização · Sênior 2ª série por cash sweep, proporção da subclasse/série no PL · Fundos.NET ID 1153512 · 01/04/2026 · Atos de Deliberação do Administrador · p. 9 · data/raw/62310468000130/1153512_documentary_review.pdf · https://fnet.bmfbovespa.com.br/fnet/publico/exibirDocumento?id=1153512 · Observação: Calendário fechado não identificado.</a:t>
            </a:r>
          </a:p>
          <a:p>
            <a:r>
              <a:t>CNPJ 54464892000100 · Juros/amortização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Juros/amortização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Vencimento · Classe indeterminada; prazo final de cada série remetido ao suplemento · Fundos.NET ID 1051393 · 09/10/2025 · Regulamento · p. 8, 48, 53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Vencimento · Sênior 2ª emissão/1ª série: 05/04/2030, principal final 100% do saldo · Fundos.NET ID 1009401 · 08/10/2025 · Atos de Deliberação do Administrador · p. 5 · data/raw/58458416000138/1009401_documentary_review.pdf · https://fnet.bmfbovespa.com.br/fnet/publico/exibirDocumento?id=1009401 · Observação: Conclusão documental revisada; preservar a versão e a unidade indicadas.</a:t>
            </a:r>
          </a:p>
          <a:p>
            <a:r>
              <a:t>CNPJ 53179862000190 · Vencimento · Mezanino A 2ª: último pagamento conforme tabela de 96 amortizações · Fundos.NET ID 908443 · 31/03/2025 · Atos de Deliberação do Administrador · p. 4-6 · data/raw/53179862000190/908443_documentary_review.pdf · https://fnet.bmfbovespa.com.br/fnet/publico/exibirDocumento?id=908443 · Observação: Data final individualizada em emissions_rows.</a:t>
            </a:r>
          </a:p>
          <a:p>
            <a:r>
              <a:t>CNPJ 40752367000186 · Vencimento · Prazo indeterminado; resgate conforme eventos de liquidação · Fundos.NET ID 846588 · 21/02/2025 · Regulamento · p. 8, 14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Vencimento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51290497000160 · Vencimento · Não localizado no corpus acessível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Lacuna documental explícita; exige regulamento, anexo, suplemento ou contrato aplicável.</a:t>
            </a:r>
          </a:p>
          <a:p>
            <a:r>
              <a:t>CNPJ 62010175000137 · Vencimento · Não localizado no corpus acessível · Corpus acessível CNPJ 62010175000137: ID 971924 (13/08/2025), data/raw/62010175000137/971924_documentary_review.pdf; ID 975532 (21/08/2025), data/raw/62010175000137/975532_documentary_review.pdf · Observação: Lacuna documental explícita; exige regulamento, anexo, suplemento ou contrato aplicável.</a:t>
            </a:r>
          </a:p>
          <a:p>
            <a:r>
              <a:t>CNPJ 62310468000130 · Vencimento · Sênior 2ª série: prazo esperado até 120 meses da 1ª integralização · Fundos.NET ID 1153512 · 01/04/2026 · Atos de Deliberação do Administrador · p. 8 · data/raw/62310468000130/1153512_documentary_review.pdf · https://fnet.bmfbovespa.com.br/fnet/publico/exibirDocumento?id=1153512 · Observação: Pode resgatar antes por regime de amortização; não fixar data sem marco.</a:t>
            </a:r>
          </a:p>
          <a:p>
            <a:r>
              <a:t>CNPJ 54464892000100 · Vencimento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Vencimento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2026-10-07T14:59:40-03:00</a:t>
            </a:r>
          </a:p>
          <a:p>
            <a:r>
              <a:t>MT Consignado Privado I: CNPJ 60010416000112</a:t>
            </a:r>
          </a:p>
          <a:p>
            <a:r>
              <a:t>MT Consignado Privado II: CNPJ 58458416000138</a:t>
            </a:r>
          </a:p>
          <a:p>
            <a:r>
              <a:t>FGTS MT II: CNPJ 53179862000190</a:t>
            </a:r>
          </a:p>
          <a:p>
            <a:r>
              <a:t>MT INSS Receivables II: CNPJ 40752367000186</a:t>
            </a:r>
          </a:p>
          <a:p>
            <a:r>
              <a:t>MT INSS Receivables III: CNPJ 44173467000109</a:t>
            </a:r>
          </a:p>
          <a:p>
            <a:r>
              <a:t>MT INSS Receivables V: CNPJ 51290497000160</a:t>
            </a:r>
          </a:p>
          <a:p>
            <a:r>
              <a:t>MT FGTS Receivables IV: CNPJ 62010175000137</a:t>
            </a:r>
          </a:p>
          <a:p>
            <a:r>
              <a:t>MT INSS Receivables VI: CNPJ 62310468000130</a:t>
            </a:r>
          </a:p>
          <a:p>
            <a:r>
              <a:t>MT FGTS Receivables II: CNPJ 54464892000100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60010416000112 · Administração · 0,40% a.a. do PL; mínimo R$ 20 mil/mês; IPCA positivo anual em janeiro · Fundos.NET ID 1051393 · 09/10/2025 · Regulamento · p. 29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Administração · 0,10% a.a. até R$ 300 mi; 0,08% acima; mínimo R$ 10,25 mil/mês · Fundos.NET ID 982232 · 28/08/2025 · Regulamento · p. 24 · data/raw/58458416000138/982232_documentary_review.pdf · https://fnet.bmfbovespa.com.br/fnet/publico/exibirDocumento?id=982232 · Observação: IGP-M positivo em janeiro; acréscimo R$ 850/mês por subclasse.</a:t>
            </a:r>
          </a:p>
          <a:p>
            <a:r>
              <a:t>CNPJ 53179862000190 · Administração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Administração · Rateio da taxa agregada Fundos PDL; mínimo R$ 20 mil/mês; taxas exigem validação · Fundos.NET ID 846588 · 21/02/2025 · Regulamento · p. 29-30 · data/raw/40752367000186/846588_documentary_review.pdf · https://fnet.bmfbovespa.com.br/fnet/publico/exibirDocumento?id=846588 · Observação: Tabela conflita algarismos/extenso (ex.: 0,60% vs setenta centésimos). Faixas e cálculo agregado não equivalem a taxa simples do PL individual.</a:t>
            </a:r>
          </a:p>
          <a:p>
            <a:r>
              <a:t>CNPJ 44173467000109 · Administração · Rateio da taxa agregada Fundos PDL; mínimo R$ 20 mil/mês, IPCA anual · Fundos.NET ID 791513 · 28/11/2024 · Regulamento · p. 36-37 · data/raw/44173467000109/791513_documentary_review.pdf · https://fnet.bmfbovespa.com.br/fnet/publico/exibirDocumento?id=791513 · Observação: Faixas numéricas 0,45/0,40/0,35/0,30% sobre PL agregado; última conflita com extenso 0,55%. Exige validação antes de cobrança.</a:t>
            </a:r>
          </a:p>
          <a:p>
            <a:r>
              <a:t>CNPJ 51290497000160 · Administração · 0,07%/0,0375%/0,025% a.a.; mínimo R$ 8,75 mil/mês · Fundos.NET ID 956736 · 28/07/2025 · Regulamento · p. 36 · data/raw/51290497000160/956736_documentary_review.pdf · https://fnet.bmfbovespa.com.br/fnet/publico/exibirDocumento?id=956736 · Observação: PL ≤ R$ 300 mi; até R$ 600 mi; acima. IGP-M positivo anual.</a:t>
            </a:r>
          </a:p>
          <a:p>
            <a:r>
              <a:t>CNPJ 62010175000137 · Administração · 0,15%/0,14%/0,13% a.a.; mínimo R$ 15/11,5/8 mil por tempo de funcionamento · Fundos.NET ID 971924 · 13/08/2025 · Regulamento · p. 47 · data/raw/62010175000137/971924_documentary_review.pdf · https://fnet.bmfbovespa.com.br/fnet/publico/exibirDocumento?id=971924 · Observação: PL até R$200 mi; até R$400 mi; acima. Mínimo meses1–36/37–60/&gt;60; IPCA positivo em 15/janeiro.</a:t>
            </a:r>
          </a:p>
          <a:p>
            <a:r>
              <a:t>CNPJ 62310468000130 · Administração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Administração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Administração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Gestão · Incluída na taxa de administração de 0,40%; parcela individual não especificada · Fundos.NET ID 1051393 · 09/10/2025 · Regulamento · p. 29, 46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Gestão · 0,40% a.a. do PL, acrescida de tributos · Fundos.NET ID 982232 · 28/08/2025 · Regulamento · p. 24-25 · data/raw/58458416000138/982232_documentary_review.pdf · https://fnet.bmfbovespa.com.br/fnet/publico/exibirDocumento?id=982232 · Observação: Mínimo próprio não localizado.</a:t>
            </a:r>
          </a:p>
          <a:p>
            <a:r>
              <a:t>CNPJ 53179862000190 · Gestão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Gestão · Incluída no conjunto de serviços da taxa agregada; parcela própria não segregada · Fundos.NET ID 846588 · 21/02/2025 · Regulamento · p. 29-30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Gestão · Incluída no conjunto de serviços da taxa agregada; parcela própria não segregada · Fundos.NET ID 791513 · 28/11/2024 · Regulamento · p. 36-37 · data/raw/44173467000109/791513_documentary_review.pdf · https://fnet.bmfbovespa.com.br/fnet/publico/exibirDocumento?id=791513 · Observação: Referência da taxa de gestão no glossário está quebrada.</a:t>
            </a:r>
          </a:p>
          <a:p>
            <a:r>
              <a:t>CNPJ 51290497000160 · Gestão · 0,07%/0,0375%/0,025% a.a.; mínimo R$ 8,75 mil/mês · Fundos.NET ID 956736 · 28/07/2025 · Regulamento · p. 37 · data/raw/51290497000160/956736_documentary_review.pdf · https://fnet.bmfbovespa.com.br/fnet/publico/exibirDocumento?id=956736 · Observação: Mesmas faixas; IGP-M anual. Lastro R$ 5 mil/mês e escrituração R$ 2 mil/mês adicionais.</a:t>
            </a:r>
          </a:p>
          <a:p>
            <a:r>
              <a:t>CNPJ 62010175000137 · Gestão · 0,20%/0,18%/0,16% a.a.; mínimo R$ 8 mil/mês; IPCA anual · Fundos.NET ID 971924 · 13/08/2025 · Regulamento · p. 48 · data/raw/62010175000137/971924_documentary_review.pdf · https://fnet.bmfbovespa.com.br/fnet/publico/exibirDocumento?id=971924 · Observação: Mesmas faixas de PL.</a:t>
            </a:r>
          </a:p>
          <a:p>
            <a:r>
              <a:t>CNPJ 62310468000130 · Gestão · 0,30% a.a. do PL; se PL &gt; R$ 900 mi, 0,10% a.a. sobre todo PL · Fundos.NET ID 1153512 · 01/04/2026 · Atos de Deliberação do Administrador · p. 2 · data/raw/62310468000130/1153512_documentary_review.pdf · https://fnet.bmfbovespa.com.br/fnet/publico/exibirDocumento?id=1153512 · Observação: Alteração expressa de 01/04/2026, conferida visualmente. Administração permanece lacuna.</a:t>
            </a:r>
          </a:p>
          <a:p>
            <a:r>
              <a:t>CNPJ 54464892000100 · Gestão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Gestão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Custódia · 0% a.a. expresso; cobrança/originação têm encargos adicionais · Fundos.NET ID 1051393 · 09/10/2025 · Regulamento · p. 29-31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Custódia · 0,02% a.a. do PL; mínimo R$ 2 mil/mês; IGP-M em janeiro · Fundos.NET ID 982232 · 28/08/2025 · Regulamento · p. 25 · data/raw/58458416000138/982232_documentary_review.pdf · https://fnet.bmfbovespa.com.br/fnet/publico/exibirDocumento?id=982232 · Observação: Agente de retenção/cobrança: 3% a.a. do saldo de DC adimplentes.</a:t>
            </a:r>
          </a:p>
          <a:p>
            <a:r>
              <a:t>CNPJ 53179862000190 · Custódia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Custódia · 0% a.a. expresso · Fundos.NET ID 846588 · 21/02/2025 · Regulamento · p. 30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Custódia · 0% a.a. expresso · Fundos.NET ID 791513 · 28/11/2024 · Regulamento · p. 37 · data/raw/44173467000109/791513_documentary_review.pdf · https://fnet.bmfbovespa.com.br/fnet/publico/exibirDocumento?id=791513 · Observação: Agente de retenção/cobrança: 3% a.a. sobre PL alocado em DC, exclusão de PDD conforme cl. 13.8.</a:t>
            </a:r>
          </a:p>
          <a:p>
            <a:r>
              <a:t>CNPJ 51290497000160 · Custódia · Incluída na administração; mesma tabela/mínimo, sem encargo adicional · Fundos.NET ID 956736 · 28/07/2025 · Regulamento · p. 36-37 · data/raw/51290497000160/956736_documentary_review.pdf · https://fnet.bmfbovespa.com.br/fnet/publico/exibirDocumento?id=956736 · Observação: Evitar dupla contagem; retenção/cobrança 0,5% a 3% a.a. sobre PL alocado em DC, por contrato.</a:t>
            </a:r>
          </a:p>
          <a:p>
            <a:r>
              <a:t>CNPJ 62010175000137 · Custódia · Incluída na administração; lastro trimestral R$ 4 mil adicionais · Fundos.NET ID 971924 · 13/08/2025 · Regulamento · p. 47 · data/raw/62010175000137/971924_documentary_review.pdf · https://fnet.bmfbovespa.com.br/fnet/publico/exibirDocumento?id=971924 · Observação: Escrituração R$ 1,25 mil/mês; banco liquidante R$ 800/mês, se listado.</a:t>
            </a:r>
          </a:p>
          <a:p>
            <a:r>
              <a:t>CNPJ 62310468000130 · Custódia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Custódia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Custódia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2026-10-07T14:59:40-03:00</a:t>
            </a:r>
          </a:p>
          <a:p>
            <a:r>
              <a:t>MT Consignado Privado I: CNPJ 60010416000112</a:t>
            </a:r>
          </a:p>
          <a:p>
            <a:r>
              <a:t>MT Consignado Privado II: CNPJ 58458416000138</a:t>
            </a:r>
          </a:p>
          <a:p>
            <a:r>
              <a:t>FGTS MT II: CNPJ 53179862000190</a:t>
            </a:r>
          </a:p>
          <a:p>
            <a:r>
              <a:t>MT INSS Receivables II: CNPJ 40752367000186</a:t>
            </a:r>
          </a:p>
          <a:p>
            <a:r>
              <a:t>MT INSS Receivables III: CNPJ 44173467000109</a:t>
            </a:r>
          </a:p>
          <a:p>
            <a:r>
              <a:t>MT INSS Receivables V: CNPJ 51290497000160</a:t>
            </a:r>
          </a:p>
          <a:p>
            <a:r>
              <a:t>MT FGTS Receivables IV: CNPJ 62010175000137</a:t>
            </a:r>
          </a:p>
          <a:p>
            <a:r>
              <a:t>MT INSS Receivables VI: CNPJ 62310468000130</a:t>
            </a:r>
          </a:p>
          <a:p>
            <a:r>
              <a:t>MT FGTS Receivables II: CNPJ 54464892000100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60010416000112 · Administração · 0,40% a.a. do PL; mínimo R$ 20 mil/mês; IPCA positivo anual em janeiro · Fundos.NET ID 1051393 · 09/10/2025 · Regulamento · p. 29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Administração · 0,10% a.a. até R$ 300 mi; 0,08% acima; mínimo R$ 10,25 mil/mês · Fundos.NET ID 982232 · 28/08/2025 · Regulamento · p. 24 · data/raw/58458416000138/982232_documentary_review.pdf · https://fnet.bmfbovespa.com.br/fnet/publico/exibirDocumento?id=982232 · Observação: IGP-M positivo em janeiro; acréscimo R$ 850/mês por subclasse.</a:t>
            </a:r>
          </a:p>
          <a:p>
            <a:r>
              <a:t>CNPJ 53179862000190 · Administração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Administração · Rateio da taxa agregada Fundos PDL; mínimo R$ 20 mil/mês; taxas exigem validação · Fundos.NET ID 846588 · 21/02/2025 · Regulamento · p. 29-30 · data/raw/40752367000186/846588_documentary_review.pdf · https://fnet.bmfbovespa.com.br/fnet/publico/exibirDocumento?id=846588 · Observação: Tabela conflita algarismos/extenso (ex.: 0,60% vs setenta centésimos). Faixas e cálculo agregado não equivalem a taxa simples do PL individual.</a:t>
            </a:r>
          </a:p>
          <a:p>
            <a:r>
              <a:t>CNPJ 44173467000109 · Administração · Rateio da taxa agregada Fundos PDL; mínimo R$ 20 mil/mês, IPCA anual · Fundos.NET ID 791513 · 28/11/2024 · Regulamento · p. 36-37 · data/raw/44173467000109/791513_documentary_review.pdf · https://fnet.bmfbovespa.com.br/fnet/publico/exibirDocumento?id=791513 · Observação: Faixas numéricas 0,45/0,40/0,35/0,30% sobre PL agregado; última conflita com extenso 0,55%. Exige validação antes de cobrança.</a:t>
            </a:r>
          </a:p>
          <a:p>
            <a:r>
              <a:t>CNPJ 51290497000160 · Administração · 0,07%/0,0375%/0,025% a.a.; mínimo R$ 8,75 mil/mês · Fundos.NET ID 956736 · 28/07/2025 · Regulamento · p. 36 · data/raw/51290497000160/956736_documentary_review.pdf · https://fnet.bmfbovespa.com.br/fnet/publico/exibirDocumento?id=956736 · Observação: PL ≤ R$ 300 mi; até R$ 600 mi; acima. IGP-M positivo anual.</a:t>
            </a:r>
          </a:p>
          <a:p>
            <a:r>
              <a:t>CNPJ 62010175000137 · Administração · 0,15%/0,14%/0,13% a.a.; mínimo R$ 15/11,5/8 mil por tempo de funcionamento · Fundos.NET ID 971924 · 13/08/2025 · Regulamento · p. 47 · data/raw/62010175000137/971924_documentary_review.pdf · https://fnet.bmfbovespa.com.br/fnet/publico/exibirDocumento?id=971924 · Observação: PL até R$200 mi; até R$400 mi; acima. Mínimo meses1–36/37–60/&gt;60; IPCA positivo em 15/janeiro.</a:t>
            </a:r>
          </a:p>
          <a:p>
            <a:r>
              <a:t>CNPJ 62310468000130 · Administração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Administração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Administração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Gestão · Incluída na taxa de administração de 0,40%; parcela individual não especificada · Fundos.NET ID 1051393 · 09/10/2025 · Regulamento · p. 29, 46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Gestão · 0,40% a.a. do PL, acrescida de tributos · Fundos.NET ID 982232 · 28/08/2025 · Regulamento · p. 24-25 · data/raw/58458416000138/982232_documentary_review.pdf · https://fnet.bmfbovespa.com.br/fnet/publico/exibirDocumento?id=982232 · Observação: Mínimo próprio não localizado.</a:t>
            </a:r>
          </a:p>
          <a:p>
            <a:r>
              <a:t>CNPJ 53179862000190 · Gestão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Gestão · Incluída no conjunto de serviços da taxa agregada; parcela própria não segregada · Fundos.NET ID 846588 · 21/02/2025 · Regulamento · p. 29-30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Gestão · Incluída no conjunto de serviços da taxa agregada; parcela própria não segregada · Fundos.NET ID 791513 · 28/11/2024 · Regulamento · p. 36-37 · data/raw/44173467000109/791513_documentary_review.pdf · https://fnet.bmfbovespa.com.br/fnet/publico/exibirDocumento?id=791513 · Observação: Referência da taxa de gestão no glossário está quebrada.</a:t>
            </a:r>
          </a:p>
          <a:p>
            <a:r>
              <a:t>CNPJ 51290497000160 · Gestão · 0,07%/0,0375%/0,025% a.a.; mínimo R$ 8,75 mil/mês · Fundos.NET ID 956736 · 28/07/2025 · Regulamento · p. 37 · data/raw/51290497000160/956736_documentary_review.pdf · https://fnet.bmfbovespa.com.br/fnet/publico/exibirDocumento?id=956736 · Observação: Mesmas faixas; IGP-M anual. Lastro R$ 5 mil/mês e escrituração R$ 2 mil/mês adicionais.</a:t>
            </a:r>
          </a:p>
          <a:p>
            <a:r>
              <a:t>CNPJ 62010175000137 · Gestão · 0,20%/0,18%/0,16% a.a.; mínimo R$ 8 mil/mês; IPCA anual · Fundos.NET ID 971924 · 13/08/2025 · Regulamento · p. 48 · data/raw/62010175000137/971924_documentary_review.pdf · https://fnet.bmfbovespa.com.br/fnet/publico/exibirDocumento?id=971924 · Observação: Mesmas faixas de PL.</a:t>
            </a:r>
          </a:p>
          <a:p>
            <a:r>
              <a:t>CNPJ 62310468000130 · Gestão · 0,30% a.a. do PL; se PL &gt; R$ 900 mi, 0,10% a.a. sobre todo PL · Fundos.NET ID 1153512 · 01/04/2026 · Atos de Deliberação do Administrador · p. 2 · data/raw/62310468000130/1153512_documentary_review.pdf · https://fnet.bmfbovespa.com.br/fnet/publico/exibirDocumento?id=1153512 · Observação: Alteração expressa de 01/04/2026, conferida visualmente. Administração permanece lacuna.</a:t>
            </a:r>
          </a:p>
          <a:p>
            <a:r>
              <a:t>CNPJ 54464892000100 · Gestão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Gestão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Custódia · 0% a.a. expresso; cobrança/originação têm encargos adicionais · Fundos.NET ID 1051393 · 09/10/2025 · Regulamento · p. 29-31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Custódia · 0,02% a.a. do PL; mínimo R$ 2 mil/mês; IGP-M em janeiro · Fundos.NET ID 982232 · 28/08/2025 · Regulamento · p. 25 · data/raw/58458416000138/982232_documentary_review.pdf · https://fnet.bmfbovespa.com.br/fnet/publico/exibirDocumento?id=982232 · Observação: Agente de retenção/cobrança: 3% a.a. do saldo de DC adimplentes.</a:t>
            </a:r>
          </a:p>
          <a:p>
            <a:r>
              <a:t>CNPJ 53179862000190 · Custódia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Custódia · 0% a.a. expresso · Fundos.NET ID 846588 · 21/02/2025 · Regulamento · p. 30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Custódia · 0% a.a. expresso · Fundos.NET ID 791513 · 28/11/2024 · Regulamento · p. 37 · data/raw/44173467000109/791513_documentary_review.pdf · https://fnet.bmfbovespa.com.br/fnet/publico/exibirDocumento?id=791513 · Observação: Agente de retenção/cobrança: 3% a.a. sobre PL alocado em DC, exclusão de PDD conforme cl. 13.8.</a:t>
            </a:r>
          </a:p>
          <a:p>
            <a:r>
              <a:t>CNPJ 51290497000160 · Custódia · Incluída na administração; mesma tabela/mínimo, sem encargo adicional · Fundos.NET ID 956736 · 28/07/2025 · Regulamento · p. 36-37 · data/raw/51290497000160/956736_documentary_review.pdf · https://fnet.bmfbovespa.com.br/fnet/publico/exibirDocumento?id=956736 · Observação: Evitar dupla contagem; retenção/cobrança 0,5% a 3% a.a. sobre PL alocado em DC, por contrato.</a:t>
            </a:r>
          </a:p>
          <a:p>
            <a:r>
              <a:t>CNPJ 62010175000137 · Custódia · Incluída na administração; lastro trimestral R$ 4 mil adicionais · Fundos.NET ID 971924 · 13/08/2025 · Regulamento · p. 47 · data/raw/62010175000137/971924_documentary_review.pdf · https://fnet.bmfbovespa.com.br/fnet/publico/exibirDocumento?id=971924 · Observação: Escrituração R$ 1,25 mil/mês; banco liquidante R$ 800/mês, se listado.</a:t>
            </a:r>
          </a:p>
          <a:p>
            <a:r>
              <a:t>CNPJ 62310468000130 · Custódia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Custódia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Custódia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2026-10-07T14:59:40-03:00</a:t>
            </a:r>
          </a:p>
          <a:p>
            <a:r>
              <a:t>MT Consignado Privado I: CNPJ 60010416000112</a:t>
            </a:r>
          </a:p>
          <a:p>
            <a:r>
              <a:t>MT Consignado Privado II: CNPJ 58458416000138</a:t>
            </a:r>
          </a:p>
          <a:p>
            <a:r>
              <a:t>FGTS MT II: CNPJ 53179862000190</a:t>
            </a:r>
          </a:p>
          <a:p>
            <a:r>
              <a:t>MT INSS Receivables II: CNPJ 40752367000186</a:t>
            </a:r>
          </a:p>
          <a:p>
            <a:r>
              <a:t>MT INSS Receivables III: CNPJ 44173467000109</a:t>
            </a:r>
          </a:p>
          <a:p>
            <a:r>
              <a:t>MT INSS Receivables V: CNPJ 51290497000160</a:t>
            </a:r>
          </a:p>
          <a:p>
            <a:r>
              <a:t>MT FGTS Receivables IV: CNPJ 62010175000137</a:t>
            </a:r>
          </a:p>
          <a:p>
            <a:r>
              <a:t>MT INSS Receivables VI: CNPJ 62310468000130</a:t>
            </a:r>
          </a:p>
          <a:p>
            <a:r>
              <a:t>MT FGTS Receivables II: CNPJ 54464892000100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60010416000112 · Administração · 0,40% a.a. do PL; mínimo R$ 20 mil/mês; IPCA positivo anual em janeiro · Fundos.NET ID 1051393 · 09/10/2025 · Regulamento · p. 29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Administração · 0,10% a.a. até R$ 300 mi; 0,08% acima; mínimo R$ 10,25 mil/mês · Fundos.NET ID 982232 · 28/08/2025 · Regulamento · p. 24 · data/raw/58458416000138/982232_documentary_review.pdf · https://fnet.bmfbovespa.com.br/fnet/publico/exibirDocumento?id=982232 · Observação: IGP-M positivo em janeiro; acréscimo R$ 850/mês por subclasse.</a:t>
            </a:r>
          </a:p>
          <a:p>
            <a:r>
              <a:t>CNPJ 53179862000190 · Administração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Administração · Rateio da taxa agregada Fundos PDL; mínimo R$ 20 mil/mês; taxas exigem validação · Fundos.NET ID 846588 · 21/02/2025 · Regulamento · p. 29-30 · data/raw/40752367000186/846588_documentary_review.pdf · https://fnet.bmfbovespa.com.br/fnet/publico/exibirDocumento?id=846588 · Observação: Tabela conflita algarismos/extenso (ex.: 0,60% vs setenta centésimos). Faixas e cálculo agregado não equivalem a taxa simples do PL individual.</a:t>
            </a:r>
          </a:p>
          <a:p>
            <a:r>
              <a:t>CNPJ 44173467000109 · Administração · Rateio da taxa agregada Fundos PDL; mínimo R$ 20 mil/mês, IPCA anual · Fundos.NET ID 791513 · 28/11/2024 · Regulamento · p. 36-37 · data/raw/44173467000109/791513_documentary_review.pdf · https://fnet.bmfbovespa.com.br/fnet/publico/exibirDocumento?id=791513 · Observação: Faixas numéricas 0,45/0,40/0,35/0,30% sobre PL agregado; última conflita com extenso 0,55%. Exige validação antes de cobrança.</a:t>
            </a:r>
          </a:p>
          <a:p>
            <a:r>
              <a:t>CNPJ 51290497000160 · Administração · 0,07%/0,0375%/0,025% a.a.; mínimo R$ 8,75 mil/mês · Fundos.NET ID 956736 · 28/07/2025 · Regulamento · p. 36 · data/raw/51290497000160/956736_documentary_review.pdf · https://fnet.bmfbovespa.com.br/fnet/publico/exibirDocumento?id=956736 · Observação: PL ≤ R$ 300 mi; até R$ 600 mi; acima. IGP-M positivo anual.</a:t>
            </a:r>
          </a:p>
          <a:p>
            <a:r>
              <a:t>CNPJ 62010175000137 · Administração · 0,15%/0,14%/0,13% a.a.; mínimo R$ 15/11,5/8 mil por tempo de funcionamento · Fundos.NET ID 971924 · 13/08/2025 · Regulamento · p. 47 · data/raw/62010175000137/971924_documentary_review.pdf · https://fnet.bmfbovespa.com.br/fnet/publico/exibirDocumento?id=971924 · Observação: PL até R$200 mi; até R$400 mi; acima. Mínimo meses1–36/37–60/&gt;60; IPCA positivo em 15/janeiro.</a:t>
            </a:r>
          </a:p>
          <a:p>
            <a:r>
              <a:t>CNPJ 62310468000130 · Administração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Administração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Administração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Gestão · Incluída na taxa de administração de 0,40%; parcela individual não especificada · Fundos.NET ID 1051393 · 09/10/2025 · Regulamento · p. 29, 46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Gestão · 0,40% a.a. do PL, acrescida de tributos · Fundos.NET ID 982232 · 28/08/2025 · Regulamento · p. 24-25 · data/raw/58458416000138/982232_documentary_review.pdf · https://fnet.bmfbovespa.com.br/fnet/publico/exibirDocumento?id=982232 · Observação: Mínimo próprio não localizado.</a:t>
            </a:r>
          </a:p>
          <a:p>
            <a:r>
              <a:t>CNPJ 53179862000190 · Gestão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Gestão · Incluída no conjunto de serviços da taxa agregada; parcela própria não segregada · Fundos.NET ID 846588 · 21/02/2025 · Regulamento · p. 29-30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Gestão · Incluída no conjunto de serviços da taxa agregada; parcela própria não segregada · Fundos.NET ID 791513 · 28/11/2024 · Regulamento · p. 36-37 · data/raw/44173467000109/791513_documentary_review.pdf · https://fnet.bmfbovespa.com.br/fnet/publico/exibirDocumento?id=791513 · Observação: Referência da taxa de gestão no glossário está quebrada.</a:t>
            </a:r>
          </a:p>
          <a:p>
            <a:r>
              <a:t>CNPJ 51290497000160 · Gestão · 0,07%/0,0375%/0,025% a.a.; mínimo R$ 8,75 mil/mês · Fundos.NET ID 956736 · 28/07/2025 · Regulamento · p. 37 · data/raw/51290497000160/956736_documentary_review.pdf · https://fnet.bmfbovespa.com.br/fnet/publico/exibirDocumento?id=956736 · Observação: Mesmas faixas; IGP-M anual. Lastro R$ 5 mil/mês e escrituração R$ 2 mil/mês adicionais.</a:t>
            </a:r>
          </a:p>
          <a:p>
            <a:r>
              <a:t>CNPJ 62010175000137 · Gestão · 0,20%/0,18%/0,16% a.a.; mínimo R$ 8 mil/mês; IPCA anual · Fundos.NET ID 971924 · 13/08/2025 · Regulamento · p. 48 · data/raw/62010175000137/971924_documentary_review.pdf · https://fnet.bmfbovespa.com.br/fnet/publico/exibirDocumento?id=971924 · Observação: Mesmas faixas de PL.</a:t>
            </a:r>
          </a:p>
          <a:p>
            <a:r>
              <a:t>CNPJ 62310468000130 · Gestão · 0,30% a.a. do PL; se PL &gt; R$ 900 mi, 0,10% a.a. sobre todo PL · Fundos.NET ID 1153512 · 01/04/2026 · Atos de Deliberação do Administrador · p. 2 · data/raw/62310468000130/1153512_documentary_review.pdf · https://fnet.bmfbovespa.com.br/fnet/publico/exibirDocumento?id=1153512 · Observação: Alteração expressa de 01/04/2026, conferida visualmente. Administração permanece lacuna.</a:t>
            </a:r>
          </a:p>
          <a:p>
            <a:r>
              <a:t>CNPJ 54464892000100 · Gestão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Gestão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Custódia · 0% a.a. expresso; cobrança/originação têm encargos adicionais · Fundos.NET ID 1051393 · 09/10/2025 · Regulamento · p. 29-31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Custódia · 0,02% a.a. do PL; mínimo R$ 2 mil/mês; IGP-M em janeiro · Fundos.NET ID 982232 · 28/08/2025 · Regulamento · p. 25 · data/raw/58458416000138/982232_documentary_review.pdf · https://fnet.bmfbovespa.com.br/fnet/publico/exibirDocumento?id=982232 · Observação: Agente de retenção/cobrança: 3% a.a. do saldo de DC adimplentes.</a:t>
            </a:r>
          </a:p>
          <a:p>
            <a:r>
              <a:t>CNPJ 53179862000190 · Custódia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Custódia · 0% a.a. expresso · Fundos.NET ID 846588 · 21/02/2025 · Regulamento · p. 30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Custódia · 0% a.a. expresso · Fundos.NET ID 791513 · 28/11/2024 · Regulamento · p. 37 · data/raw/44173467000109/791513_documentary_review.pdf · https://fnet.bmfbovespa.com.br/fnet/publico/exibirDocumento?id=791513 · Observação: Agente de retenção/cobrança: 3% a.a. sobre PL alocado em DC, exclusão de PDD conforme cl. 13.8.</a:t>
            </a:r>
          </a:p>
          <a:p>
            <a:r>
              <a:t>CNPJ 51290497000160 · Custódia · Incluída na administração; mesma tabela/mínimo, sem encargo adicional · Fundos.NET ID 956736 · 28/07/2025 · Regulamento · p. 36-37 · data/raw/51290497000160/956736_documentary_review.pdf · https://fnet.bmfbovespa.com.br/fnet/publico/exibirDocumento?id=956736 · Observação: Evitar dupla contagem; retenção/cobrança 0,5% a 3% a.a. sobre PL alocado em DC, por contrato.</a:t>
            </a:r>
          </a:p>
          <a:p>
            <a:r>
              <a:t>CNPJ 62010175000137 · Custódia · Incluída na administração; lastro trimestral R$ 4 mil adicionais · Fundos.NET ID 971924 · 13/08/2025 · Regulamento · p. 47 · data/raw/62010175000137/971924_documentary_review.pdf · https://fnet.bmfbovespa.com.br/fnet/publico/exibirDocumento?id=971924 · Observação: Escrituração R$ 1,25 mil/mês; banco liquidante R$ 800/mês, se listado.</a:t>
            </a:r>
          </a:p>
          <a:p>
            <a:r>
              <a:t>CNPJ 62310468000130 · Custódia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Custódia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Custódia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2026-10-07T14:59:40-03:00</a:t>
            </a:r>
          </a:p>
          <a:p>
            <a:r>
              <a:t>MT Consignado Privado I: CNPJ 60010416000112</a:t>
            </a:r>
          </a:p>
          <a:p>
            <a:r>
              <a:t>MT Consignado Privado II: CNPJ 58458416000138</a:t>
            </a:r>
          </a:p>
          <a:p>
            <a:r>
              <a:t>FGTS MT II: CNPJ 53179862000190</a:t>
            </a:r>
          </a:p>
          <a:p>
            <a:r>
              <a:t>MT INSS Receivables II: CNPJ 40752367000186</a:t>
            </a:r>
          </a:p>
          <a:p>
            <a:r>
              <a:t>MT INSS Receivables III: CNPJ 44173467000109</a:t>
            </a:r>
          </a:p>
          <a:p>
            <a:r>
              <a:t>MT INSS Receivables V: CNPJ 51290497000160</a:t>
            </a:r>
          </a:p>
          <a:p>
            <a:r>
              <a:t>MT FGTS Receivables IV: CNPJ 62010175000137</a:t>
            </a:r>
          </a:p>
          <a:p>
            <a:r>
              <a:t>MT INSS Receivables VI: CNPJ 62310468000130</a:t>
            </a:r>
          </a:p>
          <a:p>
            <a:r>
              <a:t>MT FGTS Receivables II: CNPJ 54464892000100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60010416000112 · Alocação/subordinação IME · DC/PL e subordinadas/PL: diretos com validação de classe e prazo inicial · Fundos.NET ID 1051393 · 09/10/2025 · Regulamento · p. 11, 45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Alocação/subordinação IME · DC/PL, subordinadas/PL e júnior/PL: diretos com validação de versão · Fundos.NET ID 982232 · 28/08/2025 · Regulamento · p. 9, 39 · data/raw/58458416000138/982232_documentary_review.pdf · https://fnet.bmfbovespa.com.br/fnet/publico/exibirDocumento?id=982232 · Observação: Conclusão documental revisada; preservar a versão e a unidade indicadas.</a:t>
            </a:r>
          </a:p>
          <a:p>
            <a:r>
              <a:t>CNPJ 53179862000190 · Alocação/subordinação IME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Alocação/subordinação IME · Alocação verificável com ressalva TVM; piso sênior não se aplica a cotas únicas · Fundos.NET ID 846588 · 21/02/2025 · Regulamento · p. 9, 14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Alocação/subordinação IME · Proteção sênior usa subordinadas/PL; júnior usa patrimônio subordinado · Fundos.NET ID 791513 · 28/11/2024 · Regulamento · p. 19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51290497000160 · Alocação/subordinação IME · Subordinadas/PL e júnior/PL diretos com validação de classe · Fundos.NET ID 956736 · 28/07/2025 · Regulamento · p. 61 · data/raw/51290497000160/956736_documentary_review.pdf · https://fnet.bmfbovespa.com.br/fnet/publico/exibirDocumento?id=956736 · Observação: Conclusão documental revisada; preservar a versão e a unidade indicadas.</a:t>
            </a:r>
          </a:p>
          <a:p>
            <a:r>
              <a:t>CNPJ 62010175000137 · Alocação/subordinação IME · Subordinadas/PL diretos, diferenciando investimento e índices ajustados · Fundos.NET ID 971924 · 13/08/2025 · Regulamento · p. 74-75 · data/raw/62010175000137/971924_documentary_review.pdf · https://fnet.bmfbovespa.com.br/fnet/publico/exibirDocumento?id=971924 · Observação: Conclusão documental revisada; preservar a versão e a unidade indicadas.</a:t>
            </a:r>
          </a:p>
          <a:p>
            <a:r>
              <a:t>CNPJ 62310468000130 · Alocação/subordinação IME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Alocação/subordinação IME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Alocação/subordinação IME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Inadimplência/PDD IME · Over/PDD agregados: alerta preliminar; perda contratual não reconstruída pelo IME · Fundos.NET ID 1051393 · 09/10/2025 · Regulamento · p. 19-22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Inadimplência/PDD IME · Over/PDD e recompras/crédito são proxies parciais; perdas exigem arrasto e coortes · Fundos.NET ID 982232 · 28/08/2025 · Regulamento · p. 39 · data/raw/58458416000138/982232_documentary_review.pdf · https://fnet.bmfbovespa.com.br/fnet/publico/exibirDocumento?id=982232 · Observação: Conclusão documental revisada; preservar a versão e a unidade indicadas.</a:t>
            </a:r>
          </a:p>
          <a:p>
            <a:r>
              <a:t>CNPJ 53179862000190 · Inadimplência/PDD IME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Inadimplência/PDD IME · Over/PDD agregados; não validam elegibilidade nem limite de cada devedor · Fundos.NET ID 846588 · 21/02/2025 · Regulamento · p. 10-11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Inadimplência/PDD IME · Over e PDD/crédito são proxies; portabilidade e glosa exigem base contratual · Fundos.NET ID 791513 · 28/11/2024 · Regulamento · p. 36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51290497000160 · Inadimplência/PDD IME · Over/PDD são proxies parciais; IME não reproduz inadimplência cumulativa/óbitos · Fundos.NET ID 956736 · 28/07/2025 · Regulamento · p. 60-61 · data/raw/51290497000160/956736_documentary_review.pdf · https://fnet.bmfbovespa.com.br/fnet/publico/exibirDocumento?id=956736 · Observação: Conclusão documental revisada; preservar a versão e a unidade indicadas.</a:t>
            </a:r>
          </a:p>
          <a:p>
            <a:r>
              <a:t>CNPJ 62010175000137 · Inadimplência/PDD IME · Over/PDD/recompras como proxies; índices contratuais exigem face e base de CCBs · Fundos.NET ID 971924 · 13/08/2025 · Regulamento · p. 74 · data/raw/62010175000137/971924_documentary_review.pdf · https://fnet.bmfbovespa.com.br/fnet/publico/exibirDocumento?id=971924 · Observação: Conclusão documental revisada; preservar a versão e a unidade indicadas.</a:t>
            </a:r>
          </a:p>
          <a:p>
            <a:r>
              <a:t>CNPJ 62310468000130 · Inadimplência/PDD IME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Inadimplência/PDD IME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Inadimplência/PDD IME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Controles documentais · Elegibilidade, concentração, lastro, prestadores e eventos exigem documentação específica · Corpus acessível CNPJ 60010416000112: ID 1051393 (09/10/2025), data/raw/60010416000112/1051393_documentary_review.pdf; ID 993786 (20/03/2025), data/raw/60010416000112/993786_documentary_review.pdf; ID 993785 (20/03/2025), data/raw/60010416000112/993785_documentary_review.pdf · Observação: O IME público agregado não certifica essas condições.</a:t>
            </a:r>
          </a:p>
          <a:p>
            <a:r>
              <a:t>CNPJ 58458416000138 · Controles documentais · Elegibilidade, concentração, lastro, prestadores e eventos exigem documentação específica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O IME público agregado não certifica essas condições.</a:t>
            </a:r>
          </a:p>
          <a:p>
            <a:r>
              <a:t>CNPJ 53179862000190 · Controles documentais · Elegibilidade, concentração, lastro, prestadores e eventos exigem documentação específica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O IME público agregado não certifica essas condições.</a:t>
            </a:r>
          </a:p>
          <a:p>
            <a:r>
              <a:t>CNPJ 40752367000186 · Controles documentais · Elegibilidade, concentração, lastro, prestadores e eventos exigem documentação específica · Corpus acessível CNPJ 40752367000186: ID 846588 (21/02/2025), data/raw/40752367000186/846588_documentary_review.pdf · Observação: O IME público agregado não certifica essas condições.</a:t>
            </a:r>
          </a:p>
          <a:p>
            <a:r>
              <a:t>CNPJ 44173467000109 · Controles documentais · Elegibilidade, concentração, lastro, prestadores e eventos exigem documentação específica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O IME público agregado não certifica essas condições.</a:t>
            </a:r>
          </a:p>
          <a:p>
            <a:r>
              <a:t>CNPJ 51290497000160 · Controles documentais · Elegibilidade, concentração, lastro, prestadores e eventos exigem documentação específica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O IME público agregado não certifica essas condições.</a:t>
            </a:r>
          </a:p>
          <a:p>
            <a:r>
              <a:t>CNPJ 62010175000137 · Controles documentais · Elegibilidade, concentração, lastro, prestadores e eventos exigem documentação específica · Corpus acessível CNPJ 62010175000137: ID 971924 (13/08/2025), data/raw/62010175000137/971924_documentary_review.pdf; ID 975532 (21/08/2025), data/raw/62010175000137/975532_documentary_review.pdf · Observação: O IME público agregado não certifica essas condições.</a:t>
            </a:r>
          </a:p>
          <a:p>
            <a:r>
              <a:t>CNPJ 62310468000130 · Controles documentais · Elegibilidade, concentração, lastro, prestadores e eventos exigem documentação específica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O IME público agregado não certifica essas condições.</a:t>
            </a:r>
          </a:p>
          <a:p>
            <a:r>
              <a:t>CNPJ 54464892000100 · Controles documentais · Elegibilidade, concentração, lastro, prestadores e eventos exigem documentação específica · Corpus acessível CNPJ 54464892000100: ID 823583 (21/01/2025), data/raw/54464892000100/823583_documentary_review.pdf · Observação: O IME público agregado não certifica essas condições.</a:t>
            </a:r>
          </a:p>
          <a:p>
            <a:r>
              <a:t>CNPJ 63953620000165 · Controles documentais · Elegibilidade, concentração, lastro, prestadores e eventos exigem documentação específica · Corpus acessível CNPJ 63953620000165: não obtido; consulta Fundos.NET em 07/10/2026 · Observação: O IME público agregado não certifica essas condições.</a:t>
            </a:r>
          </a:p>
          <a:p>
            <a:r>
              <a:t>CNPJ 60010416000112 · Competência IME · Cache local: 06/2026; selecionar competência para monitorar · .cache/fundonet-ime/bde41857f8709d65448c48dfeb30d54a215139e77d6e3bb6a582b76344cae6ef/manifest.json · Observação: Dado offline do IME; não representa atualização ao vivo nem comprovação dos critérios jurídicos.</a:t>
            </a:r>
          </a:p>
          <a:p>
            <a:r>
              <a:t>CNPJ 58458416000138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53179862000190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40752367000186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44173467000109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51290497000160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62010175000137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62310468000130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54464892000100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63953620000165 · Competência IME · Cache local: 06/2026; selecionar competência para monitorar · .cache/fundonet-ime/345d74bedc26435eef60ab8e3498c257366f589cd9f50ff5290158b29e45e518/manifest.json · Observação: Dado offline do IME; não representa atualização ao vivo nem comprovação dos critérios jurídicos.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2026-10-07T14:59:40-03:00</a:t>
            </a:r>
          </a:p>
          <a:p>
            <a:r>
              <a:t>MT Consignado Privado I: CNPJ 60010416000112</a:t>
            </a:r>
          </a:p>
          <a:p>
            <a:r>
              <a:t>MT Consignado Privado II: CNPJ 58458416000138</a:t>
            </a:r>
          </a:p>
          <a:p>
            <a:r>
              <a:t>FGTS MT II: CNPJ 53179862000190</a:t>
            </a:r>
          </a:p>
          <a:p>
            <a:r>
              <a:t>MT INSS Receivables II: CNPJ 40752367000186</a:t>
            </a:r>
          </a:p>
          <a:p>
            <a:r>
              <a:t>MT INSS Receivables III: CNPJ 44173467000109</a:t>
            </a:r>
          </a:p>
          <a:p>
            <a:r>
              <a:t>MT INSS Receivables V: CNPJ 51290497000160</a:t>
            </a:r>
          </a:p>
          <a:p>
            <a:r>
              <a:t>MT FGTS Receivables IV: CNPJ 62010175000137</a:t>
            </a:r>
          </a:p>
          <a:p>
            <a:r>
              <a:t>MT INSS Receivables VI: CNPJ 62310468000130</a:t>
            </a:r>
          </a:p>
          <a:p>
            <a:r>
              <a:t>MT FGTS Receivables II: CNPJ 54464892000100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60010416000112 · Alocação/subordinação IME · DC/PL e subordinadas/PL: diretos com validação de classe e prazo inicial · Fundos.NET ID 1051393 · 09/10/2025 · Regulamento · p. 11, 45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Alocação/subordinação IME · DC/PL, subordinadas/PL e júnior/PL: diretos com validação de versão · Fundos.NET ID 982232 · 28/08/2025 · Regulamento · p. 9, 39 · data/raw/58458416000138/982232_documentary_review.pdf · https://fnet.bmfbovespa.com.br/fnet/publico/exibirDocumento?id=982232 · Observação: Conclusão documental revisada; preservar a versão e a unidade indicadas.</a:t>
            </a:r>
          </a:p>
          <a:p>
            <a:r>
              <a:t>CNPJ 53179862000190 · Alocação/subordinação IME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Alocação/subordinação IME · Alocação verificável com ressalva TVM; piso sênior não se aplica a cotas únicas · Fundos.NET ID 846588 · 21/02/2025 · Regulamento · p. 9, 14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Alocação/subordinação IME · Proteção sênior usa subordinadas/PL; júnior usa patrimônio subordinado · Fundos.NET ID 791513 · 28/11/2024 · Regulamento · p. 19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51290497000160 · Alocação/subordinação IME · Subordinadas/PL e júnior/PL diretos com validação de classe · Fundos.NET ID 956736 · 28/07/2025 · Regulamento · p. 61 · data/raw/51290497000160/956736_documentary_review.pdf · https://fnet.bmfbovespa.com.br/fnet/publico/exibirDocumento?id=956736 · Observação: Conclusão documental revisada; preservar a versão e a unidade indicadas.</a:t>
            </a:r>
          </a:p>
          <a:p>
            <a:r>
              <a:t>CNPJ 62010175000137 · Alocação/subordinação IME · Subordinadas/PL diretos, diferenciando investimento e índices ajustados · Fundos.NET ID 971924 · 13/08/2025 · Regulamento · p. 74-75 · data/raw/62010175000137/971924_documentary_review.pdf · https://fnet.bmfbovespa.com.br/fnet/publico/exibirDocumento?id=971924 · Observação: Conclusão documental revisada; preservar a versão e a unidade indicadas.</a:t>
            </a:r>
          </a:p>
          <a:p>
            <a:r>
              <a:t>CNPJ 62310468000130 · Alocação/subordinação IME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Alocação/subordinação IME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Alocação/subordinação IME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Inadimplência/PDD IME · Over/PDD agregados: alerta preliminar; perda contratual não reconstruída pelo IME · Fundos.NET ID 1051393 · 09/10/2025 · Regulamento · p. 19-22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Inadimplência/PDD IME · Over/PDD e recompras/crédito são proxies parciais; perdas exigem arrasto e coortes · Fundos.NET ID 982232 · 28/08/2025 · Regulamento · p. 39 · data/raw/58458416000138/982232_documentary_review.pdf · https://fnet.bmfbovespa.com.br/fnet/publico/exibirDocumento?id=982232 · Observação: Conclusão documental revisada; preservar a versão e a unidade indicadas.</a:t>
            </a:r>
          </a:p>
          <a:p>
            <a:r>
              <a:t>CNPJ 53179862000190 · Inadimplência/PDD IME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Inadimplência/PDD IME · Over/PDD agregados; não validam elegibilidade nem limite de cada devedor · Fundos.NET ID 846588 · 21/02/2025 · Regulamento · p. 10-11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Inadimplência/PDD IME · Over e PDD/crédito são proxies; portabilidade e glosa exigem base contratual · Fundos.NET ID 791513 · 28/11/2024 · Regulamento · p. 36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51290497000160 · Inadimplência/PDD IME · Over/PDD são proxies parciais; IME não reproduz inadimplência cumulativa/óbitos · Fundos.NET ID 956736 · 28/07/2025 · Regulamento · p. 60-61 · data/raw/51290497000160/956736_documentary_review.pdf · https://fnet.bmfbovespa.com.br/fnet/publico/exibirDocumento?id=956736 · Observação: Conclusão documental revisada; preservar a versão e a unidade indicadas.</a:t>
            </a:r>
          </a:p>
          <a:p>
            <a:r>
              <a:t>CNPJ 62010175000137 · Inadimplência/PDD IME · Over/PDD/recompras como proxies; índices contratuais exigem face e base de CCBs · Fundos.NET ID 971924 · 13/08/2025 · Regulamento · p. 74 · data/raw/62010175000137/971924_documentary_review.pdf · https://fnet.bmfbovespa.com.br/fnet/publico/exibirDocumento?id=971924 · Observação: Conclusão documental revisada; preservar a versão e a unidade indicadas.</a:t>
            </a:r>
          </a:p>
          <a:p>
            <a:r>
              <a:t>CNPJ 62310468000130 · Inadimplência/PDD IME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Inadimplência/PDD IME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Inadimplência/PDD IME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Controles documentais · Elegibilidade, concentração, lastro, prestadores e eventos exigem documentação específica · Corpus acessível CNPJ 60010416000112: ID 1051393 (09/10/2025), data/raw/60010416000112/1051393_documentary_review.pdf; ID 993786 (20/03/2025), data/raw/60010416000112/993786_documentary_review.pdf; ID 993785 (20/03/2025), data/raw/60010416000112/993785_documentary_review.pdf · Observação: O IME público agregado não certifica essas condições.</a:t>
            </a:r>
          </a:p>
          <a:p>
            <a:r>
              <a:t>CNPJ 58458416000138 · Controles documentais · Elegibilidade, concentração, lastro, prestadores e eventos exigem documentação específica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O IME público agregado não certifica essas condições.</a:t>
            </a:r>
          </a:p>
          <a:p>
            <a:r>
              <a:t>CNPJ 53179862000190 · Controles documentais · Elegibilidade, concentração, lastro, prestadores e eventos exigem documentação específica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O IME público agregado não certifica essas condições.</a:t>
            </a:r>
          </a:p>
          <a:p>
            <a:r>
              <a:t>CNPJ 40752367000186 · Controles documentais · Elegibilidade, concentração, lastro, prestadores e eventos exigem documentação específica · Corpus acessível CNPJ 40752367000186: ID 846588 (21/02/2025), data/raw/40752367000186/846588_documentary_review.pdf · Observação: O IME público agregado não certifica essas condições.</a:t>
            </a:r>
          </a:p>
          <a:p>
            <a:r>
              <a:t>CNPJ 44173467000109 · Controles documentais · Elegibilidade, concentração, lastro, prestadores e eventos exigem documentação específica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O IME público agregado não certifica essas condições.</a:t>
            </a:r>
          </a:p>
          <a:p>
            <a:r>
              <a:t>CNPJ 51290497000160 · Controles documentais · Elegibilidade, concentração, lastro, prestadores e eventos exigem documentação específica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O IME público agregado não certifica essas condições.</a:t>
            </a:r>
          </a:p>
          <a:p>
            <a:r>
              <a:t>CNPJ 62010175000137 · Controles documentais · Elegibilidade, concentração, lastro, prestadores e eventos exigem documentação específica · Corpus acessível CNPJ 62010175000137: ID 971924 (13/08/2025), data/raw/62010175000137/971924_documentary_review.pdf; ID 975532 (21/08/2025), data/raw/62010175000137/975532_documentary_review.pdf · Observação: O IME público agregado não certifica essas condições.</a:t>
            </a:r>
          </a:p>
          <a:p>
            <a:r>
              <a:t>CNPJ 62310468000130 · Controles documentais · Elegibilidade, concentração, lastro, prestadores e eventos exigem documentação específica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O IME público agregado não certifica essas condições.</a:t>
            </a:r>
          </a:p>
          <a:p>
            <a:r>
              <a:t>CNPJ 54464892000100 · Controles documentais · Elegibilidade, concentração, lastro, prestadores e eventos exigem documentação específica · Corpus acessível CNPJ 54464892000100: ID 823583 (21/01/2025), data/raw/54464892000100/823583_documentary_review.pdf · Observação: O IME público agregado não certifica essas condições.</a:t>
            </a:r>
          </a:p>
          <a:p>
            <a:r>
              <a:t>CNPJ 63953620000165 · Controles documentais · Elegibilidade, concentração, lastro, prestadores e eventos exigem documentação específica · Corpus acessível CNPJ 63953620000165: não obtido; consulta Fundos.NET em 07/10/2026 · Observação: O IME público agregado não certifica essas condições.</a:t>
            </a:r>
          </a:p>
          <a:p>
            <a:r>
              <a:t>CNPJ 60010416000112 · Competência IME · Cache local: 06/2026; selecionar competência para monitorar · .cache/fundonet-ime/bde41857f8709d65448c48dfeb30d54a215139e77d6e3bb6a582b76344cae6ef/manifest.json · Observação: Dado offline do IME; não representa atualização ao vivo nem comprovação dos critérios jurídicos.</a:t>
            </a:r>
          </a:p>
          <a:p>
            <a:r>
              <a:t>CNPJ 58458416000138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53179862000190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40752367000186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44173467000109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51290497000160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62010175000137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62310468000130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54464892000100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63953620000165 · Competência IME · Cache local: 06/2026; selecionar competência para monitorar · .cache/fundonet-ime/345d74bedc26435eef60ab8e3498c257366f589cd9f50ff5290158b29e45e518/manifest.json · Observação: Dado offline do IME; não representa atualização ao vivo nem comprovação dos critérios jurídicos.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2026-10-07T14:59:40-03:00</a:t>
            </a:r>
          </a:p>
          <a:p>
            <a:r>
              <a:t>MT Consignado Privado I: CNPJ 60010416000112</a:t>
            </a:r>
          </a:p>
          <a:p>
            <a:r>
              <a:t>MT Consignado Privado II: CNPJ 58458416000138</a:t>
            </a:r>
          </a:p>
          <a:p>
            <a:r>
              <a:t>FGTS MT II: CNPJ 53179862000190</a:t>
            </a:r>
          </a:p>
          <a:p>
            <a:r>
              <a:t>MT INSS Receivables II: CNPJ 40752367000186</a:t>
            </a:r>
          </a:p>
          <a:p>
            <a:r>
              <a:t>MT INSS Receivables III: CNPJ 44173467000109</a:t>
            </a:r>
          </a:p>
          <a:p>
            <a:r>
              <a:t>MT INSS Receivables V: CNPJ 51290497000160</a:t>
            </a:r>
          </a:p>
          <a:p>
            <a:r>
              <a:t>MT FGTS Receivables IV: CNPJ 62010175000137</a:t>
            </a:r>
          </a:p>
          <a:p>
            <a:r>
              <a:t>MT INSS Receivables VI: CNPJ 62310468000130</a:t>
            </a:r>
          </a:p>
          <a:p>
            <a:r>
              <a:t>MT FGTS Receivables II: CNPJ 54464892000100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60010416000112 · Alocação/subordinação IME · DC/PL e subordinadas/PL: diretos com validação de classe e prazo inicial · Fundos.NET ID 1051393 · 09/10/2025 · Regulamento · p. 11, 45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Alocação/subordinação IME · DC/PL, subordinadas/PL e júnior/PL: diretos com validação de versão · Fundos.NET ID 982232 · 28/08/2025 · Regulamento · p. 9, 39 · data/raw/58458416000138/982232_documentary_review.pdf · https://fnet.bmfbovespa.com.br/fnet/publico/exibirDocumento?id=982232 · Observação: Conclusão documental revisada; preservar a versão e a unidade indicadas.</a:t>
            </a:r>
          </a:p>
          <a:p>
            <a:r>
              <a:t>CNPJ 53179862000190 · Alocação/subordinação IME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Alocação/subordinação IME · Alocação verificável com ressalva TVM; piso sênior não se aplica a cotas únicas · Fundos.NET ID 846588 · 21/02/2025 · Regulamento · p. 9, 14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Alocação/subordinação IME · Proteção sênior usa subordinadas/PL; júnior usa patrimônio subordinado · Fundos.NET ID 791513 · 28/11/2024 · Regulamento · p. 19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51290497000160 · Alocação/subordinação IME · Subordinadas/PL e júnior/PL diretos com validação de classe · Fundos.NET ID 956736 · 28/07/2025 · Regulamento · p. 61 · data/raw/51290497000160/956736_documentary_review.pdf · https://fnet.bmfbovespa.com.br/fnet/publico/exibirDocumento?id=956736 · Observação: Conclusão documental revisada; preservar a versão e a unidade indicadas.</a:t>
            </a:r>
          </a:p>
          <a:p>
            <a:r>
              <a:t>CNPJ 62010175000137 · Alocação/subordinação IME · Subordinadas/PL diretos, diferenciando investimento e índices ajustados · Fundos.NET ID 971924 · 13/08/2025 · Regulamento · p. 74-75 · data/raw/62010175000137/971924_documentary_review.pdf · https://fnet.bmfbovespa.com.br/fnet/publico/exibirDocumento?id=971924 · Observação: Conclusão documental revisada; preservar a versão e a unidade indicadas.</a:t>
            </a:r>
          </a:p>
          <a:p>
            <a:r>
              <a:t>CNPJ 62310468000130 · Alocação/subordinação IME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Alocação/subordinação IME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Alocação/subordinação IME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Inadimplência/PDD IME · Over/PDD agregados: alerta preliminar; perda contratual não reconstruída pelo IME · Fundos.NET ID 1051393 · 09/10/2025 · Regulamento · p. 19-22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58458416000138 · Inadimplência/PDD IME · Over/PDD e recompras/crédito são proxies parciais; perdas exigem arrasto e coortes · Fundos.NET ID 982232 · 28/08/2025 · Regulamento · p. 39 · data/raw/58458416000138/982232_documentary_review.pdf · https://fnet.bmfbovespa.com.br/fnet/publico/exibirDocumento?id=982232 · Observação: Conclusão documental revisada; preservar a versão e a unidade indicadas.</a:t>
            </a:r>
          </a:p>
          <a:p>
            <a:r>
              <a:t>CNPJ 53179862000190 · Inadimplência/PDD IME · Não localizado no corpus acessível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Lacuna documental explícita; exige regulamento, anexo, suplemento ou contrato aplicável.</a:t>
            </a:r>
          </a:p>
          <a:p>
            <a:r>
              <a:t>CNPJ 40752367000186 · Inadimplência/PDD IME · Over/PDD agregados; não validam elegibilidade nem limite de cada devedor · Fundos.NET ID 846588 · 21/02/2025 · Regulamento · p. 10-11 · data/raw/40752367000186/846588_documentary_review.pdf · https://fnet.bmfbovespa.com.br/fnet/publico/exibirDocumento?id=846588 · Observação: Conclusão documental revisada; preservar a versão e a unidade indicadas.</a:t>
            </a:r>
          </a:p>
          <a:p>
            <a:r>
              <a:t>CNPJ 44173467000109 · Inadimplência/PDD IME · Over e PDD/crédito são proxies; portabilidade e glosa exigem base contratual · Fundos.NET ID 791513 · 28/11/2024 · Regulamento · p. 36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51290497000160 · Inadimplência/PDD IME · Over/PDD são proxies parciais; IME não reproduz inadimplência cumulativa/óbitos · Fundos.NET ID 956736 · 28/07/2025 · Regulamento · p. 60-61 · data/raw/51290497000160/956736_documentary_review.pdf · https://fnet.bmfbovespa.com.br/fnet/publico/exibirDocumento?id=956736 · Observação: Conclusão documental revisada; preservar a versão e a unidade indicadas.</a:t>
            </a:r>
          </a:p>
          <a:p>
            <a:r>
              <a:t>CNPJ 62010175000137 · Inadimplência/PDD IME · Over/PDD/recompras como proxies; índices contratuais exigem face e base de CCBs · Fundos.NET ID 971924 · 13/08/2025 · Regulamento · p. 74 · data/raw/62010175000137/971924_documentary_review.pdf · https://fnet.bmfbovespa.com.br/fnet/publico/exibirDocumento?id=971924 · Observação: Conclusão documental revisada; preservar a versão e a unidade indicadas.</a:t>
            </a:r>
          </a:p>
          <a:p>
            <a:r>
              <a:t>CNPJ 62310468000130 · Inadimplência/PDD IME · Não localizado no corpus acessível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Lacuna documental explícita; exige regulamento, anexo, suplemento ou contrato aplicável.</a:t>
            </a:r>
          </a:p>
          <a:p>
            <a:r>
              <a:t>CNPJ 54464892000100 · Inadimplência/PDD IME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63953620000165 · Inadimplência/PDD IME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60010416000112 · Controles documentais · Elegibilidade, concentração, lastro, prestadores e eventos exigem documentação específica · Corpus acessível CNPJ 60010416000112: ID 1051393 (09/10/2025), data/raw/60010416000112/1051393_documentary_review.pdf; ID 993786 (20/03/2025), data/raw/60010416000112/993786_documentary_review.pdf; ID 993785 (20/03/2025), data/raw/60010416000112/993785_documentary_review.pdf · Observação: O IME público agregado não certifica essas condições.</a:t>
            </a:r>
          </a:p>
          <a:p>
            <a:r>
              <a:t>CNPJ 58458416000138 · Controles documentais · Elegibilidade, concentração, lastro, prestadores e eventos exigem documentação específica · Corpus acessível CNPJ 58458416000138: ID 982232 (28/08/2025), data/raw/58458416000138/982232_documentary_review.pdf; ID 1237489 (01/07/2026), data/raw/58458416000138/1237489_documentary_review.pdf; ID 1009401 (08/10/2025), data/raw/58458416000138/1009401_documentary_review.pdf · Observação: O IME público agregado não certifica essas condições.</a:t>
            </a:r>
          </a:p>
          <a:p>
            <a:r>
              <a:t>CNPJ 53179862000190 · Controles documentais · Elegibilidade, concentração, lastro, prestadores e eventos exigem documentação específica · Corpus acessível CNPJ 53179862000190: ID 1232504 (29/06/2026), data/raw/53179862000190/1232504_documentary_review.pdf; ID 1090574 (23/01/2026), data/raw/53179862000190/1090574_documentary_review.pdf; ID 953854 (28/07/2025), data/raw/53179862000190/953854_documentary_review.pdf; ID 926238 (16/06/2025), data/raw/53179862000190/926238_documentary_review.pdf; ID 908443 (31/03/2025), data/raw/53179862000190/908443_documentary_review.pdf · Observação: O IME público agregado não certifica essas condições.</a:t>
            </a:r>
          </a:p>
          <a:p>
            <a:r>
              <a:t>CNPJ 40752367000186 · Controles documentais · Elegibilidade, concentração, lastro, prestadores e eventos exigem documentação específica · Corpus acessível CNPJ 40752367000186: ID 846588 (21/02/2025), data/raw/40752367000186/846588_documentary_review.pdf · Observação: O IME público agregado não certifica essas condições.</a:t>
            </a:r>
          </a:p>
          <a:p>
            <a:r>
              <a:t>CNPJ 44173467000109 · Controles documentais · Elegibilidade, concentração, lastro, prestadores e eventos exigem documentação específica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O IME público agregado não certifica essas condições.</a:t>
            </a:r>
          </a:p>
          <a:p>
            <a:r>
              <a:t>CNPJ 51290497000160 · Controles documentais · Elegibilidade, concentração, lastro, prestadores e eventos exigem documentação específica · Corpus acessível CNPJ 51290497000160: ID 956736 (28/07/2025), data/raw/51290497000160/956736_documentary_review.pdf; ID 913141 (21/05/2025), data/raw/51290497000160/913141_documentary_review.pdf; ID 557485 (21/11/2023), data/raw/51290497000160/557485_documentary_review.pdf; ID 551560 (10/11/2023), data/raw/51290497000160/551560_documentary_review.pdf; ID 545845 (06/11/2023), data/raw/51290497000160/545845_documentary_review.pdf; ID 528268 (28/09/2023), data/raw/51290497000160/528268_documentary_review.pdf; ID 526857 (26/09/2023), data/raw/51290497000160/526857_documentary_review.pdf · Observação: O IME público agregado não certifica essas condições.</a:t>
            </a:r>
          </a:p>
          <a:p>
            <a:r>
              <a:t>CNPJ 62010175000137 · Controles documentais · Elegibilidade, concentração, lastro, prestadores e eventos exigem documentação específica · Corpus acessível CNPJ 62010175000137: ID 971924 (13/08/2025), data/raw/62010175000137/971924_documentary_review.pdf; ID 975532 (21/08/2025), data/raw/62010175000137/975532_documentary_review.pdf · Observação: O IME público agregado não certifica essas condições.</a:t>
            </a:r>
          </a:p>
          <a:p>
            <a:r>
              <a:t>CNPJ 62310468000130 · Controles documentais · Elegibilidade, concentração, lastro, prestadores e eventos exigem documentação específica · Corpus acessível CNPJ 62310468000130: ID 977555 (25/08/2025), data/raw/62310468000130/977555_documentary_review.pdf; ID 977281 (19/08/2025), data/raw/62310468000130/977281_documentary_review.pdf; ID 985036 (04/09/2025), data/raw/62310468000130/985036_documentary_review.pdf; ID 1153512 (01/04/2026), data/raw/62310468000130/1153512_documentary_review.pdf · Observação: O IME público agregado não certifica essas condições.</a:t>
            </a:r>
          </a:p>
          <a:p>
            <a:r>
              <a:t>CNPJ 54464892000100 · Controles documentais · Elegibilidade, concentração, lastro, prestadores e eventos exigem documentação específica · Corpus acessível CNPJ 54464892000100: ID 823583 (21/01/2025), data/raw/54464892000100/823583_documentary_review.pdf · Observação: O IME público agregado não certifica essas condições.</a:t>
            </a:r>
          </a:p>
          <a:p>
            <a:r>
              <a:t>CNPJ 63953620000165 · Controles documentais · Elegibilidade, concentração, lastro, prestadores e eventos exigem documentação específica · Corpus acessível CNPJ 63953620000165: não obtido; consulta Fundos.NET em 07/10/2026 · Observação: O IME público agregado não certifica essas condições.</a:t>
            </a:r>
          </a:p>
          <a:p>
            <a:r>
              <a:t>CNPJ 60010416000112 · Competência IME · Cache local: 06/2026; selecionar competência para monitorar · .cache/fundonet-ime/bde41857f8709d65448c48dfeb30d54a215139e77d6e3bb6a582b76344cae6ef/manifest.json · Observação: Dado offline do IME; não representa atualização ao vivo nem comprovação dos critérios jurídicos.</a:t>
            </a:r>
          </a:p>
          <a:p>
            <a:r>
              <a:t>CNPJ 58458416000138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53179862000190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40752367000186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44173467000109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51290497000160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62010175000137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62310468000130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54464892000100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63953620000165 · Competência IME · Cache local: 06/2026; selecionar competência para monitorar · .cache/fundonet-ime/345d74bedc26435eef60ab8e3498c257366f589cd9f50ff5290158b29e45e518/manifest.json · Observação: Dado offline do IME; não representa atualização ao vivo nem comprovação dos critérios jurídicos.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MeuTudo Ago-26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0083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Consignado Privado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Consignado Privado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FGTS MT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INSS Receivables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eletrônicas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consignado privado pela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Plataforma MT; TVM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elegíveis limitados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de consignado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privado pela Plataforma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MT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de consignado INSS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pela Plataforma MT; TVM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elegíveis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conglomerados S1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Parati CFI; Plataforma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MT/Tudo Serviços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processamento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cobrança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 física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consignação averbada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Dataprev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 física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averbação privada;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idade ≤ 64a11m29d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Beneficiários/pensionis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tas INSS; devedor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TVM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instrumento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MeuTudo Ago-26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3832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Consignado Privado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Consignado Privado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FGTS MT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INSS Receivables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Fluxo de consignação;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garantias adicionais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demonstradas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Consignação averbada;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garantias finais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 de endosso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Consignação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INSS/Dataprev;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garantias do TVM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instrumento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 prefixada; idade ≤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64a11m29d; limite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 R$ 150 mil pela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cl. 4.4.1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prefixada/adimplente;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duration média ≤ 30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prefixada/adimplente;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valor principal ≥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200; prazo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limite legal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TVM ≤ 3% do PL; CDB/RDB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endossante ≤ R$ 25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 devedor ≤ R$ 100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mil; por empregador ≤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3% do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 devedor R$ 85 mil;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R$ 150 mil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 etária ≤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60a11m29d e bloco ≤ 5%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dos DC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MeuTudo Ago-26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9057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INSS Receivables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INSS Receivables 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FGTS Receivables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INSS Receivables VI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de consignado INSS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pela Plataforma MT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de consignado INSS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pela Plataforma MT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de antecipação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saque-aniversário FGTS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Parati; QI Tech; outras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IFs aprovadas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conveniadas INSS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Beneficiários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pensionistas INSS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Beneficiário/pensionist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 INSS; idade final ≤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76a11m29d, inválidos ≤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72a11m29d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 física titular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FGTS, ≥ 18 anos;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devedores &gt; 71 anos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Consignação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benefícios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INSS/Dataprev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Consignação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INSS/Dataprev;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portabilidade e glosa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sujeitas a defesa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carteira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fiduciária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saque-aniversário FGTS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 adimplente; prazo ≤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4.415 dias e até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vencimento 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 &gt; 61 anos até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R$ 60 mil; ≤ 61 anos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R$ 120 mil;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invalidez ≤ 20% do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Top 5/10/15/20/50/100: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R$ 0,6/1/1,5/2/5/10 mi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MeuTudo Ago-26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FGTS Receivables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Global — Classe CP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MeuTudo Ago-26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7627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Consignado Privado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Consignado Privado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FGTS MT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INSS Receivables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 ≥ 5%,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apuração diária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+ júnior/PL ≥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30%; júnior/PL ≥ 10%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Subclasse única, pari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passu;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prioridade/subordinação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entre cotas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desenquadrada por 10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DU; atraso no pagamento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não sanado em 2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Perdas estoque &gt; 15%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rentabilidade júnior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negativa em 2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verificações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patrimonial ou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troca de indexador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exposição a risco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capital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MeuTudo Ago-26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6850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INSS Receivables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INSS Receivables 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FGTS Receivables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INSS Receivables VI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 ≥ 10%;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júnior/patrimônio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subordinado ≥ 10%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+ júnior/PL ≥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10%; júnior/PL ≥ 1%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13,5%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investimento e 15%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depois; júnior 3,5%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5% do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 ≥ 5%;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júnior/PL ≥ 5%, desde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46º dia da 1ª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Inadimplência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cumulativa &gt; 7,82%;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subordinação fora por &gt;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13 DU; rating cai 2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Arrecadação &lt; 95%;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atraso Over 90 &gt; 1%;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diluição &gt; 1%; falha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repasse FGTS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1% do PL +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defesa da carteira 1%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Liquidez: 2 meses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despesas; derivativo: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 do MTM líquido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MeuTudo Ago-26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FGTS Receivables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Global — Classe CP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MeuTudo Ago-26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0083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Consignado Privado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Consignado Privado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FGTS MT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INSS Receivables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50% regulatório e 67%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tributário do PL após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180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50% regulatório e 67%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tributário do PL após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180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Revolvente durante 24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meses da 1ª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integralização; depois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Fechado; classe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indeterminada;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profissionais;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 vinculada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ao agente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Fundo qualificados;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oferta desta série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exclusiva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profissionais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Fechado, indeterminado;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único cotista ou grupo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indissociável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profissional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8/23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MeuTudo Ago-26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3832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Consignado Privado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Consignado Privado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FGTS MT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INSS Receivables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Endosso em preto;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resolução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desconformidade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original; opção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venda ao agente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Endosso definitivo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preto; resolução/opção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venda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coobrigação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deterioração posterior;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má-fé, culpa, dolo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vícios preservados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coobrigação;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obrigações por vícios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 contrato de cessão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Investimento: encargos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→ derivativos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aquisições; depois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antes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9/23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MeuTudo Ago-26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5935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INSS Receivables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INSS Receivables 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FGTS Receivables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INSS Receivables VI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2ª série: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revolvência por 18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meses da 1ª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integralização 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indeterminada; cotistas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profissionais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Despesas/derivativos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 → sênior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→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Encargos/reservas/deriv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ativos → sênior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→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Encargos/reserva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→ mezanino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10/23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MeuTudo Ago-26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2814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FGTS Receivables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Global — Classe CP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fechada; demais condições dependem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regulamento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11/23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MeuTudo Ago-26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7627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Consignado Privado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Consignado Privado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FGTS MT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INSS Receivables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por séries;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 residual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subordinada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e subordinada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e mezanino A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séries; demais classes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validação integral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Subclasse única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DI + 4,80%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 + 15% do excesso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spread; teto DI +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6,00%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2ª emissão da 1ª série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sênior: DI + 3,00%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2ª série mezanino A: DI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+ 4,00%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 patrimonial;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 + spread contratual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subclasse única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1ª: 475 mil sênior + 25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 subordinadas;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500 mi; VNU R$ 1.000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3ª júnior R$ 13 mi; VNU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patrimonial vigente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3ª: 53.316,2271 sênior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1.878,6298 mezanino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A; VNU inicial R$ 1.000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emissão até R$ 300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mi; 300 mil cotas; VNU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R$ 1.000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emissão deliberada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20/03/2025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3ª júnior: R$ 13 mi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reenquadramento;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deliberação 01/07/2026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3ª série encerrada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23/01/2026;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distribuídos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56.958.011,98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adicional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12/23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MeuTudo Ago-26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4348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INSS Receivables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INSS Receivables 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FGTS Receivables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INSS Receivables VI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por série;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 mezanino;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A: sênior;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mezanino;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por série;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por série;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Sênior; mezanino;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 suplemento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2ª sênior: DI + 0,95%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a.a.; mezanino 1ª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série, 2ª emissão: DI +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3,50%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oferta até R$ 500 mi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+ R$ 58,824 mi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mezanino; VNU R$ 1.000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2ª sênior R$ 600 mi; 2ª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R$ 105 mi; 3ª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R$ 36 mi; VNU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3ª emissão júnior: até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R$ 500 mil; VNU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1.000; deliberada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30/12/2025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oferta registrada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20/08/2025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Novas emissões privadas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deliberadas 01/04/2026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adicional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Sênior/mezanino: 0,38%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valor integralizado,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parcela única em até 40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13/23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MeuTudo Ago-26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FGTS Receivables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Global — Classe CP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A: 2ª série sênior e 2ª emissão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Distribuídos R$ 400 mi sênior + R$ 47,06 mi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mezanino; VNU R$ 1.000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Encerramento 21/01/2025; registro 14/10/2024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adicional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14/23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MeuTudo Ago-26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195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Consignado Privado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Consignado Privado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FGTS MT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INSS Receivables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amortização durante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período de investimento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24 meses, salvo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reenquadramento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Sênior: amortização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principal de 0% até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08/04/2026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A 2ª: primeira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amortização até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30/03/2025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Mensal após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investimento,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recursos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disponíveis/cash sweep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subordinação atendida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Sênior: principal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mensal sobre saldo,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08/05/2026 a 05/04/2030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A 2ª: juros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mensais dia 15;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principal em 96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parcelas escalonadas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Rendimentos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distribuídos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amortização/resgate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deliberação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indeterminada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2ª emissão/1ª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série: 05/04/2030,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principal final 100%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saldo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A 2ª: último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tabela de 96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amortizações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 indeterminado;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resgate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eventos de 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15/23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MeuTudo Ago-26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21808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INSS Receivables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INSS Receivables 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FGTS Receivables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INSS Receivables VI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Caixa disponível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líquido de reservas;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reenquadramento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prioriza 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2ª série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cash sweep, proporção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 subclasse/série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2ª série: prazo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esperado até 120 meses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 1ª integralização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16/23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MeuTudo Ago-26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FGTS Receivables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Global — Classe CP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17/23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MeuTudo Ago-26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26334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Consignado Privado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Consignado Privado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FGTS MT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INSS Receivables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0,40% a.a. do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R$ 20 mil/mês;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IPCA positivo anual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janeiro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0,10% a.a. até R$ 300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mi; 0,08% acima;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R$ 10,25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Rateio da taxa agregada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Fundos PDL; mínimo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20 mil/mês; taxas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validação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 taxa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 de 0,40%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0,40% a.a. do PL,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acrescida de tributos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no conjunto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serviços da taxa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0% a.a. expresso;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cobrança/originação têm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 adicionais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0,02% a.a. do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R$ 2 mil/mês;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IGP-M em janeiro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0% a.a. expresso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18/23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MeuTudo Ago-26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27431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INSS Receivables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INSS Receivables 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FGTS Receivables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INSS Receivables VI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Rateio da taxa agregada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Fundos PDL; mínimo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20 mil/mês, IPCA anual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0,07%/0,0375%/0,025%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a.a.; mínimo R$ 8,75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0,15%/0,14%/0,13% a.a.;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R$ 15/11,5/8 mil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 tempo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funcionamento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no conjunto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serviços da taxa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0,07%/0,0375%/0,025%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a.a.; mínimo R$ 8,75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0,20%/0,18%/0,16% a.a.;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R$ 8 mil/mês;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IPCA anual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0,30% a.a. do PL; se PL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&gt; R$ 900 mi, 0,10% a.a.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sobre todo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0% a.a. expresso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administração; mesma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tabela/mínimo,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 adicional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administração; lastro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trimestral R$ 4 mil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adicionais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19/23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MeuTudo Ago-26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FGTS Receivables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Global — Classe CP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20/23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MeuTudo Ago-26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2290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Consignado Privado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Consignado Privado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FGTS MT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INSS Receivables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diretos com validação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classe e prazo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inicial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DC/PL, subordinadas/PL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júnior/PL: diretos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 validação de versão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Alocação verificável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 ressalva TVM; piso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não se aplica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cotas únicas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Over/PDD agregados: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alerta preliminar;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perda contratual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reconstruída pelo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Over/PDD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recompras/crédito são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proxies parciais;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perdas exigem arrasto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coortes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Over/PDD agregados;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validam elegibilidade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nem limite de cada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 e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 e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 e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 e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21/23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MeuTudo Ago-26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4015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INSS Receivables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INSS Receivables 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FGTS Receivables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INSS Receivables VI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sênior usa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subordinadas/PL; júnior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usa patrimônio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júnior/PL diretos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 classe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diretos, diferenciando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investimento e índices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ajustados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e PDD/crédito são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proxies; portabilidade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glosa exigem base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Over/PDD são proxies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parciais; IME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reproduz inadimplência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cumulativa/óbitos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Over/PDD/recompras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proxies; índices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 exigem face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base de CCBs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 e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 e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 e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 e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22/23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MeuTudo Ago-26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0894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FGTS Receivables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Global — Classe CP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lastro, prestadores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eventos exigem documentação específica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lastro, prestadores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eventos exigem documentação específica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 selecionar competência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23/23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