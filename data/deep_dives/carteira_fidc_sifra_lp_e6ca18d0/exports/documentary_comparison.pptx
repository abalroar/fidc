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Natureza dos recebíveis · Direitos de crédito com garantias diferenciadas; parcela a performar até 20%/PL. · Fundos.NET ID 1296708; 18/08/2026; data/raw/41351629000163/1296708_regulamento_cache_integral.txt; regulamento; https://fnet.bmfbovespa.com.br/fnet/publico/exibirDocumento?id=1296708&amp;cvm=true; p.3, art.7º · Observação: Regra documental; verificar versão, base e condições antes de monitorar.</a:t>
            </a:r>
          </a:p>
          <a:p>
            <a:r>
              <a:t>CNPJ 41351629000163 · Originador/endossante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Devedor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Garantia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Elegibilidade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Concentração · Devedor/grupo 10%/PL com GarantiaI,7% comII/III; top 5 cedentes≤30%/PL. · Fundos.NET ID 1296708; 18/08/2026; data/raw/41351629000163/1296708_regulamento_cache_integral.txt; regulamento; https://fnet.bmfbovespa.com.br/fnet/publico/exibirDocumento?id=1296708&amp;cvm=true; pp.4–5, art.9º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Subordinação mínima · Subordinadas ≥30%/PL; júnior ≥25%/PL, apuração diária. · Fundos.NET ID 1296708; 18/08/2026; data/raw/41351629000163/1296708_regulamento_cache_integral.txt; regulamento; https://fnet.bmfbovespa.com.br/fnet/publico/exibirDocumento?id=1296708&amp;cvm=true; p.29, art.60º · Observação: Regra documental; verificar versão, base e condições antes de monitorar.</a:t>
            </a:r>
          </a:p>
          <a:p>
            <a:r>
              <a:t>CNPJ 41351629000163 · Gatilhos de avaliação/liquidação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Reserva de caixa · Maior entre 90 dias de despesas/encargos e 1%/PL; índice liquidez 1,20 com fórmula própria. · Fundos.NET ID 1296708; 18/08/2026; data/raw/41351629000163/1296708_regulamento_cache_integral.txt; regulamento; https://fnet.bmfbovespa.com.br/fnet/publico/exibirDocumento?id=1296708&amp;cvm=true; p.31, arts.70º–71º · Observação: Regra documental; verificar versão, base e condições antes de monitorar.</a:t>
            </a:r>
          </a:p>
          <a:p>
            <a:r>
              <a:t>CNPJ 41351629000163 · Derivativos/hedge · Instrumentos derivativos vedados. · Fundos.NET ID 1296708; 18/08/2026; data/raw/41351629000163/1296708_regulamento_cache_integral.txt; regulamento; https://fnet.bmfbovespa.com.br/fnet/publico/exibirDocumento?id=1296708&amp;cvm=true; p.5, art.12º · Observação: Regra documental; verificar versão, base e condições antes de monitorar.</a:t>
            </a:r>
          </a:p>
          <a:p>
            <a:r>
              <a:t>CNPJ 41351629000163 · PDD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Alocação mínima · 67%/PL em direitos de crédito. · Fundos.NET ID 1296708; 18/08/2026; data/raw/41351629000163/1296708_regulamento_cache_integral.txt; regulamento; https://fnet.bmfbovespa.com.br/fnet/publico/exibirDocumento?id=1296708&amp;cvm=true; p.3, art.8º · Observação: Regra documental; verificar versão, base e condições antes de monitorar.</a:t>
            </a:r>
          </a:p>
          <a:p>
            <a:r>
              <a:t>CNPJ 41351629000163 · Pool/revolvência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Duração/público-alvo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Cessão/recompra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Coobrigação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Waterfall · Despesas → reserva → sênior → mezanino → júnior → novos direitos. · Fundos.NET ID 1296708; 18/08/2026; data/raw/41351629000163/1296708_regulamento_cache_integral.txt; regulamento; https://fnet.bmfbovespa.com.br/fnet/publico/exibirDocumento?id=1296708&amp;cvm=true; p.32, art.71º, ordem de alocação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Classes/séries · Sênior 3, mezanino 3 e 3ª emissão subordinada; ofertas de maio/2026. · Fundos.NET ID 1184962; 11/05/2026; data/raw/41351629000163/1184962_emissao.full.txt; emissao; pp.1,3; subordinada ID1184961 p.1; https://fnet.bmfbovespa.com.br/fnet/publico/exibirDocumento?id=1184962&amp;cvm=true · Observação: Condição documental; não confundir deliberação, oferta e integralização efetiva.</a:t>
            </a:r>
          </a:p>
          <a:p>
            <a:r>
              <a:t>CNPJ 41351629000163 · Remuneração · Spread final não localizado nesta revisão; conferir suplemento preenchido. · Fundos.NET ID 1296708; 18/08/2026; data/raw/41351629000163/1296708_regulamento_cache_integral.txt; regulamento; https://fnet.bmfbovespa.com.br/fnet/publico/exibirDocumento?id=1296708&amp;cvm=true; escopo e condições da revisão · Observação: Taxas de prestadores não representam remuneração das cotas.</a:t>
            </a:r>
          </a:p>
          <a:p>
            <a:r>
              <a:t>CNPJ 41351629000163 · Volume/VNU · Ofertados R$ 500 mi sênior, R$ 50 mi mezanino; VNU R$ 1 mil. Subordinada R$ 180 mi. · Fundos.NET ID 1184962; 11/05/2026; data/raw/41351629000163/1184962_emissao.full.txt; emissao; pp.1,3; subordinada ID1184961 p.1; https://fnet.bmfbovespa.com.br/fnet/publico/exibirDocumento?id=1184962&amp;cvm=true · Observação: Condição documental; não confundir deliberação, oferta e integralização efetiva.</a:t>
            </a:r>
          </a:p>
          <a:p>
            <a:r>
              <a:t>CNPJ 41351629000163 · Ofertas · Início 11/05/2026; encerramento estimado 07/11/2026, sujeito a alteração. · Fundos.NET ID 1184962; 11/05/2026; data/raw/41351629000163/1184962_emissao.full.txt; emissao; pp.1,3; https://fnet.bmfbovespa.com.br/fnet/publico/exibirDocumento?id=1184962&amp;cvm=true · Observação: Condição documental; não confundir deliberação, oferta e integralização efetiva.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Carência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  <a:p>
            <a:r>
              <a:t>CNPJ 41351629000163 · Juros/amortização · Cronograma fechado não identificado nesta revisão; conferir série/suplemento. · Fundos.NET ID 1296708; 18/08/2026; data/raw/41351629000163/1296708_regulamento_cache_integral.txt; regulamento; https://fnet.bmfbovespa.com.br/fnet/publico/exibirDocumento?id=1296708&amp;cvm=true; escopo e condições da revisão · Observação: Data do regulamento não equivale a data de integralização.</a:t>
            </a:r>
          </a:p>
          <a:p>
            <a:r>
              <a:t>CNPJ 41351629000163 · Vencimento · Não confirmado na revisão dirigida; conferir documento ou cláusula específica. · Fundos.NET ID 1296708; 18/08/2026; data/raw/41351629000163/1296708_regulamento_cache_integral.txt; regulamento; https://fnet.bmfbovespa.com.br/fnet/publico/exibirDocumento?id=1296708&amp;cvm=true · Observação: Lacuna desta revisão; não implica inexistência da regra no regulamento.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Administração · Componente administração/custódia 0,235% a.a./PL; totalTA agrega gestão e consultoria. · Fundos.NET ID 1296708; 18/08/2026; data/raw/41351629000163/1296708_regulamento_cache_integral.txt; regulamento; https://fnet.bmfbovespa.com.br/fnet/publico/exibirDocumento?id=1296708&amp;cvm=true; p.21, art.45º(c) · Observação: Regra documental; verificar versão, base e condições antes de monitorar.</a:t>
            </a:r>
          </a:p>
          <a:p>
            <a:r>
              <a:t>CNPJ 41351629000163 · Gestão · 0,30%/0,25%/0,20% a.a. por faixas PL R$ 300/750 mi; componente deTA. · Fundos.NET ID 1296708; 18/08/2026; data/raw/41351629000163/1296708_regulamento_cache_integral.txt; regulamento; https://fnet.bmfbovespa.com.br/fnet/publico/exibirDocumento?id=1296708&amp;cvm=true; p.20, art.45º(a) · Observação: Regra documental; verificar versão, base e condições antes de monitorar.</a:t>
            </a:r>
          </a:p>
          <a:p>
            <a:r>
              <a:t>CNPJ 41351629000163 · Custódia · Incluída no componente 0,235% a.a.; tarifa separada não identificada. · Fundos.NET ID 1296708; 18/08/2026; data/raw/41351629000163/1296708_regulamento_cache_integral.txt; regulamento; https://fnet.bmfbovespa.com.br/fnet/publico/exibirDocumento?id=1296708&amp;cvm=true; p.21, art.45º(c) · Observação: Regra documental; verificar versão, base e condições antes de monitorar.</a:t>
            </a:r>
          </a:p>
          <a:p>
            <a:r>
              <a:t>CNPJ 41351629000163 · Consultoria/performance · Consultoria 3% sobre aquisições mensais; performance 30% do excedente júnior a 120% DI. · Fundos.NET ID 1296708; 18/08/2026; data/raw/41351629000163/1296708_regulamento_cache_integral.txt; regulamento; https://fnet.bmfbovespa.com.br/fnet/publico/exibirDocumento?id=1296708&amp;cvm=true; pp.20–21, arts.45º–46º · Observação: Regra documental; verificar versão, base e condições antes de monitorar.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2026-10-07T16:29:59-03:00</a:t>
            </a:r>
          </a:p>
          <a:p>
            <a:r>
              <a:t>Sifra LP: CNPJ 41351629000163</a:t>
            </a:r>
          </a:p>
          <a:p>
            <a:r>
              <a:t>Fontes:</a:t>
            </a:r>
          </a:p>
          <a:p>
            <a:r>
              <a:t>CNPJ 41351629000163 · Alocação/subordinação IME · DC/PL e cotas por categoria/PL; validar regra e denominador. · Fundos.NET ID 1296708; 18/08/2026; data/raw/41351629000163/1296708_regulamento_cache_integral.txt; regulamento; https://fnet.bmfbovespa.com.br/fnet/publico/exibirDocumento?id=1296708&amp;cvm=true; escopo e condições da revisão · Observação: Proxy agregado; não comprova enquadramento diário nem prioridade por série.</a:t>
            </a:r>
          </a:p>
          <a:p>
            <a:r>
              <a:t>CNPJ 41351629000163 · Inadimplência/PDD IME · Aging e PDD/crédito agregados; conciliar índice contratual. · Fundos.NET ID 1296708; 18/08/2026; data/raw/41351629000163/1296708_regulamento_cache_integral.txt; regulamento; https://fnet.bmfbovespa.com.br/fnet/publico/exibirDocumento?id=1296708&amp;cvm=true; escopo e condições da revisão · Observação: Proxy parcial; vintage, efeito vagão e defasagem não reproduzidos automaticamente.</a:t>
            </a:r>
          </a:p>
          <a:p>
            <a:r>
              <a:t>CNPJ 41351629000163 · Controles documentais · Lastro, elegibilidade, concentração individual e prestadores exigem documentos. · Fundos.NET ID 1296708; 18/08/2026; data/raw/41351629000163/1296708_regulamento_cache_integral.txt; regulamento; https://fnet.bmfbovespa.com.br/fnet/publico/exibirDocumento?id=1296708&amp;cvm=true; escopo e condições da revisão · Observação: IME público sem granularidade individual; não usar como prova de conformidade.</a:t>
            </a:r>
          </a:p>
          <a:p>
            <a:r>
              <a:t>CNPJ 41351629000163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de crédito com garantias diferenciadas; parcela a performar até 20%/PL.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Devedor/grupo 10%/PL com GarantiaI,7% comII/III; top 5 cedentes≤30%/PL.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≥30%/PL; júnior ≥25%/PL, apuração diária.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Maior entre 90 dias de despesas/encargos e 1%/PL; índice liquidez 1,20 com fórmula 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Instrumentos derivativos vedados.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67%/PL em direitos de crédito.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 sênior → mezanino → júnior → novos direitos.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3, mezanino 3 e 3ª emissão subordinada; ofertas de maio/2026.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Ofertados R$ 500 mi sênior, R$ 50 mi mezanino; VNU R$ 1 mil. Subordinada R$ 180 mi.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Início 11/05/2026; encerramento estimado 07/11/2026, sujeito a alteração.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Componente administração/custódia 0,235% a.a./PL; totalTA agrega gestão e consultoria.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0,30%/0,25%/0,20% a.a. por faixas PL R$ 300/750 mi; componente deTA.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no componente 0,235% a.a.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Consultoria/performance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Consultoria 3% sobre aquisições mensais; performance 30% do excedente júnior a 120% DI.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Sifra LP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Sifra LP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por categoria/PL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Aging e PDD/crédito agregados; conciliar índice contratual.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Lastro, elegibilidade, concentração individual e prestadores exigem documentos.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