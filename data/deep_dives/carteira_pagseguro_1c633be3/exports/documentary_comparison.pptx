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2026-10-07T15:13:33-03:00</a:t>
            </a:r>
          </a:p>
          <a:p>
            <a:r>
              <a:t>PagSeguro I: CNPJ 28169275000172</a:t>
            </a:r>
          </a:p>
          <a:p>
            <a:r>
              <a:t>Fontes:</a:t>
            </a:r>
          </a:p>
          <a:p>
            <a:r>
              <a:t>CNPJ 28169275000172 · Natureza dos recebíveis · Transações de crédito à vista/parcelado sem juros e débito, operacionalizadas pelo Sistema PagSeguro · data/raw/28169275000172/1149521_regulamento.pdf · ID Fundos.NET 1149521 · 25/03/2026 · regulamento · p. 15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28169275000172 · Originador/endossante · Estabelecimentos credenciados cedem seus recebíveis; PagSeguro operacionaliza · data/raw/28169275000172/1149521_regulamento.pdf · ID Fundos.NET 1149521 · 25/03/2026 · regulamento · p. 15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28169275000172 · Devedor · Devedor na figura de credenciador; confirmar contrato da UR · data/raw/28169275000172/1149521_regulamento.pdf · ID Fundos.NET 1149521 · 25/03/2026 · regulamento · p. 14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28169275000172 · Garantia · Cessão acompanha garantias/acessórios do crédito; sem coobrigação do cedente pela solvência · data/raw/28169275000172/1149521_regulamento.pdf · ID Fundos.NET 1149521 · 25/03/2026 · regulamento · p. 17 · 3.14/3.15 · https://fnet.bmfbovespa.com.br/fnet/publico/visualizarDocumento?id=1149521 · Observação: Garantia real específica não identificada; preservar distinção entre garantia do ativo e garantia das cotas.</a:t>
            </a:r>
          </a:p>
          <a:p>
            <a:r>
              <a:t>CNPJ 28169275000172 · Elegibilidade · Prazo ≤ 24 meses; valor de face &gt; R$ 0,01; reais; titularidade e ausência de ônus · data/raw/28169275000172/1149521_regulamento.pdf · ID Fundos.NET 1149521 · 25/03/2026 · regulamento · p. 19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28169275000172 · Concentração · Dispensa do limite de 20% por mesmo devedor/coobrigado, art. 3.19.1 · data/raw/28169275000172/1149521_regulamento.pdf · ID Fundos.NET 1149521 · 25/03/2026 · regulamento · p. 18 · https://fnet.bmfbovespa.com.br/fnet/publico/visualizarDocumento?id=1149521 · Observação: Resumo jurídico da fonte identificada; verificar aditamentos e aplicação à série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2026-10-07T15:13:33-03:00</a:t>
            </a:r>
          </a:p>
          <a:p>
            <a:r>
              <a:t>PagSeguro I: CNPJ 28169275000172</a:t>
            </a:r>
          </a:p>
          <a:p>
            <a:r>
              <a:t>Fontes:</a:t>
            </a:r>
          </a:p>
          <a:p>
            <a:r>
              <a:t>CNPJ 28169275000172 · Subordinação mínima · Subordinadas ≥ 50% do PL; apuração diária · data/raw/28169275000172/1149521_regulamento.pdf · ID Fundos.NET 1149521 · 25/03/2026 · regulamento · p. 13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28169275000172 · Gatilhos de avaliação/liquidação · Falha de pagamento sênior/MZ não regularizada em 2 DU; hipóteses adicionais no cap.8 · data/raw/28169275000172/1149521_regulamento.pdf · ID Fundos.NET 1149521 · 25/03/2026 · regulamento · p. 48 · 8.1(i) · https://fnet.bmfbovespa.com.br/fnet/publico/visualizarDocumento?id=1149521 · Observação: Evento de avaliação; há dispensa específica do benchmark pelos respectivos cotistas, conforme cláusula.</a:t>
            </a:r>
          </a:p>
          <a:p>
            <a:r>
              <a:t>CNPJ 28169275000172 · Reserva de caixa · Reserva de despesas ≥ R$ 1 milhão; apuração mensal · data/raw/28169275000172/1149521_regulamento.pdf · ID Fundos.NET 1149521 · 25/03/2026 · regulamento · p. 13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28169275000172 · Derivativos/hedge · Permitidos exclusivamente para proteção de posições à vista, até seu limite · data/raw/28169275000172/1149521_regulamento.pdf · ID Fundos.NET 1149521 · 25/03/2026 · regulamento · p. 18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28169275000172 · PDD · Não localizado nas fontes acessíveis desta leitura · Consulta Fundos.NET por CNPJ 28169275000172 em 07/10/2026; 202 registros no inventário obtido; fontes acessíveis: 1148251, 1149521, 1147067, 998868, 768358, 1131152 · Observação: Lacuna documental; não equivale à inexistência da regra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2026-10-07T15:13:33-03:00</a:t>
            </a:r>
          </a:p>
          <a:p>
            <a:r>
              <a:t>PagSeguro I: CNPJ 28169275000172</a:t>
            </a:r>
          </a:p>
          <a:p>
            <a:r>
              <a:t>Fontes:</a:t>
            </a:r>
          </a:p>
          <a:p>
            <a:r>
              <a:t>CNPJ 28169275000172 · Alocação mínima · 50% do PL após 180 dias; alvo tributário discricionário de 67% · data/raw/28169275000172/1149521_regulamento.pdf · ID Fundos.NET 1149521 · 25/03/2026 · regulamento · p. 17 · https://fnet.bmfbovespa.com.br/fnet/publico/visualizarDocumento?id=1149521 · Observação: Glossário contém 67% com extenso cinquenta; cláusula 3.16 distingue mínimo regulatório de alvo tributário.</a:t>
            </a:r>
          </a:p>
          <a:p>
            <a:r>
              <a:t>CNPJ 28169275000172 · Pool/revolvência · Não localizado nas fontes acessíveis desta leitura · Consulta Fundos.NET por CNPJ 28169275000172 em 07/10/2026; 202 registros no inventário obtido; fontes acessíveis: 1148251, 1149521, 1147067, 998868, 768358, 1131152 · Observação: Lacuna documental; não equivale à inexistência da regra</a:t>
            </a:r>
          </a:p>
          <a:p>
            <a:r>
              <a:t>CNPJ 28169275000172 · Duração/público-alvo · 20 anos; prorrogável por mais 20; sênior/MZ: profissionais; subordinadas: PagSeguro/relacionadas · data/raw/28169275000172/1149521_regulamento.pdf · ID Fundos.NET 1149521 · 25/03/2026 · regulamento · p. 4/40 · 3.2/3.2.1; 6.6 · https://fnet.bmfbovespa.com.br/fnet/publico/visualizarDocumento?id=1149521 · Observação: Controle documental; IME agregado não comprova a hipótese contratual.</a:t>
            </a:r>
          </a:p>
          <a:p>
            <a:r>
              <a:t>CNPJ 28169275000172 · Cessão/recompra · Resolução de cessão por inelegibilidade/vício; preço de resolução conforme condições gerais · data/raw/28169275000172/1149521_regulamento.pdf · ID Fundos.NET 1149521 · 25/03/2026 · regulamento · p. 35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28169275000172 · Coobrigação · Cessão definitiva sem regresso por solvência; responsabilidade por existência e formalização preservada · data/raw/28169275000172/1149521_regulamento.pdf · ID Fundos.NET 1149521 · 25/03/2026 · regulamento · p. 17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28169275000172 · Waterfall · Despesas → reserva → sênior → mezanino → subordinadas · data/raw/28169275000172/1149521_regulamento.pdf · ID Fundos.NET 1149521 · 25/03/2026 · regulamento · p. 13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28169275000172 · Prestadores essenciais · Administração/custódia/escrituração/controladoria: Genial Investimentos C.V.M.; gestão: Genial Gestão · data/raw/28169275000172/1149521_regulamento.pdf · ID Fundos.NET 1149521 · 25/03/2026 · regulamento · p. 2 · 2.1/2.2 · https://fnet.bmfbovespa.com.br/fnet/publico/visualizarDocumento?id=1149521 · Observação: Controle documental; IME agregado não comprova a hipótese contratual.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2026-10-07T15:13:33-03:00</a:t>
            </a:r>
          </a:p>
          <a:p>
            <a:r>
              <a:t>PagSeguro I: CNPJ 28169275000172</a:t>
            </a:r>
          </a:p>
          <a:p>
            <a:r>
              <a:t>Fontes:</a:t>
            </a:r>
          </a:p>
          <a:p>
            <a:r>
              <a:t>CNPJ 28169275000172 · Classes/séries · Sênior e mezanino em séries; subordinadas em subclasses · data/raw/28169275000172/1149521_regulamento.pdf · ID Fundos.NET 1149521 · 25/03/2026 · regulamento · p. 4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28169275000172 · Remuneração · 4ª sênior: DI + 0,75% a.a. · data/raw/28169275000172/1147067_assembleia.pdf · ID Fundos.NET 1147067 · 25/03/2026 09:00 · assembleia · p. 4 · https://fnet.bmfbovespa.com.br/fnet/publico/visualizarDocumento?id=1147067 · Observação: Resumo jurídico da fonte identificada; verificar aditamentos e aplicação à série</a:t>
            </a:r>
          </a:p>
          <a:p>
            <a:r>
              <a:t>CNPJ 28169275000172 · Volume/VNU · 4ª sênior: R$ 1 bilhão; 1 milhão de cotas; VNU R$ 1 mil · data/raw/28169275000172/1147067_assembleia.pdf · ID Fundos.NET 1147067 · 25/03/2026 09:00 · assembleia · p. 4 · https://fnet.bmfbovespa.com.br/fnet/publico/visualizarDocumento?id=1147067 · Observação: Resumo jurídico da fonte identificada; verificar aditamentos e aplicação à série</a:t>
            </a:r>
          </a:p>
          <a:p>
            <a:r>
              <a:t>CNPJ 28169275000172 · Ofertas · Início 30/03/2026; liquidação prevista 31/03/2026; garantia firme · data/raw/28169275000172/1148251_emissao.pdf · ID Fundos.NET 1148251 · 30/03/2026 · emissao · p. 2 · https://fnet.bmfbovespa.com.br/fnet/publico/visualizarDocumento?id=1148251 · Observação: Resumo jurídico da fonte identificada; verificar aditamentos e aplicação à série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2026-10-07T15:13:33-03:00</a:t>
            </a:r>
          </a:p>
          <a:p>
            <a:r>
              <a:t>PagSeguro I: CNPJ 28169275000172</a:t>
            </a:r>
          </a:p>
          <a:p>
            <a:r>
              <a:t>Fontes:</a:t>
            </a:r>
          </a:p>
          <a:p>
            <a:r>
              <a:t>CNPJ 28169275000172 · Carência · Não localizado nas fontes acessíveis desta leitura · Consulta Fundos.NET por CNPJ 28169275000172 em 07/10/2026; 202 registros no inventário obtido; fontes acessíveis: 1148251, 1149521, 1147067, 998868, 768358, 1131152 · Observação: Lacuna documental; não equivale à inexistência da regra</a:t>
            </a:r>
          </a:p>
          <a:p>
            <a:r>
              <a:t>CNPJ 28169275000172 · Juros/amortização · 4ª sênior: principal e remuneração em 31/01, 28/02 e 31/03/2029, DU seguinte se necessário · data/raw/28169275000172/1147067_assembleia.pdf · ID Fundos.NET 1147067 · 25/03/2026 09:00 · assembleia · p. 4–5 · https://fnet.bmfbovespa.com.br/fnet/publico/visualizarDocumento?id=1147067 · Observação: Resumo jurídico da fonte identificada; verificar aditamentos e aplicação à série</a:t>
            </a:r>
          </a:p>
          <a:p>
            <a:r>
              <a:t>CNPJ 28169275000172 · Vencimento · 4ª sênior: 31/03/2029 · data/raw/28169275000172/1147067_assembleia.pdf · ID Fundos.NET 1147067 · 25/03/2026 09:00 · assembleia · p. 4 · https://fnet.bmfbovespa.com.br/fnet/publico/visualizarDocumento?id=1147067 · Observação: Resumo jurídico da fonte identificada; verificar aditamentos e aplicação à série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2026-10-07T15:13:33-03:00</a:t>
            </a:r>
          </a:p>
          <a:p>
            <a:r>
              <a:t>PagSeguro I: CNPJ 28169275000172</a:t>
            </a:r>
          </a:p>
          <a:p>
            <a:r>
              <a:t>Fontes:</a:t>
            </a:r>
          </a:p>
          <a:p>
            <a:r>
              <a:t>CNPJ 28169275000172 · Administração · Faixas cumulativas: 0,100% a.a. até R$ 1,5 bi; 0,075% até R$ 3 bi; 0,060% acima; agente de registro R$ 10 mil adicionais · data/raw/28169275000172/1149521_regulamento.pdf · ID Fundos.NET 1149521 · 25/03/2026 · regulamento · p. 37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28169275000172 · Gestão · 10% da taxa de administração, limitada a R$ 4 mil/mês · data/raw/28169275000172/1149521_regulamento.pdf · ID Fundos.NET 1149521 · 25/03/2026 · regulamento · p. 37 · https://fnet.bmfbovespa.com.br/fnet/publico/visualizarDocumento?id=1149521 · Observação: Resumo jurídico da fonte identificada; verificar aditamentos e aplicação à série</a:t>
            </a:r>
          </a:p>
          <a:p>
            <a:r>
              <a:t>CNPJ 28169275000172 · Custódia · Máximo 0,02% a.a. sobre PL · data/raw/28169275000172/1149521_regulamento.pdf · ID Fundos.NET 1149521 · 25/03/2026 · regulamento · p. 37 · https://fnet.bmfbovespa.com.br/fnet/publico/visualizarDocumento?id=1149521 · Observação: Resumo jurídico da fonte identificada; verificar aditamentos e aplicação à série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2026-10-07T15:13:33-03:00</a:t>
            </a:r>
          </a:p>
          <a:p>
            <a:r>
              <a:t>PagSeguro I: CNPJ 28169275000172</a:t>
            </a:r>
          </a:p>
          <a:p>
            <a:r>
              <a:t>Fontes:</a:t>
            </a:r>
          </a:p>
          <a:p>
            <a:r>
              <a:t>CNPJ 28169275000172 · Alocação/subordinação IME · DC/PL e cotas/PL são candidatos; validar denominadores, subclasses e exclusões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28169275000172 · Inadimplência/PDD IME · Aging e PDD agregados são proxies; safras MOB/perdas ajustadas exigem relatório analítico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28169275000172 · Controles documentais · Elegibilidade, concentração individual, cross-default, trocas de prestadores e finalidade do hedge exigem documentos · Metodologia IME público: services/documentary_portfolio_reviews.py; fórmulas dependem das definições documentais citadas neste perfil · Observação: Classificação metodológica; não afirma enquadramento do fundo em uma competência</a:t>
            </a:r>
          </a:p>
          <a:p>
            <a:r>
              <a:t>CNPJ 28169275000172 · Competência IME · Cache local: 03/2026; selecionar competência para monitorar · .cache/fundonet-ime/918192dcb18428a809121c4500c209ffac32f167d018cf2dd5d7e0bf005d3f0c/manifest.json · Observação: Dado offline do IME; não representa atualização ao vivo nem comprovação dos critérios jurídicos.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Pagseguro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PagSeguro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Transações de crédito à vista/parcelado sem juros e débito, operacionalizadas pelo Sistema PagSeguro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Estabelecimentos credenciados cedem seus recebíveis; PagSeguro operacionaliza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 na figura de credenciador; confirmar contrato da UR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Cessão acompanha garantias/acessórios do crédito; sem coobrigação do cedente pela solvência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Prazo ≤ 24 meses; valor de face &gt; R$ 0,01; reais; titularidade e ausência de ônus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Dispensa do limite de 20% por mesmo devedor/coobrigado, art. 3.19.1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Pagseguro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9979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PagSeguro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 ≥ 50% do PL; apuração diária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Falha de pagamento sênior/MZ não regularizada em 2 DU; hipóteses adicionais no cap.8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Reserva de despesas ≥ R$ 1 milhão; apuração mensal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Permitidos exclusivamente para proteção de posições à vista, até seu limite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 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Pagseguro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7523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PagSeguro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50% do PL após 180 dias; alvo tributário discricionário de 67%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 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20 anos; prorrogável por mais 20; sênior/MZ: profissionais; subordinadas: PagSeguro/relacionadas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Resolução de cessão por inelegibilidade/vício; preço de resolução conforme condições gerais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Cessão definitiva sem regresso por solvência; responsabilidade por existência e formalização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preservada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Despesas → reserva → sênior → mezanino → subordinadas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Prestadores essenciais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Administração/custódia/escrituração/controladoria: Genial Investimentos C.V.M.; gestão: Genial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Pagseguro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527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PagSeguro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e mezanino em séries; subordinadas em subclasses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4ª sênior: DI + 0,75% a.a.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4ª sênior: R$ 1 bilhão; 1 milhão de cotas; VNU R$ 1 mil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Início 30/03/2026; liquidação prevista 31/03/2026; garantia firme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Pagseguro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PagSeguro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 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4ª sênior: principal e remuneração em 31/01, 28/02 e 31/03/2029, DU seguinte se necessário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4ª sênior: 31/03/2029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Pagseguro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4310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PagSeguro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Faixas cumulativas: 0,100% a.a. até R$ 1,5 bi; 0,075% até R$ 3 bi; 0,060% acima; agente de registro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R$ 10 mil adicionais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10% da taxa de administração, limitada a R$ 4 mil/mês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Máximo 0,02% a.a. sobre PL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Pagseguro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9019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PagSeguro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 cotas/PL são candidatos; validar denominadores, subclasses e exclusões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Aging e PDD agregados são proxies; safras MOB/perdas ajustadas exigem relatório analítico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 concentração individual, cross-default, trocas de prestadores e finalidade do hedge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exigem documentos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03/2026; selecionar competência para 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