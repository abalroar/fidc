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2026-10-07T15:13:33-03:00</a:t>
            </a:r>
          </a:p>
          <a:p>
            <a:r>
              <a:t>PagSeguro I: CNPJ 28169275000172</a:t>
            </a:r>
          </a:p>
          <a:p>
            <a:r>
              <a:t>Fontes: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2026-10-07T15:13:33-03:00</a:t>
            </a:r>
          </a:p>
          <a:p>
            <a:r>
              <a:t>PagSeguro I: CNPJ 28169275000172</a:t>
            </a:r>
          </a:p>
          <a:p>
            <a:r>
              <a:t>Fontes: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2026-10-07T15:13:33-03:00</a:t>
            </a:r>
          </a:p>
          <a:p>
            <a:r>
              <a:t>PagSeguro I: CNPJ 28169275000172</a:t>
            </a:r>
          </a:p>
          <a:p>
            <a:r>
              <a:t>Fontes: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2026-10-07T15:13:33-03:00</a:t>
            </a:r>
          </a:p>
          <a:p>
            <a:r>
              <a:t>PagSeguro I: CNPJ 28169275000172</a:t>
            </a:r>
          </a:p>
          <a:p>
            <a:r>
              <a:t>Fontes: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2026-10-07T15:13:33-03:00</a:t>
            </a:r>
          </a:p>
          <a:p>
            <a:r>
              <a:t>PagSeguro I: CNPJ 28169275000172</a:t>
            </a:r>
          </a:p>
          <a:p>
            <a:r>
              <a:t>Fontes:</a:t>
            </a:r>
          </a:p>
          <a:p>
            <a:r>
              <a:t>CNPJ 28169275000172 · Carência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28169275000172 · Juros/amortização · 4ª sênior: principal e remuneração em 31/01, 28/02 e 31/03/2029, DU seguinte se necessário · data/raw/28169275000172/1147067_assembleia.pdf · ID Fundos.NET 1147067 · 25/03/2026 09:00 · assembleia · p. 4–5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28169275000172 · Vencimento · 4ª sênior: 31/03/2029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2026-10-07T15:13:33-03:00</a:t>
            </a:r>
          </a:p>
          <a:p>
            <a:r>
              <a:t>PagSeguro I: CNPJ 28169275000172</a:t>
            </a:r>
          </a:p>
          <a:p>
            <a:r>
              <a:t>Fontes:</a:t>
            </a:r>
          </a:p>
          <a:p>
            <a:r>
              <a:t>CNPJ 28169275000172 · Administração · Faixas cumulativas: 0,100% a.a. até R$ 1,5 bi; 0,075% até R$ 3 bi; 0,060% acima; agente de registro R$ 10 mil adicionais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Gestão · 10% da taxa de administração, limitada a R$ 4 mil/mês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28169275000172 · Custódia · Máximo 0,02% a.a. sobre PL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2026-10-07T15:13:33-03:00</a:t>
            </a:r>
          </a:p>
          <a:p>
            <a:r>
              <a:t>PagSeguro I: CNPJ 28169275000172</a:t>
            </a:r>
          </a:p>
          <a:p>
            <a:r>
              <a:t>Fontes: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Pagseguro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crédito à vista/parcelado sem juros e débito, operacionalizadas pelo Sistema PagSeguro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Estabelecimentos credenciados cedem seus recebíveis; PagSeguro operacionaliza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na figura de credenciador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acompanha garantias/acessórios do crédito; sem coobrigação do cedente pela solvência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≤ 24 meses; valor de face &gt; R$ 0,01; reais; titularidade e ausência de ônus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Dispensa do limite de 20% por mesmo devedor/coobrigado, art. 3.19.1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Pagseguro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 50% do PL;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 de pagamento sênior/MZ não regularizada em 2 DU; hipóteses adicionais no cap.8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 ≥ R$ 1 milhão; apuração mensal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Permitidos exclusivamente para proteção de posições à vista, até seu limite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Pagseguro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752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do PL após 180 dias; alvo tributário discricionário de 67%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 anos; prorrogável por mais 20; sênior/MZ: profissionais; subordinadas: PagSeguro/relacionadas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de cessão por inelegibilidade/vício; preço de resolução conforme condições gerais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 sem regresso por solvência; responsabilidade por existência e formalização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→ reserva → sênior → mezanino → 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Administração/custódia/escrituração/controladoria: Genial Investimentos C.V.M.; gestão: Genial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Pagseguro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mezanino em séries; subordinadas em subclasses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sênior: DI + 0,75%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sênior: R$ 1 bilhão; 1 milhão de cotas;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Início 30/03/2026; liquidação prevista 31/03/2026; garantia firme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Pagseguro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sênior: principal e remuneração em 31/01, 28/02 e 31/03/2029, DU seguinte se necessário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sênior: 31/03/2029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Pagseguro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431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cumulativas: 0,100% a.a. até R$ 1,5 bi; 0,075% até R$ 3 bi; 0,060% acima; agente de registro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R$ 10 mil 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da taxa de administração, limitada a R$ 4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0,02% a.a. sobre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Pagseguro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 candidatos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são proxies; safras MOB/perdas ajustadas exigem relatório 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individual, cross-default, trocas de prestadores e finalidade do hedge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