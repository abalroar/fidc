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2026-10-07T16:50:54-03:00</a:t>
            </a:r>
          </a:p>
          <a:p>
            <a:r>
              <a:t>Atlantis: CNPJ 63977188000142</a:t>
            </a:r>
          </a:p>
          <a:p>
            <a:r>
              <a:t>Fontes:</a:t>
            </a:r>
          </a:p>
          <a:p>
            <a:r>
              <a:t>CNPJ 63977188000142 · Natureza dos recebíveis · Créditos de naturezas diversas, títulos mercantis/financeiros e cotas de FIDC · Fundos.NET ID 1309454; referência 03/09/2026; data/raw/63977188000142/1309454_documentary_review.txt; Anexo,7.1 e8.2, pp43–49;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Originador/endossante · Múltiplos cedentes e endossantes; prestadores/partes relacionadas conforme condições · Fundos.NET ID 1309454; referência 03/09/2026; data/raw/63977188000142/1309454_documentary_review.txt; Parte Geral,9.3; Anexo,7–8;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Devedor · PF/PJ conforme tipo de crédito: duplicatas, cheques, CCB, CPR-F e outros títulos · Fundos.NET ID 1309454; referência 03/09/2026; data/raw/63977188000142/1309454_documentary_review.txt; Anexo,8.2, pp47–49;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Garantia · Garantias e acessórios acompanham cessão; sem garantia de prestadores/FGC · Fundos.NET ID 1309454; referência 03/09/2026; data/raw/63977188000142/1309454_documentary_review.txt; Anexo,7.5 e7.18, pp44 e46;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Elegibilidade · Cedente com CNPJ ativo; crédito antes de 06/09/2034; prazos/valores mínimos por tipo de título · Fundos.NET ID 1309454; referência 03/09/2026; data/raw/63977188000142/1309454_documentary_review.txt; Anexo,8.1–8.2, pp46–49; https://fnet.bmfbovespa.com.br/fnet/publico/exibirDocumento?id=1309454&amp;cvm=true · Observação: Exemplos: CCB≥ R$ 50 mil e≤ 48 meses; título mercantil 5–2.160 dias. Não generalizar entre ativos.</a:t>
            </a:r>
          </a:p>
          <a:p>
            <a:r>
              <a:t>CNPJ 63977188000142 · Concentração · Classe exclusiva para profissionais sem teto contratual por devedor, emissor ou tipo de crédito · Fundos.NET ID 1309454; referência 03/09/2026; data/raw/63977188000142/1309454_documentary_review.txt; Anexo,7.4,p44; https://fnet.bmfbovespa.com.br/fnet/publico/exibirDocumento?id=1309454&amp;cvm=true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2026-10-07T16:50:54-03:00</a:t>
            </a:r>
          </a:p>
          <a:p>
            <a:r>
              <a:t>Atlantis: CNPJ 63977188000142</a:t>
            </a:r>
          </a:p>
          <a:p>
            <a:r>
              <a:t>Fontes:</a:t>
            </a:r>
          </a:p>
          <a:p>
            <a:r>
              <a:t>CNPJ 63977188000142 · Subordinação mínima · Júnior ≥ 50% PL · Fundos.NET ID 1309454; referência 03/09/2026; data/raw/63977188000142/1309454_documentary_review.txt; Anexo,5.1,p42;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Gatilhos de avaliação/liquidação · Razão de garantia sem recomposição e cessação de prestadores sem substituição · Fundos.NET ID 1309454; referência 03/09/2026; data/raw/63977188000142/1309454_documentary_review.txt; Anexo,13.1–13.2,p52;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Reserva de caixa · Maior de 90 dias de despesas e 0, 1% PL; reserva de pagamento 1% a 30 e 15 dias · Fundos.NET ID 1309454; referência 03/09/2026; data/raw/63977188000142/1309454_documentary_review.txt; Anexo,10.1–10.3, pp50–51; https://fnet.bmfbovespa.com.br/fnet/publico/exibirDocumento?id=1309454&amp;cvm=true · Observação: Texto 0, 1% diverge de um centésimo por cento por extenso; regra de pagamento 1% é literal e requer confirmação operacional.</a:t>
            </a:r>
          </a:p>
          <a:p>
            <a:r>
              <a:t>CNPJ 63977188000142 · Derivativos/hedge · Derivativos vedados, inclusive para proteção patrimonial · Fundos.NET ID 1309454; referência 03/09/2026; data/raw/63977188000142/1309454_documentary_review.txt; Anexo,7.12,p45;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PDD · Não localizado nas fontes acessíveis desta leitura · Fundos.NET ID 1340627; referência 02/10/2026; data/raw/63977188000142/1340627_documentary_review.txt; Inventário das fontes consultadas; https://fnet.bmfbovespa.com.br/fnet/publico/exibirDocumento?id=1340627&amp;cvm=true; Fundos.NET ID 1309454; referência 03/09/2026; data/raw/63977188000142/1309454_documentary_review.txt; Inventário das fontes consultadas; https://fnet.bmfbovespa.com.br/fnet/publico/exibirDocumento?id=1309454&amp;cvm=true; Fundos.NET ID 1309452; referência 01/09/2026 10:00; data/raw/63977188000142/1309452_documentary_review.txt; Inventário das fontes consultadas; https://fnet.bmfbovespa.com.br/fnet/publico/exibirDocumento?id=1309452&amp;cvm=true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2026-10-07T16:50:54-03:00</a:t>
            </a:r>
          </a:p>
          <a:p>
            <a:r>
              <a:t>Atlantis: CNPJ 63977188000142</a:t>
            </a:r>
          </a:p>
          <a:p>
            <a:r>
              <a:t>Fontes:</a:t>
            </a:r>
          </a:p>
          <a:p>
            <a:r>
              <a:t>CNPJ 63977188000142 · Alocação mínima · Direitos creditórios &gt; 50% PL até 180 dias · Fundos.NET ID 1309454; referência 03/09/2026; data/raw/63977188000142/1309454_documentary_review.txt; Anexo,7.3,p44;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Pool/revolvência · Aquisições de novos créditos admitidas após prioridade de despesas e cotas · Fundos.NET ID 1309454; referência 03/09/2026; data/raw/63977188000142/1309454_documentary_review.txt; Anexo,9, p50;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Duração/público-alvo · Classe fechada para profissionais; fundo até 06/09/2034 · Fundos.NET ID 1309454; referência 03/09/2026; data/raw/63977188000142/1309454_documentary_review.txt; Parte Geral,5.1,p18; Anexo,2–3,p38;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Cessão/recompra · Cessão irrevogável; cessão de volta a cedentes/partes relacionadas permitida · Fundos.NET ID 1309454; referência 03/09/2026; data/raw/63977188000142/1309454_documentary_review.txt; Anexo,7.5 e7.10,p44;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Coobrigação · CCB pode ter ou não coobrigação de instituição financeira; instrumento específico decide · Fundos.NET ID 1309454; referência 03/09/2026; data/raw/63977188000142/1309454_documentary_review.txt; Anexo,8.2(d),p48;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Waterfall · Encargos → reservas → sênior → mezanino → júnior → novos créditos · Fundos.NET ID 1309454; referência 03/09/2026; data/raw/63977188000142/1309454_documentary_review.txt; Anexo,9,p50; https://fnet.bmfbovespa.com.br/fnet/publico/exibirDocumento?id=1309454&amp;cvm=true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2026-10-07T16:50:54-03:00</a:t>
            </a:r>
          </a:p>
          <a:p>
            <a:r>
              <a:t>Atlantis: CNPJ 63977188000142</a:t>
            </a:r>
          </a:p>
          <a:p>
            <a:r>
              <a:t>Fontes:</a:t>
            </a:r>
          </a:p>
          <a:p>
            <a:r>
              <a:t>CNPJ 63977188000142 · Classes/séries · Sênior, mezanino e júnior; sênior 2ª série e júnior 29ª emissão identificadas · Fundos.NET ID 1309454; referência 03/09/2026; data/raw/63977188000142/1309454_documentary_review.txt; Anexo,4 e Suplementos;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Remuneração · Sênior 2ª série: CDI + 1, 42% a.a.; júnior 29ª emissão sem spread explicitado · Fundos.NET ID 1309452; referência 01/09/2026 10:00; data/raw/63977188000142/1309452_documentary_review.txt; Suplemento Sênior,pp5–6; https://fnet.bmfbovespa.com.br/fnet/publico/exibirDocumento?id=1309452&amp;cvm=true · Observação: Conclusão limitada à versão citada; inventário completo não equivale a leitura integral de todos os documentos.</a:t>
            </a:r>
          </a:p>
          <a:p>
            <a:r>
              <a:t>CNPJ 63977188000142 · Volume/VNU · Sênior 2ª série R$ 20 mi/20 milcotas; júnior 29ª emissão R$ 124 mi; VNU inicial R$ 1 mil · Fundos.NET ID 1340627; referência 02/10/2026; data/raw/63977188000142/1340627_documentary_review.txt; Suplemento29ªemissão,p2; https://fnet.bmfbovespa.com.br/fnet/publico/exibirDocumento?id=1340627&amp;cvm=true · Observação: Conclusão limitada à versão citada; inventário completo não equivale a leitura integral de todos os documentos.</a:t>
            </a:r>
          </a:p>
          <a:p>
            <a:r>
              <a:t>CNPJ 63977188000142 · Ofertas · Júnior 29ª emissão privada restrita a cotistas; aprovada 02/10/2026 · Fundos.NET ID 1340627; referência 02/10/2026; data/raw/63977188000142/1340627_documentary_review.txt; Instrumento e Suplemento,pp1–2; https://fnet.bmfbovespa.com.br/fnet/publico/exibirDocumento?id=1340627&amp;cvm=true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2026-10-07T16:50:54-03:00</a:t>
            </a:r>
          </a:p>
          <a:p>
            <a:r>
              <a:t>Atlantis: CNPJ 63977188000142</a:t>
            </a:r>
          </a:p>
          <a:p>
            <a:r>
              <a:t>Fontes:</a:t>
            </a:r>
          </a:p>
          <a:p>
            <a:r>
              <a:t>CNPJ 63977188000142 · Carência · Sênior 2ª série: 1 mês da primeira integralização · Fundos.NET ID 1309452; referência 01/09/2026 10:00; data/raw/63977188000142/1309452_documentary_review.txt; Suplemento,l,p5; https://fnet.bmfbovespa.com.br/fnet/publico/exibirDocumento?id=1309452&amp;cvm=true · Observação: Conclusão limitada à versão citada; inventário completo não equivale a leitura integral de todos os documentos.</a:t>
            </a:r>
          </a:p>
          <a:p>
            <a:r>
              <a:t>CNPJ 63977188000142 · Juros/amortização · Sênior 2ª série: juros mensais, principal preservado até vencimento; reconciliar prazo da classe versus 360 dias · Fundos.NET ID 1309452; referência 01/09/2026 10:00; data/raw/63977188000142/1309452_documentary_review.txt; Suplemento,m–n,pp5–6; https://fnet.bmfbovespa.com.br/fnet/publico/exibirDocumento?id=1309452&amp;cvm=true · Observação: O texto diz principal até vencimento da Classe; prazo da série 360 dias deve ser reconciliado com duração do fundo até 2034.</a:t>
            </a:r>
          </a:p>
          <a:p>
            <a:r>
              <a:t>CNPJ 63977188000142 · Vencimento · Sênior 2ª série: 360 dias; data efetiva por primeira integralização não localizada · Fundos.NET ID 1309452; referência 01/09/2026 10:00; data/raw/63977188000142/1309452_documentary_review.txt; Suplemento,n,p6; https://fnet.bmfbovespa.com.br/fnet/publico/exibirDocumento?id=1309452&amp;cvm=true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2026-10-07T16:50:54-03:00</a:t>
            </a:r>
          </a:p>
          <a:p>
            <a:r>
              <a:t>Atlantis: CNPJ 63977188000142</a:t>
            </a:r>
          </a:p>
          <a:p>
            <a:r>
              <a:t>Fontes:</a:t>
            </a:r>
          </a:p>
          <a:p>
            <a:r>
              <a:t>CNPJ 63977188000142 · Administração · 0, 18% a.a./PL com custódia; mínimo não localizado · Fundos.NET ID 1309454; referência 03/09/2026; data/raw/63977188000142/1309454_documentary_review.txt; Anexo,6.1,p43;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Gestão · 0, 06% a.a./PL; mínimo não localizado · Fundos.NET ID 1309454; referência 03/09/2026; data/raw/63977188000142/1309454_documentary_review.txt; Anexo,6.2,p43;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Custódia · Incluída na taxa de 0, 18% a.a. de administração/custódia · Fundos.NET ID 1309454; referência 03/09/2026; data/raw/63977188000142/1309454_documentary_review.txt; Anexo,6.1,p43; https://fnet.bmfbovespa.com.br/fnet/publico/exibirDocumento?id=1309454&amp;cvm=true · Observação: Conclusão limitada à versão citada; inventário completo não equivale a leitura integral de todos os documentos.</a:t>
            </a:r>
          </a:p>
          <a:p>
            <a:r>
              <a:t>CNPJ 63977188000142 · Consultoria especializada · R$ 50 mil/mês +0, 13% do face dos créditos adquiridos no mês anterior · Fundos.NET ID 1309454; referência 03/09/2026; data/raw/63977188000142/1309454_documentary_review.txt; Anexo,6.4,p43 · Observação: Custo adicional ao pacote principal; base/periodicidade contratual preservadas. Validar versão e encargos tributários.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2026-10-07T16:50:54-03:00</a:t>
            </a:r>
          </a:p>
          <a:p>
            <a:r>
              <a:t>Atlantis: CNPJ 63977188000142</a:t>
            </a:r>
          </a:p>
          <a:p>
            <a:r>
              <a:t>Fontes:</a:t>
            </a:r>
          </a:p>
          <a:p>
            <a:r>
              <a:t>CNPJ 63977188000142 · Alocação/subordinação IME · Direitos creditórios / PL e cotas subordinadas / PL; validar fórmula contratual antes de comparar · Fundos.NET ID 1340627; referência 02/10/2026; data/raw/63977188000142/1340627_documentary_review.txt; Inventário das fontes consultadas; https://fnet.bmfbovespa.com.br/fnet/publico/exibirDocumento?id=1340627&amp;cvm=true; Fundos.NET ID 1309454; referência 03/09/2026; data/raw/63977188000142/1309454_documentary_review.txt; Inventário das fontes consultadas; https://fnet.bmfbovespa.com.br/fnet/publico/exibirDocumento?id=1309454&amp;cvm=true; Fundos.NET ID 1309452; referência 01/09/2026 10:00; data/raw/63977188000142/1309452_documentary_review.txt; Inventário das fontes consultadas; https://fnet.bmfbovespa.com.br/fnet/publico/exibirDocumento?id=1309452&amp;cvm=true · Observação: Métricas padronizadas são proxies; data, unidade e denominador precisam coincidir com a regra jurídica.</a:t>
            </a:r>
          </a:p>
          <a:p>
            <a:r>
              <a:t>CNPJ 63977188000142 · Inadimplência/PDD IME · Aging e PDD agregados ajudam no alerta; índice contratual exige reconciliação · Fundos.NET ID 1340627; referência 02/10/2026; data/raw/63977188000142/1340627_documentary_review.txt; Inventário das fontes consultadas; https://fnet.bmfbovespa.com.br/fnet/publico/exibirDocumento?id=1340627&amp;cvm=true; Fundos.NET ID 1309454; referência 03/09/2026; data/raw/63977188000142/1309454_documentary_review.txt; Inventário das fontes consultadas; https://fnet.bmfbovespa.com.br/fnet/publico/exibirDocumento?id=1309454&amp;cvm=true; Fundos.NET ID 1309452; referência 01/09/2026 10:00; data/raw/63977188000142/1309452_documentary_review.txt; Inventário das fontes consultadas; https://fnet.bmfbovespa.com.br/fnet/publico/exibirDocumento?id=1309452&amp;cvm=true · Observação: O IME não substitui bases por devedor, cedente, vintage ou fluxo de vencimentos.</a:t>
            </a:r>
          </a:p>
          <a:p>
            <a:r>
              <a:t>CNPJ 63977188000142 · Controles documentais · Elegibilidade, concentração, recompra jurídica e troca de prestadores exigem documentos individuais · Fundos.NET ID 1340627; referência 02/10/2026; data/raw/63977188000142/1340627_documentary_review.txt; Inventário das fontes consultadas; https://fnet.bmfbovespa.com.br/fnet/publico/exibirDocumento?id=1340627&amp;cvm=true; Fundos.NET ID 1309454; referência 03/09/2026; data/raw/63977188000142/1309454_documentary_review.txt; Inventário das fontes consultadas; https://fnet.bmfbovespa.com.br/fnet/publico/exibirDocumento?id=1309454&amp;cvm=true; Fundos.NET ID 1309452; referência 01/09/2026 10:00; data/raw/63977188000142/1309452_documentary_review.txt; Inventário das fontes consultadas; https://fnet.bmfbovespa.com.br/fnet/publico/exibirDocumento?id=1309452&amp;cvm=true · Observação: Controle documental separado de posições agregadas do IME; lacuna não deve produzir enquadramento presumido.</a:t>
            </a:r>
          </a:p>
          <a:p>
            <a:r>
              <a:t>CNPJ 63977188000142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ATLANTIS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Atlantis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de naturezas diversas, títulos mercantis/financeiros e cotas de FIDC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Múltiplos cedentes e endossantes; prestadores/partes relacionadas conforme condições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PF/PJ conforme tipo de crédito: duplicatas, cheques, CCB, CPR-F e outros títulos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e acessórios acompanham cessão; sem garantia de prestadores/FGC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com CNPJ ativo; crédito antes de 06/09/2034; prazos/valores mínimos por tipo de título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exclusiva para profissionais sem teto contratual por devedor, emissor ou tipo de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ATLANTIS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Atlantis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50%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Razão de garantia sem recomposição e cessação de prestadores sem substituição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de 90 dias de despesas e 0, 1% PL; reserva de pagamento 1% a 30 e 15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vedados, inclusive para proteção patrimonial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ATLANTIS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Atlantis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 50% PL até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de novos créditos admitidas após prioridade de despesas e cotas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 para profissionais; fundo até 06/09/2034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irrevogável; cessão de volta a cedentes/partes relacionadas permitida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pode ter ou não coobrigação de instituição financeira; instrumento específico decide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reservas → sênior → mezanino → júnior → novos créditos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ATLANTIS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Atlantis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 sênior 2ª série e júnior 29ª emissão identificadas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série: CDI + 1, 42% a.a.; júnior 29ª emissão sem spread explicitado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 R$ 20 mi/20 milcotas; júnior 29ª emissão R$ 124 mi; VNU inicial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29ª emissão privada restrita a cotistas; aprovada 02/10/2026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ATLANTIS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Atlantis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série: 1 mês da primeira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série: juros mensais, principal preservado até vencimento; reconciliar prazo da classe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versus 360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série: 360 dias; data efetiva por primeira integralização não 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ATLANTIS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Atlantis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18% a.a./PL com custódia; mínimo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06% a.a./PL; mínimo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 0, 18% a.a. de administração/custódia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Consultoria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especializada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R$ 50 mil/mês +0, 13% do face dos créditos adquiridos no mês anterior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ATLANTIS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Atlantis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fórmula contratual antes de comparar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