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2026-10-07T16:23:18-03:00</a:t>
            </a:r>
          </a:p>
          <a:p>
            <a:r>
              <a:t>Cap FIDC: CNPJ 49113994000141</a:t>
            </a:r>
          </a:p>
          <a:p>
            <a:r>
              <a:t>Fontes:</a:t>
            </a:r>
          </a:p>
          <a:p>
            <a:r>
              <a:t>CNPJ 49113994000141 · Natureza dos recebíveis · CCBs para financiamento de produtos/serviços de saúde e bem-estar a PF, sem garantia · data/raw/49113994000141/788104_regulamento.pdf | Fundos.NET ID 788104 | 22/11/2024 | regulamento | p. 31 · Observação: Regra da versão documental citada; série e operação concreta dependem dos respectivos instrumentos.</a:t>
            </a:r>
          </a:p>
          <a:p>
            <a:r>
              <a:t>CNPJ 49113994000141 · Originador/endossante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Devedor · Pessoas físicas; financiamento de saúde/bem-estar · data/raw/49113994000141/788104_regulamento.pdf | Fundos.NET ID 788104 | 22/11/2024 | regulamento | p. 31 · Observação: Regra da versão documental citada; série e operação concreta dependem dos respectivos instrumentos.</a:t>
            </a:r>
          </a:p>
          <a:p>
            <a:r>
              <a:t>CNPJ 49113994000141 · Garantia · Operações de crédito sem garantia conforme definição de direitos creditórios · data/raw/49113994000141/788104_regulamento.pdf | Fundos.NET ID 788104 | 22/11/2024 | regulamento | p. 31 · Observação: Regra da versão documental citada; série e operação concreta dependem dos respectivos instrumentos.</a:t>
            </a:r>
          </a:p>
          <a:p>
            <a:r>
              <a:t>CNPJ 49113994000141 · Elegibilidade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Concentração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2026-10-07T16:23:18-03:00</a:t>
            </a:r>
          </a:p>
          <a:p>
            <a:r>
              <a:t>Cap FIDC: CNPJ 49113994000141</a:t>
            </a:r>
          </a:p>
          <a:p>
            <a:r>
              <a:t>Fontes:</a:t>
            </a:r>
          </a:p>
          <a:p>
            <a:r>
              <a:t>CNPJ 49113994000141 · Subordinação mínima · Diária:39%/24%/14% PL; fim de mês sênior 40%, conforme níveis de cotas · data/raw/49113994000141/788104_regulamento.pdf | Fundos.NET ID 788104 | 22/11/2024 | regulamento | p. 53 · Observação: 39%sênior,24%mezanino preferencial,14%highyield; exigências mensais adicionais seguemcláusula14.1.1, não reduzir tudo a um número único.</a:t>
            </a:r>
          </a:p>
          <a:p>
            <a:r>
              <a:t>CNPJ 49113994000141 · Gatilhos de avaliação/liquidação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Reserva de caixa · Maior entre0,50% PL e encargos/despesas estimados na cláusula7 · data/raw/49113994000141/788104_regulamento.pdf | Fundos.NET ID 788104 | 22/11/2024 | regulamento | p. 40 · Observação: Regra da versão documental citada; série e operação concreta dependem dos respectivos instrumentos.</a:t>
            </a:r>
          </a:p>
          <a:p>
            <a:r>
              <a:t>CNPJ 49113994000141 · Derivativos/hedge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PDD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2026-10-07T16:23:18-03:00</a:t>
            </a:r>
          </a:p>
          <a:p>
            <a:r>
              <a:t>Cap FIDC: CNPJ 49113994000141</a:t>
            </a:r>
          </a:p>
          <a:p>
            <a:r>
              <a:t>Fontes:</a:t>
            </a:r>
          </a:p>
          <a:p>
            <a:r>
              <a:t>CNPJ 49113994000141 · Alocação mínima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Pool/revolvência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Duração/público-alvo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Cessão/recompra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Coobrigação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Waterfall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2026-10-07T16:23:18-03:00</a:t>
            </a:r>
          </a:p>
          <a:p>
            <a:r>
              <a:t>Cap FIDC: CNPJ 49113994000141</a:t>
            </a:r>
          </a:p>
          <a:p>
            <a:r>
              <a:t>Fontes:</a:t>
            </a:r>
          </a:p>
          <a:p>
            <a:r>
              <a:t>CNPJ 49113994000141 · Classes/séries · Sênior 4ª série; mezz PreferencialD e HYIV · data/raw/49113994000141/1315226_emissao.pdf | Fundos.NET ID 1315226 | 08/09/2026 | emissao | p. 1 · Observação: Cláusula documental; confirmar versão aplicável e instrumento específico antes de ativar controle.</a:t>
            </a:r>
          </a:p>
          <a:p>
            <a:r>
              <a:t>CNPJ 49113994000141 · Remuneração · Spread final não localizado nas cláusulas revisadas; requer suplemento ou ato específico · data/raw/49113994000141/788104_regulamento.pdf | Fundos.NET ID 788104 | 22/11/2024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Volume/VNU · Encerramento declara R$ 24.589.994,31; quantidade/volume/VNU exigem conciliação · data/raw/49113994000141/1315226_emissao.pdf | Fundos.NET ID 1315226 | 08/09/2026 | emissao | p. 1-4 · Observação: Corpo: 16.348 sênior, 4.352 pref. D e 2.897 HY IV; tabelas: 16.348,83/4.352,54/2.897,95. Volume declarado de R$ 24.589.994,31 não concilia com essas quantidades e VNU R$ 1.000; não certificado o valor distribuído reconciliado.</a:t>
            </a:r>
          </a:p>
          <a:p>
            <a:r>
              <a:t>CNPJ 49113994000141 · Ofertas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2026-10-07T16:23:18-03:00</a:t>
            </a:r>
          </a:p>
          <a:p>
            <a:r>
              <a:t>Cap FIDC: CNPJ 49113994000141</a:t>
            </a:r>
          </a:p>
          <a:p>
            <a:r>
              <a:t>Fontes:</a:t>
            </a:r>
          </a:p>
          <a:p>
            <a:r>
              <a:t>CNPJ 49113994000141 · Carência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Juros/amortização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49113994000141 · Vencimento · Não localizado nas cláusulas revisadas; requer documento aplicável · data/raw/49113994000141/788104_regulamento.pdf | Fundos.NET ID 788104 | 22/11/2024; data/raw/49113994000141/1315226_emissao.pdf | Fundos.NET ID 1315226 | 08/09/2026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2026-10-07T16:23:18-03:00</a:t>
            </a:r>
          </a:p>
          <a:p>
            <a:r>
              <a:t>Cap FIDC: CNPJ 49113994000141</a:t>
            </a:r>
          </a:p>
          <a:p>
            <a:r>
              <a:t>Fontes:</a:t>
            </a:r>
          </a:p>
          <a:p>
            <a:r>
              <a:t>CNPJ 49113994000141 · Administração · Faixas 0,25%/0,20%/0,15% a.a. PL; mínimo R$ 28 mil/mês · data/raw/49113994000141/788104_regulamento.pdf | Fundos.NET ID 788104 | 22/11/2024 | regulamento | p. 46-47 · Observação: Faixas até 100/200 mi e excedente; descontos30% primeiros12 meses e20% até 24 meses, não cumulativos.</a:t>
            </a:r>
          </a:p>
          <a:p>
            <a:r>
              <a:t>CNPJ 49113994000141 · Gestão · 0,25% a.a. até R$ 100 mi; demais faixas noart13.2; mínimo R$ 17,5 mil/mês com data entre colchetes · data/raw/49113994000141/788104_regulamento.pdf | Fundos.NET ID 788104 | 22/11/2024 | regulamento | p. 47 · Observação: Cláusula mantém [1ºmaio2024] entre colchetes; confirmar implementação. Não extrapolar0,25% para todoPL.</a:t>
            </a:r>
          </a:p>
          <a:p>
            <a:r>
              <a:t>CNPJ 49113994000141 · Custódia · Verificação de lastro R$ 2 mil/mês + escrituração R$ 2 mil/mês, além do bloco de administração · data/raw/49113994000141/788104_regulamento.pdf | Fundos.NET ID 788104 | 22/11/2024 | regulamento | p. 47 · Observação: Regra da versão documental citada; série e operação concreta dependem dos respectivos instrumentos.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2026-10-07T16:23:18-03:00</a:t>
            </a:r>
          </a:p>
          <a:p>
            <a:r>
              <a:t>Cap FIDC: CNPJ 49113994000141</a:t>
            </a:r>
          </a:p>
          <a:p>
            <a:r>
              <a:t>Fontes:</a:t>
            </a:r>
          </a:p>
          <a:p>
            <a:r>
              <a:t>CNPJ 49113994000141 · Alocação/subordinação IME · DC/PL e composição de cotas ajudam; validar numerador, denominador e versão contratual · data/raw/49113994000141/788104_regulamento.pdf | Fundos.NET ID 788104 | 22/11/2024; data/raw/49113994000141/1315226_emissao.pdf | Fundos.NET ID 1315226 | 08/09/2026 · Observação: Proxy metodológica. FIC investe em cotas: não usar DC/PL como substituto da alocação em fundos-alvo. Nenhum saldo observado nesta revisão documental.</a:t>
            </a:r>
          </a:p>
          <a:p>
            <a:r>
              <a:t>CNPJ 49113994000141 · Inadimplência/PDD IME · Over e PDD agregados são alertas; fórmulas contratuais exigem validação · data/raw/49113994000141/788104_regulamento.pdf | Fundos.NET ID 788104 | 22/11/2024; data/raw/49113994000141/1315226_emissao.pdf | Fundos.NET ID 1315226 | 08/09/2026 · Observação: Não reproduzem médias móveis, coortes, exposição individual, motivo de recompra, chargeback e perdas históricas sem dados adicionais.</a:t>
            </a:r>
          </a:p>
          <a:p>
            <a:r>
              <a:t>CNPJ 49113994000141 · Controles documentais · Elegibilidade, concentração, lastro e eventos exigem controles por contrato · data/raw/49113994000141/788104_regulamento.pdf | Fundos.NET ID 788104 | 22/11/2024; data/raw/49113994000141/1315226_emissao.pdf | Fundos.NET ID 1315226 | 08/09/2026 · Observação: IME público agregado não certifica devedor/cedente/grupo nem alterações de prestadores e cross default.</a:t>
            </a:r>
          </a:p>
          <a:p>
            <a:r>
              <a:t>CNPJ 49113994000141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Capim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 FIDC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para financiamento de produtos/serviços de saúde e bem-estar a PF, sem 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físicas; financiamento de saúde/bem-estar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de crédito sem garantia conforme definição de direitos creditórios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Capim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 FIDC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Diária:39%/24%/14% PL; fim de mês sênior 40%, conforme níveis de cotas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entre0,50% PL e encargos/despesas estimados na cláusula7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Capim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 FIDC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Capim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 FIDC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4ª série; mezz PreferencialD e HYIV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declara R$ 24.589.994,31; quantidade/volume/VNU exigem 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Capim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 FIDC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Capim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 FIDC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0,25%/0,20%/0,15% a.a. PL; mínimo R$ 28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a.a. até R$ 100 mi; demais faixas noart13.2; mínimo R$ 17,5 mil/mês com data entre colchetes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Verificação de lastro R$ 2 mil/mês + escrituração R$ 2 mil/mês, além do bloco de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Capim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 FIDC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