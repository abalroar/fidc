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Natureza dos recebíveis · CCCBs de empréstimos pessoais consignados em folha ou benefício · Fundos.NET ID 670691 · 28/04/2024 · Regulamento · p. 9, 38-39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Natureza dos recebíveis · FIAGRO; lastro e política não validados sem regulamento · Fundos.NET ID 1148821 · 27/03/2026 · Atos de Deliberação do Administrador · p. 1 · data/raw/62696791000193/1148821_documentary_review.pdf · https://fnet.bmfbovespa.com.br/fnet/publico/exibirDocumento?id=1148821 · Observação: Preservar enquadramento FIAGRO e CNPJ; não converter em consignado/FIDC.</a:t>
            </a:r>
          </a:p>
          <a:p>
            <a:r>
              <a:t>CNPJ 55563624000109 · Natureza dos recebíveis · FIC-FIDC: mezanino do Mercado Crédito II (CNPJ 41.970.012/0001-26) · Fundos.NET ID 1192614 · 30/04/2026 · Regulamento · p. 11 · data/raw/55563624000109/1192614_documentary_review.pdf · https://fnet.bmfbovespa.com.br/fnet/publico/exibirDocumento?id=1192614 · Observação: Exposição indireta. Não somar PL do FIC e investido como direitos creditórios diretos.</a:t>
            </a:r>
          </a:p>
          <a:p>
            <a:r>
              <a:t>CNPJ 62552447000120 · Natureza dos recebíveis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Originador/endossante · Endossantes vinculados a órgãos conveniados; nomes finais não identificados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Originador/endossante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Originador/endossante · Originação indireta Mercado Pago na classe investida · Fundos.NET ID 1192614 · 30/04/2026 · Regulamento · p. 11 · data/raw/55563624000109/1192614_documentary_review.pdf · https://fnet.bmfbovespa.com.br/fnet/publico/exibirDocumento?id=1192614 · Observação: Não há concessão/aquisição direta de crédito pelo PLGN.</a:t>
            </a:r>
          </a:p>
          <a:p>
            <a:r>
              <a:t>CNPJ 62552447000120 · Originador/endossante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Devedor · Pessoas físicas: servidores públicos civis e beneficiários de pensão · Fundos.NET ID 670691 · 28/04/2024 · Regulamento · p. 38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Devedor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Devedor · Classe investida; devedores finais requerem regulamento e base do investido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Devedor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Garantia · Consignação em folha/benefício; seguros de sinistros conforme contrato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Garantia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Garantia · Direitos das cotas investidas; garantia dos créditos finais não validada aqui · Fundos.NET ID 1192614 · 30/04/2026 · Regulamento · p. 12,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Garantia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Elegibilidade · CCB adimplente; parcela &gt; R$ 30; próxima parcela &lt; 60 dias; idade + prazo ≤ 80 anos · Fundos.NET ID 670691 · 28/04/2024 · Regulamento · p. 9-10 · data/raw/54871427000194/670691_documentary_review.pdf · https://fnet.bmfbovespa.com.br/fnet/publico/exibirDocumento?id=670691 · Observação: Adquirir todas as parcelas vincendas; pagamento ordinário integral nos últimos 60 dias, com exceção de primeira tranche descrita na cláusula 4.7.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62696791000193 · Elegibilidade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Elegibilidade · Somente cotas da classe investida identificada + ativos de liquidez · Fundos.NET ID 1192614 · 30/04/2026 · Regulamento · p. 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Elegibilidade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Concentração · CCBs do mesmo devedor ≤ 20% do PL; até 100% por endossante/originador · Fundos.NET ID 670691 · 28/04/2024 · Regulamento · p. 10-11 · data/raw/54871427000194/670691_documentary_review.pdf · https://fnet.bmfbovespa.com.br/fnet/publico/exibirDocumento?id=670691 · Observação: O permissivo geral de 100% por devedor não afasta o critério específico de aquisição de 20%.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Concentração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Concentração · Concentração na classe investida; limites de devedor final não se aplicam diretamente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Concentração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Natureza dos recebíveis · CCCBs de empréstimos pessoais consignados em folha ou benefício · Fundos.NET ID 670691 · 28/04/2024 · Regulamento · p. 9, 38-39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Natureza dos recebíveis · FIAGRO; lastro e política não validados sem regulamento · Fundos.NET ID 1148821 · 27/03/2026 · Atos de Deliberação do Administrador · p. 1 · data/raw/62696791000193/1148821_documentary_review.pdf · https://fnet.bmfbovespa.com.br/fnet/publico/exibirDocumento?id=1148821 · Observação: Preservar enquadramento FIAGRO e CNPJ; não converter em consignado/FIDC.</a:t>
            </a:r>
          </a:p>
          <a:p>
            <a:r>
              <a:t>CNPJ 55563624000109 · Natureza dos recebíveis · FIC-FIDC: mezanino do Mercado Crédito II (CNPJ 41.970.012/0001-26) · Fundos.NET ID 1192614 · 30/04/2026 · Regulamento · p. 11 · data/raw/55563624000109/1192614_documentary_review.pdf · https://fnet.bmfbovespa.com.br/fnet/publico/exibirDocumento?id=1192614 · Observação: Exposição indireta. Não somar PL do FIC e investido como direitos creditórios diretos.</a:t>
            </a:r>
          </a:p>
          <a:p>
            <a:r>
              <a:t>CNPJ 62552447000120 · Natureza dos recebíveis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Originador/endossante · Endossantes vinculados a órgãos conveniados; nomes finais não identificados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Originador/endossante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Originador/endossante · Originação indireta Mercado Pago na classe investida · Fundos.NET ID 1192614 · 30/04/2026 · Regulamento · p. 11 · data/raw/55563624000109/1192614_documentary_review.pdf · https://fnet.bmfbovespa.com.br/fnet/publico/exibirDocumento?id=1192614 · Observação: Não há concessão/aquisição direta de crédito pelo PLGN.</a:t>
            </a:r>
          </a:p>
          <a:p>
            <a:r>
              <a:t>CNPJ 62552447000120 · Originador/endossante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Devedor · Pessoas físicas: servidores públicos civis e beneficiários de pensão · Fundos.NET ID 670691 · 28/04/2024 · Regulamento · p. 38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Devedor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Devedor · Classe investida; devedores finais requerem regulamento e base do investido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Devedor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Garantia · Consignação em folha/benefício; seguros de sinistros conforme contrato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Garantia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Garantia · Direitos das cotas investidas; garantia dos créditos finais não validada aqui · Fundos.NET ID 1192614 · 30/04/2026 · Regulamento · p. 12,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Garantia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Elegibilidade · CCB adimplente; parcela &gt; R$ 30; próxima parcela &lt; 60 dias; idade + prazo ≤ 80 anos · Fundos.NET ID 670691 · 28/04/2024 · Regulamento · p. 9-10 · data/raw/54871427000194/670691_documentary_review.pdf · https://fnet.bmfbovespa.com.br/fnet/publico/exibirDocumento?id=670691 · Observação: Adquirir todas as parcelas vincendas; pagamento ordinário integral nos últimos 60 dias, com exceção de primeira tranche descrita na cláusula 4.7.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62696791000193 · Elegibilidade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Elegibilidade · Somente cotas da classe investida identificada + ativos de liquidez · Fundos.NET ID 1192614 · 30/04/2026 · Regulamento · p. 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Elegibilidade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Concentração · CCBs do mesmo devedor ≤ 20% do PL; até 100% por endossante/originador · Fundos.NET ID 670691 · 28/04/2024 · Regulamento · p. 10-11 · data/raw/54871427000194/670691_documentary_review.pdf · https://fnet.bmfbovespa.com.br/fnet/publico/exibirDocumento?id=670691 · Observação: O permissivo geral de 100% por devedor não afasta o critério específico de aquisição de 20%.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Concentração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Concentração · Concentração na classe investida; limites de devedor final não se aplicam diretamente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Concentração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Natureza dos recebíveis · CCCBs de empréstimos pessoais consignados em folha ou benefício · Fundos.NET ID 670691 · 28/04/2024 · Regulamento · p. 9, 38-39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Natureza dos recebíveis · CCBs eletrônicas de consignado privado pela Plataforma MT; TVM elegíveis limitados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Natureza dos recebíveis · FIAGRO; lastro e política não validados sem regulamento · Fundos.NET ID 1148821 · 27/03/2026 · Atos de Deliberação do Administrador · p. 1 · data/raw/62696791000193/1148821_documentary_review.pdf · https://fnet.bmfbovespa.com.br/fnet/publico/exibirDocumento?id=1148821 · Observação: Preservar enquadramento FIAGRO e CNPJ; não converter em consignado/FIDC.</a:t>
            </a:r>
          </a:p>
          <a:p>
            <a:r>
              <a:t>CNPJ 55563624000109 · Natureza dos recebíveis · FIC-FIDC: mezanino do Mercado Crédito II (CNPJ 41.970.012/0001-26) · Fundos.NET ID 1192614 · 30/04/2026 · Regulamento · p. 11 · data/raw/55563624000109/1192614_documentary_review.pdf · https://fnet.bmfbovespa.com.br/fnet/publico/exibirDocumento?id=1192614 · Observação: Exposição indireta. Não somar PL do FIC e investido como direitos creditórios diretos.</a:t>
            </a:r>
          </a:p>
          <a:p>
            <a:r>
              <a:t>CNPJ 62552447000120 · Natureza dos recebíveis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Natureza dos recebíveis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Originador/endossante · Endossantes vinculados a órgãos conveniados; nomes finais não identificados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Originador/endossante · Parati CFI; Plataforma MT/Tudo Serviços no processamento e cobrança · Fundos.NET ID 1051393 · 09/10/2025 · Regulamento · p. 41-43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Originador/endossante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Originador/endossante · Originação indireta Mercado Pago na classe investida · Fundos.NET ID 1192614 · 30/04/2026 · Regulamento · p. 11 · data/raw/55563624000109/1192614_documentary_review.pdf · https://fnet.bmfbovespa.com.br/fnet/publico/exibirDocumento?id=1192614 · Observação: Não há concessão/aquisição direta de crédito pelo PLGN.</a:t>
            </a:r>
          </a:p>
          <a:p>
            <a:r>
              <a:t>CNPJ 62552447000120 · Originador/endossante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Originador/endossante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Devedor · Pessoas físicas: servidores públicos civis e beneficiários de pensão · Fundos.NET ID 670691 · 28/04/2024 · Regulamento · p. 38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Devedor · Pessoa física com consignação averbada na Dataprev · Fundos.NET ID 1051393 · 09/10/2025 · Regulamento · p. 9-10, 42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Devedor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Devedor · Classe investida; devedores finais requerem regulamento e base do investido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Devedor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Devedor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Garantia · Consignação em folha/benefício; seguros de sinistros conforme contrato · Fundos.NET ID 670691 · 28/04/2024 · Regulamento · p. 9, 39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Garantia · Fluxo de consignação; garantias adicionais não demonstradas · Fundos.NET ID 1051393 · 09/10/2025 · Regulamento · p. 9-11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Garantia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Garantia · Direitos das cotas investidas; garantia dos créditos finais não validada aqui · Fundos.NET ID 1192614 · 30/04/2026 · Regulamento · p. 12,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Garantia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Garantia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Elegibilidade · CCB adimplente; parcela &gt; R$ 30; próxima parcela &lt; 60 dias; idade + prazo ≤ 80 anos · Fundos.NET ID 670691 · 28/04/2024 · Regulamento · p. 9-10 · data/raw/54871427000194/670691_documentary_review.pdf · https://fnet.bmfbovespa.com.br/fnet/publico/exibirDocumento?id=670691 · Observação: Adquirir todas as parcelas vincendas; pagamento ordinário integral nos últimos 60 dias, com exceção de primeira tranche descrita na cláusula 4.7.</a:t>
            </a:r>
          </a:p>
          <a:p>
            <a:r>
              <a:t>CNPJ 60010416000112 · Elegibilidade · CCB prefixada; idade ≤ 64a11m29d; limite por devedor R$ 150 mil pela cl. 4.4.1 · Fundos.NET ID 1051393 · 09/10/2025 · Regulamento · p. 9-10 · data/raw/60010416000112/1051393_documentary_review.pdf · https://fnet.bmfbovespa.com.br/fnet/publico/exibirDocumento?id=1051393 · Observação: Cláusula 4.4(ii) conserva R$ 100 mil, enquanto 4.4.1 dispõe passagem a R$ 150 mil; aplicar também limites do contrato de endosso, não localizado.</a:t>
            </a:r>
          </a:p>
          <a:p>
            <a:r>
              <a:t>CNPJ 62696791000193 · Elegibilidade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Elegibilidade · Somente cotas da classe investida identificada + ativos de liquidez · Fundos.NET ID 1192614 · 30/04/2026 · Regulamento · p. 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Elegibilidade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Elegibilidade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Concentração · CCBs do mesmo devedor ≤ 20% do PL; até 100% por endossante/originador · Fundos.NET ID 670691 · 28/04/2024 · Regulamento · p. 10-11 · data/raw/54871427000194/670691_documentary_review.pdf · https://fnet.bmfbovespa.com.br/fnet/publico/exibirDocumento?id=670691 · Observação: O permissivo geral de 100% por devedor não afasta o critério específico de aquisição de 20%.</a:t>
            </a:r>
          </a:p>
          <a:p>
            <a:r>
              <a:t>CNPJ 60010416000112 · Concentração · TVM ≤ 3% do PL; CDB/RDB do endossante ≤ R$ 25 mi; limites privados no contrato · Fundos.NET ID 1051393 · 09/10/2025 · Regulamento · p. 11-12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Concentração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Concentração · Concentração na classe investida; limites de devedor final não se aplicam diretamente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Concentração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Concentração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Subordinação mínima · Cotas únicas, pari passu; sem subordinação entre cotistas · Fundos.NET ID 670691 · 28/04/2024 · Regulamento · p.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Subordinação mínima · Subordinadas/PL ≥ 5%, apuração diária · Fundos.NET ID 1051393 · 09/10/2025 · Regulamento · p.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Subordinação mínima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Subordinação mínima · Subclasses A/B/C sem subordinação entre si; exposição ao mezanino investido · Fundos.NET ID 1192614 · 30/04/2026 · Regulamento · p. 15 · data/raw/55563624000109/1192614_documentary_review.pdf · https://fnet.bmfbovespa.com.br/fnet/publico/exibirDocumento?id=1192614 · Observação: Não aplicar ao FIC o piso de subordinação do Mercado Crédito II.</a:t>
            </a:r>
          </a:p>
          <a:p>
            <a:r>
              <a:t>CNPJ 62552447000120 · Subordinação mínima · Subclasse única; piso de subordinação não indicado no suplemento · Fundos.NET ID 988020 · 03/09/2025 · Atos de Deliberação do Administrador · p. 5 · data/raw/62552447000120/988020_documentary_review.pdf · https://fnet.bmfbovespa.com.br/fnet/publico/exibirDocumento?id=988020 · Observação: Política completa exige regulamento, cuja tentativa de download falhou.</a:t>
            </a:r>
          </a:p>
          <a:p>
            <a:r>
              <a:t>CNPJ 63953620000165 · Subordinação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Gatilhos de avaliação/liquidação · RAET/intervenção do endossante; prestador sem substituto; PL &lt; R$ 1 mi por 90 dias após início · Fundos.NET ID 670691 · 28/04/2024 · Regulamento · p. 17-20 · data/raw/54871427000194/670691_documentary_review.pdf · https://fnet.bmfbovespa.com.br/fnet/publico/exibirDocumento?id=670691 · Observação: PL mínimo tem janela inicial de 90 dias; demais eventos e prazos de cura constam do capítulo 11.</a:t>
            </a:r>
          </a:p>
          <a:p>
            <a:r>
              <a:t>CNPJ 60010416000112 · Gatilhos de avaliação/liquidação · Subordinação desenquadrada por 10 DU; atraso no pagamento sênior não sanado em 2 DU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Gatilhos de avaliação/liquidação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Gatilhos de avaliação/liquidação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Gatilhos de avaliação/liquidação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Gatilhos de avaliação/liquidação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Reserva de caixa · Não localizado no corpus acessível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Lacuna documental explícita; exige regulamento, anexo, suplemento ou contrato aplicável.</a:t>
            </a:r>
          </a:p>
          <a:p>
            <a:r>
              <a:t>CNPJ 60010416000112 · Reserva de caixa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62696791000193 · Reserva de caixa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Reserva de caixa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Reserva de caixa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Reserva de caixa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Derivativos/hedge · Proteção de posições à vista; vedadas posições descobertas · Fundos.NET ID 670691 · 28/04/2024 · Regulamento · p. 13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Derivativos/hedge · Proteção patrimonial ou troca de indexador sem exposição a risco de capital · Fundos.NET ID 1051393 · 09/10/2025 · Regulamento · p. 13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Derivativos/hedge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Derivativos/hedge · Proteção patrimonial ou troca de indexador sem risco de capital · Fundos.NET ID 1192614 · 30/04/2026 · Regulamento · p.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Derivativos/hedge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Derivativos/hedge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PDD · Provisão/perdas conforme ICVM 489 e manuais; piso de cobertura não localizado · Fundos.NET ID 670691 · 28/04/2024 · Regulamento · p. 17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PDD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62696791000193 · PDD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PDD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PDD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PDD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Subordinação mínima · Cotas únicas, pari passu; sem subordinação entre cotistas · Fundos.NET ID 670691 · 28/04/2024 · Regulamento · p.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Subordinação mínima · Subordinadas/PL ≥ 5%, apuração diária · Fundos.NET ID 1051393 · 09/10/2025 · Regulamento · p.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Subordinação mínima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Subordinação mínima · Subclasses A/B/C sem subordinação entre si; exposição ao mezanino investido · Fundos.NET ID 1192614 · 30/04/2026 · Regulamento · p. 15 · data/raw/55563624000109/1192614_documentary_review.pdf · https://fnet.bmfbovespa.com.br/fnet/publico/exibirDocumento?id=1192614 · Observação: Não aplicar ao FIC o piso de subordinação do Mercado Crédito II.</a:t>
            </a:r>
          </a:p>
          <a:p>
            <a:r>
              <a:t>CNPJ 62552447000120 · Subordinação mínima · Subclasse única; piso de subordinação não indicado no suplemento · Fundos.NET ID 988020 · 03/09/2025 · Atos de Deliberação do Administrador · p. 5 · data/raw/62552447000120/988020_documentary_review.pdf · https://fnet.bmfbovespa.com.br/fnet/publico/exibirDocumento?id=988020 · Observação: Política completa exige regulamento, cuja tentativa de download falhou.</a:t>
            </a:r>
          </a:p>
          <a:p>
            <a:r>
              <a:t>CNPJ 63953620000165 · Subordinação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Gatilhos de avaliação/liquidação · RAET/intervenção do endossante; prestador sem substituto; PL &lt; R$ 1 mi por 90 dias após início · Fundos.NET ID 670691 · 28/04/2024 · Regulamento · p. 17-20 · data/raw/54871427000194/670691_documentary_review.pdf · https://fnet.bmfbovespa.com.br/fnet/publico/exibirDocumento?id=670691 · Observação: PL mínimo tem janela inicial de 90 dias; demais eventos e prazos de cura constam do capítulo 11.</a:t>
            </a:r>
          </a:p>
          <a:p>
            <a:r>
              <a:t>CNPJ 60010416000112 · Gatilhos de avaliação/liquidação · Subordinação desenquadrada por 10 DU; atraso no pagamento sênior não sanado em 2 DU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Gatilhos de avaliação/liquidação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Gatilhos de avaliação/liquidação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Gatilhos de avaliação/liquidação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Gatilhos de avaliação/liquidação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Reserva de caixa · Não localizado no corpus acessível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Lacuna documental explícita; exige regulamento, anexo, suplemento ou contrato aplicável.</a:t>
            </a:r>
          </a:p>
          <a:p>
            <a:r>
              <a:t>CNPJ 60010416000112 · Reserva de caixa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62696791000193 · Reserva de caixa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Reserva de caixa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Reserva de caixa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Reserva de caixa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Derivativos/hedge · Proteção de posições à vista; vedadas posições descobertas · Fundos.NET ID 670691 · 28/04/2024 · Regulamento · p. 13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Derivativos/hedge · Proteção patrimonial ou troca de indexador sem exposição a risco de capital · Fundos.NET ID 1051393 · 09/10/2025 · Regulamento · p. 13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Derivativos/hedge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Derivativos/hedge · Proteção patrimonial ou troca de indexador sem risco de capital · Fundos.NET ID 1192614 · 30/04/2026 · Regulamento · p.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Derivativos/hedge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Derivativos/hedge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PDD · Provisão/perdas conforme ICVM 489 e manuais; piso de cobertura não localizado · Fundos.NET ID 670691 · 28/04/2024 · Regulamento · p. 17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PDD · Não localizado no corpus acessível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Lacuna documental explícita; exige regulamento, anexo, suplemento ou contrato aplicável.</a:t>
            </a:r>
          </a:p>
          <a:p>
            <a:r>
              <a:t>CNPJ 62696791000193 · PDD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PDD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PDD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PDD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Alocação mínima · ≥ 50% do PL em direitos creditórios após 180 dias · Fundos.NET ID 670691 · 28/04/2024 · Regulamento · p. 11 · data/raw/54871427000194/670691_documentary_review.pdf · https://fnet.bmfbovespa.com.br/fnet/publico/exibirDocumento?id=670691 · Observação: Correção da triagem automática: 15% era alíquota fiscal, não alocação mínima.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Alocação mínima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Alocação mínima · Investimento em cotas da classe investida; percentual específico não localizado · Fundos.NET ID 1192614 · 30/04/2026 · Regulamento · p. 11-13 · data/raw/55563624000109/1192614_documentary_review.pdf · https://fnet.bmfbovespa.com.br/fnet/publico/exibirDocumento?id=1192614 · Observação: DC/PL do FIC não demonstra alocação direta nem carteira consolidada.</a:t>
            </a:r>
          </a:p>
          <a:p>
            <a:r>
              <a:t>CNPJ 62552447000120 · Alocação mínima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Pool/revolvência · Novas aquisições até montante acumulado de R$ 250 milhões · Fundos.NET ID 670691 · 28/04/2024 · Regulamento · p. 11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Pool/revolvência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Pool/revolvência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Pool/revolvência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Duração/público-alvo · Fechado; prazo indeterminado; investidores profissionais · Fundos.NET ID 670691 · 28/04/2024 · Regulamento · p. 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Duração/público-alvo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Duração/público-alvo · Fechado; investidores profissionais; prazos por subclassse A/B/C · Fundos.NET ID 1192614 · 30/04/2026 · Regulamento · p. 9, 15, 45-50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Duração/público-alvo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Cessão/recompra · Endosso irrevogável; recompra/indenização por vícios, fraude e contestação contratual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62696791000193 · Cessão/recompra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Cessão/recompra · Alienação de cotas permitida se regras do investido permitirem · Fundos.NET ID 1192614 · 30/04/2026 · Regulamento · p.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Cessão/recompra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Coobrigação · Sem coobrigação; responsabilidade por vícios e formalização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Coobrigação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Coobrigação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Coobrigação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Waterfall · Encargos → dissidentes → amortização/resgate → aquisições → liquidez · Fundos.NET ID 670691 · 28/04/2024 · Regulamento · p. 16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Waterfall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Waterfall · Encargos → pagamentos de cotas → aquisição/liquidez, conforme cap. 8 · Fundos.NET ID 1192614 · 30/04/2026 · Regulamento · p. 18-19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Waterfall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Alocação mínima · ≥ 50% do PL em direitos creditórios após 180 dias · Fundos.NET ID 670691 · 28/04/2024 · Regulamento · p. 11 · data/raw/54871427000194/670691_documentary_review.pdf · https://fnet.bmfbovespa.com.br/fnet/publico/exibirDocumento?id=670691 · Observação: Correção da triagem automática: 15% era alíquota fiscal, não alocação mínima.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Alocação mínima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Alocação mínima · Investimento em cotas da classe investida; percentual específico não localizado · Fundos.NET ID 1192614 · 30/04/2026 · Regulamento · p. 11-13 · data/raw/55563624000109/1192614_documentary_review.pdf · https://fnet.bmfbovespa.com.br/fnet/publico/exibirDocumento?id=1192614 · Observação: DC/PL do FIC não demonstra alocação direta nem carteira consolidada.</a:t>
            </a:r>
          </a:p>
          <a:p>
            <a:r>
              <a:t>CNPJ 62552447000120 · Alocação mínima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Pool/revolvência · Novas aquisições até montante acumulado de R$ 250 milhões · Fundos.NET ID 670691 · 28/04/2024 · Regulamento · p. 11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Pool/revolvência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Pool/revolvência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Pool/revolvência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Duração/público-alvo · Fechado; prazo indeterminado; investidores profissionais · Fundos.NET ID 670691 · 28/04/2024 · Regulamento · p. 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Duração/público-alvo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Duração/público-alvo · Fechado; investidores profissionais; prazos por subclassse A/B/C · Fundos.NET ID 1192614 · 30/04/2026 · Regulamento · p. 9, 15, 45-50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Duração/público-alvo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Cessão/recompra · Endosso irrevogável; recompra/indenização por vícios, fraude e contestação contratual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62696791000193 · Cessão/recompra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Cessão/recompra · Alienação de cotas permitida se regras do investido permitirem · Fundos.NET ID 1192614 · 30/04/2026 · Regulamento · p.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Cessão/recompra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Coobrigação · Sem coobrigação; responsabilidade por vícios e formalização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Coobrigação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Coobrigação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Coobrigação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Waterfall · Encargos → dissidentes → amortização/resgate → aquisições → liquidez · Fundos.NET ID 670691 · 28/04/2024 · Regulamento · p. 16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Waterfall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Waterfall · Encargos → pagamentos de cotas → aquisição/liquidez, conforme cap. 8 · Fundos.NET ID 1192614 · 30/04/2026 · Regulamento · p. 18-19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Waterfall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Alocação mínima · ≥ 50% do PL em direitos creditórios após 180 dias · Fundos.NET ID 670691 · 28/04/2024 · Regulamento · p. 11 · data/raw/54871427000194/670691_documentary_review.pdf · https://fnet.bmfbovespa.com.br/fnet/publico/exibirDocumento?id=670691 · Observação: Correção da triagem automática: 15% era alíquota fiscal, não alocação mínima.</a:t>
            </a:r>
          </a:p>
          <a:p>
            <a:r>
              <a:t>CNPJ 60010416000112 · Alocação mínima · 50% regulatório e 67% tributário do PL após 180 dias · Fundos.NET ID 1051393 · 09/10/2025 · Regulamento · p. 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Alocação mínima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Alocação mínima · Investimento em cotas da classe investida; percentual específico não localizado · Fundos.NET ID 1192614 · 30/04/2026 · Regulamento · p. 11-13 · data/raw/55563624000109/1192614_documentary_review.pdf · https://fnet.bmfbovespa.com.br/fnet/publico/exibirDocumento?id=1192614 · Observação: DC/PL do FIC não demonstra alocação direta nem carteira consolidada.</a:t>
            </a:r>
          </a:p>
          <a:p>
            <a:r>
              <a:t>CNPJ 62552447000120 · Alocação mínima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Alocação mínima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Pool/revolvência · Novas aquisições até montante acumulado de R$ 250 milhões · Fundos.NET ID 670691 · 28/04/2024 · Regulamento · p. 11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Pool/revolvência · Revolvente durante 24 meses da 1ª integralização; depois amortização · Fundos.NET ID 1051393 · 09/10/2025 · Regulamento · p. 12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Pool/revolvência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Pool/revolvência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Pool/revolvência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Pool/revolvência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Duração/público-alvo · Fechado; prazo indeterminado; investidores profissionais · Fundos.NET ID 670691 · 28/04/2024 · Regulamento · p. 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Duração/público-alvo · Fechado; classe indeterminada; profissionais; subordinada vinculada ao agente · Fundos.NET ID 1051393 · 09/10/2025 · Regulamento · p. 8, 46,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Duração/público-alvo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Duração/público-alvo · Fechado; investidores profissionais; prazos por subclassse A/B/C · Fundos.NET ID 1192614 · 30/04/2026 · Regulamento · p. 9, 15, 45-50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Duração/público-alvo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Duração/público-alvo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Cessão/recompra · Endosso irrevogável; recompra/indenização por vícios, fraude e contestação contratual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Cessão/recompra · Endosso em preto; resolução por desconformidade original; opção de venda ao agente · Fundos.NET ID 1051393 · 09/10/2025 · Regulamento · p. 10-11 · data/raw/60010416000112/1051393_documentary_review.pdf · https://fnet.bmfbovespa.com.br/fnet/publico/exibirDocumento?id=1051393 · Observação: Condições e preços finais remetidos ao contrato de endosso, não obtido nesta leitura.</a:t>
            </a:r>
          </a:p>
          <a:p>
            <a:r>
              <a:t>CNPJ 62696791000193 · Cessão/recompra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Cessão/recompra · Alienação de cotas permitida se regras do investido permitirem · Fundos.NET ID 1192614 · 30/04/2026 · Regulamento · p. 14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Cessão/recompra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Cessão/recompra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Coobrigação · Sem coobrigação; responsabilidade por vícios e formalização · Fundos.NET ID 670691 · 28/04/2024 · Regulamento · p. 10-12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Coobrigação · Sem coobrigação por deterioração posterior; má-fé, culpa, dolo e vícios preservados · Fundos.NET ID 1051393 · 09/10/2025 · Regulamento · p. 10-11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Coobrigação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Coobrigação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Coobrigação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Coobrigação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Waterfall · Encargos → dissidentes → amortização/resgate → aquisições → liquidez · Fundos.NET ID 670691 · 28/04/2024 · Regulamento · p. 16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Waterfall · Investimento: encargos → derivativos → aquisições; depois sênior antes de subordinada · Fundos.NET ID 1051393 · 09/10/2025 · Regulamento · p. 16-17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Waterfall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Waterfall · Encargos → pagamentos de cotas → aquisição/liquidez, conforme cap. 8 · Fundos.NET ID 1192614 · 30/04/2026 · Regulamento · p. 18-19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Waterfall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Waterfall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Classes/séries · Classe única; cotas com direitos iguais · Fundos.NET ID 670691 · 28/04/2024 · Regulamento · p. 7,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Classes/séries · Sênior por séries; subordinada residual · Fundos.NET ID 1051393 · 09/10/2025 · Regulamento · p. 13-14,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Classes/séries · 2ª emissão sênior e 2ª emissão subordinada júnior · Fundos.NET ID 1148821 · 27/03/2026 · Atos de Deliberação do Administrador · p. 1-2 · data/raw/62696791000193/1148821_documentary_review.pdf · https://fnet.bmfbovespa.com.br/fnet/publico/exibirDocumento?id=1148821 · Observação: Conclusão documental revisada; preservar a versão e a unidade indicadas.</a:t>
            </a:r>
          </a:p>
          <a:p>
            <a:r>
              <a:t>CNPJ 55563624000109 · Classes/séries · Subclasses A, B e C; sem senioridade entre si · Fundos.NET ID 1192614 · 30/04/2026 · Regulamento · p. 15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Classes/séries · 1ª emissão de subclasse única · Fundos.NET ID 988020 · 03/09/2025 · Atos de Deliberação do Administrador · p. 5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Classes/séries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Remuneração · Valor patrimonial; benchmark fixo não previsto para cotas únicas · Fundos.NET ID 670691 · 28/04/2024 · Regulamento · p.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Remuneração · 1ª sênior: DI + 4,80% a.a. + 15% do excesso de spread; teto DI + 6,00% · Fundos.NET ID 993785 · 20/03/2025 · Atos de Deliberação do Administrador · p. 4-5 · data/raw/60010416000112/993785_documentary_review.pdf · https://fnet.bmfbovespa.com.br/fnet/publico/exibirDocumento?id=993785 · Observação: Remuneração da primeira série; séries posteriores exigem respectivos atos. Não atribuir essa taxa a todas as séries.</a:t>
            </a:r>
          </a:p>
          <a:p>
            <a:r>
              <a:t>CNPJ 62696791000193 · Remuneração · Benchmark remetido ao apêndice; spread final não localizado · Fundos.NET ID 1148821 · 27/03/2026 · Atos de Deliberação do Administrador · p. 1-2 · data/raw/62696791000193/1148821_documentary_review.pdf · https://fnet.bmfbovespa.com.br/fnet/publico/exibirDocumento?id=1148821 · Observação: Regulamento/apêndice não obtidos por falha técnica Fundos.NET.</a:t>
            </a:r>
          </a:p>
          <a:p>
            <a:r>
              <a:t>CNPJ 55563624000109 · Remuneração · Resultado patrimonial das cotas investidas; sem DI + spread garantido · Fundos.NET ID 1192614 · 30/04/2026 · Regulamento · p. 16-17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Remuneração · Ganho patrimonial por cash sweep; benchmark fixo não localizado no suplemento · Fundos.NET ID 988020 · 03/09/2025 · Atos de Deliberação do Administrador · p. 5-6 · data/raw/62552447000120/988020_documentary_review.pdf · https://fnet.bmfbovespa.com.br/fnet/publico/exibirDocumento?id=988020 · Observação: O regulamento citado como Anexo I não consta materialmente nas seis páginas do PDF.</a:t>
            </a:r>
          </a:p>
          <a:p>
            <a:r>
              <a:t>CNPJ 63953620000165 · Remuneração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Volume/VNU · 1ª emissão: R$ 135 mi distribuídos; 2ª: R$ 55 mi; VNU R$ 1.000 · Fundos.NET ID 798101 · 10/12/2024 · Oferta Pública de Distribuição de Cotas · p. 1-2 · data/raw/54871427000194/798101_documentary_review.pdf · https://fnet.bmfbovespa.com.br/fnet/publico/exibirDocumento?id=798101 · Observação: 1ª emissão: ID 677544, 11/06/2024, p.1; 2ª: ID 798101, 10/12/2024, p.1. Volumes distribuídos não equivalem ao saldo atual do fundo.</a:t>
            </a:r>
          </a:p>
          <a:p>
            <a:r>
              <a:t>CNPJ 60010416000112 · Volume/VNU · 1ª: 475 mil sênior + 25 mil subordinadas; R$ 500 mi; VNU R$ 1.000 · Fundos.NET ID 993785 · 20/03/2025 · Atos de Deliberação do Administrador · p. 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Volume/VNU · Sênior até R$ 150 mi; júnior até R$ 20 mi; VNU R$ 1.000 · Fundos.NET ID 1148821 · 27/03/2026 · Atos de Deliberação do Administrador · p. 1-2 · data/raw/62696791000193/1148821_documentary_review.pdf · https://fnet.bmfbovespa.com.br/fnet/publico/exibirDocumento?id=1148821 · Observação: Valores aprovados; distribuição efetiva não demonstrada.</a:t>
            </a:r>
          </a:p>
          <a:p>
            <a:r>
              <a:t>CNPJ 55563624000109 · Volume/VNU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Volume/VNU · 250 mil cotas; até R$ 250 mi; VNU inicial R$ 1.000 · Fundos.NET ID 988020 · 03/09/2025 · Atos de Deliberação do Administrador · p. 5 · data/raw/62552447000120/988020_documentary_review.pdf · https://fnet.bmfbovespa.com.br/fnet/publico/exibirDocumento?id=988020 · Observação: Aprovado, não comprova distribuição.</a:t>
            </a:r>
          </a:p>
          <a:p>
            <a:r>
              <a:t>CNPJ 63953620000165 · Volume/VNU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Ofertas · 2ª oferta iniciada 13/06/2024; encerrada 10/12/2024 · Fundos.NET ID 798101 · 10/12/2024 · Oferta Pública de Distribuição de Cotas · p. 1-2 · data/raw/54871427000194/798101_documentary_review.pdf · https://fnet.bmfbovespa.com.br/fnet/publico/exibirDocumento?id=798101 · Observação: Conclusão documental revisada; preservar a versão e a unidade indicadas.</a:t>
            </a:r>
          </a:p>
          <a:p>
            <a:r>
              <a:t>CNPJ 60010416000112 · Ofertas · 1ª emissão deliberada 20/03/2025; distribuição final não localizada neste corpus · Fundos.NET ID 993785 · 20/03/2025 · Atos de Deliberação do Administrador · p. 1-2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Ofertas · Deliberação 27/03/2026; colocação privada em até 180 dias · Fundos.NET ID 1148821 · 27/03/2026 · Atos de Deliberação do Administrador · p. 1-3 · data/raw/62696791000193/1148821_documentary_review.pdf · https://fnet.bmfbovespa.com.br/fnet/publico/exibirDocumento?id=1148821 · Observação: Cancelado saldo anterior não subscrito e não integralizado; não somar emissões canceladas.</a:t>
            </a:r>
          </a:p>
          <a:p>
            <a:r>
              <a:t>CNPJ 55563624000109 · Ofertas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Ofertas · Deliberação 03/09/2025; privada para profissionais; colocação ≤ 180 dias · Fundos.NET ID 988020 · 03/09/2025 · Atos de Deliberação do Administrador · p. 5-6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Ofertas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Classes/séries · Classe única; cotas com direitos iguais · Fundos.NET ID 670691 · 28/04/2024 · Regulamento · p. 7,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Classes/séries · Sênior por séries; subordinada residual · Fundos.NET ID 1051393 · 09/10/2025 · Regulamento · p. 13-14, 48-50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Classes/séries · 2ª emissão sênior e 2ª emissão subordinada júnior · Fundos.NET ID 1148821 · 27/03/2026 · Atos de Deliberação do Administrador · p. 1-2 · data/raw/62696791000193/1148821_documentary_review.pdf · https://fnet.bmfbovespa.com.br/fnet/publico/exibirDocumento?id=1148821 · Observação: Conclusão documental revisada; preservar a versão e a unidade indicadas.</a:t>
            </a:r>
          </a:p>
          <a:p>
            <a:r>
              <a:t>CNPJ 55563624000109 · Classes/séries · Subclasses A, B e C; sem senioridade entre si · Fundos.NET ID 1192614 · 30/04/2026 · Regulamento · p. 15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Classes/séries · 1ª emissão de subclasse única · Fundos.NET ID 988020 · 03/09/2025 · Atos de Deliberação do Administrador · p. 5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Classes/séries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Remuneração · Valor patrimonial; benchmark fixo não previsto para cotas únicas · Fundos.NET ID 670691 · 28/04/2024 · Regulamento · p.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Remuneração · 1ª sênior: DI + 4,80% a.a. + 15% do excesso de spread; teto DI + 6,00% · Fundos.NET ID 993785 · 20/03/2025 · Atos de Deliberação do Administrador · p. 4-5 · data/raw/60010416000112/993785_documentary_review.pdf · https://fnet.bmfbovespa.com.br/fnet/publico/exibirDocumento?id=993785 · Observação: Remuneração da primeira série; séries posteriores exigem respectivos atos. Não atribuir essa taxa a todas as séries.</a:t>
            </a:r>
          </a:p>
          <a:p>
            <a:r>
              <a:t>CNPJ 62696791000193 · Remuneração · Benchmark remetido ao apêndice; spread final não localizado · Fundos.NET ID 1148821 · 27/03/2026 · Atos de Deliberação do Administrador · p. 1-2 · data/raw/62696791000193/1148821_documentary_review.pdf · https://fnet.bmfbovespa.com.br/fnet/publico/exibirDocumento?id=1148821 · Observação: Regulamento/apêndice não obtidos por falha técnica Fundos.NET.</a:t>
            </a:r>
          </a:p>
          <a:p>
            <a:r>
              <a:t>CNPJ 55563624000109 · Remuneração · Resultado patrimonial das cotas investidas; sem DI + spread garantido · Fundos.NET ID 1192614 · 30/04/2026 · Regulamento · p. 16-17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Remuneração · Ganho patrimonial por cash sweep; benchmark fixo não localizado no suplemento · Fundos.NET ID 988020 · 03/09/2025 · Atos de Deliberação do Administrador · p. 5-6 · data/raw/62552447000120/988020_documentary_review.pdf · https://fnet.bmfbovespa.com.br/fnet/publico/exibirDocumento?id=988020 · Observação: O regulamento citado como Anexo I não consta materialmente nas seis páginas do PDF.</a:t>
            </a:r>
          </a:p>
          <a:p>
            <a:r>
              <a:t>CNPJ 63953620000165 · Remuneração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Volume/VNU · 1ª emissão: R$ 135 mi distribuídos; 2ª: R$ 55 mi; VNU R$ 1.000 · Fundos.NET ID 798101 · 10/12/2024 · Oferta Pública de Distribuição de Cotas · p. 1-2 · data/raw/54871427000194/798101_documentary_review.pdf · https://fnet.bmfbovespa.com.br/fnet/publico/exibirDocumento?id=798101 · Observação: 1ª emissão: ID 677544, 11/06/2024, p.1; 2ª: ID 798101, 10/12/2024, p.1. Volumes distribuídos não equivalem ao saldo atual do fundo.</a:t>
            </a:r>
          </a:p>
          <a:p>
            <a:r>
              <a:t>CNPJ 60010416000112 · Volume/VNU · 1ª: 475 mil sênior + 25 mil subordinadas; R$ 500 mi; VNU R$ 1.000 · Fundos.NET ID 993785 · 20/03/2025 · Atos de Deliberação do Administrador · p. 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Volume/VNU · Sênior até R$ 150 mi; júnior até R$ 20 mi; VNU R$ 1.000 · Fundos.NET ID 1148821 · 27/03/2026 · Atos de Deliberação do Administrador · p. 1-2 · data/raw/62696791000193/1148821_documentary_review.pdf · https://fnet.bmfbovespa.com.br/fnet/publico/exibirDocumento?id=1148821 · Observação: Valores aprovados; distribuição efetiva não demonstrada.</a:t>
            </a:r>
          </a:p>
          <a:p>
            <a:r>
              <a:t>CNPJ 55563624000109 · Volume/VNU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Volume/VNU · 250 mil cotas; até R$ 250 mi; VNU inicial R$ 1.000 · Fundos.NET ID 988020 · 03/09/2025 · Atos de Deliberação do Administrador · p. 5 · data/raw/62552447000120/988020_documentary_review.pdf · https://fnet.bmfbovespa.com.br/fnet/publico/exibirDocumento?id=988020 · Observação: Aprovado, não comprova distribuição.</a:t>
            </a:r>
          </a:p>
          <a:p>
            <a:r>
              <a:t>CNPJ 63953620000165 · Volume/VNU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Ofertas · 2ª oferta iniciada 13/06/2024; encerrada 10/12/2024 · Fundos.NET ID 798101 · 10/12/2024 · Oferta Pública de Distribuição de Cotas · p. 1-2 · data/raw/54871427000194/798101_documentary_review.pdf · https://fnet.bmfbovespa.com.br/fnet/publico/exibirDocumento?id=798101 · Observação: Conclusão documental revisada; preservar a versão e a unidade indicadas.</a:t>
            </a:r>
          </a:p>
          <a:p>
            <a:r>
              <a:t>CNPJ 60010416000112 · Ofertas · 1ª emissão deliberada 20/03/2025; distribuição final não localizada neste corpus · Fundos.NET ID 993785 · 20/03/2025 · Atos de Deliberação do Administrador · p. 1-2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Ofertas · Deliberação 27/03/2026; colocação privada em até 180 dias · Fundos.NET ID 1148821 · 27/03/2026 · Atos de Deliberação do Administrador · p. 1-3 · data/raw/62696791000193/1148821_documentary_review.pdf · https://fnet.bmfbovespa.com.br/fnet/publico/exibirDocumento?id=1148821 · Observação: Cancelado saldo anterior não subscrito e não integralizado; não somar emissões canceladas.</a:t>
            </a:r>
          </a:p>
          <a:p>
            <a:r>
              <a:t>CNPJ 55563624000109 · Ofertas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Ofertas · Deliberação 03/09/2025; privada para profissionais; colocação ≤ 180 dias · Fundos.NET ID 988020 · 03/09/2025 · Atos de Deliberação do Administrador · p. 5-6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Ofertas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Carência · Não localizado no corpus acessível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Lacuna documental explícita; exige regulamento, anexo, suplemento ou contrato aplicável.</a:t>
            </a:r>
          </a:p>
          <a:p>
            <a:r>
              <a:t>CNPJ 60010416000112 · Carência · Sem amortização durante período de investimento de 24 meses, salvo reenquadramento · Fundos.NET ID 1051393 · 09/10/2025 · Regulamento · p. 12, 15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Carência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Carência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Carência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Carência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Juros/amortização · Amortização extraordinária conforme gestora; cronograma fixo não localizado · Fundos.NET ID 670691 · 28/04/2024 · Regulamento · p. 15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Juros/amortização · Mensal após investimento, por recursos disponíveis/cash sweep e subordinação atendida · Fundos.NET ID 993785 · 20/03/2025 · Atos de Deliberação do Administrador · p. 5-6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Juros/amortização · Sênior por chamadas de capital; cronograma de pagamento remetido ao apêndice · Fundos.NET ID 1148821 · 27/03/2026 · Atos de Deliberação do Administrador · p. 2 · data/raw/62696791000193/1148821_documentary_review.pdf · https://fnet.bmfbovespa.com.br/fnet/publico/exibirDocumento?id=1148821 · Observação: Integralização não equivale a data de amortização.</a:t>
            </a:r>
          </a:p>
          <a:p>
            <a:r>
              <a:t>CNPJ 55563624000109 · Juros/amortização · Por determinação da gestora, proporcional; resgate na liquidação · Fundos.NET ID 1192614 · 30/04/2026 · Regulamento · p. 17-18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Juros/amortização · Regime de caixa conforme disponibilidade; sem cronograma fechado · Fundos.NET ID 988020 · 03/09/2025 · Atos de Deliberação do Administrador · p. 6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Juros/amortização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Vencimento · Prazo indeterminado; resgate na liquidação · Fundos.NET ID 670691 · 28/04/2024 · Regulamento · p. 7, 15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Vencimento · Classe indeterminada; prazo final de cada série remetido ao suplemento · Fundos.NET ID 1051393 · 09/10/2025 · Regulamento · p. 8, 48, 53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Vencimento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Vencimento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Vencimento · Fundo/classe indeterminados; resgate conforme regulamento · Fundos.NET ID 988020 · 03/09/2025 · Atos de Deliberação do Administrador · p. 5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Vencimento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Carência · Não localizado no corpus acessível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Lacuna documental explícita; exige regulamento, anexo, suplemento ou contrato aplicável.</a:t>
            </a:r>
          </a:p>
          <a:p>
            <a:r>
              <a:t>CNPJ 60010416000112 · Carência · Sem amortização durante período de investimento de 24 meses, salvo reenquadramento · Fundos.NET ID 1051393 · 09/10/2025 · Regulamento · p. 12, 15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Carência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Carência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Carência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Carência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Juros/amortização · Amortização extraordinária conforme gestora; cronograma fixo não localizado · Fundos.NET ID 670691 · 28/04/2024 · Regulamento · p. 15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Juros/amortização · Mensal após investimento, por recursos disponíveis/cash sweep e subordinação atendida · Fundos.NET ID 993785 · 20/03/2025 · Atos de Deliberação do Administrador · p. 5-6 · data/raw/60010416000112/993785_documentary_review.pdf · https://fnet.bmfbovespa.com.br/fnet/publico/exibirDocumento?id=993785 · Observação: Conclusão documental revisada; preservar a versão e a unidade indicadas.</a:t>
            </a:r>
          </a:p>
          <a:p>
            <a:r>
              <a:t>CNPJ 62696791000193 · Juros/amortização · Sênior por chamadas de capital; cronograma de pagamento remetido ao apêndice · Fundos.NET ID 1148821 · 27/03/2026 · Atos de Deliberação do Administrador · p. 2 · data/raw/62696791000193/1148821_documentary_review.pdf · https://fnet.bmfbovespa.com.br/fnet/publico/exibirDocumento?id=1148821 · Observação: Integralização não equivale a data de amortização.</a:t>
            </a:r>
          </a:p>
          <a:p>
            <a:r>
              <a:t>CNPJ 55563624000109 · Juros/amortização · Por determinação da gestora, proporcional; resgate na liquidação · Fundos.NET ID 1192614 · 30/04/2026 · Regulamento · p. 17-18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Juros/amortização · Regime de caixa conforme disponibilidade; sem cronograma fechado · Fundos.NET ID 988020 · 03/09/2025 · Atos de Deliberação do Administrador · p. 6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Juros/amortização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Vencimento · Prazo indeterminado; resgate na liquidação · Fundos.NET ID 670691 · 28/04/2024 · Regulamento · p. 7, 15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Vencimento · Classe indeterminada; prazo final de cada série remetido ao suplemento · Fundos.NET ID 1051393 · 09/10/2025 · Regulamento · p. 8, 48, 53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Vencimento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Vencimento · Não localizado no corpus acessível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Lacuna documental explícita; exige regulamento, anexo, suplemento ou contrato aplicável.</a:t>
            </a:r>
          </a:p>
          <a:p>
            <a:r>
              <a:t>CNPJ 62552447000120 · Vencimento · Fundo/classe indeterminados; resgate conforme regulamento · Fundos.NET ID 988020 · 03/09/2025 · Atos de Deliberação do Administrador · p. 5 · data/raw/62552447000120/988020_documentary_review.pdf · https://fnet.bmfbovespa.com.br/fnet/publico/exibirDocumento?id=988020 · Observação: Conclusão documental revisada; preservar a versão e a unidade indicadas.</a:t>
            </a:r>
          </a:p>
          <a:p>
            <a:r>
              <a:t>CNPJ 63953620000165 · Vencimento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Administração · 0,10% a.a. do PL; mínimo R$ 10 mil/mês; IGP-M anual · Fundos.NET ID 670691 · 28/04/2024 · Regulamento · p. 25-26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Administração · 0,40% a.a. do PL; mínimo R$ 20 mil/mês; IPCA positivo anual em janeiro · Fundos.NET ID 1051393 · 09/10/2025 · Regulamento · p. 29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Administração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Administração · R$ 10 mil/mês; IGP-M positivo em janeiro; teto 0,10% a.a. sobre PL investido · Fundos.NET ID 1192614 · 30/04/2026 · Regulamento · p. 28 · data/raw/55563624000109/1192614_documentary_review.pdf · https://fnet.bmfbovespa.com.br/fnet/publico/exibirDocumento?id=1192614 · Observação: Base do teto é PL da classe investida, conforme cláusula 13.2; não equivale a 0,10% sobre PLGN.</a:t>
            </a:r>
          </a:p>
          <a:p>
            <a:r>
              <a:t>CNPJ 62552447000120 · Administração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Administração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Gestão · 0,20% a.a. do PL; mínimo R$ 15 mil/mês; IGP-M anual · Fundos.NET ID 670691 · 28/04/2024 · Regulamento · p. 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Gestão · Incluída na taxa de administração de 0,40%; parcela individual não especificada · Fundos.NET ID 1051393 · 09/10/2025 · Regulamento · p. 29, 46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Gestão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Gestão · 0,50% a.a. do PL; mínimo R$ 40 mil/mês IPCA; adicional 1,25% do capital integralizado · Fundos.NET ID 1192614 · 30/04/2026 · Regulamento · p. 29 · data/raw/55563624000109/1192614_documentary_review.pdf · https://fnet.bmfbovespa.com.br/fnet/publico/exibirDocumento?id=1192614 · Observação: Adicional cobrado em chamadas de capital; não somar como taxa anual.</a:t>
            </a:r>
          </a:p>
          <a:p>
            <a:r>
              <a:t>CNPJ 62552447000120 · Gestão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Gestão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Custódia · 0% a.a. expresso no regulamento · Fundos.NET ID 670691 · 28/04/2024 · Regulamento · p. 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Custódia · 0% a.a. expresso; cobrança/originação têm encargos adicionais · Fundos.NET ID 1051393 · 09/10/2025 · Regulamento · p. 29-31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Custódia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Custódia · 0% a.a. expresso · Fundos.NET ID 1192614 · 30/04/2026 · Regulamento · p. 29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Custódia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Custódia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Administração · 0,10% a.a. do PL; mínimo R$ 10 mil/mês; IGP-M anual · Fundos.NET ID 670691 · 28/04/2024 · Regulamento · p. 25-26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Administração · 0,40% a.a. do PL; mínimo R$ 20 mil/mês; IPCA positivo anual em janeiro · Fundos.NET ID 1051393 · 09/10/2025 · Regulamento · p. 29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Administração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Administração · R$ 10 mil/mês; IGP-M positivo em janeiro; teto 0,10% a.a. sobre PL investido · Fundos.NET ID 1192614 · 30/04/2026 · Regulamento · p. 28 · data/raw/55563624000109/1192614_documentary_review.pdf · https://fnet.bmfbovespa.com.br/fnet/publico/exibirDocumento?id=1192614 · Observação: Base do teto é PL da classe investida, conforme cláusula 13.2; não equivale a 0,10% sobre PLGN.</a:t>
            </a:r>
          </a:p>
          <a:p>
            <a:r>
              <a:t>CNPJ 62552447000120 · Administração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Administração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Gestão · 0,20% a.a. do PL; mínimo R$ 15 mil/mês; IGP-M anual · Fundos.NET ID 670691 · 28/04/2024 · Regulamento · p. 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Gestão · Incluída na taxa de administração de 0,40%; parcela individual não especificada · Fundos.NET ID 1051393 · 09/10/2025 · Regulamento · p. 29, 46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Gestão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Gestão · 0,50% a.a. do PL; mínimo R$ 40 mil/mês IPCA; adicional 1,25% do capital integralizado · Fundos.NET ID 1192614 · 30/04/2026 · Regulamento · p. 29 · data/raw/55563624000109/1192614_documentary_review.pdf · https://fnet.bmfbovespa.com.br/fnet/publico/exibirDocumento?id=1192614 · Observação: Adicional cobrado em chamadas de capital; não somar como taxa anual.</a:t>
            </a:r>
          </a:p>
          <a:p>
            <a:r>
              <a:t>CNPJ 62552447000120 · Gestão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Gestão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Custódia · 0% a.a. expresso no regulamento · Fundos.NET ID 670691 · 28/04/2024 · Regulamento · p. 26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Custódia · 0% a.a. expresso; cobrança/originação têm encargos adicionais · Fundos.NET ID 1051393 · 09/10/2025 · Regulamento · p. 29-31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Custódia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Custódia · 0% a.a. expresso · Fundos.NET ID 1192614 · 30/04/2026 · Regulamento · p. 29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Custódia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Custódia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Alocação/subordinação IME · DC/PL acompanha mínimo de 50%; subordinação não se aplica às cotas únicas · Fundos.NET ID 670691 · 28/04/2024 · Regulamento · p. 11,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Alocação/subordinação IME · DC/PL e subordinadas/PL: diretos com validação de classe e prazo inicial · Fundos.NET ID 1051393 · 09/10/2025 · Regulamento · p. 11,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Alocação/subordinação IME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Alocação/subordinação IME · Monitorar exposição em cotas do FIDC; não usar DC/PL como lastro direto · Fundos.NET ID 1192614 · 30/04/2026 · Regulamento · p. 11-12, 15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Alocação/subordinação IME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Alocação/subordinação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Inadimplência/PDD IME · Over e PDD/crédito são indicadores agregados; não validam elegibilidade de cada CCB · Fundos.NET ID 670691 · 28/04/2024 · Regulamento · p. 9-10, 17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Inadimplência/PDD IME · Over/PDD agregados: alerta preliminar; perda contratual não reconstruída pelo IME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Inadimplência/PDD IME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Inadimplência/PDD IME · IME do FIC não mostra atraso dos devedores finais; exige look-through do investido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Inadimplência/PDD IME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Inadimplência/PDD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Controles documentais · Elegibilidade, concentração, lastro, prestadores e eventos exigem documentação específica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O IME público agregado não certifica essas condições.</a:t>
            </a:r>
          </a:p>
          <a:p>
            <a:r>
              <a:t>CNPJ 60010416000112 · Controles documentais · Elegibilidade, concentração, lastro, prestadores e eventos exigem documentação específica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O IME público agregado não certifica essas condições.</a:t>
            </a:r>
          </a:p>
          <a:p>
            <a:r>
              <a:t>CNPJ 62696791000193 · Controles documentais · Elegibilidade, concentração, lastro, prestadores e eventos exigem documentação específica · Corpus acessível CNPJ 62696791000193: ID 1148821 (27/03/2026), data/raw/62696791000193/1148821_documentary_review.pdf · Observação: O IME público agregado não certifica essas condições.</a:t>
            </a:r>
          </a:p>
          <a:p>
            <a:r>
              <a:t>CNPJ 55563624000109 · Controles documentais · Elegibilidade, concentração, lastro, prestadores e eventos exigem documentação específica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O IME público agregado não certifica essas condições.</a:t>
            </a:r>
          </a:p>
          <a:p>
            <a:r>
              <a:t>CNPJ 62552447000120 · Controles documentais · Elegibilidade, concentração, lastro, prestadores e eventos exigem documentação específica · Corpus acessível CNPJ 62552447000120: ID 988020 (03/09/2025), data/raw/62552447000120/988020_documentary_review.pdf · Observação: O IME público agregado não certifica essas condições.</a:t>
            </a:r>
          </a:p>
          <a:p>
            <a:r>
              <a:t>CNPJ 63953620000165 · Controles documentais · Elegibilidade, concentração, lastro, prestadores e eventos exigem documentação específica · Corpus acessível CNPJ 63953620000165: não obtido; consulta Fundos.NET em 07/10/2026 · Observação: O IME público agregado não certifica essas condições.</a:t>
            </a:r>
          </a:p>
          <a:p>
            <a:r>
              <a:t>CNPJ 54871427000194 · Competência IME · Cache local: 06/2026; selecionar competência para monitorar · .cache/fundonet-ime/bf193175f409e0972874c1d2587127e6ce0655df95d2ef77b2d23bdf5f3ad7d5/manifest.json · Observação: Dado offline do IME; não representa atualização ao vivo nem comprovação dos critérios jurídicos.</a:t>
            </a:r>
          </a:p>
          <a:p>
            <a:r>
              <a:t>CNPJ 60010416000112 · Competência IME · Cache local: 06/2026; selecionar competência para monitorar · .cache/fundonet-ime/bde41857f8709d65448c48dfeb30d54a215139e77d6e3bb6a582b76344cae6ef/manifest.json · Observação: Dado offline do IME; não representa atualização ao vivo nem comprovação dos critérios jurídicos.</a:t>
            </a:r>
          </a:p>
          <a:p>
            <a:r>
              <a:t>CNPJ 62696791000193 · Competência IME · Cache local: 02/2026; selecionar competência para monitorar · .cache/fundonet-ime/dca3ad6d6a6b705826b3435c070ce7f73523afa10895a6cae10e068aca7812b1/manifest.json · Observação: Dado offline do IME; não representa atualização ao vivo nem comprovação dos critérios jurídicos.</a:t>
            </a:r>
          </a:p>
          <a:p>
            <a:r>
              <a:t>CNPJ 55563624000109 · Competência IME · Cache local: 06/2026; selecionar competência para monitorar · .cache/fundonet-ime/9780b5dda261f166f82b7601d038c440162463eea46d5ae0ee46b474fdd77372/manifest.json · Observação: Dado offline do IME; não representa atualização ao vivo nem comprovação dos critérios jurídicos.</a:t>
            </a:r>
          </a:p>
          <a:p>
            <a:r>
              <a:t>CNPJ 62552447000120 · Competência IME · Cache local: 06/2026; selecionar competência para monitorar · .cache/fundonet-ime/1806119c2ceaf8106b5e17345708e22b4f76c99afb3ddf004c5074e2f3ce9dd1/manifest.json · Observação: Dado offline do IME; não representa atualização ao vivo nem comprovação dos critérios jurídicos.</a:t>
            </a:r>
          </a:p>
          <a:p>
            <a:r>
              <a:t>CNPJ 63953620000165 · Competência IME · Cache local: 06/2026; selecionar competência para monitorar · .cache/fundonet-ime/345d74bedc26435eef60ab8e3498c257366f589cd9f50ff5290158b29e45e518/manifest.json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Consignado Delta I: CNPJ 54871427000194</a:t>
            </a:r>
          </a:p>
          <a:p>
            <a:r>
              <a:t>MT Consignado Privado I: CNPJ 60010416000112</a:t>
            </a:r>
          </a:p>
          <a:p>
            <a:r>
              <a:t>BTG Ceres Confina (FIAGRO): CNPJ 62696791000193</a:t>
            </a:r>
          </a:p>
          <a:p>
            <a:r>
              <a:t>PLGN Marketplace (FIC-FIDC): CNPJ 55563624000109</a:t>
            </a:r>
          </a:p>
          <a:p>
            <a:r>
              <a:t>V CDT 1: CNPJ 62552447000120</a:t>
            </a:r>
          </a:p>
          <a:p>
            <a:r>
              <a:t>MT Global — Classe CP: CNPJ 63953620000165</a:t>
            </a:r>
          </a:p>
          <a:p>
            <a:r>
              <a:t>Fontes:</a:t>
            </a:r>
          </a:p>
          <a:p>
            <a:r>
              <a:t>CNPJ 54871427000194 · Alocação/subordinação IME · DC/PL acompanha mínimo de 50%; subordinação não se aplica às cotas únicas · Fundos.NET ID 670691 · 28/04/2024 · Regulamento · p. 11, 14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Alocação/subordinação IME · DC/PL e subordinadas/PL: diretos com validação de classe e prazo inicial · Fundos.NET ID 1051393 · 09/10/2025 · Regulamento · p. 11, 45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Alocação/subordinação IME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Alocação/subordinação IME · Monitorar exposição em cotas do FIDC; não usar DC/PL como lastro direto · Fundos.NET ID 1192614 · 30/04/2026 · Regulamento · p. 11-12, 15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Alocação/subordinação IME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Alocação/subordinação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Inadimplência/PDD IME · Over e PDD/crédito são indicadores agregados; não validam elegibilidade de cada CCB · Fundos.NET ID 670691 · 28/04/2024 · Regulamento · p. 9-10, 17 · data/raw/54871427000194/670691_documentary_review.pdf · https://fnet.bmfbovespa.com.br/fnet/publico/exibirDocumento?id=670691 · Observação: Conclusão documental revisada; preservar a versão e a unidade indicadas.</a:t>
            </a:r>
          </a:p>
          <a:p>
            <a:r>
              <a:t>CNPJ 60010416000112 · Inadimplência/PDD IME · Over/PDD agregados: alerta preliminar; perda contratual não reconstruída pelo IME · Fundos.NET ID 1051393 · 09/10/2025 · Regulamento · p. 19-22 · data/raw/60010416000112/1051393_documentary_review.pdf · https://fnet.bmfbovespa.com.br/fnet/publico/exibirDocumento?id=1051393 · Observação: Conclusão documental revisada; preservar a versão e a unidade indicadas.</a:t>
            </a:r>
          </a:p>
          <a:p>
            <a:r>
              <a:t>CNPJ 62696791000193 · Inadimplência/PDD IME · Não localizado no corpus acessível · Corpus acessível CNPJ 62696791000193: ID 1148821 (27/03/2026), data/raw/62696791000193/1148821_documentary_review.pdf · Observação: Lacuna documental explícita; exige regulamento, anexo, suplemento ou contrato aplicável.</a:t>
            </a:r>
          </a:p>
          <a:p>
            <a:r>
              <a:t>CNPJ 55563624000109 · Inadimplência/PDD IME · IME do FIC não mostra atraso dos devedores finais; exige look-through do investido · Fundos.NET ID 1192614 · 30/04/2026 · Regulamento · p. 11-12 · data/raw/55563624000109/1192614_documentary_review.pdf · https://fnet.bmfbovespa.com.br/fnet/publico/exibirDocumento?id=1192614 · Observação: Conclusão documental revisada; preservar a versão e a unidade indicadas.</a:t>
            </a:r>
          </a:p>
          <a:p>
            <a:r>
              <a:t>CNPJ 62552447000120 · Inadimplência/PDD IME · Não localizado no corpus acessível · Corpus acessível CNPJ 62552447000120: ID 988020 (03/09/2025), data/raw/62552447000120/988020_documentary_review.pdf · Observação: Lacuna documental explícita; exige regulamento, anexo, suplemento ou contrato aplicável.</a:t>
            </a:r>
          </a:p>
          <a:p>
            <a:r>
              <a:t>CNPJ 63953620000165 · Inadimplência/PDD IME · Não localizado no corpus acessível · Corpus acessível CNPJ 63953620000165: não obtido; consulta Fundos.NET em 07/10/2026 · Observação: Lacuna documental explícita; exige regulamento, anexo, suplemento ou contrato aplicável.</a:t>
            </a:r>
          </a:p>
          <a:p>
            <a:r>
              <a:t>CNPJ 54871427000194 · Controles documentais · Elegibilidade, concentração, lastro, prestadores e eventos exigem documentação específica · Corpus acessível CNPJ 54871427000194: ID 670691 (28/04/2024), data/raw/54871427000194/670691_documentary_review.pdf; ID 670689 (19/04/2024), data/raw/54871427000194/670689_documentary_review.pdf; ID 798101 (10/12/2024), data/raw/54871427000194/798101_documentary_review.pdf; ID 679614 (13/06/2024), data/raw/54871427000194/679614_documentary_review.pdf; ID 677544 (11/06/2024), data/raw/54871427000194/677544_documentary_review.pdf; ID 669104 (27/05/2024), data/raw/54871427000194/669104_documentary_review.pdf; ID 670690 (28/05/2024), data/raw/54871427000194/670690_documentary_review.pdf; ID 668387 (24/05/2024), data/raw/54871427000194/668387_documentary_review.pdf · Observação: O IME público agregado não certifica essas condições.</a:t>
            </a:r>
          </a:p>
          <a:p>
            <a:r>
              <a:t>CNPJ 60010416000112 · Controles documentais · Elegibilidade, concentração, lastro, prestadores e eventos exigem documentação específica · Corpus acessível CNPJ 60010416000112: ID 1051393 (09/10/2025), data/raw/60010416000112/1051393_documentary_review.pdf; ID 993786 (20/03/2025), data/raw/60010416000112/993786_documentary_review.pdf; ID 993785 (20/03/2025), data/raw/60010416000112/993785_documentary_review.pdf · Observação: O IME público agregado não certifica essas condições.</a:t>
            </a:r>
          </a:p>
          <a:p>
            <a:r>
              <a:t>CNPJ 62696791000193 · Controles documentais · Elegibilidade, concentração, lastro, prestadores e eventos exigem documentação específica · Corpus acessível CNPJ 62696791000193: ID 1148821 (27/03/2026), data/raw/62696791000193/1148821_documentary_review.pdf · Observação: O IME público agregado não certifica essas condições.</a:t>
            </a:r>
          </a:p>
          <a:p>
            <a:r>
              <a:t>CNPJ 55563624000109 · Controles documentais · Elegibilidade, concentração, lastro, prestadores e eventos exigem documentação específica · Corpus acessível CNPJ 55563624000109: ID 1192614 (30/04/2026), data/raw/55563624000109/1192614_documentary_review.pdf; ID 811323 (30/12/2024), data/raw/55563624000109/811323_documentary_review.pdf; ID 691674 (03/07/2024), data/raw/55563624000109/691674_documentary_review.pdf; ID 702585 (03/07/2024), data/raw/55563624000109/702585_documentary_review.pdf; ID 703295 (03/07/2024), data/raw/55563624000109/703295_documentary_review.pdf · Observação: O IME público agregado não certifica essas condições.</a:t>
            </a:r>
          </a:p>
          <a:p>
            <a:r>
              <a:t>CNPJ 62552447000120 · Controles documentais · Elegibilidade, concentração, lastro, prestadores e eventos exigem documentação específica · Corpus acessível CNPJ 62552447000120: ID 988020 (03/09/2025), data/raw/62552447000120/988020_documentary_review.pdf · Observação: O IME público agregado não certifica essas condições.</a:t>
            </a:r>
          </a:p>
          <a:p>
            <a:r>
              <a:t>CNPJ 63953620000165 · Controles documentais · Elegibilidade, concentração, lastro, prestadores e eventos exigem documentação específica · Corpus acessível CNPJ 63953620000165: não obtido; consulta Fundos.NET em 07/10/2026 · Observação: O IME público agregado não certifica essas condições.</a:t>
            </a:r>
          </a:p>
          <a:p>
            <a:r>
              <a:t>CNPJ 54871427000194 · Competência IME · Cache local: 06/2026; selecionar competência para monitorar · .cache/fundonet-ime/bf193175f409e0972874c1d2587127e6ce0655df95d2ef77b2d23bdf5f3ad7d5/manifest.json · Observação: Dado offline do IME; não representa atualização ao vivo nem comprovação dos critérios jurídicos.</a:t>
            </a:r>
          </a:p>
          <a:p>
            <a:r>
              <a:t>CNPJ 60010416000112 · Competência IME · Cache local: 06/2026; selecionar competência para monitorar · .cache/fundonet-ime/bde41857f8709d65448c48dfeb30d54a215139e77d6e3bb6a582b76344cae6ef/manifest.json · Observação: Dado offline do IME; não representa atualização ao vivo nem comprovação dos critérios jurídicos.</a:t>
            </a:r>
          </a:p>
          <a:p>
            <a:r>
              <a:t>CNPJ 62696791000193 · Competência IME · Cache local: 02/2026; selecionar competência para monitorar · .cache/fundonet-ime/dca3ad6d6a6b705826b3435c070ce7f73523afa10895a6cae10e068aca7812b1/manifest.json · Observação: Dado offline do IME; não representa atualização ao vivo nem comprovação dos critérios jurídicos.</a:t>
            </a:r>
          </a:p>
          <a:p>
            <a:r>
              <a:t>CNPJ 55563624000109 · Competência IME · Cache local: 06/2026; selecionar competência para monitorar · .cache/fundonet-ime/9780b5dda261f166f82b7601d038c440162463eea46d5ae0ee46b474fdd77372/manifest.json · Observação: Dado offline do IME; não representa atualização ao vivo nem comprovação dos critérios jurídicos.</a:t>
            </a:r>
          </a:p>
          <a:p>
            <a:r>
              <a:t>CNPJ 62552447000120 · Competência IME · Cache local: 06/2026; selecionar competência para monitorar · .cache/fundonet-ime/1806119c2ceaf8106b5e17345708e22b4f76c99afb3ddf004c5074e2f3ce9dd1/manifest.json · Observação: Dado offline do IME; não representa atualização ao vivo nem comprovação dos critérios jurídicos.</a:t>
            </a:r>
          </a:p>
          <a:p>
            <a:r>
              <a:t>CNPJ 63953620000165 · Competência IME · Cache local: 06/2026; selecionar competência para monitorar · .cache/fundonet-ime/345d74bedc26435eef60ab8e3498c257366f589cd9f50ff5290158b29e45e518/manifest.json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de empréstimos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pessoais consignados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folha ou benefício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eletrônicas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 privado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Plataforma MT; TVM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limitados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FIAGRO;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política não validados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FIC-FIDC: mezanino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 II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(CNPJ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41.970.012/0001-26)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Endossantes vinculados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órgãos conveniados;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nomes finais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Parati CFI; Plataforma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MT/Tudo Serviços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processamento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Originação indireta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na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servidores públicos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civis e beneficiários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pensão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averbada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Dataprev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investida;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devedores finais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requerem regulamento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base do investido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folha/benefício;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seguros de sinistros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Fluxo de consignação;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adicionais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demonstradas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das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investidas; garantia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dos créditos finais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validada aqui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adimplente; parcela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 R$ 30;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&lt; 60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idade + prazo ≤ 80 anos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prefixada; idade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64a11m29d; limite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R$ 150 mil pela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cl. 4.4.1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cotas da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investida identificada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+ ativos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do mesmo devedor ≤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20% do PL; até 100%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endossante/originador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TVM ≤ 3% do PL; CDB/RDB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endossante ≤ R$ 25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limites privados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 na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investida; limites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final não 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aplicam diretamente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00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únicas, pari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passu; sem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entre cotistas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 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A/B/C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 entre si;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ao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RAET/intervenção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endossante; prestador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substituto; PL &lt;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mi por 90 dias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desenquadrada por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DU; atraso no pagamento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não sanado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vista; vedadas posições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indexador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 a risco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indexador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Provisão/perdas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ICVM 489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manuais; piso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 única; piso de subordinação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 no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95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 após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regulatório e 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 do PL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 em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classe investida;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específico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aquisições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montante acumulado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R$ 250 milhões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 durante 24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 da 1ª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integralização; depois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vinculada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agente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Fechado; 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 prazos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subclassse A/B/C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irrevogável;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vícios, fraude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contestação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em preto;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desconformidade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original; opção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venda ao agente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de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permitida se regras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 permitirem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e 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deterioração posterior;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má-fé, culpa, dolo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 preservados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dissidentes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→ amortização/resgate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→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Investimento: encargos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→ derivativos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aquisições; depois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antes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pagamentos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cotas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aquisição/liquidez,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cap. 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79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única; cotas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iguais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sênior e 2ª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subordinada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A, B e 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senioridade entre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patrimonial;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 fixo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previsto para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únicas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DI + 4,80%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+ 15% do excesso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spread; teto DI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6,00%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Benchmark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apêndice; spread final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Resultado patrimonial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das cotas investidas;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DI + spread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emissão: R$ 135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distribuídos; 2ª: R$ 55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1ª: 475 mil sênior + 25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subordinadas;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500 mi; 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até R$ 150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até R$ 20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R$ 1.000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oferta iniciada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13/06/2024;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10/12/2024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deliberada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20/03/2025;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distribuição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 neste corpus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Deliberação 27/03/2026;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colocação privada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de subclasse única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Ganho patrimonial por cash sweep; benchmark fixo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250 mil cotas; até R$ 250 mi; VNU inicial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Deliberação 03/09/2025; privada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profissionais; colocação ≤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195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amortização durante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período de investimento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24 meses,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reenquadramento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extraordinária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gestora; cronograma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fixo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investimento,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recursos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disponíveis/cash sweep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subordinação atendida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chamadas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capital; cronograma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determinação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gestora, proporcional;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na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na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indeterminada;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final de cada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 remetido ao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618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Regime de caixa conforme disponibilidade;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Fundo/classe indeterminados; resgate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008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R$ 10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R$ 20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 positivo anual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janeiro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 mil/mês; IGP-M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 em janeiro;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teto 0,10% a.a. sobre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investido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 de 0,40%;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individual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especificada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R$ 40 mil/mês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IPCA; adicional 1,25%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capital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cobrança/originação 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 a.a. expresso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29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Consignado Delta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Consignado Privado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BTG Ceres Confina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(FIAGRO)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PLGN Marketplace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(FIC-FIDC)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acompanha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50%; subordinação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se aplica às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únicas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diretos com validação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classe e prazo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 exposição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do FIDC; não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como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PDD/crédito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indicadores agregados;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validam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de cada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Over/PDD agregados: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alerta preliminar;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contratual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reconstruída pelo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do FIC não mostra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dos devedores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finais;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look-through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02/2026;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BTG Pactual (Fundos Consolidados 1T26)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 CDT 1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MT Global — Classe CP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