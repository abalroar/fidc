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Natureza dos recebíveis · Duplicatas, cheques, promissórias, contratos e CCB/NC, com limites por instrumento. · Fundos.NET ID 1271235; 30/07/2026; data/raw/17468142000180/1271235_regulamento_cache_integral.txt; regulamento; https://fnet.bmfbovespa.com.br/fnet/publico/exibirDocumento?id=1271235&amp;cvm=true; p.75, 5.32(xiv) · Observação: Regra documental; verificar versão, base e condições antes de monitorar.</a:t>
            </a:r>
          </a:p>
          <a:p>
            <a:r>
              <a:t>CNPJ 17468142000180 · Originador/endossante · Múltiplos cedentes; Krones presta consultoria de crédito e cobrança. · Fundos.NET ID 1271235; 30/07/2026; data/raw/17468142000180/1271235_regulamento_cache_integral.txt; regulamento; https://fnet.bmfbovespa.com.br/fnet/publico/exibirDocumento?id=1271235&amp;cvm=true; p.51, definição; p.68, 5.12–5.14 · Observação: Regra documental; verificar versão, base e condições antes de monitorar.</a:t>
            </a:r>
          </a:p>
          <a:p>
            <a:r>
              <a:t>CNPJ 17468142000180 · Devedor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  <a:p>
            <a:r>
              <a:t>CNPJ 17468142000180 · Garantia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  <a:p>
            <a:r>
              <a:t>CNPJ 17468142000180 · Elegibilidade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  <a:p>
            <a:r>
              <a:t>CNPJ 17468142000180 · Concentração · Devedor/grupo ≤4%/PL, exceto Petrobras; cedente/grupo ≤4%/PL com exceção bancarizadora. · Fundos.NET ID 1271235; 30/07/2026; data/raw/17468142000180/1271235_regulamento_cache_integral.txt; regulamento; https://fnet.bmfbovespa.com.br/fnet/publico/exibirDocumento?id=1271235&amp;cvm=true; pp.71,74; 5.25/5.32(viii)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Subordinação mínima · Subordinadas ≥45%/PL; proteção mezanino ≥15%/PL. · Fundos.NET ID 1271235; 30/07/2026; data/raw/17468142000180/1271235_regulamento_cache_integral.txt; regulamento; https://fnet.bmfbovespa.com.br/fnet/publico/exibirDocumento?id=1271235&amp;cvm=true; pp.102–103, 10.2 · Observação: Regra documental; verificar versão, base e condições antes de monitorar.</a:t>
            </a:r>
          </a:p>
          <a:p>
            <a:r>
              <a:t>CNPJ 17468142000180 · Gatilhos de avaliação/liquidação · Alocação DC líquida de PDD &lt;67% por 60 dias consecutivos é evento de avaliação. · Fundos.NET ID 1271235; 30/07/2026; data/raw/17468142000180/1271235_regulamento_cache_integral.txt; regulamento; https://fnet.bmfbovespa.com.br/fnet/publico/exibirDocumento?id=1271235&amp;cvm=true; p.105, 11, alínea alocação · Observação: Regra documental; verificar versão, base e condições antes de monitorar.</a:t>
            </a:r>
          </a:p>
          <a:p>
            <a:r>
              <a:t>CNPJ 17468142000180 · Reserva de caixa · Liquidez mínima 0,50%/PL; índice liquidez ≥1; reservas de amortização 25%/50%/100% em D-20/10/2. · Fundos.NET ID 1271235; 30/07/2026; data/raw/17468142000180/1271235_regulamento_cache_integral.txt; regulamento; https://fnet.bmfbovespa.com.br/fnet/publico/exibirDocumento?id=1271235&amp;cvm=true; pp.99–100, 9.13–9.15 · Observação: Regra documental; verificar versão, base e condições antes de monitorar.</a:t>
            </a:r>
          </a:p>
          <a:p>
            <a:r>
              <a:t>CNPJ 17468142000180 · Derivativos/hedge · Proteção patrimonial ou troca de indexador sem risco de capital. · Fundos.NET ID 1271235; 30/07/2026; data/raw/17468142000180/1271235_regulamento_cache_integral.txt; regulamento; https://fnet.bmfbovespa.com.br/fnet/publico/exibirDocumento?id=1271235&amp;cvm=true; p.71, 5.27 · Observação: Regra documental; verificar versão, base e condições antes de monitorar.</a:t>
            </a:r>
          </a:p>
          <a:p>
            <a:r>
              <a:t>CNPJ 17468142000180 · PDD · Provisão pode antecipar 100% do devedor; efeito vagão nos demais créditos. · Fundos.NET ID 1271235; 30/07/2026; data/raw/17468142000180/1271235_regulamento_cache_integral.txt; regulamento; https://fnet.bmfbovespa.com.br/fnet/publico/exibirDocumento?id=1271235&amp;cvm=true; p.129, 14.6–14.7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Alocação mínima · 67%/PL em DC elegíveis até 180 dias da emissão inicial. · Fundos.NET ID 1271235; 30/07/2026; data/raw/17468142000180/1271235_regulamento_cache_integral.txt; regulamento; https://fnet.bmfbovespa.com.br/fnet/publico/exibirDocumento?id=1271235&amp;cvm=true; p.53, definição; p.66, 5.4 · Observação: Regra documental; verificar versão, base e condições antes de monitorar.</a:t>
            </a:r>
          </a:p>
          <a:p>
            <a:r>
              <a:t>CNPJ 17468142000180 · Pool/revolvência · Revolvência de DC durante duração indeterminada. · Fundos.NET ID 1271235; 30/07/2026; data/raw/17468142000180/1271235_regulamento_cache_integral.txt; regulamento; https://fnet.bmfbovespa.com.br/fnet/publico/exibirDocumento?id=1271235&amp;cvm=true; p.66, 5.3 · Observação: Regra documental; verificar versão, base e condições antes de monitorar.</a:t>
            </a:r>
          </a:p>
          <a:p>
            <a:r>
              <a:t>CNPJ 17468142000180 · Duração/público-alvo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  <a:p>
            <a:r>
              <a:t>CNPJ 17468142000180 · Cessão/recompra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  <a:p>
            <a:r>
              <a:t>CNPJ 17468142000180 · Coobrigação · Cedente pode responder solidariamente com devedores. · Fundos.NET ID 1271235; 30/07/2026; data/raw/17468142000180/1271235_regulamento_cache_integral.txt; regulamento; https://fnet.bmfbovespa.com.br/fnet/publico/exibirDocumento?id=1271235&amp;cvm=true; p.68, 5.13 · Observação: Regra documental; verificar versão, base e condições antes de monitorar.</a:t>
            </a:r>
          </a:p>
          <a:p>
            <a:r>
              <a:t>CNPJ 17468142000180 · Waterfall · Não confirmado na revisão dirigida; conferir documento ou cláusula específica. · Fundos.NET ID 1271235; 30/07/2026; data/raw/17468142000180/1271235_regulamento_cache_integral.txt; regulamento; https://fnet.bmfbovespa.com.br/fnet/publico/exibirDocumento?id=1271235&amp;cvm=true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Classes/séries · Sênior 31 e mezanino XXIII aprovadas em 25/09/2026; outras séries no histórico. · Fundos.NET ID 1339315; 25/09/2026 11:00; data/raw/17468142000180/1339315_assembleia.full.txt; assembleia; pp.1,3,8; https://fnet.bmfbovespa.com.br/fnet/publico/exibirDocumento?id=1339315&amp;cvm=true · Observação: Condição documental; não confundir deliberação, oferta e integralização efetiva.</a:t>
            </a:r>
          </a:p>
          <a:p>
            <a:r>
              <a:t>CNPJ 17468142000180 · Remuneração · Sênior 31: DI + 2,00% a.a.; mezanino XXIII: DI + 3,00% a.a. · Fundos.NET ID 1339315; 25/09/2026 11:00; data/raw/17468142000180/1339315_assembleia.full.txt; assembleia; pp.4,9; https://fnet.bmfbovespa.com.br/fnet/publico/exibirDocumento?id=1339315&amp;cvm=true · Observação: Condição documental; não confundir deliberação, oferta e integralização efetiva.</a:t>
            </a:r>
          </a:p>
          <a:p>
            <a:r>
              <a:t>CNPJ 17468142000180 · Volume/VNU · Aprovados R$ 40 mi sênior 31 e R$ 10 mi mezanino XXIII; VNU R$ 100 mil. · Fundos.NET ID 1339315; 25/09/2026 11:00; data/raw/17468142000180/1339315_assembleia.full.txt; assembleia; pp.3,8; https://fnet.bmfbovespa.com.br/fnet/publico/exibirDocumento?id=1339315&amp;cvm=true · Observação: Condição documental; não confundir deliberação, oferta e integralização efetiva.</a:t>
            </a:r>
          </a:p>
          <a:p>
            <a:r>
              <a:t>CNPJ 17468142000180 · Ofertas · Mezanino XXII: início 25/09/2026, R$ 5,5 mi; prazo estimado até 22/03/2027. · Fundos.NET ID 1328279; 23/09/2026; data/raw/17468142000180/1328279_emissao.full.txt; emissao; p.1; https://fnet.bmfbovespa.com.br/fnet/publico/exibirDocumento?id=1328279&amp;cvm=true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Carência · Sênior 31: 12 meses; mezanino XXIII: 18 meses. · Fundos.NET ID 1339315; 25/09/2026 11:00; data/raw/17468142000180/1339315_assembleia.full.txt; assembleia; pp.4,9; https://fnet.bmfbovespa.com.br/fnet/publico/exibirDocumento?id=1339315&amp;cvm=true · Observação: Condição documental; não confundir deliberação, oferta e integralização efetiva.</a:t>
            </a:r>
          </a:p>
          <a:p>
            <a:r>
              <a:t>CNPJ 17468142000180 · Juros/amortização · Principal + juros em 6 parcelas; sênior meses 13–18; mezanino meses 19–24. · Fundos.NET ID 1339315; 25/09/2026 11:00; data/raw/17468142000180/1339315_assembleia.full.txt; assembleia; pp.4,9; https://fnet.bmfbovespa.com.br/fnet/publico/exibirDocumento?id=1339315&amp;cvm=true · Observação: Frações sobre saldo: 1/6, 1/5, 1/4, 1/3, 1/2, 1/1. Calendário relativo à integralização.</a:t>
            </a:r>
          </a:p>
          <a:p>
            <a:r>
              <a:t>CNPJ 17468142000180 · Vencimento · Sênior 31 no mês 18; mezanino XXIII no mês 24, contados da primeira integralização. · Fundos.NET ID 1339315; 25/09/2026 11:00; data/raw/17468142000180/1339315_assembleia.full.txt; assembleia; pp.4,9; https://fnet.bmfbovespa.com.br/fnet/publico/exibirDocumento?id=1339315&amp;cvm=true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Administração · 0,25% a.a./PL, inclui custodiante; mínimo R$ 4.813,51/mês, IGP-M. · Fundos.NET ID 1271235; 30/07/2026; data/raw/17468142000180/1271235_regulamento_cache_integral.txt; regulamento; https://fnet.bmfbovespa.com.br/fnet/publico/exibirDocumento?id=1271235&amp;cvm=true; p.64, remuneração(a) · Observação: Regra documental; verificar versão, base e condições antes de monitorar.</a:t>
            </a:r>
          </a:p>
          <a:p>
            <a:r>
              <a:t>CNPJ 17468142000180 · Gestão · Faixas marginais 0,90%/0,25%/0,10% a.a.; cortes R$ 150/250 mi; mínimo R$ 4 mil/mês, IGP-M. · Fundos.NET ID 1271235; 30/07/2026; data/raw/17468142000180/1271235_regulamento_cache_integral.txt; regulamento; https://fnet.bmfbovespa.com.br/fnet/publico/exibirDocumento?id=1271235&amp;cvm=true; p.64, remuneração(b) · Observação: Regra documental; verificar versão, base e condições antes de monitorar.</a:t>
            </a:r>
          </a:p>
          <a:p>
            <a:r>
              <a:t>CNPJ 17468142000180 · Custódia · Incluída na taxa de administração; tarifa isolada não confirmada. · Fundos.NET ID 1271235; 30/07/2026; data/raw/17468142000180/1271235_regulamento_cache_integral.txt; regulamento; https://fnet.bmfbovespa.com.br/fnet/publico/exibirDocumento?id=1271235&amp;cvm=true; p.64, remuneração(a)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Valorem: CNPJ 17468142000180</a:t>
            </a:r>
          </a:p>
          <a:p>
            <a:r>
              <a:t>Fontes:</a:t>
            </a:r>
          </a:p>
          <a:p>
            <a:r>
              <a:t>CNPJ 17468142000180 · Alocação/subordinação IME · DC/PL e cotas por categoria/PL; validar regra e denominador. · Fundos.NET ID 1271235; 30/07/2026; data/raw/17468142000180/1271235_regulamento_cache_integral.txt; regulamento; https://fnet.bmfbovespa.com.br/fnet/publico/exibirDocumento?id=1271235&amp;cvm=true; escopo e condições da revisão · Observação: Proxy agregado; não comprova enquadramento diário nem prioridade por série.</a:t>
            </a:r>
          </a:p>
          <a:p>
            <a:r>
              <a:t>CNPJ 17468142000180 · Inadimplência/PDD IME · Aging e PDD/crédito agregados; conciliar índice contratual. · Fundos.NET ID 1271235; 30/07/2026; data/raw/17468142000180/1271235_regulamento_cache_integral.txt; regulamento; https://fnet.bmfbovespa.com.br/fnet/publico/exibirDocumento?id=1271235&amp;cvm=true; escopo e condições da revisão · Observação: Proxy parcial; vintage, efeito vagão e defasagem não reproduzidos automaticamente.</a:t>
            </a:r>
          </a:p>
          <a:p>
            <a:r>
              <a:t>CNPJ 17468142000180 · Controles documentais · Lastro, elegibilidade, concentração individual e prestadores exigem documentos. · Fundos.NET ID 1271235; 30/07/2026; data/raw/17468142000180/1271235_regulamento_cache_integral.txt; regulamento; https://fnet.bmfbovespa.com.br/fnet/publico/exibirDocumento?id=1271235&amp;cvm=true; escopo e condições da revisão · Observação: IME público sem granularidade individual; não usar como prova de conformidade.</a:t>
            </a:r>
          </a:p>
          <a:p>
            <a:r>
              <a:t>CNPJ 17468142000180 · Competência IME · Cache local: 06/2026; selecionar competência para monitorar · .cache/fundonet-ime/52776f057bac0309c3223396783cb584b0737545cdf24a5fd7dbf39311c67625/manifest.json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Duplicatas, cheques, promissórias, contratos e CCB/NC, com limites por instrumento.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cedentes; Krones presta consultoria de crédito e cobrança.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≤4%/PL, exceto Petrobras; cedente/grupo ≤4%/PL com exceção bancarizadora.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≥45%/PL; proteção mezanino ≥15%/PL.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DC líquida de PDD &lt;67% por 60 dias consecutivos é evento de avaliação.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mínima 0,50%/PL; índice liquidez ≥1; reservas de amortização 25%/50%/100% em D-20/10/2.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 troca de indexador sem risco de capital.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Provisão pode antecipar 100% do devedor; efeito vagão nos demais créditos.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elegíveis até 180 dias da emissão inicial.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de DC durante duração indeterminada.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pode responder solidariamente com devedores.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31 e mezanino XXIII aprovadas em 25/09/2026; outras séries no histórico.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31: DI + 2,00% a.a.; mezanino XXIII: DI + 3,00%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Aprovados R$ 40 mi sênior 31 e R$ 10 mi mezanino XXIII; VNU R$ 100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XXII: início 25/09/2026, R$ 5,5 mi; prazo estimado até 22/03/2027.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31: 12 meses; mezanino XXIII: 18 meses.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+ juros em 6 parcelas; sênior meses 13–18; mezanino meses 19–24.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31 no mês 18; mezanino XXIII no mês 24, contados da primeira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a.a./PL, inclui custodiante; mínimo R$ 4.813,51/mês,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0,90%/0,25%/0,10% a.a.; cortes R$ 150/250 mi; mínimo R$ 4 mil/mês,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Valorem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Valorem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