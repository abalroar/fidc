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2026-10-07T14:59:40-03:00</a:t>
            </a:r>
          </a:p>
          <a:p>
            <a:r>
              <a:t>J17 FGTS: CNPJ 54252144000164</a:t>
            </a:r>
          </a:p>
          <a:p>
            <a:r>
              <a:t>Fontes:</a:t>
            </a:r>
          </a:p>
          <a:p>
            <a:r>
              <a:t>CNPJ 54252144000164 · Natureza dos recebíveis · CCBs de antecipação de saque-aniversário FGTS · Fundos.NET ID 1072289 · 29/12/2025 · Atos de Deliberação do Administrador · p. 74-75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54252144000164 · Originador/endossante · J17, credor original; originação na Plataforma J17 · Fundos.NET ID 1072289 · 29/12/2025 · Atos de Deliberação do Administrador · p. 51, 75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54252144000164 · Devedor · Pessoa física titular de conta FGTS e optante pelo saque-aniversário · Fundos.NET ID 1072289 · 29/12/2025 · Atos de Deliberação do Administrador · p. 74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54252144000164 · Garantia · Cessão fiduciária do saque-aniversário; lastro e bloqueio por contrato · Fundos.NET ID 1072289 · 29/12/2025 · Atos de Deliberação do Administrador · p. 47-55, 74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54252144000164 · Elegibilidade · Adimplente; prazo 15 dias a 144 meses; duration da carteira 24–36 meses · Fundos.NET ID 1072289 · 29/12/2025 · Atos de Deliberação do Administrador · p. 74-75 · data/raw/54252144000164/1072289_documentary_review.pdf · https://fnet.bmfbovespa.com.br/fnet/publico/exibirDocumento?id=1072289 · Observação: 1ª parcela até 365 dias; fluxo anual sem carência; aquisição de todas as parcelas vincendas.</a:t>
            </a:r>
          </a:p>
          <a:p>
            <a:r>
              <a:t>CNPJ 54252144000164 · Concentração · Valor de face por devedor ≤ R$ 100 mil · Fundos.NET ID 1072289 · 29/12/2025 · Atos de Deliberação do Administrador · p. 75 · data/raw/54252144000164/1072289_documentary_review.pdf · https://fnet.bmfbovespa.com.br/fnet/publico/exibirDocumento?id=1072289 · Observação: Conclusão documental revisada; preservar a versão e a unidade indicadas.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2026-10-07T14:59:40-03:00</a:t>
            </a:r>
          </a:p>
          <a:p>
            <a:r>
              <a:t>J17 FGTS: CNPJ 54252144000164</a:t>
            </a:r>
          </a:p>
          <a:p>
            <a:r>
              <a:t>Fontes:</a:t>
            </a:r>
          </a:p>
          <a:p>
            <a:r>
              <a:t>CNPJ 54252144000164 · Subordinação mínima · Mezanino + júnior/PL ≥ 15%; júnior/PL ≥ 5% · Fundos.NET ID 1072289 · 29/12/2025 · Atos de Deliberação do Administrador · p. 111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54252144000164 · Gatilhos de avaliação/liquidação · Não localizado no corpus acessível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Lacuna documental explícita; exige regulamento, anexo, suplemento ou contrato aplicável.</a:t>
            </a:r>
          </a:p>
          <a:p>
            <a:r>
              <a:t>CNPJ 54252144000164 · Reserva de caixa · 3 meses de despesas; reserva adicional para MTM dos derivativos · Fundos.NET ID 1072289 · 29/12/2025 · Atos de Deliberação do Administrador · p. 60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54252144000164 · Derivativos/hedge · Converter risco do lastro ao parâmetro das cotas; política no regulamento · Fundos.NET ID 1072289 · 29/12/2025 · Atos de Deliberação do Administrador · p. 132 · data/raw/54252144000164/1072289_documentary_review.pdf · https://fnet.bmfbovespa.com.br/fnet/publico/exibirDocumento?id=1072289 · Observação: Percentual obrigatório não localizado com segurança; não inferir 70% de estruturas Auto BV.</a:t>
            </a:r>
          </a:p>
          <a:p>
            <a:r>
              <a:t>CNPJ 54252144000164 · PDD · Não localizado no corpus acessível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2026-10-07T14:59:40-03:00</a:t>
            </a:r>
          </a:p>
          <a:p>
            <a:r>
              <a:t>J17 FGTS: CNPJ 54252144000164</a:t>
            </a:r>
          </a:p>
          <a:p>
            <a:r>
              <a:t>Fontes:</a:t>
            </a:r>
          </a:p>
          <a:p>
            <a:r>
              <a:t>CNPJ 54252144000164 · Alocação mínima · Não localizado no corpus acessível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Lacuna documental explícita; exige regulamento, anexo, suplemento ou contrato aplicável.</a:t>
            </a:r>
          </a:p>
          <a:p>
            <a:r>
              <a:t>CNPJ 54252144000164 · Pool/revolvência · Aquisições revolventes até fim do investimento da 3ª série sênior · Fundos.NET ID 1072289 · 29/12/2025 · Atos de Deliberação do Administrador · p. 68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54252144000164 · Duração/público-alvo · Não localizado no corpus acessível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Lacuna documental explícita; exige regulamento, anexo, suplemento ou contrato aplicável.</a:t>
            </a:r>
          </a:p>
          <a:p>
            <a:r>
              <a:t>CNPJ 54252144000164 · Cessão/recompra · Não localizado no corpus acessível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Lacuna documental explícita; exige regulamento, anexo, suplemento ou contrato aplicável.</a:t>
            </a:r>
          </a:p>
          <a:p>
            <a:r>
              <a:t>CNPJ 54252144000164 · Coobrigação · Não localizado no corpus acessível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Lacuna documental explícita; exige regulamento, anexo, suplemento ou contrato aplicável.</a:t>
            </a:r>
          </a:p>
          <a:p>
            <a:r>
              <a:t>CNPJ 54252144000164 · Waterfall · Não localizado no corpus acessível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2026-10-07T14:59:40-03:00</a:t>
            </a:r>
          </a:p>
          <a:p>
            <a:r>
              <a:t>J17 FGTS: CNPJ 54252144000164</a:t>
            </a:r>
          </a:p>
          <a:p>
            <a:r>
              <a:t>Fontes:</a:t>
            </a:r>
          </a:p>
          <a:p>
            <a:r>
              <a:t>CNPJ 54252144000164 · Classes/séries · Sênior e mezanino por séries; júnior residual · Fundos.NET ID 1072289 · 29/12/2025 · Atos de Deliberação do Administrador · p. 83-100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54252144000164 · Remuneração · Sênior I–IV: DI + 2,50/2,00/2,00/1,40% a.a.; mezanino: +5,00/4,25/4,25/3,90% · Fundos.NET ID 1072289 · 29/12/2025 · Atos de Deliberação do Administrador · p. 155-180 · data/raw/54252144000164/1072289_documentary_review.pdf · https://fnet.bmfbovespa.com.br/fnet/publico/exibirDocumento?id=1072289 · Observação: Apêndices efetivos; pagamento da meta atrasada acrescenta 1% a.m., conforme texto.</a:t>
            </a:r>
          </a:p>
          <a:p>
            <a:r>
              <a:t>CNPJ 54252144000164 · Volume/VNU · 4ª série distribuída: R$ 50 mi; 44.736 sênior e 5.264 mezanino; VNU R$ 1.000 · Fundos.NET ID 1075648 · 30/12/2025 · Oferta Pública de Distribuição de Cotas · p. 1-3 · data/raw/54252144000164/1075648_documentary_review.pdf · https://fnet.bmfbovespa.com.br/fnet/publico/exibirDocumento?id=1075648 · Observação: Conclusão documental revisada; preservar a versão e a unidade indicadas.</a:t>
            </a:r>
          </a:p>
          <a:p>
            <a:r>
              <a:t>CNPJ 54252144000164 · Ofertas · 4ª série encerrada 30/12/2025; oferta inicial de até R$ 95 mi · Fundos.NET ID 1075648 · 30/12/2025 · Oferta Pública de Distribuição de Cotas · p. 1-4 · data/raw/54252144000164/1075648_documentary_review.pdf · https://fnet.bmfbovespa.com.br/fnet/publico/exibirDocumento?id=1075648 · Observação: Anúncio de início ID 939658 de 03/07/2025.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2026-10-07T14:59:40-03:00</a:t>
            </a:r>
          </a:p>
          <a:p>
            <a:r>
              <a:t>J17 FGTS: CNPJ 54252144000164</a:t>
            </a:r>
          </a:p>
          <a:p>
            <a:r>
              <a:t>Fontes:</a:t>
            </a:r>
          </a:p>
          <a:p>
            <a:r>
              <a:t>CNPJ 54252144000164 · Carência · Não localizado no corpus acessível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Lacuna documental explícita; exige regulamento, anexo, suplemento ou contrato aplicável.</a:t>
            </a:r>
          </a:p>
          <a:p>
            <a:r>
              <a:t>CNPJ 54252144000164 · Juros/amortização · Mensal no 5º DU após carência; investimento de 6/7 meses por suplemento · Fundos.NET ID 1072289 · 29/12/2025 · Atos de Deliberação do Administrador · p. 157,160,163,166,171,174,177,180 · data/raw/54252144000164/1072289_documentary_review.pdf · https://fnet.bmfbovespa.com.br/fnet/publico/exibirDocumento?id=1072289 · Observação: Séries 1 e 3 remetem à integralização da 2ª série; validar o marco em vez de corrigir o contrato por inferência.</a:t>
            </a:r>
          </a:p>
          <a:p>
            <a:r>
              <a:t>CNPJ 54252144000164 · Vencimento · Não localizado no corpus acessível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2026-10-07T14:59:40-03:00</a:t>
            </a:r>
          </a:p>
          <a:p>
            <a:r>
              <a:t>J17 FGTS: CNPJ 54252144000164</a:t>
            </a:r>
          </a:p>
          <a:p>
            <a:r>
              <a:t>Fontes:</a:t>
            </a:r>
          </a:p>
          <a:p>
            <a:r>
              <a:t>CNPJ 54252144000164 · Administração · 0,01% a.a. do PL; mínimo R$ 1 mil/mês · Fundos.NET ID 1072289 · 29/12/2025 · Atos de Deliberação do Administrador · p. 66-67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54252144000164 · Gestão · 0,10% a.a. do PL; mínimo R$ 8,5 mil/mês; IPCA anual positivo · Fundos.NET ID 1072289 · 29/12/2025 · Atos de Deliberação do Administrador · p. 67 · data/raw/54252144000164/1072289_documentary_review.pdf · https://fnet.bmfbovespa.com.br/fnet/publico/exibirDocumento?id=1072289 · Observação: Extenso diverge do numeral da taxa; preservar ressalva.</a:t>
            </a:r>
          </a:p>
          <a:p>
            <a:r>
              <a:t>CNPJ 54252144000164 · Custódia · Máxima 0,14% a.a. do PL; mínimo R$ 16 mil/mês · Fundos.NET ID 1072289 · 29/12/2025 · Atos de Deliberação do Administrador · p. 67 · data/raw/54252144000164/1072289_documentary_review.pdf · https://fnet.bmfbovespa.com.br/fnet/publico/exibirDocumento?id=1072289 · Observação: Consultoria: menor de 0,20% a.a. ou R$ 30 mil/mês; cobrança até 20% recuperado.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2026-10-07T14:59:40-03:00</a:t>
            </a:r>
          </a:p>
          <a:p>
            <a:r>
              <a:t>J17 FGTS: CNPJ 54252144000164</a:t>
            </a:r>
          </a:p>
          <a:p>
            <a:r>
              <a:t>Fontes:</a:t>
            </a:r>
          </a:p>
          <a:p>
            <a:r>
              <a:t>CNPJ 54252144000164 · Alocação/subordinação IME · Subordinadas/PL e júnior/PL: diretos com validação de séries · Fundos.NET ID 1072289 · 29/12/2025 · Atos de Deliberação do Administrador · p. 111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54252144000164 · Inadimplência/PDD IME · Arrecadação exige vencido/recebido do mês; Over/PDD são proxies parciais · Fundos.NET ID 1072289 · 29/12/2025 · Atos de Deliberação do Administrador · p. 111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54252144000164 · Controles documentais · Elegibilidade, concentração, lastro, prestadores e eventos exigem documentação específica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O IME público agregado não certifica essas condições.</a:t>
            </a:r>
          </a:p>
          <a:p>
            <a:r>
              <a:t>CNPJ 54252144000164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J17 FGTS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J17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antecipação de saque-aniversário FGTS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J17, credor original; originação na Plataforma J17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 física titular de conta FGTS e optante pelo saque-aniversário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fiduciária do saque-aniversário; lastro e bloqueio por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Adimplente; prazo 15 dias a 144 meses; duration da carteira 24–36 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Valor de face por devedor ≤ R$ 100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J17 FGTS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J17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+ júnior/PL ≥ 15%; júnior/PL ≥ 5%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despesas; reserva adicional para MTM dos derivativos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Converter risco do lastro ao parâmetro das cotas; política no regulamento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J17 FGTS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J17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 revolventes até fim do investimento da 3ª série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J17 FGTS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J17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e mezanino por séries; júnior residual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I–IV: DI + 2,50/2,00/2,00/1,40% a.a.; mezanino: +5,00/4,25/4,25/3,90%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4ª série distribuída: R$ 50 mi; 44.736 sênior e 5.264 mezanino; VNU R$ 1.000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4ª série encerrada 30/12/2025; oferta inicial de até R$ 95 mi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J17 FGTS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J17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Mensal no 5º DU após carência; investimento de 6/7 meses por suplemento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J17 FGTS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J17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0,01% a.a. do PL; mínimo R$ 1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0,10% a.a. do PL; mínimo R$ 8,5 mil/mês; IPCA anual positivo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Máxima 0,14% a.a. do PL; mínimo R$ 16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J17 FGTS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J17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 e júnior/PL: diretos com validação de 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Arrecadação exige vencido/recebido do mês; Over/PDD são proxies parciais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lastro, prestadores e eventos exigem documentação 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