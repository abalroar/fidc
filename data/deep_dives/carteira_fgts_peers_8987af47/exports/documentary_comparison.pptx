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Natureza dos recebíveis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Natureza dos recebíveis · CCBs de antecipação do saque-aniversário FGTS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Natureza dos recebíveis · CCBs de antecipação de saque-aniversário FGTS · Fundos.NET ID 1072289 · 29/12/2025 · Atos de Deliberação do Administrador · p. 74-75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Originador/endossante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Originador/endossante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Originador/endossante · J17, credor original; originação na Plataforma J17 · Fundos.NET ID 1072289 · 29/12/2025 · Atos de Deliberação do Administrador · p. 51, 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Devedor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Devedor · Pessoas físicas titulares de contas FGTS · Fundos.NET ID 1224059 · 18/06/2026 · Regulamento · p. 26-28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Devedor · Pessoa física titular de conta FGTS e optante pelo saque-aniversário · Fundos.NET ID 1072289 · 29/12/2025 · Atos de Deliberação do Administrador · p.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53270983000142 · Garantia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Garantia · Cessão fiduciária dos direitos ao saque-aniversário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Garantia · Cessão fiduciária do saque-aniversário; lastro e bloqueio por contrato · Fundos.NET ID 1072289 · 29/12/2025 · Atos de Deliberação do Administrador · p. 47-55,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Elegibilidade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Elegibilidade · Adimplência; prazo ≤ 144 meses; parcelas além da sênior mais longa ≤ 1% do PL · Fundos.NET ID 1224059 · 18/06/2026 · Regulamento · p. 27-28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Elegibilidade · Adimplente; prazo 15 dias a 144 meses; duration da carteira 24–36 meses · Fundos.NET ID 1072289 · 29/12/2025 · Atos de Deliberação do Administrador · p. 74-75 · data/raw/54252144000164/1072289_documentary_review.pdf · https://fnet.bmfbovespa.com.br/fnet/publico/exibirDocumento?id=1072289 · Observação: 1ª parcela até 365 dias; fluxo anual sem carência; aquisição de todas as parcelas vincendas.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Concentração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Concentração · Saldo por devedor ≤ R$ 120 mil · Fundos.NET ID 1224059 · 18/06/2026 · Regulamento · p. 27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Concentração · Valor de face por devedor ≤ R$ 100 mil · Fundos.NET ID 1072289 · 29/12/2025 · Atos de Deliberação do Administrador · p. 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Natureza dos recebíveis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Natureza dos recebíveis · CCBs de antecipação do saque-aniversário FGTS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Natureza dos recebíveis · CCBs de antecipação de saque-aniversário FGTS · Fundos.NET ID 1072289 · 29/12/2025 · Atos de Deliberação do Administrador · p. 74-75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Natureza dos recebíveis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Originador/endossante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Originador/endossante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Originador/endossante · J17, credor original; originação na Plataforma J17 · Fundos.NET ID 1072289 · 29/12/2025 · Atos de Deliberação do Administrador · p. 51, 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Originador/endossante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Devedor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Devedor · Pessoas físicas titulares de contas FGTS · Fundos.NET ID 1224059 · 18/06/2026 · Regulamento · p. 26-28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Devedor · Pessoa física titular de conta FGTS e optante pelo saque-aniversário · Fundos.NET ID 1072289 · 29/12/2025 · Atos de Deliberação do Administrador · p.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Devedor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53270983000142 · Garantia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Garantia · Cessão fiduciária dos direitos ao saque-aniversário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Garantia · Cessão fiduciária do saque-aniversário; lastro e bloqueio por contrato · Fundos.NET ID 1072289 · 29/12/2025 · Atos de Deliberação do Administrador · p. 47-55, 74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Garantia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Elegibilidade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Elegibilidade · Adimplência; prazo ≤ 144 meses; parcelas além da sênior mais longa ≤ 1% do PL · Fundos.NET ID 1224059 · 18/06/2026 · Regulamento · p. 27-28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Elegibilidade · Adimplente; prazo 15 dias a 144 meses; duration da carteira 24–36 meses · Fundos.NET ID 1072289 · 29/12/2025 · Atos de Deliberação do Administrador · p. 74-75 · data/raw/54252144000164/1072289_documentary_review.pdf · https://fnet.bmfbovespa.com.br/fnet/publico/exibirDocumento?id=1072289 · Observação: 1ª parcela até 365 dias; fluxo anual sem carência; aquisição de todas as parcelas vincendas.</a:t>
            </a:r>
          </a:p>
          <a:p>
            <a:r>
              <a:t>CNPJ 54464892000100 · Elegibilidade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Concentração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Concentração · Saldo por devedor ≤ R$ 120 mil · Fundos.NET ID 1224059 · 18/06/2026 · Regulamento · p. 27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Concentração · Valor de face por devedor ≤ R$ 100 mil · Fundos.NET ID 1072289 · 29/12/2025 · Atos de Deliberação do Administrador · p. 75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Concentração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53270983000142 · Subordinação mínima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Subordinação mínima · Mezanino + júnior/PL ≥ 20%; júnior/PL ≥ 15% · Fundos.NET ID 1224059 · 18/06/2026 · Regulamento · p. 16-17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Subordinação mínima · Mezanino + júnior/PL ≥ 15%; júnior/PL ≥ 5%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Subordinação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53270983000142 · Gatilhos de avaliação/liquidação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Gatilhos de avaliação/liquidação · Arrecadação &lt; 93% em 2 datas/12 meses; atraso &gt; 10%; Selic ≥ 16% a.a. · Fundos.NET ID 1224059 · 18/06/2026 · Regulamento · p. 45-46 · data/raw/53577135000180/1224059_documentary_review.pdf · https://fnet.bmfbovespa.com.br/fnet/publico/exibirDocumento?id=1224059 · Observação: Selic é evento externo documental. Índices contratuais exigem base analítica; não aplicar Over automaticamente.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54252144000164 · Gatilhos de avaliação/liquidação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Gatilhos de avaliação/liquidação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Reserva de caixa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Reserva de caixa · 3 meses de despesas + liquidez 1% do PL, limitada a R$ 2 mi · Fundos.NET ID 1224059 · 18/06/2026 · Regulamento · p. 49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54252144000164 · Reserva de caixa · 3 meses de despesas; reserva adicional para MTM dos derivativos · Fundos.NET ID 1072289 · 29/12/2025 · Atos de Deliberação do Administrador · p. 60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Reserva de caixa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Derivativos/hedge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Derivativos/hedge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Derivativos/hedge · Converter risco do lastro ao parâmetro das cotas; política no regulamento · Fundos.NET ID 1072289 · 29/12/2025 · Atos de Deliberação do Administrador · p. 132 · data/raw/54252144000164/1072289_documentary_review.pdf · https://fnet.bmfbovespa.com.br/fnet/publico/exibirDocumento?id=1072289 · Observação: Percentual obrigatório não localizado com segurança; não inferir 70% de estruturas Auto BV.</a:t>
            </a:r>
          </a:p>
          <a:p>
            <a:r>
              <a:t>CNPJ 54464892000100 · Derivativos/hedge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PDD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PDD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PDD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PDD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53270983000142 · Subordinação mínima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Subordinação mínima · Mezanino + júnior/PL ≥ 20%; júnior/PL ≥ 15% · Fundos.NET ID 1224059 · 18/06/2026 · Regulamento · p. 16-17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Subordinação mínima · Mezanino + júnior/PL ≥ 15%; júnior/PL ≥ 5%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Subordinação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53270983000142 · Gatilhos de avaliação/liquidação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Gatilhos de avaliação/liquidação · Arrecadação &lt; 93% em 2 datas/12 meses; atraso &gt; 10%; Selic ≥ 16% a.a. · Fundos.NET ID 1224059 · 18/06/2026 · Regulamento · p. 45-46 · data/raw/53577135000180/1224059_documentary_review.pdf · https://fnet.bmfbovespa.com.br/fnet/publico/exibirDocumento?id=1224059 · Observação: Selic é evento externo documental. Índices contratuais exigem base analítica; não aplicar Over automaticamente.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54252144000164 · Gatilhos de avaliação/liquidação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Gatilhos de avaliação/liquidação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Reserva de caixa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Reserva de caixa · 3 meses de despesas + liquidez 1% do PL, limitada a R$ 2 mi · Fundos.NET ID 1224059 · 18/06/2026 · Regulamento · p. 49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54252144000164 · Reserva de caixa · 3 meses de despesas; reserva adicional para MTM dos derivativos · Fundos.NET ID 1072289 · 29/12/2025 · Atos de Deliberação do Administrador · p. 60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Reserva de caixa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Derivativos/hedge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Derivativos/hedge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Derivativos/hedge · Converter risco do lastro ao parâmetro das cotas; política no regulamento · Fundos.NET ID 1072289 · 29/12/2025 · Atos de Deliberação do Administrador · p. 132 · data/raw/54252144000164/1072289_documentary_review.pdf · https://fnet.bmfbovespa.com.br/fnet/publico/exibirDocumento?id=1072289 · Observação: Percentual obrigatório não localizado com segurança; não inferir 70% de estruturas Auto BV.</a:t>
            </a:r>
          </a:p>
          <a:p>
            <a:r>
              <a:t>CNPJ 54464892000100 · Derivativos/hedge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PDD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PDD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PDD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PDD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53270983000142 · Alocação mínima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Alocação mínima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Alocação mínima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Pool/revolvência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Pool/revolvência · Revolvência somente durante carência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Pool/revolvência · Aquisições revolventes até fim do investimento da 3ª série sênior · Fundos.NET ID 1072289 · 29/12/2025 · Atos de Deliberação do Administrador · p. 68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Duração/público-alvo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Duração/público-alvo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Duração/público-alvo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53270983000142 · Cessão/recompra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Cessão/recompra · Endosso irrevogável; declarações de aquisição e contrato regem resolução · Fundos.NET ID 1224059 · 18/06/2026 · Regulamento · p. 26-29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54252144000164 · Cessão/recompra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Coobrigação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Coobrigação · Sem coobrigação de endossantes/credor original · Fundos.NET ID 1224059 · 18/06/2026 · Regulamento · p. 25-26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Coobrigação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Waterfall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Waterfall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Waterfall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53270983000142 · Alocação mínima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Alocação mínima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Alocação mínima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Alocação mínima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Pool/revolvência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Pool/revolvência · Revolvência somente durante carência · Fundos.NET ID 1224059 · 18/06/2026 · Regulamento · p. 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Pool/revolvência · Aquisições revolventes até fim do investimento da 3ª série sênior · Fundos.NET ID 1072289 · 29/12/2025 · Atos de Deliberação do Administrador · p. 68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Pool/revolvência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Duração/público-alvo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Duração/público-alvo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Duração/público-alvo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Duração/público-alvo · Classe fechada; demais condições dependem de regulamento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53270983000142 · Cessão/recompra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Cessão/recompra · Endosso irrevogável; declarações de aquisição e contrato regem resolução · Fundos.NET ID 1224059 · 18/06/2026 · Regulamento · p. 26-29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54252144000164 · Cessão/recompra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Cessão/recompra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Coobrigação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Coobrigação · Sem coobrigação de endossantes/credor original · Fundos.NET ID 1224059 · 18/06/2026 · Regulamento · p. 25-26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Coobrigação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Coobrigação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Waterfall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Waterfall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Waterfall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Waterfall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Classes/séries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Classes/séries · Sênior; subordinada mezanino; subordinada júnior · Fundos.NET ID 1224059 · 18/06/2026 · Regulamento · p. 42-44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Classes/séries · Sênior e mezanino por séries; júnior residual · Fundos.NET ID 1072289 · 29/12/2025 · Atos de Deliberação do Administrador · p. 83-100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Classes/séries · Classe A: 2ª série sênior e 2ª emissão mezanino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53270983000142 · Remuneração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Remuneração · Benchmark por suplemento; spread final não localizado neste regulamento · Fundos.NET ID 1224059 · 18/06/2026 · Regulamento · p. 83-91 · data/raw/53577135000180/1224059_documentary_review.pdf · https://fnet.bmfbovespa.com.br/fnet/publico/exibirDocumento?id=1224059 · Observação: Modelos não preencheram todos os termos de emissão.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54252144000164 · Remuneração · Sênior I–IV: DI + 2,50/2,00/2,00/1,40% a.a.; mezanino: +5,00/4,25/4,25/3,90% · Fundos.NET ID 1072289 · 29/12/2025 · Atos de Deliberação do Administrador · p. 155-180 · data/raw/54252144000164/1072289_documentary_review.pdf · https://fnet.bmfbovespa.com.br/fnet/publico/exibirDocumento?id=1072289 · Observação: Apêndices efetivos; pagamento da meta atrasada acrescenta 1% a.m., conforme texto.</a:t>
            </a:r>
          </a:p>
          <a:p>
            <a:r>
              <a:t>CNPJ 54464892000100 · Remuneração · Spread final não localizado no anúncio; regulamento/suplementos inacessíveis · Fundos.NET ID 823583 · 21/01/2025 · Oferta Pública de Distribuição de Cotas · p. 1-3 · data/raw/54464892000100/823583_documentary_review.pdf · https://fnet.bmfbovespa.com.br/fnet/publico/exibirDocumento?id=823583 · Observação: Não extrapolar taxa de outro CNPJ ou outra série.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Volume/VNU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Volume/VNU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54252144000164 · Volume/VNU · 4ª série distribuída: R$ 50 mi; 44.736 sênior e 5.264 mezanino; VNU R$ 1.000 · Fundos.NET ID 1075648 · 30/12/2025 · Oferta Pública de Distribuição de Cotas · p. 1-3 · data/raw/54252144000164/1075648_documentary_review.pdf · https://fnet.bmfbovespa.com.br/fnet/publico/exibirDocumento?id=1075648 · Observação: Conclusão documental revisada; preservar a versão e a unidade indicadas.</a:t>
            </a:r>
          </a:p>
          <a:p>
            <a:r>
              <a:t>CNPJ 54464892000100 · Volume/VNU · Distribuídos R$ 400 mi sênior + R$ 47,06 mi mezanino; VNU R$ 1.000 · Fundos.NET ID 823583 · 21/01/2025 · Oferta Pública de Distribuição de Cotas · p. 1-3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Ofertas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Ofertas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54252144000164 · Ofertas · 4ª série encerrada 30/12/2025; oferta inicial de até R$ 95 mi · Fundos.NET ID 1075648 · 30/12/2025 · Oferta Pública de Distribuição de Cotas · p. 1-4 · data/raw/54252144000164/1075648_documentary_review.pdf · https://fnet.bmfbovespa.com.br/fnet/publico/exibirDocumento?id=1075648 · Observação: Anúncio de início ID 939658 de 03/07/2025.</a:t>
            </a:r>
          </a:p>
          <a:p>
            <a:r>
              <a:t>CNPJ 54464892000100 · Ofertas · Encerramento 21/01/2025; registro 14/10/2024 · Fundos.NET ID 823583 · 21/01/2025 · Oferta Pública de Distribuição de Cotas · p. 1, 3 · data/raw/54464892000100/823583_documentary_review.pdf · https://fnet.bmfbovespa.com.br/fnet/publico/exibirDocumento?id=823583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Classes/séries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Classes/séries · Sênior; subordinada mezanino; subordinada júnior · Fundos.NET ID 1224059 · 18/06/2026 · Regulamento · p. 42-44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Classes/séries · Sênior e mezanino por séries; júnior residual · Fundos.NET ID 1072289 · 29/12/2025 · Atos de Deliberação do Administrador · p. 83-100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Classes/séries · Classe A: 2ª série sênior e 2ª emissão mezanino · Fundos.NET ID 823583 · 21/01/2025 · Oferta Pública de Distribuição de Cotas · p. 1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53270983000142 · Remuneração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Remuneração · Benchmark por suplemento; spread final não localizado neste regulamento · Fundos.NET ID 1224059 · 18/06/2026 · Regulamento · p. 83-91 · data/raw/53577135000180/1224059_documentary_review.pdf · https://fnet.bmfbovespa.com.br/fnet/publico/exibirDocumento?id=1224059 · Observação: Modelos não preencheram todos os termos de emissão.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54252144000164 · Remuneração · Sênior I–IV: DI + 2,50/2,00/2,00/1,40% a.a.; mezanino: +5,00/4,25/4,25/3,90% · Fundos.NET ID 1072289 · 29/12/2025 · Atos de Deliberação do Administrador · p. 155-180 · data/raw/54252144000164/1072289_documentary_review.pdf · https://fnet.bmfbovespa.com.br/fnet/publico/exibirDocumento?id=1072289 · Observação: Apêndices efetivos; pagamento da meta atrasada acrescenta 1% a.m., conforme texto.</a:t>
            </a:r>
          </a:p>
          <a:p>
            <a:r>
              <a:t>CNPJ 54464892000100 · Remuneração · Spread final não localizado no anúncio; regulamento/suplementos inacessíveis · Fundos.NET ID 823583 · 21/01/2025 · Oferta Pública de Distribuição de Cotas · p. 1-3 · data/raw/54464892000100/823583_documentary_review.pdf · https://fnet.bmfbovespa.com.br/fnet/publico/exibirDocumento?id=823583 · Observação: Não extrapolar taxa de outro CNPJ ou outra série.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Volume/VNU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Volume/VNU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54252144000164 · Volume/VNU · 4ª série distribuída: R$ 50 mi; 44.736 sênior e 5.264 mezanino; VNU R$ 1.000 · Fundos.NET ID 1075648 · 30/12/2025 · Oferta Pública de Distribuição de Cotas · p. 1-3 · data/raw/54252144000164/1075648_documentary_review.pdf · https://fnet.bmfbovespa.com.br/fnet/publico/exibirDocumento?id=1075648 · Observação: Conclusão documental revisada; preservar a versão e a unidade indicadas.</a:t>
            </a:r>
          </a:p>
          <a:p>
            <a:r>
              <a:t>CNPJ 54464892000100 · Volume/VNU · Distribuídos R$ 400 mi sênior + R$ 47,06 mi mezanino; VNU R$ 1.000 · Fundos.NET ID 823583 · 21/01/2025 · Oferta Pública de Distribuição de Cotas · p. 1-3 · data/raw/54464892000100/823583_documentary_review.pdf · https://fnet.bmfbovespa.com.br/fnet/publico/exibirDocumento?id=823583 · Observação: Conclusão documental revisada; preservar a versão e a unidade indicadas.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Ofertas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Ofertas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54252144000164 · Ofertas · 4ª série encerrada 30/12/2025; oferta inicial de até R$ 95 mi · Fundos.NET ID 1075648 · 30/12/2025 · Oferta Pública de Distribuição de Cotas · p. 1-4 · data/raw/54252144000164/1075648_documentary_review.pdf · https://fnet.bmfbovespa.com.br/fnet/publico/exibirDocumento?id=1075648 · Observação: Anúncio de início ID 939658 de 03/07/2025.</a:t>
            </a:r>
          </a:p>
          <a:p>
            <a:r>
              <a:t>CNPJ 54464892000100 · Ofertas · Encerramento 21/01/2025; registro 14/10/2024 · Fundos.NET ID 823583 · 21/01/2025 · Oferta Pública de Distribuição de Cotas · p. 1, 3 · data/raw/54464892000100/823583_documentary_review.pdf · https://fnet.bmfbovespa.com.br/fnet/publico/exibirDocumento?id=823583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Carência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Carência · Até véspera da amortização do segundo mês calendário subsequente · Fundos.NET ID 1224059 · 18/06/2026 · Regulamento · p. 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Carência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Carência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Juros/amortização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Juros/amortização · Regime de caixa; primeiro DU seguinte em feriados · Fundos.NET ID 1224059 · 18/06/2026 · Regulamento · p. 44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Juros/amortização · Mensal no 5º DU após carência; investimento de 6/7 meses por suplemento · Fundos.NET ID 1072289 · 29/12/2025 · Atos de Deliberação do Administrador · p. 157,160,163,166,171,174,177,180 · data/raw/54252144000164/1072289_documentary_review.pdf · https://fnet.bmfbovespa.com.br/fnet/publico/exibirDocumento?id=1072289 · Observação: Séries 1 e 3 remetem à integralização da 2ª série; validar o marco em vez de corrigir o contrato por inferência.</a:t>
            </a:r>
          </a:p>
          <a:p>
            <a:r>
              <a:t>CNPJ 54464892000100 · Juros/amortização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Vencimento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Vencimento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Vencimento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Vencimento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53270983000142 · Carência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Carência · Até véspera da amortização do segundo mês calendário subsequente · Fundos.NET ID 1224059 · 18/06/2026 · Regulamento · p. 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Carência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Carência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Juros/amortização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Juros/amortização · Regime de caixa; primeiro DU seguinte em feriados · Fundos.NET ID 1224059 · 18/06/2026 · Regulamento · p. 44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Juros/amortização · Mensal no 5º DU após carência; investimento de 6/7 meses por suplemento · Fundos.NET ID 1072289 · 29/12/2025 · Atos de Deliberação do Administrador · p. 157,160,163,166,171,174,177,180 · data/raw/54252144000164/1072289_documentary_review.pdf · https://fnet.bmfbovespa.com.br/fnet/publico/exibirDocumento?id=1072289 · Observação: Séries 1 e 3 remetem à integralização da 2ª série; validar o marco em vez de corrigir o contrato por inferência.</a:t>
            </a:r>
          </a:p>
          <a:p>
            <a:r>
              <a:t>CNPJ 54464892000100 · Juros/amortização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Vencimento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Vencimento · Não localizado no corpus acessível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Lacuna documental explícita; exige regulamento, anexo, suplemento ou contrato aplicável.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54252144000164 · Vencimento · Não localizado no corpus acessível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Lacuna documental explícita; exige regulamento, anexo, suplemento ou contrato aplicável.</a:t>
            </a:r>
          </a:p>
          <a:p>
            <a:r>
              <a:t>CNPJ 54464892000100 · Vencimento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53270983000142 · Administração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Administração · 0,20% a.a. até R$ 100 mi; 0,16% acima; mínimo R$ 16 mil/mês · Fundos.NET ID 1224059 · 18/06/2026 · Regulamento · p. 39-40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54252144000164 · Administração · 0,01% a.a. do PL; mínimo R$ 1 mil/mês · Fundos.NET ID 1072289 · 29/12/2025 · Atos de Deliberação do Administrador · p. 66-67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Administração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53270983000142 · Gestão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Gestão · 0,60% a.a. até R$ 100 mi; 0,64% acima; mínimo R$ 10 mil/mês + tributos · Fundos.NET ID 1224059 · 18/06/2026 · Regulamento · p. 40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54252144000164 · Gestão · 0,10% a.a. do PL; mínimo R$ 8,5 mil/mês; IPCA anual positivo · Fundos.NET ID 1072289 · 29/12/2025 · Atos de Deliberação do Administrador · p. 67 · data/raw/54252144000164/1072289_documentary_review.pdf · https://fnet.bmfbovespa.com.br/fnet/publico/exibirDocumento?id=1072289 · Observação: Extenso diverge do numeral da taxa; preservar ressalva.</a:t>
            </a:r>
          </a:p>
          <a:p>
            <a:r>
              <a:t>CNPJ 54464892000100 · Gestão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Custódia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Custódia · R$ 2,5 mil/mês, descontados da taxa de administração · Fundos.NET ID 1224059 · 18/06/2026 · Regulamento · p. 41 · data/raw/53577135000180/1224059_documentary_review.pdf · https://fnet.bmfbovespa.com.br/fnet/publico/exibirDocumento?id=1224059 · Observação: Evitar dupla contagem do encargo.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54252144000164 · Custódia · Máxima 0,14% a.a. do PL; mínimo R$ 16 mil/mês · Fundos.NET ID 1072289 · 29/12/2025 · Atos de Deliberação do Administrador · p. 67 · data/raw/54252144000164/1072289_documentary_review.pdf · https://fnet.bmfbovespa.com.br/fnet/publico/exibirDocumento?id=1072289 · Observação: Consultoria: menor de 0,20% a.a. ou R$ 30 mil/mês; cobrança até 20% recuperado.</a:t>
            </a:r>
          </a:p>
          <a:p>
            <a:r>
              <a:t>CNPJ 54464892000100 · Custódia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53270983000142 · Administração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Administração · 0,20% a.a. até R$ 100 mi; 0,16% acima; mínimo R$ 16 mil/mês · Fundos.NET ID 1224059 · 18/06/2026 · Regulamento · p. 39-40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54252144000164 · Administração · 0,01% a.a. do PL; mínimo R$ 1 mil/mês · Fundos.NET ID 1072289 · 29/12/2025 · Atos de Deliberação do Administrador · p. 66-67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Administração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53270983000142 · Gestão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Gestão · 0,60% a.a. até R$ 100 mi; 0,64% acima; mínimo R$ 10 mil/mês + tributos · Fundos.NET ID 1224059 · 18/06/2026 · Regulamento · p. 40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54252144000164 · Gestão · 0,10% a.a. do PL; mínimo R$ 8,5 mil/mês; IPCA anual positivo · Fundos.NET ID 1072289 · 29/12/2025 · Atos de Deliberação do Administrador · p. 67 · data/raw/54252144000164/1072289_documentary_review.pdf · https://fnet.bmfbovespa.com.br/fnet/publico/exibirDocumento?id=1072289 · Observação: Extenso diverge do numeral da taxa; preservar ressalva.</a:t>
            </a:r>
          </a:p>
          <a:p>
            <a:r>
              <a:t>CNPJ 54464892000100 · Gestão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Custódia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Custódia · R$ 2,5 mil/mês, descontados da taxa de administração · Fundos.NET ID 1224059 · 18/06/2026 · Regulamento · p. 41 · data/raw/53577135000180/1224059_documentary_review.pdf · https://fnet.bmfbovespa.com.br/fnet/publico/exibirDocumento?id=1224059 · Observação: Evitar dupla contagem do encargo.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54252144000164 · Custódia · Máxima 0,14% a.a. do PL; mínimo R$ 16 mil/mês · Fundos.NET ID 1072289 · 29/12/2025 · Atos de Deliberação do Administrador · p. 67 · data/raw/54252144000164/1072289_documentary_review.pdf · https://fnet.bmfbovespa.com.br/fnet/publico/exibirDocumento?id=1072289 · Observação: Consultoria: menor de 0,20% a.a. ou R$ 30 mil/mês; cobrança até 20% recuperado.</a:t>
            </a:r>
          </a:p>
          <a:p>
            <a:r>
              <a:t>CNPJ 54464892000100 · Custódia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Alocação/subordinação IME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Alocação/subordinação IME · Cotas mezanino+júnior/PL e júnior/PL: diretos com validação de classe · Fundos.NET ID 1224059 · 18/06/2026 · Regulamento · p. 16-17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Alocação/subordinação IME · Subordinadas/PL e júnior/PL: diretos com validação de séries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Alocação/subordinação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Inadimplência/PDD IME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Inadimplência/PDD IME · Atraso/arrecadação contratuais não replicáveis; Over/PDD como proxies parciais · Fundos.NET ID 1224059 · 18/06/2026 · Regulamento · p. 16, 45-46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Inadimplência/PDD IME · Arrecadação exige vencido/recebido do mês; Over/PDD são proxies parciais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Inadimplência/PDD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53270983000142 · Controles documentais · Elegibilidade, concentração, lastro, prestadores e eventos exigem documentação específica · Corpus acessível CNPJ 53270983000142: não obtido; consulta Fundos.NET em 07/10/2026 · Observação: O IME público agregado não certifica essas condições.</a:t>
            </a:r>
          </a:p>
          <a:p>
            <a:r>
              <a:t>CNPJ 53577135000180 · Controles documentais · Elegibilidade, concentração, lastro, prestadores e eventos exigem documentação específica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54252144000164 · Controles documentais · Elegibilidade, concentração, lastro, prestadores e eventos exigem documentação específica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O IME público agregado não certifica essas condições.</a:t>
            </a:r>
          </a:p>
          <a:p>
            <a:r>
              <a:t>CNPJ 54464892000100 · Controles documentais · Elegibilidade, concentração, lastro, prestadores e eventos exigem documentação específica · Corpus acessível CNPJ 54464892000100: ID 823583 (21/01/2025), data/raw/54464892000100/823583_documentary_review.pdf · Observação: O IME público agregado não certifica essas condições.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53270983000142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53577135000180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54252144000164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54464892000100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Angá FGTS I: CNPJ 51957370000152</a:t>
            </a:r>
          </a:p>
          <a:p>
            <a:r>
              <a:t>Angá FGTS +AG: CNPJ 53270983000142</a:t>
            </a:r>
          </a:p>
          <a:p>
            <a:r>
              <a:t>Angá FGTS II: CNPJ 53577135000180</a:t>
            </a:r>
          </a:p>
          <a:p>
            <a:r>
              <a:t>Quatá FGTS: CNPJ 55401645000128</a:t>
            </a:r>
          </a:p>
          <a:p>
            <a:r>
              <a:t>Angá FGTS III: CNPJ 54810968000102</a:t>
            </a:r>
          </a:p>
          <a:p>
            <a:r>
              <a:t>J17 FGTS: CNPJ 54252144000164</a:t>
            </a:r>
          </a:p>
          <a:p>
            <a:r>
              <a:t>MT FGTS Receivables II: CNPJ 54464892000100</a:t>
            </a:r>
          </a:p>
          <a:p>
            <a:r>
              <a:t>Fontes: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Alocação/subordinação IME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Alocação/subordinação IME · Cotas mezanino+júnior/PL e júnior/PL: diretos com validação de classe · Fundos.NET ID 1224059 · 18/06/2026 · Regulamento · p. 16-17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Alocação/subordinação IME · Subordinadas/PL e júnior/PL: diretos com validação de séries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Alocação/subordinação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53270983000142 · Inadimplência/PDD IME · Não localizado no corpus acessível · Corpus acessível CNPJ 53270983000142: não obtido; consulta Fundos.NET em 07/10/2026 · Observação: Lacuna documental explícita; exige regulamento, anexo, suplemento ou contrato aplicável.</a:t>
            </a:r>
          </a:p>
          <a:p>
            <a:r>
              <a:t>CNPJ 53577135000180 · Inadimplência/PDD IME · Atraso/arrecadação contratuais não replicáveis; Over/PDD como proxies parciais · Fundos.NET ID 1224059 · 18/06/2026 · Regulamento · p. 16, 45-46 · data/raw/53577135000180/1224059_documentary_review.pdf · https://fnet.bmfbovespa.com.br/fnet/publico/exibirDocumento?id=1224059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54252144000164 · Inadimplência/PDD IME · Arrecadação exige vencido/recebido do mês; Over/PDD são proxies parciais · Fundos.NET ID 1072289 · 29/12/2025 · Atos de Deliberação do Administrador · p. 111 · data/raw/54252144000164/1072289_documentary_review.pdf · https://fnet.bmfbovespa.com.br/fnet/publico/exibirDocumento?id=1072289 · Observação: Conclusão documental revisada; preservar a versão e a unidade indicadas.</a:t>
            </a:r>
          </a:p>
          <a:p>
            <a:r>
              <a:t>CNPJ 54464892000100 · Inadimplência/PDD IME · Não localizado no corpus acessível · Corpus acessível CNPJ 54464892000100: ID 823583 (21/01/2025), data/raw/54464892000100/823583_documentary_review.pdf · Observação: Lacuna documental explícita; exige regulamento, anexo, suplemento ou contrato aplicável.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53270983000142 · Controles documentais · Elegibilidade, concentração, lastro, prestadores e eventos exigem documentação específica · Corpus acessível CNPJ 53270983000142: não obtido; consulta Fundos.NET em 07/10/2026 · Observação: O IME público agregado não certifica essas condições.</a:t>
            </a:r>
          </a:p>
          <a:p>
            <a:r>
              <a:t>CNPJ 53577135000180 · Controles documentais · Elegibilidade, concentração, lastro, prestadores e eventos exigem documentação específica · Corpus acessível CNPJ 53577135000180: ID 1224059 (18/06/2026), data/raw/53577135000180/1224059_documentary_review.pdf; ID 1051704 (01/12/2025), data/raw/53577135000180/1051704_documentary_review.pdf; ID 856958 (12/03/2025), data/raw/53577135000180/856958_documentary_review.pdf; ID 732871 (05/09/2024), data/raw/53577135000180/732871_documentary_review.pdf; ID 732872 (05/09/2024), data/raw/53577135000180/732872_documentary_review.pdf; ID 732869 (22/08/2024), data/raw/53577135000180/732869_documentary_review.pdf; ID 1224058 (15/06/2026), data/raw/53577135000180/1224058_documentary_review.pdf; ID 1051703 (01/12/2025), data/raw/53577135000180/1051703_documentary_review.pdf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54252144000164 · Controles documentais · Elegibilidade, concentração, lastro, prestadores e eventos exigem documentação específica · Corpus acessível CNPJ 54252144000164: ID 1072289 (29/12/2025), data/raw/54252144000164/1072289_documentary_review.pdf; ID 1075648 (30/12/2025), data/raw/54252144000164/1075648_documentary_review.pdf; ID 939658 (03/07/2025), data/raw/54252144000164/939658_documentary_review.pdf; ID 771421 (05/11/2024), data/raw/54252144000164/771421_documentary_review.pdf; ID 767563 (30/10/2024), data/raw/54252144000164/767563_documentary_review.pdf; ID 1061435 (26/11/2025), data/raw/54252144000164/1061435_documentary_review.pdf · Observação: O IME público agregado não certifica essas condições.</a:t>
            </a:r>
          </a:p>
          <a:p>
            <a:r>
              <a:t>CNPJ 54464892000100 · Controles documentais · Elegibilidade, concentração, lastro, prestadores e eventos exigem documentação específica · Corpus acessível CNPJ 54464892000100: ID 823583 (21/01/2025), data/raw/54464892000100/823583_documentary_review.pdf · Observação: O IME público agregado não certifica essas condições.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53270983000142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53577135000180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54252144000164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54464892000100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8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de IFs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FIDCs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Votorantim/Banco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aprovadas e fundos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 pela Quatá;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credor original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conta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titulares de contas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física; 18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75a11m29d na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 ou total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bloqueio/averbação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prefixada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vencimento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a série sênior 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longa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Adimplência; prazo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144 meses; 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além da sênior 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longa ≤ 1%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Prefixado; retorno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médio de aquisição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1,35% a.m.; prazo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3.650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120 mil 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781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J17, credor original; 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Plataforma J17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 de conta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FGTS; idade mínima 18 anos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 de conta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FGTS e optante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saque-aniversário; bloqueio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saque-aniversário;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bloqueio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adimplente; prazo ≤ 120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 e até vencimento da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mais longa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prazo 15 dias a 144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meses; duration da carteira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24–36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R$ 120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de face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7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10%; 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20%; júnior/PL ≥ 15%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15%; júnior/PL ≥ 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93%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datas/12 meses; atraso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10% em uma data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93%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datas/12 meses; atraso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10%; Selic ≥ 16%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Intervenção/falência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índices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do cap. 9/10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de 1% do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1% do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R$ 2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estimadas; apuração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descoberto/alavancagem;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≤ 1x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 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 15%;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93% em 2 datas/12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meses; atraso &gt; 10%; PL &lt; R$ 1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 por 3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+ liquidez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2% do PL, limitada a R$ 15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 reserva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 para MTM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Converter risco do lastro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parâmetro das cotas; política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8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do PL regulatório;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somente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durante 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irrevogável;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desconformidade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 pode resolver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irrevogável;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declarações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regem resolução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 originais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no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responde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endossantes/credor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revolventes até fim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investimento da 3ª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demais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desconformidade pode resolver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caixa/liquidez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A; 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mezanino por séries;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A: 2ª série sênior e 2ª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suplemento da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I–IV: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2,50/2,00/2,00/1,40%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mezanino: +5,00/4,25/4,25/3,90%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 até R$ 1,35 bi;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R$ 170 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série distribuída: R$ 50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44.736 sênior e 5.264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 R$ 400 mi sênior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R$ 47,06 mi mezanino; VNU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oferta registrada e iniciada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21/05/2024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série encerrada 30/12/2025;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inicial de até R$ 95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21/01/2025;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 14/10/2024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3682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véspera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do segundo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calendário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subsequente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de caixa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 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de caixa;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primeiro DU seguinte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feriados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carência: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em regime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indeterminada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618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no 5º DU após carência;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 de 6/7 meses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18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0,13%/0,11%/0,08%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faixa de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 até R$ 100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0,16% acima;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R$ 16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0,25%/0,23%/0,18%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R$ 16,5 mil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primeiros meses,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mil depois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0,42%/0,44%/0,40%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faixa de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R$ 7 mil/mês +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0,60% a.a. até R$ 100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0,64% acima;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 mil/mês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R$ 25 mil/mês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guarda/verificação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externa são encargos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R$ 2,5 mil/mês,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descontados da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805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0,10%/0,08%/0,05% a.a.;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R$ 12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0,01% a.a. do PL; mínimo R$ 1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0,45% a.a. do PL +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do PL; mínimo R$ 8,5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IPCA anual positivo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 do PL; mínimo R$ 3,5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Máxima 0,14% a.a. do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R$ 16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7764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+AG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diretos,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mezanino+júnior/PL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júnior/PL: diretos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diretos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são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parciais;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reproduzem índices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e atraso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Atraso/arrecadação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replicáveis; Over/PDD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como proxies parciais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atraso/arrecadação usam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fluxo/face; 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público é proxy parcial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FGTS Peers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83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J17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MT FGTS Receivables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 júnior/PL: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 com identificação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 júnior/PL: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 com validação de 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Over/PDD: proxies; atraso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usa arrasto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na CCB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vencido/recebido do 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são proxies parciais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