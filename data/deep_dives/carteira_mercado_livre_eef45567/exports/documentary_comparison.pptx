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Natureza dos recebíveis · Recebíveis de transações Mercado Pago e créditos sub-rogados pelo Mercado Crédito · Fundos.NET ID 704724 | 25/07/2024 | Regulamento | p. 63, política/originação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Natureza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Natureza dos recebíveis · CCBs de crédito parcelado e direitos PPV da plataforma Mercado Pago · data/raw/28472333000132/732140_regulamento.pdf · ID Fundos.NET 732140 · 03/09/2024 · regulamento · p. 4–7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Natureza dos recebíveis · CCBs de crédito parcelado e veículos; direitos PPV futuros da plataforma Mercado Pago · data/raw/33254370000104/1128340_regulamento.pdf · ID Fundos.NET 1128340 · 03/03/2026 · regulamento · p. 7 e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Natureza dos recebíveis · CCBs de crédito parcelado a consumidores e comerciantes, originadas por IFs parceiras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Natureza dos recebíveis · CCBs endossadas por IF MeLi, entidades Mercado Pago e veículos do grupo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Originador/endossante · Estabelecimentos comerciais e Mercado Crédito · Fundos.NET ID 704724 | 25/07/2024 | Regulamento | p. 36, definiçãocedentes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Originador/endossante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Originador/endossante · IFs parceiras originam CCBs; cedentes PPV conforme contratos · data/raw/28472333000132/732140_regulamento.pdf · ID Fundos.NET 732140 · 03/09/2024 · regulamento · p. 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Originador/endossante · Instituições financeiras parceiras originam CCBs; cedentes comerciais originam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Originador/endossante · IFs parceiras; Mercado Pago atua como correspondente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Originador/endossante · IF MeLi e entidades/veículos Mercado Pago que celebraram contrato de endosso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Devedor · Mercado Pago IP Ltda.; CNPJ 10.573.521/0001-91 · Fundos.NET ID 704724 | 25/07/2024 | Regulamento | p. 42, definiçãodevedor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Devedor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Devedor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Devedor · PF/PJ nas CCBs; Mercado Pago nos direitos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Devedor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Devedor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Garantia · Sem garantia de prestadores/FGC; sem garantias reais do devedor · Fundos.NET ID 704724 | 25/07/2024 | Regulamento | p. 61, ausênciagarantias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Garantia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Garantia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Garantia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Garantia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Garantia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Elegibilidade · BRL; créditos vincendos; devedor adimplente; controle de partes relacionadas; validação da exigibilidade na cessão · Fundos.NET ID 704724 | 25/07/2024 | Regulamento | p. 63, elegibilidade/condiçõescessão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Elegibilidade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Elegibilidade · CCBs originadas por IF parceira: veículos ≤ 60 meses; demais ≤ 25 meses · data/raw/33254370000104/1128340_regulamento.pdf · ID Fundos.NET 1128340 · 03/03/2026 · regulamento · p.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Elegibilidade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Elegibilidade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Concentração · Devedor econômico: Mercado Pago; teto 20% do PL dispensado sob condições da classe · Fundos.NET ID 704724 | 25/07/2024 | Regulamento | p. 61, concentração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Concentração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Concentração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Concentração · Dispensa do limite por emissor; critérios individuais conforme tipo de crédito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Concentração · Devedor único ≤ 0,5% dos DC; limites por produto, perfil e prazo · data/raw/37511828000114/1200490_regulamento.pdf · ID Fundos.NET 1200490 · 27/03/2026 · regulamento · p. 143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Concentração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Prazo dos recebíveis · Máximo 365 dias da cessão, conforme critérios · Fundos.NET ID 704724 | 25/07/2024 | Regulamento | p. 63, elegibilidadeprazo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Prazo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Prazo dos recebíveis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Prazo dos recebíveis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Prazo dos recebíveis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Prazo dos recebíveis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Ativos vedados · Operações com administrador/gestor e relacionados; cotas de fundos por eles administrados ou geridos · Fundos.NET ID 704724; referência 25/07/2024; Regulamento; p. 61; 3.4/3.4.1 (Seller I); 3.5/3.5.1 (Seller II);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Ativos vedados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Ativos vedados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Ativos vedados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Ativos vedados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Ativos vedados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Day trade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Day trade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Day trade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Day trade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Day trade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Day trade · Operações iniciadas e encerradas no mesmo dia vedadas · data/raw/37511828000114/1200490_regulamento.pdf · ID Fundos.NET 1200490 · 27/03/2026 · regulamento · p. 50 · 5.7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Day trade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Natureza dos recebíveis · Recebíveis de transações Mercado Pago e créditos sub-rogados pelo Mercado Crédito · Fundos.NET ID 704724 | 25/07/2024 | Regulamento | p. 63, política/originação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Natureza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Natureza dos recebíveis · CCBs de crédito parcelado e direitos PPV da plataforma Mercado Pago · data/raw/28472333000132/732140_regulamento.pdf · ID Fundos.NET 732140 · 03/09/2024 · regulamento · p. 4–7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Natureza dos recebíveis · CCBs de crédito parcelado e veículos; direitos PPV futuros da plataforma Mercado Pago · data/raw/33254370000104/1128340_regulamento.pdf · ID Fundos.NET 1128340 · 03/03/2026 · regulamento · p. 7 e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Natureza dos recebíveis · CCBs de crédito parcelado a consumidores e comerciantes, originadas por IFs parceiras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Natureza dos recebíveis · CCBs endossadas por IF MeLi, entidades Mercado Pago e veículos do grupo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Originador/endossante · Estabelecimentos comerciais e Mercado Crédito · Fundos.NET ID 704724 | 25/07/2024 | Regulamento | p. 36, definiçãocedentes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Originador/endossante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Originador/endossante · IFs parceiras originam CCBs; cedentes PPV conforme contratos · data/raw/28472333000132/732140_regulamento.pdf · ID Fundos.NET 732140 · 03/09/2024 · regulamento · p. 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Originador/endossante · Instituições financeiras parceiras originam CCBs; cedentes comerciais originam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Originador/endossante · IFs parceiras; Mercado Pago atua como correspondente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Originador/endossante · IF MeLi e entidades/veículos Mercado Pago que celebraram contrato de endosso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Devedor · Mercado Pago IP Ltda.; CNPJ 10.573.521/0001-91 · Fundos.NET ID 704724 | 25/07/2024 | Regulamento | p. 42, definiçãodevedor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Devedor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Devedor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Devedor · PF/PJ nas CCBs; Mercado Pago nos direitos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Devedor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Devedor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Garantia · Sem garantia de prestadores/FGC; sem garantias reais do devedor · Fundos.NET ID 704724 | 25/07/2024 | Regulamento | p. 61, ausênciagarantias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Garantia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Garantia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Garantia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Garantia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Garantia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Elegibilidade · BRL; créditos vincendos; devedor adimplente; controle de partes relacionadas; validação da exigibilidade na cessão · Fundos.NET ID 704724 | 25/07/2024 | Regulamento | p. 63, elegibilidade/condiçõescessão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Elegibilidade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Elegibilidade · CCBs originadas por IF parceira: veículos ≤ 60 meses; demais ≤ 25 meses · data/raw/33254370000104/1128340_regulamento.pdf · ID Fundos.NET 1128340 · 03/03/2026 · regulamento · p.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Elegibilidade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Elegibilidade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Concentração · Devedor econômico: Mercado Pago; teto 20% do PL dispensado sob condições da classe · Fundos.NET ID 704724 | 25/07/2024 | Regulamento | p. 61, concentração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Concentração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Concentração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Concentração · Dispensa do limite por emissor; critérios individuais conforme tipo de crédito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Concentração · Devedor único ≤ 0,5% dos DC; limites por produto, perfil e prazo · data/raw/37511828000114/1200490_regulamento.pdf · ID Fundos.NET 1200490 · 27/03/2026 · regulamento · p. 143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Concentração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Prazo dos recebíveis · Máximo 365 dias da cessão, conforme critérios · Fundos.NET ID 704724 | 25/07/2024 | Regulamento | p. 63, elegibilidadeprazo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Prazo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Prazo dos recebíveis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Prazo dos recebíveis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Prazo dos recebíveis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Prazo dos recebíveis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Ativos vedados · Operações com administrador/gestor e relacionados; cotas de fundos por eles administrados ou geridos · Fundos.NET ID 704724; referência 25/07/2024; Regulamento; p. 61; 3.4/3.4.1 (Seller I); 3.5/3.5.1 (Seller II);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Ativos vedados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Ativos vedados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Ativos vedados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Ativos vedados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Ativos vedados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Day trade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Day trade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Day trade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Day trade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Day trade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Day trade · Operações iniciadas e encerradas no mesmo dia vedadas · data/raw/37511828000114/1200490_regulamento.pdf · ID Fundos.NET 1200490 · 27/03/2026 · regulamento · p. 50 · 5.7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Day trade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Natureza dos recebíveis · Recebíveis de transações Mercado Pago e créditos sub-rogados pelo Mercado Crédito · Fundos.NET ID 704724 | 25/07/2024 | Regulamento | p. 63, política/originação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Natureza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Natureza dos recebíveis · CCBs de crédito parcelado e direitos PPV da plataforma Mercado Pago · data/raw/28472333000132/732140_regulamento.pdf · ID Fundos.NET 732140 · 03/09/2024 · regulamento · p. 4–7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Natureza dos recebíveis · CCBs de crédito parcelado e veículos; direitos PPV futuros da plataforma Mercado Pago · data/raw/33254370000104/1128340_regulamento.pdf · ID Fundos.NET 1128340 · 03/03/2026 · regulamento · p. 7 e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Natureza dos recebíveis · CCBs de crédito parcelado a consumidores e comerciantes, originadas por IFs parceiras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Natureza dos recebíveis · CCBs endossadas por IF MeLi, entidades Mercado Pago e veículos do grupo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Originador/endossante · Estabelecimentos comerciais e Mercado Crédito · Fundos.NET ID 704724 | 25/07/2024 | Regulamento | p. 36, definiçãocedentes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Originador/endossante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Originador/endossante · IFs parceiras originam CCBs; cedentes PPV conforme contratos · data/raw/28472333000132/732140_regulamento.pdf · ID Fundos.NET 732140 · 03/09/2024 · regulamento · p. 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Originador/endossante · Instituições financeiras parceiras originam CCBs; cedentes comerciais originam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Originador/endossante · IFs parceiras; Mercado Pago atua como correspondente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Originador/endossante · IF MeLi e entidades/veículos Mercado Pago que celebraram contrato de endosso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Devedor · Mercado Pago IP Ltda.; CNPJ 10.573.521/0001-91 · Fundos.NET ID 704724 | 25/07/2024 | Regulamento | p. 42, definiçãodevedor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Devedor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Devedor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Devedor · PF/PJ nas CCBs; Mercado Pago nos direitos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Devedor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Devedor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Garantia · Sem garantia de prestadores/FGC; sem garantias reais do devedor · Fundos.NET ID 704724 | 25/07/2024 | Regulamento | p. 61, ausênciagarantias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Garantia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Garantia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Garantia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Garantia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Garantia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Elegibilidade · BRL; créditos vincendos; devedor adimplente; controle de partes relacionadas; validação da exigibilidade na cessão · Fundos.NET ID 704724 | 25/07/2024 | Regulamento | p. 63, elegibilidade/condiçõescessão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Elegibilidade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Elegibilidade · CCBs originadas por IF parceira: veículos ≤ 60 meses; demais ≤ 25 meses · data/raw/33254370000104/1128340_regulamento.pdf · ID Fundos.NET 1128340 · 03/03/2026 · regulamento · p.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Elegibilidade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Elegibilidade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Concentração · Devedor econômico: Mercado Pago; teto 20% do PL dispensado sob condições da classe · Fundos.NET ID 704724 | 25/07/2024 | Regulamento | p. 61, concentração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Concentração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Concentração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Concentração · Dispensa do limite por emissor; critérios individuais conforme tipo de crédito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Concentração · Devedor único ≤ 0,5% dos DC; limites por produto, perfil e prazo · data/raw/37511828000114/1200490_regulamento.pdf · ID Fundos.NET 1200490 · 27/03/2026 · regulamento · p. 143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Concentração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Prazo dos recebíveis · Máximo 365 dias da cessão, conforme critérios · Fundos.NET ID 704724 | 25/07/2024 | Regulamento | p. 63, elegibilidadeprazo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Prazo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Prazo dos recebíveis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Prazo dos recebíveis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Prazo dos recebíveis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Prazo dos recebíveis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Ativos vedados · Operações com administrador/gestor e relacionados; cotas de fundos por eles administrados ou geridos · Fundos.NET ID 704724; referência 25/07/2024; Regulamento; p. 61; 3.4/3.4.1 (Seller I); 3.5/3.5.1 (Seller II);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Ativos vedados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Ativos vedados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Ativos vedados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Ativos vedados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Ativos vedados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Day trade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Day trade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Day trade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Day trade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Day trade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Day trade · Operações iniciadas e encerradas no mesmo dia vedadas · data/raw/37511828000114/1200490_regulamento.pdf · ID Fundos.NET 1200490 · 27/03/2026 · regulamento · p. 50 · 5.7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Day trade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Natureza dos recebíveis · Recebíveis de transações Mercado Pago e créditos sub-rogados pelo Mercado Crédito · Fundos.NET ID 704724 | 25/07/2024 | Regulamento | p. 63, política/originação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Natureza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Natureza dos recebíveis · CCBs de crédito parcelado e direitos PPV da plataforma Mercado Pago · data/raw/28472333000132/732140_regulamento.pdf · ID Fundos.NET 732140 · 03/09/2024 · regulamento · p. 4–7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Natureza dos recebíveis · CCBs de crédito parcelado e veículos; direitos PPV futuros da plataforma Mercado Pago · data/raw/33254370000104/1128340_regulamento.pdf · ID Fundos.NET 1128340 · 03/03/2026 · regulamento · p. 7 e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Natureza dos recebíveis · CCBs de crédito parcelado a consumidores e comerciantes, originadas por IFs parceiras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Natureza dos recebíveis · CCBs endossadas por IF MeLi, entidades Mercado Pago e veículos do grupo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Originador/endossante · Estabelecimentos comerciais e Mercado Crédito · Fundos.NET ID 704724 | 25/07/2024 | Regulamento | p. 36, definiçãocedentes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Originador/endossante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Originador/endossante · IFs parceiras originam CCBs; cedentes PPV conforme contratos · data/raw/28472333000132/732140_regulamento.pdf · ID Fundos.NET 732140 · 03/09/2024 · regulamento · p. 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Originador/endossante · Instituições financeiras parceiras originam CCBs; cedentes comerciais originam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Originador/endossante · IFs parceiras; Mercado Pago atua como correspondente · data/raw/37511828000114/1200490_regulamento.pdf · ID Fundos.NET 1200490 · 27/03/2026 · regulamento · p. 133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Originador/endossante · IF MeLi e entidades/veículos Mercado Pago que celebraram contrato de endosso · data/raw/41970012000126/1302706_regulamento.pdf · ID Fundos.NET 1302706 · 27/08/2026 · regulamento · p. 20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Devedor · Mercado Pago IP Ltda.; CNPJ 10.573.521/0001-91 · Fundos.NET ID 704724 | 25/07/2024 | Regulamento | p. 42, definiçãodevedor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Devedor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Devedor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Devedor · PF/PJ nas CCBs; Mercado Pago nos direitos PPV · data/raw/33254370000104/1128340_regulamento.pdf · ID Fundos.NET 1128340 · 03/03/2026 · regulamento · p. 7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Devedor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Devedor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Garantia · Sem garantia de prestadores/FGC; sem garantias reais do devedor · Fundos.NET ID 704724 | 25/07/2024 | Regulamento | p. 61, ausênciagarantias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Garantia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Garantia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Garantia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Garantia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Garantia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Elegibilidade · BRL; créditos vincendos; devedor adimplente; controle de partes relacionadas; validação da exigibilidade na cessão · Fundos.NET ID 704724 | 25/07/2024 | Regulamento | p. 63, elegibilidade/condiçõescessão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Elegibilidade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Elegibilidade · CCBs originadas por IF parceira: veículos ≤ 60 meses; demais ≤ 25 meses · data/raw/33254370000104/1128340_regulamento.pdf · ID Fundos.NET 1128340 · 03/03/2026 · regulamento · p. 10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Elegibilidade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Elegibilidade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Concentração · Devedor econômico: Mercado Pago; teto 20% do PL dispensado sob condições da classe · Fundos.NET ID 704724 | 25/07/2024 | Regulamento | p. 61, concentração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Concentração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Concentração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Concentração · Dispensa do limite por emissor; critérios individuais conforme tipo de crédito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Concentração · Devedor único ≤ 0,5% dos DC; limites por produto, perfil e prazo · data/raw/37511828000114/1200490_regulamento.pdf · ID Fundos.NET 1200490 · 27/03/2026 · regulamento · p. 143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Concentração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Prazo dos recebíveis · Máximo 365 dias da cessão, conforme critérios · Fundos.NET ID 704724 | 25/07/2024 | Regulamento | p. 63, elegibilidadeprazo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Prazo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Prazo dos recebíveis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Prazo dos recebíveis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Prazo dos recebíveis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Prazo dos recebíveis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Ativos vedados · Operações com administrador/gestor e relacionados; cotas de fundos por eles administrados ou geridos · Fundos.NET ID 704724; referência 25/07/2024; Regulamento; p. 61; 3.4/3.4.1 (Seller I); 3.5/3.5.1 (Seller II);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Ativos vedados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Ativos vedados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Ativos vedados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Ativos vedados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Ativos vedados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Day trade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Day trade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Day trade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Day trade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Day trade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Day trade · Operações iniciadas e encerradas no mesmo dia vedadas · data/raw/37511828000114/1200490_regulamento.pdf · ID Fundos.NET 1200490 · 27/03/2026 · regulamento · p. 50 · 5.7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Day trade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Subordinação mínima · Júnior / PL ≥33,3% · Fundos.NET ID 704724 | 25/07/2024 | Regulamento | p. 106, 8.8 índicedesubordinação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Subordinação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mínima · Júnior/PL ≥ 30%; pode cair a 20% com rating sênior ≥ AA e atraso histórico &lt; 7% · data/raw/28472333000132/732140_regulamento.pdf · ID Fundos.NET 732140 · 03/09/2024 · regulamento · p. 28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Subordinação mínima · Piso dinâmico: 25%, 30% ou 35%, conforme rentabilidade excedente média de três meses · data/raw/33254370000104/1128340_regulamento.pdf · ID Fundos.NET 1128340 · 03/03/2026 · regulamento · p. 43 · https://fnet.bmfbovespa.com.br/fnet/publico/visualizarDocumento?id=1128340 · Observação: O número 7% é rentabilidade excedente anual, não piso de subordinadas. Reconciliar índice de subordinação e base nos apêndices.</a:t>
            </a:r>
          </a:p>
          <a:p>
            <a:r>
              <a:t>CNPJ 37511828000114 · Subordinação mínima · Júnior ≥ 10% PL, com majorações condicionais por excesso de juros e perdas · data/raw/37511828000114/1200490_regulamento.pdf · ID Fundos.NET 1200490 · 27/03/2026 · regulamento · p. 42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Subordinação mínima · Júnior ≥ 10% PL; eventos de step-down majoram a proteção · data/raw/41970012000126/1302706_regulamento.pdf · ID Fundos.NET 1302706 · 27/08/2026 · regulamento · p. 32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Gatilhos de avaliação/liquidação · Reservas, subordinação, cobertura, lastro, pagamentos e cross default; hipóteses e cura detalhadas abaixo · Fundos.NET ID 704724; referência 25/07/2024; Regulamento; p. 119–120; 12.1;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Gatilhos de avaliação/liquidação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Gatilhos de avaliação/liquidação · Alocação &lt; 50% por 30 dias; relação mínima sem cura em 30 dias; inelegibilidade sem solução em 10 dias · data/raw/28472333000132/732140_regulamento.pdf · ID Fundos.NET 732140 · 03/09/2024 · regulamento · p. 36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Gatilhos de avaliação/liquidação · Excesso de spread &lt; 0,01% acelera sênior; safras de veículos: Over30 MOB3 &gt; 5,5% ou Over60 MOB6 &gt; 6,5% em 2 de 6 safras · data/raw/33254370000104/1128340_regulamento.pdf · ID Fundos.NET 1128340 · 03/03/2026 · regulamento · p. 50 e 55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Gatilhos de avaliação/liquidação · Índice histórico comerciante: avaliação 8%; amortização acelerada 7%; tabelas MOB adicionais · data/raw/37511828000114/1200490_regulamento.pdf · ID Fundos.NET 1200490 · 27/03/2026 · regulamento · p. 33 e 92 · https://fnet.bmfbovespa.com.br/fnet/publico/visualizarDocumento?id=1200490 · Observação: Índice histórico e safras MOB não correspondem diretamente ao aging agregado do IME.</a:t>
            </a:r>
          </a:p>
          <a:p>
            <a:r>
              <a:t>CNPJ 41970012000126 · Gatilhos de avaliação/liquidação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caixa · 100% da próxima amortização: acumular D-45; integral D-10 ; remuneração D-10/integral D-5 · Fundos.NET ID 704724 | 25/07/2024 | Regulamento | p. 111, 10.1.4 reservadecaixa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caixa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caixa · Reserva de amortização: valor total da 1ª série sênior em circulação + R$5 milhões · data/raw/28472333000132/732140_regulamento.pdf · ID Fundos.NET 732140 · 03/09/2024 · regulamento · p. 33 · 12.2.1 · https://fnet.bmfbovespa.com.br/fnet/publico/visualizarDocumento?id=732140 · Observação: Constituição exclusivamente em ativos financeiros; não converter em percentual do PL.</a:t>
            </a:r>
          </a:p>
          <a:p>
            <a:r>
              <a:t>CNPJ 33254370000104 · Reserva de caixa · Reserva de remuneração sênior: remuneração + principal, quando aplicável, das próximas 3 datas · data/raw/33254370000104/1128340_regulamento.pdf · ID Fundos.NET 1128340 · 03/03/2026 · regulamento · p. 47 · 13.3 · https://fnet.bmfbovespa.com.br/fnet/publico/visualizarDocumento?id=1128340 · Observação: Requer cronograma por série; caixa/PL é proxy parcial.</a:t>
            </a:r>
          </a:p>
          <a:p>
            <a:r>
              <a:t>CNPJ 37511828000114 · Reserva de caixa · Reserva de despesas de 0,20% PL; recompor se saldo &lt; 50% do valor requerido · data/raw/37511828000114/1200490_regulamento.pdf · ID Fundos.NET 1200490 · 27/03/2026 · regulamento · p. 107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Reserva de caixa · Reserva de despesas: 1,05% PL; recomposição diária · data/raw/41970012000126/1302706_regulamento.pdf · ID Fundos.NET 1302706 · 27/08/2026 · p. 102 · https://fnet.bmfbovespa.com.br/fnet/publico/visualizarDocumento?id=1302706 · Observação: Conferir fórmula e janelas de cura no regulamento integral; proxy público agregado não valida todos os eventos.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Derivativos/hedge · Operações em derivativos vedadas · Fundos.NET ID 704724 | 25/07/2024 | Regulamento | p. 61, políticaderivativos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Derivativos/hedge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Derivativos/hedge · Divergência: cláusula 2.9 admite proteção; fator de risco afirma vedação inclusive a hedge · data/raw/28472333000132/732140_regulamento.pdf · ID Fundos.NET 732140 · 03/09/2024 · regulamento · p. 6 e 9 · https://fnet.bmfbovespa.com.br/fnet/publico/visualizarDocumento?id=732140 · Observação: Não ativar controle automático antes de esclarecer a contradição no regulamento.</a:t>
            </a:r>
          </a:p>
          <a:p>
            <a:r>
              <a:t>CNPJ 33254370000104 · Derivativos/hedge · Somente proteção ou mitigação de risco · data/raw/33254370000104/1128340_regulamento.pdf · ID Fundos.NET 1128340 · 03/03/2026 · regulamento · p. 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Derivativos/hedge · Proteção patrimonial/troca de indexador sem risco de capital; proteção de posições à vista · data/raw/37511828000114/1200490_regulamento.pdf · ID Fundos.NET 1200490 · 27/03/2026 · regulamento · p. 50/112 · 5.8; 21.1.1(i) · https://fnet.bmfbovespa.com.br/fnet/publico/visualizarDocumento?id=1200490 · Observação: Validar finalidade, posição coberta e instrumento; IME oferece posição agregada.</a:t>
            </a:r>
          </a:p>
          <a:p>
            <a:r>
              <a:t>CNPJ 41970012000126 · Derivativos/hedge · Operações em derivativos expressamente vedadas · data/raw/41970012000126/1302706_regulamento.pdf · ID Fundos.NET 1302706 · 27/08/2026 · regulamento · p. 43 · https://fnet.bmfbovespa.com.br/fnet/publico/visualizarDocumento?id=1302706 · Observação: Versão agosto/2026 substitui referência heurística antiga a derivativos de liquidez até 20%.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55471753000177 · PDD · Gatilho contratual específico de PDD não localizado; usar PDD/crédito como indicador agregado · Fundos.NET ID 704724 | 25/07/2024 | Regulamento | p. 1, Anexo e avaliação metodológica da revisão | data/raw/55471753000177/704724_review_20261007.pdf | https://fnet.bmfbovespa.com.br/fnet/publico/visualizarDocumento?id=704724 · Observação: Sem limite automático de PDD inferido; regra contratual deve ser conciliada separadamente.</a:t>
            </a:r>
          </a:p>
          <a:p>
            <a:r>
              <a:t>CNPJ 63572282000111 · PDD · Gatilho contratual específico de PDD não localizado; usar PDD/crédito como indicador agregado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28472333000132 · PDD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PDD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PDD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PDD · PDD contábil deduzida no preço da opção de compra dos créditos; limite percentual próprio não localizado · data/raw/41970012000126/1302706_regulamento.pdf · ID Fundos.NET 1302706 · 27/08/2026 · regulamento · p. 42 · 5.1.6.3 · https://fnet.bmfbovespa.com.br/fnet/publico/visualizarDocumento?id=1302706 · Observação: PDD/crédito é indicador agregado; não replica evento contratual ou valor devido em cessão.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Subordinação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Subordinação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55471753000177 · Eventos de avaliação · Reservas, subordinação, prestação/lastro, solvência e obrigações de Mercado Pago/Mercado Crédito · Fundos.NET ID 704724 | 25/07/2024 | Regulamento | p. 113, eventosavaliação | data/raw/55471753000177/704724_review_20261007.pdf | https://fnet.bmfbovespa.com.br/fnet/publico/visualizarDocumento?id=704724 · Observação: Parte dos eventos depende de comunicação do cedente/devedor; IME público não os replica.</a:t>
            </a:r>
          </a:p>
          <a:p>
            <a:r>
              <a:t>CNPJ 63572282000111 · Eventos de avaliação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Eventos de avaliação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Eventos de avaliação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Eventos de avaliação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Eventos de avaliação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55471753000177 · Liquidação antecipada · Pagamento de cotas não sanado em 2 DU; lastro inexigível &gt;15 dias; inadimplência ≥R$5 mi com cura contratual · Fundos.NET ID 704724; referência 25/07/2024; Regulamento; p. 119–120; 12.1; data/raw/55471753000177/704724_review_20261007.pdf; https://fnet.bmfbovespa.com.br/fnet/publico/visualizarDocumento?id=704724 · Observação: Liquidação sujeita a deliberação em assembleia; inclui insolvência do devedor/Mercado Crédito e substituição de prestadores.</a:t>
            </a:r>
          </a:p>
          <a:p>
            <a:r>
              <a:t>CNPJ 63572282000111 · Liquidação antecipada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Liquidação antecipada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Liquidação antecipada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Liquidação antecipada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Liquidação antecipada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despesas · 3 meses de despesas ordinárias estimadas · Fundos.NET ID 704724 | 25/07/2024 | Regulamento | p. 110, 10.1 reservadeliquidez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despesas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despesas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 de despesas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 de despesas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 de despesas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55471753000177 · Cross default · MercadoLibre: terceiros &gt;US$75 mi; grupo Brasil &gt;R$150 mi; cura 5 DU ou prazo contratual aplicável · Fundos.NET ID 704724; referência 25/07/2024; Regulamento; p. 117; 11.1(xxviii)–(xxix); data/raw/55471753000177/704724_review_20261007.pdf; https://fnet.bmfbovespa.com.br/fnet/publico/visualizarDocumento?id=704724 · Observação: Evento de avaliação documental; devedor e grupo econômico exigem acompanhamento próprio.</a:t>
            </a:r>
          </a:p>
          <a:p>
            <a:r>
              <a:t>CNPJ 63572282000111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Cross default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Cross default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Cross default · Endividamento do Mercado Pago: inadimplemento/aceleração &gt;US$75 milhões; observar cura · data/raw/37511828000114/1200490_regulamento.pdf · ID Fundos.NET 1200490 · 27/03/2026 · regulamento · p. 88 · 13.1(xviii) · https://fnet.bmfbovespa.com.br/fnet/publico/visualizarDocumento?id=1200490 · Observação: Extenso informa setenta e cinco milhões; numeral extraído “US$75.000.00,00” está malformado. Confirmar instrumento antes de alerta automático.</a:t>
            </a:r>
          </a:p>
          <a:p>
            <a:r>
              <a:t>CNPJ 41970012000126 · Cross default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55471753000177 · Índice de cobertura · Sênior/mezanino ≥1,00; avaliação após 2 referências consecutivas ou 4 alternadas em 12 meses · Fundos.NET ID 704724; referência 25/07/2024; Regulamento; p. 117/136; 11.1(xxvi); Suplemento I; data/raw/55471753000177/704724_review_20261007.pdf; https://fnet.bmfbovespa.com.br/fnet/publico/visualizarDocumento?id=704724 · Observação: Usa valor presente, potencial de aquisição, ponderação, disponibilidades e comissões; IME agregado não replica.</a:t>
            </a:r>
          </a:p>
          <a:p>
            <a:r>
              <a:t>CNPJ 63572282000111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cobertura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cobertura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cobertura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cobertura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liquidez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Índice de liquidez · ≥1,00 pro forma para novas emissões; fluxos a CDI, potencial de aquisição e despesas na fórmula · Fundos.NET ID 704724; referência 25/07/2024; Regulamento; p. 104/137; 8.1.22(iv); Suplemento I; data/raw/55471753000177/704724_review_20261007.pdf; https://fnet.bmfbovespa.com.br/fnet/publico/visualizarDocumento?id=704724 · Observação: Validação manual com projeções de recebíveis/cotas e horizonte de liquidez; caixa/PL é proxy parcial.</a:t>
            </a:r>
          </a:p>
          <a:p>
            <a:r>
              <a:t>CNPJ 63572282000111 · Índice de liquidez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liquidez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liquidez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liquidez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liquidez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Devolução de pagamentos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Devolução de pagamentos · &gt;4% por 2 meses consecutivos ou 3 alternados em 12 meses; ou &gt;5% em qualquer mês · Fundos.NET ID 704724; referência 25/07/2024; Regulamento; p. 136; Suplemento I; data/raw/55471753000177/704724_review_20261007.pdf; https://fnet.bmfbovespa.com.br/fnet/publico/visualizarDocumento?id=704724 · Observação: Face devolvida no mês anterior / PL do último DU anterior; motivo jurídico e base não equivalem a recompras/crédito do IME.</a:t>
            </a:r>
          </a:p>
          <a:p>
            <a:r>
              <a:t>CNPJ 63572282000111 · Devolução de pagamentos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Devolução de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Devolução de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Devolução de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Devolução de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Resolução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Resolução de cessão · &gt;2% por 2 meses consecutivos ou 3 alternados em 12 meses; ou &gt;5% em qualquer mês · Fundos.NET ID 704724; referência 25/07/2024; Regulamento; p. 137–138; Suplemento I; data/raw/55471753000177/704724_review_20261007.pdf; https://fnet.bmfbovespa.com.br/fnet/publico/visualizarDocumento?id=704724 · Observação: Face dos créditos resolvidos no mês anterior / PL anterior; não replicável pelo IME público.</a:t>
            </a:r>
          </a:p>
          <a:p>
            <a:r>
              <a:t>CNPJ 63572282000111 · Resolução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Resolução de cessão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Resolução de cessão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Resolução de cessão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Resolução de cessão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Subordinação mínima · Júnior / PL ≥33,3% · Fundos.NET ID 704724 | 25/07/2024 | Regulamento | p. 106, 8.8 índicedesubordinação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Subordinação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mínima · Júnior/PL ≥ 30%; pode cair a 20% com rating sênior ≥ AA e atraso histórico &lt; 7% · data/raw/28472333000132/732140_regulamento.pdf · ID Fundos.NET 732140 · 03/09/2024 · regulamento · p. 28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Subordinação mínima · Piso dinâmico: 25%, 30% ou 35%, conforme rentabilidade excedente média de três meses · data/raw/33254370000104/1128340_regulamento.pdf · ID Fundos.NET 1128340 · 03/03/2026 · regulamento · p. 43 · https://fnet.bmfbovespa.com.br/fnet/publico/visualizarDocumento?id=1128340 · Observação: O número 7% é rentabilidade excedente anual, não piso de subordinadas. Reconciliar índice de subordinação e base nos apêndices.</a:t>
            </a:r>
          </a:p>
          <a:p>
            <a:r>
              <a:t>CNPJ 37511828000114 · Subordinação mínima · Júnior ≥ 10% PL, com majorações condicionais por excesso de juros e perdas · data/raw/37511828000114/1200490_regulamento.pdf · ID Fundos.NET 1200490 · 27/03/2026 · regulamento · p. 42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Subordinação mínima · Júnior ≥ 10% PL; eventos de step-down majoram a proteção · data/raw/41970012000126/1302706_regulamento.pdf · ID Fundos.NET 1302706 · 27/08/2026 · regulamento · p. 32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Gatilhos de avaliação/liquidação · Reservas, subordinação, cobertura, lastro, pagamentos e cross default; hipóteses e cura detalhadas abaixo · Fundos.NET ID 704724; referência 25/07/2024; Regulamento; p. 119–120; 12.1;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Gatilhos de avaliação/liquidação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Gatilhos de avaliação/liquidação · Alocação &lt; 50% por 30 dias; relação mínima sem cura em 30 dias; inelegibilidade sem solução em 10 dias · data/raw/28472333000132/732140_regulamento.pdf · ID Fundos.NET 732140 · 03/09/2024 · regulamento · p. 36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Gatilhos de avaliação/liquidação · Excesso de spread &lt; 0,01% acelera sênior; safras de veículos: Over30 MOB3 &gt; 5,5% ou Over60 MOB6 &gt; 6,5% em 2 de 6 safras · data/raw/33254370000104/1128340_regulamento.pdf · ID Fundos.NET 1128340 · 03/03/2026 · regulamento · p. 50 e 55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Gatilhos de avaliação/liquidação · Índice histórico comerciante: avaliação 8%; amortização acelerada 7%; tabelas MOB adicionais · data/raw/37511828000114/1200490_regulamento.pdf · ID Fundos.NET 1200490 · 27/03/2026 · regulamento · p. 33 e 92 · https://fnet.bmfbovespa.com.br/fnet/publico/visualizarDocumento?id=1200490 · Observação: Índice histórico e safras MOB não correspondem diretamente ao aging agregado do IME.</a:t>
            </a:r>
          </a:p>
          <a:p>
            <a:r>
              <a:t>CNPJ 41970012000126 · Gatilhos de avaliação/liquidação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caixa · 100% da próxima amortização: acumular D-45; integral D-10 ; remuneração D-10/integral D-5 · Fundos.NET ID 704724 | 25/07/2024 | Regulamento | p. 111, 10.1.4 reservadecaixa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caixa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caixa · Reserva de amortização: valor total da 1ª série sênior em circulação + R$5 milhões · data/raw/28472333000132/732140_regulamento.pdf · ID Fundos.NET 732140 · 03/09/2024 · regulamento · p. 33 · 12.2.1 · https://fnet.bmfbovespa.com.br/fnet/publico/visualizarDocumento?id=732140 · Observação: Constituição exclusivamente em ativos financeiros; não converter em percentual do PL.</a:t>
            </a:r>
          </a:p>
          <a:p>
            <a:r>
              <a:t>CNPJ 33254370000104 · Reserva de caixa · Reserva de remuneração sênior: remuneração + principal, quando aplicável, das próximas 3 datas · data/raw/33254370000104/1128340_regulamento.pdf · ID Fundos.NET 1128340 · 03/03/2026 · regulamento · p. 47 · 13.3 · https://fnet.bmfbovespa.com.br/fnet/publico/visualizarDocumento?id=1128340 · Observação: Requer cronograma por série; caixa/PL é proxy parcial.</a:t>
            </a:r>
          </a:p>
          <a:p>
            <a:r>
              <a:t>CNPJ 37511828000114 · Reserva de caixa · Reserva de despesas de 0,20% PL; recompor se saldo &lt; 50% do valor requerido · data/raw/37511828000114/1200490_regulamento.pdf · ID Fundos.NET 1200490 · 27/03/2026 · regulamento · p. 107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Reserva de caixa · Reserva de despesas: 1,05% PL; recomposição diária · data/raw/41970012000126/1302706_regulamento.pdf · ID Fundos.NET 1302706 · 27/08/2026 · p. 102 · https://fnet.bmfbovespa.com.br/fnet/publico/visualizarDocumento?id=1302706 · Observação: Conferir fórmula e janelas de cura no regulamento integral; proxy público agregado não valida todos os eventos.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Derivativos/hedge · Operações em derivativos vedadas · Fundos.NET ID 704724 | 25/07/2024 | Regulamento | p. 61, políticaderivativos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Derivativos/hedge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Derivativos/hedge · Divergência: cláusula 2.9 admite proteção; fator de risco afirma vedação inclusive a hedge · data/raw/28472333000132/732140_regulamento.pdf · ID Fundos.NET 732140 · 03/09/2024 · regulamento · p. 6 e 9 · https://fnet.bmfbovespa.com.br/fnet/publico/visualizarDocumento?id=732140 · Observação: Não ativar controle automático antes de esclarecer a contradição no regulamento.</a:t>
            </a:r>
          </a:p>
          <a:p>
            <a:r>
              <a:t>CNPJ 33254370000104 · Derivativos/hedge · Somente proteção ou mitigação de risco · data/raw/33254370000104/1128340_regulamento.pdf · ID Fundos.NET 1128340 · 03/03/2026 · regulamento · p. 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Derivativos/hedge · Proteção patrimonial/troca de indexador sem risco de capital; proteção de posições à vista · data/raw/37511828000114/1200490_regulamento.pdf · ID Fundos.NET 1200490 · 27/03/2026 · regulamento · p. 50/112 · 5.8; 21.1.1(i) · https://fnet.bmfbovespa.com.br/fnet/publico/visualizarDocumento?id=1200490 · Observação: Validar finalidade, posição coberta e instrumento; IME oferece posição agregada.</a:t>
            </a:r>
          </a:p>
          <a:p>
            <a:r>
              <a:t>CNPJ 41970012000126 · Derivativos/hedge · Operações em derivativos expressamente vedadas · data/raw/41970012000126/1302706_regulamento.pdf · ID Fundos.NET 1302706 · 27/08/2026 · regulamento · p. 43 · https://fnet.bmfbovespa.com.br/fnet/publico/visualizarDocumento?id=1302706 · Observação: Versão agosto/2026 substitui referência heurística antiga a derivativos de liquidez até 20%.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55471753000177 · PDD · Gatilho contratual específico de PDD não localizado; usar PDD/crédito como indicador agregado · Fundos.NET ID 704724 | 25/07/2024 | Regulamento | p. 1, Anexo e avaliação metodológica da revisão | data/raw/55471753000177/704724_review_20261007.pdf | https://fnet.bmfbovespa.com.br/fnet/publico/visualizarDocumento?id=704724 · Observação: Sem limite automático de PDD inferido; regra contratual deve ser conciliada separadamente.</a:t>
            </a:r>
          </a:p>
          <a:p>
            <a:r>
              <a:t>CNPJ 63572282000111 · PDD · Gatilho contratual específico de PDD não localizado; usar PDD/crédito como indicador agregado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28472333000132 · PDD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PDD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PDD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PDD · PDD contábil deduzida no preço da opção de compra dos créditos; limite percentual próprio não localizado · data/raw/41970012000126/1302706_regulamento.pdf · ID Fundos.NET 1302706 · 27/08/2026 · regulamento · p. 42 · 5.1.6.3 · https://fnet.bmfbovespa.com.br/fnet/publico/visualizarDocumento?id=1302706 · Observação: PDD/crédito é indicador agregado; não replica evento contratual ou valor devido em cessão.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Subordinação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Subordinação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55471753000177 · Eventos de avaliação · Reservas, subordinação, prestação/lastro, solvência e obrigações de Mercado Pago/Mercado Crédito · Fundos.NET ID 704724 | 25/07/2024 | Regulamento | p. 113, eventosavaliação | data/raw/55471753000177/704724_review_20261007.pdf | https://fnet.bmfbovespa.com.br/fnet/publico/visualizarDocumento?id=704724 · Observação: Parte dos eventos depende de comunicação do cedente/devedor; IME público não os replica.</a:t>
            </a:r>
          </a:p>
          <a:p>
            <a:r>
              <a:t>CNPJ 63572282000111 · Eventos de avaliação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Eventos de avaliação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Eventos de avaliação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Eventos de avaliação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Eventos de avaliação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55471753000177 · Liquidação antecipada · Pagamento de cotas não sanado em 2 DU; lastro inexigível &gt;15 dias; inadimplência ≥R$5 mi com cura contratual · Fundos.NET ID 704724; referência 25/07/2024; Regulamento; p. 119–120; 12.1; data/raw/55471753000177/704724_review_20261007.pdf; https://fnet.bmfbovespa.com.br/fnet/publico/visualizarDocumento?id=704724 · Observação: Liquidação sujeita a deliberação em assembleia; inclui insolvência do devedor/Mercado Crédito e substituição de prestadores.</a:t>
            </a:r>
          </a:p>
          <a:p>
            <a:r>
              <a:t>CNPJ 63572282000111 · Liquidação antecipada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Liquidação antecipada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Liquidação antecipada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Liquidação antecipada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Liquidação antecipada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despesas · 3 meses de despesas ordinárias estimadas · Fundos.NET ID 704724 | 25/07/2024 | Regulamento | p. 110, 10.1 reservadeliquidez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despesas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despesas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 de despesas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 de despesas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 de despesas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55471753000177 · Cross default · MercadoLibre: terceiros &gt;US$75 mi; grupo Brasil &gt;R$150 mi; cura 5 DU ou prazo contratual aplicável · Fundos.NET ID 704724; referência 25/07/2024; Regulamento; p. 117; 11.1(xxviii)–(xxix); data/raw/55471753000177/704724_review_20261007.pdf; https://fnet.bmfbovespa.com.br/fnet/publico/visualizarDocumento?id=704724 · Observação: Evento de avaliação documental; devedor e grupo econômico exigem acompanhamento próprio.</a:t>
            </a:r>
          </a:p>
          <a:p>
            <a:r>
              <a:t>CNPJ 63572282000111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Cross default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Cross default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Cross default · Endividamento do Mercado Pago: inadimplemento/aceleração &gt;US$75 milhões; observar cura · data/raw/37511828000114/1200490_regulamento.pdf · ID Fundos.NET 1200490 · 27/03/2026 · regulamento · p. 88 · 13.1(xviii) · https://fnet.bmfbovespa.com.br/fnet/publico/visualizarDocumento?id=1200490 · Observação: Extenso informa setenta e cinco milhões; numeral extraído “US$75.000.00,00” está malformado. Confirmar instrumento antes de alerta automático.</a:t>
            </a:r>
          </a:p>
          <a:p>
            <a:r>
              <a:t>CNPJ 41970012000126 · Cross default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55471753000177 · Índice de cobertura · Sênior/mezanino ≥1,00; avaliação após 2 referências consecutivas ou 4 alternadas em 12 meses · Fundos.NET ID 704724; referência 25/07/2024; Regulamento; p. 117/136; 11.1(xxvi); Suplemento I; data/raw/55471753000177/704724_review_20261007.pdf; https://fnet.bmfbovespa.com.br/fnet/publico/visualizarDocumento?id=704724 · Observação: Usa valor presente, potencial de aquisição, ponderação, disponibilidades e comissões; IME agregado não replica.</a:t>
            </a:r>
          </a:p>
          <a:p>
            <a:r>
              <a:t>CNPJ 63572282000111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cobertura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cobertura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cobertura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cobertura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liquidez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Índice de liquidez · ≥1,00 pro forma para novas emissões; fluxos a CDI, potencial de aquisição e despesas na fórmula · Fundos.NET ID 704724; referência 25/07/2024; Regulamento; p. 104/137; 8.1.22(iv); Suplemento I; data/raw/55471753000177/704724_review_20261007.pdf; https://fnet.bmfbovespa.com.br/fnet/publico/visualizarDocumento?id=704724 · Observação: Validação manual com projeções de recebíveis/cotas e horizonte de liquidez; caixa/PL é proxy parcial.</a:t>
            </a:r>
          </a:p>
          <a:p>
            <a:r>
              <a:t>CNPJ 63572282000111 · Índice de liquidez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liquidez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liquidez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liquidez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liquidez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Devolução de pagamentos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Devolução de pagamentos · &gt;4% por 2 meses consecutivos ou 3 alternados em 12 meses; ou &gt;5% em qualquer mês · Fundos.NET ID 704724; referência 25/07/2024; Regulamento; p. 136; Suplemento I; data/raw/55471753000177/704724_review_20261007.pdf; https://fnet.bmfbovespa.com.br/fnet/publico/visualizarDocumento?id=704724 · Observação: Face devolvida no mês anterior / PL do último DU anterior; motivo jurídico e base não equivalem a recompras/crédito do IME.</a:t>
            </a:r>
          </a:p>
          <a:p>
            <a:r>
              <a:t>CNPJ 63572282000111 · Devolução de pagamentos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Devolução de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Devolução de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Devolução de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Devolução de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Resolução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Resolução de cessão · &gt;2% por 2 meses consecutivos ou 3 alternados em 12 meses; ou &gt;5% em qualquer mês · Fundos.NET ID 704724; referência 25/07/2024; Regulamento; p. 137–138; Suplemento I; data/raw/55471753000177/704724_review_20261007.pdf; https://fnet.bmfbovespa.com.br/fnet/publico/visualizarDocumento?id=704724 · Observação: Face dos créditos resolvidos no mês anterior / PL anterior; não replicável pelo IME público.</a:t>
            </a:r>
          </a:p>
          <a:p>
            <a:r>
              <a:t>CNPJ 63572282000111 · Resolução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Resolução de cessão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Resolução de cessão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Resolução de cessão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Resolução de cessão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Subordinação mínima · Júnior / PL ≥33,3% · Fundos.NET ID 704724 | 25/07/2024 | Regulamento | p. 106, 8.8 índicedesubordinação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Subordinação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mínima · Júnior/PL ≥ 30%; pode cair a 20% com rating sênior ≥ AA e atraso histórico &lt; 7% · data/raw/28472333000132/732140_regulamento.pdf · ID Fundos.NET 732140 · 03/09/2024 · regulamento · p. 28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Subordinação mínima · Piso dinâmico: 25%, 30% ou 35%, conforme rentabilidade excedente média de três meses · data/raw/33254370000104/1128340_regulamento.pdf · ID Fundos.NET 1128340 · 03/03/2026 · regulamento · p. 43 · https://fnet.bmfbovespa.com.br/fnet/publico/visualizarDocumento?id=1128340 · Observação: O número 7% é rentabilidade excedente anual, não piso de subordinadas. Reconciliar índice de subordinação e base nos apêndices.</a:t>
            </a:r>
          </a:p>
          <a:p>
            <a:r>
              <a:t>CNPJ 37511828000114 · Subordinação mínima · Júnior ≥ 10% PL, com majorações condicionais por excesso de juros e perdas · data/raw/37511828000114/1200490_regulamento.pdf · ID Fundos.NET 1200490 · 27/03/2026 · regulamento · p. 42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Subordinação mínima · Júnior ≥ 10% PL; eventos de step-down majoram a proteção · data/raw/41970012000126/1302706_regulamento.pdf · ID Fundos.NET 1302706 · 27/08/2026 · regulamento · p. 32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Gatilhos de avaliação/liquidação · Reservas, subordinação, cobertura, lastro, pagamentos e cross default; hipóteses e cura detalhadas abaixo · Fundos.NET ID 704724; referência 25/07/2024; Regulamento; p. 119–120; 12.1;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Gatilhos de avaliação/liquidação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Gatilhos de avaliação/liquidação · Alocação &lt; 50% por 30 dias; relação mínima sem cura em 30 dias; inelegibilidade sem solução em 10 dias · data/raw/28472333000132/732140_regulamento.pdf · ID Fundos.NET 732140 · 03/09/2024 · regulamento · p. 36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Gatilhos de avaliação/liquidação · Excesso de spread &lt; 0,01% acelera sênior; safras de veículos: Over30 MOB3 &gt; 5,5% ou Over60 MOB6 &gt; 6,5% em 2 de 6 safras · data/raw/33254370000104/1128340_regulamento.pdf · ID Fundos.NET 1128340 · 03/03/2026 · regulamento · p. 50 e 55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Gatilhos de avaliação/liquidação · Índice histórico comerciante: avaliação 8%; amortização acelerada 7%; tabelas MOB adicionais · data/raw/37511828000114/1200490_regulamento.pdf · ID Fundos.NET 1200490 · 27/03/2026 · regulamento · p. 33 e 92 · https://fnet.bmfbovespa.com.br/fnet/publico/visualizarDocumento?id=1200490 · Observação: Índice histórico e safras MOB não correspondem diretamente ao aging agregado do IME.</a:t>
            </a:r>
          </a:p>
          <a:p>
            <a:r>
              <a:t>CNPJ 41970012000126 · Gatilhos de avaliação/liquidação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caixa · 100% da próxima amortização: acumular D-45; integral D-10 ; remuneração D-10/integral D-5 · Fundos.NET ID 704724 | 25/07/2024 | Regulamento | p. 111, 10.1.4 reservadecaixa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caixa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caixa · Reserva de amortização: valor total da 1ª série sênior em circulação + R$5 milhões · data/raw/28472333000132/732140_regulamento.pdf · ID Fundos.NET 732140 · 03/09/2024 · regulamento · p. 33 · 12.2.1 · https://fnet.bmfbovespa.com.br/fnet/publico/visualizarDocumento?id=732140 · Observação: Constituição exclusivamente em ativos financeiros; não converter em percentual do PL.</a:t>
            </a:r>
          </a:p>
          <a:p>
            <a:r>
              <a:t>CNPJ 33254370000104 · Reserva de caixa · Reserva de remuneração sênior: remuneração + principal, quando aplicável, das próximas 3 datas · data/raw/33254370000104/1128340_regulamento.pdf · ID Fundos.NET 1128340 · 03/03/2026 · regulamento · p. 47 · 13.3 · https://fnet.bmfbovespa.com.br/fnet/publico/visualizarDocumento?id=1128340 · Observação: Requer cronograma por série; caixa/PL é proxy parcial.</a:t>
            </a:r>
          </a:p>
          <a:p>
            <a:r>
              <a:t>CNPJ 37511828000114 · Reserva de caixa · Reserva de despesas de 0,20% PL; recompor se saldo &lt; 50% do valor requerido · data/raw/37511828000114/1200490_regulamento.pdf · ID Fundos.NET 1200490 · 27/03/2026 · regulamento · p. 107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Reserva de caixa · Reserva de despesas: 1,05% PL; recomposição diária · data/raw/41970012000126/1302706_regulamento.pdf · ID Fundos.NET 1302706 · 27/08/2026 · p. 102 · https://fnet.bmfbovespa.com.br/fnet/publico/visualizarDocumento?id=1302706 · Observação: Conferir fórmula e janelas de cura no regulamento integral; proxy público agregado não valida todos os eventos.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Derivativos/hedge · Operações em derivativos vedadas · Fundos.NET ID 704724 | 25/07/2024 | Regulamento | p. 61, políticaderivativos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Derivativos/hedge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Derivativos/hedge · Divergência: cláusula 2.9 admite proteção; fator de risco afirma vedação inclusive a hedge · data/raw/28472333000132/732140_regulamento.pdf · ID Fundos.NET 732140 · 03/09/2024 · regulamento · p. 6 e 9 · https://fnet.bmfbovespa.com.br/fnet/publico/visualizarDocumento?id=732140 · Observação: Não ativar controle automático antes de esclarecer a contradição no regulamento.</a:t>
            </a:r>
          </a:p>
          <a:p>
            <a:r>
              <a:t>CNPJ 33254370000104 · Derivativos/hedge · Somente proteção ou mitigação de risco · data/raw/33254370000104/1128340_regulamento.pdf · ID Fundos.NET 1128340 · 03/03/2026 · regulamento · p. 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Derivativos/hedge · Proteção patrimonial/troca de indexador sem risco de capital; proteção de posições à vista · data/raw/37511828000114/1200490_regulamento.pdf · ID Fundos.NET 1200490 · 27/03/2026 · regulamento · p. 50/112 · 5.8; 21.1.1(i) · https://fnet.bmfbovespa.com.br/fnet/publico/visualizarDocumento?id=1200490 · Observação: Validar finalidade, posição coberta e instrumento; IME oferece posição agregada.</a:t>
            </a:r>
          </a:p>
          <a:p>
            <a:r>
              <a:t>CNPJ 41970012000126 · Derivativos/hedge · Operações em derivativos expressamente vedadas · data/raw/41970012000126/1302706_regulamento.pdf · ID Fundos.NET 1302706 · 27/08/2026 · regulamento · p. 43 · https://fnet.bmfbovespa.com.br/fnet/publico/visualizarDocumento?id=1302706 · Observação: Versão agosto/2026 substitui referência heurística antiga a derivativos de liquidez até 20%.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55471753000177 · PDD · Gatilho contratual específico de PDD não localizado; usar PDD/crédito como indicador agregado · Fundos.NET ID 704724 | 25/07/2024 | Regulamento | p. 1, Anexo e avaliação metodológica da revisão | data/raw/55471753000177/704724_review_20261007.pdf | https://fnet.bmfbovespa.com.br/fnet/publico/visualizarDocumento?id=704724 · Observação: Sem limite automático de PDD inferido; regra contratual deve ser conciliada separadamente.</a:t>
            </a:r>
          </a:p>
          <a:p>
            <a:r>
              <a:t>CNPJ 63572282000111 · PDD · Gatilho contratual específico de PDD não localizado; usar PDD/crédito como indicador agregado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28472333000132 · PDD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PDD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PDD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PDD · PDD contábil deduzida no preço da opção de compra dos créditos; limite percentual próprio não localizado · data/raw/41970012000126/1302706_regulamento.pdf · ID Fundos.NET 1302706 · 27/08/2026 · regulamento · p. 42 · 5.1.6.3 · https://fnet.bmfbovespa.com.br/fnet/publico/visualizarDocumento?id=1302706 · Observação: PDD/crédito é indicador agregado; não replica evento contratual ou valor devido em cessão.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Subordinação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Subordinação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55471753000177 · Eventos de avaliação · Reservas, subordinação, prestação/lastro, solvência e obrigações de Mercado Pago/Mercado Crédito · Fundos.NET ID 704724 | 25/07/2024 | Regulamento | p. 113, eventosavaliação | data/raw/55471753000177/704724_review_20261007.pdf | https://fnet.bmfbovespa.com.br/fnet/publico/visualizarDocumento?id=704724 · Observação: Parte dos eventos depende de comunicação do cedente/devedor; IME público não os replica.</a:t>
            </a:r>
          </a:p>
          <a:p>
            <a:r>
              <a:t>CNPJ 63572282000111 · Eventos de avaliação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Eventos de avaliação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Eventos de avaliação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Eventos de avaliação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Eventos de avaliação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55471753000177 · Liquidação antecipada · Pagamento de cotas não sanado em 2 DU; lastro inexigível &gt;15 dias; inadimplência ≥R$5 mi com cura contratual · Fundos.NET ID 704724; referência 25/07/2024; Regulamento; p. 119–120; 12.1; data/raw/55471753000177/704724_review_20261007.pdf; https://fnet.bmfbovespa.com.br/fnet/publico/visualizarDocumento?id=704724 · Observação: Liquidação sujeita a deliberação em assembleia; inclui insolvência do devedor/Mercado Crédito e substituição de prestadores.</a:t>
            </a:r>
          </a:p>
          <a:p>
            <a:r>
              <a:t>CNPJ 63572282000111 · Liquidação antecipada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Liquidação antecipada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Liquidação antecipada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Liquidação antecipada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Liquidação antecipada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despesas · 3 meses de despesas ordinárias estimadas · Fundos.NET ID 704724 | 25/07/2024 | Regulamento | p. 110, 10.1 reservadeliquidez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despesas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despesas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 de despesas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 de despesas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 de despesas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55471753000177 · Cross default · MercadoLibre: terceiros &gt;US$75 mi; grupo Brasil &gt;R$150 mi; cura 5 DU ou prazo contratual aplicável · Fundos.NET ID 704724; referência 25/07/2024; Regulamento; p. 117; 11.1(xxviii)–(xxix); data/raw/55471753000177/704724_review_20261007.pdf; https://fnet.bmfbovespa.com.br/fnet/publico/visualizarDocumento?id=704724 · Observação: Evento de avaliação documental; devedor e grupo econômico exigem acompanhamento próprio.</a:t>
            </a:r>
          </a:p>
          <a:p>
            <a:r>
              <a:t>CNPJ 63572282000111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Cross default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Cross default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Cross default · Endividamento do Mercado Pago: inadimplemento/aceleração &gt;US$75 milhões; observar cura · data/raw/37511828000114/1200490_regulamento.pdf · ID Fundos.NET 1200490 · 27/03/2026 · regulamento · p. 88 · 13.1(xviii) · https://fnet.bmfbovespa.com.br/fnet/publico/visualizarDocumento?id=1200490 · Observação: Extenso informa setenta e cinco milhões; numeral extraído “US$75.000.00,00” está malformado. Confirmar instrumento antes de alerta automático.</a:t>
            </a:r>
          </a:p>
          <a:p>
            <a:r>
              <a:t>CNPJ 41970012000126 · Cross default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55471753000177 · Índice de cobertura · Sênior/mezanino ≥1,00; avaliação após 2 referências consecutivas ou 4 alternadas em 12 meses · Fundos.NET ID 704724; referência 25/07/2024; Regulamento; p. 117/136; 11.1(xxvi); Suplemento I; data/raw/55471753000177/704724_review_20261007.pdf; https://fnet.bmfbovespa.com.br/fnet/publico/visualizarDocumento?id=704724 · Observação: Usa valor presente, potencial de aquisição, ponderação, disponibilidades e comissões; IME agregado não replica.</a:t>
            </a:r>
          </a:p>
          <a:p>
            <a:r>
              <a:t>CNPJ 63572282000111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cobertura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cobertura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cobertura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cobertura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liquidez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Índice de liquidez · ≥1,00 pro forma para novas emissões; fluxos a CDI, potencial de aquisição e despesas na fórmula · Fundos.NET ID 704724; referência 25/07/2024; Regulamento; p. 104/137; 8.1.22(iv); Suplemento I; data/raw/55471753000177/704724_review_20261007.pdf; https://fnet.bmfbovespa.com.br/fnet/publico/visualizarDocumento?id=704724 · Observação: Validação manual com projeções de recebíveis/cotas e horizonte de liquidez; caixa/PL é proxy parcial.</a:t>
            </a:r>
          </a:p>
          <a:p>
            <a:r>
              <a:t>CNPJ 63572282000111 · Índice de liquidez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liquidez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liquidez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liquidez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liquidez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Devolução de pagamentos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Devolução de pagamentos · &gt;4% por 2 meses consecutivos ou 3 alternados em 12 meses; ou &gt;5% em qualquer mês · Fundos.NET ID 704724; referência 25/07/2024; Regulamento; p. 136; Suplemento I; data/raw/55471753000177/704724_review_20261007.pdf; https://fnet.bmfbovespa.com.br/fnet/publico/visualizarDocumento?id=704724 · Observação: Face devolvida no mês anterior / PL do último DU anterior; motivo jurídico e base não equivalem a recompras/crédito do IME.</a:t>
            </a:r>
          </a:p>
          <a:p>
            <a:r>
              <a:t>CNPJ 63572282000111 · Devolução de pagamentos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Devolução de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Devolução de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Devolução de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Devolução de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Resolução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Resolução de cessão · &gt;2% por 2 meses consecutivos ou 3 alternados em 12 meses; ou &gt;5% em qualquer mês · Fundos.NET ID 704724; referência 25/07/2024; Regulamento; p. 137–138; Suplemento I; data/raw/55471753000177/704724_review_20261007.pdf; https://fnet.bmfbovespa.com.br/fnet/publico/visualizarDocumento?id=704724 · Observação: Face dos créditos resolvidos no mês anterior / PL anterior; não replicável pelo IME público.</a:t>
            </a:r>
          </a:p>
          <a:p>
            <a:r>
              <a:t>CNPJ 63572282000111 · Resolução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Resolução de cessão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Resolução de cessão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Resolução de cessão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Resolução de cessão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Subordinação mínima · Júnior / PL ≥33,3% · Fundos.NET ID 704724 | 25/07/2024 | Regulamento | p. 106, 8.8 índicedesubordinação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Subordinação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mínima · Júnior/PL ≥ 30%; pode cair a 20% com rating sênior ≥ AA e atraso histórico &lt; 7% · data/raw/28472333000132/732140_regulamento.pdf · ID Fundos.NET 732140 · 03/09/2024 · regulamento · p. 28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Subordinação mínima · Piso dinâmico: 25%, 30% ou 35%, conforme rentabilidade excedente média de três meses · data/raw/33254370000104/1128340_regulamento.pdf · ID Fundos.NET 1128340 · 03/03/2026 · regulamento · p. 43 · https://fnet.bmfbovespa.com.br/fnet/publico/visualizarDocumento?id=1128340 · Observação: O número 7% é rentabilidade excedente anual, não piso de subordinadas. Reconciliar índice de subordinação e base nos apêndices.</a:t>
            </a:r>
          </a:p>
          <a:p>
            <a:r>
              <a:t>CNPJ 37511828000114 · Subordinação mínima · Júnior ≥ 10% PL, com majorações condicionais por excesso de juros e perdas · data/raw/37511828000114/1200490_regulamento.pdf · ID Fundos.NET 1200490 · 27/03/2026 · regulamento · p. 42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Subordinação mínima · Júnior ≥ 10% PL; eventos de step-down majoram a proteção · data/raw/41970012000126/1302706_regulamento.pdf · ID Fundos.NET 1302706 · 27/08/2026 · regulamento · p. 32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Gatilhos de avaliação/liquidação · Reservas, subordinação, cobertura, lastro, pagamentos e cross default; hipóteses e cura detalhadas abaixo · Fundos.NET ID 704724; referência 25/07/2024; Regulamento; p. 119–120; 12.1;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Gatilhos de avaliação/liquidação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Gatilhos de avaliação/liquidação · Alocação &lt; 50% por 30 dias; relação mínima sem cura em 30 dias; inelegibilidade sem solução em 10 dias · data/raw/28472333000132/732140_regulamento.pdf · ID Fundos.NET 732140 · 03/09/2024 · regulamento · p. 36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Gatilhos de avaliação/liquidação · Excesso de spread &lt; 0,01% acelera sênior; safras de veículos: Over30 MOB3 &gt; 5,5% ou Over60 MOB6 &gt; 6,5% em 2 de 6 safras · data/raw/33254370000104/1128340_regulamento.pdf · ID Fundos.NET 1128340 · 03/03/2026 · regulamento · p. 50 e 55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Gatilhos de avaliação/liquidação · Índice histórico comerciante: avaliação 8%; amortização acelerada 7%; tabelas MOB adicionais · data/raw/37511828000114/1200490_regulamento.pdf · ID Fundos.NET 1200490 · 27/03/2026 · regulamento · p. 33 e 92 · https://fnet.bmfbovespa.com.br/fnet/publico/visualizarDocumento?id=1200490 · Observação: Índice histórico e safras MOB não correspondem diretamente ao aging agregado do IME.</a:t>
            </a:r>
          </a:p>
          <a:p>
            <a:r>
              <a:t>CNPJ 41970012000126 · Gatilhos de avaliação/liquidação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caixa · 100% da próxima amortização: acumular D-45; integral D-10 ; remuneração D-10/integral D-5 · Fundos.NET ID 704724 | 25/07/2024 | Regulamento | p. 111, 10.1.4 reservadecaixa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caixa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caixa · Reserva de amortização: valor total da 1ª série sênior em circulação + R$5 milhões · data/raw/28472333000132/732140_regulamento.pdf · ID Fundos.NET 732140 · 03/09/2024 · regulamento · p. 33 · 12.2.1 · https://fnet.bmfbovespa.com.br/fnet/publico/visualizarDocumento?id=732140 · Observação: Constituição exclusivamente em ativos financeiros; não converter em percentual do PL.</a:t>
            </a:r>
          </a:p>
          <a:p>
            <a:r>
              <a:t>CNPJ 33254370000104 · Reserva de caixa · Reserva de remuneração sênior: remuneração + principal, quando aplicável, das próximas 3 datas · data/raw/33254370000104/1128340_regulamento.pdf · ID Fundos.NET 1128340 · 03/03/2026 · regulamento · p. 47 · 13.3 · https://fnet.bmfbovespa.com.br/fnet/publico/visualizarDocumento?id=1128340 · Observação: Requer cronograma por série; caixa/PL é proxy parcial.</a:t>
            </a:r>
          </a:p>
          <a:p>
            <a:r>
              <a:t>CNPJ 37511828000114 · Reserva de caixa · Reserva de despesas de 0,20% PL; recompor se saldo &lt; 50% do valor requerido · data/raw/37511828000114/1200490_regulamento.pdf · ID Fundos.NET 1200490 · 27/03/2026 · regulamento · p. 107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Reserva de caixa · Reserva de despesas: 1,05% PL; recomposição diária · data/raw/41970012000126/1302706_regulamento.pdf · ID Fundos.NET 1302706 · 27/08/2026 · p. 102 · https://fnet.bmfbovespa.com.br/fnet/publico/visualizarDocumento?id=1302706 · Observação: Conferir fórmula e janelas de cura no regulamento integral; proxy público agregado não valida todos os eventos.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Derivativos/hedge · Operações em derivativos vedadas · Fundos.NET ID 704724 | 25/07/2024 | Regulamento | p. 61, políticaderivativos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Derivativos/hedge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Derivativos/hedge · Divergência: cláusula 2.9 admite proteção; fator de risco afirma vedação inclusive a hedge · data/raw/28472333000132/732140_regulamento.pdf · ID Fundos.NET 732140 · 03/09/2024 · regulamento · p. 6 e 9 · https://fnet.bmfbovespa.com.br/fnet/publico/visualizarDocumento?id=732140 · Observação: Não ativar controle automático antes de esclarecer a contradição no regulamento.</a:t>
            </a:r>
          </a:p>
          <a:p>
            <a:r>
              <a:t>CNPJ 33254370000104 · Derivativos/hedge · Somente proteção ou mitigação de risco · data/raw/33254370000104/1128340_regulamento.pdf · ID Fundos.NET 1128340 · 03/03/2026 · regulamento · p. 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Derivativos/hedge · Proteção patrimonial/troca de indexador sem risco de capital; proteção de posições à vista · data/raw/37511828000114/1200490_regulamento.pdf · ID Fundos.NET 1200490 · 27/03/2026 · regulamento · p. 50/112 · 5.8; 21.1.1(i) · https://fnet.bmfbovespa.com.br/fnet/publico/visualizarDocumento?id=1200490 · Observação: Validar finalidade, posição coberta e instrumento; IME oferece posição agregada.</a:t>
            </a:r>
          </a:p>
          <a:p>
            <a:r>
              <a:t>CNPJ 41970012000126 · Derivativos/hedge · Operações em derivativos expressamente vedadas · data/raw/41970012000126/1302706_regulamento.pdf · ID Fundos.NET 1302706 · 27/08/2026 · regulamento · p. 43 · https://fnet.bmfbovespa.com.br/fnet/publico/visualizarDocumento?id=1302706 · Observação: Versão agosto/2026 substitui referência heurística antiga a derivativos de liquidez até 20%.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55471753000177 · PDD · Gatilho contratual específico de PDD não localizado; usar PDD/crédito como indicador agregado · Fundos.NET ID 704724 | 25/07/2024 | Regulamento | p. 1, Anexo e avaliação metodológica da revisão | data/raw/55471753000177/704724_review_20261007.pdf | https://fnet.bmfbovespa.com.br/fnet/publico/visualizarDocumento?id=704724 · Observação: Sem limite automático de PDD inferido; regra contratual deve ser conciliada separadamente.</a:t>
            </a:r>
          </a:p>
          <a:p>
            <a:r>
              <a:t>CNPJ 63572282000111 · PDD · Gatilho contratual específico de PDD não localizado; usar PDD/crédito como indicador agregado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28472333000132 · PDD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PDD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PDD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PDD · PDD contábil deduzida no preço da opção de compra dos créditos; limite percentual próprio não localizado · data/raw/41970012000126/1302706_regulamento.pdf · ID Fundos.NET 1302706 · 27/08/2026 · regulamento · p. 42 · 5.1.6.3 · https://fnet.bmfbovespa.com.br/fnet/publico/visualizarDocumento?id=1302706 · Observação: PDD/crédito é indicador agregado; não replica evento contratual ou valor devido em cessão.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Subordinação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Subordinação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55471753000177 · Eventos de avaliação · Reservas, subordinação, prestação/lastro, solvência e obrigações de Mercado Pago/Mercado Crédito · Fundos.NET ID 704724 | 25/07/2024 | Regulamento | p. 113, eventosavaliação | data/raw/55471753000177/704724_review_20261007.pdf | https://fnet.bmfbovespa.com.br/fnet/publico/visualizarDocumento?id=704724 · Observação: Parte dos eventos depende de comunicação do cedente/devedor; IME público não os replica.</a:t>
            </a:r>
          </a:p>
          <a:p>
            <a:r>
              <a:t>CNPJ 63572282000111 · Eventos de avaliação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Eventos de avaliação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Eventos de avaliação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Eventos de avaliação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Eventos de avaliação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55471753000177 · Liquidação antecipada · Pagamento de cotas não sanado em 2 DU; lastro inexigível &gt;15 dias; inadimplência ≥R$5 mi com cura contratual · Fundos.NET ID 704724; referência 25/07/2024; Regulamento; p. 119–120; 12.1; data/raw/55471753000177/704724_review_20261007.pdf; https://fnet.bmfbovespa.com.br/fnet/publico/visualizarDocumento?id=704724 · Observação: Liquidação sujeita a deliberação em assembleia; inclui insolvência do devedor/Mercado Crédito e substituição de prestadores.</a:t>
            </a:r>
          </a:p>
          <a:p>
            <a:r>
              <a:t>CNPJ 63572282000111 · Liquidação antecipada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Liquidação antecipada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Liquidação antecipada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Liquidação antecipada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Liquidação antecipada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despesas · 3 meses de despesas ordinárias estimadas · Fundos.NET ID 704724 | 25/07/2024 | Regulamento | p. 110, 10.1 reservadeliquidez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despesas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despesas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 de despesas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 de despesas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 de despesas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55471753000177 · Cross default · MercadoLibre: terceiros &gt;US$75 mi; grupo Brasil &gt;R$150 mi; cura 5 DU ou prazo contratual aplicável · Fundos.NET ID 704724; referência 25/07/2024; Regulamento; p. 117; 11.1(xxviii)–(xxix); data/raw/55471753000177/704724_review_20261007.pdf; https://fnet.bmfbovespa.com.br/fnet/publico/visualizarDocumento?id=704724 · Observação: Evento de avaliação documental; devedor e grupo econômico exigem acompanhamento próprio.</a:t>
            </a:r>
          </a:p>
          <a:p>
            <a:r>
              <a:t>CNPJ 63572282000111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Cross default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Cross default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Cross default · Endividamento do Mercado Pago: inadimplemento/aceleração &gt;US$75 milhões; observar cura · data/raw/37511828000114/1200490_regulamento.pdf · ID Fundos.NET 1200490 · 27/03/2026 · regulamento · p. 88 · 13.1(xviii) · https://fnet.bmfbovespa.com.br/fnet/publico/visualizarDocumento?id=1200490 · Observação: Extenso informa setenta e cinco milhões; numeral extraído “US$75.000.00,00” está malformado. Confirmar instrumento antes de alerta automático.</a:t>
            </a:r>
          </a:p>
          <a:p>
            <a:r>
              <a:t>CNPJ 41970012000126 · Cross default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55471753000177 · Índice de cobertura · Sênior/mezanino ≥1,00; avaliação após 2 referências consecutivas ou 4 alternadas em 12 meses · Fundos.NET ID 704724; referência 25/07/2024; Regulamento; p. 117/136; 11.1(xxvi); Suplemento I; data/raw/55471753000177/704724_review_20261007.pdf; https://fnet.bmfbovespa.com.br/fnet/publico/visualizarDocumento?id=704724 · Observação: Usa valor presente, potencial de aquisição, ponderação, disponibilidades e comissões; IME agregado não replica.</a:t>
            </a:r>
          </a:p>
          <a:p>
            <a:r>
              <a:t>CNPJ 63572282000111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cobertura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cobertura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cobertura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cobertura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liquidez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Índice de liquidez · ≥1,00 pro forma para novas emissões; fluxos a CDI, potencial de aquisição e despesas na fórmula · Fundos.NET ID 704724; referência 25/07/2024; Regulamento; p. 104/137; 8.1.22(iv); Suplemento I; data/raw/55471753000177/704724_review_20261007.pdf; https://fnet.bmfbovespa.com.br/fnet/publico/visualizarDocumento?id=704724 · Observação: Validação manual com projeções de recebíveis/cotas e horizonte de liquidez; caixa/PL é proxy parcial.</a:t>
            </a:r>
          </a:p>
          <a:p>
            <a:r>
              <a:t>CNPJ 63572282000111 · Índice de liquidez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liquidez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liquidez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liquidez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liquidez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Devolução de pagamentos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Devolução de pagamentos · &gt;4% por 2 meses consecutivos ou 3 alternados em 12 meses; ou &gt;5% em qualquer mês · Fundos.NET ID 704724; referência 25/07/2024; Regulamento; p. 136; Suplemento I; data/raw/55471753000177/704724_review_20261007.pdf; https://fnet.bmfbovespa.com.br/fnet/publico/visualizarDocumento?id=704724 · Observação: Face devolvida no mês anterior / PL do último DU anterior; motivo jurídico e base não equivalem a recompras/crédito do IME.</a:t>
            </a:r>
          </a:p>
          <a:p>
            <a:r>
              <a:t>CNPJ 63572282000111 · Devolução de pagamentos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Devolução de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Devolução de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Devolução de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Devolução de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Resolução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Resolução de cessão · &gt;2% por 2 meses consecutivos ou 3 alternados em 12 meses; ou &gt;5% em qualquer mês · Fundos.NET ID 704724; referência 25/07/2024; Regulamento; p. 137–138; Suplemento I; data/raw/55471753000177/704724_review_20261007.pdf; https://fnet.bmfbovespa.com.br/fnet/publico/visualizarDocumento?id=704724 · Observação: Face dos créditos resolvidos no mês anterior / PL anterior; não replicável pelo IME público.</a:t>
            </a:r>
          </a:p>
          <a:p>
            <a:r>
              <a:t>CNPJ 63572282000111 · Resolução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Resolução de cessão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Resolução de cessão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Resolução de cessão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Resolução de cessão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Subordinação mínima · Júnior / PL ≥33,3% · Fundos.NET ID 704724 | 25/07/2024 | Regulamento | p. 106, 8.8 índicedesubordinação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Subordinação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mínima · Júnior/PL ≥ 30%; pode cair a 20% com rating sênior ≥ AA e atraso histórico &lt; 7% · data/raw/28472333000132/732140_regulamento.pdf · ID Fundos.NET 732140 · 03/09/2024 · regulamento · p. 28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Subordinação mínima · Piso dinâmico: 25%, 30% ou 35%, conforme rentabilidade excedente média de três meses · data/raw/33254370000104/1128340_regulamento.pdf · ID Fundos.NET 1128340 · 03/03/2026 · regulamento · p. 43 · https://fnet.bmfbovespa.com.br/fnet/publico/visualizarDocumento?id=1128340 · Observação: O número 7% é rentabilidade excedente anual, não piso de subordinadas. Reconciliar índice de subordinação e base nos apêndices.</a:t>
            </a:r>
          </a:p>
          <a:p>
            <a:r>
              <a:t>CNPJ 37511828000114 · Subordinação mínima · Júnior ≥ 10% PL, com majorações condicionais por excesso de juros e perdas · data/raw/37511828000114/1200490_regulamento.pdf · ID Fundos.NET 1200490 · 27/03/2026 · regulamento · p. 42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Subordinação mínima · Júnior ≥ 10% PL; eventos de step-down majoram a proteção · data/raw/41970012000126/1302706_regulamento.pdf · ID Fundos.NET 1302706 · 27/08/2026 · regulamento · p. 32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Gatilhos de avaliação/liquidação · Reservas, subordinação, cobertura, lastro, pagamentos e cross default; hipóteses e cura detalhadas abaixo · Fundos.NET ID 704724; referência 25/07/2024; Regulamento; p. 119–120; 12.1;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Gatilhos de avaliação/liquidação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Gatilhos de avaliação/liquidação · Alocação &lt; 50% por 30 dias; relação mínima sem cura em 30 dias; inelegibilidade sem solução em 10 dias · data/raw/28472333000132/732140_regulamento.pdf · ID Fundos.NET 732140 · 03/09/2024 · regulamento · p. 36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Gatilhos de avaliação/liquidação · Excesso de spread &lt; 0,01% acelera sênior; safras de veículos: Over30 MOB3 &gt; 5,5% ou Over60 MOB6 &gt; 6,5% em 2 de 6 safras · data/raw/33254370000104/1128340_regulamento.pdf · ID Fundos.NET 1128340 · 03/03/2026 · regulamento · p. 50 e 55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Gatilhos de avaliação/liquidação · Índice histórico comerciante: avaliação 8%; amortização acelerada 7%; tabelas MOB adicionais · data/raw/37511828000114/1200490_regulamento.pdf · ID Fundos.NET 1200490 · 27/03/2026 · regulamento · p. 33 e 92 · https://fnet.bmfbovespa.com.br/fnet/publico/visualizarDocumento?id=1200490 · Observação: Índice histórico e safras MOB não correspondem diretamente ao aging agregado do IME.</a:t>
            </a:r>
          </a:p>
          <a:p>
            <a:r>
              <a:t>CNPJ 41970012000126 · Gatilhos de avaliação/liquidação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caixa · 100% da próxima amortização: acumular D-45; integral D-10 ; remuneração D-10/integral D-5 · Fundos.NET ID 704724 | 25/07/2024 | Regulamento | p. 111, 10.1.4 reservadecaixa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caixa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caixa · Reserva de amortização: valor total da 1ª série sênior em circulação + R$5 milhões · data/raw/28472333000132/732140_regulamento.pdf · ID Fundos.NET 732140 · 03/09/2024 · regulamento · p. 33 · 12.2.1 · https://fnet.bmfbovespa.com.br/fnet/publico/visualizarDocumento?id=732140 · Observação: Constituição exclusivamente em ativos financeiros; não converter em percentual do PL.</a:t>
            </a:r>
          </a:p>
          <a:p>
            <a:r>
              <a:t>CNPJ 33254370000104 · Reserva de caixa · Reserva de remuneração sênior: remuneração + principal, quando aplicável, das próximas 3 datas · data/raw/33254370000104/1128340_regulamento.pdf · ID Fundos.NET 1128340 · 03/03/2026 · regulamento · p. 47 · 13.3 · https://fnet.bmfbovespa.com.br/fnet/publico/visualizarDocumento?id=1128340 · Observação: Requer cronograma por série; caixa/PL é proxy parcial.</a:t>
            </a:r>
          </a:p>
          <a:p>
            <a:r>
              <a:t>CNPJ 37511828000114 · Reserva de caixa · Reserva de despesas de 0,20% PL; recompor se saldo &lt; 50% do valor requerido · data/raw/37511828000114/1200490_regulamento.pdf · ID Fundos.NET 1200490 · 27/03/2026 · regulamento · p. 107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Reserva de caixa · Reserva de despesas: 1,05% PL; recomposição diária · data/raw/41970012000126/1302706_regulamento.pdf · ID Fundos.NET 1302706 · 27/08/2026 · p. 102 · https://fnet.bmfbovespa.com.br/fnet/publico/visualizarDocumento?id=1302706 · Observação: Conferir fórmula e janelas de cura no regulamento integral; proxy público agregado não valida todos os eventos.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Derivativos/hedge · Operações em derivativos vedadas · Fundos.NET ID 704724 | 25/07/2024 | Regulamento | p. 61, políticaderivativos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Derivativos/hedge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Derivativos/hedge · Divergência: cláusula 2.9 admite proteção; fator de risco afirma vedação inclusive a hedge · data/raw/28472333000132/732140_regulamento.pdf · ID Fundos.NET 732140 · 03/09/2024 · regulamento · p. 6 e 9 · https://fnet.bmfbovespa.com.br/fnet/publico/visualizarDocumento?id=732140 · Observação: Não ativar controle automático antes de esclarecer a contradição no regulamento.</a:t>
            </a:r>
          </a:p>
          <a:p>
            <a:r>
              <a:t>CNPJ 33254370000104 · Derivativos/hedge · Somente proteção ou mitigação de risco · data/raw/33254370000104/1128340_regulamento.pdf · ID Fundos.NET 1128340 · 03/03/2026 · regulamento · p. 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Derivativos/hedge · Proteção patrimonial/troca de indexador sem risco de capital; proteção de posições à vista · data/raw/37511828000114/1200490_regulamento.pdf · ID Fundos.NET 1200490 · 27/03/2026 · regulamento · p. 50/112 · 5.8; 21.1.1(i) · https://fnet.bmfbovespa.com.br/fnet/publico/visualizarDocumento?id=1200490 · Observação: Validar finalidade, posição coberta e instrumento; IME oferece posição agregada.</a:t>
            </a:r>
          </a:p>
          <a:p>
            <a:r>
              <a:t>CNPJ 41970012000126 · Derivativos/hedge · Operações em derivativos expressamente vedadas · data/raw/41970012000126/1302706_regulamento.pdf · ID Fundos.NET 1302706 · 27/08/2026 · regulamento · p. 43 · https://fnet.bmfbovespa.com.br/fnet/publico/visualizarDocumento?id=1302706 · Observação: Versão agosto/2026 substitui referência heurística antiga a derivativos de liquidez até 20%.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55471753000177 · PDD · Gatilho contratual específico de PDD não localizado; usar PDD/crédito como indicador agregado · Fundos.NET ID 704724 | 25/07/2024 | Regulamento | p. 1, Anexo e avaliação metodológica da revisão | data/raw/55471753000177/704724_review_20261007.pdf | https://fnet.bmfbovespa.com.br/fnet/publico/visualizarDocumento?id=704724 · Observação: Sem limite automático de PDD inferido; regra contratual deve ser conciliada separadamente.</a:t>
            </a:r>
          </a:p>
          <a:p>
            <a:r>
              <a:t>CNPJ 63572282000111 · PDD · Gatilho contratual específico de PDD não localizado; usar PDD/crédito como indicador agregado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28472333000132 · PDD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PDD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PDD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PDD · PDD contábil deduzida no preço da opção de compra dos créditos; limite percentual próprio não localizado · data/raw/41970012000126/1302706_regulamento.pdf · ID Fundos.NET 1302706 · 27/08/2026 · regulamento · p. 42 · 5.1.6.3 · https://fnet.bmfbovespa.com.br/fnet/publico/visualizarDocumento?id=1302706 · Observação: PDD/crédito é indicador agregado; não replica evento contratual ou valor devido em cessão.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Subordinação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Subordinação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55471753000177 · Eventos de avaliação · Reservas, subordinação, prestação/lastro, solvência e obrigações de Mercado Pago/Mercado Crédito · Fundos.NET ID 704724 | 25/07/2024 | Regulamento | p. 113, eventosavaliação | data/raw/55471753000177/704724_review_20261007.pdf | https://fnet.bmfbovespa.com.br/fnet/publico/visualizarDocumento?id=704724 · Observação: Parte dos eventos depende de comunicação do cedente/devedor; IME público não os replica.</a:t>
            </a:r>
          </a:p>
          <a:p>
            <a:r>
              <a:t>CNPJ 63572282000111 · Eventos de avaliação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Eventos de avaliação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Eventos de avaliação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Eventos de avaliação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Eventos de avaliação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55471753000177 · Liquidação antecipada · Pagamento de cotas não sanado em 2 DU; lastro inexigível &gt;15 dias; inadimplência ≥R$5 mi com cura contratual · Fundos.NET ID 704724; referência 25/07/2024; Regulamento; p. 119–120; 12.1; data/raw/55471753000177/704724_review_20261007.pdf; https://fnet.bmfbovespa.com.br/fnet/publico/visualizarDocumento?id=704724 · Observação: Liquidação sujeita a deliberação em assembleia; inclui insolvência do devedor/Mercado Crédito e substituição de prestadores.</a:t>
            </a:r>
          </a:p>
          <a:p>
            <a:r>
              <a:t>CNPJ 63572282000111 · Liquidação antecipada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Liquidação antecipada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Liquidação antecipada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Liquidação antecipada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Liquidação antecipada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despesas · 3 meses de despesas ordinárias estimadas · Fundos.NET ID 704724 | 25/07/2024 | Regulamento | p. 110, 10.1 reservadeliquidez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despesas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despesas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 de despesas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 de despesas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 de despesas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55471753000177 · Cross default · MercadoLibre: terceiros &gt;US$75 mi; grupo Brasil &gt;R$150 mi; cura 5 DU ou prazo contratual aplicável · Fundos.NET ID 704724; referência 25/07/2024; Regulamento; p. 117; 11.1(xxviii)–(xxix); data/raw/55471753000177/704724_review_20261007.pdf; https://fnet.bmfbovespa.com.br/fnet/publico/visualizarDocumento?id=704724 · Observação: Evento de avaliação documental; devedor e grupo econômico exigem acompanhamento próprio.</a:t>
            </a:r>
          </a:p>
          <a:p>
            <a:r>
              <a:t>CNPJ 63572282000111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Cross default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Cross default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Cross default · Endividamento do Mercado Pago: inadimplemento/aceleração &gt;US$75 milhões; observar cura · data/raw/37511828000114/1200490_regulamento.pdf · ID Fundos.NET 1200490 · 27/03/2026 · regulamento · p. 88 · 13.1(xviii) · https://fnet.bmfbovespa.com.br/fnet/publico/visualizarDocumento?id=1200490 · Observação: Extenso informa setenta e cinco milhões; numeral extraído “US$75.000.00,00” está malformado. Confirmar instrumento antes de alerta automático.</a:t>
            </a:r>
          </a:p>
          <a:p>
            <a:r>
              <a:t>CNPJ 41970012000126 · Cross default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55471753000177 · Índice de cobertura · Sênior/mezanino ≥1,00; avaliação após 2 referências consecutivas ou 4 alternadas em 12 meses · Fundos.NET ID 704724; referência 25/07/2024; Regulamento; p. 117/136; 11.1(xxvi); Suplemento I; data/raw/55471753000177/704724_review_20261007.pdf; https://fnet.bmfbovespa.com.br/fnet/publico/visualizarDocumento?id=704724 · Observação: Usa valor presente, potencial de aquisição, ponderação, disponibilidades e comissões; IME agregado não replica.</a:t>
            </a:r>
          </a:p>
          <a:p>
            <a:r>
              <a:t>CNPJ 63572282000111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cobertura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cobertura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cobertura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cobertura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liquidez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Índice de liquidez · ≥1,00 pro forma para novas emissões; fluxos a CDI, potencial de aquisição e despesas na fórmula · Fundos.NET ID 704724; referência 25/07/2024; Regulamento; p. 104/137; 8.1.22(iv); Suplemento I; data/raw/55471753000177/704724_review_20261007.pdf; https://fnet.bmfbovespa.com.br/fnet/publico/visualizarDocumento?id=704724 · Observação: Validação manual com projeções de recebíveis/cotas e horizonte de liquidez; caixa/PL é proxy parcial.</a:t>
            </a:r>
          </a:p>
          <a:p>
            <a:r>
              <a:t>CNPJ 63572282000111 · Índice de liquidez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liquidez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liquidez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liquidez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liquidez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Devolução de pagamentos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Devolução de pagamentos · &gt;4% por 2 meses consecutivos ou 3 alternados em 12 meses; ou &gt;5% em qualquer mês · Fundos.NET ID 704724; referência 25/07/2024; Regulamento; p. 136; Suplemento I; data/raw/55471753000177/704724_review_20261007.pdf; https://fnet.bmfbovespa.com.br/fnet/publico/visualizarDocumento?id=704724 · Observação: Face devolvida no mês anterior / PL do último DU anterior; motivo jurídico e base não equivalem a recompras/crédito do IME.</a:t>
            </a:r>
          </a:p>
          <a:p>
            <a:r>
              <a:t>CNPJ 63572282000111 · Devolução de pagamentos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Devolução de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Devolução de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Devolução de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Devolução de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Resolução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Resolução de cessão · &gt;2% por 2 meses consecutivos ou 3 alternados em 12 meses; ou &gt;5% em qualquer mês · Fundos.NET ID 704724; referência 25/07/2024; Regulamento; p. 137–138; Suplemento I; data/raw/55471753000177/704724_review_20261007.pdf; https://fnet.bmfbovespa.com.br/fnet/publico/visualizarDocumento?id=704724 · Observação: Face dos créditos resolvidos no mês anterior / PL anterior; não replicável pelo IME público.</a:t>
            </a:r>
          </a:p>
          <a:p>
            <a:r>
              <a:t>CNPJ 63572282000111 · Resolução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Resolução de cessão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Resolução de cessão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Resolução de cessão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Resolução de cessão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Subordinação mínima · Júnior / PL ≥33,3% · Fundos.NET ID 704724 | 25/07/2024 | Regulamento | p. 106, 8.8 índicedesubordinação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Subordinação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mínima · Júnior/PL ≥ 30%; pode cair a 20% com rating sênior ≥ AA e atraso histórico &lt; 7% · data/raw/28472333000132/732140_regulamento.pdf · ID Fundos.NET 732140 · 03/09/2024 · regulamento · p. 28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Subordinação mínima · Piso dinâmico: 25%, 30% ou 35%, conforme rentabilidade excedente média de três meses · data/raw/33254370000104/1128340_regulamento.pdf · ID Fundos.NET 1128340 · 03/03/2026 · regulamento · p. 43 · https://fnet.bmfbovespa.com.br/fnet/publico/visualizarDocumento?id=1128340 · Observação: O número 7% é rentabilidade excedente anual, não piso de subordinadas. Reconciliar índice de subordinação e base nos apêndices.</a:t>
            </a:r>
          </a:p>
          <a:p>
            <a:r>
              <a:t>CNPJ 37511828000114 · Subordinação mínima · Júnior ≥ 10% PL, com majorações condicionais por excesso de juros e perdas · data/raw/37511828000114/1200490_regulamento.pdf · ID Fundos.NET 1200490 · 27/03/2026 · regulamento · p. 42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Subordinação mínima · Júnior ≥ 10% PL; eventos de step-down majoram a proteção · data/raw/41970012000126/1302706_regulamento.pdf · ID Fundos.NET 1302706 · 27/08/2026 · regulamento · p. 32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Gatilhos de avaliação/liquidação · Reservas, subordinação, cobertura, lastro, pagamentos e cross default; hipóteses e cura detalhadas abaixo · Fundos.NET ID 704724; referência 25/07/2024; Regulamento; p. 119–120; 12.1;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Gatilhos de avaliação/liquidação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Gatilhos de avaliação/liquidação · Alocação &lt; 50% por 30 dias; relação mínima sem cura em 30 dias; inelegibilidade sem solução em 10 dias · data/raw/28472333000132/732140_regulamento.pdf · ID Fundos.NET 732140 · 03/09/2024 · regulamento · p. 36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Gatilhos de avaliação/liquidação · Excesso de spread &lt; 0,01% acelera sênior; safras de veículos: Over30 MOB3 &gt; 5,5% ou Over60 MOB6 &gt; 6,5% em 2 de 6 safras · data/raw/33254370000104/1128340_regulamento.pdf · ID Fundos.NET 1128340 · 03/03/2026 · regulamento · p. 50 e 55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Gatilhos de avaliação/liquidação · Índice histórico comerciante: avaliação 8%; amortização acelerada 7%; tabelas MOB adicionais · data/raw/37511828000114/1200490_regulamento.pdf · ID Fundos.NET 1200490 · 27/03/2026 · regulamento · p. 33 e 92 · https://fnet.bmfbovespa.com.br/fnet/publico/visualizarDocumento?id=1200490 · Observação: Índice histórico e safras MOB não correspondem diretamente ao aging agregado do IME.</a:t>
            </a:r>
          </a:p>
          <a:p>
            <a:r>
              <a:t>CNPJ 41970012000126 · Gatilhos de avaliação/liquidação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caixa · 100% da próxima amortização: acumular D-45; integral D-10 ; remuneração D-10/integral D-5 · Fundos.NET ID 704724 | 25/07/2024 | Regulamento | p. 111, 10.1.4 reservadecaixa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caixa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caixa · Reserva de amortização: valor total da 1ª série sênior em circulação + R$5 milhões · data/raw/28472333000132/732140_regulamento.pdf · ID Fundos.NET 732140 · 03/09/2024 · regulamento · p. 33 · 12.2.1 · https://fnet.bmfbovespa.com.br/fnet/publico/visualizarDocumento?id=732140 · Observação: Constituição exclusivamente em ativos financeiros; não converter em percentual do PL.</a:t>
            </a:r>
          </a:p>
          <a:p>
            <a:r>
              <a:t>CNPJ 33254370000104 · Reserva de caixa · Reserva de remuneração sênior: remuneração + principal, quando aplicável, das próximas 3 datas · data/raw/33254370000104/1128340_regulamento.pdf · ID Fundos.NET 1128340 · 03/03/2026 · regulamento · p. 47 · 13.3 · https://fnet.bmfbovespa.com.br/fnet/publico/visualizarDocumento?id=1128340 · Observação: Requer cronograma por série; caixa/PL é proxy parcial.</a:t>
            </a:r>
          </a:p>
          <a:p>
            <a:r>
              <a:t>CNPJ 37511828000114 · Reserva de caixa · Reserva de despesas de 0,20% PL; recompor se saldo &lt; 50% do valor requerido · data/raw/37511828000114/1200490_regulamento.pdf · ID Fundos.NET 1200490 · 27/03/2026 · regulamento · p. 107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Reserva de caixa · Reserva de despesas: 1,05% PL; recomposição diária · data/raw/41970012000126/1302706_regulamento.pdf · ID Fundos.NET 1302706 · 27/08/2026 · p. 102 · https://fnet.bmfbovespa.com.br/fnet/publico/visualizarDocumento?id=1302706 · Observação: Conferir fórmula e janelas de cura no regulamento integral; proxy público agregado não valida todos os eventos.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Derivativos/hedge · Operações em derivativos vedadas · Fundos.NET ID 704724 | 25/07/2024 | Regulamento | p. 61, políticaderivativos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Derivativos/hedge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Derivativos/hedge · Divergência: cláusula 2.9 admite proteção; fator de risco afirma vedação inclusive a hedge · data/raw/28472333000132/732140_regulamento.pdf · ID Fundos.NET 732140 · 03/09/2024 · regulamento · p. 6 e 9 · https://fnet.bmfbovespa.com.br/fnet/publico/visualizarDocumento?id=732140 · Observação: Não ativar controle automático antes de esclarecer a contradição no regulamento.</a:t>
            </a:r>
          </a:p>
          <a:p>
            <a:r>
              <a:t>CNPJ 33254370000104 · Derivativos/hedge · Somente proteção ou mitigação de risco · data/raw/33254370000104/1128340_regulamento.pdf · ID Fundos.NET 1128340 · 03/03/2026 · regulamento · p. 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Derivativos/hedge · Proteção patrimonial/troca de indexador sem risco de capital; proteção de posições à vista · data/raw/37511828000114/1200490_regulamento.pdf · ID Fundos.NET 1200490 · 27/03/2026 · regulamento · p. 50/112 · 5.8; 21.1.1(i) · https://fnet.bmfbovespa.com.br/fnet/publico/visualizarDocumento?id=1200490 · Observação: Validar finalidade, posição coberta e instrumento; IME oferece posição agregada.</a:t>
            </a:r>
          </a:p>
          <a:p>
            <a:r>
              <a:t>CNPJ 41970012000126 · Derivativos/hedge · Operações em derivativos expressamente vedadas · data/raw/41970012000126/1302706_regulamento.pdf · ID Fundos.NET 1302706 · 27/08/2026 · regulamento · p. 43 · https://fnet.bmfbovespa.com.br/fnet/publico/visualizarDocumento?id=1302706 · Observação: Versão agosto/2026 substitui referência heurística antiga a derivativos de liquidez até 20%.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55471753000177 · PDD · Gatilho contratual específico de PDD não localizado; usar PDD/crédito como indicador agregado · Fundos.NET ID 704724 | 25/07/2024 | Regulamento | p. 1, Anexo e avaliação metodológica da revisão | data/raw/55471753000177/704724_review_20261007.pdf | https://fnet.bmfbovespa.com.br/fnet/publico/visualizarDocumento?id=704724 · Observação: Sem limite automático de PDD inferido; regra contratual deve ser conciliada separadamente.</a:t>
            </a:r>
          </a:p>
          <a:p>
            <a:r>
              <a:t>CNPJ 63572282000111 · PDD · Gatilho contratual específico de PDD não localizado; usar PDD/crédito como indicador agregado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28472333000132 · PDD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PDD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PDD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PDD · PDD contábil deduzida no preço da opção de compra dos créditos; limite percentual próprio não localizado · data/raw/41970012000126/1302706_regulamento.pdf · ID Fundos.NET 1302706 · 27/08/2026 · regulamento · p. 42 · 5.1.6.3 · https://fnet.bmfbovespa.com.br/fnet/publico/visualizarDocumento?id=1302706 · Observação: PDD/crédito é indicador agregado; não replica evento contratual ou valor devido em cessão.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Subordinação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Subordinação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55471753000177 · Eventos de avaliação · Reservas, subordinação, prestação/lastro, solvência e obrigações de Mercado Pago/Mercado Crédito · Fundos.NET ID 704724 | 25/07/2024 | Regulamento | p. 113, eventosavaliação | data/raw/55471753000177/704724_review_20261007.pdf | https://fnet.bmfbovespa.com.br/fnet/publico/visualizarDocumento?id=704724 · Observação: Parte dos eventos depende de comunicação do cedente/devedor; IME público não os replica.</a:t>
            </a:r>
          </a:p>
          <a:p>
            <a:r>
              <a:t>CNPJ 63572282000111 · Eventos de avaliação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Eventos de avaliação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Eventos de avaliação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Eventos de avaliação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Eventos de avaliação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55471753000177 · Liquidação antecipada · Pagamento de cotas não sanado em 2 DU; lastro inexigível &gt;15 dias; inadimplência ≥R$5 mi com cura contratual · Fundos.NET ID 704724; referência 25/07/2024; Regulamento; p. 119–120; 12.1; data/raw/55471753000177/704724_review_20261007.pdf; https://fnet.bmfbovespa.com.br/fnet/publico/visualizarDocumento?id=704724 · Observação: Liquidação sujeita a deliberação em assembleia; inclui insolvência do devedor/Mercado Crédito e substituição de prestadores.</a:t>
            </a:r>
          </a:p>
          <a:p>
            <a:r>
              <a:t>CNPJ 63572282000111 · Liquidação antecipada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Liquidação antecipada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Liquidação antecipada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Liquidação antecipada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Liquidação antecipada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despesas · 3 meses de despesas ordinárias estimadas · Fundos.NET ID 704724 | 25/07/2024 | Regulamento | p. 110, 10.1 reservadeliquidez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despesas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 de despesas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 de despesas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 de despesas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 de despesas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55471753000177 · Cross default · MercadoLibre: terceiros &gt;US$75 mi; grupo Brasil &gt;R$150 mi; cura 5 DU ou prazo contratual aplicável · Fundos.NET ID 704724; referência 25/07/2024; Regulamento; p. 117; 11.1(xxviii)–(xxix); data/raw/55471753000177/704724_review_20261007.pdf; https://fnet.bmfbovespa.com.br/fnet/publico/visualizarDocumento?id=704724 · Observação: Evento de avaliação documental; devedor e grupo econômico exigem acompanhamento próprio.</a:t>
            </a:r>
          </a:p>
          <a:p>
            <a:r>
              <a:t>CNPJ 63572282000111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Cross default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Cross default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Cross default · Endividamento do Mercado Pago: inadimplemento/aceleração &gt;US$75 milhões; observar cura · data/raw/37511828000114/1200490_regulamento.pdf · ID Fundos.NET 1200490 · 27/03/2026 · regulamento · p. 88 · 13.1(xviii) · https://fnet.bmfbovespa.com.br/fnet/publico/visualizarDocumento?id=1200490 · Observação: Extenso informa setenta e cinco milhões; numeral extraído “US$75.000.00,00” está malformado. Confirmar instrumento antes de alerta automático.</a:t>
            </a:r>
          </a:p>
          <a:p>
            <a:r>
              <a:t>CNPJ 41970012000126 · Cross default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55471753000177 · Índice de cobertura · Sênior/mezanino ≥1,00; avaliação após 2 referências consecutivas ou 4 alternadas em 12 meses · Fundos.NET ID 704724; referência 25/07/2024; Regulamento; p. 117/136; 11.1(xxvi); Suplemento I; data/raw/55471753000177/704724_review_20261007.pdf; https://fnet.bmfbovespa.com.br/fnet/publico/visualizarDocumento?id=704724 · Observação: Usa valor presente, potencial de aquisição, ponderação, disponibilidades e comissões; IME agregado não replica.</a:t>
            </a:r>
          </a:p>
          <a:p>
            <a:r>
              <a:t>CNPJ 63572282000111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cobertura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cobertura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cobertura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cobertura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Índice de liquidez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Índice de liquidez · ≥1,00 pro forma para novas emissões; fluxos a CDI, potencial de aquisição e despesas na fórmula · Fundos.NET ID 704724; referência 25/07/2024; Regulamento; p. 104/137; 8.1.22(iv); Suplemento I; data/raw/55471753000177/704724_review_20261007.pdf; https://fnet.bmfbovespa.com.br/fnet/publico/visualizarDocumento?id=704724 · Observação: Validação manual com projeções de recebíveis/cotas e horizonte de liquidez; caixa/PL é proxy parcial.</a:t>
            </a:r>
          </a:p>
          <a:p>
            <a:r>
              <a:t>CNPJ 63572282000111 · Índice de liquidez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Índice de liquidez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Índice de liquidez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Índice de liquidez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Índice de liquidez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Devolução de pagamentos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Devolução de pagamentos · &gt;4% por 2 meses consecutivos ou 3 alternados em 12 meses; ou &gt;5% em qualquer mês · Fundos.NET ID 704724; referência 25/07/2024; Regulamento; p. 136; Suplemento I; data/raw/55471753000177/704724_review_20261007.pdf; https://fnet.bmfbovespa.com.br/fnet/publico/visualizarDocumento?id=704724 · Observação: Face devolvida no mês anterior / PL do último DU anterior; motivo jurídico e base não equivalem a recompras/crédito do IME.</a:t>
            </a:r>
          </a:p>
          <a:p>
            <a:r>
              <a:t>CNPJ 63572282000111 · Devolução de pagamentos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Devolução de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Devolução de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Devolução de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Devolução de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Resolução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Resolução de cessão · &gt;2% por 2 meses consecutivos ou 3 alternados em 12 meses; ou &gt;5% em qualquer mês · Fundos.NET ID 704724; referência 25/07/2024; Regulamento; p. 137–138; Suplemento I; data/raw/55471753000177/704724_review_20261007.pdf; https://fnet.bmfbovespa.com.br/fnet/publico/visualizarDocumento?id=704724 · Observação: Face dos créditos resolvidos no mês anterior / PL anterior; não replicável pelo IME público.</a:t>
            </a:r>
          </a:p>
          <a:p>
            <a:r>
              <a:t>CNPJ 63572282000111 · Resolução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Resolução de cessão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Resolução de cessão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Resolução de cessão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Resolução de cessão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Alocação mínima · ≥50% do PL em direitos elegíveis após 180 dias · Fundos.NET ID 704724 | 25/07/2024 | Regulamento | p. 61, alocaçãomínima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Alocação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 mínima · ≥ 50% PL após 90 dias · data/raw/28472333000132/732140_regulamento.pdf · ID Fundos.NET 732140 · 03/09/2024 · regulamento · p. 4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Alocação mínima · Após 180 dias: 50% PL para fins regulatórios; 67% para fins tributários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Alocação mínima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Alocação mínima · 67% PL para enquadramento tributário; verificar índices adicionais · data/raw/41970012000126/1302706_regulamento.pdf · ID Fundos.NET 1302706 · 27/08/2026 · regulamento · p. 108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Pool/revolvência · Aquisições recorrentes condicionadas a reservas, potencial de aquisição e eventos · Fundos.NET ID 704724 | 25/07/2024 | Regulamento | p. 60, aquisições/cessão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Pool/revolvência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Pool/revolvência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Pool/revolvência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Pool/revolvência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Pool/revolvência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Duração/público-alvo · Indeterminado; público profissional/autorizado conforme versão · Fundos.NET ID 704724 | 25/07/2024 | Regulamento | p. 58, duração/públicoalvo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Duração/público-alvo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Duração/público-alvo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Duração/público-alvo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Duração/público-alvo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Duração/público-alvo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Cessão/recompra · Resolução e indenização por vícios/descumprimentos conforme contratos; chargeback tem risco específico · Fundos.NET ID 704724 | 25/07/2024 | Regulamento | p. 73, riscocréditocedentes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Cessão/recompra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Cessão/recompra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Cessão/recompra · Perda posterior de elegibilidade não gera regresso, ressalvadas culpa ou dolo · data/raw/33254370000104/1128340_regulamento.pdf · ID Fundos.NET 1128340 · 03/03/2026 · regulamento · p. 11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Cessão/recompra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Cessão/recompra · Aquisição por Mercado Pago por inelegibilidade, vício ou falha imputável, com limites contratuais · data/raw/41970012000126/1302706_regulamento.pdf · ID Fundos.NET 1302706 · 27/08/2026 · regulamento · p. 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Coobrigação · Cedentes não respondem por pagamento/solvência do devedor · Fundos.NET ID 704724 | 25/07/2024 | Regulamento | p. 72, riscocrédito/ausênciacoobrigação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Coobrigação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Coobrigação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Coobrigação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Coobrigação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Coobrigação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Waterfall · Encargos/reservas; sênior; mezanino; júnior, conforme ordem contratual · Fundos.NET ID 704724 | 25/07/2024 | Regulamento | p. 105, ordemalocaçãorecursos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Waterfall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Waterfall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Waterfall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Waterfall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Waterfall · Despesas e reservas → sênior → MZ A → MZ B → MZ C → júnior · data/raw/41970012000126/1302706_regulamento.pdf · ID Fundos.NET 1302706 · 27/08/2026 · regulamento · p. 145–159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Prestadores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Prestadores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Prestadores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Prestadores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Prestadores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Prestadores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fiscal adicional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Alocação fiscal adicional · Cláusula 3.3: numeral 67% do PL, extenso “cinquenta por cento”; divergência textual · Fundos.NET ID 704724; referência 25/07/2024; Regulamento; p. 61; 3.3; data/raw/55471753000177/704724_review_20261007.pdf; https://fnet.bmfbovespa.com.br/fnet/publico/visualizarDocumento?id=704724 · Observação: Não resolver automaticamente a divergência; exigir confirmação documental antes de alerta normativo.</a:t>
            </a:r>
          </a:p>
          <a:p>
            <a:r>
              <a:t>CNPJ 63572282000111 · Alocação fiscal adicional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Alocação fiscal adicional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Alocação fiscal adicional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Alocação fiscal adicional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Alocação fiscal adicional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Gestor identificado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Gestor identificado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Gestor identificado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Gestor identificado · Polígono Capital Ltda.; CNPJ 43.241.789/0001-85 · data/raw/28472333000132/732140_regulamento.pdf · ID Fundos.NET 732140 · 03/09/2024 · regulamento · p. 20 · 9.2 · https://fnet.bmfbovespa.com.br/fnet/publico/visualizarDocumento?id=732140 · Observação: Controle documental; IME agregado não comprova a hipótese contratual.</a:t>
            </a:r>
          </a:p>
          <a:p>
            <a:r>
              <a:t>CNPJ 33254370000104 · Gestor identificado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Gestor identificado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Gestor identificado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Prestadores essenciais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Prestadores essenciais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Prestadores essenciais · Administração: BTG Pactual Serviços Financeiros DTVM; gestão: Polígono Capital · data/raw/33254370000104/1128340_regulamento.pdf · ID Fundos.NET 1128340 · 03/03/2026 · regulamento · p. 24/29 · 4.1.1/4.2.1 · https://fnet.bmfbovespa.com.br/fnet/publico/visualizarDocumento?id=1128340 · Observação: Controle documental; IME agregado não comprova a hipótese contratual.</a:t>
            </a:r>
          </a:p>
          <a:p>
            <a:r>
              <a:t>CNPJ 37511828000114 · Prestadores essenciais · Administração: Banco Genial; gestão: Polígono Capital · data/raw/37511828000114/1200490_regulamento.pdf · ID Fundos.NET 1200490 · 27/03/2026 · regulamento · p. 6/31 · Definições Administrator/Manager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Prestadores essenciais · Administração: BTG Pactual Serviços Financeiros; custódia: Banco BTG; gestão: Polígono · data/raw/41970012000126/1302706_regulamento.pdf · ID Fundos.NET 1302706 · 27/08/2026 · regulamento · p. 4/15/23 · Definições Administrador/Custodiante/Gestor · https://fnet.bmfbovespa.com.br/fnet/publico/visualizarDocumento?id=1302706 · Observação: Controle documental; IME agregado não comprova a hipótese contratual.</a:t>
            </a:r>
          </a:p>
          <a:p>
            <a:r>
              <a:t>CNPJ 50473039000102 · Opção de compra de créditos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Opção de compra de créditos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Opção de compra de créditos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Opção de compra de créditos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Opção de compra de créditos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Opção de compra de créditos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Opção de compra de créditos · Endossantes: preço pelo principal + rendimentos/encargos, deduzida PDD; limite 10% do investimento sênior · data/raw/41970012000126/1302706_regulamento.pdf · ID Fundos.NET 1302706 · 27/08/2026 · regulamento · p. 42 · 5.1.6.3 · https://fnet.bmfbovespa.com.br/fnet/publico/visualizarDocumento?id=1302706 · Observação: Exceções: amortização integral deliberada, amortização extraordinária ou crédito vencido &gt;90 dias. Não equivale a obrigação de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Alocação mínima · ≥50% do PL em direitos elegíveis após 180 dias · Fundos.NET ID 704724 | 25/07/2024 | Regulamento | p. 61, alocaçãomínima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Alocação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 mínima · ≥ 50% PL após 90 dias · data/raw/28472333000132/732140_regulamento.pdf · ID Fundos.NET 732140 · 03/09/2024 · regulamento · p. 4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Alocação mínima · Após 180 dias: 50% PL para fins regulatórios; 67% para fins tributários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Alocação mínima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Alocação mínima · 67% PL para enquadramento tributário; verificar índices adicionais · data/raw/41970012000126/1302706_regulamento.pdf · ID Fundos.NET 1302706 · 27/08/2026 · regulamento · p. 108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Pool/revolvência · Aquisições recorrentes condicionadas a reservas, potencial de aquisição e eventos · Fundos.NET ID 704724 | 25/07/2024 | Regulamento | p. 60, aquisições/cessão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Pool/revolvência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Pool/revolvência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Pool/revolvência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Pool/revolvência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Pool/revolvência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Duração/público-alvo · Indeterminado; público profissional/autorizado conforme versão · Fundos.NET ID 704724 | 25/07/2024 | Regulamento | p. 58, duração/públicoalvo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Duração/público-alvo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Duração/público-alvo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Duração/público-alvo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Duração/público-alvo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Duração/público-alvo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Cessão/recompra · Resolução e indenização por vícios/descumprimentos conforme contratos; chargeback tem risco específico · Fundos.NET ID 704724 | 25/07/2024 | Regulamento | p. 73, riscocréditocedentes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Cessão/recompra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Cessão/recompra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Cessão/recompra · Perda posterior de elegibilidade não gera regresso, ressalvadas culpa ou dolo · data/raw/33254370000104/1128340_regulamento.pdf · ID Fundos.NET 1128340 · 03/03/2026 · regulamento · p. 11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Cessão/recompra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Cessão/recompra · Aquisição por Mercado Pago por inelegibilidade, vício ou falha imputável, com limites contratuais · data/raw/41970012000126/1302706_regulamento.pdf · ID Fundos.NET 1302706 · 27/08/2026 · regulamento · p. 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Coobrigação · Cedentes não respondem por pagamento/solvência do devedor · Fundos.NET ID 704724 | 25/07/2024 | Regulamento | p. 72, riscocrédito/ausênciacoobrigação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Coobrigação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Coobrigação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Coobrigação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Coobrigação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Coobrigação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Waterfall · Encargos/reservas; sênior; mezanino; júnior, conforme ordem contratual · Fundos.NET ID 704724 | 25/07/2024 | Regulamento | p. 105, ordemalocaçãorecursos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Waterfall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Waterfall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Waterfall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Waterfall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Waterfall · Despesas e reservas → sênior → MZ A → MZ B → MZ C → júnior · data/raw/41970012000126/1302706_regulamento.pdf · ID Fundos.NET 1302706 · 27/08/2026 · regulamento · p. 145–159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Prestadores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Prestadores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Prestadores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Prestadores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Prestadores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Prestadores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fiscal adicional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Alocação fiscal adicional · Cláusula 3.3: numeral 67% do PL, extenso “cinquenta por cento”; divergência textual · Fundos.NET ID 704724; referência 25/07/2024; Regulamento; p. 61; 3.3; data/raw/55471753000177/704724_review_20261007.pdf; https://fnet.bmfbovespa.com.br/fnet/publico/visualizarDocumento?id=704724 · Observação: Não resolver automaticamente a divergência; exigir confirmação documental antes de alerta normativo.</a:t>
            </a:r>
          </a:p>
          <a:p>
            <a:r>
              <a:t>CNPJ 63572282000111 · Alocação fiscal adicional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Alocação fiscal adicional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Alocação fiscal adicional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Alocação fiscal adicional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Alocação fiscal adicional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Gestor identificado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Gestor identificado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Gestor identificado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Gestor identificado · Polígono Capital Ltda.; CNPJ 43.241.789/0001-85 · data/raw/28472333000132/732140_regulamento.pdf · ID Fundos.NET 732140 · 03/09/2024 · regulamento · p. 20 · 9.2 · https://fnet.bmfbovespa.com.br/fnet/publico/visualizarDocumento?id=732140 · Observação: Controle documental; IME agregado não comprova a hipótese contratual.</a:t>
            </a:r>
          </a:p>
          <a:p>
            <a:r>
              <a:t>CNPJ 33254370000104 · Gestor identificado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Gestor identificado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Gestor identificado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Prestadores essenciais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Prestadores essenciais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Prestadores essenciais · Administração: BTG Pactual Serviços Financeiros DTVM; gestão: Polígono Capital · data/raw/33254370000104/1128340_regulamento.pdf · ID Fundos.NET 1128340 · 03/03/2026 · regulamento · p. 24/29 · 4.1.1/4.2.1 · https://fnet.bmfbovespa.com.br/fnet/publico/visualizarDocumento?id=1128340 · Observação: Controle documental; IME agregado não comprova a hipótese contratual.</a:t>
            </a:r>
          </a:p>
          <a:p>
            <a:r>
              <a:t>CNPJ 37511828000114 · Prestadores essenciais · Administração: Banco Genial; gestão: Polígono Capital · data/raw/37511828000114/1200490_regulamento.pdf · ID Fundos.NET 1200490 · 27/03/2026 · regulamento · p. 6/31 · Definições Administrator/Manager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Prestadores essenciais · Administração: BTG Pactual Serviços Financeiros; custódia: Banco BTG; gestão: Polígono · data/raw/41970012000126/1302706_regulamento.pdf · ID Fundos.NET 1302706 · 27/08/2026 · regulamento · p. 4/15/23 · Definições Administrador/Custodiante/Gestor · https://fnet.bmfbovespa.com.br/fnet/publico/visualizarDocumento?id=1302706 · Observação: Controle documental; IME agregado não comprova a hipótese contratual.</a:t>
            </a:r>
          </a:p>
          <a:p>
            <a:r>
              <a:t>CNPJ 50473039000102 · Opção de compra de créditos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Opção de compra de créditos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Opção de compra de créditos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Opção de compra de créditos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Opção de compra de créditos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Opção de compra de créditos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Opção de compra de créditos · Endossantes: preço pelo principal + rendimentos/encargos, deduzida PDD; limite 10% do investimento sênior · data/raw/41970012000126/1302706_regulamento.pdf · ID Fundos.NET 1302706 · 27/08/2026 · regulamento · p. 42 · 5.1.6.3 · https://fnet.bmfbovespa.com.br/fnet/publico/visualizarDocumento?id=1302706 · Observação: Exceções: amortização integral deliberada, amortização extraordinária ou crédito vencido &gt;90 dias. Não equivale a obrigação de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Alocação mínima · ≥50% do PL em direitos elegíveis após 180 dias · Fundos.NET ID 704724 | 25/07/2024 | Regulamento | p. 61, alocaçãomínima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Alocação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 mínima · ≥ 50% PL após 90 dias · data/raw/28472333000132/732140_regulamento.pdf · ID Fundos.NET 732140 · 03/09/2024 · regulamento · p. 4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Alocação mínima · Após 180 dias: 50% PL para fins regulatórios; 67% para fins tributários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Alocação mínima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Alocação mínima · 67% PL para enquadramento tributário; verificar índices adicionais · data/raw/41970012000126/1302706_regulamento.pdf · ID Fundos.NET 1302706 · 27/08/2026 · regulamento · p. 108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Pool/revolvência · Aquisições recorrentes condicionadas a reservas, potencial de aquisição e eventos · Fundos.NET ID 704724 | 25/07/2024 | Regulamento | p. 60, aquisições/cessão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Pool/revolvência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Pool/revolvência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Pool/revolvência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Pool/revolvência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Pool/revolvência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Duração/público-alvo · Indeterminado; público profissional/autorizado conforme versão · Fundos.NET ID 704724 | 25/07/2024 | Regulamento | p. 58, duração/públicoalvo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Duração/público-alvo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Duração/público-alvo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Duração/público-alvo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Duração/público-alvo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Duração/público-alvo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Cessão/recompra · Resolução e indenização por vícios/descumprimentos conforme contratos; chargeback tem risco específico · Fundos.NET ID 704724 | 25/07/2024 | Regulamento | p. 73, riscocréditocedentes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Cessão/recompra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Cessão/recompra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Cessão/recompra · Perda posterior de elegibilidade não gera regresso, ressalvadas culpa ou dolo · data/raw/33254370000104/1128340_regulamento.pdf · ID Fundos.NET 1128340 · 03/03/2026 · regulamento · p. 11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Cessão/recompra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Cessão/recompra · Aquisição por Mercado Pago por inelegibilidade, vício ou falha imputável, com limites contratuais · data/raw/41970012000126/1302706_regulamento.pdf · ID Fundos.NET 1302706 · 27/08/2026 · regulamento · p. 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Coobrigação · Cedentes não respondem por pagamento/solvência do devedor · Fundos.NET ID 704724 | 25/07/2024 | Regulamento | p. 72, riscocrédito/ausênciacoobrigação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Coobrigação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Coobrigação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Coobrigação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Coobrigação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Coobrigação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Waterfall · Encargos/reservas; sênior; mezanino; júnior, conforme ordem contratual · Fundos.NET ID 704724 | 25/07/2024 | Regulamento | p. 105, ordemalocaçãorecursos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Waterfall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Waterfall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Waterfall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Waterfall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Waterfall · Despesas e reservas → sênior → MZ A → MZ B → MZ C → júnior · data/raw/41970012000126/1302706_regulamento.pdf · ID Fundos.NET 1302706 · 27/08/2026 · regulamento · p. 145–159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Prestadores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Prestadores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Prestadores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Prestadores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Prestadores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Prestadores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fiscal adicional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Alocação fiscal adicional · Cláusula 3.3: numeral 67% do PL, extenso “cinquenta por cento”; divergência textual · Fundos.NET ID 704724; referência 25/07/2024; Regulamento; p. 61; 3.3; data/raw/55471753000177/704724_review_20261007.pdf; https://fnet.bmfbovespa.com.br/fnet/publico/visualizarDocumento?id=704724 · Observação: Não resolver automaticamente a divergência; exigir confirmação documental antes de alerta normativo.</a:t>
            </a:r>
          </a:p>
          <a:p>
            <a:r>
              <a:t>CNPJ 63572282000111 · Alocação fiscal adicional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Alocação fiscal adicional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Alocação fiscal adicional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Alocação fiscal adicional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Alocação fiscal adicional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Gestor identificado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Gestor identificado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Gestor identificado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Gestor identificado · Polígono Capital Ltda.; CNPJ 43.241.789/0001-85 · data/raw/28472333000132/732140_regulamento.pdf · ID Fundos.NET 732140 · 03/09/2024 · regulamento · p. 20 · 9.2 · https://fnet.bmfbovespa.com.br/fnet/publico/visualizarDocumento?id=732140 · Observação: Controle documental; IME agregado não comprova a hipótese contratual.</a:t>
            </a:r>
          </a:p>
          <a:p>
            <a:r>
              <a:t>CNPJ 33254370000104 · Gestor identificado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Gestor identificado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Gestor identificado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Prestadores essenciais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Prestadores essenciais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Prestadores essenciais · Administração: BTG Pactual Serviços Financeiros DTVM; gestão: Polígono Capital · data/raw/33254370000104/1128340_regulamento.pdf · ID Fundos.NET 1128340 · 03/03/2026 · regulamento · p. 24/29 · 4.1.1/4.2.1 · https://fnet.bmfbovespa.com.br/fnet/publico/visualizarDocumento?id=1128340 · Observação: Controle documental; IME agregado não comprova a hipótese contratual.</a:t>
            </a:r>
          </a:p>
          <a:p>
            <a:r>
              <a:t>CNPJ 37511828000114 · Prestadores essenciais · Administração: Banco Genial; gestão: Polígono Capital · data/raw/37511828000114/1200490_regulamento.pdf · ID Fundos.NET 1200490 · 27/03/2026 · regulamento · p. 6/31 · Definições Administrator/Manager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Prestadores essenciais · Administração: BTG Pactual Serviços Financeiros; custódia: Banco BTG; gestão: Polígono · data/raw/41970012000126/1302706_regulamento.pdf · ID Fundos.NET 1302706 · 27/08/2026 · regulamento · p. 4/15/23 · Definições Administrador/Custodiante/Gestor · https://fnet.bmfbovespa.com.br/fnet/publico/visualizarDocumento?id=1302706 · Observação: Controle documental; IME agregado não comprova a hipótese contratual.</a:t>
            </a:r>
          </a:p>
          <a:p>
            <a:r>
              <a:t>CNPJ 50473039000102 · Opção de compra de créditos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Opção de compra de créditos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Opção de compra de créditos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Opção de compra de créditos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Opção de compra de créditos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Opção de compra de créditos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Opção de compra de créditos · Endossantes: preço pelo principal + rendimentos/encargos, deduzida PDD; limite 10% do investimento sênior · data/raw/41970012000126/1302706_regulamento.pdf · ID Fundos.NET 1302706 · 27/08/2026 · regulamento · p. 42 · 5.1.6.3 · https://fnet.bmfbovespa.com.br/fnet/publico/visualizarDocumento?id=1302706 · Observação: Exceções: amortização integral deliberada, amortização extraordinária ou crédito vencido &gt;90 dias. Não equivale a obrigação de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Alocação mínima · ≥50% do PL em direitos elegíveis após 180 dias · Fundos.NET ID 704724 | 25/07/2024 | Regulamento | p. 61, alocaçãomínima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Alocação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 mínima · ≥ 50% PL após 90 dias · data/raw/28472333000132/732140_regulamento.pdf · ID Fundos.NET 732140 · 03/09/2024 · regulamento · p. 4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Alocação mínima · Após 180 dias: 50% PL para fins regulatórios; 67% para fins tributários · data/raw/33254370000104/1128340_regulamento.pdf · ID Fundos.NET 1128340 · 03/03/2026 · regulamento · p. 6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Alocação mínima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Alocação mínima · 67% PL para enquadramento tributário; verificar índices adicionais · data/raw/41970012000126/1302706_regulamento.pdf · ID Fundos.NET 1302706 · 27/08/2026 · regulamento · p. 108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Pool/revolvência · Aquisições recorrentes condicionadas a reservas, potencial de aquisição e eventos · Fundos.NET ID 704724 | 25/07/2024 | Regulamento | p. 60, aquisições/cessão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Pool/revolvência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Pool/revolvência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Pool/revolvência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Pool/revolvência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Pool/revolvência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Duração/público-alvo · Indeterminado; público profissional/autorizado conforme versão · Fundos.NET ID 704724 | 25/07/2024 | Regulamento | p. 58, duração/públicoalvo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Duração/público-alvo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Duração/público-alvo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Duração/público-alvo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Duração/público-alvo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Duração/público-alvo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Cessão/recompra · Resolução e indenização por vícios/descumprimentos conforme contratos; chargeback tem risco específico · Fundos.NET ID 704724 | 25/07/2024 | Regulamento | p. 73, riscocréditocedentes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Cessão/recompra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Cessão/recompra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Cessão/recompra · Perda posterior de elegibilidade não gera regresso, ressalvadas culpa ou dolo · data/raw/33254370000104/1128340_regulamento.pdf · ID Fundos.NET 1128340 · 03/03/2026 · regulamento · p. 11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Cessão/recompra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Cessão/recompra · Aquisição por Mercado Pago por inelegibilidade, vício ou falha imputável, com limites contratuais · data/raw/41970012000126/1302706_regulamento.pdf · ID Fundos.NET 1302706 · 27/08/2026 · regulamento · p. 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Coobrigação · Cedentes não respondem por pagamento/solvência do devedor · Fundos.NET ID 704724 | 25/07/2024 | Regulamento | p. 72, riscocrédito/ausênciacoobrigação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Coobrigação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Coobrigação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Coobrigação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Coobrigação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Coobrigação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Waterfall · Encargos/reservas; sênior; mezanino; júnior, conforme ordem contratual · Fundos.NET ID 704724 | 25/07/2024 | Regulamento | p. 105, ordemalocaçãorecursos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Waterfall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Waterfall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Waterfall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Waterfall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Waterfall · Despesas e reservas → sênior → MZ A → MZ B → MZ C → júnior · data/raw/41970012000126/1302706_regulamento.pdf · ID Fundos.NET 1302706 · 27/08/2026 · regulamento · p. 145–159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Prestadores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Prestadores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Prestadores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Prestadores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Prestadores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Prestadores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Alocação fiscal adicional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Alocação fiscal adicional · Cláusula 3.3: numeral 67% do PL, extenso “cinquenta por cento”; divergência textual · Fundos.NET ID 704724; referência 25/07/2024; Regulamento; p. 61; 3.3; data/raw/55471753000177/704724_review_20261007.pdf; https://fnet.bmfbovespa.com.br/fnet/publico/visualizarDocumento?id=704724 · Observação: Não resolver automaticamente a divergência; exigir confirmação documental antes de alerta normativo.</a:t>
            </a:r>
          </a:p>
          <a:p>
            <a:r>
              <a:t>CNPJ 63572282000111 · Alocação fiscal adicional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Alocação fiscal adicional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Alocação fiscal adicional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Alocação fiscal adicional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Alocação fiscal adicional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Gestor identificado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Gestor identificado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Gestor identificado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Gestor identificado · Polígono Capital Ltda.; CNPJ 43.241.789/0001-85 · data/raw/28472333000132/732140_regulamento.pdf · ID Fundos.NET 732140 · 03/09/2024 · regulamento · p. 20 · 9.2 · https://fnet.bmfbovespa.com.br/fnet/publico/visualizarDocumento?id=732140 · Observação: Controle documental; IME agregado não comprova a hipótese contratual.</a:t>
            </a:r>
          </a:p>
          <a:p>
            <a:r>
              <a:t>CNPJ 33254370000104 · Gestor identificado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Gestor identificado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Gestor identificado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Prestadores essenciais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Prestadores essenciais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Prestadores essenciais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Prestadores essenciais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Prestadores essenciais · Administração: BTG Pactual Serviços Financeiros DTVM; gestão: Polígono Capital · data/raw/33254370000104/1128340_regulamento.pdf · ID Fundos.NET 1128340 · 03/03/2026 · regulamento · p. 24/29 · 4.1.1/4.2.1 · https://fnet.bmfbovespa.com.br/fnet/publico/visualizarDocumento?id=1128340 · Observação: Controle documental; IME agregado não comprova a hipótese contratual.</a:t>
            </a:r>
          </a:p>
          <a:p>
            <a:r>
              <a:t>CNPJ 37511828000114 · Prestadores essenciais · Administração: Banco Genial; gestão: Polígono Capital · data/raw/37511828000114/1200490_regulamento.pdf · ID Fundos.NET 1200490 · 27/03/2026 · regulamento · p. 6/31 · Definições Administrator/Manager · https://fnet.bmfbovespa.com.br/fnet/publico/visualizarDocumento?id=1200490 · Observação: Controle documental; IME agregado não comprova a hipótese contratual.</a:t>
            </a:r>
          </a:p>
          <a:p>
            <a:r>
              <a:t>CNPJ 41970012000126 · Prestadores essenciais · Administração: BTG Pactual Serviços Financeiros; custódia: Banco BTG; gestão: Polígono · data/raw/41970012000126/1302706_regulamento.pdf · ID Fundos.NET 1302706 · 27/08/2026 · regulamento · p. 4/15/23 · Definições Administrador/Custodiante/Gestor · https://fnet.bmfbovespa.com.br/fnet/publico/visualizarDocumento?id=1302706 · Observação: Controle documental; IME agregado não comprova a hipótese contratual.</a:t>
            </a:r>
          </a:p>
          <a:p>
            <a:r>
              <a:t>CNPJ 50473039000102 · Opção de compra de créditos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Opção de compra de créditos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Opção de compra de créditos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Opção de compra de créditos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Opção de compra de créditos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Opção de compra de créditos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Opção de compra de créditos · Endossantes: preço pelo principal + rendimentos/encargos, deduzida PDD; limite 10% do investimento sênior · data/raw/41970012000126/1302706_regulamento.pdf · ID Fundos.NET 1302706 · 27/08/2026 · regulamento · p. 42 · 5.1.6.3 · https://fnet.bmfbovespa.com.br/fnet/publico/visualizarDocumento?id=1302706 · Observação: Exceções: amortização integral deliberada, amortização extraordinária ou crédito vencido &gt;90 dias. Não equivale a obrigação de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Classes/séries · Sênior, mezanino e júnior; séries por atos/apêndices · Fundos.NET ID 704724 | 25/07/2024 | Regulamento | p. 59, 2.3composiçãocotas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Classes/séries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Classes/séries · Sênior em séries e subordinada júnior · data/raw/28472333000132/732140_regulamento.pdf · ID Fundos.NET 732140 · 03/09/2024 · regulamento · p. 27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Classes/séries · Sênior; subordinadas mezanino e júnior; 3ª série preenchida no regulamento · data/raw/33254370000104/1128340_regulamento.pdf · ID Fundos.NET 1128340 · 03/03/2026 · regulamento · p. 42 e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Classes/séries · Sênior, mezanino e júnior; apêndices-modelo mantêm campos abertos · data/raw/37511828000114/1200490_regulamento.pdf · ID Fundos.NET 1200490 · 27/03/2026 · regulamento · p. 128–132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Classes/séries · Sênior 1ª/2ª/3ª emissões da primeira série; MZ A/B/C e júnior · data/raw/41970012000126/1302706_regulamento.pdf · ID Fundos.NET 1302706 · 27/08/2026 · regulamento · p. 133–153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55471753000177 · Remuneração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· Sobretaxa definida em suplemento não localizado; modelo não fecha os termos · data/raw/28472333000132/732140_regulamento.pdf · ID Fundos.NET 732140 · 03/09/2024 · regulamento · p. 84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Remuneração · 3ª sênior: DI + 3,00% a.a., com fator adicional por capital não utilizado · data/raw/33254370000104/1128340_regulamento.pdf · ID Fundos.NET 1128340 · 03/03/2026 · regulamento · p. 119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Remuneração · Spread final da versão atual não localizado; apêndices econômicos atuais em aberto · data/raw/37511828000114/1200490_regulamento.pdf · ID Fundos.NET 1200490 · 27/03/2026 · regulamento · p. 130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Remuneração · Sênior DI + 1,75%; MZ A +3,00%; MZ B +4,25%; MZ C +5,45% a.a. · data/raw/41970012000126/1302706_regulamento.pdf · ID Fundos.NET 1302706 · 27/08/2026 · regulamento · p. 134–159 · https://fnet.bmfbovespa.com.br/fnet/publico/visualizarDocumento?id=1302706 · Observação: MZ A/C da 2ª emissão têm rendimento adicional único de 0,38%. Sênior tem benchmark qualificado +2% em eventos, e demais compensações dependem das cláusulas.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Volume/VNU · 1ª sênior: R$1 bi; 1 milhão de cotas; VNU R$1.000;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Volume/VNU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Volume/VNU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Volume/VNU · 3ª sênior: R$ 300 milhões; 300 mil cotas; VNU R$ 1 mil · data/raw/33254370000104/1128340_regulamento.pdf · ID Fundos.NET 1128340 · 03/03/2026 · regulamento · p.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Volume/VNU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Volume/VNU · 3ª sênior: R$ 500.000.838,84; 1.016.076 cotas; VNU R$ 492,09 em 14/08/2026 · data/raw/41970012000126/1302706_regulamento.pdf · ID Fundos.NET 1302706 · 27/08/2026 · regulamento · p. 141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55471753000177 · Ofertas · 1ª sênior: oferta primária encerrada 06/08/2024; melhores esforços · Fundos.NET ID 714216 | 08/08/2024 | Anúncio de Encerramento | p. 2,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Ofertas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Ofertas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Ofertas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Ofertas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Ofertas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Remuneração sênior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sênior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sênior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sênior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sênior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sênior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subordinada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subordinada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subordinada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subordinada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subordinada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subordinada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 / quantidade · 1ª sênior:R$ 1 bi;1 milhão de cotas distribuídas;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Volume / quantidade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Volume / quantidade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Volume / quantidade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Volume / quantidade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Volume / quantidade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VNU / preço · 1ª sênior: R$1.000 por cota; júnior pelo valor da cota na data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VNU / preço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VNU / preço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VNU / preço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VNU / preço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VNU / preço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adicional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Remuneração adicional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Remuneração adicional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Remuneração adicional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adicional · 3ª sênior: fator 0,75/0,50/0,40% a.a. sobre capital não integralizado, por faixas de utilização · data/raw/33254370000104/1128340_regulamento.pdf · ID Fundos.NET 1128340 · 03/03/2026 · regulamento · p. 119 · Suplemento 3ª série IX · https://fnet.bmfbovespa.com.br/fnet/publico/visualizarDocumento?id=1128340 · Observação: Utilização 0–50%, &gt;50–75%, &gt;75–99,99%; inicia no 180º dia e paga a partir da 6ª data; cessa no fim da integralização.</a:t>
            </a:r>
          </a:p>
          <a:p>
            <a:r>
              <a:t>CNPJ 37511828000114 · Remuneração adicional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adicional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Classes/séries · Sênior, mezanino e júnior; séries por atos/apêndices · Fundos.NET ID 704724 | 25/07/2024 | Regulamento | p. 59, 2.3composiçãocotas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Classes/séries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Classes/séries · Sênior em séries e subordinada júnior · data/raw/28472333000132/732140_regulamento.pdf · ID Fundos.NET 732140 · 03/09/2024 · regulamento · p. 27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Classes/séries · Sênior; subordinadas mezanino e júnior; 3ª série preenchida no regulamento · data/raw/33254370000104/1128340_regulamento.pdf · ID Fundos.NET 1128340 · 03/03/2026 · regulamento · p. 42 e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Classes/séries · Sênior, mezanino e júnior; apêndices-modelo mantêm campos abertos · data/raw/37511828000114/1200490_regulamento.pdf · ID Fundos.NET 1200490 · 27/03/2026 · regulamento · p. 128–132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Classes/séries · Sênior 1ª/2ª/3ª emissões da primeira série; MZ A/B/C e júnior · data/raw/41970012000126/1302706_regulamento.pdf · ID Fundos.NET 1302706 · 27/08/2026 · regulamento · p. 133–153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55471753000177 · Remuneração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· Sobretaxa definida em suplemento não localizado; modelo não fecha os termos · data/raw/28472333000132/732140_regulamento.pdf · ID Fundos.NET 732140 · 03/09/2024 · regulamento · p. 84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Remuneração · 3ª sênior: DI + 3,00% a.a., com fator adicional por capital não utilizado · data/raw/33254370000104/1128340_regulamento.pdf · ID Fundos.NET 1128340 · 03/03/2026 · regulamento · p. 119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Remuneração · Spread final da versão atual não localizado; apêndices econômicos atuais em aberto · data/raw/37511828000114/1200490_regulamento.pdf · ID Fundos.NET 1200490 · 27/03/2026 · regulamento · p. 130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Remuneração · Sênior DI + 1,75%; MZ A +3,00%; MZ B +4,25%; MZ C +5,45% a.a. · data/raw/41970012000126/1302706_regulamento.pdf · ID Fundos.NET 1302706 · 27/08/2026 · regulamento · p. 134–159 · https://fnet.bmfbovespa.com.br/fnet/publico/visualizarDocumento?id=1302706 · Observação: MZ A/C da 2ª emissão têm rendimento adicional único de 0,38%. Sênior tem benchmark qualificado +2% em eventos, e demais compensações dependem das cláusulas.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Volume/VNU · 1ª sênior: R$1 bi; 1 milhão de cotas; VNU R$1.000;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Volume/VNU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Volume/VNU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Volume/VNU · 3ª sênior: R$ 300 milhões; 300 mil cotas; VNU R$ 1 mil · data/raw/33254370000104/1128340_regulamento.pdf · ID Fundos.NET 1128340 · 03/03/2026 · regulamento · p.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Volume/VNU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Volume/VNU · 3ª sênior: R$ 500.000.838,84; 1.016.076 cotas; VNU R$ 492,09 em 14/08/2026 · data/raw/41970012000126/1302706_regulamento.pdf · ID Fundos.NET 1302706 · 27/08/2026 · regulamento · p. 141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55471753000177 · Ofertas · 1ª sênior: oferta primária encerrada 06/08/2024; melhores esforços · Fundos.NET ID 714216 | 08/08/2024 | Anúncio de Encerramento | p. 2,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Ofertas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Ofertas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Ofertas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Ofertas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Ofertas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Remuneração sênior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sênior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sênior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sênior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sênior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sênior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subordinada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subordinada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subordinada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subordinada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subordinada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subordinada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 / quantidade · 1ª sênior:R$ 1 bi;1 milhão de cotas distribuídas;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Volume / quantidade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Volume / quantidade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Volume / quantidade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Volume / quantidade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Volume / quantidade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VNU / preço · 1ª sênior: R$1.000 por cota; júnior pelo valor da cota na data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VNU / preço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VNU / preço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VNU / preço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VNU / preço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VNU / preço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adicional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Remuneração adicional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Remuneração adicional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Remuneração adicional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adicional · 3ª sênior: fator 0,75/0,50/0,40% a.a. sobre capital não integralizado, por faixas de utilização · data/raw/33254370000104/1128340_regulamento.pdf · ID Fundos.NET 1128340 · 03/03/2026 · regulamento · p. 119 · Suplemento 3ª série IX · https://fnet.bmfbovespa.com.br/fnet/publico/visualizarDocumento?id=1128340 · Observação: Utilização 0–50%, &gt;50–75%, &gt;75–99,99%; inicia no 180º dia e paga a partir da 6ª data; cessa no fim da integralização.</a:t>
            </a:r>
          </a:p>
          <a:p>
            <a:r>
              <a:t>CNPJ 37511828000114 · Remuneração adicional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adicional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Classes/séries · Sênior, mezanino e júnior; séries por atos/apêndices · Fundos.NET ID 704724 | 25/07/2024 | Regulamento | p. 59, 2.3composiçãocotas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Classes/séries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Classes/séries · Sênior em séries e subordinada júnior · data/raw/28472333000132/732140_regulamento.pdf · ID Fundos.NET 732140 · 03/09/2024 · regulamento · p. 27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Classes/séries · Sênior; subordinadas mezanino e júnior; 3ª série preenchida no regulamento · data/raw/33254370000104/1128340_regulamento.pdf · ID Fundos.NET 1128340 · 03/03/2026 · regulamento · p. 42 e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Classes/séries · Sênior, mezanino e júnior; apêndices-modelo mantêm campos abertos · data/raw/37511828000114/1200490_regulamento.pdf · ID Fundos.NET 1200490 · 27/03/2026 · regulamento · p. 128–132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Classes/séries · Sênior 1ª/2ª/3ª emissões da primeira série; MZ A/B/C e júnior · data/raw/41970012000126/1302706_regulamento.pdf · ID Fundos.NET 1302706 · 27/08/2026 · regulamento · p. 133–153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55471753000177 · Remuneração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· Sobretaxa definida em suplemento não localizado; modelo não fecha os termos · data/raw/28472333000132/732140_regulamento.pdf · ID Fundos.NET 732140 · 03/09/2024 · regulamento · p. 84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Remuneração · 3ª sênior: DI + 3,00% a.a., com fator adicional por capital não utilizado · data/raw/33254370000104/1128340_regulamento.pdf · ID Fundos.NET 1128340 · 03/03/2026 · regulamento · p. 119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Remuneração · Spread final da versão atual não localizado; apêndices econômicos atuais em aberto · data/raw/37511828000114/1200490_regulamento.pdf · ID Fundos.NET 1200490 · 27/03/2026 · regulamento · p. 130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Remuneração · Sênior DI + 1,75%; MZ A +3,00%; MZ B +4,25%; MZ C +5,45% a.a. · data/raw/41970012000126/1302706_regulamento.pdf · ID Fundos.NET 1302706 · 27/08/2026 · regulamento · p. 134–159 · https://fnet.bmfbovespa.com.br/fnet/publico/visualizarDocumento?id=1302706 · Observação: MZ A/C da 2ª emissão têm rendimento adicional único de 0,38%. Sênior tem benchmark qualificado +2% em eventos, e demais compensações dependem das cláusulas.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Volume/VNU · 1ª sênior: R$1 bi; 1 milhão de cotas; VNU R$1.000;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Volume/VNU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Volume/VNU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Volume/VNU · 3ª sênior: R$ 300 milhões; 300 mil cotas; VNU R$ 1 mil · data/raw/33254370000104/1128340_regulamento.pdf · ID Fundos.NET 1128340 · 03/03/2026 · regulamento · p.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Volume/VNU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Volume/VNU · 3ª sênior: R$ 500.000.838,84; 1.016.076 cotas; VNU R$ 492,09 em 14/08/2026 · data/raw/41970012000126/1302706_regulamento.pdf · ID Fundos.NET 1302706 · 27/08/2026 · regulamento · p. 141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55471753000177 · Ofertas · 1ª sênior: oferta primária encerrada 06/08/2024; melhores esforços · Fundos.NET ID 714216 | 08/08/2024 | Anúncio de Encerramento | p. 2,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Ofertas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Ofertas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Ofertas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Ofertas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Ofertas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Remuneração sênior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sênior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sênior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sênior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sênior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sênior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subordinada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subordinada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subordinada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subordinada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subordinada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subordinada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 / quantidade · 1ª sênior:R$ 1 bi;1 milhão de cotas distribuídas;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Volume / quantidade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Volume / quantidade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Volume / quantidade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Volume / quantidade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Volume / quantidade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VNU / preço · 1ª sênior: R$1.000 por cota; júnior pelo valor da cota na data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VNU / preço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VNU / preço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VNU / preço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VNU / preço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VNU / preço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adicional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Remuneração adicional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Remuneração adicional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Remuneração adicional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adicional · 3ª sênior: fator 0,75/0,50/0,40% a.a. sobre capital não integralizado, por faixas de utilização · data/raw/33254370000104/1128340_regulamento.pdf · ID Fundos.NET 1128340 · 03/03/2026 · regulamento · p. 119 · Suplemento 3ª série IX · https://fnet.bmfbovespa.com.br/fnet/publico/visualizarDocumento?id=1128340 · Observação: Utilização 0–50%, &gt;50–75%, &gt;75–99,99%; inicia no 180º dia e paga a partir da 6ª data; cessa no fim da integralização.</a:t>
            </a:r>
          </a:p>
          <a:p>
            <a:r>
              <a:t>CNPJ 37511828000114 · Remuneração adicional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adicional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Classes/séries · Sênior, mezanino e júnior; séries por atos/apêndices · Fundos.NET ID 704724 | 25/07/2024 | Regulamento | p. 59, 2.3composiçãocotas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Classes/séries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Classes/séries · Sênior em séries e subordinada júnior · data/raw/28472333000132/732140_regulamento.pdf · ID Fundos.NET 732140 · 03/09/2024 · regulamento · p. 27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Classes/séries · Sênior; subordinadas mezanino e júnior; 3ª série preenchida no regulamento · data/raw/33254370000104/1128340_regulamento.pdf · ID Fundos.NET 1128340 · 03/03/2026 · regulamento · p. 42 e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Classes/séries · Sênior, mezanino e júnior; apêndices-modelo mantêm campos abertos · data/raw/37511828000114/1200490_regulamento.pdf · ID Fundos.NET 1200490 · 27/03/2026 · regulamento · p. 128–132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Classes/séries · Sênior 1ª/2ª/3ª emissões da primeira série; MZ A/B/C e júnior · data/raw/41970012000126/1302706_regulamento.pdf · ID Fundos.NET 1302706 · 27/08/2026 · regulamento · p. 133–153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55471753000177 · Remuneração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· Sobretaxa definida em suplemento não localizado; modelo não fecha os termos · data/raw/28472333000132/732140_regulamento.pdf · ID Fundos.NET 732140 · 03/09/2024 · regulamento · p. 84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Remuneração · 3ª sênior: DI + 3,00% a.a., com fator adicional por capital não utilizado · data/raw/33254370000104/1128340_regulamento.pdf · ID Fundos.NET 1128340 · 03/03/2026 · regulamento · p. 119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Remuneração · Spread final da versão atual não localizado; apêndices econômicos atuais em aberto · data/raw/37511828000114/1200490_regulamento.pdf · ID Fundos.NET 1200490 · 27/03/2026 · regulamento · p. 130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Remuneração · Sênior DI + 1,75%; MZ A +3,00%; MZ B +4,25%; MZ C +5,45% a.a. · data/raw/41970012000126/1302706_regulamento.pdf · ID Fundos.NET 1302706 · 27/08/2026 · regulamento · p. 134–159 · https://fnet.bmfbovespa.com.br/fnet/publico/visualizarDocumento?id=1302706 · Observação: MZ A/C da 2ª emissão têm rendimento adicional único de 0,38%. Sênior tem benchmark qualificado +2% em eventos, e demais compensações dependem das cláusulas.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Volume/VNU · 1ª sênior: R$1 bi; 1 milhão de cotas; VNU R$1.000;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Volume/VNU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Volume/VNU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Volume/VNU · 3ª sênior: R$ 300 milhões; 300 mil cotas; VNU R$ 1 mil · data/raw/33254370000104/1128340_regulamento.pdf · ID Fundos.NET 1128340 · 03/03/2026 · regulamento · p. 118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Volume/VNU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Volume/VNU · 3ª sênior: R$ 500.000.838,84; 1.016.076 cotas; VNU R$ 492,09 em 14/08/2026 · data/raw/41970012000126/1302706_regulamento.pdf · ID Fundos.NET 1302706 · 27/08/2026 · regulamento · p. 141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55471753000177 · Ofertas · 1ª sênior: oferta primária encerrada 06/08/2024; melhores esforços · Fundos.NET ID 714216 | 08/08/2024 | Anúncio de Encerramento | p. 2,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Ofertas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Ofertas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Ofertas · Não localizado nas fontes acessíveis desta leitura · Consulta Fundos.NET por CNPJ 33254370000104 em 07/10/2026; 169 registros no inventário obtido; fontes acessíveis: 1219308, 1200703, 1128340, 1118467 · Observação: Lacuna documental; não equivale à inexistência da regra</a:t>
            </a:r>
          </a:p>
          <a:p>
            <a:r>
              <a:t>CNPJ 37511828000114 · Ofertas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Ofertas · Não localizado nas fontes acessíveis desta leitura · Consulta Fundos.NET por CNPJ 41970012000126 em 07/10/2026; 162 registros no inventário obtido; fontes acessíveis: 1341484, 1314682, 1302706, 1302705, 1077334, 999523 · Observação: Lacuna documental; não equivale à inexistência da regra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Remuneração sênior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sênior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sênior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sênior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sênior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sênior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mezanino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mezanino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mezanino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mezanino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subordinada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subordinada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Remuneração subordinada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subordinada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Remuneração subordinada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subordinada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 / quantidade · 1ª sênior:R$ 1 bi;1 milhão de cotas distribuídas;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Volume / quantidade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Volume / quantidade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Volume / quantidade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Volume / quantidade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Volume / quantidade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VNU / preço · 1ª sênior: R$1.000 por cota; júnior pelo valor da cota na data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VNU / preço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VNU / preço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VNU / preço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VNU / preço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VNU / preço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Remuneração adicional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Remuneração adicional · Não localizado nas fontes acessíveis desta leitura · ID 704724 · 25/07/2024 · data/raw/55471753000177/704724_review_20261007.pdf; ID 714216 · 08/08/2024 · data/raw/55471753000177/714216_review_20261007.pdf; ID 733048 · 06/09/2024 · data/raw/55471753000177/733048_review_20261007.pdf · Observação: Revisão documental em 07/10/2026. O nome da carteira com 1T26 não define a vigência destas cláusulas; versões posteriores estão datadas por fonte. Não houve atualização de competência IME neste trabalho. Base principal: ID704724, 25/07/2024.</a:t>
            </a:r>
          </a:p>
          <a:p>
            <a:r>
              <a:t>CNPJ 63572282000111 · Remuneração adicional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Remuneração adicional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Remuneração adicional · 3ª sênior: fator 0,75/0,50/0,40% a.a. sobre capital não integralizado, por faixas de utilização · data/raw/33254370000104/1128340_regulamento.pdf · ID Fundos.NET 1128340 · 03/03/2026 · regulamento · p. 119 · Suplemento 3ª série IX · https://fnet.bmfbovespa.com.br/fnet/publico/visualizarDocumento?id=1128340 · Observação: Utilização 0–50%, &gt;50–75%, &gt;75–99,99%; inicia no 180º dia e paga a partir da 6ª data; cessa no fim da integralização.</a:t>
            </a:r>
          </a:p>
          <a:p>
            <a:r>
              <a:t>CNPJ 37511828000114 · Remuneração adicional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Remuneração adicional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Carência · 5ª sênior:30 meses inclusive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Carência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Carência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Carência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Carência · 3ª série: texto 18 meses; calendário inicia principal no mês 13. Divergência documental · data/raw/33254370000104/1128340_regulamento.pdf · ID Fundos.NET 1128340 · 03/03/2026 · regulamento · p. 119–120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Carência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Carência · Principal sênior após janela de investimento, limite 14/08/2028; MZ respeita prioridade das subclasses · data/raw/41970012000126/1302706_regulamento.pdf · ID Fundos.NET 1302706 · 27/08/2026 · regulamento · p. 133–159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Juros/amortização · 5ª sênior: semestral desde 6º mês;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Juros/amortização · Não localizado na documentação acessível;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Juros/amortização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Juros/amortização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Juros/amortização · 3ª sênior: juros mensais; principal nas datas da tabela, com divergência da carência textual · data/raw/33254370000104/1128340_regulamento.pdf · ID Fundos.NET 1128340 · 03/03/2026 · regulamento · p. 119–121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Juros/amortização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Juros/amortização · Pagamentos dia 14 ou DU seguinte; principal condicionado ao fim da janela de investimento · data/raw/41970012000126/1302706_regulamento.pdf · ID Fundos.NET 1302706 · 27/08/2026 · regulamento · p. 146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Vencimento · 5ª sênior:36º mês; cronograma aponta final 15/05/2028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Vencimento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Vencimento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Vencimento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Vencimento · 3ª sênior: calendário termina em abril/2028; prazo textual três anos da emissão · data/raw/33254370000104/1128340_regulamento.pdf · ID Fundos.NET 1128340 · 03/03/2026 · regulamento · p. 118–121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Vencimento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Vencimento · Sênior e MZ A/B/C: 14/08/2030, ou DU seguinte · data/raw/41970012000126/1302706_regulamento.pdf · ID Fundos.NET 1302706 · 27/08/2026 · regulamento · p. 134, 137, 142, 146, 152, 155 e 158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Juros / pagamentos · 5ª sênior: semestral desde 6º mês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Juros / pagamentos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Juros / pagamentos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Juros /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Juros /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Juros /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Juros /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programada ·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Amortização programada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Amortização programada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Amortização programada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Amortização programada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Amortização programada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Amortização programada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extraordinária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Amortização extraordinária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Amortização extraordinária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Amortização extraordinária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Amortização extraordinária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Amortização extraordinária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Amortização extraordinária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Carência · 5ª sênior:30 meses inclusive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Carência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Carência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Carência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Carência · 3ª série: texto 18 meses; calendário inicia principal no mês 13. Divergência documental · data/raw/33254370000104/1128340_regulamento.pdf · ID Fundos.NET 1128340 · 03/03/2026 · regulamento · p. 119–120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Carência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Carência · Principal sênior após janela de investimento, limite 14/08/2028; MZ respeita prioridade das subclasses · data/raw/41970012000126/1302706_regulamento.pdf · ID Fundos.NET 1302706 · 27/08/2026 · regulamento · p. 133–159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Juros/amortização · 5ª sênior: semestral desde 6º mês;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Juros/amortização · Não localizado na documentação acessível;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Juros/amortização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Juros/amortização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Juros/amortização · 3ª sênior: juros mensais; principal nas datas da tabela, com divergência da carência textual · data/raw/33254370000104/1128340_regulamento.pdf · ID Fundos.NET 1128340 · 03/03/2026 · regulamento · p. 119–121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Juros/amortização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Juros/amortização · Pagamentos dia 14 ou DU seguinte; principal condicionado ao fim da janela de investimento · data/raw/41970012000126/1302706_regulamento.pdf · ID Fundos.NET 1302706 · 27/08/2026 · regulamento · p. 146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Vencimento · 5ª sênior:36º mês; cronograma aponta final 15/05/2028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Vencimento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Vencimento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Vencimento · Não localizado nas fontes acessíveis desta leitura · Consulta Fundos.NET por CNPJ 28472333000132 em 07/10/2026; 102 registros no inventário obtido; fontes acessíveis: 732140, 681860, 448299 · Observação: Lacuna documental; não equivale à inexistência da regra</a:t>
            </a:r>
          </a:p>
          <a:p>
            <a:r>
              <a:t>CNPJ 33254370000104 · Vencimento · 3ª sênior: calendário termina em abril/2028; prazo textual três anos da emissão · data/raw/33254370000104/1128340_regulamento.pdf · ID Fundos.NET 1128340 · 03/03/2026 · regulamento · p. 118–121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Vencimento · Não localizado nas fontes acessíveis desta leitura · Consulta Fundos.NET por CNPJ 37511828000114 em 07/10/2026; 75 registros no inventário anterior preservado; fontes acessíveis: 1200490, 1019776 · Observação: Lacuna documental; não equivale à inexistência da regra</a:t>
            </a:r>
          </a:p>
          <a:p>
            <a:r>
              <a:t>CNPJ 41970012000126 · Vencimento · Sênior e MZ A/B/C: 14/08/2030, ou DU seguinte · data/raw/41970012000126/1302706_regulamento.pdf · ID Fundos.NET 1302706 · 27/08/2026 · regulamento · p. 134, 137, 142, 146, 152, 155 e 158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Juros / pagamentos · 5ª sênior: semestral desde 6º mês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Juros / pagamentos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Juros / pagamentos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Juros /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Juros /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Juros /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Juros /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programada ·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Amortização programada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Amortização programada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Amortização programada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Amortização programada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Amortização programada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Amortização programada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Amortização extraordinária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Amortização extraordinária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Amortização extraordinária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Amortização extraordinária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Amortização extraordinária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Amortização extraordinária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Amortização extraordinária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Administração · Faixas por PL: 0,075%≤R$ 200 mi;0,05%200–500 mi;0,04%500 mi–1 bi;0,02%&gt;1 bi; mínimo R$ 17.500/mês, teto R$ 50 mil · Fundos.NET ID 704724 | 25/07/2024 | Regulamento | p. 90, taxaadministração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Administração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Administração · Taxa máxima agregada 1,25% a.a. PL; mínimo R$ 30 mil/mês; IGP-M · data/raw/28472333000132/732140_regulamento.pdf · ID Fundos.NET 732140 · 03/09/2024 · regulamento · p. 18–19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Administração · 0,07% do PL; mínimo R$ 15 mil/mês; teto 0,30% a.a.; IPCA · data/raw/33254370000104/1128340_regulamento.pdf · ID Fundos.NET 1128340 · 03/03/2026 · regulamento · p. 38–40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Administração · Faixas cumulativas 0,125% / 0,11% / 0,09% a.a.; mínimo R$ 27 mil/mês · data/raw/37511828000114/1200490_regulamento.pdf · ID Fundos.NET 1200490 · 27/03/2026 · regulamento · p. 105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Administração · 0,075% a.a. do PL; mínimo R$ 15 mil/mês; inclui custódia · data/raw/41970012000126/1302706_regulamento.pdf · ID Fundos.NET 1302706 · 27/08/2026 · regulamento · p. 100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Gestão · Mesmas faixas da administração: 0,075/0,05/0,04/0,02% a.a.; mínimo R$ 17.500/mês, teto R$ 50 mil; lastro + R$ 5 mil/mês · Fundos.NET ID 704724 | 25/07/2024 | Regulamento | p. 91, taxagestão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Gestão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Gestão · Parcela deduzida da taxa de administração; percentual no contrato não localizado · data/raw/28472333000132/732140_regulamento.pdf · ID Fundos.NET 732140 · 03/09/2024 · regulamento · p. 22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Gestão · Faixas do PL agregado com Mercado Crédito II: 0,20% / 0,15% / 0,13% / 0,10% a.a. · data/raw/33254370000104/1128340_regulamento.pdf · ID Fundos.NET 1128340 · 03/03/2026 · regulamento · p. 39–40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Gestão · 0,12% a.a. sobre PL; mínimo não recuperável no texto extraído · data/raw/37511828000114/1200490_regulamento.pdf · ID Fundos.NET 1200490 · 27/03/2026 · regulamento · p. 106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Gestão · Faixas do PL agregado com Mercado Crédito 0: 0,20% / 0,15% / 0,13% / 0,10% a.a. · data/raw/41970012000126/1302706_regulamento.pdf · ID Fundos.NET 1302706 · 27/08/2026 · regulamento · p. 101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55471753000177 · Custódia · Custódia incluída na administração; verificação lastro R$ 5 mil/mês na gestão · Fundos.NET ID 704724 | 25/07/2024 | Regulamento | p. 91, 5.5(iv)/5.6(ii) | data/raw/55471753000177/704724_review_20261007.pdf | https://fnet.bmfbovespa.com.br/fnet/publico/visualizarDocumento?id=704724 · Observação: Cláusula documental; emissão e data-base indicadas. Não implica posição atual em circulação.</a:t>
            </a:r>
          </a:p>
          <a:p>
            <a:r>
              <a:t>CNPJ 63572282000111 · Custódia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Custódia · Incluída na taxa máxima agregada de administração · data/raw/28472333000132/732140_regulamento.pdf · ID Fundos.NET 732140 · 03/09/2024 · regulamento · p. 18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Custódia · Taxa de custódia expressamente 0% · data/raw/33254370000104/1128340_regulamento.pdf · ID Fundos.NET 1128340 · 03/03/2026 · regulamento · p. 39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Custódia · 0,05% a.a.; mínimo R$ 3 mil/mês · data/raw/37511828000114/1200490_regulamento.pdf · ID Fundos.NET 1200490 · 27/03/2026 · regulamento · p. 106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Custódia · Incluída na taxa de administração · data/raw/41970012000126/1302706_regulamento.pdf · ID Fundos.NET 1302706 · 27/08/2026 · regulamento · p. 100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Reajuste / base · Valores fixos: IGP-M positivo anual; taxas diárias base 252; gross-up tributário · Fundos.NET ID 704724 | 25/07/2024 | Regulamento | p. 92, taxas/reajuste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Reajuste / base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Reajuste / base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Reajuste / base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Reajuste / base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Reajuste / base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55471753000177 · Escrituração e despesas adicionais · Escrituração R$2 mil/mês; implantação R$7 mil; assembleias R$700/h; lastro setup R$35 mil · Fundos.NET ID 704724; referência 25/07/2024; Regulamento; p. 90–92; Remuneração de Administração/Gestão; data/raw/55471753000177/704724_review_20261007.pdf; https://fnet.bmfbovespa.com.br/fnet/publico/visualizarDocumento?id=704724 · Observação: Valores adicionais conforme serviços e reajustes; gestão/lastro mensal consta na linha Gestão.</a:t>
            </a:r>
          </a:p>
          <a:p>
            <a:r>
              <a:t>CNPJ 63572282000111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Escrituração e despesas adicionais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Escrituração e despesas adicionais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Escrituração e despesas adicionais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Escrituração e despesas adicionais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Administração · Faixas por PL: 0,075%≤R$ 200 mi;0,05%200–500 mi;0,04%500 mi–1 bi;0,02%&gt;1 bi; mínimo R$ 17.500/mês, teto R$ 50 mil · Fundos.NET ID 704724 | 25/07/2024 | Regulamento | p. 90, taxaadministração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Administração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Administração · Taxa máxima agregada 1,25% a.a. PL; mínimo R$ 30 mil/mês; IGP-M · data/raw/28472333000132/732140_regulamento.pdf · ID Fundos.NET 732140 · 03/09/2024 · regulamento · p. 18–19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Administração · 0,07% do PL; mínimo R$ 15 mil/mês; teto 0,30% a.a.; IPCA · data/raw/33254370000104/1128340_regulamento.pdf · ID Fundos.NET 1128340 · 03/03/2026 · regulamento · p. 38–40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Administração · Faixas cumulativas 0,125% / 0,11% / 0,09% a.a.; mínimo R$ 27 mil/mês · data/raw/37511828000114/1200490_regulamento.pdf · ID Fundos.NET 1200490 · 27/03/2026 · regulamento · p. 105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Administração · 0,075% a.a. do PL; mínimo R$ 15 mil/mês; inclui custódia · data/raw/41970012000126/1302706_regulamento.pdf · ID Fundos.NET 1302706 · 27/08/2026 · regulamento · p. 100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Gestão · Mesmas faixas da administração: 0,075/0,05/0,04/0,02% a.a.; mínimo R$ 17.500/mês, teto R$ 50 mil; lastro + R$ 5 mil/mês · Fundos.NET ID 704724 | 25/07/2024 | Regulamento | p. 91, taxagestão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Gestão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Gestão · Parcela deduzida da taxa de administração; percentual no contrato não localizado · data/raw/28472333000132/732140_regulamento.pdf · ID Fundos.NET 732140 · 03/09/2024 · regulamento · p. 22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Gestão · Faixas do PL agregado com Mercado Crédito II: 0,20% / 0,15% / 0,13% / 0,10% a.a. · data/raw/33254370000104/1128340_regulamento.pdf · ID Fundos.NET 1128340 · 03/03/2026 · regulamento · p. 39–40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Gestão · 0,12% a.a. sobre PL; mínimo não recuperável no texto extraído · data/raw/37511828000114/1200490_regulamento.pdf · ID Fundos.NET 1200490 · 27/03/2026 · regulamento · p. 106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Gestão · Faixas do PL agregado com Mercado Crédito 0: 0,20% / 0,15% / 0,13% / 0,10% a.a. · data/raw/41970012000126/1302706_regulamento.pdf · ID Fundos.NET 1302706 · 27/08/2026 · regulamento · p. 101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55471753000177 · Custódia · Custódia incluída na administração; verificação lastro R$ 5 mil/mês na gestão · Fundos.NET ID 704724 | 25/07/2024 | Regulamento | p. 91, 5.5(iv)/5.6(ii) | data/raw/55471753000177/704724_review_20261007.pdf | https://fnet.bmfbovespa.com.br/fnet/publico/visualizarDocumento?id=704724 · Observação: Cláusula documental; emissão e data-base indicadas. Não implica posição atual em circulação.</a:t>
            </a:r>
          </a:p>
          <a:p>
            <a:r>
              <a:t>CNPJ 63572282000111 · Custódia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Custódia · Incluída na taxa máxima agregada de administração · data/raw/28472333000132/732140_regulamento.pdf · ID Fundos.NET 732140 · 03/09/2024 · regulamento · p. 18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Custódia · Taxa de custódia expressamente 0% · data/raw/33254370000104/1128340_regulamento.pdf · ID Fundos.NET 1128340 · 03/03/2026 · regulamento · p. 39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Custódia · 0,05% a.a.; mínimo R$ 3 mil/mês · data/raw/37511828000114/1200490_regulamento.pdf · ID Fundos.NET 1200490 · 27/03/2026 · regulamento · p. 106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Custódia · Incluída na taxa de administração · data/raw/41970012000126/1302706_regulamento.pdf · ID Fundos.NET 1302706 · 27/08/2026 · regulamento · p. 100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Reajuste / base · Valores fixos: IGP-M positivo anual; taxas diárias base 252; gross-up tributário · Fundos.NET ID 704724 | 25/07/2024 | Regulamento | p. 92, taxas/reajuste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Reajuste / base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Reajuste / base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Reajuste / base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Reajuste / base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Reajuste / base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55471753000177 · Escrituração e despesas adicionais · Escrituração R$2 mil/mês; implantação R$7 mil; assembleias R$700/h; lastro setup R$35 mil · Fundos.NET ID 704724; referência 25/07/2024; Regulamento; p. 90–92; Remuneração de Administração/Gestão; data/raw/55471753000177/704724_review_20261007.pdf; https://fnet.bmfbovespa.com.br/fnet/publico/visualizarDocumento?id=704724 · Observação: Valores adicionais conforme serviços e reajustes; gestão/lastro mensal consta na linha Gestão.</a:t>
            </a:r>
          </a:p>
          <a:p>
            <a:r>
              <a:t>CNPJ 63572282000111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Escrituração e despesas adicionais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Escrituração e despesas adicionais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Escrituração e despesas adicionais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Escrituração e despesas adicionais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Administração · Faixas por PL: 0,075%≤R$ 200 mi;0,05%200–500 mi;0,04%500 mi–1 bi;0,02%&gt;1 bi; mínimo R$ 17.500/mês, teto R$ 50 mil · Fundos.NET ID 704724 | 25/07/2024 | Regulamento | p. 90, taxaadministração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Administração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Administração · Taxa máxima agregada 1,25% a.a. PL; mínimo R$ 30 mil/mês; IGP-M · data/raw/28472333000132/732140_regulamento.pdf · ID Fundos.NET 732140 · 03/09/2024 · regulamento · p. 18–19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Administração · 0,07% do PL; mínimo R$ 15 mil/mês; teto 0,30% a.a.; IPCA · data/raw/33254370000104/1128340_regulamento.pdf · ID Fundos.NET 1128340 · 03/03/2026 · regulamento · p. 38–40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Administração · Faixas cumulativas 0,125% / 0,11% / 0,09% a.a.; mínimo R$ 27 mil/mês · data/raw/37511828000114/1200490_regulamento.pdf · ID Fundos.NET 1200490 · 27/03/2026 · regulamento · p. 105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Administração · 0,075% a.a. do PL; mínimo R$ 15 mil/mês; inclui custódia · data/raw/41970012000126/1302706_regulamento.pdf · ID Fundos.NET 1302706 · 27/08/2026 · regulamento · p. 100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Gestão · Mesmas faixas da administração: 0,075/0,05/0,04/0,02% a.a.; mínimo R$ 17.500/mês, teto R$ 50 mil; lastro + R$ 5 mil/mês · Fundos.NET ID 704724 | 25/07/2024 | Regulamento | p. 91, taxagestão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Gestão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Gestão · Parcela deduzida da taxa de administração; percentual no contrato não localizado · data/raw/28472333000132/732140_regulamento.pdf · ID Fundos.NET 732140 · 03/09/2024 · regulamento · p. 22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Gestão · Faixas do PL agregado com Mercado Crédito II: 0,20% / 0,15% / 0,13% / 0,10% a.a. · data/raw/33254370000104/1128340_regulamento.pdf · ID Fundos.NET 1128340 · 03/03/2026 · regulamento · p. 39–40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Gestão · 0,12% a.a. sobre PL; mínimo não recuperável no texto extraído · data/raw/37511828000114/1200490_regulamento.pdf · ID Fundos.NET 1200490 · 27/03/2026 · regulamento · p. 106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Gestão · Faixas do PL agregado com Mercado Crédito 0: 0,20% / 0,15% / 0,13% / 0,10% a.a. · data/raw/41970012000126/1302706_regulamento.pdf · ID Fundos.NET 1302706 · 27/08/2026 · regulamento · p. 101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55471753000177 · Custódia · Custódia incluída na administração; verificação lastro R$ 5 mil/mês na gestão · Fundos.NET ID 704724 | 25/07/2024 | Regulamento | p. 91, 5.5(iv)/5.6(ii) | data/raw/55471753000177/704724_review_20261007.pdf | https://fnet.bmfbovespa.com.br/fnet/publico/visualizarDocumento?id=704724 · Observação: Cláusula documental; emissão e data-base indicadas. Não implica posição atual em circulação.</a:t>
            </a:r>
          </a:p>
          <a:p>
            <a:r>
              <a:t>CNPJ 63572282000111 · Custódia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Custódia · Incluída na taxa máxima agregada de administração · data/raw/28472333000132/732140_regulamento.pdf · ID Fundos.NET 732140 · 03/09/2024 · regulamento · p. 18 · https://fnet.bmfbovespa.com.br/fnet/publico/visualizarDocumento?id=732140 · Observação: Resumo jurídico da fonte identificada; verificar aditamentos e aplicação à série</a:t>
            </a:r>
          </a:p>
          <a:p>
            <a:r>
              <a:t>CNPJ 33254370000104 · Custódia · Taxa de custódia expressamente 0% · data/raw/33254370000104/1128340_regulamento.pdf · ID Fundos.NET 1128340 · 03/03/2026 · regulamento · p. 39 · https://fnet.bmfbovespa.com.br/fnet/publico/visualizarDocumento?id=1128340 · Observação: Resumo jurídico da fonte identificada; verificar aditamentos e aplicação à série</a:t>
            </a:r>
          </a:p>
          <a:p>
            <a:r>
              <a:t>CNPJ 37511828000114 · Custódia · 0,05% a.a.; mínimo R$ 3 mil/mês · data/raw/37511828000114/1200490_regulamento.pdf · ID Fundos.NET 1200490 · 27/03/2026 · regulamento · p. 106 · https://fnet.bmfbovespa.com.br/fnet/publico/visualizarDocumento?id=1200490 · Observação: Resumo jurídico da fonte identificada; verificar aditamentos e aplicação à série</a:t>
            </a:r>
          </a:p>
          <a:p>
            <a:r>
              <a:t>CNPJ 41970012000126 · Custódia · Incluída na taxa de administração · data/raw/41970012000126/1302706_regulamento.pdf · ID Fundos.NET 1302706 · 27/08/2026 · regulamento · p. 100 · https://fnet.bmfbovespa.com.br/fnet/publico/visualizarDocumento?id=1302706 · Observação: Resumo jurídico da fonte identificada; verificar aditamentos e aplicação à série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Reajuste / base · Valores fixos: IGP-M positivo anual; taxas diárias base 252; gross-up tributário · Fundos.NET ID 704724 | 25/07/2024 | Regulamento | p. 92, taxas/reajuste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Reajuste / base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Reajuste / base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Reajuste / base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Reajuste / base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Reajuste / base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55471753000177 · Escrituração e despesas adicionais · Escrituração R$2 mil/mês; implantação R$7 mil; assembleias R$700/h; lastro setup R$35 mil · Fundos.NET ID 704724; referência 25/07/2024; Regulamento; p. 90–92; Remuneração de Administração/Gestão; data/raw/55471753000177/704724_review_20261007.pdf; https://fnet.bmfbovespa.com.br/fnet/publico/visualizarDocumento?id=704724 · Observação: Valores adicionais conforme serviços e reajustes; gestão/lastro mensal consta na linha Gestão.</a:t>
            </a:r>
          </a:p>
          <a:p>
            <a:r>
              <a:t>CNPJ 63572282000111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28472333000132 · Escrituração e despesas adicionais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Escrituração e despesas adicionais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Escrituração e despesas adicionais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Escrituração e despesas adicionais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Alocação/subordinação IME · DC / PL: proxy com validação de elegibilidade e denominador; Subordinadas / PL: conferir subclasses e fórmula do índice · Fundos.NET ID 704724 | 25/07/2024 | Regulamento | p. 33, Anexo e avaliação metodológica da revisão | data/raw/55471753000177/704724_review_20261007.pdf | https://fnet.bmfbovespa.com.br/fnet/publico/visualizarDocumento?id=704724 |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Alocação/subordinação IME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Inadimplência/PDD IME · Over 30/60/90 e PDD / crédito: indicadores agregados, sem equivalência automática a gatilhos · Fundos.NET ID 704724 | 25/07/2024 | Regulamento | p. 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Inadimplência/PDD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Controles documentais · Rating, prestadores, cessão e insolvência: controle documental/manual · Fundos.NET ID 704724 | 25/07/2024 | Regulamento | p. 12,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Controles documentais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55471753000177 · Competência IME · Cache local: 05/2026; selecionar competência para monitorar · .cache/fundonet-ime/069d15f85669bf11bc1c26c0dbeaea03c843ca94089901e26266a27d86c6b40f/manifest.json · Observação: Dado offline do IME; não representa atualização ao vivo nem comprovação dos critérios jurídicos.</a:t>
            </a:r>
          </a:p>
          <a:p>
            <a:r>
              <a:t>CNPJ 63572282000111 · Competência IME · Cache local: 05/2026; selecionar competência para monitorar · .cache/fundonet-ime/0d107a49fab9bd2333d5e0398c8bfe249e0ff6fbf10e9ef8f2fc54f3b88232e5/manifest.json · Observação: Dado offline do IME; não representa atualização ao vivo nem comprovação dos critérios jurídicos.</a:t>
            </a:r>
          </a:p>
          <a:p>
            <a:r>
              <a:t>CNPJ 28472333000132 · Competência IME · Cache local: 08/2024; selecionar competência para monitorar · .cache/fundonet-ime/8ed75537bb67dc6a19170f583161c2a47ff3e682619558cf0385ab333e36d5f7/manifest.json · Observação: Dado offline do IME; não representa atualização ao vivo nem comprovação dos critérios jurídicos.</a:t>
            </a:r>
          </a:p>
          <a:p>
            <a:r>
              <a:t>CNPJ 33254370000104 · Competência IME · Cache local: 06/2026; selecionar competência para monitorar · .cache/fundonet-ime/14374f0df302464e5dbfc66957cc7fd9a0bac9f0e10ed9729d09170a72c1491a/manifest.json · Observação: Dado offline do IME; não representa atualização ao vivo nem comprovação dos critérios jurídicos.</a:t>
            </a:r>
          </a:p>
          <a:p>
            <a:r>
              <a:t>CNPJ 37511828000114 · Competência IME · Cache local: 06/2026; selecionar competência para monitorar · .cache/fundonet-ime/a9f4e33b5478f9085019b0355739e496c83f16851fee8ca8e794ce60a4eb096b/manifest.json · Observação: Dado offline do IME; não representa atualização ao vivo nem comprovação dos critérios jurídicos.</a:t>
            </a:r>
          </a:p>
          <a:p>
            <a:r>
              <a:t>CNPJ 41970012000126 · Competência IME · Cache local: 06/2026; selecionar competência para monitorar · .cache/fundonet-ime/9ea610041c27f21719611a40f53e4cdea8c5bf8cbea6108d1b1aae629e58d089/manifest.json · Observação: Dado offline do IME; não representa atualização ao vivo nem comprovação dos critérios jurídicos.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 via IME · DC / PL: proxy com validação de elegibilidade e denominador · Fundos.NET ID 704724 | 25/07/2024 | Regulamento | p. 33,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 via IME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Alocação via IME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Alocação via IME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Alocação via IME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Subordinação via IME · Subordinadas / PL: conferir subclasses e fórmula do índice ·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Subordinação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via IME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via IME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via IME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via IME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Concentração / elegibilidade · Exige cadastro por devedor/grupo e validação de lastro; não comprovável pelo IME agregado · Fundos.NET ID 704724 | 25/07/2024 | Regulamento | p. 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Concentração /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Concentração / elegibilidade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Concentração / elegibilidade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Concentração / elegibilidade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Concentração / elegibilidade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Reservas / pagamentos · Caixa agregado é proxy parcial; exige calendário, encargos e waterfall · Fundos.NET ID 704724 | 25/07/2024 | Regulamento | p. 11,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Reservas / pagamentos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Reservas /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Reservas /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Reservas /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Reservas /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Chargeback / recompra · Recompras / crédito é proxy parcial; cancelamento e chargeback dependem de dados complementares · Fundos.NET ID 704724 | 25/07/2024 | Regulamento | p. 117,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Chargeback / 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Chargeback / recompra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Chargeback / recompra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Chargeback / recompra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Chargeback / recompra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Alocação/subordinação IME · DC / PL: proxy com validação de elegibilidade e denominador; Subordinadas / PL: conferir subclasses e fórmula do índice · Fundos.NET ID 704724 | 25/07/2024 | Regulamento | p. 33, Anexo e avaliação metodológica da revisão | data/raw/55471753000177/704724_review_20261007.pdf | https://fnet.bmfbovespa.com.br/fnet/publico/visualizarDocumento?id=704724 |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Alocação/subordinação IME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Inadimplência/PDD IME · Over 30/60/90 e PDD / crédito: indicadores agregados, sem equivalência automática a gatilhos · Fundos.NET ID 704724 | 25/07/2024 | Regulamento | p. 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Inadimplência/PDD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Controles documentais · Rating, prestadores, cessão e insolvência: controle documental/manual · Fundos.NET ID 704724 | 25/07/2024 | Regulamento | p. 12,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Controles documentais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55471753000177 · Competência IME · Cache local: 05/2026; selecionar competência para monitorar · .cache/fundonet-ime/069d15f85669bf11bc1c26c0dbeaea03c843ca94089901e26266a27d86c6b40f/manifest.json · Observação: Dado offline do IME; não representa atualização ao vivo nem comprovação dos critérios jurídicos.</a:t>
            </a:r>
          </a:p>
          <a:p>
            <a:r>
              <a:t>CNPJ 63572282000111 · Competência IME · Cache local: 05/2026; selecionar competência para monitorar · .cache/fundonet-ime/0d107a49fab9bd2333d5e0398c8bfe249e0ff6fbf10e9ef8f2fc54f3b88232e5/manifest.json · Observação: Dado offline do IME; não representa atualização ao vivo nem comprovação dos critérios jurídicos.</a:t>
            </a:r>
          </a:p>
          <a:p>
            <a:r>
              <a:t>CNPJ 28472333000132 · Competência IME · Cache local: 08/2024; selecionar competência para monitorar · .cache/fundonet-ime/8ed75537bb67dc6a19170f583161c2a47ff3e682619558cf0385ab333e36d5f7/manifest.json · Observação: Dado offline do IME; não representa atualização ao vivo nem comprovação dos critérios jurídicos.</a:t>
            </a:r>
          </a:p>
          <a:p>
            <a:r>
              <a:t>CNPJ 33254370000104 · Competência IME · Cache local: 06/2026; selecionar competência para monitorar · .cache/fundonet-ime/14374f0df302464e5dbfc66957cc7fd9a0bac9f0e10ed9729d09170a72c1491a/manifest.json · Observação: Dado offline do IME; não representa atualização ao vivo nem comprovação dos critérios jurídicos.</a:t>
            </a:r>
          </a:p>
          <a:p>
            <a:r>
              <a:t>CNPJ 37511828000114 · Competência IME · Cache local: 06/2026; selecionar competência para monitorar · .cache/fundonet-ime/a9f4e33b5478f9085019b0355739e496c83f16851fee8ca8e794ce60a4eb096b/manifest.json · Observação: Dado offline do IME; não representa atualização ao vivo nem comprovação dos critérios jurídicos.</a:t>
            </a:r>
          </a:p>
          <a:p>
            <a:r>
              <a:t>CNPJ 41970012000126 · Competência IME · Cache local: 06/2026; selecionar competência para monitorar · .cache/fundonet-ime/9ea610041c27f21719611a40f53e4cdea8c5bf8cbea6108d1b1aae629e58d089/manifest.json · Observação: Dado offline do IME; não representa atualização ao vivo nem comprovação dos critérios jurídicos.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 via IME · DC / PL: proxy com validação de elegibilidade e denominador · Fundos.NET ID 704724 | 25/07/2024 | Regulamento | p. 33,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 via IME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Alocação via IME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Alocação via IME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Alocação via IME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Subordinação via IME · Subordinadas / PL: conferir subclasses e fórmula do índice ·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Subordinação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via IME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via IME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via IME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via IME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Concentração / elegibilidade · Exige cadastro por devedor/grupo e validação de lastro; não comprovável pelo IME agregado · Fundos.NET ID 704724 | 25/07/2024 | Regulamento | p. 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Concentração /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Concentração / elegibilidade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Concentração / elegibilidade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Concentração / elegibilidade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Concentração / elegibilidade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Reservas / pagamentos · Caixa agregado é proxy parcial; exige calendário, encargos e waterfall · Fundos.NET ID 704724 | 25/07/2024 | Regulamento | p. 11,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Reservas / pagamentos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Reservas /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Reservas /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Reservas /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Reservas /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Chargeback / recompra · Recompras / crédito é proxy parcial; cancelamento e chargeback dependem de dados complementares · Fundos.NET ID 704724 | 25/07/2024 | Regulamento | p. 117,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Chargeback / 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Chargeback / recompra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Chargeback / recompra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Chargeback / recompra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Chargeback / recompra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Alocação/subordinação IME · DC / PL: proxy com validação de elegibilidade e denominador; Subordinadas / PL: conferir subclasses e fórmula do índice · Fundos.NET ID 704724 | 25/07/2024 | Regulamento | p. 33, Anexo e avaliação metodológica da revisão | data/raw/55471753000177/704724_review_20261007.pdf | https://fnet.bmfbovespa.com.br/fnet/publico/visualizarDocumento?id=704724 |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Alocação/subordinação IME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Inadimplência/PDD IME · Over 30/60/90 e PDD / crédito: indicadores agregados, sem equivalência automática a gatilhos · Fundos.NET ID 704724 | 25/07/2024 | Regulamento | p. 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Inadimplência/PDD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Controles documentais · Rating, prestadores, cessão e insolvência: controle documental/manual · Fundos.NET ID 704724 | 25/07/2024 | Regulamento | p. 12,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Controles documentais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55471753000177 · Competência IME · Cache local: 05/2026; selecionar competência para monitorar · .cache/fundonet-ime/069d15f85669bf11bc1c26c0dbeaea03c843ca94089901e26266a27d86c6b40f/manifest.json · Observação: Dado offline do IME; não representa atualização ao vivo nem comprovação dos critérios jurídicos.</a:t>
            </a:r>
          </a:p>
          <a:p>
            <a:r>
              <a:t>CNPJ 63572282000111 · Competência IME · Cache local: 05/2026; selecionar competência para monitorar · .cache/fundonet-ime/0d107a49fab9bd2333d5e0398c8bfe249e0ff6fbf10e9ef8f2fc54f3b88232e5/manifest.json · Observação: Dado offline do IME; não representa atualização ao vivo nem comprovação dos critérios jurídicos.</a:t>
            </a:r>
          </a:p>
          <a:p>
            <a:r>
              <a:t>CNPJ 28472333000132 · Competência IME · Cache local: 08/2024; selecionar competência para monitorar · .cache/fundonet-ime/8ed75537bb67dc6a19170f583161c2a47ff3e682619558cf0385ab333e36d5f7/manifest.json · Observação: Dado offline do IME; não representa atualização ao vivo nem comprovação dos critérios jurídicos.</a:t>
            </a:r>
          </a:p>
          <a:p>
            <a:r>
              <a:t>CNPJ 33254370000104 · Competência IME · Cache local: 06/2026; selecionar competência para monitorar · .cache/fundonet-ime/14374f0df302464e5dbfc66957cc7fd9a0bac9f0e10ed9729d09170a72c1491a/manifest.json · Observação: Dado offline do IME; não representa atualização ao vivo nem comprovação dos critérios jurídicos.</a:t>
            </a:r>
          </a:p>
          <a:p>
            <a:r>
              <a:t>CNPJ 37511828000114 · Competência IME · Cache local: 06/2026; selecionar competência para monitorar · .cache/fundonet-ime/a9f4e33b5478f9085019b0355739e496c83f16851fee8ca8e794ce60a4eb096b/manifest.json · Observação: Dado offline do IME; não representa atualização ao vivo nem comprovação dos critérios jurídicos.</a:t>
            </a:r>
          </a:p>
          <a:p>
            <a:r>
              <a:t>CNPJ 41970012000126 · Competência IME · Cache local: 06/2026; selecionar competência para monitorar · .cache/fundonet-ime/9ea610041c27f21719611a40f53e4cdea8c5bf8cbea6108d1b1aae629e58d089/manifest.json · Observação: Dado offline do IME; não representa atualização ao vivo nem comprovação dos critérios jurídicos.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 via IME · DC / PL: proxy com validação de elegibilidade e denominador · Fundos.NET ID 704724 | 25/07/2024 | Regulamento | p. 33,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 via IME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Alocação via IME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Alocação via IME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Alocação via IME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Subordinação via IME · Subordinadas / PL: conferir subclasses e fórmula do índice ·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Subordinação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via IME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via IME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via IME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via IME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Concentração / elegibilidade · Exige cadastro por devedor/grupo e validação de lastro; não comprovável pelo IME agregado · Fundos.NET ID 704724 | 25/07/2024 | Regulamento | p. 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Concentração /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Concentração / elegibilidade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Concentração / elegibilidade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Concentração / elegibilidade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Concentração / elegibilidade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Reservas / pagamentos · Caixa agregado é proxy parcial; exige calendário, encargos e waterfall · Fundos.NET ID 704724 | 25/07/2024 | Regulamento | p. 11,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Reservas / pagamentos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Reservas /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Reservas /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Reservas /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Reservas /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Chargeback / recompra · Recompras / crédito é proxy parcial; cancelamento e chargeback dependem de dados complementares · Fundos.NET ID 704724 | 25/07/2024 | Regulamento | p. 117,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Chargeback / 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Chargeback / recompra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Chargeback / recompra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Chargeback / recompra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Chargeback / recompra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2026-10-07T15:13:33-03:00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Mercado Crédito Merchant: CNPJ 28472333000132</a:t>
            </a:r>
          </a:p>
          <a:p>
            <a:r>
              <a:t>Mercado Crédito 0: CNPJ 33254370000104</a:t>
            </a:r>
          </a:p>
          <a:p>
            <a:r>
              <a:t>Mercado Crédito I Brasil: CNPJ 37511828000114</a:t>
            </a:r>
          </a:p>
          <a:p>
            <a:r>
              <a:t>Mercado Crédito II Brasil: CNPJ 41970012000126</a:t>
            </a:r>
          </a:p>
          <a:p>
            <a:r>
              <a:t>Fontes: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Alocação/subordinação IME · DC / PL: proxy com validação de elegibilidade e denominador; Subordinadas / PL: conferir subclasses e fórmula do índice · Fundos.NET ID 704724 | 25/07/2024 | Regulamento | p. 33, Anexo e avaliação metodológica da revisão | data/raw/55471753000177/704724_review_20261007.pdf | https://fnet.bmfbovespa.com.br/fnet/publico/visualizarDocumento?id=704724 |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Alocação/subordinação IME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Inadimplência/PDD IME · Over 30/60/90 e PDD / crédito: indicadores agregados, sem equivalência automática a gatilhos · Fundos.NET ID 704724 | 25/07/2024 | Regulamento | p. 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Inadimplência/PDD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Controles documentais · Rating, prestadores, cessão e insolvência: controle documental/manual · Fundos.NET ID 704724 | 25/07/2024 | Regulamento | p. 12,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Controles documentais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33254370000104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37511828000114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41970012000126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55471753000177 · Competência IME · Cache local: 05/2026; selecionar competência para monitorar · .cache/fundonet-ime/069d15f85669bf11bc1c26c0dbeaea03c843ca94089901e26266a27d86c6b40f/manifest.json · Observação: Dado offline do IME; não representa atualização ao vivo nem comprovação dos critérios jurídicos.</a:t>
            </a:r>
          </a:p>
          <a:p>
            <a:r>
              <a:t>CNPJ 63572282000111 · Competência IME · Cache local: 05/2026; selecionar competência para monitorar · .cache/fundonet-ime/0d107a49fab9bd2333d5e0398c8bfe249e0ff6fbf10e9ef8f2fc54f3b88232e5/manifest.json · Observação: Dado offline do IME; não representa atualização ao vivo nem comprovação dos critérios jurídicos.</a:t>
            </a:r>
          </a:p>
          <a:p>
            <a:r>
              <a:t>CNPJ 28472333000132 · Competência IME · Cache local: 08/2024; selecionar competência para monitorar · .cache/fundonet-ime/8ed75537bb67dc6a19170f583161c2a47ff3e682619558cf0385ab333e36d5f7/manifest.json · Observação: Dado offline do IME; não representa atualização ao vivo nem comprovação dos critérios jurídicos.</a:t>
            </a:r>
          </a:p>
          <a:p>
            <a:r>
              <a:t>CNPJ 33254370000104 · Competência IME · Cache local: 06/2026; selecionar competência para monitorar · .cache/fundonet-ime/14374f0df302464e5dbfc66957cc7fd9a0bac9f0e10ed9729d09170a72c1491a/manifest.json · Observação: Dado offline do IME; não representa atualização ao vivo nem comprovação dos critérios jurídicos.</a:t>
            </a:r>
          </a:p>
          <a:p>
            <a:r>
              <a:t>CNPJ 37511828000114 · Competência IME · Cache local: 06/2026; selecionar competência para monitorar · .cache/fundonet-ime/a9f4e33b5478f9085019b0355739e496c83f16851fee8ca8e794ce60a4eb096b/manifest.json · Observação: Dado offline do IME; não representa atualização ao vivo nem comprovação dos critérios jurídicos.</a:t>
            </a:r>
          </a:p>
          <a:p>
            <a:r>
              <a:t>CNPJ 41970012000126 · Competência IME · Cache local: 06/2026; selecionar competência para monitorar · .cache/fundonet-ime/9ea610041c27f21719611a40f53e4cdea8c5bf8cbea6108d1b1aae629e58d089/manifest.json · Observação: Dado offline do IME; não representa atualização ao vivo nem comprovação dos critérios jurídicos.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 via IME · DC / PL: proxy com validação de elegibilidade e denominador · Fundos.NET ID 704724 | 25/07/2024 | Regulamento | p. 33,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Alocação via IME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Alocação via IME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Alocação via IME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Alocação via IME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Subordinação via IME · Subordinadas / PL: conferir subclasses e fórmula do índice ·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Subordinação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Subordinação via IME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Subordinação via IME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Subordinação via IME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Subordinação via IME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Concentração / elegibilidade · Exige cadastro por devedor/grupo e validação de lastro; não comprovável pelo IME agregado · Fundos.NET ID 704724 | 25/07/2024 | Regulamento | p. 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Concentração /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Concentração / elegibilidade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Concentração / elegibilidade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Concentração / elegibilidade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Concentração / elegibilidade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Reservas / pagamentos · Caixa agregado é proxy parcial; exige calendário, encargos e waterfall · Fundos.NET ID 704724 | 25/07/2024 | Regulamento | p. 11,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Reservas / pagamentos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Reservas / pagamentos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Reservas / pagamentos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Reservas / pagamentos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Reservas / pagamentos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Chargeback / recompra · Recompras / crédito é proxy parcial; cancelamento e chargeback dependem de dados complementares · Fundos.NET ID 704724 | 25/07/2024 | Regulamento | p. 117,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Chargeback / 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28472333000132 · Chargeback / recompra · Não localizado nas fontes acessíveis desta leitura · ID 732140 · 03/09/2024 · data/raw/28472333000132/732140_regulamento.pdf; ID 681860 · 17/06/2024 10:00 · data/raw/28472333000132/681860_assembleia.pdf; ID 448299 · 19/04/2023 · data/raw/28472333000132/448299_regulamento.pdf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33254370000104 · Chargeback / recompra · Não localizado nas fontes acessíveis desta leitura · ID 1219308 · 03/06/2026 10:00 · data/raw/33254370000104/1219308_assembleia.pdf; ID 1200703 · 20/05/2026 10:00 · data/raw/33254370000104/1200703_assembleia.pdf; ID 1128340 · 03/03/2026 · data/raw/33254370000104/1128340_regulamento.pdf; ID 1118467 · 19/02/2026 · data/raw/33254370000104/1118467_regulamento.pdf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  <a:p>
            <a:r>
              <a:t>CNPJ 37511828000114 · Chargeback / recompra · Não localizado nas fontes acessíveis desta leitura · ID 1200490 · 27/03/2026 · data/raw/37511828000114/1200490_regulamento.pdf; ID 1019776 · 20/10/2025 · data/raw/37511828000114/1019776_regulamento.pdf · Observação: Leitura dirigida de regulamentos completos e atos acessíveis identificados nas fontes; o inventário não foi integralmente relido. Datas documentais posteriores ao período do nome da carteira estão explicitadas. Inventário atual tecnicamente indisponível: Fundos.NET respondeu HTTP 520 em pesquisarGerenciadorDocumentosDados.. Inventário anterior preservado; vigência mais recente exige nova consulta.</a:t>
            </a:r>
          </a:p>
          <a:p>
            <a:r>
              <a:t>CNPJ 41970012000126 · Chargeback / recompra · Não localizado nas fontes acessíveis desta leitura · ID 1341484 · 05/10/2026 10:00 · data/raw/41970012000126/1341484_assembleia.pdf; ID 1314682 · 10/09/2026 · data/raw/41970012000126/1314682_emissao.pdf; ID 1302706 · 27/08/2026 · data/raw/41970012000126/1302706_regulamento.pdf; ID 1302705 · 27/08/2026 10:00 · data/raw/41970012000126/1302705_assembleia.pdf; ID 1077334 · 19/12/2025 · data/raw/41970012000126/1077334_regulamento.pdf; ID 999523 · 12/06/2025 · data/raw/41970012000126/999523_emissao.pdf · Observação: Leitura dirigida de regulamentos completos e atos acessíveis identificados nas fontes; o inventário não foi integralmente relido. Datas documentais posteriores ao período do nome da carteira estão explicitadas.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7000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Mercado Pago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créditos sub-rogados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pelo Mercado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Mercado Pago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créditos sub-rogados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pelo Mercado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parcelado e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PPV da plataforma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comerciais e 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comerciais e 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IFs parceiras originam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CCBs; cedentes PPV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 IP Ltda.;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CNPJ 10.573.521/0001-91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 IP Ltda.;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CNPJ 10.573.521/0001-91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prestadores/FGC;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reais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prestadores/FGC;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reais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BRL; créditos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vincendos; devedor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controle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partes relacionadas;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exigibilidade na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BRL; créditos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vincendos; devedor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controle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partes relacionadas;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exigibilidade na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854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econômico: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Pago; teto 20%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PL dispensado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da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econômico: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Pago; teto 20%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PL dispensado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da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365 dias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cessão,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365 dias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cessão,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administrador/gestor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relacionados; cotas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fundos por eles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administrador/gestor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relacionados; cotas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fundos por eles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Day trade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crédito parcelado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veículos; direitos PPV futuros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plataforma Mercado Pago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crédito parcelado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consumidores e comerciantes,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originadas por IFs parceiras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endossadas por IF MeLi,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entidades Mercado Pago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veículos do grupo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Instituições financeiras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parceiras originam CCBs;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comerciais originam PPV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IFs parceiras; Mercado Pago atua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como correspondente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IF MeLi e entidades/veículos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 que celebraram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 de endosso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PF/PJ nas CCBs; Mercado Pago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PPV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22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originadas por IF parceira: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veículos ≤ 60 meses; demais ≤ 25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Dispensa do limite por emissor;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critérios individuais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tipo de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único ≤ 0,5% dos DC;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 produto, perfil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Day trade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iniciadas e encerradas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mesmo dia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832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 ≥10%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 ≥33,3%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≥ 30%; pode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cair a 20% com rating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≥ AA e atraso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histórico &lt; 7%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e cross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default; hipóteses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cura detalhadas abaixo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e cross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default; hipóteses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cura detalhadas abaixo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Alocação &lt; 50% por 30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relação mínima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cura em 30 dias;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solução em 10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da próxima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amortização: acumular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D-45; integral D-10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da próxima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amortização: acumular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D-45; integral D-10 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D-10/integral D-5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amortização: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 total da 1ª série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em circulação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R$5 milhões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2290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Divergência: cláusula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2.9 admite proteção;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fator de risco afirma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vedação inclusive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 de PDD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prestação/lastro,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solvência e obrigações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Mercado Pago/Mercado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prestação/lastro,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solvência e obrigações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Mercado Pago/Mercado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83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sênior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sanado em 2 DU;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 convertida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inexigibilidade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 &gt;45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de cotas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sanado em 2 DU;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inexigível &gt;15 dias;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inadimplência ≥R$5 mi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cura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ordinárias 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ordinárias 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Cross default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MercadoLibre: terceiros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&gt;US$75 mi; grupo Brasil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&gt;R$150 mi; cura 10 DU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prazo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MercadoLibre: terceiros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&gt;US$75 mi; grupo Brasil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&gt;R$150 mi; cura 5 DU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4165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cobertura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enquadramento mensal; 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datas de aniversário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consecutivas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desenquadradas geram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medidas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 ≥1,00;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 após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referências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consecutivas ou 4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alternadas em 12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liquidez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≥1,00 pro forma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emissões; fluxos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CDI, potencial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e despesas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Devolução de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&gt;4% por 2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consecutivos ou 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alternados em 12 meses;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&gt;5% em qualquer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Resolução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&gt;2% por 2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consecutivos ou 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alternados em 12 meses;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&gt;5% em qualquer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7183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Piso dinâmico: 25%, 30% ou 35%,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rentabilidade excedente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média de três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 10% PL, com majorações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condicionais por excesso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juros e perdas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 10% PL; eventos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step-down majoram a proteção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Excesso de spread &lt; 0,01%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acelera sênior; safras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veículos: Over30 MOB3 &gt; 5,5%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Over60 MOB6 &gt; 6,5% em 2 de 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safras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 histórico comerciante: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 8%; 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acelerada 7%; tabelas MOB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remuneração sênior: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+ principal, quando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aplicável, das próximas 3 datas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 de 0,20%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recompor se saldo &lt; 50% do valor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despesas: 1,05%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recomposição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ou mitigação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risco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patrimonial/troca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indexador sem risco de capital;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 vista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 derivativos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expressamente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 contábil deduzida no preço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opção de compra dos créditos;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percentual próprio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347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Cross default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Endividamento do Mercado Pago: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inadimplemento/aceleração &gt;US$75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milhões; observar cura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cobertura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liquidez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Devolução de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Resolução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3251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elegíveis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50% PL após 90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recorrentes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potencial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e eventos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recorrentes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potencial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e eventos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profissional/autorizado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versão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profissional/autorizado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versão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vícios/descumprimentos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tem risco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indenização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vícios/descumprimentos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contratos;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tem risco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não respondem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pagamento/solvência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não respondem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pagamento/solvência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7960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Encargos/reservas;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júnior, conforme ordem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Encargos/reservas;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júnior, conforme ordem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fiscal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 3.3: numeral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 do PL, extenso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“cinquenta por cento”;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 textual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Gestor identificado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Polígono Capital Ltda.;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CNPJ 43.241.789/0001-85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Opção de compra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créditos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7810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180 dias: 50% PL para fins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regulatórios; 67% para fins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 PL para 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tributário; verificar índices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Perda posterior de elegibilidade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gera regresso, ressalvadas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culpa ou dolo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por Mercado Pago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inelegibilidade, vício ou falha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imputável, com limites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e reservas → sênior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MZ A → MZ B → MZ C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97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fiscal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Gestor identificado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 BTG Pactual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Financeiros DTVM;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gestão: Polígono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 Banco Genial;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gestão: Polígono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 BTG Pactual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Serviços Financeiros; custódia: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BTG; gestão: Polígono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Opção de compra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créditos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Endossantes: preço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+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rendimentos/encargos, deduzida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PDD; limite 10% do investimento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4165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séries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atos/apêndices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séries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atos/apêndices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em séries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DI +0,85%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séries/spreads finais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localizados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revisão; Não localizado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Sobretaxa definida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suplemento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modelo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 os termos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R$1,5 bi;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1,5 milhão de cotas;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R$1.000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R$1 bi; 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milhão de cotas; VNU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R$1.000; júnior até 10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 cotas aprovadas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encerramento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oferta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04/06/2025; outros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atos/séries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reconciliados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oferta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primária encerrada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06/08/2024; melhores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esforços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15/27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5170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DI +0,85%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demais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séries/spreads finais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localizados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revisão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R$1,5 bi;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1,5 milhão de cotas;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R$1.000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sênior:R$ 1 bi;1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milhão de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distribuídas;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10 mil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aprovadas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R$1.000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R$1.000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cota; júnior pelo valor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 cota na data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16/27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subordinadas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3ª série preenchida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apêndices-modelo mantêm campos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abertos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1ª/2ª/3ª emissões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primeira série; MZ A/B/C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DI + 3,00% a.a.,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fator adicional por capital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utilizado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da versão atual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apêndices econômicos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atuais em aberto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DI + 1,75%; MZ A +3,00%;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MZ B +4,25%; MZ C +5,45%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R$ 300 milhões; 300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 cotas;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R$ 500.000.838,84;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1.016.076 cotas; VNU R$ 492,09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14/08/2026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17/27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22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fator 0,75/0,50/0,40%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 sobre capital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integralizado, por faixas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utilização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18/27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5170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sênior:30 meses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inclusive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semestral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desde 6º mês; 5ª sênior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:15/12/2027–15/05/2028;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parcelas 16,67/20/25/33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,33/50/100% do saldo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restante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sênior:36º 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aponta final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15/05/2028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semestral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desde 6º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sênior:15/12/2027–15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/05/2028; parcelas 16,6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7/20/25/33,33/50/100%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 saldo restante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19/27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1559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série: texto 18 meses;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 inicia principal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mês 13. Divergência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sênior após janela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investimento, limite 14/08/2028;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MZ respeita prioridade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juros mensais;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nas datas da tabela,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divergência da carência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textual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dia 14 ou DU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seguinte; principal condicionado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ao fim da janela de investimento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calendário termina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abril/2028; prazo textual três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anos da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MZ A/B/C: 14/08/2030,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DU seguinte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20/27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2872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por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0,075%≤R$ 200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mi;0,05%200–500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mi;0,04%500 mi–1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bi;0,02%&gt;1 bi;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R$ 17.500/mês, teto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por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0,075%≤R$ 200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mi;0,05%200–500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mi;0,04%500 mi–1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bi;0,02%&gt;1 bi;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R$ 17.500/mês, teto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máxima agregada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1,25% a.a.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R$ 30 mil/mês; IGP-M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Mesmas faixas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0,075/0,05/0,04/0,02%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17.500/mês, teto R$ 50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mil; lastro + R$ 5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Mesmas faixas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0,075/0,05/0,04/0,02%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17.500/mês, teto R$ 50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mil; lastro + R$ 5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 deduzida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de 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percentual no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21/27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832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Custódia: contrato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adicional; taxa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localizada; lastro R$ 5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 na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verificação lastro R$ 5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 na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máxima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fixos: IGP-M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 anual; taxas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diárias base 252;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gross-up 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fixos: IGP-M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positivo anual; taxas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diárias base 252;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gross-up 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Escrituração e despesas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 R$2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implantação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R$7 mil; assembleias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R$700/h; lastro setup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R$35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 R$2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implantação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R$7 mil; assembleias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R$700/h; lastro setup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R$35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22/27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22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0,07% do PL; mínimo R$ 15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teto 0,30% a.a.;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cumulativas 0,125%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0,11% / 0,09% a.a.; mínimo R$ 27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0,075% a.a. do PL; mínimo R$ 15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mil/mês; inclui 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do PL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Crédito II: 0,20%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/ 0,13% / 0,10%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0,12% a.a. sobre PL; mínimo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recuperável no texto extraído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do PL agregado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Crédito 0: 0,20% / 0,15%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 0,13% / 0,10%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de custódia expressamente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a.a.; mínimo R$ 3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Escrituração e despesas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23/27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978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candidatos; validar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exclusões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proxies; safras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MOB/perdas ajustadas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e insolvência: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cross-default, trocas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05/2026;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05/2026;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05/2026;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08/2024;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24/27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887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Merchant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conferir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lastro;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comprovável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dados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25/27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930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 candidatos;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validar denominadores,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exclusões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 candidatos;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validar denominadores,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exclusões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 candidatos;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validar denominadores,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exclusões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proxies; safras MOB/perdas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ajustadas 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proxies; safras MOB/perdas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ajustadas 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proxies; safras MOB/perdas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ajustadas exigem relatório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cross-default,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trocas 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cross-default,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trocas 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individual, cross-default,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trocas de prestadores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do hedge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26/27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(Todos)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0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27/27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