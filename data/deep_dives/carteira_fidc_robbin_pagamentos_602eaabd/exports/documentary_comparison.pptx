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Natureza dos recebíveis · Parcelas de CCBs endossadas; fluxo de pagamentos e cobrança pelo originador · Fundos.NET ID 1333831 | 24/09/2026 | regulamento | p. 5,53–55; Direitos Creditórios; cláusula9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Originador/endossante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Devedor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Garantia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Elegibilidade · BRL; sem vencidos; PJ constituída há≥6 meses; prazo≤12 meses; taxa de endosso 2,30%/2,49% a.m. conforme subordinação · Fundos.NET ID 1333831 | 24/09/2026 | regulamento | p. 44–45; 8.1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Concentração · Grupo maior≤20% do PL quando proteção mezanino A≥50%; abaixo, maior entre 2,5% do PL/R$ 2,5 mi; demais grupos≤1% do PL · Fundos.NET ID 1333831 | 24/09/2026 | regulamento | p. 45–46; 8.1(i) | data/raw/63615161000100/1333831_regulamento_review_20261007.pdf | https://fnet.bmfbovespa.com.br/fnet/publico/visualizarDocumento?id=1333831 · Observação: Top 10/20 têm limites próprios e denominador subordinadas júnior+mezanino B ou PL conforme proteção; não aplicar 20% indistintamente.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Subordinação mínima · Sênior: todas subordinadas/PL≥50%; mezanino A: (B+júnior)/PL≥35%/33%/30% por faixasPL; júnior/PL≥15% · Fundos.NET ID 1333831 | 24/09/2026 | regulamento | p. 8,57–58; Definições; 11.6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Gatilhos de avaliação/liquidação · FPD 30&gt;8,50% por safra; recebimentos&lt;90%; cobertura≤1; subordinação fora por 5 DU; originador deve reter≥67% das juniores · Fundos.NET ID 1333831 | 24/09/2026 | regulamento | p. 72; 19.2(p–w)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Reserva de caixa · 2 meses de encargos · Fundos.NET ID 1333831 | 24/09/2026 | regulamento | p. 65; 14.1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Derivativos/hedge · Proteção patrimonial; contraparte ligada à gestão pode atingir 100% do PL sem contraparte central · Fundos.NET ID 1333831 | 24/09/2026 | regulamento | p. 39; 6.4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PDD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Alocação mínima · Direitos endossados≥67% do PL após 180 dias · Fundos.NET ID 1333831 | 24/09/2026 | regulamento | p. 1,39; Alocação Mínima; 6.2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Pool/revolvência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Duração/público-alvo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Cessão/recompra · Inconsistência relevante do lastro gera recompra obrigatória pelo originador · Fundos.NET ID 1333831 | 24/09/2026 | regulamento | p. 44; 7.8/8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Coobrigação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Waterfall · Encargos; derivativos; reserva; sênior; mezanino A; mezanino B; júnior; aquisições · Fundos.NET ID 1333831 | 24/09/2026 | regulamento | p. 65–67; 15.1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Classes/séries · Sênior; mezaninos A/B; júnior; nova oferta sênior 2ª série · Fundos.NET ID 1333831 | 24/09/2026 | regulamento | p. 55–58; 11.1–11.6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Remuneração · Spread final não localizado; modelos remetem à definição no apêndice/bookbuilding · Fundos.NET ID 1333831 | 24/09/2026 | regulamento | p. 94,97,100; Modelos de apêndices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Volume/VNU · Sênior 2ª série: R$ 20 mi; 20 mil cotas; VNU R$ 1 mil · Fundos.NET ID 1324657 | 21/09/2026 | emissao | p. 1; Anúncio início | data/raw/63615161000100/1324657_emissao_review_20261007.pdf | https://fnet.bmfbovespa.com.br/fnet/publico/visualizarDocumento?id=1324657 · Observação: Regra da versão indicada; resumo sujeito às condições completas da cláusula. IME agregado não comprova elegibilidade individual.</a:t>
            </a:r>
          </a:p>
          <a:p>
            <a:r>
              <a:t>CNPJ 63615161000100 · Ofertas · Registro/início 21/09/2026; liquidação indicativa 24/09; encerramento subscrição 18/03/2027 · Fundos.NET ID 1324657 | 21/09/2026 | emissao | p. 1; Cronograma indicativo | data/raw/63615161000100/1324657_emissao_review_20261007.pdf | https://fnet.bmfbovespa.com.br/fnet/publico/visualizarDocumento?id=1324657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Carência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  <a:p>
            <a:r>
              <a:t>CNPJ 63615161000100 · Juros/amortização · Cronograma fechado não identificado nos modelos; confirmar ato específico da 2ª série · Fundos.NET ID 1333831 | 24/09/2026 | regulamento | p. 94,97,100; Apêndices modelo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Vencimento · Não localizado nas fontes acessíveis desta leitura · data/raw/63615161000100/access_status_20261007.txt | Consulta Fundos.NET por CNPJ 63615161000100 em 07/10/2026; inventário completo com 28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Administração · 0,12% a.a. sobre PL; mínimo R$ 10 mil/mês; IPCA · Fundos.NET ID 1333831 | 24/09/2026 | regulamento | p. 37–38; 5.1(a); 5.5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Gestão · 0,60% a.a. sobre PL; mínimo R$ 5 mil até 6º mês, R$ 20 mil 7º–12º, R$ 30 mil após 13º; IPCA · Fundos.NET ID 1333831 | 24/09/2026 | regulamento | p. 37–38; 5.2; 5.5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  <a:p>
            <a:r>
              <a:t>CNPJ 63615161000100 · Custódia · 0,02% a.a. sobre PL; mínimo R$ 2,8 mil/mês; custódia/escrituração · Fundos.NET ID 1333831 | 24/09/2026 | regulamento | p. 37; 5.1(b) | data/raw/63615161000100/1333831_regulamento_review_20261007.pdf | https://fnet.bmfbovespa.com.br/fnet/publico/visualizarDocumento?id=1333831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2026-10-07T16:40:09-03:00</a:t>
            </a:r>
          </a:p>
          <a:p>
            <a:r>
              <a:t>ROBBIN PAGAMENTOS I: CNPJ 63615161000100</a:t>
            </a:r>
          </a:p>
          <a:p>
            <a:r>
              <a:t>Fontes:</a:t>
            </a:r>
          </a:p>
          <a:p>
            <a:r>
              <a:t>CNPJ 63615161000100 · Alocação/subordinação IME · Direitos creditórios / PL e cotas subordinadas / PL; validar ativo elegível, subclasses e fórmula contratual · data/raw/63615161000100/access_status_20261007.txt | Consulta Fundos.NET por CNPJ 63615161000100 em 07/10/2026; inventário completo com 28 registros · Observação: Avaliação metodológica do IME público; dados de cache e monitoramento ao vivo são apresentados separadamente.</a:t>
            </a:r>
          </a:p>
          <a:p>
            <a:r>
              <a:t>CNPJ 63615161000100 · Inadimplência/PDD IME · Over 30/60/90 e PDD / crédito: indicadores agregados; gatilhos dependem de denominador e janela contratual · data/raw/63615161000100/access_status_20261007.txt | Consulta Fundos.NET por CNPJ 63615161000100 em 07/10/2026; inventário completo com 28 registros · Observação: Avaliação metodológica do IME público; dados de cache e monitoramento ao vivo são apresentados separadamente.</a:t>
            </a:r>
          </a:p>
          <a:p>
            <a:r>
              <a:t>CNPJ 63615161000100 · Controles documentais · Elegibilidade, concentração por devedor/grupo, lastro, prestadores e eventos: validação documental e operacional · data/raw/63615161000100/access_status_20261007.txt | Consulta Fundos.NET por CNPJ 63615161000100 em 07/10/2026; inventário completo com 28 registros · Observação: Avaliação metodológica do IME público; dados de cache e monitoramento ao vivo são apresentados separadamente.</a:t>
            </a:r>
          </a:p>
          <a:p>
            <a:r>
              <a:t>CNPJ 63615161000100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de CCBs endossadas; fluxo de pagamentos e cobrança pelo 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BRL; sem vencidos; PJ constituída há≥6 meses; prazo≤12 meses; taxa de endosso 2,30%/2,49% a.m.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subordinação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Grupo maior≤20% do PL quando proteção mezanino A≥50%; abaixo, maior entre 2,5% do PL/R$ 2,5 mi;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grupos≤1%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todas subordinadas/PL≥50%; mezanino A: (B+júnior)/PL≥35%/33%/30% por faixasPL; júnior/PL≥15%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FPD 30&gt;8,50% por safra; recebimentos&lt;90%; cobertura≤1; subordinação fora por 5 DU; originador deve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reter≥67% das juniores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 meses de encargos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patrimonial; contraparte ligada à gestão pode atingir 100% do PL sem contraparte central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endossados≥67% do PL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Inconsistência relevante do lastro gera recompra obrigatória pelo 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Encargos; derivativos; reserva; sênior; mezanino A; mezanino B; júnior; 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Sênior; mezaninos A/B; júnior; nova oferta sênior 2ª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localizado; modelos remetem à definição no apêndice/bookbuilding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2ª série: R$ 20 mi; 20 mil cotas;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Registro/início 21/09/2026; liquidação indicativa 24/09; encerramento subscrição 18/03/2027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nos modelos; confirmar ato específico da 2ª série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0,12% a.a. sobre PL; mínimo R$ 10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0,60% a.a. sobre PL; mínimo R$ 5 mil até 6º mês, R$ 20 mil 7º–12º, R$ 30 mil após 13º;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0,02% a.a. sobre PL; mínimo R$ 2,8 mil/mês; custódia/escrituração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Robbin Pagamentos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ROBBIN PAGAMENTOS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ativo elegível, subclasses e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