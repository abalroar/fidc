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2026-10-07T16:40:09-03:00</a:t>
            </a:r>
          </a:p>
          <a:p>
            <a:r>
              <a:t>ROBBIN PAGAMENTOS I: CNPJ 63615161000100</a:t>
            </a:r>
          </a:p>
          <a:p>
            <a:r>
              <a:t>Fontes:</a:t>
            </a:r>
          </a:p>
          <a:p>
            <a:r>
              <a:t>CNPJ 63615161000100 · Natureza dos recebíveis · Parcelas de CCBs endossadas; fluxo de pagamentos e cobrança pelo originador · Fundos.NET ID 1333831 | 24/09/2026 | regulamento | p. 5,53–55; Direitos Creditórios; cláusula9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  <a:p>
            <a:r>
              <a:t>CNPJ 63615161000100 · Originador/endossante · Não localizado nas fontes acessíveis desta leitura · data/raw/63615161000100/access_status_20261007.txt | Consulta Fundos.NET por CNPJ 63615161000100 em 07/10/2026; inventário completo com 28 registros · Observação: Lacuna na revisão dirigida; obter cláusula específica antes de concluir ausência ou enquadramento.</a:t>
            </a:r>
          </a:p>
          <a:p>
            <a:r>
              <a:t>CNPJ 63615161000100 · Devedor · Não localizado nas fontes acessíveis desta leitura · data/raw/63615161000100/access_status_20261007.txt | Consulta Fundos.NET por CNPJ 63615161000100 em 07/10/2026; inventário completo com 28 registros · Observação: Lacuna na revisão dirigida; obter cláusula específica antes de concluir ausência ou enquadramento.</a:t>
            </a:r>
          </a:p>
          <a:p>
            <a:r>
              <a:t>CNPJ 63615161000100 · Garantia · Não localizado nas fontes acessíveis desta leitura · data/raw/63615161000100/access_status_20261007.txt | Consulta Fundos.NET por CNPJ 63615161000100 em 07/10/2026; inventário completo com 28 registros · Observação: Lacuna na revisão dirigida; obter cláusula específica antes de concluir ausência ou enquadramento.</a:t>
            </a:r>
          </a:p>
          <a:p>
            <a:r>
              <a:t>CNPJ 63615161000100 · Elegibilidade · BRL; sem vencidos; PJ constituída há≥6 meses; prazo≤12 meses; taxa de endosso 2,30%/2,49% a.m. conforme subordinação · Fundos.NET ID 1333831 | 24/09/2026 | regulamento | p. 44–45; 8.1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  <a:p>
            <a:r>
              <a:t>CNPJ 63615161000100 · Concentração · Grupo maior≤20% do PL quando proteção mezanino A≥50%; abaixo, maior entre 2,5% do PL/R$ 2,5 mi; demais grupos≤1% do PL · Fundos.NET ID 1333831 | 24/09/2026 | regulamento | p. 45–46; 8.1(i) | data/raw/63615161000100/1333831_regulamento_review_20261007.pdf | https://fnet.bmfbovespa.com.br/fnet/publico/visualizarDocumento?id=1333831 · Observação: Top 10/20 têm limites próprios e denominador subordinadas júnior+mezanino B ou PL conforme proteção; não aplicar 20% indistintamente.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2026-10-07T16:40:09-03:00</a:t>
            </a:r>
          </a:p>
          <a:p>
            <a:r>
              <a:t>ROBBIN PAGAMENTOS I: CNPJ 63615161000100</a:t>
            </a:r>
          </a:p>
          <a:p>
            <a:r>
              <a:t>Fontes:</a:t>
            </a:r>
          </a:p>
          <a:p>
            <a:r>
              <a:t>CNPJ 63615161000100 · Subordinação mínima · Sênior: todas subordinadas/PL≥50%; mezanino A: (B+júnior)/PL≥35%/33%/30% por faixasPL; júnior/PL≥15% · Fundos.NET ID 1333831 | 24/09/2026 | regulamento | p. 8,57–58; Definições; 11.6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  <a:p>
            <a:r>
              <a:t>CNPJ 63615161000100 · Gatilhos de avaliação/liquidação · FPD 30&gt;8,50% por safra; recebimentos&lt;90%; cobertura≤1; subordinação fora por 5 DU; originador deve reter≥67% das juniores · Fundos.NET ID 1333831 | 24/09/2026 | regulamento | p. 72; 19.2(p–w)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  <a:p>
            <a:r>
              <a:t>CNPJ 63615161000100 · Reserva de caixa · 2 meses de encargos · Fundos.NET ID 1333831 | 24/09/2026 | regulamento | p. 65; 14.1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  <a:p>
            <a:r>
              <a:t>CNPJ 63615161000100 · Derivativos/hedge · Proteção patrimonial; contraparte ligada à gestão pode atingir 100% do PL sem contraparte central · Fundos.NET ID 1333831 | 24/09/2026 | regulamento | p. 39; 6.4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  <a:p>
            <a:r>
              <a:t>CNPJ 63615161000100 · PDD · Não localizado nas fontes acessíveis desta leitura · data/raw/63615161000100/access_status_20261007.txt | Consulta Fundos.NET por CNPJ 63615161000100 em 07/10/2026; inventário completo com 28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2026-10-07T16:40:09-03:00</a:t>
            </a:r>
          </a:p>
          <a:p>
            <a:r>
              <a:t>ROBBIN PAGAMENTOS I: CNPJ 63615161000100</a:t>
            </a:r>
          </a:p>
          <a:p>
            <a:r>
              <a:t>Fontes:</a:t>
            </a:r>
          </a:p>
          <a:p>
            <a:r>
              <a:t>CNPJ 63615161000100 · Alocação mínima · Direitos endossados≥67% do PL após 180 dias · Fundos.NET ID 1333831 | 24/09/2026 | regulamento | p. 1,39; Alocação Mínima; 6.2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  <a:p>
            <a:r>
              <a:t>CNPJ 63615161000100 · Pool/revolvência · Não localizado nas fontes acessíveis desta leitura · data/raw/63615161000100/access_status_20261007.txt | Consulta Fundos.NET por CNPJ 63615161000100 em 07/10/2026; inventário completo com 28 registros · Observação: Lacuna na revisão dirigida; obter cláusula específica antes de concluir ausência ou enquadramento.</a:t>
            </a:r>
          </a:p>
          <a:p>
            <a:r>
              <a:t>CNPJ 63615161000100 · Duração/público-alvo · Não localizado nas fontes acessíveis desta leitura · data/raw/63615161000100/access_status_20261007.txt | Consulta Fundos.NET por CNPJ 63615161000100 em 07/10/2026; inventário completo com 28 registros · Observação: Lacuna na revisão dirigida; obter cláusula específica antes de concluir ausência ou enquadramento.</a:t>
            </a:r>
          </a:p>
          <a:p>
            <a:r>
              <a:t>CNPJ 63615161000100 · Cessão/recompra · Inconsistência relevante do lastro gera recompra obrigatória pelo originador · Fundos.NET ID 1333831 | 24/09/2026 | regulamento | p. 44; 7.8/8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  <a:p>
            <a:r>
              <a:t>CNPJ 63615161000100 · Coobrigação · Não localizado nas fontes acessíveis desta leitura · data/raw/63615161000100/access_status_20261007.txt | Consulta Fundos.NET por CNPJ 63615161000100 em 07/10/2026; inventário completo com 28 registros · Observação: Lacuna na revisão dirigida; obter cláusula específica antes de concluir ausência ou enquadramento.</a:t>
            </a:r>
          </a:p>
          <a:p>
            <a:r>
              <a:t>CNPJ 63615161000100 · Waterfall · Encargos; derivativos; reserva; sênior; mezanino A; mezanino B; júnior; aquisições · Fundos.NET ID 1333831 | 24/09/2026 | regulamento | p. 65–67; 15.1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2026-10-07T16:40:09-03:00</a:t>
            </a:r>
          </a:p>
          <a:p>
            <a:r>
              <a:t>ROBBIN PAGAMENTOS I: CNPJ 63615161000100</a:t>
            </a:r>
          </a:p>
          <a:p>
            <a:r>
              <a:t>Fontes:</a:t>
            </a:r>
          </a:p>
          <a:p>
            <a:r>
              <a:t>CNPJ 63615161000100 · Classes/séries · Sênior; mezaninos A/B; júnior; nova oferta sênior 2ª série · Fundos.NET ID 1333831 | 24/09/2026 | regulamento | p. 55–58; 11.1–11.6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  <a:p>
            <a:r>
              <a:t>CNPJ 63615161000100 · Remuneração · Spread final não localizado; modelos remetem à definição no apêndice/bookbuilding · Fundos.NET ID 1333831 | 24/09/2026 | regulamento | p. 94,97,100; Modelos de apêndices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  <a:p>
            <a:r>
              <a:t>CNPJ 63615161000100 · Volume/VNU · Sênior 2ª série: R$ 20 mi; 20 mil cotas; VNU R$ 1 mil · Fundos.NET ID 1324657 | 21/09/2026 | emissao | p. 1; Anúncio início | data/raw/63615161000100/1324657_emissao_review_20261007.pdf | https://fnet.bmfbovespa.com.br/fnet/publico/visualizarDocumento?id=1324657 · Observação: Regra da versão indicada; resumo sujeito às condições completas da cláusula. IME agregado não comprova elegibilidade individual.</a:t>
            </a:r>
          </a:p>
          <a:p>
            <a:r>
              <a:t>CNPJ 63615161000100 · Ofertas · Registro/início 21/09/2026; liquidação indicativa 24/09; encerramento subscrição 18/03/2027 · Fundos.NET ID 1324657 | 21/09/2026 | emissao | p. 1; Cronograma indicativo | data/raw/63615161000100/1324657_emissao_review_20261007.pdf | https://fnet.bmfbovespa.com.br/fnet/publico/visualizarDocumento?id=1324657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2026-10-07T16:40:09-03:00</a:t>
            </a:r>
          </a:p>
          <a:p>
            <a:r>
              <a:t>ROBBIN PAGAMENTOS I: CNPJ 63615161000100</a:t>
            </a:r>
          </a:p>
          <a:p>
            <a:r>
              <a:t>Fontes:</a:t>
            </a:r>
          </a:p>
          <a:p>
            <a:r>
              <a:t>CNPJ 63615161000100 · Carência · Não localizado nas fontes acessíveis desta leitura · data/raw/63615161000100/access_status_20261007.txt | Consulta Fundos.NET por CNPJ 63615161000100 em 07/10/2026; inventário completo com 28 registros · Observação: Lacuna na revisão dirigida; obter cláusula específica antes de concluir ausência ou enquadramento.</a:t>
            </a:r>
          </a:p>
          <a:p>
            <a:r>
              <a:t>CNPJ 63615161000100 · Juros/amortização · Cronograma fechado não identificado nos modelos; confirmar ato específico da 2ª série · Fundos.NET ID 1333831 | 24/09/2026 | regulamento | p. 94,97,100; Apêndices modelo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  <a:p>
            <a:r>
              <a:t>CNPJ 63615161000100 · Vencimento · Não localizado nas fontes acessíveis desta leitura · data/raw/63615161000100/access_status_20261007.txt | Consulta Fundos.NET por CNPJ 63615161000100 em 07/10/2026; inventário completo com 28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2026-10-07T16:40:09-03:00</a:t>
            </a:r>
          </a:p>
          <a:p>
            <a:r>
              <a:t>ROBBIN PAGAMENTOS I: CNPJ 63615161000100</a:t>
            </a:r>
          </a:p>
          <a:p>
            <a:r>
              <a:t>Fontes:</a:t>
            </a:r>
          </a:p>
          <a:p>
            <a:r>
              <a:t>CNPJ 63615161000100 · Administração · 0,12% a.a. sobre PL; mínimo R$ 10 mil/mês; IPCA · Fundos.NET ID 1333831 | 24/09/2026 | regulamento | p. 37–38; 5.1(a); 5.5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  <a:p>
            <a:r>
              <a:t>CNPJ 63615161000100 · Gestão · 0,60% a.a. sobre PL; mínimo R$ 5 mil até 6º mês, R$ 20 mil 7º–12º, R$ 30 mil após 13º; IPCA · Fundos.NET ID 1333831 | 24/09/2026 | regulamento | p. 37–38; 5.2; 5.5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  <a:p>
            <a:r>
              <a:t>CNPJ 63615161000100 · Custódia · 0,02% a.a. sobre PL; mínimo R$ 2,8 mil/mês; custódia/escrituração · Fundos.NET ID 1333831 | 24/09/2026 | regulamento | p. 37; 5.1(b) | data/raw/63615161000100/1333831_regulamento_review_20261007.pdf | https://fnet.bmfbovespa.com.br/fnet/publico/visualizarDocumento?id=1333831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2026-10-07T16:40:09-03:00</a:t>
            </a:r>
          </a:p>
          <a:p>
            <a:r>
              <a:t>ROBBIN PAGAMENTOS I: CNPJ 63615161000100</a:t>
            </a:r>
          </a:p>
          <a:p>
            <a:r>
              <a:t>Fontes:</a:t>
            </a:r>
          </a:p>
          <a:p>
            <a:r>
              <a:t>CNPJ 63615161000100 · Alocação/subordinação IME · Direitos creditórios / PL e cotas subordinadas / PL; validar ativo elegível, subclasses e fórmula contratual · data/raw/63615161000100/access_status_20261007.txt | Consulta Fundos.NET por CNPJ 63615161000100 em 07/10/2026; inventário completo com 28 registros · Observação: Avaliação metodológica do IME público; dados de cache e monitoramento ao vivo são apresentados separadamente.</a:t>
            </a:r>
          </a:p>
          <a:p>
            <a:r>
              <a:t>CNPJ 63615161000100 · Inadimplência/PDD IME · Over 30/60/90 e PDD / crédito: indicadores agregados; gatilhos dependem de denominador e janela contratual · data/raw/63615161000100/access_status_20261007.txt | Consulta Fundos.NET por CNPJ 63615161000100 em 07/10/2026; inventário completo com 28 registros · Observação: Avaliação metodológica do IME público; dados de cache e monitoramento ao vivo são apresentados separadamente.</a:t>
            </a:r>
          </a:p>
          <a:p>
            <a:r>
              <a:t>CNPJ 63615161000100 · Controles documentais · Elegibilidade, concentração por devedor/grupo, lastro, prestadores e eventos: validação documental e operacional · data/raw/63615161000100/access_status_20261007.txt | Consulta Fundos.NET por CNPJ 63615161000100 em 07/10/2026; inventário completo com 28 registros · Observação: Avaliação metodológica do IME público; dados de cache e monitoramento ao vivo são apresentados separadamente.</a:t>
            </a:r>
          </a:p>
          <a:p>
            <a:r>
              <a:t>CNPJ 63615161000100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Robbin Pagamentos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ROBBIN PAGAMENTOS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Parcelas de CCBs endossadas; fluxo de pagamentos e cobrança pelo originador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BRL; sem vencidos; PJ constituída há≥6 meses; prazo≤12 meses; taxa de endosso 2,30%/2,49% a.m.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subordinação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Grupo maior≤20% do PL quando proteção mezanino A≥50%; abaixo, maior entre 2,5% do PL/R$ 2,5 mi;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demais grupos≤1% 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Robbin Pagamentos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ROBBIN PAGAMENTOS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 todas subordinadas/PL≥50%; mezanino A: (B+júnior)/PL≥35%/33%/30% por faixasPL; júnior/PL≥15%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FPD 30&gt;8,50% por safra; recebimentos&lt;90%; cobertura≤1; subordinação fora por 5 DU; originador deve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reter≥67% das juniores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 meses de encargos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patrimonial; contraparte ligada à gestão pode atingir 100% do PL sem contraparte central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Robbin Pagamentos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ROBBIN PAGAMENTOS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endossados≥67% do PL após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Inconsistência relevante do lastro gera recompra obrigatória pelo originador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Encargos; derivativos; reserva; sênior; mezanino A; mezanino B; júnior; aquisições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Robbin Pagamentos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ROBBIN PAGAMENTOS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mezaninos A/B; júnior; nova oferta sênior 2ª série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2ª série: R$ 20 mi; 20 mil cotas; VNU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Registro/início 21/09/2026; liquidação indicativa 24/09; encerramento subscrição 18/03/2027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Robbin Pagamentos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ROBBIN PAGAMENTOS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Robbin Pagamentos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ROBBIN PAGAMENTOS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0,12% a.a. sobre PL; mínimo R$ 10 mil/mês; IPCA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0,60% a.a. sobre PL; mínimo R$ 5 mil até 6º mês, R$ 20 mil 7º–12º, R$ 30 mil após 13º; IPCA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0,02% a.a. sobre PL; mínimo R$ 2,8 mil/mês; custódia/escrituração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Robbin Pagamentos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ROBBIN PAGAMENTOS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 indicadores agregados; gatilhos dependem de denominador e janela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por devedor/grupo, lastro, prestadores e eventos: 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