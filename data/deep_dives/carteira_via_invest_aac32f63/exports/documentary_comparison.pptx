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2026-10-07T16:18:13-03:00</a:t>
            </a:r>
          </a:p>
          <a:p>
            <a:r>
              <a:t>Via Invest II: CNPJ 30035329000159</a:t>
            </a:r>
          </a:p>
          <a:p>
            <a:r>
              <a:t>Fontes:</a:t>
            </a:r>
          </a:p>
          <a:p>
            <a:r>
              <a:t>CNPJ 30035329000159 · Natureza dos recebíveis · CCBs de antecipação do saque-aniversário FGTS · data/raw/30035329000159/998769_regulamento.pdf | Fundos.NET ID 998769 | 22/09/2025 | regulamento | p. 46-49 · Observação: Cláusula documental; confirmar versão aplicável e instrumento específico antes de ativar controle.</a:t>
            </a:r>
          </a:p>
          <a:p>
            <a:r>
              <a:t>CNPJ 30035329000159 · Originador/endossante · Endossante contratual ou QI SCD conforme cláusula8.1(v) · data/raw/30035329000159/998769_regulamento.pdf | Fundos.NET ID 998769 | 22/09/2025 | regulamento | p. 49 · Observação: A cláusula autoriza o endosso; não comprova composição econômica atual por originador.</a:t>
            </a:r>
          </a:p>
          <a:p>
            <a:r>
              <a:t>CNPJ 30035329000159 · Devedor · Pessoa física aderente ao saque-aniversário; idade com divergência69/71 anos · data/raw/30035329000159/998769_regulamento.pdf | Fundos.NET ID 998769 | 22/09/2025 | regulamento | p. 49 · Observação: Cláusula8.2(a) traz69 numérico e setenta e um por extenso; confirmar administrador antes de parametrizar.</a:t>
            </a:r>
          </a:p>
          <a:p>
            <a:r>
              <a:t>CNPJ 30035329000159 · Garantia · Cessão fiduciária integral do saque-aniversário, registrada com bloqueio no agente operador · data/raw/30035329000159/998769_regulamento.pdf | Fundos.NET ID 998769 | 22/09/2025 | regulamento | p. 49 · Observação: Cláusula documental; confirmar versão aplicável e instrumento específico antes de ativar controle.</a:t>
            </a:r>
          </a:p>
          <a:p>
            <a:r>
              <a:t>CNPJ 30035329000159 · Elegibilidade · CCBs adimplentes, em reais; prazo15 dias–120 meses; FGTS bloqueado e aderência validada · data/raw/30035329000159/998769_regulamento.pdf | Fundos.NET ID 998769 | 22/09/2025 | regulamento | p. 48-49 · Observação: Cláusula documental; confirmar versão aplicável e instrumento específico antes de ativar controle.</a:t>
            </a:r>
          </a:p>
          <a:p>
            <a:r>
              <a:t>CNPJ 30035329000159 · Concentração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2026-10-07T16:18:13-03:00</a:t>
            </a:r>
          </a:p>
          <a:p>
            <a:r>
              <a:t>Via Invest II: CNPJ 30035329000159</a:t>
            </a:r>
          </a:p>
          <a:p>
            <a:r>
              <a:t>Fontes:</a:t>
            </a:r>
          </a:p>
          <a:p>
            <a:r>
              <a:t>CNPJ 30035329000159 · Subordinação mínima · Índice de subordinação ≥15%; apuração diária · data/raw/30035329000159/998769_regulamento.pdf | Fundos.NET ID 998769 | 22/09/2025 | regulamento | p. 44 · Observação: Validar fórmula da subclasse e numerador; não presumir proteção idêntica a outros fundos Via.</a:t>
            </a:r>
          </a:p>
          <a:p>
            <a:r>
              <a:t>CNPJ 30035329000159 · Gatilhos de avaliação/liquidação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30035329000159 · Reserva de caixa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30035329000159 · Derivativos/hedge · Exclusivamente hedge da carteira · data/raw/30035329000159/998769_regulamento.pdf | Fundos.NET ID 998769 | 22/09/2025 | regulamento | p. 47 · Observação: Cláusula documental; confirmar versão aplicável e instrumento específico antes de ativar controle.</a:t>
            </a:r>
          </a:p>
          <a:p>
            <a:r>
              <a:t>CNPJ 30035329000159 · PDD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2026-10-07T16:18:13-03:00</a:t>
            </a:r>
          </a:p>
          <a:p>
            <a:r>
              <a:t>Via Invest II: CNPJ 30035329000159</a:t>
            </a:r>
          </a:p>
          <a:p>
            <a:r>
              <a:t>Fontes:</a:t>
            </a:r>
          </a:p>
          <a:p>
            <a:r>
              <a:t>CNPJ 30035329000159 · Alocação mínima · DC &gt;50% PL em180 dias; melhores esforços para67% tributários · data/raw/30035329000159/998769_regulamento.pdf | Fundos.NET ID 998769 | 22/09/2025 | regulamento | p. 46 · Observação: Cláusula documental; confirmar versão aplicável e instrumento específico antes de ativar controle.</a:t>
            </a:r>
          </a:p>
          <a:p>
            <a:r>
              <a:t>CNPJ 30035329000159 · Pool/revolvência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30035329000159 · Duração/público-alvo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30035329000159 · Cessão/recompra · Endosso irrevogável; vedado adquirir de endossante que recomprou &gt;30% nos30 dias anteriores · data/raw/30035329000159/998769_regulamento.pdf | Fundos.NET ID 998769 | 22/09/2025 | regulamento | p. 46,49 · Observação: Percentual usa valor nominal dos créditos cedidos, não Recompras/Crédito do IME.</a:t>
            </a:r>
          </a:p>
          <a:p>
            <a:r>
              <a:t>CNPJ 30035329000159 · Coobrigação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30035329000159 · Waterfall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2026-10-07T16:18:13-03:00</a:t>
            </a:r>
          </a:p>
          <a:p>
            <a:r>
              <a:t>Via Invest II: CNPJ 30035329000159</a:t>
            </a:r>
          </a:p>
          <a:p>
            <a:r>
              <a:t>Fontes:</a:t>
            </a:r>
          </a:p>
          <a:p>
            <a:r>
              <a:t>CNPJ 30035329000159 · Classes/séries · Sênior; oferta encerrada2025 · data/raw/30035329000159/1003989_emissao.pdf | Fundos.NET ID 1003989 | 30/09/2025 | emissao | p. 2 · Observação: Cláusula documental; confirmar versão aplicável e instrumento específico antes de ativar controle.</a:t>
            </a:r>
          </a:p>
          <a:p>
            <a:r>
              <a:t>CNPJ 30035329000159 · Remuneração · Spread final não localizado nas cláusulas revisadas; requer suplemento ou ato específico · data/raw/30035329000159/998769_regulamento.pdf | Fundos.NET ID 998769 | 22/09/2025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30035329000159 · Volume/VNU · R$ 100 milhões no anúncio de encerramento · data/raw/30035329000159/1003989_emissao.pdf | Fundos.NET ID 1003989 | 30/09/2025 | emissao | p. 2 · Observação: Cláusula documental; confirmar versão aplicável e instrumento específico antes de ativar controle.</a:t>
            </a:r>
          </a:p>
          <a:p>
            <a:r>
              <a:t>CNPJ 30035329000159 · Ofertas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2026-10-07T16:18:13-03:00</a:t>
            </a:r>
          </a:p>
          <a:p>
            <a:r>
              <a:t>Via Invest II: CNPJ 30035329000159</a:t>
            </a:r>
          </a:p>
          <a:p>
            <a:r>
              <a:t>Fontes:</a:t>
            </a:r>
          </a:p>
          <a:p>
            <a:r>
              <a:t>CNPJ 30035329000159 · Carência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30035329000159 · Juros/amortização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30035329000159 · Vencimento · Não localizado nas cláusulas revisadas; requer documento aplicável · data/raw/30035329000159/998769_regulamento.pdf | Fundos.NET ID 998769 | 22/09/2025; data/raw/30035329000159/1003989_emissao.pdf | Fundos.NET ID 1003989 | 30/09/2025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2026-10-07T16:18:13-03:00</a:t>
            </a:r>
          </a:p>
          <a:p>
            <a:r>
              <a:t>Via Invest II: CNPJ 30035329000159</a:t>
            </a:r>
          </a:p>
          <a:p>
            <a:r>
              <a:t>Fontes:</a:t>
            </a:r>
          </a:p>
          <a:p>
            <a:r>
              <a:t>CNPJ 30035329000159 · Administração · 0,15% a.a. PL; mínimo R$ 6 mil/mês, IPCA positivo anual · data/raw/30035329000159/998769_regulamento.pdf | Fundos.NET ID 998769 | 22/09/2025 | regulamento | p. 44-45 · Observação: Cláusula documental; confirmar versão aplicável e instrumento específico antes de ativar controle.</a:t>
            </a:r>
          </a:p>
          <a:p>
            <a:r>
              <a:t>CNPJ 30035329000159 · Gestão · 0,60% a.a. PL:0,50% gestor+0,10% cogestor; mínimo R$ 6,5 mil somente gestor · data/raw/30035329000159/998769_regulamento.pdf | Fundos.NET ID 998769 | 22/09/2025 | regulamento | p. 45 · Observação: Cláusula documental; confirmar versão aplicável e instrumento específico antes de ativar controle.</a:t>
            </a:r>
          </a:p>
          <a:p>
            <a:r>
              <a:t>CNPJ 30035329000159 · Custódia · 0,12% a.a. PL; mínimo R$ 6 mil/mês; cláusula6.5 diz incluída na administração · data/raw/30035329000159/998769_regulamento.pdf | Fundos.NET ID 998769 | 22/09/2025 | regulamento | p. 45 · Observação: Divergência de cobrança: não somar automaticamente0,12% à administração sem confirmar rateio e cláusula6.5.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2026-10-07T16:18:13-03:00</a:t>
            </a:r>
          </a:p>
          <a:p>
            <a:r>
              <a:t>Via Invest II: CNPJ 30035329000159</a:t>
            </a:r>
          </a:p>
          <a:p>
            <a:r>
              <a:t>Fontes:</a:t>
            </a:r>
          </a:p>
          <a:p>
            <a:r>
              <a:t>CNPJ 30035329000159 · Alocação/subordinação IME · DC/PL e composição de cotas ajudam; validar numerador, denominador e versão contratual · data/raw/30035329000159/998769_regulamento.pdf | Fundos.NET ID 998769 | 22/09/2025; data/raw/30035329000159/1003989_emissao.pdf | Fundos.NET ID 1003989 | 30/09/2025 · Observação: Proxy metodológica. FIC investe em cotas: não usar DC/PL como substituto da alocação em fundos-alvo. Nenhum saldo observado nesta revisão documental.</a:t>
            </a:r>
          </a:p>
          <a:p>
            <a:r>
              <a:t>CNPJ 30035329000159 · Inadimplência/PDD IME · Over e PDD agregados são alertas; fórmulas contratuais exigem validação · data/raw/30035329000159/998769_regulamento.pdf | Fundos.NET ID 998769 | 22/09/2025; data/raw/30035329000159/1003989_emissao.pdf | Fundos.NET ID 1003989 | 30/09/2025 · Observação: Não reproduzem médias móveis, coortes, exposição individual, motivo de recompra, chargeback e perdas históricas sem dados adicionais.</a:t>
            </a:r>
          </a:p>
          <a:p>
            <a:r>
              <a:t>CNPJ 30035329000159 · Controles documentais · Elegibilidade, concentração, lastro e eventos exigem controles por contrato · data/raw/30035329000159/998769_regulamento.pdf | Fundos.NET ID 998769 | 22/09/2025; data/raw/30035329000159/1003989_emissao.pdf | Fundos.NET ID 1003989 | 30/09/2025 · Observação: IME público agregado não certifica devedor/cedente/grupo nem alterações de prestadores e cross default.</a:t>
            </a:r>
          </a:p>
          <a:p>
            <a:r>
              <a:t>CNPJ 30035329000159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Invest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do 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 contratual ou QI SCD conforme cláusula8.1(v)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aderente ao saque-aniversário; idade com divergência69/71 anos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integral do saque-aniversário, registrada com bloqueio no agente operador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adimplentes, em reais; prazo15 dias–120 meses; FGTS bloqueado e aderência validada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Invest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 de subordinação ≥15%;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Exclusivamente hedge da carteira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Invest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&gt;50% PL em180 dias; melhores esforços para67% tributários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irrevogável; vedado adquirir de endossante que recomprou &gt;30% nos30 dias anteriores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Invest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oferta encerrada2025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nas cláusulas revisadas; requer suplemento ou 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R$ 100 milhões no anúncio de encerramento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Invest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Invest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a.a. PL; mínimo R$ 6 mil/mês, IPCA positivo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0,60% a.a. PL:0,50% gestor+0,10% cogestor; mínimo R$ 6,5 mil somente gestor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0,12% a.a. PL; mínimo R$ 6 mil/mês; cláusula6.5 diz incluída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Invest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