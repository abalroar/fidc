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2026-10-07T16:21:18-03:00</a:t>
            </a:r>
          </a:p>
          <a:p>
            <a:r>
              <a:t>Vixtra: CNPJ 45523699000102</a:t>
            </a:r>
          </a:p>
          <a:p>
            <a:r>
              <a:t>Fontes:</a:t>
            </a:r>
          </a:p>
          <a:p>
            <a:r>
              <a:t>CNPJ 45523699000102 · Natureza dos recebíveis · Créditos comerciais; notas comerciais podem ter garantia de Bill of Lading · data/raw/45523699000102/1024756_regulamento.pdf | Fundos.NET ID 1024756 | 30/10/2025 | regulamento | p. 11,52 · Observação: Regra da versão documental citada; demais contratos e séries exigem instrumento próprio.</a:t>
            </a:r>
          </a:p>
          <a:p>
            <a:r>
              <a:t>CNPJ 45523699000102 · Originador/endossante · Não localizado nas cláusulas revisadas; requer documento aplicável · data/raw/45523699000102/1024756_regulamento.pdf | Fundos.NET ID 1024756 | 30/10/2025; data/raw/45523699000102/1038504_emissao.pdf | Fundos.NET ID 1038504 | 13/11/2025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45523699000102 · Devedor · Não localizado nas cláusulas revisadas; requer documento aplicável · data/raw/45523699000102/1024756_regulamento.pdf | Fundos.NET ID 1024756 | 30/10/2025; data/raw/45523699000102/1038504_emissao.pdf | Fundos.NET ID 1038504 | 13/11/2025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45523699000102 · Garantia · Créditos extraordinários: cessão fiduciária de Bill of Lading≥125% do título em até 90 dias · data/raw/45523699000102/1024756_regulamento.pdf | Fundos.NET ID 1024756 | 30/10/2025 | regulamento | p. 11 · Observação: Regra material de crédito específico; não afirmar que100% da carteira possui garantia.</a:t>
            </a:r>
          </a:p>
          <a:p>
            <a:r>
              <a:t>CNPJ 45523699000102 · Elegibilidade · Não vencidos; sem litígio/penhora, recuperação judicial ou existência futura · data/raw/45523699000102/1024756_regulamento.pdf | Fundos.NET ID 1024756 | 30/10/2025 | regulamento | p. 11-12 · Observação: Regra da versão documental citada; demais contratos e séries exigem instrumento próprio.</a:t>
            </a:r>
          </a:p>
          <a:p>
            <a:r>
              <a:t>CNPJ 45523699000102 · Concentração · Não localizado nas cláusulas revisadas; requer documento aplicável · data/raw/45523699000102/1024756_regulamento.pdf | Fundos.NET ID 1024756 | 30/10/2025; data/raw/45523699000102/1038504_emissao.pdf | Fundos.NET ID 1038504 | 13/11/2025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2026-10-07T16:21:18-03:00</a:t>
            </a:r>
          </a:p>
          <a:p>
            <a:r>
              <a:t>Vixtra: CNPJ 45523699000102</a:t>
            </a:r>
          </a:p>
          <a:p>
            <a:r>
              <a:t>Fontes:</a:t>
            </a:r>
          </a:p>
          <a:p>
            <a:r>
              <a:t>CNPJ 45523699000102 · Subordinação mínima · Subordinadas≥33,34% PL; mezaninoB+júnior≥16,67%; júnior≥10% · data/raw/45523699000102/1024756_regulamento.pdf | Fundos.NET ID 1024756 | 30/10/2025 | regulamento | p. 26 · Observação: Regra da versão documental citada; demais contratos e séries exigem instrumento próprio.</a:t>
            </a:r>
          </a:p>
          <a:p>
            <a:r>
              <a:t>CNPJ 45523699000102 · Gatilhos de avaliação/liquidação · Não localizado nas cláusulas revisadas; requer documento aplicável · data/raw/45523699000102/1024756_regulamento.pdf | Fundos.NET ID 1024756 | 30/10/2025; data/raw/45523699000102/1038504_emissao.pdf | Fundos.NET ID 1038504 | 13/11/2025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45523699000102 · Reserva de caixa · Maior entre90 dias de despesas e1% PL; amortização50% emD−30 e100% emD−15 · data/raw/45523699000102/1024756_regulamento.pdf | Fundos.NET ID 1024756 | 30/10/2025 | regulamento | p. 32 · Observação: Regra da versão documental citada; demais contratos e séries exigem instrumento próprio.</a:t>
            </a:r>
          </a:p>
          <a:p>
            <a:r>
              <a:t>CNPJ 45523699000102 · Derivativos/hedge · Proteção de posições à vista, até seu limite · data/raw/45523699000102/1024756_regulamento.pdf | Fundos.NET ID 1024756 | 30/10/2025 | regulamento | p. 9 · Observação: Regra da versão documental citada; demais contratos e séries exigem instrumento próprio.</a:t>
            </a:r>
          </a:p>
          <a:p>
            <a:r>
              <a:t>CNPJ 45523699000102 · PDD · Não localizado nas cláusulas revisadas; requer documento aplicável · data/raw/45523699000102/1024756_regulamento.pdf | Fundos.NET ID 1024756 | 30/10/2025; data/raw/45523699000102/1038504_emissao.pdf | Fundos.NET ID 1038504 | 13/11/2025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2026-10-07T16:21:18-03:00</a:t>
            </a:r>
          </a:p>
          <a:p>
            <a:r>
              <a:t>Vixtra: CNPJ 45523699000102</a:t>
            </a:r>
          </a:p>
          <a:p>
            <a:r>
              <a:t>Fontes:</a:t>
            </a:r>
          </a:p>
          <a:p>
            <a:r>
              <a:t>CNPJ 45523699000102 · Alocação mínima · DC ≥67% PL após90 dias · data/raw/45523699000102/1024756_regulamento.pdf | Fundos.NET ID 1024756 | 30/10/2025 | regulamento | p. 9,43 · Observação: Regra da versão documental citada; demais contratos e séries exigem instrumento próprio.</a:t>
            </a:r>
          </a:p>
          <a:p>
            <a:r>
              <a:t>CNPJ 45523699000102 · Pool/revolvência · Não localizado nas cláusulas revisadas; requer documento aplicável · data/raw/45523699000102/1024756_regulamento.pdf | Fundos.NET ID 1024756 | 30/10/2025; data/raw/45523699000102/1038504_emissao.pdf | Fundos.NET ID 1038504 | 13/11/2025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45523699000102 · Duração/público-alvo · Não localizado nas cláusulas revisadas; requer documento aplicável · data/raw/45523699000102/1024756_regulamento.pdf | Fundos.NET ID 1024756 | 30/10/2025; data/raw/45523699000102/1038504_emissao.pdf | Fundos.NET ID 1038504 | 13/11/2025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45523699000102 · Cessão/recompra · Não localizado nas cláusulas revisadas; requer documento aplicável · data/raw/45523699000102/1024756_regulamento.pdf | Fundos.NET ID 1024756 | 30/10/2025; data/raw/45523699000102/1038504_emissao.pdf | Fundos.NET ID 1038504 | 13/11/2025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45523699000102 · Coobrigação · Não localizado nas cláusulas revisadas; requer documento aplicável · data/raw/45523699000102/1024756_regulamento.pdf | Fundos.NET ID 1024756 | 30/10/2025; data/raw/45523699000102/1038504_emissao.pdf | Fundos.NET ID 1038504 | 13/11/2025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45523699000102 · Waterfall · Não localizado nas cláusulas revisadas; requer documento aplicável · data/raw/45523699000102/1024756_regulamento.pdf | Fundos.NET ID 1024756 | 30/10/2025; data/raw/45523699000102/1038504_emissao.pdf | Fundos.NET ID 1038504 | 13/11/2025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2026-10-07T16:21:18-03:00</a:t>
            </a:r>
          </a:p>
          <a:p>
            <a:r>
              <a:t>Vixtra: CNPJ 45523699000102</a:t>
            </a:r>
          </a:p>
          <a:p>
            <a:r>
              <a:t>Fontes:</a:t>
            </a:r>
          </a:p>
          <a:p>
            <a:r>
              <a:t>CNPJ 45523699000102 · Classes/séries · Sênior; suplemento anexo ao regulamento · data/raw/45523699000102/1038504_emissao.pdf | Fundos.NET ID 1038504 | 13/11/2025 | emissao | p. 1 · Observação: Cláusula documental; confirmar versão aplicável e instrumento específico antes de ativar controle.</a:t>
            </a:r>
          </a:p>
          <a:p>
            <a:r>
              <a:t>CNPJ 45523699000102 · Remuneração · Sobretaxa por suplemento; modelos com campos não preenchidos · data/raw/45523699000102/1024756_regulamento.pdf | Fundos.NET ID 1024756 | 30/10/2025 | regulamento | p. 52 · Observação: Regra da versão documental citada; demais contratos e séries exigem instrumento próprio.</a:t>
            </a:r>
          </a:p>
          <a:p>
            <a:r>
              <a:t>CNPJ 45523699000102 · Volume/VNU · R$ 100 milhões no encerramento · data/raw/45523699000102/1038504_emissao.pdf | Fundos.NET ID 1038504 | 13/11/2025 | emissao | p. 1 · Observação: Cláusula documental; confirmar versão aplicável e instrumento específico antes de ativar controle.</a:t>
            </a:r>
          </a:p>
          <a:p>
            <a:r>
              <a:t>CNPJ 45523699000102 · Ofertas · Não localizado nas cláusulas revisadas; requer documento aplicável · data/raw/45523699000102/1024756_regulamento.pdf | Fundos.NET ID 1024756 | 30/10/2025; data/raw/45523699000102/1038504_emissao.pdf | Fundos.NET ID 1038504 | 13/11/2025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2026-10-07T16:21:18-03:00</a:t>
            </a:r>
          </a:p>
          <a:p>
            <a:r>
              <a:t>Vixtra: CNPJ 45523699000102</a:t>
            </a:r>
          </a:p>
          <a:p>
            <a:r>
              <a:t>Fontes:</a:t>
            </a:r>
          </a:p>
          <a:p>
            <a:r>
              <a:t>CNPJ 45523699000102 · Carência · Não localizado nas cláusulas revisadas; requer documento aplicável · data/raw/45523699000102/1024756_regulamento.pdf | Fundos.NET ID 1024756 | 30/10/2025; data/raw/45523699000102/1038504_emissao.pdf | Fundos.NET ID 1038504 | 13/11/2025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45523699000102 · Juros/amortização · Periodicidade e prazo remetidos ao suplemento; cronograma fechado não identificado · data/raw/45523699000102/1024756_regulamento.pdf | Fundos.NET ID 1024756 | 30/10/2025 | regulamento | p. 52 · Observação: Regra da versão documental citada; demais contratos e séries exigem instrumento próprio.</a:t>
            </a:r>
          </a:p>
          <a:p>
            <a:r>
              <a:t>CNPJ 45523699000102 · Vencimento · Não localizado nas cláusulas revisadas; requer documento aplicável · data/raw/45523699000102/1024756_regulamento.pdf | Fundos.NET ID 1024756 | 30/10/2025; data/raw/45523699000102/1038504_emissao.pdf | Fundos.NET ID 1038504 | 13/11/2025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2026-10-07T16:21:18-03:00</a:t>
            </a:r>
          </a:p>
          <a:p>
            <a:r>
              <a:t>Vixtra: CNPJ 45523699000102</a:t>
            </a:r>
          </a:p>
          <a:p>
            <a:r>
              <a:t>Fontes:</a:t>
            </a:r>
          </a:p>
          <a:p>
            <a:r>
              <a:t>CNPJ 45523699000102 · Administração · Administração+custódia0,32% a.a. PL; mínimos R$ 15/17/18,5 mil conforme PL e idade · data/raw/45523699000102/1024756_regulamento.pdf | Fundos.NET ID 1024756 | 30/10/2025 | regulamento | p. 7-8 · Observação: Regra da versão documental citada; demais contratos e séries exigem instrumento próprio.</a:t>
            </a:r>
          </a:p>
          <a:p>
            <a:r>
              <a:t>CNPJ 45523699000102 · Gestão · 0,25% a.a. PL; mínimos R$ 15/17/18,5 mil conforme PL e idade · data/raw/45523699000102/1024756_regulamento.pdf | Fundos.NET ID 1024756 | 30/10/2025 | regulamento | p. 8 · Observação: Regra da versão documental citada; demais contratos e séries exigem instrumento próprio.</a:t>
            </a:r>
          </a:p>
          <a:p>
            <a:r>
              <a:t>CNPJ 45523699000102 · Custódia · Incluída no bloco de administração0,32% a.a. · data/raw/45523699000102/1024756_regulamento.pdf | Fundos.NET ID 1024756 | 30/10/2025 | regulamento | p. 7-8 · Observação: Regra da versão documental citada; demais contratos e séries exigem instrumento próprio.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2026-10-07T16:21:18-03:00</a:t>
            </a:r>
          </a:p>
          <a:p>
            <a:r>
              <a:t>Vixtra: CNPJ 45523699000102</a:t>
            </a:r>
          </a:p>
          <a:p>
            <a:r>
              <a:t>Fontes:</a:t>
            </a:r>
          </a:p>
          <a:p>
            <a:r>
              <a:t>CNPJ 45523699000102 · Alocação/subordinação IME · DC/PL e composição de cotas ajudam; validar numerador, denominador e versão contratual · data/raw/45523699000102/1024756_regulamento.pdf | Fundos.NET ID 1024756 | 30/10/2025; data/raw/45523699000102/1038504_emissao.pdf | Fundos.NET ID 1038504 | 13/11/2025 · Observação: Proxy metodológica. FIC investe em cotas: não usar DC/PL como substituto da alocação em fundos-alvo. Nenhum saldo observado nesta revisão documental.</a:t>
            </a:r>
          </a:p>
          <a:p>
            <a:r>
              <a:t>CNPJ 45523699000102 · Inadimplência/PDD IME · Over e PDD agregados são alertas; fórmulas contratuais exigem validação · data/raw/45523699000102/1024756_regulamento.pdf | Fundos.NET ID 1024756 | 30/10/2025; data/raw/45523699000102/1038504_emissao.pdf | Fundos.NET ID 1038504 | 13/11/2025 · Observação: Não reproduzem médias móveis, coortes, exposição individual, motivo de recompra, chargeback e perdas históricas sem dados adicionais.</a:t>
            </a:r>
          </a:p>
          <a:p>
            <a:r>
              <a:t>CNPJ 45523699000102 · Controles documentais · Elegibilidade, concentração, lastro e eventos exigem controles por contrato · data/raw/45523699000102/1024756_regulamento.pdf | Fundos.NET ID 1024756 | 30/10/2025; data/raw/45523699000102/1038504_emissao.pdf | Fundos.NET ID 1038504 | 13/11/2025 · Observação: IME público agregado não certifica devedor/cedente/grupo nem alterações de prestadores e cross default.</a:t>
            </a:r>
          </a:p>
          <a:p>
            <a:r>
              <a:t>CNPJ 45523699000102 · Competência IME · Cache local: 06/2026; selecionar competência para monitorar · .cache/fundonet-ime/0fb515fc6f090aa0395fc6a76de9cf4807343f961f22eaab5b62444efa9503f5/manifest.json · Observação: Dado offline do IME; não representa atualização ao vivo nem comprovação dos critérios jurídicos.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Vixtra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Vixtra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 comerciais; notas comerciais podem ter garantia de Bill of Lading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 extraordinários: cessão fiduciária de Bill of Lading≥125% do título em até 90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vencidos; sem litígio/penhora, recuperação judicial ou existência futura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Vixtra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Vixtra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Subordinadas≥33,34% PL; mezaninoB+júnior≥16,67%; júnior≥10%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Maior entre90 dias de despesas e1% PL; amortização50% emD−30 e100% emD−15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de posições à vista, até seu limite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Vixtra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Vixtra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≥67% PL após90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Vixtra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Vixtra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Sênior; suplemento anexo ao regulamento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Sobretaxa por suplemento; modelos com campos não preenchidos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R$ 100 milhões no encerramento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Vixtra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Vixtra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Periodicidade e prazo remetidos ao suplemento; cronograma fechado não identificado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Vixtra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Vixtra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Administração+custódia0,32% a.a. PL; mínimos R$ 15/17/18,5 mil conforme PL e 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0,25% a.a. PL; mínimos R$ 15/17/18,5 mil conforme PL e 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no bloco de administração0,32%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Vixtra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Vixtra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composição de cotas ajudam; validar numerador, denominador e versão 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e PDD agregados são alertas; fórmulas contratuais exigem validação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lastro e eventos exigem controles por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 selecionar competência 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