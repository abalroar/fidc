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2026-10-07T11:56:39-03:00</a:t>
            </a:r>
          </a:p>
          <a:p>
            <a:r>
              <a:t>BV AUTO III SEGMENTO FINANCEIRO FIDC: CNPJ 66.929.956/0001-80</a:t>
            </a:r>
          </a:p>
          <a:p>
            <a:r>
              <a:t>FIDC BV AUTO I SEGMENTO FINANCEIRO: CNPJ 57.532.556/0001-46</a:t>
            </a:r>
          </a:p>
          <a:p>
            <a:r>
              <a:t>FIDC BV AUTO II SEGMENTO FINANCEIRO: CNPJ 60.598.366/0001-36</a:t>
            </a:r>
          </a:p>
          <a:p>
            <a:r>
              <a:t>Observações:</a:t>
            </a:r>
          </a:p>
          <a:p>
            <a:r>
              <a:t>LTV na emissão da CCB: saldo presente / avaliação Molicar. Média ponderada; ponderador não explicitado.</a:t>
            </a:r>
          </a:p>
          <a:p>
            <a:r>
              <a:t>Ticket e Top 100 a valor presente, na aquisição. Limite por idade não localizado nos documentos acessíveis.</a:t>
            </a:r>
          </a:p>
          <a:p>
            <a:r>
              <a:t>Auto II: o regulamento prevê 1,90%–2,20% a.m. A DF de set/25 descreve 1,90%–2,05% a.m.; bases documentais distintas.</a:t>
            </a:r>
          </a:p>
          <a:p>
            <a:r>
              <a:t>Auto IV da imagem: proposta sem CNPJ ou documento de suporte. Condições não verificadas; fora desta carteira.</a:t>
            </a:r>
          </a:p>
          <a:p>
            <a:r>
              <a:t>Fontes:</a:t>
            </a:r>
          </a:p>
          <a:p>
            <a:r>
              <a:t>Fundos.NET 966587; 2025-08-04; p.18; Definições Emitente/Endosso; data/raw/57532556000146/966587_regulamento_regulamento_966587_2025-08-04.pdf</a:t>
            </a:r>
          </a:p>
          <a:p>
            <a:r>
              <a:t>Fundos.NET 928236; 2025-06-11; p.17; Definições Emitente/Endosso;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17 · Definição Emitente · https://fnet.bmfbovespa.com.br/fnet/publico/exibirDocumento?id=1225635&amp;cvm=true</a:t>
            </a:r>
          </a:p>
          <a:p>
            <a:r>
              <a:t>Fundos.NET 966587; 2025-08-04; p.33; 5.5(ii); data/raw/57532556000146/966587_regulamento_regulamento_966587_2025-08-04.pdf</a:t>
            </a:r>
          </a:p>
          <a:p>
            <a:r>
              <a:t>Fundos.NET 928236; 2025-06-11; p.32; 5.5(ii);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33 · 5.5(ii) · https://fnet.bmfbovespa.com.br/fnet/publico/exibirDocumento?id=1225635&amp;cvm=true</a:t>
            </a:r>
          </a:p>
          <a:p>
            <a:r>
              <a:t>Fundos.NET 966587; 2025-08-04; p.33; 5.5(i); data/raw/57532556000146/966587_regulamento_regulamento_966587_2025-08-04.pdf</a:t>
            </a:r>
          </a:p>
          <a:p>
            <a:r>
              <a:t>Fundos.NET 928236; 2025-06-11; p.32; 5.5(i);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33 · 5.5(i) · https://fnet.bmfbovespa.com.br/fnet/publico/exibirDocumento?id=1225635&amp;cvm=true</a:t>
            </a:r>
          </a:p>
          <a:p>
            <a:r>
              <a:t>Fundos.NET 966587; 2025-08-04; p.34; 5.5(v); data/raw/57532556000146/966587_regulamento_regulamento_966587_2025-08-04.pdf; p.30;3.11.2</a:t>
            </a:r>
          </a:p>
          <a:p>
            <a:r>
              <a:t>Fundos.NET 928236; 2025-06-11; p.32; 5.5(v); data/raw/60598366000136/928236_regulamento_regulamento_928236_2025-06-11.pdf; p.29;3.11.2</a:t>
            </a:r>
          </a:p>
          <a:p>
            <a:r>
              <a:t>ID CVM/Fundos.NET 1225635 · 2026-06-22 · data/raw/66929956000180/1225635_regulamento_regulamento_1225635_2026-06-22.pdf · p. 33 · 5.5(v) · https://fnet.bmfbovespa.com.br/fnet/publico/exibirDocumento?id=1225635&amp;cvm=true</a:t>
            </a:r>
          </a:p>
          <a:p>
            <a:r>
              <a:t>Fundos.NET 966587; 2025-08-04; p.33; 5.5(ii); busca no regulamento integral; data/raw/57532556000146/966587_regulamento_regulamento_966587_2025-08-04.pdf</a:t>
            </a:r>
          </a:p>
          <a:p>
            <a:r>
              <a:t>Fundos.NET 928236; 2025-06-11; p.32; 5.5(ii); busca no regulamento integral; data/raw/60598366000136/928236_regulamento_regulamento_928236_2025-06-11.pdf</a:t>
            </a:r>
          </a:p>
          <a:p>
            <a:r>
              <a:t>Fundos.NET 966587; 2025-08-04; p.34; 5.5(vi); data/raw/57532556000146/966587_regulamento_regulamento_966587_2025-08-04.pdf</a:t>
            </a:r>
          </a:p>
          <a:p>
            <a:r>
              <a:t>Fundos.NET 928236; 2025-06-11; p.32–33; 5.5(vi);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33–34 · 5.5(vi) · https://fnet.bmfbovespa.com.br/fnet/publico/exibirDocumento?id=1225635&amp;cvm=true</a:t>
            </a:r>
          </a:p>
          <a:p>
            <a:r>
              <a:t>ID CVM/Fundos.NET 1225635 · 2026-06-22 · data/raw/66929956000180/1225635_regulamento_regulamento_1225635_2026-06-22.pdf · p. 34 · 5.5(vi) · https://fnet.bmfbovespa.com.br/fnet/publico/exibirDocumento?id=1225635&amp;cvm=true</a:t>
            </a:r>
          </a:p>
          <a:p>
            <a:r>
              <a:t>Fundos.NET 966587; 2025-08-04; p.35; 5.5(xvii); data/raw/57532556000146/966587_regulamento_regulamento_966587_2025-08-04.pdf</a:t>
            </a:r>
          </a:p>
          <a:p>
            <a:r>
              <a:t>Fundos.NET 928236; 2025-06-11; p.34; 5.5(xvii);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1–113 · Leitura integral;5.5 · https://fnet.bmfbovespa.com.br/fnet/publico/exibirDocumento?id=1225635&amp;cvm=true</a:t>
            </a:r>
          </a:p>
          <a:p>
            <a:r>
              <a:t>Fundos.NET 966587; 2025-08-04; p.34; 5.5(vii); data/raw/57532556000146/966587_regulamento_regulamento_966587_2025-08-04.pdf</a:t>
            </a:r>
          </a:p>
          <a:p>
            <a:r>
              <a:t>Fundos.NET 928236; 2025-06-11; p.33; 5.5(vii);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34 · 5.5(vii) · https://fnet.bmfbovespa.com.br/fnet/publico/exibirDocumento?id=1225635&amp;cvm=true</a:t>
            </a:r>
          </a:p>
          <a:p>
            <a:r>
              <a:t>Fundos.NET 966587; 2025-08-04; p.34; 5.5(x); data/raw/57532556000146/966587_regulamento_regulamento_966587_2025-08-04.pdf</a:t>
            </a:r>
          </a:p>
          <a:p>
            <a:r>
              <a:t>Fundos.NET 928236; 2025-06-11; p.33; 5.5(x);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34 · 5.5(x) · https://fnet.bmfbovespa.com.br/fnet/publico/exibirDocumento?id=1225635&amp;cvm=true</a:t>
            </a:r>
          </a:p>
          <a:p>
            <a:r>
              <a:t>Fundos.NET 966587; 2025-08-04; p.35; 5.5(xvi); data/raw/57532556000146/966587_regulamento_regulamento_966587_2025-08-04.pdf</a:t>
            </a:r>
          </a:p>
          <a:p>
            <a:r>
              <a:t>Fundos.NET 928236; 2025-06-11; p.33–34; 5.5(xvi);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34–35 · 5.5(xvi) · https://fnet.bmfbovespa.com.br/fnet/publico/exibirDocumento?id=1225635&amp;cvm=true</a:t>
            </a:r>
          </a:p>
          <a:p>
            <a:r>
              <a:t>Fundos.NET 966587; 2025-08-04; p.33; 5.1(iii); data/raw/57532556000146/966587_regulamento_regulamento_966587_2025-08-04.pdf</a:t>
            </a:r>
          </a:p>
          <a:p>
            <a:r>
              <a:t>Fundos.NET 928236; 2025-06-11; p.31; 5.1(iii);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32 · 5.1(iii) · https://fnet.bmfbovespa.com.br/fnet/publico/exibirDocumento?id=1225635&amp;cvm=true</a:t>
            </a:r>
          </a:p>
          <a:p>
            <a:r>
              <a:t>Fundos.NET 966587; 2025-08-04; p.32; 5.1(ii); data/raw/57532556000146/966587_regulamento_regulamento_966587_2025-08-04.pdf</a:t>
            </a:r>
          </a:p>
          <a:p>
            <a:r>
              <a:t>Fundos.NET 928236; 2025-06-11; p.31; 5.1(ii);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32 · 5.1(ii) · https://fnet.bmfbovespa.com.br/fnet/publico/exibirDocumento?id=1225635&amp;cvm=true</a:t>
            </a:r>
          </a:p>
          <a:p>
            <a:r>
              <a:t>Fundos.NET 966587; 2025-08-04; p.85; Adendo I, Concessão de Crédito1(e); busca integral; data/raw/57532556000146/966587_regulamento_regulamento_966587_2025-08-04.pdf</a:t>
            </a:r>
          </a:p>
          <a:p>
            <a:r>
              <a:t>Fundos.NET 928236; 2025-06-11; p.82; Adendo I, Concessão de Crédito1(e); busca integral;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33–35,82–83 · 5.5;AdendoIPolíticaCrédito · https://fnet.bmfbovespa.com.br/fnet/publico/exibirDocumento?id=1225635&amp;cvm=true</a:t>
            </a:r>
          </a:p>
          <a:p>
            <a:r>
              <a:t>Imagem IMG_1713.jpg fornecida pelo usuário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2026-10-07T11:56:39-03:00</a:t>
            </a:r>
          </a:p>
          <a:p>
            <a:r>
              <a:t>BV AUTO III SEGMENTO FINANCEIRO FIDC: CNPJ 66.929.956/0001-80</a:t>
            </a:r>
          </a:p>
          <a:p>
            <a:r>
              <a:t>FIDC BV AUTO I SEGMENTO FINANCEIRO: CNPJ 57.532.556/0001-46</a:t>
            </a:r>
          </a:p>
          <a:p>
            <a:r>
              <a:t>FIDC BV AUTO II SEGMENTO FINANCEIRO: CNPJ 60.598.366/0001-36</a:t>
            </a:r>
          </a:p>
          <a:p>
            <a:r>
              <a:t>Observações:</a:t>
            </a:r>
          </a:p>
          <a:p>
            <a:r>
              <a:t>LTV na emissão da CCB: saldo presente / avaliação Molicar. Média ponderada; ponderador não explicitado.</a:t>
            </a:r>
          </a:p>
          <a:p>
            <a:r>
              <a:t>Ticket e Top 100 a valor presente, na aquisição. Limite por idade não localizado nos documentos acessíveis.</a:t>
            </a:r>
          </a:p>
          <a:p>
            <a:r>
              <a:t>Auto II: o regulamento prevê 1,90%–2,20% a.m. A DF de set/25 descreve 1,90%–2,05% a.m.; bases documentais distintas.</a:t>
            </a:r>
          </a:p>
          <a:p>
            <a:r>
              <a:t>Auto IV da imagem: proposta sem CNPJ ou documento de suporte. Condições não verificadas; fora desta carteira.</a:t>
            </a:r>
          </a:p>
          <a:p>
            <a:r>
              <a:t>Fontes:</a:t>
            </a:r>
          </a:p>
          <a:p>
            <a:r>
              <a:t>Fundos.NET 966587; 2025-08-04; p.18; Definições Emitente/Endosso; data/raw/57532556000146/966587_regulamento_regulamento_966587_2025-08-04.pdf</a:t>
            </a:r>
          </a:p>
          <a:p>
            <a:r>
              <a:t>Fundos.NET 928236; 2025-06-11; p.17; Definições Emitente/Endosso;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17 · Definição Emitente · https://fnet.bmfbovespa.com.br/fnet/publico/exibirDocumento?id=1225635&amp;cvm=true</a:t>
            </a:r>
          </a:p>
          <a:p>
            <a:r>
              <a:t>Fundos.NET 966587; 2025-08-04; p.33; 5.5(ii); data/raw/57532556000146/966587_regulamento_regulamento_966587_2025-08-04.pdf</a:t>
            </a:r>
          </a:p>
          <a:p>
            <a:r>
              <a:t>Fundos.NET 928236; 2025-06-11; p.32; 5.5(ii);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33 · 5.5(ii) · https://fnet.bmfbovespa.com.br/fnet/publico/exibirDocumento?id=1225635&amp;cvm=true</a:t>
            </a:r>
          </a:p>
          <a:p>
            <a:r>
              <a:t>Fundos.NET 966587; 2025-08-04; p.33; 5.5(i); data/raw/57532556000146/966587_regulamento_regulamento_966587_2025-08-04.pdf</a:t>
            </a:r>
          </a:p>
          <a:p>
            <a:r>
              <a:t>Fundos.NET 928236; 2025-06-11; p.32; 5.5(i);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33 · 5.5(i) · https://fnet.bmfbovespa.com.br/fnet/publico/exibirDocumento?id=1225635&amp;cvm=true</a:t>
            </a:r>
          </a:p>
          <a:p>
            <a:r>
              <a:t>Fundos.NET 966587; 2025-08-04; p.34; 5.5(v); data/raw/57532556000146/966587_regulamento_regulamento_966587_2025-08-04.pdf; p.30;3.11.2</a:t>
            </a:r>
          </a:p>
          <a:p>
            <a:r>
              <a:t>Fundos.NET 928236; 2025-06-11; p.32; 5.5(v); data/raw/60598366000136/928236_regulamento_regulamento_928236_2025-06-11.pdf; p.29;3.11.2</a:t>
            </a:r>
          </a:p>
          <a:p>
            <a:r>
              <a:t>ID CVM/Fundos.NET 1225635 · 2026-06-22 · data/raw/66929956000180/1225635_regulamento_regulamento_1225635_2026-06-22.pdf · p. 33 · 5.5(v) · https://fnet.bmfbovespa.com.br/fnet/publico/exibirDocumento?id=1225635&amp;cvm=true</a:t>
            </a:r>
          </a:p>
          <a:p>
            <a:r>
              <a:t>Fundos.NET 966587; 2025-08-04; p.33; 5.5(ii); busca no regulamento integral; data/raw/57532556000146/966587_regulamento_regulamento_966587_2025-08-04.pdf</a:t>
            </a:r>
          </a:p>
          <a:p>
            <a:r>
              <a:t>Fundos.NET 928236; 2025-06-11; p.32; 5.5(ii); busca no regulamento integral; data/raw/60598366000136/928236_regulamento_regulamento_928236_2025-06-11.pdf</a:t>
            </a:r>
          </a:p>
          <a:p>
            <a:r>
              <a:t>Fundos.NET 966587; 2025-08-04; p.34; 5.5(vi); data/raw/57532556000146/966587_regulamento_regulamento_966587_2025-08-04.pdf</a:t>
            </a:r>
          </a:p>
          <a:p>
            <a:r>
              <a:t>Fundos.NET 928236; 2025-06-11; p.32–33; 5.5(vi);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33–34 · 5.5(vi) · https://fnet.bmfbovespa.com.br/fnet/publico/exibirDocumento?id=1225635&amp;cvm=true</a:t>
            </a:r>
          </a:p>
          <a:p>
            <a:r>
              <a:t>ID CVM/Fundos.NET 1225635 · 2026-06-22 · data/raw/66929956000180/1225635_regulamento_regulamento_1225635_2026-06-22.pdf · p. 34 · 5.5(vi) · https://fnet.bmfbovespa.com.br/fnet/publico/exibirDocumento?id=1225635&amp;cvm=true</a:t>
            </a:r>
          </a:p>
          <a:p>
            <a:r>
              <a:t>Fundos.NET 966587; 2025-08-04; p.35; 5.5(xvii); data/raw/57532556000146/966587_regulamento_regulamento_966587_2025-08-04.pdf</a:t>
            </a:r>
          </a:p>
          <a:p>
            <a:r>
              <a:t>Fundos.NET 928236; 2025-06-11; p.34; 5.5(xvii);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1–113 · Leitura integral;5.5 · https://fnet.bmfbovespa.com.br/fnet/publico/exibirDocumento?id=1225635&amp;cvm=true</a:t>
            </a:r>
          </a:p>
          <a:p>
            <a:r>
              <a:t>Fundos.NET 966587; 2025-08-04; p.34; 5.5(vii); data/raw/57532556000146/966587_regulamento_regulamento_966587_2025-08-04.pdf</a:t>
            </a:r>
          </a:p>
          <a:p>
            <a:r>
              <a:t>Fundos.NET 928236; 2025-06-11; p.33; 5.5(vii);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34 · 5.5(vii) · https://fnet.bmfbovespa.com.br/fnet/publico/exibirDocumento?id=1225635&amp;cvm=true</a:t>
            </a:r>
          </a:p>
          <a:p>
            <a:r>
              <a:t>Fundos.NET 966587; 2025-08-04; p.34; 5.5(x); data/raw/57532556000146/966587_regulamento_regulamento_966587_2025-08-04.pdf</a:t>
            </a:r>
          </a:p>
          <a:p>
            <a:r>
              <a:t>Fundos.NET 928236; 2025-06-11; p.33; 5.5(x);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34 · 5.5(x) · https://fnet.bmfbovespa.com.br/fnet/publico/exibirDocumento?id=1225635&amp;cvm=true</a:t>
            </a:r>
          </a:p>
          <a:p>
            <a:r>
              <a:t>Fundos.NET 966587; 2025-08-04; p.35; 5.5(xvi); data/raw/57532556000146/966587_regulamento_regulamento_966587_2025-08-04.pdf</a:t>
            </a:r>
          </a:p>
          <a:p>
            <a:r>
              <a:t>Fundos.NET 928236; 2025-06-11; p.33–34; 5.5(xvi);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34–35 · 5.5(xvi) · https://fnet.bmfbovespa.com.br/fnet/publico/exibirDocumento?id=1225635&amp;cvm=true</a:t>
            </a:r>
          </a:p>
          <a:p>
            <a:r>
              <a:t>Fundos.NET 966587; 2025-08-04; p.33; 5.1(iii); data/raw/57532556000146/966587_regulamento_regulamento_966587_2025-08-04.pdf</a:t>
            </a:r>
          </a:p>
          <a:p>
            <a:r>
              <a:t>Fundos.NET 928236; 2025-06-11; p.31; 5.1(iii);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32 · 5.1(iii) · https://fnet.bmfbovespa.com.br/fnet/publico/exibirDocumento?id=1225635&amp;cvm=true</a:t>
            </a:r>
          </a:p>
          <a:p>
            <a:r>
              <a:t>Fundos.NET 966587; 2025-08-04; p.32; 5.1(ii); data/raw/57532556000146/966587_regulamento_regulamento_966587_2025-08-04.pdf</a:t>
            </a:r>
          </a:p>
          <a:p>
            <a:r>
              <a:t>Fundos.NET 928236; 2025-06-11; p.31; 5.1(ii);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32 · 5.1(ii) · https://fnet.bmfbovespa.com.br/fnet/publico/exibirDocumento?id=1225635&amp;cvm=true</a:t>
            </a:r>
          </a:p>
          <a:p>
            <a:r>
              <a:t>Fundos.NET 966587; 2025-08-04; p.85; Adendo I, Concessão de Crédito1(e); busca integral; data/raw/57532556000146/966587_regulamento_regulamento_966587_2025-08-04.pdf</a:t>
            </a:r>
          </a:p>
          <a:p>
            <a:r>
              <a:t>Fundos.NET 928236; 2025-06-11; p.82; Adendo I, Concessão de Crédito1(e); busca integral;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33–35,82–83 · 5.5;AdendoIPolíticaCrédito · https://fnet.bmfbovespa.com.br/fnet/publico/exibirDocumento?id=1225635&amp;cvm=true</a:t>
            </a:r>
          </a:p>
          <a:p>
            <a:r>
              <a:t>Imagem IMG_1713.jpg fornecida pelo usuário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2026-10-07T11:56:39-03:00</a:t>
            </a:r>
          </a:p>
          <a:p>
            <a:r>
              <a:t>BV AUTO III SEGMENTO FINANCEIRO FIDC: CNPJ 66.929.956/0001-80</a:t>
            </a:r>
          </a:p>
          <a:p>
            <a:r>
              <a:t>FIDC BV AUTO I SEGMENTO FINANCEIRO: CNPJ 57.532.556/0001-46</a:t>
            </a:r>
          </a:p>
          <a:p>
            <a:r>
              <a:t>FIDC BV AUTO II SEGMENTO FINANCEIRO: CNPJ 60.598.366/0001-36</a:t>
            </a:r>
          </a:p>
          <a:p>
            <a:r>
              <a:t>Observações:</a:t>
            </a:r>
          </a:p>
          <a:p>
            <a:r>
              <a:t>*Auto I e II: numeral 15% e extenso “dez por cento”. Limite sênior exige confirmação; III corrigiu o extenso em 22/06/26.</a:t>
            </a:r>
          </a:p>
          <a:p>
            <a:r>
              <a:t>Perdas 90/180: face das parcelas vincendas e vencidas não pagas das CCBs afetadas / face histórico adquirido. Excesso gera avaliação.</a:t>
            </a:r>
          </a:p>
          <a:p>
            <a:r>
              <a:t>Hedge limitado às posições à vista e a 1×PL. Reserva depende de despesas projetadas.</a:t>
            </a:r>
          </a:p>
          <a:p>
            <a:r>
              <a:t>Fontes:</a:t>
            </a:r>
          </a:p>
          <a:p>
            <a:r>
              <a:t>Fundos.NET 966587; 2025-08-04; p.20; Definição Índice de Subordinação Sênior; data/raw/57532556000146/966587_regulamento_regulamento_966587_2025-08-04.pdf</a:t>
            </a:r>
          </a:p>
          <a:p>
            <a:r>
              <a:t>Fundos.NET 928236; 2025-06-11; p.18; Definição Índice de Subordinação Sênior;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19 · Definição ÍndiceSubordinaçãoSênior · https://fnet.bmfbovespa.com.br/fnet/publico/exibirDocumento?id=1225635&amp;cvm=true</a:t>
            </a:r>
          </a:p>
          <a:p>
            <a:r>
              <a:t>Fundos.NET 966587; 2025-08-04; p.20; Definição Índice de Perdas90;11.1(xii); data/raw/57532556000146/966587_regulamento_regulamento_966587_2025-08-04.pdf</a:t>
            </a:r>
          </a:p>
          <a:p>
            <a:r>
              <a:t>Fundos.NET 928236; 2025-06-11; p.18–19; Definição Índice de Perdas90;11.1(xii);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19,53–54 · Definição;10.1(xii) · https://fnet.bmfbovespa.com.br/fnet/publico/exibirDocumento?id=1225635&amp;cvm=true</a:t>
            </a:r>
          </a:p>
          <a:p>
            <a:r>
              <a:t>Fundos.NET 966587; 2025-08-04; p.20; Definição Índice de Perdas180;11.1(xii); data/raw/57532556000146/966587_regulamento_regulamento_966587_2025-08-04.pdf</a:t>
            </a:r>
          </a:p>
          <a:p>
            <a:r>
              <a:t>Fundos.NET 928236; 2025-06-11; p.19; Definição Índice de Perdas180;11.1(xii); data/raw/60598366000136/928236_regulamento_regulamento_928236_2025-06-11.pdf</a:t>
            </a:r>
          </a:p>
          <a:p>
            <a:r>
              <a:t>Fundos.NET 966587; 2025-08-04; p.26; 3.1.2; data/raw/57532556000146/966587_regulamento_regulamento_966587_2025-08-04.pdf</a:t>
            </a:r>
          </a:p>
          <a:p>
            <a:r>
              <a:t>Fundos.NET 928236; 2025-06-11; p.25; 3.1.2;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26 · 3.1.2 · https://fnet.bmfbovespa.com.br/fnet/publico/exibirDocumento?id=1225635&amp;cvm=true</a:t>
            </a:r>
          </a:p>
          <a:p>
            <a:r>
              <a:t>Fundos.NET 966587; 2025-08-04; p.28; 3.5–3.5.3; data/raw/57532556000146/966587_regulamento_regulamento_966587_2025-08-04.pdf</a:t>
            </a:r>
          </a:p>
          <a:p>
            <a:r>
              <a:t>Fundos.NET 928236; 2025-06-11; p.26–27; 3.5–3.5.3;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27–28 · 3.5–3.5.2 · https://fnet.bmfbovespa.com.br/fnet/publico/exibirDocumento?id=1225635&amp;cvm=true</a:t>
            </a:r>
          </a:p>
          <a:p>
            <a:r>
              <a:t>Fundos.NET 966587; 2025-08-04; p.27; 3.5; data/raw/57532556000146/966587_regulamento_regulamento_966587_2025-08-04.pdf</a:t>
            </a:r>
          </a:p>
          <a:p>
            <a:r>
              <a:t>Fundos.NET 928236; 2025-06-11; p.26; 3.5;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27 · 3.5 · https://fnet.bmfbovespa.com.br/fnet/publico/exibirDocumento?id=1225635&amp;cvm=true</a:t>
            </a:r>
          </a:p>
          <a:p>
            <a:r>
              <a:t>Fundos.NET 966587; 2025-08-04; p.59; 12.1–12.1.1; data/raw/57532556000146/966587_regulamento_regulamento_966587_2025-08-04.pdf</a:t>
            </a:r>
          </a:p>
          <a:p>
            <a:r>
              <a:t>Fundos.NET 928236; 2025-06-11; p.56; 12.1–12.1.1; data/raw/60598366000136/928236_regulamento_regulamento_928236_2025-06-11.pdf</a:t>
            </a:r>
          </a:p>
          <a:p>
            <a:r>
              <a:t>ID CVM/Fundos.NET 1225635 · 2026-06-22 · data/raw/66929956000180/1225635_regulamento_regulamento_1225635_2026-06-22.pdf · p. 57 · 12.1–12.1.1 · https://fnet.bmfbovespa.com.br/fnet/publico/exibirDocumento?id=1225635&amp;cvm=true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2026-10-07T11:56:39-03:00</a:t>
            </a:r>
          </a:p>
          <a:p>
            <a:r>
              <a:t>BV AUTO III SEGMENTO FINANCEIRO FIDC: CNPJ 66.929.956/0001-80</a:t>
            </a:r>
          </a:p>
          <a:p>
            <a:r>
              <a:t>FIDC BV AUTO I SEGMENTO FINANCEIRO: CNPJ 57.532.556/0001-46</a:t>
            </a:r>
          </a:p>
          <a:p>
            <a:r>
              <a:t>FIDC BV AUTO II SEGMENTO FINANCEIRO: CNPJ 60.598.366/0001-36</a:t>
            </a:r>
          </a:p>
          <a:p>
            <a:r>
              <a:t>Observações:</a:t>
            </a:r>
          </a:p>
          <a:p>
            <a:r>
              <a:t>Sênior: (Mezanino A + Mezanino B + Júnior) / PL. Despesas, derivativos e reserva precedem cotas.</a:t>
            </a:r>
          </a:p>
          <a:p>
            <a:r>
              <a:t>Reembolso tem exceções. Inadimplência ordinária não implica garantia de solvência do BV.</a:t>
            </a:r>
          </a:p>
          <a:p>
            <a:r>
              <a:t>Fontes:</a:t>
            </a:r>
          </a:p>
          <a:p>
            <a:r>
              <a:t>CVM/Fundos.NET ID 966587; referência 04/08/2025; Regulamento; data/raw/57532556000146/966587_regulamento_regulamento_966587_2025-08-04.pdf; p. 13, 26, 54; Anexo Descritivo 1.1, 3.2 e 10.1(vi);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13, 26-27; Anexo Descritivo 1.1 e 3.3;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20, 53-54; Anexo Descritivo 1.1, Índice de Subordinação Sênior, 9.13 e 10.1(vii);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19, 53-54; Anexo Descritivo 1.1, 9.13 e 10.1(vii);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19-20, 53-54; Anexo Descritivo 1.1, 9.13 e 10.1(vii);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115-116; Apêndice das Cotas Júnior 2.4 a 2.6;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20, 55; Anexo Descritivo 1.1 e 10.1(xii);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20, 55-56; Anexo Descritivo 1.1 e 10.1(xii), 10.2 a 10.4;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32-33; Anexo Descritivo 5.1(i)-(iii);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34; Anexo Descritivo 5.5(vi);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33-35; Anexo Descritivo 5.2 a 5.5;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35; Anexo Descritivo 5.5(xvii)-(xviii);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31, 35-38; Anexo Descritivo 3.15.2, 5.5.1 a 5.5.4;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26, 30, 35-38; Anexo Descritivo 3.1.2, 3.11.1 e 5.5.1 a 5.5.4;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55, 59; Anexo Descritivo 10.1(xi) e 12.1 a 12.1.1;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27-28; Anexo Descritivo 3.5 a 3.5.3;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59-61; Anexo Descritivo 13.2 a 13.4;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87-88; Adendo III, Metodologia de Provisionamento;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19, 35, 41; Anexo Descritivo 1.1, 5.5(xiii) e 6.1.2(x);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35-38; Anexo Descritivo 5.5.1(i)-(xiv), 5.5.1.1 e 5.5.2 a 5.5.4;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54-57; Anexo Descritivo 10.1(i),(xv), 11.1(i);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49-51, 55, 57; Anexo Descritivo 8.1 a 8.5, 10.1(ix), 11.1(iv);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2-4, 18, 24, 30-32, 45-46; Parte Geral1.1; Anexo1.1, 3.11.2, 4.6 e 6.3 a 6.6;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32; Anexo Descritivo 4.5.1;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27-29; Anexo Descritivo 3.4.2, 3.7 a 3.9;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28-30; Anexo Descritivo 3.10;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27, 29; Anexo Descritivo 3.4(iv), 3.4.2 e 3.10(iii);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2, 56; Parte Geral1.1; Anexo10.1(xviii); https://fnet.bmfbovespa.com.br/fnet/publico/exibirDocumento?id=966587&amp;cvm=true | CVM/Fundos.NET ID 1069230; referência 30/09/2025; Demonstrações financeiras auditadas; data/raw/57532556000146/1069230_demonstracoes_financeiras_demonstracoes_financeiras_1069230_2025-09-30.pdf; p. 27; Nota 9, Rating; https://fnet.bmfbovespa.com.br/fnet/publico/exibirDocumento?id=1069230&amp;cvm=true</a:t>
            </a:r>
          </a:p>
          <a:p>
            <a:r>
              <a:t>CVM/Fundos.NET ID 774872; referência 08/11/2024; Instrumento particular / emissão e alteração; data/raw/57532556000146/774872_regulamento_regulamento_774872_2024-11-08.pdf; p. 1-3; Instrumento I-II; https://fnet.bmfbovespa.com.br/fnet/publico/exibirDocumento?id=774872&amp;cvm=true</a:t>
            </a:r>
          </a:p>
          <a:p>
            <a:r>
              <a:t>CVM/Fundos.NET ID 966587; referência 04/08/2025; Regulamento; data/raw/57532556000146/966587_regulamento_regulamento_966587_2025-08-04.pdf; p. 15-18, 32-35; Anexo Descritivo1.1, 5.1 e 5.5; https://fnet.bmfbovespa.com.br/fnet/publico/exibirDocumento?id=966587&amp;cvm=true</a:t>
            </a:r>
          </a:p>
          <a:p>
            <a:r>
              <a:t>CVM/Fundos.NET ID 1069230; referência 30/09/2025; Demonstrações financeiras auditadas; data/raw/57532556000146/1069230_demonstracoes_financeiras_demonstracoes_financeiras_1069230_2025-09-30.pdf; p. 32; Nota 13(d), Taxa de cobrança; https://fnet.bmfbovespa.com.br/fnet/publico/exibirDocumento?id=1069230&amp;cvm=true</a:t>
            </a:r>
          </a:p>
          <a:p>
            <a:r>
              <a:t>Regulamento | ID 928236 | referência 11/06/2025 | data/raw/60598366000136/928236_regulamento_regulamento_928236_2025-06-11.pdf | p. 12,25,52; definição Alocação Mínima; 3.2; 10.1(vi) | https://fnet.bmfbovespa.com.br/fnet/publico/downloadDocumento?id=928236; Demonstrações contábeis auditadas | ID 1069231 | referência 30/09/2025 | data/raw/60598366000136/1069231_demonstracoes_financeiras_demonstracoes_financeiras_1069231_2025-09-30.pdf | p. 22; nota 5.8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12,40; definição Alocação Mínima Tributária; 6.2 | https://fnet.bmfbovespa.com.br/fnet/publico/downloadDocumento?id=928236; Demonstrações contábeis auditadas | ID 1069231 | referência 30/09/2025 | data/raw/60598366000136/1069231_demonstracoes_financeiras_demonstracoes_financeiras_1069231_2025-09-30.pdf | p. 34; nota 15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18,50,52; Índice de Subordinação Sênior; 9.12-9.13; 10.1(vii)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18,50,52; Índice de Subordinação Mezanino A; 9.13; 10.1(vii)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18,50,52; Índice de Subordinação Mezanino B; 9.13; 10.1(vii)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108; Apêndice Júnior 2.4-2.6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18-19,53; Índice de Perdas 90; 10.1(xii)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19,53; Índice de Perdas 180; 10.1(xii)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53,56-57; 10.1(xi); 12.1-12.1.1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26-27; 3.5-3.5.3 | https://fnet.bmfbovespa.com.br/fnet/publico/downloadDocumento?id=928236; Demonstrações contábeis auditadas | ID 1069231 | referência 30/09/2025 | data/raw/60598366000136/1069231_demonstracoes_financeiras_demonstracoes_financeiras_1069231_2025-09-30.pdf | p. 23; nota 6(a)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31; 5.1(ii)-(iii) | https://fnet.bmfbovespa.com.br/fnet/publico/downloadDocumento?id=928236; Demonstrações contábeis auditadas | ID 1069231 | referência 30/09/2025 | data/raw/60598366000136/1069231_demonstracoes_financeiras_demonstracoes_financeiras_1069231_2025-09-30.pdf | p. 20-21; nota 5.6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26-27; 3.4.1; 3.9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30-34; 4.1; 5.5(i)-(xvi)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32-33; 5.5(vi)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34; 5.5(xvii) | https://fnet.bmfbovespa.com.br/fnet/publico/downloadDocumento?id=928236; Demonstrações contábeis auditadas | ID 1069231 | referência 30/09/2025 | data/raw/60598366000136/1069231_demonstracoes_financeiras_demonstracoes_financeiras_1069231_2025-09-30.pdf | p. 18; nota 5.2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17,30,34-36; Endosso; 3.15.2; 5.5.1-5.5.4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34-36; 5.5.1-5.5.4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25,57; 3.1.2; 13.2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57-58,89,97,106,108; 13.2-13.4; adendos 7; Júnior 2.4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51-54; 10.1-10.6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54-55; 11.1(i)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47-49,52,55; 8.1-8.5; 10.1(ix); 11.1(iv) | https://fnet.bmfbovespa.com.br/fnet/publico/downloadDocumento?id=928236; Instrumento de alteração e aprovação da emissão | ID 928235 | referência 11/06/2025 | data/raw/60598366000136/928235_regulamento_regulamento_928235_2025-06-11.pdf | p. 1; II | https://fnet.bmfbovespa.com.br/fnet/publico/downloadDocumento?id=928235</a:t>
            </a:r>
          </a:p>
          <a:p>
            <a:r>
              <a:t>Regulamento | ID 928236 | referência 11/06/2025 | data/raw/60598366000136/928236_regulamento_regulamento_928236_2025-06-11.pdf | p. 14,22,29,30-31,43-44; Conta Arrecadadora; Tombamento; 3.11.2; 4.5-4.6; 6.4-6.7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65; 17.3-17.3.2 | https://fnet.bmfbovespa.com.br/fnet/publico/downloadDocumento?id=928236; Demonstrações contábeis auditadas | ID 1069231 | referência 30/09/2025 | data/raw/60598366000136/1069231_demonstracoes_financeiras_demonstracoes_financeiras_1069231_2025-09-30.pdf | p. 14; nota 3(e)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32-36; 5.5-5.5.4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34-36,108; 5.5.1-5.5.4; Apêndice Júnior 2.4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27-28; 3.10(i)-(xiv)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26-27; 3.4.2; 3.7-3.8 | https://fnet.bmfbovespa.com.br/fnet/publico/downloadDocumento?id=928236; Demonstrações contábeis auditadas | ID 1069231 | referência 30/09/2025 | data/raw/60598366000136/1069231_demonstracoes_financeiras_demonstracoes_financeiras_1069231_2025-09-30.pdf | p. 25; nota 8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107; Apêndice Júnior 1.4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26,28; 3.4(iv); 3.10(iii) | https://fnet.bmfbovespa.com.br/fnet/publico/downloadDocumento?id=928236; Demonstrações contábeis auditadas | ID 1069231 | referência 30/09/2025 | data/raw/60598366000136/1069231_demonstracoes_financeiras_demonstracoes_financeiras_1069231_2025-09-30.pdf | p. 15; nota 4 | https://fnet.bmfbovespa.com.br/fnet/publico/downloadDocumento?id=1069231</a:t>
            </a:r>
          </a:p>
          <a:p>
            <a:r>
              <a:t>Demonstrações contábeis auditadas | ID 1069231 | referência 30/09/2025 | data/raw/60598366000136/1069231_demonstracoes_financeiras_demonstracoes_financeiras_1069231_2025-09-30.pdf | p. 31; nota 13(d) | https://fnet.bmfbovespa.com.br/fnet/publico/downloadDocumento?id=1069231; Regulamento | ID 928236 | referência 11/06/2025 | data/raw/60598366000136/928236_regulamento_regulamento_928236_2025-06-11.pdf | p. 47; 7.5 | https://fnet.bmfbovespa.com.br/fnet/publico/downloadDocumento?id=928236</a:t>
            </a:r>
          </a:p>
          <a:p>
            <a:r>
              <a:t>Instrumento de alteração e aprovação da emissão | ID 928235 | referência 11/06/2025 | data/raw/60598366000136/928235_regulamento_regulamento_928235_2025-06-11.pdf | p. 1; I | https://fnet.bmfbovespa.com.br/fnet/publico/downloadDocumento?id=928235; Regulamento | ID 928236 | referência 11/06/2025 | data/raw/60598366000136/928236_regulamento_regulamento_928236_2025-06-11.pdf | p. 2,24,29; 1.1; 2.1; 3.11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16-17,31; Devedores; Emitente; 5.1 | https://fnet.bmfbovespa.com.br/fnet/publico/downloadDocumento?id=928236; Demonstrações contábeis auditadas | ID 1069231 | referência 30/09/2025 | data/raw/60598366000136/1069231_demonstracoes_financeiras_demonstracoes_financeiras_1069231_2025-09-30.pdf | p. 20-21; nota 5.6 | https://fnet.bmfbovespa.com.br/fnet/publico/downloadDocumento?id=1069231</a:t>
            </a:r>
          </a:p>
          <a:p>
            <a:r>
              <a:t>ID CVM/Fundos.NET 1225635 · 22/06/2026 · Regulamento · data/raw/66929956000180/1225635_regulamento_regulamento_1225635_2026-06-22.pdf · p. 12, 26, 53 · definição Alocação Mínima; 3.2; 10.1(vi)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12, 41 · definição; 6.3(b)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19, 51 · definição; 9.12–9.13 · https://fnet.bmfbovespa.com.br/fnet/publico/exibirDocumento?id=1225635&amp;cvm=true; ID CVM/Fundos.NET 1224880 · 17/06/2026 · Regulamento anterior · data/raw/66929956000180/1224880_regulamento_regulamento_1224880_2026-06-17.pdf · p. 18–19 · https://fnet.bmfbovespa.com.br/fnet/publico/exibirDocumento?id=1224880&amp;cvm=true</a:t>
            </a:r>
          </a:p>
          <a:p>
            <a:r>
              <a:t>ID CVM/Fundos.NET 1225635 · 22/06/2026 · Regulamento · data/raw/66929956000180/1225635_regulamento_regulamento_1225635_2026-06-22.pdf · p. 18, 51 · definição; 9.13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18–19, 51 · definição; 9.13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19, 53–54 · definição; 10.1(xii)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53, 57 · 10.1(xi); 12.1–12.1.1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27–28 · 3.5–3.5.3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32 · 5.1(ii)–(iii)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32–35 · 5.1–5.5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33–34 · 5.5(vi)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31, 35–37 · 3.15.2; 5.5.1–5.5.4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35–37 · 5.5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18, 26, 34–37 · definição;3.1.2;5.5(xiii);5.5.1(xii,xiv)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52–56 · 10.1–10.6;11.1–11.4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52–56 · 10.1;11.1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48–50, 53, 56 · 8.1–8.5;10.1(ix);11.1(iv)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17,30–32,45 · definição Emitente;3.11.2;4.5–4.6;6.5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27–28 · 3.4;3.4.1;3.9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27–28 · 3.4.2;3.7–3.8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28–29 · 3.10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27–29 · 3.4(iv);3.4.2;3.10(iii)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21–22,57–59,90,98,106,109 · definição Carência;12–13;Apêndices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108 · ApêndiceJúnior1.4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18,20–21,109,112 · definições;ApêndiceJúnior3.1–3.2;AdendoB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66–67 · 17.3–17.6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59–61 · 14.2–14.5 · https://fnet.bmfbovespa.com.br/fnet/publico/exibirDocumento?id=1225635&amp;cvm=true</a:t>
            </a:r>
          </a:p>
          <a:p>
            <a:r>
              <a:t>ID CVM/Fundos.NET 1227463 · 24/06/2026 · Anúncio de Início · data/raw/66929956000180/1227463_emissao_emissao_1227463_2026-06-24.pdf · p. 1 · https://fnet.bmfbovespa.com.br/fnet/publico/exibirDocumento?id=1227463&amp;cvm=true; ID CVM/Fundos.NET 1225635 · 22/06/2026 · Regulamento · data/raw/66929956000180/1225635_regulamento_regulamento_1225635_2026-06-22.pdf · p. 54 · 10.1(xviii)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33–37 · 5.5–5.5.4 · https://fnet.bmfbovespa.com.br/fnet/publico/exibirDocumento?id=1225635&amp;cvm=true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2026-10-07T11:56:39-03:00</a:t>
            </a:r>
          </a:p>
          <a:p>
            <a:r>
              <a:t>BV AUTO III SEGMENTO FINANCEIRO FIDC: CNPJ 66.929.956/0001-80</a:t>
            </a:r>
          </a:p>
          <a:p>
            <a:r>
              <a:t>FIDC BV AUTO I SEGMENTO FINANCEIRO: CNPJ 57.532.556/0001-46</a:t>
            </a:r>
          </a:p>
          <a:p>
            <a:r>
              <a:t>FIDC BV AUTO II SEGMENTO FINANCEIRO: CNPJ 60.598.366/0001-36</a:t>
            </a:r>
          </a:p>
          <a:p>
            <a:r>
              <a:t>Observações:</a:t>
            </a:r>
          </a:p>
          <a:p>
            <a:r>
              <a:t>Auto II: R$247,52 mi = cotas integralizadas no anúncio de 03/07/25 × VNU inicial. A DF set/25 usa outra data e base contábil.</a:t>
            </a:r>
          </a:p>
          <a:p>
            <a:r>
              <a:t>Auto III: equalização limitada a 1% do PL. Júnior pode render abaixo do alvo ou ter resultado negativo. Rating Sênior / MZA / MZB na emissão.</a:t>
            </a:r>
          </a:p>
          <a:p>
            <a:r>
              <a:t>Fontes:</a:t>
            </a:r>
          </a:p>
          <a:p>
            <a:r>
              <a:t>CVM/Fundos.NET ID 966587; referência 04/08/2025; Regulamento; data/raw/57532556000146/966587_regulamento_regulamento_966587_2025-08-04.pdf; p. 94-96; Adendo B ao Apêndice, itens1-8; https://fnet.bmfbovespa.com.br/fnet/publico/exibirDocumento?id=966587&amp;cvm=true | CVM/Fundos.NET ID 774872; referência 08/11/2024; Instrumento particular / emissão e alteração; data/raw/57532556000146/774872_regulamento_regulamento_774872_2024-11-08.pdf; p. 1-3; Instrumento itensIII-IV; https://fnet.bmfbovespa.com.br/fnet/publico/exibirDocumento?id=774872&amp;cvm=true | CVM/Fundos.NET ID 796053; referência 06/12/2024; Comunicado ao mercado; data/raw/57532556000146/796053_emissao_emissao_796053_2024-12-06.pdf; p. 3; Cronograma atualizado; https://fnet.bmfbovespa.com.br/fnet/publico/exibirDocumento?id=796053&amp;cvm=true | CVM/Fundos.NET ID 801080; referência 13/12/2024; Anúncio de encerramento; data/raw/57532556000146/801080_emissao_emissao_801080_2024-12-13.pdf; p. 2-3; Dados finais de distribuição; https://fnet.bmfbovespa.com.br/fnet/publico/exibirDocumento?id=801080&amp;cvm=true | CVM/Fundos.NET ID 1069230; referência 30/09/2025; Demonstrações financeiras auditadas; data/raw/57532556000146/1069230_demonstracoes_financeiras_demonstracoes_financeiras_1069230_2025-09-30.pdf; p. 27-28; Notas 9-10, rating e emissão de cotas; https://fnet.bmfbovespa.com.br/fnet/publico/exibirDocumento?id=1069230&amp;cvm=true | CVM/Fundos.NET ID 774872; referência 08/11/2024; Instrumento particular / emissão e alteração; data/raw/57532556000146/774872_regulamento_regulamento_774872_2024-11-08.pdf; p. 4; Anexo I, item 2, sobretaxa original de 0,80%; https://fnet.bmfbovespa.com.br/fnet/publico/exibirDocumento?id=774872&amp;cvm=true | CVM/Fundos.NET ID 786914; referência 25/11/2024; Instrumento particular de alteração; data/raw/57532556000146/786914_regulamento_regulamento_786914_2024-11-25.pdf; p. 1, 3; Alteração para DI + 1,00%; https://fnet.bmfbovespa.com.br/fnet/publico/exibirDocumento?id=786914&amp;cvm=true</a:t>
            </a:r>
          </a:p>
          <a:p>
            <a:r>
              <a:t>CVM/Fundos.NET ID 966587; referência 04/08/2025; Regulamento; data/raw/57532556000146/966587_regulamento_regulamento_966587_2025-08-04.pdf; p. 103-105; Adendo B ao Apêndice, itens1-8; https://fnet.bmfbovespa.com.br/fnet/publico/exibirDocumento?id=966587&amp;cvm=true | CVM/Fundos.NET ID 774872; referência 08/11/2024; Instrumento particular / emissão e alteração; data/raw/57532556000146/774872_regulamento_regulamento_774872_2024-11-08.pdf; p. 1-3; Instrumento itensIII-IV; https://fnet.bmfbovespa.com.br/fnet/publico/exibirDocumento?id=774872&amp;cvm=true | CVM/Fundos.NET ID 796053; referência 06/12/2024; Comunicado ao mercado; data/raw/57532556000146/796053_emissao_emissao_796053_2024-12-06.pdf; p. 3; Cronograma atualizado; https://fnet.bmfbovespa.com.br/fnet/publico/exibirDocumento?id=796053&amp;cvm=true | CVM/Fundos.NET ID 801080; referência 13/12/2024; Anúncio de encerramento; data/raw/57532556000146/801080_emissao_emissao_801080_2024-12-13.pdf; p. 2-4; Dados finais de distribuição; https://fnet.bmfbovespa.com.br/fnet/publico/exibirDocumento?id=801080&amp;cvm=true | CVM/Fundos.NET ID 1069230; referência 30/09/2025; Demonstrações financeiras auditadas; data/raw/57532556000146/1069230_demonstracoes_financeiras_demonstracoes_financeiras_1069230_2025-09-30.pdf; p. 27-28; Notas 9-10, rating e emissão de cotas; https://fnet.bmfbovespa.com.br/fnet/publico/exibirDocumento?id=1069230&amp;cvm=true</a:t>
            </a:r>
          </a:p>
          <a:p>
            <a:r>
              <a:t>CVM/Fundos.NET ID 966587; referência 04/08/2025; Regulamento; data/raw/57532556000146/966587_regulamento_regulamento_966587_2025-08-04.pdf; p. 112-114; Adendo B ao Apêndice, itens1-8; https://fnet.bmfbovespa.com.br/fnet/publico/exibirDocumento?id=966587&amp;cvm=true | CVM/Fundos.NET ID 774872; referência 08/11/2024; Instrumento particular / emissão e alteração; data/raw/57532556000146/774872_regulamento_regulamento_774872_2024-11-08.pdf; p. 1-3; Instrumento itensIII-IV; https://fnet.bmfbovespa.com.br/fnet/publico/exibirDocumento?id=774872&amp;cvm=true | CVM/Fundos.NET ID 796053; referência 06/12/2024; Comunicado ao mercado; data/raw/57532556000146/796053_emissao_emissao_796053_2024-12-06.pdf; p. 3; Cronograma atualizado; https://fnet.bmfbovespa.com.br/fnet/publico/exibirDocumento?id=796053&amp;cvm=true | CVM/Fundos.NET ID 801080; referência 13/12/2024; Anúncio de encerramento; data/raw/57532556000146/801080_emissao_emissao_801080_2024-12-13.pdf; p. 2, 4-5; Dados finais de distribuição; https://fnet.bmfbovespa.com.br/fnet/publico/exibirDocumento?id=801080&amp;cvm=true | CVM/Fundos.NET ID 1069230; referência 30/09/2025; Demonstrações financeiras auditadas; data/raw/57532556000146/1069230_demonstracoes_financeiras_demonstracoes_financeiras_1069230_2025-09-30.pdf; p. 27-28; Notas 9-10, rating e emissão de cotas; https://fnet.bmfbovespa.com.br/fnet/publico/exibirDocumento?id=1069230&amp;cvm=true</a:t>
            </a:r>
          </a:p>
          <a:p>
            <a:r>
              <a:t>CVM/Fundos.NET ID 966587; referência 04/08/2025; Regulamento; data/raw/57532556000146/966587_regulamento_regulamento_966587_2025-08-04.pdf; p. 119-120; Adendo B ao Apêndice Júnior, itens1-7; https://fnet.bmfbovespa.com.br/fnet/publico/exibirDocumento?id=966587&amp;cvm=true | CVM/Fundos.NET ID 774872; referência 08/11/2024; Instrumento particular / emissão e alteração; data/raw/57532556000146/774872_regulamento_regulamento_774872_2024-11-08.pdf; p. 1-3; Instrumento itensIII-IV; https://fnet.bmfbovespa.com.br/fnet/publico/exibirDocumento?id=774872&amp;cvm=true | CVM/Fundos.NET ID 796053; referência 06/12/2024; Comunicado ao mercado; data/raw/57532556000146/796053_emissao_emissao_796053_2024-12-06.pdf; p. 3; Cronograma atualizado; https://fnet.bmfbovespa.com.br/fnet/publico/exibirDocumento?id=796053&amp;cvm=true | CVM/Fundos.NET ID 801080; referência 13/12/2024; Anúncio de encerramento; data/raw/57532556000146/801080_emissao_emissao_801080_2024-12-13.pdf; p. 2, 5-6; Dados finais de distribuição; https://fnet.bmfbovespa.com.br/fnet/publico/exibirDocumento?id=801080&amp;cvm=true | CVM/Fundos.NET ID 1069230; referência 30/09/2025; Demonstrações financeiras auditadas; data/raw/57532556000146/1069230_demonstracoes_financeiras_demonstracoes_financeiras_1069230_2025-09-30.pdf; p. 27-28; Notas 9-10, rating e emissão de cotas; https://fnet.bmfbovespa.com.br/fnet/publico/exibirDocumento?id=1069230&amp;cvm=true</a:t>
            </a:r>
          </a:p>
          <a:p>
            <a:r>
              <a:t>Regulamento | ID 928236 | referência 11/06/2025 | data/raw/60598366000136/928236_regulamento_regulamento_928236_2025-06-11.pdf | p. 88-89; Adendo B; itens 1-8 conforme subclasse | https://fnet.bmfbovespa.com.br/fnet/publico/downloadDocumento?id=928236; Instrumento de alteração e aprovação da emissão | ID 928235 | referência 11/06/2025 | data/raw/60598366000136/928235_regulamento_regulamento_928235_2025-06-11.pdf | p. 3-4; Anexos I-IV | https://fnet.bmfbovespa.com.br/fnet/publico/downloadDocumento?id=928235; Anúncio de início | ID 923892 | referência 12/06/2025 | data/raw/60598366000136/923892_emissao_emissao_923892_2025-06-12.pdf | p. 1-3; Anúncio e cronograma | https://fnet.bmfbovespa.com.br/fnet/publico/downloadDocumento?id=923892; Anúncio de encerramento - fonte primária complementar Angá/MZ, ID CVM não localizado | ID MZ | referência 03/07/2025 | data/raw/60598366000136/official_mz_anuncio_encerramento_1emissao.pdf | p. 2-6; Dados finais de distribuição | https://api.mziq.com/mzfilemanager/v2/d/e64de95c-bb54-4ffb-a9ff-ddde6b36facb/829faeb8-b84a-80dd-2ec3-7fb3a5d91326?origin=1; Demonstrações contábeis auditadas | ID 1069231 | referência 30/09/2025 | data/raw/60598366000136/1069231_demonstracoes_financeiras_demonstracoes_financeiras_1069231_2025-09-30.pdf | p. 8,27-28; Demonstração de mutações e notas10-11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96-98; Adendo B; itens 1-8 conforme subclasse | https://fnet.bmfbovespa.com.br/fnet/publico/downloadDocumento?id=928236; Instrumento de alteração e aprovação da emissão | ID 928235 | referência 11/06/2025 | data/raw/60598366000136/928235_regulamento_regulamento_928235_2025-06-11.pdf | p. 5-6; Anexos I-IV | https://fnet.bmfbovespa.com.br/fnet/publico/downloadDocumento?id=928235; Anúncio de início | ID 923892 | referência 12/06/2025 | data/raw/60598366000136/923892_emissao_emissao_923892_2025-06-12.pdf | p. 1-3; Anúncio e cronograma | https://fnet.bmfbovespa.com.br/fnet/publico/downloadDocumento?id=923892; Anúncio de encerramento - fonte primária complementar Angá/MZ, ID CVM não localizado | ID MZ | referência 03/07/2025 | data/raw/60598366000136/official_mz_anuncio_encerramento_1emissao.pdf | p. 2-6; Dados finais de distribuição | https://api.mziq.com/mzfilemanager/v2/d/e64de95c-bb54-4ffb-a9ff-ddde6b36facb/829faeb8-b84a-80dd-2ec3-7fb3a5d91326?origin=1; Demonstrações contábeis auditadas | ID 1069231 | referência 30/09/2025 | data/raw/60598366000136/1069231_demonstracoes_financeiras_demonstracoes_financeiras_1069231_2025-09-30.pdf | p. 8,27-28; Demonstração de mutações e notas10-11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105-106; Adendo B; itens 1-8 conforme subclasse | https://fnet.bmfbovespa.com.br/fnet/publico/downloadDocumento?id=928236; Instrumento de alteração e aprovação da emissão | ID 928235 | referência 11/06/2025 | data/raw/60598366000136/928235_regulamento_regulamento_928235_2025-06-11.pdf | p. 7-8; Anexos I-IV | https://fnet.bmfbovespa.com.br/fnet/publico/downloadDocumento?id=928235; Anúncio de início | ID 923892 | referência 12/06/2025 | data/raw/60598366000136/923892_emissao_emissao_923892_2025-06-12.pdf | p. 1-3; Anúncio e cronograma | https://fnet.bmfbovespa.com.br/fnet/publico/downloadDocumento?id=923892; Anúncio de encerramento - fonte primária complementar Angá/MZ, ID CVM não localizado | ID MZ | referência 03/07/2025 | data/raw/60598366000136/official_mz_anuncio_encerramento_1emissao.pdf | p. 2-6; Dados finais de distribuição | https://api.mziq.com/mzfilemanager/v2/d/e64de95c-bb54-4ffb-a9ff-ddde6b36facb/829faeb8-b84a-80dd-2ec3-7fb3a5d91326?origin=1; Demonstrações contábeis auditadas | ID 1069231 | referência 30/09/2025 | data/raw/60598366000136/1069231_demonstracoes_financeiras_demonstracoes_financeiras_1069231_2025-09-30.pdf | p. 8,27-28; Demonstração de mutações e notas10-11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111-112; Adendo B; itens 1-8 conforme subclasse | https://fnet.bmfbovespa.com.br/fnet/publico/downloadDocumento?id=928236; Instrumento de alteração e aprovação da emissão | ID 928235 | referência 11/06/2025 | data/raw/60598366000136/928235_regulamento_regulamento_928235_2025-06-11.pdf | p. 9-10; Anexos I-IV | https://fnet.bmfbovespa.com.br/fnet/publico/downloadDocumento?id=928235; Anúncio de início | ID 923892 | referência 12/06/2025 | data/raw/60598366000136/923892_emissao_emissao_923892_2025-06-12.pdf | p. 1-3; Anúncio e cronograma | https://fnet.bmfbovespa.com.br/fnet/publico/downloadDocumento?id=923892; Anúncio de encerramento - fonte primária complementar Angá/MZ, ID CVM não localizado | ID MZ | referência 03/07/2025 | data/raw/60598366000136/official_mz_anuncio_encerramento_1emissao.pdf | p. 2-6; Dados finais de distribuição | https://api.mziq.com/mzfilemanager/v2/d/e64de95c-bb54-4ffb-a9ff-ddde6b36facb/829faeb8-b84a-80dd-2ec3-7fb3a5d91326?origin=1; Demonstrações contábeis auditadas | ID 1069231 | referência 30/09/2025 | data/raw/60598366000136/1069231_demonstracoes_financeiras_demonstracoes_financeiras_1069231_2025-09-30.pdf | p. 8,27-28; Demonstração de mutações e notas10-11 | https://fnet.bmfbovespa.com.br/fnet/publico/downloadDocumento?id=1069231</a:t>
            </a:r>
          </a:p>
          <a:p>
            <a:r>
              <a:t>ID CVM/Fundos.NET 1225635 · 22/06/2026 · Regulamento · data/raw/66929956000180/1225635_regulamento_regulamento_1225635_2026-06-22.pdf · p. 89–90 · AdendoB/apêndice da subclasse · https://fnet.bmfbovespa.com.br/fnet/publico/exibirDocumento?id=1225635&amp;cvm=true; ID CVM/Fundos.NET 1212165 · 01/06/2026 · Instrumento Alteração · data/raw/66929956000180/1212165_regulamento_regulamento_1212165_2026-06-01.pdf · p. 1–2 · https://fnet.bmfbovespa.com.br/fnet/publico/exibirDocumento?id=1212165&amp;cvm=true; ID CVM/Fundos.NET 1227463 · 24/06/2026 · Anúncio Início · data/raw/66929956000180/1227463_emissao_emissao_1227463_2026-06-24.pdf · p. 1–3 · https://fnet.bmfbovespa.com.br/fnet/publico/exibirDocumento?id=1227463&amp;cvm=true</a:t>
            </a:r>
          </a:p>
          <a:p>
            <a:r>
              <a:t>ID CVM/Fundos.NET 1225635 · 22/06/2026 · Regulamento · data/raw/66929956000180/1225635_regulamento_regulamento_1225635_2026-06-22.pdf · p. 97–99 · AdendoB/apêndice da subclasse · https://fnet.bmfbovespa.com.br/fnet/publico/exibirDocumento?id=1225635&amp;cvm=true; ID CVM/Fundos.NET 1212165 · 01/06/2026 · Instrumento Alteração · data/raw/66929956000180/1212165_regulamento_regulamento_1212165_2026-06-01.pdf · p. 1–2 · https://fnet.bmfbovespa.com.br/fnet/publico/exibirDocumento?id=1212165&amp;cvm=true; ID CVM/Fundos.NET 1227463 · 24/06/2026 · Anúncio Início · data/raw/66929956000180/1227463_emissao_emissao_1227463_2026-06-24.pdf · p. 1–3 · https://fnet.bmfbovespa.com.br/fnet/publico/exibirDocumento?id=1227463&amp;cvm=true</a:t>
            </a:r>
          </a:p>
          <a:p>
            <a:r>
              <a:t>ID CVM/Fundos.NET 1225635 · 22/06/2026 · Regulamento · data/raw/66929956000180/1225635_regulamento_regulamento_1225635_2026-06-22.pdf · p. 105–107 · AdendoB/apêndice da subclasse · https://fnet.bmfbovespa.com.br/fnet/publico/exibirDocumento?id=1225635&amp;cvm=true; ID CVM/Fundos.NET 1212165 · 01/06/2026 · Instrumento Alteração · data/raw/66929956000180/1212165_regulamento_regulamento_1212165_2026-06-01.pdf · p. 1–2 · https://fnet.bmfbovespa.com.br/fnet/publico/exibirDocumento?id=1212165&amp;cvm=true; ID CVM/Fundos.NET 1227463 · 24/06/2026 · Anúncio Início · data/raw/66929956000180/1227463_emissao_emissao_1227463_2026-06-24.pdf · p. 1–3 · https://fnet.bmfbovespa.com.br/fnet/publico/exibirDocumento?id=1227463&amp;cvm=true</a:t>
            </a:r>
          </a:p>
          <a:p>
            <a:r>
              <a:t>ID CVM/Fundos.NET 1225635 · 22/06/2026 · Regulamento · data/raw/66929956000180/1225635_regulamento_regulamento_1225635_2026-06-22.pdf · p. 108–113 · AdendoB/apêndice da subclasse · https://fnet.bmfbovespa.com.br/fnet/publico/exibirDocumento?id=1225635&amp;cvm=true; ID CVM/Fundos.NET 1212165 · 01/06/2026 · Instrumento Alteração · data/raw/66929956000180/1212165_regulamento_regulamento_1212165_2026-06-01.pdf · p. 1–2 · https://fnet.bmfbovespa.com.br/fnet/publico/exibirDocumento?id=1212165&amp;cvm=true; ID CVM/Fundos.NET 1227463 · 24/06/2026 · Anúncio Início · data/raw/66929956000180/1227463_emissao_emissao_1227463_2026-06-24.pdf · p. 1–3 · https://fnet.bmfbovespa.com.br/fnet/publico/exibirDocumento?id=1227463&amp;cvm=true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2026-10-07T11:56:39-03:00</a:t>
            </a:r>
          </a:p>
          <a:p>
            <a:r>
              <a:t>BV AUTO III SEGMENTO FINANCEIRO FIDC: CNPJ 66.929.956/0001-80</a:t>
            </a:r>
          </a:p>
          <a:p>
            <a:r>
              <a:t>FIDC BV AUTO I SEGMENTO FINANCEIRO: CNPJ 57.532.556/0001-46</a:t>
            </a:r>
          </a:p>
          <a:p>
            <a:r>
              <a:t>FIDC BV AUTO II SEGMENTO FINANCEIRO: CNPJ 60.598.366/0001-36</a:t>
            </a:r>
          </a:p>
          <a:p>
            <a:r>
              <a:t>Observações:</a:t>
            </a:r>
          </a:p>
          <a:p>
            <a:r>
              <a:t>Carência do Auto III abrange o sexto mês. Fluxos dependem de caixa e waterfall; não há calendário fechado de valores.</a:t>
            </a:r>
          </a:p>
          <a:p>
            <a:r>
              <a:t>Os recursos de integralização não compõem automaticamente a base distribuível. Datas indicativas não comprovam liquidação.</a:t>
            </a:r>
          </a:p>
          <a:p>
            <a:r>
              <a:t>Fontes:</a:t>
            </a:r>
          </a:p>
          <a:p>
            <a:r>
              <a:t>CVM/Fundos.NET ID 966587; referência 04/08/2025; Regulamento; data/raw/57532556000146/966587_regulamento_regulamento_966587_2025-08-04.pdf; p. 94-96; Adendo B ao Apêndice, itens1-8; https://fnet.bmfbovespa.com.br/fnet/publico/exibirDocumento?id=966587&amp;cvm=true | CVM/Fundos.NET ID 774872; referência 08/11/2024; Instrumento particular / emissão e alteração; data/raw/57532556000146/774872_regulamento_regulamento_774872_2024-11-08.pdf; p. 1-3; Instrumento itensIII-IV; https://fnet.bmfbovespa.com.br/fnet/publico/exibirDocumento?id=774872&amp;cvm=true | CVM/Fundos.NET ID 796053; referência 06/12/2024; Comunicado ao mercado; data/raw/57532556000146/796053_emissao_emissao_796053_2024-12-06.pdf; p. 3; Cronograma atualizado; https://fnet.bmfbovespa.com.br/fnet/publico/exibirDocumento?id=796053&amp;cvm=true | CVM/Fundos.NET ID 801080; referência 13/12/2024; Anúncio de encerramento; data/raw/57532556000146/801080_emissao_emissao_801080_2024-12-13.pdf; p. 2-3; Dados finais de distribuição; https://fnet.bmfbovespa.com.br/fnet/publico/exibirDocumento?id=801080&amp;cvm=true | CVM/Fundos.NET ID 1069230; referência 30/09/2025; Demonstrações financeiras auditadas; data/raw/57532556000146/1069230_demonstracoes_financeiras_demonstracoes_financeiras_1069230_2025-09-30.pdf; p. 27-28; Notas 9-10, rating e emissão de cotas; https://fnet.bmfbovespa.com.br/fnet/publico/exibirDocumento?id=1069230&amp;cvm=true | CVM/Fundos.NET ID 774872; referência 08/11/2024; Instrumento particular / emissão e alteração; data/raw/57532556000146/774872_regulamento_regulamento_774872_2024-11-08.pdf; p. 4; Anexo I, item 2, sobretaxa original de 0,80%; https://fnet.bmfbovespa.com.br/fnet/publico/exibirDocumento?id=774872&amp;cvm=true | CVM/Fundos.NET ID 786914; referência 25/11/2024; Instrumento particular de alteração; data/raw/57532556000146/786914_regulamento_regulamento_786914_2024-11-25.pdf; p. 1, 3; Alteração para DI + 1,00%; https://fnet.bmfbovespa.com.br/fnet/publico/exibirDocumento?id=786914&amp;cvm=true</a:t>
            </a:r>
          </a:p>
          <a:p>
            <a:r>
              <a:t>CVM/Fundos.NET ID 966587; referência 04/08/2025; Regulamento; data/raw/57532556000146/966587_regulamento_regulamento_966587_2025-08-04.pdf; p. 103-105; Adendo B ao Apêndice, itens1-8; https://fnet.bmfbovespa.com.br/fnet/publico/exibirDocumento?id=966587&amp;cvm=true | CVM/Fundos.NET ID 774872; referência 08/11/2024; Instrumento particular / emissão e alteração; data/raw/57532556000146/774872_regulamento_regulamento_774872_2024-11-08.pdf; p. 1-3; Instrumento itensIII-IV; https://fnet.bmfbovespa.com.br/fnet/publico/exibirDocumento?id=774872&amp;cvm=true | CVM/Fundos.NET ID 796053; referência 06/12/2024; Comunicado ao mercado; data/raw/57532556000146/796053_emissao_emissao_796053_2024-12-06.pdf; p. 3; Cronograma atualizado; https://fnet.bmfbovespa.com.br/fnet/publico/exibirDocumento?id=796053&amp;cvm=true | CVM/Fundos.NET ID 801080; referência 13/12/2024; Anúncio de encerramento; data/raw/57532556000146/801080_emissao_emissao_801080_2024-12-13.pdf; p. 2-4; Dados finais de distribuição; https://fnet.bmfbovespa.com.br/fnet/publico/exibirDocumento?id=801080&amp;cvm=true | CVM/Fundos.NET ID 1069230; referência 30/09/2025; Demonstrações financeiras auditadas; data/raw/57532556000146/1069230_demonstracoes_financeiras_demonstracoes_financeiras_1069230_2025-09-30.pdf; p. 27-28; Notas 9-10, rating e emissão de cotas; https://fnet.bmfbovespa.com.br/fnet/publico/exibirDocumento?id=1069230&amp;cvm=true</a:t>
            </a:r>
          </a:p>
          <a:p>
            <a:r>
              <a:t>CVM/Fundos.NET ID 966587; referência 04/08/2025; Regulamento; data/raw/57532556000146/966587_regulamento_regulamento_966587_2025-08-04.pdf; p. 112-114; Adendo B ao Apêndice, itens1-8; https://fnet.bmfbovespa.com.br/fnet/publico/exibirDocumento?id=966587&amp;cvm=true | CVM/Fundos.NET ID 774872; referência 08/11/2024; Instrumento particular / emissão e alteração; data/raw/57532556000146/774872_regulamento_regulamento_774872_2024-11-08.pdf; p. 1-3; Instrumento itensIII-IV; https://fnet.bmfbovespa.com.br/fnet/publico/exibirDocumento?id=774872&amp;cvm=true | CVM/Fundos.NET ID 796053; referência 06/12/2024; Comunicado ao mercado; data/raw/57532556000146/796053_emissao_emissao_796053_2024-12-06.pdf; p. 3; Cronograma atualizado; https://fnet.bmfbovespa.com.br/fnet/publico/exibirDocumento?id=796053&amp;cvm=true | CVM/Fundos.NET ID 801080; referência 13/12/2024; Anúncio de encerramento; data/raw/57532556000146/801080_emissao_emissao_801080_2024-12-13.pdf; p. 2, 4-5; Dados finais de distribuição; https://fnet.bmfbovespa.com.br/fnet/publico/exibirDocumento?id=801080&amp;cvm=true | CVM/Fundos.NET ID 1069230; referência 30/09/2025; Demonstrações financeiras auditadas; data/raw/57532556000146/1069230_demonstracoes_financeiras_demonstracoes_financeiras_1069230_2025-09-30.pdf; p. 27-28; Notas 9-10, rating e emissão de cotas; https://fnet.bmfbovespa.com.br/fnet/publico/exibirDocumento?id=1069230&amp;cvm=true</a:t>
            </a:r>
          </a:p>
          <a:p>
            <a:r>
              <a:t>CVM/Fundos.NET ID 966587; referência 04/08/2025; Regulamento; data/raw/57532556000146/966587_regulamento_regulamento_966587_2025-08-04.pdf; p. 119-120; Adendo B ao Apêndice Júnior, itens1-7; https://fnet.bmfbovespa.com.br/fnet/publico/exibirDocumento?id=966587&amp;cvm=true | CVM/Fundos.NET ID 774872; referência 08/11/2024; Instrumento particular / emissão e alteração; data/raw/57532556000146/774872_regulamento_regulamento_774872_2024-11-08.pdf; p. 1-3; Instrumento itensIII-IV; https://fnet.bmfbovespa.com.br/fnet/publico/exibirDocumento?id=774872&amp;cvm=true | CVM/Fundos.NET ID 796053; referência 06/12/2024; Comunicado ao mercado; data/raw/57532556000146/796053_emissao_emissao_796053_2024-12-06.pdf; p. 3; Cronograma atualizado; https://fnet.bmfbovespa.com.br/fnet/publico/exibirDocumento?id=796053&amp;cvm=true | CVM/Fundos.NET ID 801080; referência 13/12/2024; Anúncio de encerramento; data/raw/57532556000146/801080_emissao_emissao_801080_2024-12-13.pdf; p. 2, 5-6; Dados finais de distribuição; https://fnet.bmfbovespa.com.br/fnet/publico/exibirDocumento?id=801080&amp;cvm=true | CVM/Fundos.NET ID 1069230; referência 30/09/2025; Demonstrações financeiras auditadas; data/raw/57532556000146/1069230_demonstracoes_financeiras_demonstracoes_financeiras_1069230_2025-09-30.pdf; p. 27-28; Notas 9-10, rating e emissão de cotas; https://fnet.bmfbovespa.com.br/fnet/publico/exibirDocumento?id=1069230&amp;cvm=true</a:t>
            </a:r>
          </a:p>
          <a:p>
            <a:r>
              <a:t>Regulamento | ID 928236 | referência 11/06/2025 | data/raw/60598366000136/928236_regulamento_regulamento_928236_2025-06-11.pdf | p. 88-89; Adendo B; itens 1-8 conforme subclasse | https://fnet.bmfbovespa.com.br/fnet/publico/downloadDocumento?id=928236; Instrumento de alteração e aprovação da emissão | ID 928235 | referência 11/06/2025 | data/raw/60598366000136/928235_regulamento_regulamento_928235_2025-06-11.pdf | p. 3-4; Anexos I-IV | https://fnet.bmfbovespa.com.br/fnet/publico/downloadDocumento?id=928235; Anúncio de início | ID 923892 | referência 12/06/2025 | data/raw/60598366000136/923892_emissao_emissao_923892_2025-06-12.pdf | p. 1-3; Anúncio e cronograma | https://fnet.bmfbovespa.com.br/fnet/publico/downloadDocumento?id=923892; Anúncio de encerramento - fonte primária complementar Angá/MZ, ID CVM não localizado | ID MZ | referência 03/07/2025 | data/raw/60598366000136/official_mz_anuncio_encerramento_1emissao.pdf | p. 2-6; Dados finais de distribuição | https://api.mziq.com/mzfilemanager/v2/d/e64de95c-bb54-4ffb-a9ff-ddde6b36facb/829faeb8-b84a-80dd-2ec3-7fb3a5d91326?origin=1; Demonstrações contábeis auditadas | ID 1069231 | referência 30/09/2025 | data/raw/60598366000136/1069231_demonstracoes_financeiras_demonstracoes_financeiras_1069231_2025-09-30.pdf | p. 8,27-28; Demonstração de mutações e notas10-11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96-98; Adendo B; itens 1-8 conforme subclasse | https://fnet.bmfbovespa.com.br/fnet/publico/downloadDocumento?id=928236; Instrumento de alteração e aprovação da emissão | ID 928235 | referência 11/06/2025 | data/raw/60598366000136/928235_regulamento_regulamento_928235_2025-06-11.pdf | p. 5-6; Anexos I-IV | https://fnet.bmfbovespa.com.br/fnet/publico/downloadDocumento?id=928235; Anúncio de início | ID 923892 | referência 12/06/2025 | data/raw/60598366000136/923892_emissao_emissao_923892_2025-06-12.pdf | p. 1-3; Anúncio e cronograma | https://fnet.bmfbovespa.com.br/fnet/publico/downloadDocumento?id=923892; Anúncio de encerramento - fonte primária complementar Angá/MZ, ID CVM não localizado | ID MZ | referência 03/07/2025 | data/raw/60598366000136/official_mz_anuncio_encerramento_1emissao.pdf | p. 2-6; Dados finais de distribuição | https://api.mziq.com/mzfilemanager/v2/d/e64de95c-bb54-4ffb-a9ff-ddde6b36facb/829faeb8-b84a-80dd-2ec3-7fb3a5d91326?origin=1; Demonstrações contábeis auditadas | ID 1069231 | referência 30/09/2025 | data/raw/60598366000136/1069231_demonstracoes_financeiras_demonstracoes_financeiras_1069231_2025-09-30.pdf | p. 8,27-28; Demonstração de mutações e notas10-11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105-106; Adendo B; itens 1-8 conforme subclasse | https://fnet.bmfbovespa.com.br/fnet/publico/downloadDocumento?id=928236; Instrumento de alteração e aprovação da emissão | ID 928235 | referência 11/06/2025 | data/raw/60598366000136/928235_regulamento_regulamento_928235_2025-06-11.pdf | p. 7-8; Anexos I-IV | https://fnet.bmfbovespa.com.br/fnet/publico/downloadDocumento?id=928235; Anúncio de início | ID 923892 | referência 12/06/2025 | data/raw/60598366000136/923892_emissao_emissao_923892_2025-06-12.pdf | p. 1-3; Anúncio e cronograma | https://fnet.bmfbovespa.com.br/fnet/publico/downloadDocumento?id=923892; Anúncio de encerramento - fonte primária complementar Angá/MZ, ID CVM não localizado | ID MZ | referência 03/07/2025 | data/raw/60598366000136/official_mz_anuncio_encerramento_1emissao.pdf | p. 2-6; Dados finais de distribuição | https://api.mziq.com/mzfilemanager/v2/d/e64de95c-bb54-4ffb-a9ff-ddde6b36facb/829faeb8-b84a-80dd-2ec3-7fb3a5d91326?origin=1; Demonstrações contábeis auditadas | ID 1069231 | referência 30/09/2025 | data/raw/60598366000136/1069231_demonstracoes_financeiras_demonstracoes_financeiras_1069231_2025-09-30.pdf | p. 8,27-28; Demonstração de mutações e notas10-11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111-112; Adendo B; itens 1-8 conforme subclasse | https://fnet.bmfbovespa.com.br/fnet/publico/downloadDocumento?id=928236; Instrumento de alteração e aprovação da emissão | ID 928235 | referência 11/06/2025 | data/raw/60598366000136/928235_regulamento_regulamento_928235_2025-06-11.pdf | p. 9-10; Anexos I-IV | https://fnet.bmfbovespa.com.br/fnet/publico/downloadDocumento?id=928235; Anúncio de início | ID 923892 | referência 12/06/2025 | data/raw/60598366000136/923892_emissao_emissao_923892_2025-06-12.pdf | p. 1-3; Anúncio e cronograma | https://fnet.bmfbovespa.com.br/fnet/publico/downloadDocumento?id=923892; Anúncio de encerramento - fonte primária complementar Angá/MZ, ID CVM não localizado | ID MZ | referência 03/07/2025 | data/raw/60598366000136/official_mz_anuncio_encerramento_1emissao.pdf | p. 2-6; Dados finais de distribuição | https://api.mziq.com/mzfilemanager/v2/d/e64de95c-bb54-4ffb-a9ff-ddde6b36facb/829faeb8-b84a-80dd-2ec3-7fb3a5d91326?origin=1; Demonstrações contábeis auditadas | ID 1069231 | referência 30/09/2025 | data/raw/60598366000136/1069231_demonstracoes_financeiras_demonstracoes_financeiras_1069231_2025-09-30.pdf | p. 8,27-28; Demonstração de mutações e notas10-11 | https://fnet.bmfbovespa.com.br/fnet/publico/downloadDocumento?id=1069231</a:t>
            </a:r>
          </a:p>
          <a:p>
            <a:r>
              <a:t>ID CVM/Fundos.NET 1225635 · 22/06/2026 · Regulamento · data/raw/66929956000180/1225635_regulamento_regulamento_1225635_2026-06-22.pdf · p. 89–90 · AdendoB/apêndice da subclasse · https://fnet.bmfbovespa.com.br/fnet/publico/exibirDocumento?id=1225635&amp;cvm=true; ID CVM/Fundos.NET 1212165 · 01/06/2026 · Instrumento Alteração · data/raw/66929956000180/1212165_regulamento_regulamento_1212165_2026-06-01.pdf · p. 1–2 · https://fnet.bmfbovespa.com.br/fnet/publico/exibirDocumento?id=1212165&amp;cvm=true; ID CVM/Fundos.NET 1227463 · 24/06/2026 · Anúncio Início · data/raw/66929956000180/1227463_emissao_emissao_1227463_2026-06-24.pdf · p. 1–3 · https://fnet.bmfbovespa.com.br/fnet/publico/exibirDocumento?id=1227463&amp;cvm=true</a:t>
            </a:r>
          </a:p>
          <a:p>
            <a:r>
              <a:t>ID CVM/Fundos.NET 1225635 · 22/06/2026 · Regulamento · data/raw/66929956000180/1225635_regulamento_regulamento_1225635_2026-06-22.pdf · p. 97–99 · AdendoB/apêndice da subclasse · https://fnet.bmfbovespa.com.br/fnet/publico/exibirDocumento?id=1225635&amp;cvm=true; ID CVM/Fundos.NET 1212165 · 01/06/2026 · Instrumento Alteração · data/raw/66929956000180/1212165_regulamento_regulamento_1212165_2026-06-01.pdf · p. 1–2 · https://fnet.bmfbovespa.com.br/fnet/publico/exibirDocumento?id=1212165&amp;cvm=true; ID CVM/Fundos.NET 1227463 · 24/06/2026 · Anúncio Início · data/raw/66929956000180/1227463_emissao_emissao_1227463_2026-06-24.pdf · p. 1–3 · https://fnet.bmfbovespa.com.br/fnet/publico/exibirDocumento?id=1227463&amp;cvm=true</a:t>
            </a:r>
          </a:p>
          <a:p>
            <a:r>
              <a:t>ID CVM/Fundos.NET 1225635 · 22/06/2026 · Regulamento · data/raw/66929956000180/1225635_regulamento_regulamento_1225635_2026-06-22.pdf · p. 105–107 · AdendoB/apêndice da subclasse · https://fnet.bmfbovespa.com.br/fnet/publico/exibirDocumento?id=1225635&amp;cvm=true; ID CVM/Fundos.NET 1212165 · 01/06/2026 · Instrumento Alteração · data/raw/66929956000180/1212165_regulamento_regulamento_1212165_2026-06-01.pdf · p. 1–2 · https://fnet.bmfbovespa.com.br/fnet/publico/exibirDocumento?id=1212165&amp;cvm=true; ID CVM/Fundos.NET 1227463 · 24/06/2026 · Anúncio Início · data/raw/66929956000180/1227463_emissao_emissao_1227463_2026-06-24.pdf · p. 1–3 · https://fnet.bmfbovespa.com.br/fnet/publico/exibirDocumento?id=1227463&amp;cvm=true</a:t>
            </a:r>
          </a:p>
          <a:p>
            <a:r>
              <a:t>ID CVM/Fundos.NET 1225635 · 22/06/2026 · Regulamento · data/raw/66929956000180/1225635_regulamento_regulamento_1225635_2026-06-22.pdf · p. 108–113 · AdendoB/apêndice da subclasse · https://fnet.bmfbovespa.com.br/fnet/publico/exibirDocumento?id=1225635&amp;cvm=true; ID CVM/Fundos.NET 1212165 · 01/06/2026 · Instrumento Alteração · data/raw/66929956000180/1212165_regulamento_regulamento_1212165_2026-06-01.pdf · p. 1–2 · https://fnet.bmfbovespa.com.br/fnet/publico/exibirDocumento?id=1212165&amp;cvm=true; ID CVM/Fundos.NET 1227463 · 24/06/2026 · Anúncio Início · data/raw/66929956000180/1227463_emissao_emissao_1227463_2026-06-24.pdf · p. 1–3 · https://fnet.bmfbovespa.com.br/fnet/publico/exibirDocumento?id=1227463&amp;cvm=true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2026-10-07T11:56:39-03:00</a:t>
            </a:r>
          </a:p>
          <a:p>
            <a:r>
              <a:t>BV AUTO III SEGMENTO FINANCEIRO FIDC: CNPJ 66.929.956/0001-80</a:t>
            </a:r>
          </a:p>
          <a:p>
            <a:r>
              <a:t>FIDC BV AUTO I SEGMENTO FINANCEIRO: CNPJ 57.532.556/0001-46</a:t>
            </a:r>
          </a:p>
          <a:p>
            <a:r>
              <a:t>FIDC BV AUTO II SEGMENTO FINANCEIRO: CNPJ 60.598.366/0001-36</a:t>
            </a:r>
          </a:p>
          <a:p>
            <a:r>
              <a:t>Observações:</a:t>
            </a:r>
          </a:p>
          <a:p>
            <a:r>
              <a:t>Mínimos de administração e gestão: reajuste anual pelo IGP-M positivo. Método marginal/progressivo das faixas não explicitado.</a:t>
            </a:r>
          </a:p>
          <a:p>
            <a:r>
              <a:t>Gestão: ISS/PIS/COFINS/CSLL/IRRF previstos. Custódia excetua CCCBs. Cobrança depende de recebimentos e metas contratuais.</a:t>
            </a:r>
          </a:p>
          <a:p>
            <a:r>
              <a:t>Fontes:</a:t>
            </a:r>
          </a:p>
          <a:p>
            <a:r>
              <a:t>CVM/Fundos.NET ID 966587; referência 04/08/2025; Regulamento; data/raw/57532556000146/966587_regulamento_regulamento_966587_2025-08-04.pdf; p. 47-49; Anexo Descritivo7.1 a 7.1.2 e7.3;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48-49; Anexo Descritivo7.2 a7.3;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49; Anexo Descritivo7.4 a7.4.1;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47-48; Anexo Descritivo7.1; https://fnet.bmfbovespa.com.br/fnet/publico/exibirDocumento?id=966587&amp;cvm=true</a:t>
            </a:r>
          </a:p>
          <a:p>
            <a:r>
              <a:t>CVM/Fundos.NET ID 1069230; referência 30/09/2025; Demonstrações financeiras auditadas; data/raw/57532556000146/1069230_demonstracoes_financeiras_demonstracoes_financeiras_1069230_2025-09-30.pdf; p. 32; Nota 13(d), Taxa de cobrança; https://fnet.bmfbovespa.com.br/fnet/publico/exibirDocumento?id=1069230&amp;cvm=true</a:t>
            </a:r>
          </a:p>
          <a:p>
            <a:r>
              <a:t>Regulamento | ID 928236 | referência 11/06/2025 | data/raw/60598366000136/928236_regulamento_regulamento_928236_2025-06-11.pdf | p. 45-47; 7.1-7.1.2;7.3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46-47; 7.2-7.3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47; 7.4-7.4.1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45-46; 7.1 | https://fnet.bmfbovespa.com.br/fnet/publico/downloadDocumento?id=928236</a:t>
            </a:r>
          </a:p>
          <a:p>
            <a:r>
              <a:t>Demonstrações contábeis auditadas | ID 1069231 | referência 30/09/2025 | data/raw/60598366000136/1069231_demonstracoes_financeiras_demonstracoes_financeiras_1069231_2025-09-30.pdf | p. 31; nota13(d) | https://fnet.bmfbovespa.com.br/fnet/publico/downloadDocumento?id=1069231; Regulamento | ID 928236 | referência 11/06/2025 | data/raw/60598366000136/928236_regulamento_regulamento_928236_2025-06-11.pdf | p. 47; 7.5 | https://fnet.bmfbovespa.com.br/fnet/publico/downloadDocumento?id=928236</a:t>
            </a:r>
          </a:p>
          <a:p>
            <a:r>
              <a:t>ID CVM/Fundos.NET 1225635 · 22/06/2026 · Regulamento · data/raw/66929956000180/1225635_regulamento_regulamento_1225635_2026-06-22.pdf · p. 46–47 · 7.1–7.1.2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47 · 7.2–7.3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48 · 7.4–7.4.1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48 · 7.5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46–47 · 7.1 · https://fnet.bmfbovespa.com.br/fnet/publico/exibirDocumento?id=1225635&amp;cvm=true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2026-10-07T11:56:39-03:00</a:t>
            </a:r>
          </a:p>
          <a:p>
            <a:r>
              <a:t>BV AUTO III SEGMENTO FINANCEIRO FIDC: CNPJ 66.929.956/0001-80</a:t>
            </a:r>
          </a:p>
          <a:p>
            <a:r>
              <a:t>FIDC BV AUTO I SEGMENTO FINANCEIRO: CNPJ 57.532.556/0001-46</a:t>
            </a:r>
          </a:p>
          <a:p>
            <a:r>
              <a:t>FIDC BV AUTO II SEGMENTO FINANCEIRO: CNPJ 60.598.366/0001-36</a:t>
            </a:r>
          </a:p>
          <a:p>
            <a:r>
              <a:t>Observações:</a:t>
            </a:r>
          </a:p>
          <a:p>
            <a:r>
              <a:t>Os proxies mensais não comprovam cumprimento contratual diário. A tabela separa regra documental e capacidade de acompanhamento.</a:t>
            </a:r>
          </a:p>
          <a:p>
            <a:r>
              <a:t>Fontes:</a:t>
            </a:r>
          </a:p>
          <a:p>
            <a:r>
              <a:t>CVM/Fundos.NET ID 966587; referência 04/08/2025; Regulamento; data/raw/57532556000146/966587_regulamento_regulamento_966587_2025-08-04.pdf; p. 13, 26, 54; Anexo Descritivo 1.1, 3.2 e 10.1(vi);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13, 26-27; Anexo Descritivo 1.1 e 3.3;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20, 53-54; Anexo Descritivo 1.1, Índice de Subordinação Sênior, 9.13 e 10.1(vii);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19, 53-54; Anexo Descritivo 1.1, 9.13 e 10.1(vii);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19-20, 53-54; Anexo Descritivo 1.1, 9.13 e 10.1(vii);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115-116; Apêndice das Cotas Júnior 2.4 a 2.6;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20, 55; Anexo Descritivo 1.1 e 10.1(xii);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20, 55-56; Anexo Descritivo 1.1 e 10.1(xii), 10.2 a 10.4;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32-33; Anexo Descritivo 5.1(i)-(iii);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34; Anexo Descritivo 5.5(vi);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33-35; Anexo Descritivo 5.2 a 5.5;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35; Anexo Descritivo 5.5(xvii)-(xviii);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31, 35-38; Anexo Descritivo 3.15.2, 5.5.1 a 5.5.4;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26, 30, 35-38; Anexo Descritivo 3.1.2, 3.11.1 e 5.5.1 a 5.5.4;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55, 59; Anexo Descritivo 10.1(xi) e 12.1 a 12.1.1;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27-28; Anexo Descritivo 3.5 a 3.5.3;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59-61; Anexo Descritivo 13.2 a 13.4;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87-88; Adendo III, Metodologia de Provisionamento;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19, 35, 41; Anexo Descritivo 1.1, 5.5(xiii) e 6.1.2(x);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35-38; Anexo Descritivo 5.5.1(i)-(xiv), 5.5.1.1 e 5.5.2 a 5.5.4;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54-57; Anexo Descritivo 10.1(i),(xv), 11.1(i);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49-51, 55, 57; Anexo Descritivo 8.1 a 8.5, 10.1(ix), 11.1(iv);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2-4, 18, 24, 30-32, 45-46; Parte Geral1.1; Anexo1.1, 3.11.2, 4.6 e 6.3 a 6.6;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32; Anexo Descritivo 4.5.1;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27-29; Anexo Descritivo 3.4.2, 3.7 a 3.9;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28-30; Anexo Descritivo 3.10;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27, 29; Anexo Descritivo 3.4(iv), 3.4.2 e 3.10(iii);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2, 56; Parte Geral1.1; Anexo10.1(xviii); https://fnet.bmfbovespa.com.br/fnet/publico/exibirDocumento?id=966587&amp;cvm=true | CVM/Fundos.NET ID 1069230; referência 30/09/2025; Demonstrações financeiras auditadas; data/raw/57532556000146/1069230_demonstracoes_financeiras_demonstracoes_financeiras_1069230_2025-09-30.pdf; p. 27; Nota 9, Rating; https://fnet.bmfbovespa.com.br/fnet/publico/exibirDocumento?id=1069230&amp;cvm=true</a:t>
            </a:r>
          </a:p>
          <a:p>
            <a:r>
              <a:t>CVM/Fundos.NET ID 774872; referência 08/11/2024; Instrumento particular / emissão e alteração; data/raw/57532556000146/774872_regulamento_regulamento_774872_2024-11-08.pdf; p. 1-3; Instrumento I-II; https://fnet.bmfbovespa.com.br/fnet/publico/exibirDocumento?id=774872&amp;cvm=true</a:t>
            </a:r>
          </a:p>
          <a:p>
            <a:r>
              <a:t>CVM/Fundos.NET ID 966587; referência 04/08/2025; Regulamento; data/raw/57532556000146/966587_regulamento_regulamento_966587_2025-08-04.pdf; p. 15-18, 32-35; Anexo Descritivo1.1, 5.1 e 5.5; https://fnet.bmfbovespa.com.br/fnet/publico/exibirDocumento?id=966587&amp;cvm=true</a:t>
            </a:r>
          </a:p>
          <a:p>
            <a:r>
              <a:t>CVM/Fundos.NET ID 1069230; referência 30/09/2025; Demonstrações financeiras auditadas; data/raw/57532556000146/1069230_demonstracoes_financeiras_demonstracoes_financeiras_1069230_2025-09-30.pdf; p. 32; Nota 13(d), Taxa de cobrança; https://fnet.bmfbovespa.com.br/fnet/publico/exibirDocumento?id=1069230&amp;cvm=true</a:t>
            </a:r>
          </a:p>
          <a:p>
            <a:r>
              <a:t>Regulamento | ID 928236 | referência 11/06/2025 | data/raw/60598366000136/928236_regulamento_regulamento_928236_2025-06-11.pdf | p. 12,25,52; definição Alocação Mínima; 3.2; 10.1(vi) | https://fnet.bmfbovespa.com.br/fnet/publico/downloadDocumento?id=928236; Demonstrações contábeis auditadas | ID 1069231 | referência 30/09/2025 | data/raw/60598366000136/1069231_demonstracoes_financeiras_demonstracoes_financeiras_1069231_2025-09-30.pdf | p. 22; nota 5.8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12,40; definição Alocação Mínima Tributária; 6.2 | https://fnet.bmfbovespa.com.br/fnet/publico/downloadDocumento?id=928236; Demonstrações contábeis auditadas | ID 1069231 | referência 30/09/2025 | data/raw/60598366000136/1069231_demonstracoes_financeiras_demonstracoes_financeiras_1069231_2025-09-30.pdf | p. 34; nota 15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18,50,52; Índice de Subordinação Sênior; 9.12-9.13; 10.1(vii)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18,50,52; Índice de Subordinação Mezanino A; 9.13; 10.1(vii)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18,50,52; Índice de Subordinação Mezanino B; 9.13; 10.1(vii)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108; Apêndice Júnior 2.4-2.6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18-19,53; Índice de Perdas 90; 10.1(xii)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19,53; Índice de Perdas 180; 10.1(xii)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53,56-57; 10.1(xi); 12.1-12.1.1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26-27; 3.5-3.5.3 | https://fnet.bmfbovespa.com.br/fnet/publico/downloadDocumento?id=928236; Demonstrações contábeis auditadas | ID 1069231 | referência 30/09/2025 | data/raw/60598366000136/1069231_demonstracoes_financeiras_demonstracoes_financeiras_1069231_2025-09-30.pdf | p. 23; nota 6(a)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31; 5.1(ii)-(iii) | https://fnet.bmfbovespa.com.br/fnet/publico/downloadDocumento?id=928236; Demonstrações contábeis auditadas | ID 1069231 | referência 30/09/2025 | data/raw/60598366000136/1069231_demonstracoes_financeiras_demonstracoes_financeiras_1069231_2025-09-30.pdf | p. 20-21; nota 5.6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26-27; 3.4.1; 3.9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30-34; 4.1; 5.5(i)-(xvi)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32-33; 5.5(vi)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34; 5.5(xvii) | https://fnet.bmfbovespa.com.br/fnet/publico/downloadDocumento?id=928236; Demonstrações contábeis auditadas | ID 1069231 | referência 30/09/2025 | data/raw/60598366000136/1069231_demonstracoes_financeiras_demonstracoes_financeiras_1069231_2025-09-30.pdf | p. 18; nota 5.2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17,30,34-36; Endosso; 3.15.2; 5.5.1-5.5.4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34-36; 5.5.1-5.5.4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25,57; 3.1.2; 13.2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57-58,89,97,106,108; 13.2-13.4; adendos 7; Júnior 2.4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51-54; 10.1-10.6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54-55; 11.1(i)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47-49,52,55; 8.1-8.5; 10.1(ix); 11.1(iv) | https://fnet.bmfbovespa.com.br/fnet/publico/downloadDocumento?id=928236; Instrumento de alteração e aprovação da emissão | ID 928235 | referência 11/06/2025 | data/raw/60598366000136/928235_regulamento_regulamento_928235_2025-06-11.pdf | p. 1; II | https://fnet.bmfbovespa.com.br/fnet/publico/downloadDocumento?id=928235</a:t>
            </a:r>
          </a:p>
          <a:p>
            <a:r>
              <a:t>Regulamento | ID 928236 | referência 11/06/2025 | data/raw/60598366000136/928236_regulamento_regulamento_928236_2025-06-11.pdf | p. 14,22,29,30-31,43-44; Conta Arrecadadora; Tombamento; 3.11.2; 4.5-4.6; 6.4-6.7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65; 17.3-17.3.2 | https://fnet.bmfbovespa.com.br/fnet/publico/downloadDocumento?id=928236; Demonstrações contábeis auditadas | ID 1069231 | referência 30/09/2025 | data/raw/60598366000136/1069231_demonstracoes_financeiras_demonstracoes_financeiras_1069231_2025-09-30.pdf | p. 14; nota 3(e)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32-36; 5.5-5.5.4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34-36,108; 5.5.1-5.5.4; Apêndice Júnior 2.4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27-28; 3.10(i)-(xiv)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26-27; 3.4.2; 3.7-3.8 | https://fnet.bmfbovespa.com.br/fnet/publico/downloadDocumento?id=928236; Demonstrações contábeis auditadas | ID 1069231 | referência 30/09/2025 | data/raw/60598366000136/1069231_demonstracoes_financeiras_demonstracoes_financeiras_1069231_2025-09-30.pdf | p. 25; nota 8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107; Apêndice Júnior 1.4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26,28; 3.4(iv); 3.10(iii) | https://fnet.bmfbovespa.com.br/fnet/publico/downloadDocumento?id=928236; Demonstrações contábeis auditadas | ID 1069231 | referência 30/09/2025 | data/raw/60598366000136/1069231_demonstracoes_financeiras_demonstracoes_financeiras_1069231_2025-09-30.pdf | p. 15; nota 4 | https://fnet.bmfbovespa.com.br/fnet/publico/downloadDocumento?id=1069231</a:t>
            </a:r>
          </a:p>
          <a:p>
            <a:r>
              <a:t>Demonstrações contábeis auditadas | ID 1069231 | referência 30/09/2025 | data/raw/60598366000136/1069231_demonstracoes_financeiras_demonstracoes_financeiras_1069231_2025-09-30.pdf | p. 31; nota 13(d) | https://fnet.bmfbovespa.com.br/fnet/publico/downloadDocumento?id=1069231; Regulamento | ID 928236 | referência 11/06/2025 | data/raw/60598366000136/928236_regulamento_regulamento_928236_2025-06-11.pdf | p. 47; 7.5 | https://fnet.bmfbovespa.com.br/fnet/publico/downloadDocumento?id=928236</a:t>
            </a:r>
          </a:p>
          <a:p>
            <a:r>
              <a:t>Instrumento de alteração e aprovação da emissão | ID 928235 | referência 11/06/2025 | data/raw/60598366000136/928235_regulamento_regulamento_928235_2025-06-11.pdf | p. 1; I | https://fnet.bmfbovespa.com.br/fnet/publico/downloadDocumento?id=928235; Regulamento | ID 928236 | referência 11/06/2025 | data/raw/60598366000136/928236_regulamento_regulamento_928236_2025-06-11.pdf | p. 2,24,29; 1.1; 2.1; 3.11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16-17,31; Devedores; Emitente; 5.1 | https://fnet.bmfbovespa.com.br/fnet/publico/downloadDocumento?id=928236; Demonstrações contábeis auditadas | ID 1069231 | referência 30/09/2025 | data/raw/60598366000136/1069231_demonstracoes_financeiras_demonstracoes_financeiras_1069231_2025-09-30.pdf | p. 20-21; nota 5.6 | https://fnet.bmfbovespa.com.br/fnet/publico/downloadDocumento?id=1069231</a:t>
            </a:r>
          </a:p>
          <a:p>
            <a:r>
              <a:t>ID CVM/Fundos.NET 1225635 · 22/06/2026 · Regulamento · data/raw/66929956000180/1225635_regulamento_regulamento_1225635_2026-06-22.pdf · p. 12, 26, 53 · definição Alocação Mínima; 3.2; 10.1(vi)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12, 41 · definição; 6.3(b)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19, 51 · definição; 9.12–9.13 · https://fnet.bmfbovespa.com.br/fnet/publico/exibirDocumento?id=1225635&amp;cvm=true; ID CVM/Fundos.NET 1224880 · 17/06/2026 · Regulamento anterior · data/raw/66929956000180/1224880_regulamento_regulamento_1224880_2026-06-17.pdf · p. 18–19 · https://fnet.bmfbovespa.com.br/fnet/publico/exibirDocumento?id=1224880&amp;cvm=true</a:t>
            </a:r>
          </a:p>
          <a:p>
            <a:r>
              <a:t>ID CVM/Fundos.NET 1225635 · 22/06/2026 · Regulamento · data/raw/66929956000180/1225635_regulamento_regulamento_1225635_2026-06-22.pdf · p. 18, 51 · definição; 9.13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18–19, 51 · definição; 9.13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19, 53–54 · definição; 10.1(xii)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53, 57 · 10.1(xi); 12.1–12.1.1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27–28 · 3.5–3.5.3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32 · 5.1(ii)–(iii)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32–35 · 5.1–5.5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33–34 · 5.5(vi)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31, 35–37 · 3.15.2; 5.5.1–5.5.4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35–37 · 5.5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18, 26, 34–37 · definição;3.1.2;5.5(xiii);5.5.1(xii,xiv)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52–56 · 10.1–10.6;11.1–11.4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52–56 · 10.1;11.1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48–50, 53, 56 · 8.1–8.5;10.1(ix);11.1(iv)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17,30–32,45 · definição Emitente;3.11.2;4.5–4.6;6.5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27–28 · 3.4;3.4.1;3.9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27–28 · 3.4.2;3.7–3.8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28–29 · 3.10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27–29 · 3.4(iv);3.4.2;3.10(iii)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21–22,57–59,90,98,106,109 · definição Carência;12–13;Apêndices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108 · ApêndiceJúnior1.4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18,20–21,109,112 · definições;ApêndiceJúnior3.1–3.2;AdendoB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66–67 · 17.3–17.6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59–61 · 14.2–14.5 · https://fnet.bmfbovespa.com.br/fnet/publico/exibirDocumento?id=1225635&amp;cvm=true</a:t>
            </a:r>
          </a:p>
          <a:p>
            <a:r>
              <a:t>ID CVM/Fundos.NET 1227463 · 24/06/2026 · Anúncio de Início · data/raw/66929956000180/1227463_emissao_emissao_1227463_2026-06-24.pdf · p. 1 · https://fnet.bmfbovespa.com.br/fnet/publico/exibirDocumento?id=1227463&amp;cvm=true; ID CVM/Fundos.NET 1225635 · 22/06/2026 · Regulamento · data/raw/66929956000180/1225635_regulamento_regulamento_1225635_2026-06-22.pdf · p. 54 · 10.1(xviii)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33–37 · 5.5–5.5.4 · https://fnet.bmfbovespa.com.br/fnet/publico/exibirDocumento?id=1225635&amp;cvm=true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2026-10-07T11:56:39-03:00</a:t>
            </a:r>
          </a:p>
          <a:p>
            <a:r>
              <a:t>BV AUTO III SEGMENTO FINANCEIRO FIDC: CNPJ 66.929.956/0001-80</a:t>
            </a:r>
          </a:p>
          <a:p>
            <a:r>
              <a:t>FIDC BV AUTO I SEGMENTO FINANCEIRO: CNPJ 57.532.556/0001-46</a:t>
            </a:r>
          </a:p>
          <a:p>
            <a:r>
              <a:t>FIDC BV AUTO II SEGMENTO FINANCEIRO: CNPJ 60.598.366/0001-36</a:t>
            </a:r>
          </a:p>
          <a:p>
            <a:r>
              <a:t>Observações:</a:t>
            </a:r>
          </a:p>
          <a:p>
            <a:r>
              <a:t>Os proxies mensais não comprovam cumprimento contratual diário. A tabela separa regra documental e capacidade de acompanhamento.</a:t>
            </a:r>
          </a:p>
          <a:p>
            <a:r>
              <a:t>Fontes:</a:t>
            </a:r>
          </a:p>
          <a:p>
            <a:r>
              <a:t>CVM/Fundos.NET ID 966587; referência 04/08/2025; Regulamento; data/raw/57532556000146/966587_regulamento_regulamento_966587_2025-08-04.pdf; p. 13, 26, 54; Anexo Descritivo 1.1, 3.2 e 10.1(vi);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13, 26-27; Anexo Descritivo 1.1 e 3.3;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20, 53-54; Anexo Descritivo 1.1, Índice de Subordinação Sênior, 9.13 e 10.1(vii);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19, 53-54; Anexo Descritivo 1.1, 9.13 e 10.1(vii);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19-20, 53-54; Anexo Descritivo 1.1, 9.13 e 10.1(vii);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115-116; Apêndice das Cotas Júnior 2.4 a 2.6;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20, 55; Anexo Descritivo 1.1 e 10.1(xii);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20, 55-56; Anexo Descritivo 1.1 e 10.1(xii), 10.2 a 10.4;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32-33; Anexo Descritivo 5.1(i)-(iii);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34; Anexo Descritivo 5.5(vi);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33-35; Anexo Descritivo 5.2 a 5.5;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35; Anexo Descritivo 5.5(xvii)-(xviii);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31, 35-38; Anexo Descritivo 3.15.2, 5.5.1 a 5.5.4;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26, 30, 35-38; Anexo Descritivo 3.1.2, 3.11.1 e 5.5.1 a 5.5.4;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55, 59; Anexo Descritivo 10.1(xi) e 12.1 a 12.1.1;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27-28; Anexo Descritivo 3.5 a 3.5.3;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59-61; Anexo Descritivo 13.2 a 13.4;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87-88; Adendo III, Metodologia de Provisionamento;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19, 35, 41; Anexo Descritivo 1.1, 5.5(xiii) e 6.1.2(x);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35-38; Anexo Descritivo 5.5.1(i)-(xiv), 5.5.1.1 e 5.5.2 a 5.5.4;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54-57; Anexo Descritivo 10.1(i),(xv), 11.1(i);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49-51, 55, 57; Anexo Descritivo 8.1 a 8.5, 10.1(ix), 11.1(iv);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2-4, 18, 24, 30-32, 45-46; Parte Geral1.1; Anexo1.1, 3.11.2, 4.6 e 6.3 a 6.6;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32; Anexo Descritivo 4.5.1;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27-29; Anexo Descritivo 3.4.2, 3.7 a 3.9;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28-30; Anexo Descritivo 3.10;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27, 29; Anexo Descritivo 3.4(iv), 3.4.2 e 3.10(iii); https://fnet.bmfbovespa.com.br/fnet/publico/exibirDocumento?id=966587&amp;cvm=true</a:t>
            </a:r>
          </a:p>
          <a:p>
            <a:r>
              <a:t>CVM/Fundos.NET ID 966587; referência 04/08/2025; Regulamento; data/raw/57532556000146/966587_regulamento_regulamento_966587_2025-08-04.pdf; p. 2, 56; Parte Geral1.1; Anexo10.1(xviii); https://fnet.bmfbovespa.com.br/fnet/publico/exibirDocumento?id=966587&amp;cvm=true | CVM/Fundos.NET ID 1069230; referência 30/09/2025; Demonstrações financeiras auditadas; data/raw/57532556000146/1069230_demonstracoes_financeiras_demonstracoes_financeiras_1069230_2025-09-30.pdf; p. 27; Nota 9, Rating; https://fnet.bmfbovespa.com.br/fnet/publico/exibirDocumento?id=1069230&amp;cvm=true</a:t>
            </a:r>
          </a:p>
          <a:p>
            <a:r>
              <a:t>CVM/Fundos.NET ID 774872; referência 08/11/2024; Instrumento particular / emissão e alteração; data/raw/57532556000146/774872_regulamento_regulamento_774872_2024-11-08.pdf; p. 1-3; Instrumento I-II; https://fnet.bmfbovespa.com.br/fnet/publico/exibirDocumento?id=774872&amp;cvm=true</a:t>
            </a:r>
          </a:p>
          <a:p>
            <a:r>
              <a:t>CVM/Fundos.NET ID 966587; referência 04/08/2025; Regulamento; data/raw/57532556000146/966587_regulamento_regulamento_966587_2025-08-04.pdf; p. 15-18, 32-35; Anexo Descritivo1.1, 5.1 e 5.5; https://fnet.bmfbovespa.com.br/fnet/publico/exibirDocumento?id=966587&amp;cvm=true</a:t>
            </a:r>
          </a:p>
          <a:p>
            <a:r>
              <a:t>CVM/Fundos.NET ID 1069230; referência 30/09/2025; Demonstrações financeiras auditadas; data/raw/57532556000146/1069230_demonstracoes_financeiras_demonstracoes_financeiras_1069230_2025-09-30.pdf; p. 32; Nota 13(d), Taxa de cobrança; https://fnet.bmfbovespa.com.br/fnet/publico/exibirDocumento?id=1069230&amp;cvm=true</a:t>
            </a:r>
          </a:p>
          <a:p>
            <a:r>
              <a:t>Regulamento | ID 928236 | referência 11/06/2025 | data/raw/60598366000136/928236_regulamento_regulamento_928236_2025-06-11.pdf | p. 12,25,52; definição Alocação Mínima; 3.2; 10.1(vi) | https://fnet.bmfbovespa.com.br/fnet/publico/downloadDocumento?id=928236; Demonstrações contábeis auditadas | ID 1069231 | referência 30/09/2025 | data/raw/60598366000136/1069231_demonstracoes_financeiras_demonstracoes_financeiras_1069231_2025-09-30.pdf | p. 22; nota 5.8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12,40; definição Alocação Mínima Tributária; 6.2 | https://fnet.bmfbovespa.com.br/fnet/publico/downloadDocumento?id=928236; Demonstrações contábeis auditadas | ID 1069231 | referência 30/09/2025 | data/raw/60598366000136/1069231_demonstracoes_financeiras_demonstracoes_financeiras_1069231_2025-09-30.pdf | p. 34; nota 15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18,50,52; Índice de Subordinação Sênior; 9.12-9.13; 10.1(vii)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18,50,52; Índice de Subordinação Mezanino A; 9.13; 10.1(vii)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18,50,52; Índice de Subordinação Mezanino B; 9.13; 10.1(vii)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108; Apêndice Júnior 2.4-2.6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18-19,53; Índice de Perdas 90; 10.1(xii)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19,53; Índice de Perdas 180; 10.1(xii)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53,56-57; 10.1(xi); 12.1-12.1.1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26-27; 3.5-3.5.3 | https://fnet.bmfbovespa.com.br/fnet/publico/downloadDocumento?id=928236; Demonstrações contábeis auditadas | ID 1069231 | referência 30/09/2025 | data/raw/60598366000136/1069231_demonstracoes_financeiras_demonstracoes_financeiras_1069231_2025-09-30.pdf | p. 23; nota 6(a)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31; 5.1(ii)-(iii) | https://fnet.bmfbovespa.com.br/fnet/publico/downloadDocumento?id=928236; Demonstrações contábeis auditadas | ID 1069231 | referência 30/09/2025 | data/raw/60598366000136/1069231_demonstracoes_financeiras_demonstracoes_financeiras_1069231_2025-09-30.pdf | p. 20-21; nota 5.6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26-27; 3.4.1; 3.9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30-34; 4.1; 5.5(i)-(xvi)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32-33; 5.5(vi)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34; 5.5(xvii) | https://fnet.bmfbovespa.com.br/fnet/publico/downloadDocumento?id=928236; Demonstrações contábeis auditadas | ID 1069231 | referência 30/09/2025 | data/raw/60598366000136/1069231_demonstracoes_financeiras_demonstracoes_financeiras_1069231_2025-09-30.pdf | p. 18; nota 5.2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17,30,34-36; Endosso; 3.15.2; 5.5.1-5.5.4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34-36; 5.5.1-5.5.4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25,57; 3.1.2; 13.2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57-58,89,97,106,108; 13.2-13.4; adendos 7; Júnior 2.4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51-54; 10.1-10.6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54-55; 11.1(i)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47-49,52,55; 8.1-8.5; 10.1(ix); 11.1(iv) | https://fnet.bmfbovespa.com.br/fnet/publico/downloadDocumento?id=928236; Instrumento de alteração e aprovação da emissão | ID 928235 | referência 11/06/2025 | data/raw/60598366000136/928235_regulamento_regulamento_928235_2025-06-11.pdf | p. 1; II | https://fnet.bmfbovespa.com.br/fnet/publico/downloadDocumento?id=928235</a:t>
            </a:r>
          </a:p>
          <a:p>
            <a:r>
              <a:t>Regulamento | ID 928236 | referência 11/06/2025 | data/raw/60598366000136/928236_regulamento_regulamento_928236_2025-06-11.pdf | p. 14,22,29,30-31,43-44; Conta Arrecadadora; Tombamento; 3.11.2; 4.5-4.6; 6.4-6.7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65; 17.3-17.3.2 | https://fnet.bmfbovespa.com.br/fnet/publico/downloadDocumento?id=928236; Demonstrações contábeis auditadas | ID 1069231 | referência 30/09/2025 | data/raw/60598366000136/1069231_demonstracoes_financeiras_demonstracoes_financeiras_1069231_2025-09-30.pdf | p. 14; nota 3(e)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32-36; 5.5-5.5.4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34-36,108; 5.5.1-5.5.4; Apêndice Júnior 2.4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27-28; 3.10(i)-(xiv)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26-27; 3.4.2; 3.7-3.8 | https://fnet.bmfbovespa.com.br/fnet/publico/downloadDocumento?id=928236; Demonstrações contábeis auditadas | ID 1069231 | referência 30/09/2025 | data/raw/60598366000136/1069231_demonstracoes_financeiras_demonstracoes_financeiras_1069231_2025-09-30.pdf | p. 25; nota 8 | https://fnet.bmfbovespa.com.br/fnet/publico/downloadDocumento?id=1069231</a:t>
            </a:r>
          </a:p>
          <a:p>
            <a:r>
              <a:t>Regulamento | ID 928236 | referência 11/06/2025 | data/raw/60598366000136/928236_regulamento_regulamento_928236_2025-06-11.pdf | p. 107; Apêndice Júnior 1.4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26,28; 3.4(iv); 3.10(iii) | https://fnet.bmfbovespa.com.br/fnet/publico/downloadDocumento?id=928236; Demonstrações contábeis auditadas | ID 1069231 | referência 30/09/2025 | data/raw/60598366000136/1069231_demonstracoes_financeiras_demonstracoes_financeiras_1069231_2025-09-30.pdf | p. 15; nota 4 | https://fnet.bmfbovespa.com.br/fnet/publico/downloadDocumento?id=1069231</a:t>
            </a:r>
          </a:p>
          <a:p>
            <a:r>
              <a:t>Demonstrações contábeis auditadas | ID 1069231 | referência 30/09/2025 | data/raw/60598366000136/1069231_demonstracoes_financeiras_demonstracoes_financeiras_1069231_2025-09-30.pdf | p. 31; nota 13(d) | https://fnet.bmfbovespa.com.br/fnet/publico/downloadDocumento?id=1069231; Regulamento | ID 928236 | referência 11/06/2025 | data/raw/60598366000136/928236_regulamento_regulamento_928236_2025-06-11.pdf | p. 47; 7.5 | https://fnet.bmfbovespa.com.br/fnet/publico/downloadDocumento?id=928236</a:t>
            </a:r>
          </a:p>
          <a:p>
            <a:r>
              <a:t>Instrumento de alteração e aprovação da emissão | ID 928235 | referência 11/06/2025 | data/raw/60598366000136/928235_regulamento_regulamento_928235_2025-06-11.pdf | p. 1; I | https://fnet.bmfbovespa.com.br/fnet/publico/downloadDocumento?id=928235; Regulamento | ID 928236 | referência 11/06/2025 | data/raw/60598366000136/928236_regulamento_regulamento_928236_2025-06-11.pdf | p. 2,24,29; 1.1; 2.1; 3.11 | https://fnet.bmfbovespa.com.br/fnet/publico/downloadDocumento?id=928236</a:t>
            </a:r>
          </a:p>
          <a:p>
            <a:r>
              <a:t>Regulamento | ID 928236 | referência 11/06/2025 | data/raw/60598366000136/928236_regulamento_regulamento_928236_2025-06-11.pdf | p. 16-17,31; Devedores; Emitente; 5.1 | https://fnet.bmfbovespa.com.br/fnet/publico/downloadDocumento?id=928236; Demonstrações contábeis auditadas | ID 1069231 | referência 30/09/2025 | data/raw/60598366000136/1069231_demonstracoes_financeiras_demonstracoes_financeiras_1069231_2025-09-30.pdf | p. 20-21; nota 5.6 | https://fnet.bmfbovespa.com.br/fnet/publico/downloadDocumento?id=1069231</a:t>
            </a:r>
          </a:p>
          <a:p>
            <a:r>
              <a:t>ID CVM/Fundos.NET 1225635 · 22/06/2026 · Regulamento · data/raw/66929956000180/1225635_regulamento_regulamento_1225635_2026-06-22.pdf · p. 12, 26, 53 · definição Alocação Mínima; 3.2; 10.1(vi)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12, 41 · definição; 6.3(b)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19, 51 · definição; 9.12–9.13 · https://fnet.bmfbovespa.com.br/fnet/publico/exibirDocumento?id=1225635&amp;cvm=true; ID CVM/Fundos.NET 1224880 · 17/06/2026 · Regulamento anterior · data/raw/66929956000180/1224880_regulamento_regulamento_1224880_2026-06-17.pdf · p. 18–19 · https://fnet.bmfbovespa.com.br/fnet/publico/exibirDocumento?id=1224880&amp;cvm=true</a:t>
            </a:r>
          </a:p>
          <a:p>
            <a:r>
              <a:t>ID CVM/Fundos.NET 1225635 · 22/06/2026 · Regulamento · data/raw/66929956000180/1225635_regulamento_regulamento_1225635_2026-06-22.pdf · p. 18, 51 · definição; 9.13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18–19, 51 · definição; 9.13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19, 53–54 · definição; 10.1(xii)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53, 57 · 10.1(xi); 12.1–12.1.1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27–28 · 3.5–3.5.3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32 · 5.1(ii)–(iii)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32–35 · 5.1–5.5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33–34 · 5.5(vi)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31, 35–37 · 3.15.2; 5.5.1–5.5.4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35–37 · 5.5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18, 26, 34–37 · definição;3.1.2;5.5(xiii);5.5.1(xii,xiv)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52–56 · 10.1–10.6;11.1–11.4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52–56 · 10.1;11.1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48–50, 53, 56 · 8.1–8.5;10.1(ix);11.1(iv)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17,30–32,45 · definição Emitente;3.11.2;4.5–4.6;6.5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27–28 · 3.4;3.4.1;3.9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27–28 · 3.4.2;3.7–3.8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28–29 · 3.10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27–29 · 3.4(iv);3.4.2;3.10(iii)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21–22,57–59,90,98,106,109 · definição Carência;12–13;Apêndices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108 · ApêndiceJúnior1.4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18,20–21,109,112 · definições;ApêndiceJúnior3.1–3.2;AdendoB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66–67 · 17.3–17.6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59–61 · 14.2–14.5 · https://fnet.bmfbovespa.com.br/fnet/publico/exibirDocumento?id=1225635&amp;cvm=true</a:t>
            </a:r>
          </a:p>
          <a:p>
            <a:r>
              <a:t>ID CVM/Fundos.NET 1227463 · 24/06/2026 · Anúncio de Início · data/raw/66929956000180/1227463_emissao_emissao_1227463_2026-06-24.pdf · p. 1 · https://fnet.bmfbovespa.com.br/fnet/publico/exibirDocumento?id=1227463&amp;cvm=true; ID CVM/Fundos.NET 1225635 · 22/06/2026 · Regulamento · data/raw/66929956000180/1225635_regulamento_regulamento_1225635_2026-06-22.pdf · p. 54 · 10.1(xviii) · https://fnet.bmfbovespa.com.br/fnet/publico/exibirDocumento?id=1225635&amp;cvm=true</a:t>
            </a:r>
          </a:p>
          <a:p>
            <a:r>
              <a:t>ID CVM/Fundos.NET 1225635 · 22/06/2026 · Regulamento · data/raw/66929956000180/1225635_regulamento_regulamento_1225635_2026-06-22.pdf · p. 33–37 · 5.5–5.5.4 · https://fnet.bmfbovespa.com.br/fnet/publico/exibirDocumento?id=1225635&amp;cvm=true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AUTO BV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752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 BV (Banco Votorantim)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 BV (Banco Votorantim)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Banco BV (Banco Votorantim)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Tipo de ativo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CCCBs de CCBs de veículos leves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seguros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CCCBs de CCBs de veículos leves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seguros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CCCBs de CCBs de veículos leves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seguros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 física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Alienação fiduciária registrada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Alienação fiduciária registrada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Alienação fiduciária registrada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Veículos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elétricos/híbridos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Vedação expressa não localizada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elegíveis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elegíveis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LTV individual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≤80% na originação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≤80% na originação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≤80% na originação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LTV médio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≤60% ponderado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≤60% ponderado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≤60% ponderado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5632704"/>
            <a:ext cx="11313871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LTV na emissão da CCB: saldo presente / avaliação Molicar. Média ponderada; ponderador não explicitado.
Ticket e Top 100 a valor presente, na aquisição. Limite por idade não localizado nos documentos acessíveis.
Auto II: o regulamento prevê 1,90%–2,20% a.m. A DF de set/25 descreve 1,90%–2,05% a.m.; bases documentais distintas.
Auto IV da imagem: proposta sem CNPJ ou documento de suporte. Condições não verificadas; fora desta carteira.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AUTO BV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752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Taxa de originação média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1,90%–2,05% a.m.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1,90%–2,20% a.m.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Taxa média não localizada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Adimplência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atraso em obrigações com BV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atraso em obrigações com BV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atraso em obrigações com BV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Seasoning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parcelas mais recentes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integralmente pagas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parcelas mais recentes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integralmente pagas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parcelas mais recentes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integralmente pagas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Renegociados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primeiras parcelas após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renegociação pagas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primeiras parcelas após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renegociação pagas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primeiras parcelas após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renegociação pagas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Ticket máximo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≤R$175 mil (valor presente)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≤R$175 mil (valor presente)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≤R$175 mil (valor presente)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Top 100 contratos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≤R$17,5 mi (valor presente)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≤R$17,5 mi (valor presente)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≤R$17,5 mi (valor presente)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Composição por 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 por idade 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 por idade 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Limite por idade 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5632704"/>
            <a:ext cx="11313871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LTV na emissão da CCB: saldo presente / avaliação Molicar. Média ponderada; ponderador não explicitado.
Ticket e Top 100 a valor presente, na aquisição. Limite por idade não localizado nos documentos acessíveis.
Auto II: o regulamento prevê 1,90%–2,20% a.m. A DF de set/25 descreve 1,90%–2,05% a.m.; bases documentais distintas.
Auto IV da imagem: proposta sem CNPJ ou documento de suporte. Condições não verificadas; fora desta carteira.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AUTO BV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5648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≥15%*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≥15%*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≥15%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Índice de Perdas90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≤5% (base contratual)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≤5% (base contratual)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≤5% (base contratual)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Índice de Perdas180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≤4% (base contratual)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≤4% (base contratual)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≤4% (base contratual)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Estático; sem 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Estático; sem 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Estático; revolvência vedada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majoritária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≥70% das posições à vista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≥70% das posições à vista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para contratar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30 dias de cada endosso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30 dias de cada endosso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30 dias de cada endosso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 estimadas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 estimadas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meses de despesas estimadas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5774436"/>
            <a:ext cx="11313871" cy="5623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*Auto I e II: numeral 15% e extenso “dez por cento”. Limite sênior exige confirmação; III corrigiu o extenso em 22/06/26.
Perdas 90/180: face das parcelas vincendas e vencidas não pagas das CCBs afetadas / face histórico adquirido. Excesso gera avaliação.
Hedge limitado às posições à vista e a 1×PL. Reserva depende de despesas projetadas.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AUTO BV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636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CNPJ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57.532.556/0001-46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60.598.366/0001-36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66.929.956/0001-80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regulatória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creditórios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creditórios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≥50% do PL em 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creditórios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tributária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≥67% do PL em CCCBs elegíveis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≥67% do PL em CCCBs elegíveis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≥67% do PL em CCCBs elegíveis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de enquadramento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180 dias da integralização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inicial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180 dias da integralização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inicial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180 dias da integralização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inicial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Mezanino 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≥10%: (Mezanino B + Júnior) /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≥10%: (Mezanino B + Júnior) /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≥10%: (Mezanino B + Júnior) /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Mezanino B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≥5%: Júnior /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≥5%: Júnior /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≥5%: Júnior /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sem coobrigação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sem coobrigação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sem coobrigação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Reembolso por vícios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contratuais, em até 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 úteis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contratuais, em até 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 úteis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Hipóteses contratuais, em até 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 úteis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Prioridade das cotas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A, Mezanino B,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A, Mezanino B,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A, Mezanino B,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Insolvência do BV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 documental de 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 documental de 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 documental de 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Waiver efetivo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nos documentos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nos documentos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nos documentos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acessíveis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5916168"/>
            <a:ext cx="11313871" cy="4206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Sênior: (Mezanino A + Mezanino B + Júnior) / PL. Despesas, derivativos e reserva precedem cotas.
Reembolso tem exceções. Inadimplência ordinária não implica garantia de solvência do BV.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AUTO BV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223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 + 1,00%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 + 1,00%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 + 0,80%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Mezanino 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 + 2,00%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 + 2,00%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 + 2,00%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Mezanino B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 + 4,00%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 + 4,00%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 + 4,00%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Residual, sem benchmark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Residual, sem benchmark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 + 6,00% a.a., condicionado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VNU inicial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R$1.000 por cota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R$1.000 por cota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R$1.000 por cota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 aprovado/ofertado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R$3,51 bilhões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R$1,50 bilhão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R$3,35 bilhões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Distribuição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R$3,51 bi integralizados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(encerramento)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Subscrito: R$1,50 bi.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Integralizado nominal: R$247,52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 em 03/07/25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Encerramento e distribuição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Rating documentado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DF set/25: cotas sem rating.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Atualização não localizada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DF set/25: cotas sem rating.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Atualização não localizada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Moody’s, 24/06/26: AAA.br(sf)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AA.br(sf) / BBB.br(sf)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5916168"/>
            <a:ext cx="11313871" cy="4206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Auto II: R$247,52 mi = cotas integralizadas no anúncio de 03/07/25 × VNU inicial. A DF set/25 usa outra data e base contábil.
Auto III: equalização limitada a 1% do PL. Júnior pode render abaixo do alvo ou ter resultado negativo. Rating Sênior / MZA / MZB na emissão.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AUTO BV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4443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Primeira 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Liquidações em 04 e 12/12/2024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Data por subclasse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localizada. DF: atividades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02/07/2025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Efetiva não confirmada.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25/06/2026 é indicativa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Prazo Sênior / Mezaninos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60 meses da primeira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60 meses da primeira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60 meses da primeira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Início da 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Mês seguinte à 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Mês seguinte à 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Após 6 meses. Carência inclui 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6º 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Dia de pagamento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 10 ou primeiro dia útil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seguinte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 10 ou primeiro dia útil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seguinte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 10 ou primeiro dia útil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seguinte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Periodicidade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Mensal, em regime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Mensal, em regime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Mensal, em regime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Após prioridades e reserva.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pro forma ≥5,10% do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Após prioridades e reserva.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pro forma ≥5,10% do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Após prioridades, índices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 civil final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Data fechada por subclasse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Data fechada por subclasse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Data fechada por subclasse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Cronograma fechado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por data não localizados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por data não localizados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Valores por data não localizados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Amortização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caixa, deliberação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contratuais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caixa, deliberação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contratuais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caixa, deliberação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contratuais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5916168"/>
            <a:ext cx="11313871" cy="4206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Carência do Auto III abrange o sexto mês. Fluxos dependem de caixa e waterfall; não há calendário fechado de valores.
Os recursos de integralização não compõem automaticamente a base distribuível. Datas indicativas não comprovam liquidação.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AUTO BV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694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 (a.a.)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0,09% até R$1 bi. 0,07% de R$1–2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bi. 0,05% acima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0,09% até R$1 bi. 0,07% de R$1–2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bi. 0,05% acima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0,09% até R$1 bi. 0,07% de R$1–2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bi. 0,05% acima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Mínimo de 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R$9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R$9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R$9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 (a.a.)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0,25% + tributos previstos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0,25% + tributos previstos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0,25% + tributos previstos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Mínimo de 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R$30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R$30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R$30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 (a.a.)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0,03% até R$2 bi. 0,02% acima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0,03% até R$2 bi. 0,02% acima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0,03% até R$2 bi. 0,02% acima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Mínimo de 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R$3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R$3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R$3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Escrituração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controladoria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Incluídas na 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Incluídas na 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Incluídas na 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Base de cálculo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 da classe, conforme faixas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 da classe, conforme faixas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 da classe, conforme faixas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Cobrança / servicing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0,50% a.a. provisório,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condicionado (DF)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0,50% a.a. provisório,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condicionado (DF)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Remetido ao CCCB. Taxa final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5916168"/>
            <a:ext cx="11313871" cy="42062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Mínimos de administração e gestão: reajuste anual pelo IGP-M positivo. Método marginal/progressivo das faixas não explicitado.
Gestão: ISS/PIS/COFINS/CSLL/IRRF previstos. Custódia excetua CCCBs. Cobrança depende de recebimentos e metas contratuais.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AUTO BV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1226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≥50%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 como proxy,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rubricas e teste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 como proxy,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rubricas e teste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/ PL como proxy,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de rubricas e teste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diário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fiscal ≥67%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parcial. Identificação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CCCBs exige base de lastro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parcial. Identificação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CCCBs exige base de lastro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parcial. Identificação 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CCCBs exige base de lastro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sênior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por cotas. Confirmar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divergência 15% / dez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por cotas. Confirmar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divergência 15% / dez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Proxy por cotas. Reconciliar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subclasses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Mezanino A e B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abertura das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reconciliação com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abertura das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reconciliação com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abertura das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reconciliação com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Perdas 90 / 180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 por CCB e face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histórico. Over IME permite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triagem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 por CCB e face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histórico. Over IME permite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triagem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 por CCB e face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histórico. Over IME permite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triagem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057900"/>
            <a:ext cx="11313871" cy="2788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Os proxies mensais não comprovam cumprimento contratual diário. A tabela separa regra documental e capacidade de acompanhamento.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AUTO BV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935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994050"/>
                <a:gridCol w="2994050"/>
                <a:gridCol w="2994050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FIDC Auto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LTV, elegibilidade e Top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 individual. IME público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granularidade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 individual. IME público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granularidade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 individual. IME público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granularidade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mostra posição agregada.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e cobertura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mostra posição agregada.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e cobertura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IME mostra posição agregada.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Finalidade e cobertura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como proxy. Despesas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projetadas fora do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como proxy. Despesas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projetadas fora do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Caixa como proxy. Despesas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projetadas fora do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Reembolso e eventos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 documental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 documental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 documental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desta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curadoria documental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curadoria documental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curadoria documental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057900"/>
            <a:ext cx="11313871" cy="2788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Os proxies mensais não comprovam cumprimento contratual diário. A tabela separa regra documental e capacidade de acompanhamento.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