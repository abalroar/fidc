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Natureza dos recebíveis · CCB/CCI de home equity; Letras Financeiras e cotas subordinadas de securitizações admitidas · Fundos.NET ID 927443; referência 09/06/2025; data/raw/37294759000134/927443_documentary_review.txt; Anexo,4.1, pp34–38;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Originador/endossante · Galleria Bank na estrutura de originação; Credores financeiros aprovados · Fundos.NET ID 927443; referência 09/06/2025; data/raw/37294759000134/927443_documentary_review.txt; Glossário Credor/Galleria Bank; Anexo,4;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Devedor · Tomadores PF/PJ de home equity e emissores de Letras Financeiras · Fundos.NET ID 927443; referência 09/06/2025; data/raw/37294759000134/927443_documentary_review.txt; Glossário; Anexo,4.1–4.2;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Garantia · Alienação fiduciária de imóveis; seguros MIP/DFI exigidos nas hipóteses · Fundos.NET ID 927443; referência 09/06/2025; data/raw/37294759000134/927443_documentary_review.txt; Anexo,4.2, pp35–38;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Elegibilidade · Home equity: LTV ≤ 60% para apartamentos/condomínios, ≤ 50% demais; LTV médio ≤ 45%; prazo 36–240 meses · Fundos.NET ID 927443; referência 09/06/2025; data/raw/37294759000134/927443_documentary_review.txt; Anexo,4.2, pp35–38; https://fnet.bmfbovespa.com.br/fnet/publico/exibirDocumento?id=927443&amp;cvm=true · Observação: Taxa mínima de originação IPCA + 0, 75% a.m. ou fixa 1, 25% a.m.; média mínima IPCA + 1, 25% a.m. ou fixa 2% a.m. São taxas dos recebíveis.</a:t>
            </a:r>
          </a:p>
          <a:p>
            <a:r>
              <a:t>CNPJ 37294759000134 · Concentração · Devedor: menor de R$ 5 mi e 2% PL; ≥ 90% dos créditos com prazo ≤ 180 meses; LF ≤ 3 anos · Fundos.NET ID 927443; referência 09/06/2025; data/raw/37294759000134/927443_documentary_review.txt; Anexo,4.2, pp35–38; https://fnet.bmfbovespa.com.br/fnet/publico/exibirDocumento?id=927443&amp;cvm=true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Subordinação mínima · PL/cotas seniores ≥ 105%; índices de cobertura sênior/mezanino ≥ 1, 00 · Fundos.NET ID 927443; referência 09/06/2025; data/raw/37294759000134/927443_documentary_review.txt; Glossário Relação Mínima, p110; Anexo,6.8, p43; https://fnet.bmfbovespa.com.br/fnet/publico/exibirDocumento?id=927443&amp;cvm=true · Observação: A ponderação da carteira varia por ativo e série; a cobertura exige informações individuais. 75% no suplemento não é subordinação mínima.</a:t>
            </a:r>
          </a:p>
          <a:p>
            <a:r>
              <a:t>CNPJ 37294759000134 · Gatilhos de avaliação/liquidação · Desenquadramentos, falhas de reserva, cobrança e prestadores geram eventos; prazos de cura específicos · Fundos.NET ID 927443; referência 09/06/2025; data/raw/37294759000134/927443_documentary_review.txt; Anexo,10–11, pp57–64;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Reserva de caixa · 3 meses de despesas; reserva de amortização: 30%/60%/100% a 15/10/5 dias úteis · Fundos.NET ID 927443; referência 09/06/2025; data/raw/37294759000134/927443_documentary_review.txt; Anexo,12.1, p64; Glossário Reserva de Amortização, p111;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Derivativos/hedge · Operações com derivativos vedadas · Fundos.NET ID 927443; referência 09/06/2025; data/raw/37294759000134/927443_documentary_review.txt; Anexo,3.10, p33;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PDD · Escala por atraso: 0, 5% em 1–15 dias até 100% acima de 181 dias · Fundos.NET ID 927443; referência 09/06/2025; data/raw/37294759000134/927443_documentary_review.txt; Política de provisão, p23; https://fnet.bmfbovespa.com.br/fnet/publico/exibirDocumento?id=927443&amp;cvm=true · Observação: Piso por faixa contratual; não equivale a índice agregado mínimo de cobertura.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Alocação mínima · Direitos creditórios ≥ 50% PL; alocação tributária e ativos elegíveis exigem reconciliação · Fundos.NET ID 927443; referência 09/06/2025; data/raw/37294759000134/927443_documentary_review.txt; Glossário Alocação Mínima, p89, p89, p89; https://fnet.bmfbovespa.com.br/fnet/publico/exibirDocumento?id=927443&amp;cvm=true · Observação: Glossário Alocação Mínima, p 89: 50% PL. O valor não foi inferido de outros fundos.</a:t>
            </a:r>
          </a:p>
          <a:p>
            <a:r>
              <a:t>CNPJ 37294759000134 · Pool/revolvência · Aquisições admitidas conforme fase e ordem de recursos; saída/amortização por suplemento · Fundos.NET ID 927443; referência 09/06/2025; data/raw/37294759000134/927443_documentary_review.txt; Anexo,9, pp52–56;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Duração/público-alvo · Classe fechada; investidores autorizados conforme suplemento · Fundos.NET ID 927443; referência 09/06/2025; data/raw/37294759000134/927443_documentary_review.txt; Anexo,6; Suplementos;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Cessão/recompra · Cessão definitiva; desenquadramento posterior não cria regresso automático, ressalvados culpa/fraude · Fundos.NET ID 927443; referência 09/06/2025; data/raw/37294759000134/927443_documentary_review.txt; Anexo,5.8;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Coobrigação · Responsabilidade por vício/fraude conforme instrumentos; garantia de solvência não presumida · Fundos.NET ID 927443; referência 09/06/2025; data/raw/37294759000134/927443_documentary_review.txt; Anexo,5.8;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Waterfall · Encargos → reservas → sênior → mezanino → aquisições; sequência varia por fase · Fundos.NET ID 927443; referência 09/06/2025; data/raw/37294759000134/927443_documentary_review.txt; Anexo,9.2, pp52–56; https://fnet.bmfbovespa.com.br/fnet/publico/exibirDocumento?id=927443&amp;cvm=true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Classes/séries · Sênior 9ª série; mezanino C em anúncio próprio · Fundos.NET ID 1245602; referência 10/07/2026; data/raw/37294759000134/1245602_documentary_review.txt; Anexo I, p3; https://fnet.bmfbovespa.com.br/fnet/publico/exibirDocumento?id=1245602&amp;cvm=true · Observação: Conclusão limitada à versão citada; inventário completo não equivale a leitura integral de todos os documentos.</a:t>
            </a:r>
          </a:p>
          <a:p>
            <a:r>
              <a:t>CNPJ 37294759000134 · Remuneração · Sênior 9ª série: IPCA + 11, 70% a.a. · Fundos.NET ID 1245602; referência 10/07/2026; data/raw/37294759000134/1245602_documentary_review.txt; Meta de Indexação/Índice de Preços/Meta de Rentabilidade, pp4–5; https://fnet.bmfbovespa.com.br/fnet/publico/exibirDocumento?id=1245602&amp;cvm=true · Observação: Taxa aplicada ao principal corrigido, com regra de IPCA negativo e defasagem n-2/n-3.</a:t>
            </a:r>
          </a:p>
          <a:p>
            <a:r>
              <a:t>CNPJ 37294759000134 · Volume/VNU · 9ª série: até R$ 7 mi; mínimo R$ 6 mi; 7 milhões de cotas · Fundos.NET ID 1245602; referência 10/07/2026; data/raw/37294759000134/1245602_documentary_review.txt; Anexo I, p3; https://fnet.bmfbovespa.com.br/fnet/publico/exibirDocumento?id=1245602&amp;cvm=true · Observação: Conclusão limitada à versão citada; inventário completo não equivale a leitura integral de todos os documentos.</a:t>
            </a:r>
          </a:p>
          <a:p>
            <a:r>
              <a:t>CNPJ 37294759000134 · Ofertas · 9ª série: profissionais, melhores esforços, RCVM160; anúncio mezanino C registra R$ 40 mi · Fundos.NET ID 1243617; referência 10/07/2026; data/raw/37294759000134/1243617_documentary_review.txt; Anúncio de início, pp1–3; https://fnet.bmfbovespa.com.br/fnet/publico/exibirDocumento?id=1243617&amp;cvm=true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Carência · 9ª série: não aplicável · Fundos.NET ID 1245602; referência 10/07/2026; data/raw/37294759000134/1245602_documentary_review.txt; Período de Carência, p8; https://fnet.bmfbovespa.com.br/fnet/publico/exibirDocumento?id=1245602&amp;cvm=true · Observação: Conclusão limitada à versão citada; inventário completo não equivale a leitura integral de todos os documentos.</a:t>
            </a:r>
          </a:p>
          <a:p>
            <a:r>
              <a:t>CNPJ 37294759000134 · Juros/amortização · Mensal; percentuais de principal dos meses 1–95; saída desde o 96º mês · Fundos.NET ID 1245602; referência 10/07/2026; data/raw/37294759000134/1245602_documentary_review.txt; Meta de Amortização/Período de Saída, pp5–8; https://fnet.bmfbovespa.com.br/fnet/publico/exibirDocumento?id=1245602&amp;cvm=true · Observação: Conclusão limitada à versão citada; inventário completo não equivale a leitura integral de todos os documentos.</a:t>
            </a:r>
          </a:p>
          <a:p>
            <a:r>
              <a:t>CNPJ 37294759000134 · Vencimento · Resgate no 328º mês completo de alocação; saída no 96º mês; data fechada não localizada · Fundos.NET ID 1245602; referência 10/07/2026; data/raw/37294759000134/1245602_documentary_review.txt; Data de Resgate, p4; Período de Saída, p8; https://fnet.bmfbovespa.com.br/fnet/publico/exibirDocumento?id=1245602&amp;cvm=true · Observação: Texto interno requer reconciliação; não substituir 328 por 96 por inferência.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Administração · 0, 25% a.a./PL; mínimo R$ 20 mil/mês; IPCA anual · Fundos.NET ID 927443; referência 09/06/2025; data/raw/37294759000134/927443_documentary_review.txt; Parte Geral,4.1, p12;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Gestão · 0, 25% a.a./PL; mínimo R$ 10 mil/mês; IPCA anual · Fundos.NET ID 927443; referência 09/06/2025; data/raw/37294759000134/927443_documentary_review.txt; Parte Geral,4.3, p12; https://fnet.bmfbovespa.com.br/fnet/publico/exibirDocumento?id=927443&amp;cvm=true · Observação: Conclusão limitada à versão citada; inventário completo não equivale a leitura integral de todos os documentos.</a:t>
            </a:r>
          </a:p>
          <a:p>
            <a:r>
              <a:t>CNPJ 37294759000134 · Custódia · Máxima 0, 03% a.a./PL; mínimo R$ 3 mil/mês; parcela adicional descrita em 4.2 · Fundos.NET ID 927443; referência 09/06/2025; data/raw/37294759000134/927443_documentary_review.txt; Parte Geral,3.4 e4.2, pp11–12; https://fnet.bmfbovespa.com.br/fnet/publico/exibirDocumento?id=927443&amp;cvm=true · Observação: Reconciliar redação de serviços incluídos antes de somar custos; cobrança extraordinária tem taxa própria.</a:t>
            </a:r>
          </a:p>
          <a:p>
            <a:r>
              <a:t>CNPJ 37294759000134 · Cobrança extraordinária · 0, 20% a.a./créditos home equity; mínimo R$ 20 mil/mês; recuperação pode ter 20% dos recebimentos · Fundos.NET ID 1245602; referência 10/07/2026; data/raw/37294759000134/1245602_documentary_review.txt; Parte Geral,4.4–4.5 · Observação: Custo adicional ao pacote principal; base/periodicidade contratual preservadas. Validar versão e encargos tributários.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2026-10-07T16:44:38-03:00</a:t>
            </a:r>
          </a:p>
          <a:p>
            <a:r>
              <a:t>Galleria Home Equity: CNPJ 37294759000134</a:t>
            </a:r>
          </a:p>
          <a:p>
            <a:r>
              <a:t>Fontes:</a:t>
            </a:r>
          </a:p>
          <a:p>
            <a:r>
              <a:t>CNPJ 37294759000134 · Alocação/subordinação IME · Direitos creditórios / PL e cotas subordinadas / PL; validar fórmula contratual antes de comparar · Fundos.NET ID 1245602; referência 10/07/2026; data/raw/37294759000134/1245602_documentary_review.txt; Inventário das fontes consultadas; https://fnet.bmfbovespa.com.br/fnet/publico/exibirDocumento?id=1245602&amp;cvm=true; Fundos.NET ID 1243617; referência 10/07/2026; data/raw/37294759000134/1243617_documentary_review.txt; Inventário das fontes consultadas; https://fnet.bmfbovespa.com.br/fnet/publico/exibirDocumento?id=1243617&amp;cvm=true; Fundos.NET ID 927443; referência 09/06/2025; data/raw/37294759000134/927443_documentary_review.txt; Inventário das fontes consultadas; https://fnet.bmfbovespa.com.br/fnet/publico/exibirDocumento?id=927443&amp;cvm=true · Observação: Métricas padronizadas são proxies; data, unidade e denominador precisam coincidir com a regra jurídica.</a:t>
            </a:r>
          </a:p>
          <a:p>
            <a:r>
              <a:t>CNPJ 37294759000134 · Inadimplência/PDD IME · Aging e PDD agregados ajudam no alerta; índice contratual exige reconciliação · Fundos.NET ID 1245602; referência 10/07/2026; data/raw/37294759000134/1245602_documentary_review.txt; Inventário das fontes consultadas; https://fnet.bmfbovespa.com.br/fnet/publico/exibirDocumento?id=1245602&amp;cvm=true; Fundos.NET ID 1243617; referência 10/07/2026; data/raw/37294759000134/1243617_documentary_review.txt; Inventário das fontes consultadas; https://fnet.bmfbovespa.com.br/fnet/publico/exibirDocumento?id=1243617&amp;cvm=true; Fundos.NET ID 927443; referência 09/06/2025; data/raw/37294759000134/927443_documentary_review.txt; Inventário das fontes consultadas; https://fnet.bmfbovespa.com.br/fnet/publico/exibirDocumento?id=927443&amp;cvm=true · Observação: O IME não substitui bases por devedor, cedente, vintage ou fluxo de vencimentos.</a:t>
            </a:r>
          </a:p>
          <a:p>
            <a:r>
              <a:t>CNPJ 37294759000134 · Controles documentais · Elegibilidade, concentração, recompra jurídica e troca de prestadores exigem documentos individuais · Fundos.NET ID 1245602; referência 10/07/2026; data/raw/37294759000134/1245602_documentary_review.txt; Inventário das fontes consultadas; https://fnet.bmfbovespa.com.br/fnet/publico/exibirDocumento?id=1245602&amp;cvm=true; Fundos.NET ID 1243617; referência 10/07/2026; data/raw/37294759000134/1243617_documentary_review.txt; Inventário das fontes consultadas; https://fnet.bmfbovespa.com.br/fnet/publico/exibirDocumento?id=1243617&amp;cvm=true; Fundos.NET ID 927443; referência 09/06/2025; data/raw/37294759000134/927443_documentary_review.txt; Inventário das fontes consultadas; https://fnet.bmfbovespa.com.br/fnet/publico/exibirDocumento?id=927443&amp;cvm=true · Observação: Controle documental separado de posições agregadas do IME; lacuna não deve produzir enquadramento presumido.</a:t>
            </a:r>
          </a:p>
          <a:p>
            <a:r>
              <a:t>CNPJ 37294759000134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CCB/CCI de home equity; Letras Financeiras e cotas subordinadas de securitizações admitidas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Galleria Bank na estrutura de originação; Credores financeiros aprovados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Tomadores PF/PJ de home equity e emissores de Letras Financeiras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de imóveis; seguros MIP/DFI exigidos nas hipóteses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Home equity: LTV ≤ 60% para apartamentos/condomínios, ≤ 50% demais; LTV médio ≤ 45%; prazo 36–240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Devedor: menor de R$ 5 mi e 2% PL; ≥ 90% dos créditos com prazo ≤ 180 meses; LF ≤ 3 anos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PL/cotas seniores ≥ 105%; índices de cobertura sênior/mezanino ≥ 1, 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Desenquadramentos, falhas de reserva, cobrança e prestadores geram eventos; prazos de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 reserva de amortização: 30%/60%/100% a 15/10/5 dias úteis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Escala por atraso: 0, 5% em 1–15 dias até 100% acima de 181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≥ 50% PL; alocação tributária e ativos elegíveis exigem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admitidas conforme fase e ordem de recursos; saída/amortização por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investidores autorizados conforme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 desenquadramento posterior não cria regresso automático, ressalvados culpa/fraude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Responsabilidade por vício/fraude conforme instrumentos; garantia de solvência não presumida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reservas → sênior → mezanino → aquisições; sequência varia por fase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9ª série; mezanino C em anúncio próprio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9ª série: IPCA + 11, 70%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9ª série: até R$ 7 mi; mínimo R$ 6 mi; 7 milhões de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9ª série: profissionais, melhores esforços, RCVM160; anúncio mezanino C registra R$ 40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9ª série: não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Mensal; percentuais de principal dos meses 1–95; saída desde o 96º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Resgate no 328º mês completo de alocação; saída no 96º mês; data fechada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25% a.a./PL; mínimo R$ 20 mil/mês; 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25% a.a./PL; mínimo R$ 10 mil/mês; IPCA 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Máxima 0, 03% a.a./PL; mínimo R$ 3 mil/mês; parcela adicional descrita em 4.2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Cobrança 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20% a.a./créditos home equity; mínimo R$ 20 mil/mês; recuperação pode ter 20% dos recebimentos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Galleria home Equity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Galleria Home Equity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fórmula contratual antes de comparar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