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Natureza dos recebíveis · CCBs de antecipação de saque-aniversário FGTS · Fundos.NET ID 1205675 · 03/11/2025 · Regulamento · p. 6-7, 48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Originador/endossante · Endossante e parceiros originadores; QI é gestora · Fundos.NET ID 1205675 · 03/11/2025 · Regulamento · p. 11, 45 · data/raw/62627243000101/1205675_documentary_review.pdf · https://fnet.bmfbovespa.com.br/fnet/publico/exibirDocumento?id=1205675 · Observação: Não inferir originador pela denominação da carteira QI Tech.</a:t>
            </a:r>
          </a:p>
          <a:p>
            <a:r>
              <a:t>CNPJ 62627243000101 · Devedor · Pessoa física titular FGTS; idade 18 a 75 anos na CCB · Fundos.NET ID 1205675 · 03/11/2025 · Regulamento · p. 6, 48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Garantia · Cessão fiduciária do saque-aniversário; registro e bloqueio de saldo FGTS · Fundos.NET ID 1205675 · 03/11/2025 · Regulamento · p. 48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Elegibilidade · CCB adimplente; 12 parcelas; prazo ≤ 144 meses; duration da carteira ≤ 36 meses · Fundos.NET ID 1205675 · 03/11/2025 · Regulamento · p. 48-49 · data/raw/62627243000101/1205675_documentary_review.pdf · https://fnet.bmfbovespa.com.br/fnet/publico/exibirDocumento?id=1205675 · Observação: Taxa mínima de cessão 1,27% a.m.; não é remuneração de cotas.</a:t>
            </a:r>
          </a:p>
          <a:p>
            <a:r>
              <a:t>CNPJ 62627243000101 · Concentração · Face por devedor ≤ R$ 100 mil · Fundos.NET ID 1205675 · 03/11/2025 · Regulamento · p. 49 · data/raw/62627243000101/1205675_documentary_review.pdf · https://fnet.bmfbovespa.com.br/fnet/publico/exibirDocumento?id=1205675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Subordinação mínima · Subordinadas/PL ≥ 2% enquanto houver sênior · Fundos.NET ID 1205675 · 03/11/2025 · Regulamento · p. 11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Gatilhos de avaliação/liquidação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  <a:p>
            <a:r>
              <a:t>CNPJ 62627243000101 · Reserva de caixa · Maior de 90 dias de despesas/encargos ou 1% do PL · Fundos.NET ID 1205675 · 03/11/2025 · Regulamento · p. 51 · data/raw/62627243000101/1205675_documentary_review.pdf · https://fnet.bmfbovespa.com.br/fnet/publico/exibirDocumento?id=1205675 · Observação: Reserva adicional de amortização: 30% do pagamento em D-30 e valor total em D-15.</a:t>
            </a:r>
          </a:p>
          <a:p>
            <a:r>
              <a:t>CNPJ 62627243000101 · Derivativos/hedge · Proteção patrimonial ou troca de indexador sem risco de capital · Fundos.NET ID 1205675 · 03/11/2025 · Regulamento · p. 46 · data/raw/62627243000101/1205675_documentary_review.pdf · https://fnet.bmfbovespa.com.br/fnet/publico/exibirDocumento?id=1205675 · Observação: Anexo VI define a política de hedge; validar base, contrapartes e registro.</a:t>
            </a:r>
          </a:p>
          <a:p>
            <a:r>
              <a:t>CNPJ 62627243000101 · PDD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Alocação mínima · Direitos creditórios &gt; 50% do PL em até 180 dias · Fundos.NET ID 1205675 · 03/11/2025 · Regulamento · p. 45 · data/raw/62627243000101/1205675_documentary_review.pdf · https://fnet.bmfbovespa.com.br/fnet/publico/exibirDocumento?id=1205675 · Observação: Redação estrita superior a 50%; preservar comparação, não transformar em ≥ automaticamente.</a:t>
            </a:r>
          </a:p>
          <a:p>
            <a:r>
              <a:t>CNPJ 62627243000101 · Pool/revolvência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  <a:p>
            <a:r>
              <a:t>CNPJ 62627243000101 · Duração/público-alvo · Fechado; prazo indeterminado; investidores profissionais · Fundos.NET ID 1205675 · 03/11/2025 · Regulamento · p. 25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Cessão/recompra · Transferência irrevogável; retorno ao endossante só nas hipóteses contratuais · Fundos.NET ID 1205675 · 03/11/2025 · Regulamento · p. 45-47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Coobrigação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  <a:p>
            <a:r>
              <a:t>CNPJ 62627243000101 · Waterfall · Encargos/derivativos → reservas → remuneração/amortização sênior → subordinadas · Fundos.NET ID 1205675 · 03/11/2025 · Regulamento · p. 50 · data/raw/62627243000101/1205675_documentary_review.pdf · https://fnet.bmfbovespa.com.br/fnet/publico/exibirDocumento?id=1205675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Classes/séries · Sênior por séries; subordinadas · Fundos.NET ID 1205675 · 03/11/2025 · Regulamento · p. 25, 84, 86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Remuneração · 1ª sênior: CDI + 1,30% a.a.; subordinada residual · Fundos.NET ID 1205675 · 03/11/2025 · Regulamento · p. 84, 86 · data/raw/62627243000101/1205675_documentary_review.pdf · https://fnet.bmfbovespa.com.br/fnet/publico/exibirDocumento?id=1205675 · Observação: Apêndices efetivos de 17/10/2025, não os modelos em branco.</a:t>
            </a:r>
          </a:p>
          <a:p>
            <a:r>
              <a:t>CNPJ 62627243000101 · Volume/VNU · 1ª sênior R$ 98 mi; subordinada R$ 2 mi; VNU R$ 1.000 · Fundos.NET ID 1205675 · 03/11/2025 · Regulamento · p. 86 · data/raw/62627243000101/1205675_documentary_review.pdf · https://fnet.bmfbovespa.com.br/fnet/publico/exibirDocumento?id=1205675 · Observação: Sênior conforme apêndice efetivo; valor será individualizado em emissions_rows.</a:t>
            </a:r>
          </a:p>
          <a:p>
            <a:r>
              <a:t>CNPJ 62627243000101 · Ofertas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Carência · Não localizado no corpus acessível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Lacuna documental explícita; exige regulamento, anexo, suplemento ou contrato aplicável.</a:t>
            </a:r>
          </a:p>
          <a:p>
            <a:r>
              <a:t>CNPJ 62627243000101 · Juros/amortização · Sênior mensal, 5º DU; subordinada sem amortização programada · Fundos.NET ID 1205675 · 03/11/2025 · Regulamento · p. 84, 86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Vencimento · 1ª sênior: 144 meses da Data de Conversão · Fundos.NET ID 1205675 · 03/11/2025 · Regulamento · p. 84 · data/raw/62627243000101/1205675_documentary_review.pdf · https://fnet.bmfbovespa.com.br/fnet/publico/exibirDocumento?id=1205675 · Observação: Apêndice remete à Data de Conversão para o vencimento final; não fixar data sem confirmar esse marco.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Administração · 0,0125% a.a. do PL; reajuste IGP-M positivo anual; mínimo não localizado · Fundos.NET ID 1205675 · 03/11/2025 · Regulamento · p. 44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Gestão · 0,0125% a.a. do PL; reajuste IGP-M positivo anual; mínimo não localizado · Fundos.NET ID 1205675 · 03/11/2025 · Regulamento · p. 44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Custódia · Sem custodiante de DC; CCBs registráveis; taxa máxima não devida · Fundos.NET ID 1205675 · 03/11/2025 · Regulamento · p. 44 · data/raw/62627243000101/1205675_documentary_review.pdf · https://fnet.bmfbovespa.com.br/fnet/publico/exibirDocumento?id=1205675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Lever I FGTS: CNPJ 62627243000101</a:t>
            </a:r>
          </a:p>
          <a:p>
            <a:r>
              <a:t>Fontes:</a:t>
            </a:r>
          </a:p>
          <a:p>
            <a:r>
              <a:t>CNPJ 62627243000101 · Alocação/subordinação IME · DC/PL e subordinadas/PL: diretos com validação da janela inicial · Fundos.NET ID 1205675 · 03/11/2025 · Regulamento · p. 11, 45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Inadimplência/PDD IME · Over/PDD agregados: proxies; duração, face por devedor e cessão exigem base granular · Fundos.NET ID 1205675 · 03/11/2025 · Regulamento · p. 48-49 · data/raw/62627243000101/1205675_documentary_review.pdf · https://fnet.bmfbovespa.com.br/fnet/publico/exibirDocumento?id=1205675 · Observação: Conclusão documental revisada; preservar a versão e a unidade indicadas.</a:t>
            </a:r>
          </a:p>
          <a:p>
            <a:r>
              <a:t>CNPJ 62627243000101 · Controles documentais · Elegibilidade, concentração, lastro, prestadores e eventos exigem documentação específica · Corpus acessível CNPJ 62627243000101: ID 1205675 (03/11/2025), data/raw/62627243000101/1205675_documentary_review.pdf; ID 1006018 (01/10/2025), data/raw/62627243000101/1006018_documentary_review.pdf; ID 1006009 (01/10/2025), data/raw/62627243000101/1006009_documentary_review.pdf; ID 995545 (09/09/2025), data/raw/62627243000101/995545_documentary_review.pdf · Observação: O IME público agregado não certifica essas condições.</a:t>
            </a:r>
          </a:p>
          <a:p>
            <a:r>
              <a:t>CNPJ 62627243000101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 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 e parceiros originadores; QI é gestora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 FGTS; idade 18 a 75 anos na CCB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 saque-aniversário; registro e bloqueio de saldo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adimplente; 12 parcelas; prazo ≤ 144 meses; duration da carteira ≤ 36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Face por devedor ≤ R$ 100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2% enquanto houver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de 90 dias de despesas/encargos ou 1%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 troca de indexador sem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 50% do PL em 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prazo indeterminado;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irrevogável; retorno ao endossante só nas hipóteses 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 → reservas → remuneração/amortização sênior →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séries;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CDI + 1,30% a.a.; subordinada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 R$ 98 mi; subordinada R$ 2 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mensal, 5º DU; subordinada sem 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144 meses da Data de Conversão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0,0125% a.a. do PL; reajuste IGP-M positivo anual; mínimo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0,0125% a.a. do PL; reajuste IGP-M positivo anual; mínimo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custodiante de DC; CCBs registráveis; taxa máxima não devida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QI Tech (FGTS)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Lever I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subordinadas/PL: diretos com validação da janela 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agregados: proxies; duração, face por devedor e cessão exigem base granular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 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