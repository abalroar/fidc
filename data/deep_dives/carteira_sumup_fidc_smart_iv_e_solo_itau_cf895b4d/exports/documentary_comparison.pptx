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2026-10-07T14:49:47-03:00</a:t>
            </a:r>
          </a:p>
          <a:p>
            <a:r>
              <a:t>SUMUP SOLO: CNPJ 45598747000121</a:t>
            </a:r>
          </a:p>
          <a:p>
            <a:r>
              <a:t>SUMUP SMART IV: CNPJ 62626887000185</a:t>
            </a:r>
          </a:p>
          <a:p>
            <a:r>
              <a:t>Fontes:</a:t>
            </a:r>
          </a:p>
          <a:p>
            <a:r>
              <a:t>CNPJ 45598747000121 · Natureza dos recebíveis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Natureza dos recebíveis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Originador/endossante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Originador/endossante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Devedor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Devedor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Garantia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Garantia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Elegibilidade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Elegibilidade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Concentração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Concentração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Prazo dos recebíveis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Prazo dos recebíveis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Ativos vedados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Ativos vedados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2026-10-07T14:49:47-03:00</a:t>
            </a:r>
          </a:p>
          <a:p>
            <a:r>
              <a:t>SUMUP SOLO: CNPJ 45598747000121</a:t>
            </a:r>
          </a:p>
          <a:p>
            <a:r>
              <a:t>SUMUP SMART IV: CNPJ 62626887000185</a:t>
            </a:r>
          </a:p>
          <a:p>
            <a:r>
              <a:t>Fontes:</a:t>
            </a:r>
          </a:p>
          <a:p>
            <a:r>
              <a:t>CNPJ 45598747000121 · Subordinação mínima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Subordinação mínima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Gatilhos de avaliação/liquidação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Gatilhos de avaliação/liquidação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 de caixa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Reserva de caixa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Derivativos/hedge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Derivativos/hedge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PDD · Gatilho contratual específico de PDD não localizado; usar PDD/crédito como indicador agregado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62626887000185 · PDD · Gatilho contratual específico de PDD não localizado; usar PDD/crédito como indicador agregado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Sem limite automático de PDD inferido; regra contratual deve ser conciliada separadamente.</a:t>
            </a:r>
          </a:p>
          <a:p>
            <a:r>
              <a:t>CNPJ 45598747000121 · Subordinação mezanino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Subordinação mezanino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Eventos de avaliação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Eventos de avaliação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Liquidação antecipada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Liquidação antecipada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 de despesas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Reserva de despesas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2026-10-07T14:49:47-03:00</a:t>
            </a:r>
          </a:p>
          <a:p>
            <a:r>
              <a:t>SUMUP SOLO: CNPJ 45598747000121</a:t>
            </a:r>
          </a:p>
          <a:p>
            <a:r>
              <a:t>SUMUP SMART IV: CNPJ 62626887000185</a:t>
            </a:r>
          </a:p>
          <a:p>
            <a:r>
              <a:t>Fontes:</a:t>
            </a:r>
          </a:p>
          <a:p>
            <a:r>
              <a:t>CNPJ 45598747000121 · Alocação mínima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Alocação mínima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Pool/revolvência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Pool/revolvência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Duração/público-alvo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Duração/público-alvo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Cessão/recompra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Cessão/recompra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Coobrigação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Coobrigação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Waterfall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Waterfall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Prestadores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Prestadores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2026-10-07T14:49:47-03:00</a:t>
            </a:r>
          </a:p>
          <a:p>
            <a:r>
              <a:t>SUMUP SOLO: CNPJ 45598747000121</a:t>
            </a:r>
          </a:p>
          <a:p>
            <a:r>
              <a:t>SUMUP SMART IV: CNPJ 62626887000185</a:t>
            </a:r>
          </a:p>
          <a:p>
            <a:r>
              <a:t>Fontes:</a:t>
            </a:r>
          </a:p>
          <a:p>
            <a:r>
              <a:t>CNPJ 45598747000121 · Classes/séries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Classes/séries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Remuneração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Volume/VNU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Volume/VNU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Ofertas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Ofertas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sênior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Remuneração sênior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mezanino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Remuneração mezanino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Remuneração subordinada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Remuneração subordinada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Volume / quantidade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Volume / quantidade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VNU / preço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VNU / preço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2026-10-07T14:49:47-03:00</a:t>
            </a:r>
          </a:p>
          <a:p>
            <a:r>
              <a:t>SUMUP SOLO: CNPJ 45598747000121</a:t>
            </a:r>
          </a:p>
          <a:p>
            <a:r>
              <a:t>SUMUP SMART IV: CNPJ 62626887000185</a:t>
            </a:r>
          </a:p>
          <a:p>
            <a:r>
              <a:t>Fontes:</a:t>
            </a:r>
          </a:p>
          <a:p>
            <a:r>
              <a:t>CNPJ 45598747000121 · Carência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Carência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Juros/amortização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Juros/amortização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Vencimento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Vencimento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Juros / pagamentos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Juros / pagamentos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Amortização programada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Amortização programada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Amortização extraordinária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Amortização extraordinária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2026-10-07T14:49:47-03:00</a:t>
            </a:r>
          </a:p>
          <a:p>
            <a:r>
              <a:t>SUMUP SOLO: CNPJ 45598747000121</a:t>
            </a:r>
          </a:p>
          <a:p>
            <a:r>
              <a:t>SUMUP SMART IV: CNPJ 62626887000185</a:t>
            </a:r>
          </a:p>
          <a:p>
            <a:r>
              <a:t>Fontes:</a:t>
            </a:r>
          </a:p>
          <a:p>
            <a:r>
              <a:t>CNPJ 45598747000121 · Administração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Administração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Gestão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Gestão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Custódia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Custódia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Reajuste / base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Reajuste / base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2026-10-07T14:49:47-03:00</a:t>
            </a:r>
          </a:p>
          <a:p>
            <a:r>
              <a:t>SUMUP SOLO: CNPJ 45598747000121</a:t>
            </a:r>
          </a:p>
          <a:p>
            <a:r>
              <a:t>SUMUP SMART IV: CNPJ 62626887000185</a:t>
            </a:r>
          </a:p>
          <a:p>
            <a:r>
              <a:t>Fontes:</a:t>
            </a:r>
          </a:p>
          <a:p>
            <a:r>
              <a:t>CNPJ 45598747000121 · Alocação/subordinação IME · Não localizado na documentação acessível;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Alocação/subordinação IME · Não localizado na documentação acessível;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Inadimplência/PDD IME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Inadimplência/PDD IME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Controles documentais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Controles documentais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Competência IME · Cache local: 06/2026; selecionar competência para monitorar · .cache/fundonet-ime/515ee8393a35855dd0afbec2f255c4e303ff92cdf606f6b59b9d23f5ec53f218/manifest.json · Observação: Dado offline do IME; não representa atualização ao vivo nem comprovação dos critérios jurídicos.</a:t>
            </a:r>
          </a:p>
          <a:p>
            <a:r>
              <a:t>CNPJ 62626887000185 · Competência IME · Cache local: 06/2026; selecionar competência para monitorar · .cache/fundonet-ime/b6e526e7042b7b9ecd3c16c6f1afd1ff444561af8f7d4596a506e15da1535082/manifest.json · Observação: Dado offline do IME; não representa atualização ao vivo nem comprovação dos critérios jurídicos.</a:t>
            </a:r>
          </a:p>
          <a:p>
            <a:r>
              <a:t>CNPJ 45598747000121 · Alocação via IME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Alocação via IME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Subordinação via IME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Subordinação via IME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Concentração / elegibilidade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Concentração / elegibilidade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Reservas / pagamentos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Reservas / pagamentos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  <a:p>
            <a:r>
              <a:t>CNPJ 45598747000121 · Chargeback / recompra · Não localizado na documentação acessível · Inventário por CNPJ 45598747000121, consulta Fundos.NET em 07/10/2026: 40 documentos listados; Falha de rede ao acessar pesquisarGerenciadorDocumentosDados: The read operation timed out; inventário local anterior preservado.  PDFs efetivamente revistos: nenhum. ID883977: Fundos.NET respondeu HTTP 520 em downloadDocumento.; ID903840: Falha de rede ao acessar downloadDocumento: The read operation timed out · Observação: Lacuna documental; não preencher por aproximação de nome ou por campo heurístico.</a:t>
            </a:r>
          </a:p>
          <a:p>
            <a:r>
              <a:t>CNPJ 62626887000185 · Chargeback / recompra · Não localizado na documentação acessível · Inventário por CNPJ 62626887000185, consulta Fundos.NET em 07/10/2026: 27 documentos listados; Falha de rede ao acessar pesquisarGerenciadorDocumentosDados: The read operation timed out; inventário local anterior preservado.  PDFs efetivamente revistos: nenhum. ID1152823: Falha de rede ao acessar downloadDocumento: The read operation timed out · Observação: Lacuna documental; não preencher por aproximação de nome ou por campo heurístico.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SumUp (FIDC Smart IV e Solo - Itaú)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26609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SOLO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IV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Prazo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Ativos vedados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SumUp (FIDC Smart IV e Solo - Itaú)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31318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SOLO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IV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usar PDD/crédito como indicador 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usar PDD/crédito como indicador agregado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mezanino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Eventos de avaliação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Liquidação antecipada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despesas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SumUp (FIDC Smart IV e Solo - Itaú)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SOLO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IV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Prestadores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SumUp (FIDC Smart IV e Solo - Itaú)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29443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SOLO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IV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sênior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mezanino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 subordinada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 / quantidade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VNU / preço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SumUp (FIDC Smart IV e Solo - Itaú)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22814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SOLO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IV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 / pagamentos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Amortização programada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Amortização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extraordinária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SumUp (FIDC Smart IV e Solo - Itaú)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SOLO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IV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Reajuste / base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SumUp (FIDC Smart IV e Solo - Itaú)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0" cy="35067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4491075"/>
                <a:gridCol w="4491075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SOLO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SUMUP SMART IV</a:t>
                      </a:r>
                    </a:p>
                  </a:txBody>
                  <a:tcPr marL="91440" marR="91440" marT="41148" marB="41148" anchor="ctr">
                    <a:solidFill>
                      <a:srgbClr val="FF62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 selecionar competência para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Cache local: 06/2026; selecionar competência para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monitorar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via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via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 /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Reservas / pagamentos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Chargeback / 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