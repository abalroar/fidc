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2026-10-07T14:46:12-03:00</a:t>
            </a:r>
          </a:p>
          <a:p>
            <a:r>
              <a:t>Solfácil I: CNPJ 36771685000117</a:t>
            </a:r>
          </a:p>
          <a:p>
            <a:r>
              <a:t>Solfácil V: CNPJ 47240785000133</a:t>
            </a:r>
          </a:p>
          <a:p>
            <a:r>
              <a:t>Solfácil II: CNPJ 42462306000100</a:t>
            </a:r>
          </a:p>
          <a:p>
            <a:r>
              <a:t>Solfácil III: CNPJ 49920525000134</a:t>
            </a:r>
          </a:p>
          <a:p>
            <a:r>
              <a:t>Solfácil VI: CNPJ 57028406000108</a:t>
            </a:r>
          </a:p>
          <a:p>
            <a:r>
              <a:t>Solfácil VII: CNPJ 63505455000189</a:t>
            </a:r>
          </a:p>
          <a:p>
            <a:r>
              <a:t>Solfácil IV: CNPJ 44909456000144</a:t>
            </a:r>
          </a:p>
          <a:p>
            <a:r>
              <a:t>Fontes:</a:t>
            </a:r>
          </a:p>
          <a:p>
            <a:r>
              <a:t>CNPJ 36771685000117 · Natureza dos recebíveis · Financiamento de sistemas solares, representado por CCBs. · Fundos.NET ID 790882; referência 16/11/2024; data/raw/36771685000117/790882_regulamento_16-11-2024.txt; política de investimento / condições de aquisição;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Natureza dos recebíveis · Financiamento de sistemas solares, representado por CCBs e CPR financeiras. · Fundos.NET ID 791217; referência 19/11/2024; data/raw/47240785000133/791217_regulamento_19-11-2024.txt; política de investimento / condições de aquisição;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Natureza dos recebíveis · Financiamento de sistemas solares, representado por CCBs. · Fundos.NET ID 896879; referência 05/05/2025; data/raw/42462306000100/896879_regulamento_05-05-2025.txt; política de investimento / condições de aquisição;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Natureza dos recebíveis · Financiamento de sistemas solares, representado por CCBs. · Fundos.NET ID 1076645; referência 30/12/2025; data/raw/49920525000134/1076645_regulamento_30-12-2025.txt; política de investimento / condições de aquisição;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Natureza dos recebíveis · Financiamento de sistemas solares, representado por CCBs. · Fundos.NET ID 1202319; referência 21/05/2026; data/raw/57028406000108/1202319_regulamento_21-05-2026.txt; política de investimento / condições de aquisição;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Natureza dos recebíveis · Financiamento de sistemas solares, representado por CCBs. · Fundos.NET ID 1199536; referência 14/05/2026; data/raw/63505455000189/1199536_regulamento_14-05-2026.txt; política de investimento / condições de aquisição;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Natureza dos recebíveis · Financiamento de sistemas solares, representado por CCBs. · Fundos.NET ID 1030295; referência 23/10/2025; data/raw/44909456000144/1030295_regulamento_23-10-2025.txt; política de investimento / condições de aquisição; https://fnet.bmfbovespa.com.br/fnet/publico/exibirDocumento?id=1030295&amp;cvm=true · Observação: Conclusão documental; validade limitada à versão citada e às ressalvas desta revisão.</a:t>
            </a:r>
          </a:p>
          <a:p>
            <a:r>
              <a:t>CNPJ 36771685000117 · Originador/endossante · Solfácil origina pela plataforma; instituições financeiras endossantes nos termos da versão contratual. · Fundos.NET ID 790882; referência 16/11/2024; data/raw/36771685000117/790882_regulamento_16-11-2024.txt; definições de Originador, Endossante e Instituição Financeira Parceira; https://fnet.bmfbovespa.com.br/fnet/publico/exibirDocumento?id=790882&amp;cvm=true · Observação: Identidade dos endossantes depende da versão do contrato; não inferida do nome do fundo.</a:t>
            </a:r>
          </a:p>
          <a:p>
            <a:r>
              <a:t>CNPJ 47240785000133 · Originador/endossante · Solfácil origina pela plataforma; instituições financeiras endossantes nos termos da versão contratual. · Fundos.NET ID 791217; referência 19/11/2024; data/raw/47240785000133/791217_regulamento_19-11-2024.txt; definições de Originador, Endossante e Instituição Financeira Parceira; https://fnet.bmfbovespa.com.br/fnet/publico/exibirDocumento?id=791217&amp;cvm=true · Observação: Identidade dos endossantes depende da versão do contrato; não inferida do nome do fundo.</a:t>
            </a:r>
          </a:p>
          <a:p>
            <a:r>
              <a:t>CNPJ 42462306000100 · Originador/endossante · Solfácil origina pela plataforma; instituições financeiras endossantes nos termos da versão contratual. · Fundos.NET ID 896879; referência 05/05/2025; data/raw/42462306000100/896879_regulamento_05-05-2025.txt; definições de Originador, Endossante e Instituição Financeira Parceira; https://fnet.bmfbovespa.com.br/fnet/publico/exibirDocumento?id=896879&amp;cvm=true · Observação: Identidade dos endossantes depende da versão do contrato; não inferida do nome do fundo.</a:t>
            </a:r>
          </a:p>
          <a:p>
            <a:r>
              <a:t>CNPJ 49920525000134 · Originador/endossante · Solfácil origina pela plataforma; instituições financeiras endossantes nos termos da versão contratual. · Fundos.NET ID 1076645; referência 30/12/2025; data/raw/49920525000134/1076645_regulamento_30-12-2025.txt; definições de Originador, Endossante e Instituição Financeira Parceira; https://fnet.bmfbovespa.com.br/fnet/publico/exibirDocumento?id=1076645&amp;cvm=true · Observação: Identidade dos endossantes depende da versão do contrato; não inferida do nome do fundo.</a:t>
            </a:r>
          </a:p>
          <a:p>
            <a:r>
              <a:t>CNPJ 57028406000108 · Originador/endossante · Solfácil origina pela plataforma; instituições financeiras endossantes nos termos da versão contratual. · Fundos.NET ID 1202319; referência 21/05/2026; data/raw/57028406000108/1202319_regulamento_21-05-2026.txt; definições de Originador, Endossante e Instituição Financeira Parceira; https://fnet.bmfbovespa.com.br/fnet/publico/exibirDocumento?id=1202319&amp;cvm=true · Observação: Identidade dos endossantes depende da versão do contrato; não inferida do nome do fundo.</a:t>
            </a:r>
          </a:p>
          <a:p>
            <a:r>
              <a:t>CNPJ 63505455000189 · Originador/endossante · Solfácil origina pela plataforma; instituições financeiras endossantes nos termos da versão contratual. · Fundos.NET ID 1199536; referência 14/05/2026; data/raw/63505455000189/1199536_regulamento_14-05-2026.txt; definições de Originador, Endossante e Instituição Financeira Parceira; https://fnet.bmfbovespa.com.br/fnet/publico/exibirDocumento?id=1199536&amp;cvm=true · Observação: Identidade dos endossantes depende da versão do contrato; não inferida do nome do fundo.</a:t>
            </a:r>
          </a:p>
          <a:p>
            <a:r>
              <a:t>CNPJ 44909456000144 · Originador/endossante · Solfácil origina pela plataforma; instituições financeiras endossantes nos termos da versão contratual. · Fundos.NET ID 1030295; referência 23/10/2025; data/raw/44909456000144/1030295_regulamento_23-10-2025.txt; definições de Originador, Endossante e Instituição Financeira Parceira; https://fnet.bmfbovespa.com.br/fnet/publico/exibirDocumento?id=1030295&amp;cvm=true · Observação: Identidade dos endossantes depende da versão do contrato; não inferida do nome do fundo.</a:t>
            </a:r>
          </a:p>
          <a:p>
            <a:r>
              <a:t>CNPJ 36771685000117 · Devedor · Pessoas físicas e jurídicas que financiam sistemas solares. · Fundos.NET ID 790882; referência 16/11/2024; data/raw/36771685000117/790882_regulamento_16-11-2024.txt; definições de Devedores e Financiamento Solar;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Devedor · Pessoas físicas e jurídicas que financiam sistemas solares. · Fundos.NET ID 791217; referência 19/11/2024; data/raw/47240785000133/791217_regulamento_19-11-2024.txt; definições de Devedores e Financiamento Solar;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Devedor · Pessoas físicas e jurídicas que financiam sistemas solares. · Fundos.NET ID 896879; referência 05/05/2025; data/raw/42462306000100/896879_regulamento_05-05-2025.txt; definições de Devedores e Financiamento Solar;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Devedor · Pessoas físicas e jurídicas que financiam sistemas solares. · Fundos.NET ID 1076645; referência 30/12/2025; data/raw/49920525000134/1076645_regulamento_30-12-2025.txt; definições de Devedores e Financiamento Solar;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Devedor · Pessoas físicas e jurídicas que financiam sistemas solares. · Fundos.NET ID 1202319; referência 21/05/2026; data/raw/57028406000108/1202319_regulamento_21-05-2026.txt; definições de Devedores e Financiamento Solar;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Devedor · Pessoas físicas e jurídicas que financiam sistemas solares. · Fundos.NET ID 1199536; referência 14/05/2026; data/raw/63505455000189/1199536_regulamento_14-05-2026.txt; definições de Devedores e Financiamento Solar;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Devedor · Pessoas físicas e jurídicas que financiam sistemas solares. · Fundos.NET ID 1030295; referência 23/10/2025; data/raw/44909456000144/1030295_regulamento_23-10-2025.txt; definições de Devedores e Financiamento Solar; https://fnet.bmfbovespa.com.br/fnet/publico/exibirDocumento?id=1030295&amp;cvm=true · Observação: Conclusão documental; validade limitada à versão citada e às ressalvas desta revisão.</a:t>
            </a:r>
          </a:p>
          <a:p>
            <a:r>
              <a:t>CNPJ 36771685000117 · Garantia · Equipamentos solares em alienação fiduciária; formalização e registro sujeitos às condições contratuais. · Fundos.NET ID 790882; referência 16/11/2024; data/raw/36771685000117/790882_regulamento_16-11-2024.txt; condições de cessão / definições de Equipamentos; https://fnet.bmfbovespa.com.br/fnet/publico/exibirDocumento?id=790882&amp;cvm=true · Observação: Não equivale a garantia de recuperação integral; registro e lastro exigem documentos individualizados.</a:t>
            </a:r>
          </a:p>
          <a:p>
            <a:r>
              <a:t>CNPJ 47240785000133 · Garantia · Equipamentos solares em alienação fiduciária; formalização e registro sujeitos às condições contratuais. · Fundos.NET ID 791217; referência 19/11/2024; data/raw/47240785000133/791217_regulamento_19-11-2024.txt; condições de cessão / definições de Equipamentos; https://fnet.bmfbovespa.com.br/fnet/publico/exibirDocumento?id=791217&amp;cvm=true · Observação: Não equivale a garantia de recuperação integral; registro e lastro exigem documentos individualizados.</a:t>
            </a:r>
          </a:p>
          <a:p>
            <a:r>
              <a:t>CNPJ 42462306000100 · Garantia · Equipamentos solares em alienação fiduciária; formalização e registro sujeitos às condições contratuais. · Fundos.NET ID 896879; referência 05/05/2025; data/raw/42462306000100/896879_regulamento_05-05-2025.txt; condições de cessão / definições de Equipamentos; https://fnet.bmfbovespa.com.br/fnet/publico/exibirDocumento?id=896879&amp;cvm=true · Observação: Não equivale a garantia de recuperação integral; registro e lastro exigem documentos individualizados.</a:t>
            </a:r>
          </a:p>
          <a:p>
            <a:r>
              <a:t>CNPJ 49920525000134 · Garantia · Equipamentos solares em alienação fiduciária; formalização e registro sujeitos às condições contratuais. · Fundos.NET ID 1076645; referência 30/12/2025; data/raw/49920525000134/1076645_regulamento_30-12-2025.txt; condições de cessão / definições de Equipamentos; https://fnet.bmfbovespa.com.br/fnet/publico/exibirDocumento?id=1076645&amp;cvm=true · Observação: Não equivale a garantia de recuperação integral; registro e lastro exigem documentos individualizados.</a:t>
            </a:r>
          </a:p>
          <a:p>
            <a:r>
              <a:t>CNPJ 57028406000108 · Garantia · Equipamentos solares em alienação fiduciária; formalização e registro sujeitos às condições contratuais. · Fundos.NET ID 1202319; referência 21/05/2026; data/raw/57028406000108/1202319_regulamento_21-05-2026.txt; condições de cessão / definições de Equipamentos; https://fnet.bmfbovespa.com.br/fnet/publico/exibirDocumento?id=1202319&amp;cvm=true · Observação: Não equivale a garantia de recuperação integral; registro e lastro exigem documentos individualizados.</a:t>
            </a:r>
          </a:p>
          <a:p>
            <a:r>
              <a:t>CNPJ 63505455000189 · Garantia · Equipamentos solares em alienação fiduciária; formalização e registro sujeitos às condições contratuais. · Fundos.NET ID 1199536; referência 14/05/2026; data/raw/63505455000189/1199536_regulamento_14-05-2026.txt; condições de cessão / definições de Equipamentos; https://fnet.bmfbovespa.com.br/fnet/publico/exibirDocumento?id=1199536&amp;cvm=true · Observação: Não equivale a garantia de recuperação integral; registro e lastro exigem documentos individualizados.</a:t>
            </a:r>
          </a:p>
          <a:p>
            <a:r>
              <a:t>CNPJ 44909456000144 · Garantia · Equipamentos solares em alienação fiduciária; formalização e registro sujeitos às condições contratuais. · Fundos.NET ID 1030295; referência 23/10/2025; data/raw/44909456000144/1030295_regulamento_23-10-2025.txt; condições de cessão / definições de Equipamentos; https://fnet.bmfbovespa.com.br/fnet/publico/exibirDocumento?id=1030295&amp;cvm=true · Observação: Não equivale a garantia de recuperação integral; registro e lastro exigem documentos individualizados.</a:t>
            </a:r>
          </a:p>
          <a:p>
            <a:r>
              <a:t>CNPJ 36771685000117 · Elegibilidade · Adimplente; PF até 70 anos; prazo médio até 2.135 dias; prazo individual até 3.836 dias; preço PF até R$ 201 mil/PJ R$ 502 mil. · Fundos.NET ID 790882; referência 16/11/2024; data/raw/36771685000117/790882_regulamento_16-11-2024.txt; pp.53–56, 9.1; https://fnet.bmfbovespa.com.br/fnet/publico/exibirDocumento?id=790882&amp;cvm=true · Observação: Tickets expressos em preço de aquisição, diferentes dos tetos nominais de III/VI/VII.</a:t>
            </a:r>
          </a:p>
          <a:p>
            <a:r>
              <a:t>CNPJ 47240785000133 · Elegibilidade · CCBs e CPR financeiras; PF/PJ; prazo médio 2.400 dias, individual 4.760 dias; preço PF R$ 500 mil/PJ R$ 700 mil. · Fundos.NET ID 791217; referência 19/11/2024; data/raw/47240785000133/791217_regulamento_19-11-2024.txt; pp.54–57, critérios de elegibilidade;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Elegibilidade · Adimplente; PF até 70 anos/PJ ≥2 anos; carência do crédito até 180 dias; nominal PF R$ 300 mil/PJ R$ 500 mil; prazo médio 2.400 dias. · Fundos.NET ID 896879; referência 05/05/2025; data/raw/42462306000100/896879_regulamento_05-05-2025.txt; critérios 9.1; https://fnet.bmfbovespa.com.br/fnet/publico/exibirDocumento?id=896879&amp;cvm=true · Observação: Crédito prefixado e flutuante têm prazos próprios; teto individual prefixado 2.340 dias e flutuante 4.500 dias.</a:t>
            </a:r>
          </a:p>
          <a:p>
            <a:r>
              <a:t>CNPJ 49920525000134 · Elegibilidade · Adimplente; PF até 71 anos/PJ ≥2 anos; carência até 185 dias; nominal PF R$ 350 mil/PJ R$ 600 mil; prazo médio 2.000 dias. · Fundos.NET ID 1076645; referência 30/12/2025; data/raw/49920525000134/1076645_regulamento_30-12-2025.txt; pp.88–89, 14.2; https://fnet.bmfbovespa.com.br/fnet/publico/exibirDocumento?id=1076645&amp;cvm=true · Observação: Política de originação pp.118–119 contém limites diferentes: PF R$ 300 mil/PJ R$ 500 mil e prazo de 150 meses. Preservar camadas e reconciliar contrato efetivo.</a:t>
            </a:r>
          </a:p>
          <a:p>
            <a:r>
              <a:t>CNPJ 57028406000108 · Elegibilidade · CCBs prefixadas em reais, adimplentes; prazo médio ≤2.400 dias; original ≤126 meses; carência ≤185 dias; nominal PF R$ 350 mil/PJ R$ 700 mil. · Fundos.NET ID 1202319; referência 21/05/2026; data/raw/57028406000108/1202319_regulamento_21-05-2026.txt; pp.108–110, condições/critério de aquisição;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Elegibilidade · CCBs prefixadas em reais, adimplentes; prazo médio ≤2.400 dias; original ≤126 meses; carência ≤185 dias; nominal PF R$ 350 mil/PJ R$ 700 mil. · Fundos.NET ID 1199536; referência 14/05/2026; data/raw/63505455000189/1199536_regulamento_14-05-2026.txt; pp.113–116, condições/critério de aquisição;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Elegibilidade · CCBs para sistemas solares; condições de cessão e integridade do lastro previstas no contrato. · Fundos.NET ID 1030295; referência 23/10/2025; data/raw/44909456000144/1030295_regulamento_23-10-2025.txt; pp.20–26, condições de aquisição; https://fnet.bmfbovespa.com.br/fnet/publico/exibirDocumento?id=1030295&amp;cvm=true · Observação: Conclusão documental; validade limitada à versão citada e às ressalvas desta revisão.</a:t>
            </a:r>
          </a:p>
          <a:p>
            <a:r>
              <a:t>CNPJ 36771685000117 · Concentração · Devedor até 2%/PL e top 10 até 10%/PL após PL de R$ 50 mi; integrador solar até 10%/PL. · Fundos.NET ID 790882; referência 16/11/2024; data/raw/36771685000117/790882_regulamento_16-11-2024.txt; pp.53,55–56;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Concentração · Devedor ≤2%/PL; top 10 ≤10%/PL; prefixados ≤15%/PL; tickets PF &gt;R$ 350 mil/PJ &gt;R$ 550 mil com limites agregados de 1%/PL. · Fundos.NET ID 791217; referência 19/11/2024; data/raw/47240785000133/791217_regulamento_19-11-2024.txt; pp.54–57; https://fnet.bmfbovespa.com.br/fnet/publico/exibirDocumento?id=791217&amp;cvm=true · Observação: Teto de prefixados não representa automaticamente teto de CPR financeiras.</a:t>
            </a:r>
          </a:p>
          <a:p>
            <a:r>
              <a:t>CNPJ 42462306000100 · Concentração · Limites por devedor/grupo e carteira constam das condições de cessão; exige controle individualizado. · Fundos.NET ID 896879; referência 05/05/2025; data/raw/42462306000100/896879_regulamento_05-05-2025.txt; capítulo 9, critérios e condições de cessão; https://fnet.bmfbovespa.com.br/fnet/publico/exibirDocumento?id=896879&amp;cvm=true · Observação: Não monitorável pelo IME público; limites individualizados não foram transcritos sem validação da fórmula.</a:t>
            </a:r>
          </a:p>
          <a:p>
            <a:r>
              <a:t>CNPJ 49920525000134 · Concentração · Devedor ≤0,10%/PL; top 10 ≤1%/PL; taxa mínima dos créditos 23% a.a. · Fundos.NET ID 1076645; referência 30/12/2025; data/raw/49920525000134/1076645_regulamento_30-12-2025.txt; pp.88–89, 14.2;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Concentração · Limite nominal também agregado por devedor: PF R$ 350 mil/PJ R$ 700 mil; preço ≤101% do saldo contábil. · Fundos.NET ID 1202319; referência 21/05/2026; data/raw/57028406000108/1202319_regulamento_21-05-2026.txt; pp.108–110; https://fnet.bmfbovespa.com.br/fnet/publico/exibirDocumento?id=1202319&amp;cvm=true · Observação: Monitorar contratos e devedor individual; IME público não oferece essa granularidade.</a:t>
            </a:r>
          </a:p>
          <a:p>
            <a:r>
              <a:t>CNPJ 63505455000189 · Concentração · Limite nominal também agregado por devedor: PF R$ 350 mil/PJ R$ 700 mil; preço ≤104% do saldo contábil. · Fundos.NET ID 1199536; referência 14/05/2026; data/raw/63505455000189/1199536_regulamento_14-05-2026.txt; pp.113–116; https://fnet.bmfbovespa.com.br/fnet/publico/exibirDocumento?id=1199536&amp;cvm=true · Observação: Monitorar contratos e devedor individual; IME público não oferece essa granularidade.</a:t>
            </a:r>
          </a:p>
          <a:p>
            <a:r>
              <a:t>CNPJ 44909456000144 · Concentração · Limites individuais/por grupo não transcritos sem reconciliação dos anexos da versão vigente. · Fundos.NET ID 1030295; referência 23/10/2025; data/raw/44909456000144/1030295_regulamento_23-10-2025.txt; pp.20–26, condições de cessão; https://fnet.bmfbovespa.com.br/fnet/publico/exibirDocumento?id=1030295&amp;cvm=true · Observação: Lacuna desta revisão; não equivale a ausência de limite contratual.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2026-10-07T14:46:12-03:00</a:t>
            </a:r>
          </a:p>
          <a:p>
            <a:r>
              <a:t>Solfácil I: CNPJ 36771685000117</a:t>
            </a:r>
          </a:p>
          <a:p>
            <a:r>
              <a:t>Solfácil V: CNPJ 47240785000133</a:t>
            </a:r>
          </a:p>
          <a:p>
            <a:r>
              <a:t>Solfácil II: CNPJ 42462306000100</a:t>
            </a:r>
          </a:p>
          <a:p>
            <a:r>
              <a:t>Solfácil III: CNPJ 49920525000134</a:t>
            </a:r>
          </a:p>
          <a:p>
            <a:r>
              <a:t>Solfácil VI: CNPJ 57028406000108</a:t>
            </a:r>
          </a:p>
          <a:p>
            <a:r>
              <a:t>Solfácil VII: CNPJ 63505455000189</a:t>
            </a:r>
          </a:p>
          <a:p>
            <a:r>
              <a:t>Solfácil IV: CNPJ 44909456000144</a:t>
            </a:r>
          </a:p>
          <a:p>
            <a:r>
              <a:t>Fontes:</a:t>
            </a:r>
          </a:p>
          <a:p>
            <a:r>
              <a:t>CNPJ 36771685000117 · Natureza dos recebíveis · Financiamento de sistemas solares, representado por CCBs. · Fundos.NET ID 790882; referência 16/11/2024; data/raw/36771685000117/790882_regulamento_16-11-2024.txt; política de investimento / condições de aquisição;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Natureza dos recebíveis · Financiamento de sistemas solares, representado por CCBs e CPR financeiras. · Fundos.NET ID 791217; referência 19/11/2024; data/raw/47240785000133/791217_regulamento_19-11-2024.txt; política de investimento / condições de aquisição;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Natureza dos recebíveis · Financiamento de sistemas solares, representado por CCBs. · Fundos.NET ID 896879; referência 05/05/2025; data/raw/42462306000100/896879_regulamento_05-05-2025.txt; política de investimento / condições de aquisição;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Natureza dos recebíveis · Financiamento de sistemas solares, representado por CCBs. · Fundos.NET ID 1076645; referência 30/12/2025; data/raw/49920525000134/1076645_regulamento_30-12-2025.txt; política de investimento / condições de aquisição;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Natureza dos recebíveis · Financiamento de sistemas solares, representado por CCBs. · Fundos.NET ID 1202319; referência 21/05/2026; data/raw/57028406000108/1202319_regulamento_21-05-2026.txt; política de investimento / condições de aquisição;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Natureza dos recebíveis · Financiamento de sistemas solares, representado por CCBs. · Fundos.NET ID 1199536; referência 14/05/2026; data/raw/63505455000189/1199536_regulamento_14-05-2026.txt; política de investimento / condições de aquisição;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Natureza dos recebíveis · Financiamento de sistemas solares, representado por CCBs. · Fundos.NET ID 1030295; referência 23/10/2025; data/raw/44909456000144/1030295_regulamento_23-10-2025.txt; política de investimento / condições de aquisição; https://fnet.bmfbovespa.com.br/fnet/publico/exibirDocumento?id=1030295&amp;cvm=true · Observação: Conclusão documental; validade limitada à versão citada e às ressalvas desta revisão.</a:t>
            </a:r>
          </a:p>
          <a:p>
            <a:r>
              <a:t>CNPJ 36771685000117 · Originador/endossante · Solfácil origina pela plataforma; instituições financeiras endossantes nos termos da versão contratual. · Fundos.NET ID 790882; referência 16/11/2024; data/raw/36771685000117/790882_regulamento_16-11-2024.txt; definições de Originador, Endossante e Instituição Financeira Parceira; https://fnet.bmfbovespa.com.br/fnet/publico/exibirDocumento?id=790882&amp;cvm=true · Observação: Identidade dos endossantes depende da versão do contrato; não inferida do nome do fundo.</a:t>
            </a:r>
          </a:p>
          <a:p>
            <a:r>
              <a:t>CNPJ 47240785000133 · Originador/endossante · Solfácil origina pela plataforma; instituições financeiras endossantes nos termos da versão contratual. · Fundos.NET ID 791217; referência 19/11/2024; data/raw/47240785000133/791217_regulamento_19-11-2024.txt; definições de Originador, Endossante e Instituição Financeira Parceira; https://fnet.bmfbovespa.com.br/fnet/publico/exibirDocumento?id=791217&amp;cvm=true · Observação: Identidade dos endossantes depende da versão do contrato; não inferida do nome do fundo.</a:t>
            </a:r>
          </a:p>
          <a:p>
            <a:r>
              <a:t>CNPJ 42462306000100 · Originador/endossante · Solfácil origina pela plataforma; instituições financeiras endossantes nos termos da versão contratual. · Fundos.NET ID 896879; referência 05/05/2025; data/raw/42462306000100/896879_regulamento_05-05-2025.txt; definições de Originador, Endossante e Instituição Financeira Parceira; https://fnet.bmfbovespa.com.br/fnet/publico/exibirDocumento?id=896879&amp;cvm=true · Observação: Identidade dos endossantes depende da versão do contrato; não inferida do nome do fundo.</a:t>
            </a:r>
          </a:p>
          <a:p>
            <a:r>
              <a:t>CNPJ 49920525000134 · Originador/endossante · Solfácil origina pela plataforma; instituições financeiras endossantes nos termos da versão contratual. · Fundos.NET ID 1076645; referência 30/12/2025; data/raw/49920525000134/1076645_regulamento_30-12-2025.txt; definições de Originador, Endossante e Instituição Financeira Parceira; https://fnet.bmfbovespa.com.br/fnet/publico/exibirDocumento?id=1076645&amp;cvm=true · Observação: Identidade dos endossantes depende da versão do contrato; não inferida do nome do fundo.</a:t>
            </a:r>
          </a:p>
          <a:p>
            <a:r>
              <a:t>CNPJ 57028406000108 · Originador/endossante · Solfácil origina pela plataforma; instituições financeiras endossantes nos termos da versão contratual. · Fundos.NET ID 1202319; referência 21/05/2026; data/raw/57028406000108/1202319_regulamento_21-05-2026.txt; definições de Originador, Endossante e Instituição Financeira Parceira; https://fnet.bmfbovespa.com.br/fnet/publico/exibirDocumento?id=1202319&amp;cvm=true · Observação: Identidade dos endossantes depende da versão do contrato; não inferida do nome do fundo.</a:t>
            </a:r>
          </a:p>
          <a:p>
            <a:r>
              <a:t>CNPJ 63505455000189 · Originador/endossante · Solfácil origina pela plataforma; instituições financeiras endossantes nos termos da versão contratual. · Fundos.NET ID 1199536; referência 14/05/2026; data/raw/63505455000189/1199536_regulamento_14-05-2026.txt; definições de Originador, Endossante e Instituição Financeira Parceira; https://fnet.bmfbovespa.com.br/fnet/publico/exibirDocumento?id=1199536&amp;cvm=true · Observação: Identidade dos endossantes depende da versão do contrato; não inferida do nome do fundo.</a:t>
            </a:r>
          </a:p>
          <a:p>
            <a:r>
              <a:t>CNPJ 44909456000144 · Originador/endossante · Solfácil origina pela plataforma; instituições financeiras endossantes nos termos da versão contratual. · Fundos.NET ID 1030295; referência 23/10/2025; data/raw/44909456000144/1030295_regulamento_23-10-2025.txt; definições de Originador, Endossante e Instituição Financeira Parceira; https://fnet.bmfbovespa.com.br/fnet/publico/exibirDocumento?id=1030295&amp;cvm=true · Observação: Identidade dos endossantes depende da versão do contrato; não inferida do nome do fundo.</a:t>
            </a:r>
          </a:p>
          <a:p>
            <a:r>
              <a:t>CNPJ 36771685000117 · Devedor · Pessoas físicas e jurídicas que financiam sistemas solares. · Fundos.NET ID 790882; referência 16/11/2024; data/raw/36771685000117/790882_regulamento_16-11-2024.txt; definições de Devedores e Financiamento Solar;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Devedor · Pessoas físicas e jurídicas que financiam sistemas solares. · Fundos.NET ID 791217; referência 19/11/2024; data/raw/47240785000133/791217_regulamento_19-11-2024.txt; definições de Devedores e Financiamento Solar;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Devedor · Pessoas físicas e jurídicas que financiam sistemas solares. · Fundos.NET ID 896879; referência 05/05/2025; data/raw/42462306000100/896879_regulamento_05-05-2025.txt; definições de Devedores e Financiamento Solar;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Devedor · Pessoas físicas e jurídicas que financiam sistemas solares. · Fundos.NET ID 1076645; referência 30/12/2025; data/raw/49920525000134/1076645_regulamento_30-12-2025.txt; definições de Devedores e Financiamento Solar;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Devedor · Pessoas físicas e jurídicas que financiam sistemas solares. · Fundos.NET ID 1202319; referência 21/05/2026; data/raw/57028406000108/1202319_regulamento_21-05-2026.txt; definições de Devedores e Financiamento Solar;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Devedor · Pessoas físicas e jurídicas que financiam sistemas solares. · Fundos.NET ID 1199536; referência 14/05/2026; data/raw/63505455000189/1199536_regulamento_14-05-2026.txt; definições de Devedores e Financiamento Solar;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Devedor · Pessoas físicas e jurídicas que financiam sistemas solares. · Fundos.NET ID 1030295; referência 23/10/2025; data/raw/44909456000144/1030295_regulamento_23-10-2025.txt; definições de Devedores e Financiamento Solar; https://fnet.bmfbovespa.com.br/fnet/publico/exibirDocumento?id=1030295&amp;cvm=true · Observação: Conclusão documental; validade limitada à versão citada e às ressalvas desta revisão.</a:t>
            </a:r>
          </a:p>
          <a:p>
            <a:r>
              <a:t>CNPJ 36771685000117 · Garantia · Equipamentos solares em alienação fiduciária; formalização e registro sujeitos às condições contratuais. · Fundos.NET ID 790882; referência 16/11/2024; data/raw/36771685000117/790882_regulamento_16-11-2024.txt; condições de cessão / definições de Equipamentos; https://fnet.bmfbovespa.com.br/fnet/publico/exibirDocumento?id=790882&amp;cvm=true · Observação: Não equivale a garantia de recuperação integral; registro e lastro exigem documentos individualizados.</a:t>
            </a:r>
          </a:p>
          <a:p>
            <a:r>
              <a:t>CNPJ 47240785000133 · Garantia · Equipamentos solares em alienação fiduciária; formalização e registro sujeitos às condições contratuais. · Fundos.NET ID 791217; referência 19/11/2024; data/raw/47240785000133/791217_regulamento_19-11-2024.txt; condições de cessão / definições de Equipamentos; https://fnet.bmfbovespa.com.br/fnet/publico/exibirDocumento?id=791217&amp;cvm=true · Observação: Não equivale a garantia de recuperação integral; registro e lastro exigem documentos individualizados.</a:t>
            </a:r>
          </a:p>
          <a:p>
            <a:r>
              <a:t>CNPJ 42462306000100 · Garantia · Equipamentos solares em alienação fiduciária; formalização e registro sujeitos às condições contratuais. · Fundos.NET ID 896879; referência 05/05/2025; data/raw/42462306000100/896879_regulamento_05-05-2025.txt; condições de cessão / definições de Equipamentos; https://fnet.bmfbovespa.com.br/fnet/publico/exibirDocumento?id=896879&amp;cvm=true · Observação: Não equivale a garantia de recuperação integral; registro e lastro exigem documentos individualizados.</a:t>
            </a:r>
          </a:p>
          <a:p>
            <a:r>
              <a:t>CNPJ 49920525000134 · Garantia · Equipamentos solares em alienação fiduciária; formalização e registro sujeitos às condições contratuais. · Fundos.NET ID 1076645; referência 30/12/2025; data/raw/49920525000134/1076645_regulamento_30-12-2025.txt; condições de cessão / definições de Equipamentos; https://fnet.bmfbovespa.com.br/fnet/publico/exibirDocumento?id=1076645&amp;cvm=true · Observação: Não equivale a garantia de recuperação integral; registro e lastro exigem documentos individualizados.</a:t>
            </a:r>
          </a:p>
          <a:p>
            <a:r>
              <a:t>CNPJ 57028406000108 · Garantia · Equipamentos solares em alienação fiduciária; formalização e registro sujeitos às condições contratuais. · Fundos.NET ID 1202319; referência 21/05/2026; data/raw/57028406000108/1202319_regulamento_21-05-2026.txt; condições de cessão / definições de Equipamentos; https://fnet.bmfbovespa.com.br/fnet/publico/exibirDocumento?id=1202319&amp;cvm=true · Observação: Não equivale a garantia de recuperação integral; registro e lastro exigem documentos individualizados.</a:t>
            </a:r>
          </a:p>
          <a:p>
            <a:r>
              <a:t>CNPJ 63505455000189 · Garantia · Equipamentos solares em alienação fiduciária; formalização e registro sujeitos às condições contratuais. · Fundos.NET ID 1199536; referência 14/05/2026; data/raw/63505455000189/1199536_regulamento_14-05-2026.txt; condições de cessão / definições de Equipamentos; https://fnet.bmfbovespa.com.br/fnet/publico/exibirDocumento?id=1199536&amp;cvm=true · Observação: Não equivale a garantia de recuperação integral; registro e lastro exigem documentos individualizados.</a:t>
            </a:r>
          </a:p>
          <a:p>
            <a:r>
              <a:t>CNPJ 44909456000144 · Garantia · Equipamentos solares em alienação fiduciária; formalização e registro sujeitos às condições contratuais. · Fundos.NET ID 1030295; referência 23/10/2025; data/raw/44909456000144/1030295_regulamento_23-10-2025.txt; condições de cessão / definições de Equipamentos; https://fnet.bmfbovespa.com.br/fnet/publico/exibirDocumento?id=1030295&amp;cvm=true · Observação: Não equivale a garantia de recuperação integral; registro e lastro exigem documentos individualizados.</a:t>
            </a:r>
          </a:p>
          <a:p>
            <a:r>
              <a:t>CNPJ 36771685000117 · Elegibilidade · Adimplente; PF até 70 anos; prazo médio até 2.135 dias; prazo individual até 3.836 dias; preço PF até R$ 201 mil/PJ R$ 502 mil. · Fundos.NET ID 790882; referência 16/11/2024; data/raw/36771685000117/790882_regulamento_16-11-2024.txt; pp.53–56, 9.1; https://fnet.bmfbovespa.com.br/fnet/publico/exibirDocumento?id=790882&amp;cvm=true · Observação: Tickets expressos em preço de aquisição, diferentes dos tetos nominais de III/VI/VII.</a:t>
            </a:r>
          </a:p>
          <a:p>
            <a:r>
              <a:t>CNPJ 47240785000133 · Elegibilidade · CCBs e CPR financeiras; PF/PJ; prazo médio 2.400 dias, individual 4.760 dias; preço PF R$ 500 mil/PJ R$ 700 mil. · Fundos.NET ID 791217; referência 19/11/2024; data/raw/47240785000133/791217_regulamento_19-11-2024.txt; pp.54–57, critérios de elegibilidade;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Elegibilidade · Adimplente; PF até 70 anos/PJ ≥2 anos; carência do crédito até 180 dias; nominal PF R$ 300 mil/PJ R$ 500 mil; prazo médio 2.400 dias. · Fundos.NET ID 896879; referência 05/05/2025; data/raw/42462306000100/896879_regulamento_05-05-2025.txt; critérios 9.1; https://fnet.bmfbovespa.com.br/fnet/publico/exibirDocumento?id=896879&amp;cvm=true · Observação: Crédito prefixado e flutuante têm prazos próprios; teto individual prefixado 2.340 dias e flutuante 4.500 dias.</a:t>
            </a:r>
          </a:p>
          <a:p>
            <a:r>
              <a:t>CNPJ 49920525000134 · Elegibilidade · Adimplente; PF até 71 anos/PJ ≥2 anos; carência até 185 dias; nominal PF R$ 350 mil/PJ R$ 600 mil; prazo médio 2.000 dias. · Fundos.NET ID 1076645; referência 30/12/2025; data/raw/49920525000134/1076645_regulamento_30-12-2025.txt; pp.88–89, 14.2; https://fnet.bmfbovespa.com.br/fnet/publico/exibirDocumento?id=1076645&amp;cvm=true · Observação: Política de originação pp.118–119 contém limites diferentes: PF R$ 300 mil/PJ R$ 500 mil e prazo de 150 meses. Preservar camadas e reconciliar contrato efetivo.</a:t>
            </a:r>
          </a:p>
          <a:p>
            <a:r>
              <a:t>CNPJ 57028406000108 · Elegibilidade · CCBs prefixadas em reais, adimplentes; prazo médio ≤2.400 dias; original ≤126 meses; carência ≤185 dias; nominal PF R$ 350 mil/PJ R$ 700 mil. · Fundos.NET ID 1202319; referência 21/05/2026; data/raw/57028406000108/1202319_regulamento_21-05-2026.txt; pp.108–110, condições/critério de aquisição;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Elegibilidade · CCBs prefixadas em reais, adimplentes; prazo médio ≤2.400 dias; original ≤126 meses; carência ≤185 dias; nominal PF R$ 350 mil/PJ R$ 700 mil. · Fundos.NET ID 1199536; referência 14/05/2026; data/raw/63505455000189/1199536_regulamento_14-05-2026.txt; pp.113–116, condições/critério de aquisição;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Elegibilidade · CCBs para sistemas solares; condições de cessão e integridade do lastro previstas no contrato. · Fundos.NET ID 1030295; referência 23/10/2025; data/raw/44909456000144/1030295_regulamento_23-10-2025.txt; pp.20–26, condições de aquisição; https://fnet.bmfbovespa.com.br/fnet/publico/exibirDocumento?id=1030295&amp;cvm=true · Observação: Conclusão documental; validade limitada à versão citada e às ressalvas desta revisão.</a:t>
            </a:r>
          </a:p>
          <a:p>
            <a:r>
              <a:t>CNPJ 36771685000117 · Concentração · Devedor até 2%/PL e top 10 até 10%/PL após PL de R$ 50 mi; integrador solar até 10%/PL. · Fundos.NET ID 790882; referência 16/11/2024; data/raw/36771685000117/790882_regulamento_16-11-2024.txt; pp.53,55–56;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Concentração · Devedor ≤2%/PL; top 10 ≤10%/PL; prefixados ≤15%/PL; tickets PF &gt;R$ 350 mil/PJ &gt;R$ 550 mil com limites agregados de 1%/PL. · Fundos.NET ID 791217; referência 19/11/2024; data/raw/47240785000133/791217_regulamento_19-11-2024.txt; pp.54–57; https://fnet.bmfbovespa.com.br/fnet/publico/exibirDocumento?id=791217&amp;cvm=true · Observação: Teto de prefixados não representa automaticamente teto de CPR financeiras.</a:t>
            </a:r>
          </a:p>
          <a:p>
            <a:r>
              <a:t>CNPJ 42462306000100 · Concentração · Limites por devedor/grupo e carteira constam das condições de cessão; exige controle individualizado. · Fundos.NET ID 896879; referência 05/05/2025; data/raw/42462306000100/896879_regulamento_05-05-2025.txt; capítulo 9, critérios e condições de cessão; https://fnet.bmfbovespa.com.br/fnet/publico/exibirDocumento?id=896879&amp;cvm=true · Observação: Não monitorável pelo IME público; limites individualizados não foram transcritos sem validação da fórmula.</a:t>
            </a:r>
          </a:p>
          <a:p>
            <a:r>
              <a:t>CNPJ 49920525000134 · Concentração · Devedor ≤0,10%/PL; top 10 ≤1%/PL; taxa mínima dos créditos 23% a.a. · Fundos.NET ID 1076645; referência 30/12/2025; data/raw/49920525000134/1076645_regulamento_30-12-2025.txt; pp.88–89, 14.2;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Concentração · Limite nominal também agregado por devedor: PF R$ 350 mil/PJ R$ 700 mil; preço ≤101% do saldo contábil. · Fundos.NET ID 1202319; referência 21/05/2026; data/raw/57028406000108/1202319_regulamento_21-05-2026.txt; pp.108–110; https://fnet.bmfbovespa.com.br/fnet/publico/exibirDocumento?id=1202319&amp;cvm=true · Observação: Monitorar contratos e devedor individual; IME público não oferece essa granularidade.</a:t>
            </a:r>
          </a:p>
          <a:p>
            <a:r>
              <a:t>CNPJ 63505455000189 · Concentração · Limite nominal também agregado por devedor: PF R$ 350 mil/PJ R$ 700 mil; preço ≤104% do saldo contábil. · Fundos.NET ID 1199536; referência 14/05/2026; data/raw/63505455000189/1199536_regulamento_14-05-2026.txt; pp.113–116; https://fnet.bmfbovespa.com.br/fnet/publico/exibirDocumento?id=1199536&amp;cvm=true · Observação: Monitorar contratos e devedor individual; IME público não oferece essa granularidade.</a:t>
            </a:r>
          </a:p>
          <a:p>
            <a:r>
              <a:t>CNPJ 44909456000144 · Concentração · Limites individuais/por grupo não transcritos sem reconciliação dos anexos da versão vigente. · Fundos.NET ID 1030295; referência 23/10/2025; data/raw/44909456000144/1030295_regulamento_23-10-2025.txt; pp.20–26, condições de cessão; https://fnet.bmfbovespa.com.br/fnet/publico/exibirDocumento?id=1030295&amp;cvm=true · Observação: Lacuna desta revisão; não equivale a ausência de limite contratual.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2026-10-07T14:46:12-03:00</a:t>
            </a:r>
          </a:p>
          <a:p>
            <a:r>
              <a:t>Solfácil I: CNPJ 36771685000117</a:t>
            </a:r>
          </a:p>
          <a:p>
            <a:r>
              <a:t>Solfácil V: CNPJ 47240785000133</a:t>
            </a:r>
          </a:p>
          <a:p>
            <a:r>
              <a:t>Solfácil II: CNPJ 42462306000100</a:t>
            </a:r>
          </a:p>
          <a:p>
            <a:r>
              <a:t>Solfácil III: CNPJ 49920525000134</a:t>
            </a:r>
          </a:p>
          <a:p>
            <a:r>
              <a:t>Solfácil VI: CNPJ 57028406000108</a:t>
            </a:r>
          </a:p>
          <a:p>
            <a:r>
              <a:t>Solfácil VII: CNPJ 63505455000189</a:t>
            </a:r>
          </a:p>
          <a:p>
            <a:r>
              <a:t>Solfácil IV: CNPJ 44909456000144</a:t>
            </a:r>
          </a:p>
          <a:p>
            <a:r>
              <a:t>Fontes:</a:t>
            </a:r>
          </a:p>
          <a:p>
            <a:r>
              <a:t>CNPJ 36771685000117 · Natureza dos recebíveis · Financiamento de sistemas solares, representado por CCBs. · Fundos.NET ID 790882; referência 16/11/2024; data/raw/36771685000117/790882_regulamento_16-11-2024.txt; política de investimento / condições de aquisição;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Natureza dos recebíveis · Financiamento de sistemas solares, representado por CCBs e CPR financeiras. · Fundos.NET ID 791217; referência 19/11/2024; data/raw/47240785000133/791217_regulamento_19-11-2024.txt; política de investimento / condições de aquisição;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Natureza dos recebíveis · Financiamento de sistemas solares, representado por CCBs. · Fundos.NET ID 896879; referência 05/05/2025; data/raw/42462306000100/896879_regulamento_05-05-2025.txt; política de investimento / condições de aquisição;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Natureza dos recebíveis · Financiamento de sistemas solares, representado por CCBs. · Fundos.NET ID 1076645; referência 30/12/2025; data/raw/49920525000134/1076645_regulamento_30-12-2025.txt; política de investimento / condições de aquisição;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Natureza dos recebíveis · Financiamento de sistemas solares, representado por CCBs. · Fundos.NET ID 1202319; referência 21/05/2026; data/raw/57028406000108/1202319_regulamento_21-05-2026.txt; política de investimento / condições de aquisição;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Natureza dos recebíveis · Financiamento de sistemas solares, representado por CCBs. · Fundos.NET ID 1199536; referência 14/05/2026; data/raw/63505455000189/1199536_regulamento_14-05-2026.txt; política de investimento / condições de aquisição;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Natureza dos recebíveis · Financiamento de sistemas solares, representado por CCBs. · Fundos.NET ID 1030295; referência 23/10/2025; data/raw/44909456000144/1030295_regulamento_23-10-2025.txt; política de investimento / condições de aquisição; https://fnet.bmfbovespa.com.br/fnet/publico/exibirDocumento?id=1030295&amp;cvm=true · Observação: Conclusão documental; validade limitada à versão citada e às ressalvas desta revisão.</a:t>
            </a:r>
          </a:p>
          <a:p>
            <a:r>
              <a:t>CNPJ 36771685000117 · Originador/endossante · Solfácil origina pela plataforma; instituições financeiras endossantes nos termos da versão contratual. · Fundos.NET ID 790882; referência 16/11/2024; data/raw/36771685000117/790882_regulamento_16-11-2024.txt; definições de Originador, Endossante e Instituição Financeira Parceira; https://fnet.bmfbovespa.com.br/fnet/publico/exibirDocumento?id=790882&amp;cvm=true · Observação: Identidade dos endossantes depende da versão do contrato; não inferida do nome do fundo.</a:t>
            </a:r>
          </a:p>
          <a:p>
            <a:r>
              <a:t>CNPJ 47240785000133 · Originador/endossante · Solfácil origina pela plataforma; instituições financeiras endossantes nos termos da versão contratual. · Fundos.NET ID 791217; referência 19/11/2024; data/raw/47240785000133/791217_regulamento_19-11-2024.txt; definições de Originador, Endossante e Instituição Financeira Parceira; https://fnet.bmfbovespa.com.br/fnet/publico/exibirDocumento?id=791217&amp;cvm=true · Observação: Identidade dos endossantes depende da versão do contrato; não inferida do nome do fundo.</a:t>
            </a:r>
          </a:p>
          <a:p>
            <a:r>
              <a:t>CNPJ 42462306000100 · Originador/endossante · Solfácil origina pela plataforma; instituições financeiras endossantes nos termos da versão contratual. · Fundos.NET ID 896879; referência 05/05/2025; data/raw/42462306000100/896879_regulamento_05-05-2025.txt; definições de Originador, Endossante e Instituição Financeira Parceira; https://fnet.bmfbovespa.com.br/fnet/publico/exibirDocumento?id=896879&amp;cvm=true · Observação: Identidade dos endossantes depende da versão do contrato; não inferida do nome do fundo.</a:t>
            </a:r>
          </a:p>
          <a:p>
            <a:r>
              <a:t>CNPJ 49920525000134 · Originador/endossante · Solfácil origina pela plataforma; instituições financeiras endossantes nos termos da versão contratual. · Fundos.NET ID 1076645; referência 30/12/2025; data/raw/49920525000134/1076645_regulamento_30-12-2025.txt; definições de Originador, Endossante e Instituição Financeira Parceira; https://fnet.bmfbovespa.com.br/fnet/publico/exibirDocumento?id=1076645&amp;cvm=true · Observação: Identidade dos endossantes depende da versão do contrato; não inferida do nome do fundo.</a:t>
            </a:r>
          </a:p>
          <a:p>
            <a:r>
              <a:t>CNPJ 57028406000108 · Originador/endossante · Solfácil origina pela plataforma; instituições financeiras endossantes nos termos da versão contratual. · Fundos.NET ID 1202319; referência 21/05/2026; data/raw/57028406000108/1202319_regulamento_21-05-2026.txt; definições de Originador, Endossante e Instituição Financeira Parceira; https://fnet.bmfbovespa.com.br/fnet/publico/exibirDocumento?id=1202319&amp;cvm=true · Observação: Identidade dos endossantes depende da versão do contrato; não inferida do nome do fundo.</a:t>
            </a:r>
          </a:p>
          <a:p>
            <a:r>
              <a:t>CNPJ 63505455000189 · Originador/endossante · Solfácil origina pela plataforma; instituições financeiras endossantes nos termos da versão contratual. · Fundos.NET ID 1199536; referência 14/05/2026; data/raw/63505455000189/1199536_regulamento_14-05-2026.txt; definições de Originador, Endossante e Instituição Financeira Parceira; https://fnet.bmfbovespa.com.br/fnet/publico/exibirDocumento?id=1199536&amp;cvm=true · Observação: Identidade dos endossantes depende da versão do contrato; não inferida do nome do fundo.</a:t>
            </a:r>
          </a:p>
          <a:p>
            <a:r>
              <a:t>CNPJ 44909456000144 · Originador/endossante · Solfácil origina pela plataforma; instituições financeiras endossantes nos termos da versão contratual. · Fundos.NET ID 1030295; referência 23/10/2025; data/raw/44909456000144/1030295_regulamento_23-10-2025.txt; definições de Originador, Endossante e Instituição Financeira Parceira; https://fnet.bmfbovespa.com.br/fnet/publico/exibirDocumento?id=1030295&amp;cvm=true · Observação: Identidade dos endossantes depende da versão do contrato; não inferida do nome do fundo.</a:t>
            </a:r>
          </a:p>
          <a:p>
            <a:r>
              <a:t>CNPJ 36771685000117 · Devedor · Pessoas físicas e jurídicas que financiam sistemas solares. · Fundos.NET ID 790882; referência 16/11/2024; data/raw/36771685000117/790882_regulamento_16-11-2024.txt; definições de Devedores e Financiamento Solar;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Devedor · Pessoas físicas e jurídicas que financiam sistemas solares. · Fundos.NET ID 791217; referência 19/11/2024; data/raw/47240785000133/791217_regulamento_19-11-2024.txt; definições de Devedores e Financiamento Solar;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Devedor · Pessoas físicas e jurídicas que financiam sistemas solares. · Fundos.NET ID 896879; referência 05/05/2025; data/raw/42462306000100/896879_regulamento_05-05-2025.txt; definições de Devedores e Financiamento Solar;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Devedor · Pessoas físicas e jurídicas que financiam sistemas solares. · Fundos.NET ID 1076645; referência 30/12/2025; data/raw/49920525000134/1076645_regulamento_30-12-2025.txt; definições de Devedores e Financiamento Solar;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Devedor · Pessoas físicas e jurídicas que financiam sistemas solares. · Fundos.NET ID 1202319; referência 21/05/2026; data/raw/57028406000108/1202319_regulamento_21-05-2026.txt; definições de Devedores e Financiamento Solar;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Devedor · Pessoas físicas e jurídicas que financiam sistemas solares. · Fundos.NET ID 1199536; referência 14/05/2026; data/raw/63505455000189/1199536_regulamento_14-05-2026.txt; definições de Devedores e Financiamento Solar;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Devedor · Pessoas físicas e jurídicas que financiam sistemas solares. · Fundos.NET ID 1030295; referência 23/10/2025; data/raw/44909456000144/1030295_regulamento_23-10-2025.txt; definições de Devedores e Financiamento Solar; https://fnet.bmfbovespa.com.br/fnet/publico/exibirDocumento?id=1030295&amp;cvm=true · Observação: Conclusão documental; validade limitada à versão citada e às ressalvas desta revisão.</a:t>
            </a:r>
          </a:p>
          <a:p>
            <a:r>
              <a:t>CNPJ 36771685000117 · Garantia · Equipamentos solares em alienação fiduciária; formalização e registro sujeitos às condições contratuais. · Fundos.NET ID 790882; referência 16/11/2024; data/raw/36771685000117/790882_regulamento_16-11-2024.txt; condições de cessão / definições de Equipamentos; https://fnet.bmfbovespa.com.br/fnet/publico/exibirDocumento?id=790882&amp;cvm=true · Observação: Não equivale a garantia de recuperação integral; registro e lastro exigem documentos individualizados.</a:t>
            </a:r>
          </a:p>
          <a:p>
            <a:r>
              <a:t>CNPJ 47240785000133 · Garantia · Equipamentos solares em alienação fiduciária; formalização e registro sujeitos às condições contratuais. · Fundos.NET ID 791217; referência 19/11/2024; data/raw/47240785000133/791217_regulamento_19-11-2024.txt; condições de cessão / definições de Equipamentos; https://fnet.bmfbovespa.com.br/fnet/publico/exibirDocumento?id=791217&amp;cvm=true · Observação: Não equivale a garantia de recuperação integral; registro e lastro exigem documentos individualizados.</a:t>
            </a:r>
          </a:p>
          <a:p>
            <a:r>
              <a:t>CNPJ 42462306000100 · Garantia · Equipamentos solares em alienação fiduciária; formalização e registro sujeitos às condições contratuais. · Fundos.NET ID 896879; referência 05/05/2025; data/raw/42462306000100/896879_regulamento_05-05-2025.txt; condições de cessão / definições de Equipamentos; https://fnet.bmfbovespa.com.br/fnet/publico/exibirDocumento?id=896879&amp;cvm=true · Observação: Não equivale a garantia de recuperação integral; registro e lastro exigem documentos individualizados.</a:t>
            </a:r>
          </a:p>
          <a:p>
            <a:r>
              <a:t>CNPJ 49920525000134 · Garantia · Equipamentos solares em alienação fiduciária; formalização e registro sujeitos às condições contratuais. · Fundos.NET ID 1076645; referência 30/12/2025; data/raw/49920525000134/1076645_regulamento_30-12-2025.txt; condições de cessão / definições de Equipamentos; https://fnet.bmfbovespa.com.br/fnet/publico/exibirDocumento?id=1076645&amp;cvm=true · Observação: Não equivale a garantia de recuperação integral; registro e lastro exigem documentos individualizados.</a:t>
            </a:r>
          </a:p>
          <a:p>
            <a:r>
              <a:t>CNPJ 57028406000108 · Garantia · Equipamentos solares em alienação fiduciária; formalização e registro sujeitos às condições contratuais. · Fundos.NET ID 1202319; referência 21/05/2026; data/raw/57028406000108/1202319_regulamento_21-05-2026.txt; condições de cessão / definições de Equipamentos; https://fnet.bmfbovespa.com.br/fnet/publico/exibirDocumento?id=1202319&amp;cvm=true · Observação: Não equivale a garantia de recuperação integral; registro e lastro exigem documentos individualizados.</a:t>
            </a:r>
          </a:p>
          <a:p>
            <a:r>
              <a:t>CNPJ 63505455000189 · Garantia · Equipamentos solares em alienação fiduciária; formalização e registro sujeitos às condições contratuais. · Fundos.NET ID 1199536; referência 14/05/2026; data/raw/63505455000189/1199536_regulamento_14-05-2026.txt; condições de cessão / definições de Equipamentos; https://fnet.bmfbovespa.com.br/fnet/publico/exibirDocumento?id=1199536&amp;cvm=true · Observação: Não equivale a garantia de recuperação integral; registro e lastro exigem documentos individualizados.</a:t>
            </a:r>
          </a:p>
          <a:p>
            <a:r>
              <a:t>CNPJ 44909456000144 · Garantia · Equipamentos solares em alienação fiduciária; formalização e registro sujeitos às condições contratuais. · Fundos.NET ID 1030295; referência 23/10/2025; data/raw/44909456000144/1030295_regulamento_23-10-2025.txt; condições de cessão / definições de Equipamentos; https://fnet.bmfbovespa.com.br/fnet/publico/exibirDocumento?id=1030295&amp;cvm=true · Observação: Não equivale a garantia de recuperação integral; registro e lastro exigem documentos individualizados.</a:t>
            </a:r>
          </a:p>
          <a:p>
            <a:r>
              <a:t>CNPJ 36771685000117 · Elegibilidade · Adimplente; PF até 70 anos; prazo médio até 2.135 dias; prazo individual até 3.836 dias; preço PF até R$ 201 mil/PJ R$ 502 mil. · Fundos.NET ID 790882; referência 16/11/2024; data/raw/36771685000117/790882_regulamento_16-11-2024.txt; pp.53–56, 9.1; https://fnet.bmfbovespa.com.br/fnet/publico/exibirDocumento?id=790882&amp;cvm=true · Observação: Tickets expressos em preço de aquisição, diferentes dos tetos nominais de III/VI/VII.</a:t>
            </a:r>
          </a:p>
          <a:p>
            <a:r>
              <a:t>CNPJ 47240785000133 · Elegibilidade · CCBs e CPR financeiras; PF/PJ; prazo médio 2.400 dias, individual 4.760 dias; preço PF R$ 500 mil/PJ R$ 700 mil. · Fundos.NET ID 791217; referência 19/11/2024; data/raw/47240785000133/791217_regulamento_19-11-2024.txt; pp.54–57, critérios de elegibilidade;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Elegibilidade · Adimplente; PF até 70 anos/PJ ≥2 anos; carência do crédito até 180 dias; nominal PF R$ 300 mil/PJ R$ 500 mil; prazo médio 2.400 dias. · Fundos.NET ID 896879; referência 05/05/2025; data/raw/42462306000100/896879_regulamento_05-05-2025.txt; critérios 9.1; https://fnet.bmfbovespa.com.br/fnet/publico/exibirDocumento?id=896879&amp;cvm=true · Observação: Crédito prefixado e flutuante têm prazos próprios; teto individual prefixado 2.340 dias e flutuante 4.500 dias.</a:t>
            </a:r>
          </a:p>
          <a:p>
            <a:r>
              <a:t>CNPJ 49920525000134 · Elegibilidade · Adimplente; PF até 71 anos/PJ ≥2 anos; carência até 185 dias; nominal PF R$ 350 mil/PJ R$ 600 mil; prazo médio 2.000 dias. · Fundos.NET ID 1076645; referência 30/12/2025; data/raw/49920525000134/1076645_regulamento_30-12-2025.txt; pp.88–89, 14.2; https://fnet.bmfbovespa.com.br/fnet/publico/exibirDocumento?id=1076645&amp;cvm=true · Observação: Política de originação pp.118–119 contém limites diferentes: PF R$ 300 mil/PJ R$ 500 mil e prazo de 150 meses. Preservar camadas e reconciliar contrato efetivo.</a:t>
            </a:r>
          </a:p>
          <a:p>
            <a:r>
              <a:t>CNPJ 57028406000108 · Elegibilidade · CCBs prefixadas em reais, adimplentes; prazo médio ≤2.400 dias; original ≤126 meses; carência ≤185 dias; nominal PF R$ 350 mil/PJ R$ 700 mil. · Fundos.NET ID 1202319; referência 21/05/2026; data/raw/57028406000108/1202319_regulamento_21-05-2026.txt; pp.108–110, condições/critério de aquisição;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Elegibilidade · CCBs prefixadas em reais, adimplentes; prazo médio ≤2.400 dias; original ≤126 meses; carência ≤185 dias; nominal PF R$ 350 mil/PJ R$ 700 mil. · Fundos.NET ID 1199536; referência 14/05/2026; data/raw/63505455000189/1199536_regulamento_14-05-2026.txt; pp.113–116, condições/critério de aquisição;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Elegibilidade · CCBs para sistemas solares; condições de cessão e integridade do lastro previstas no contrato. · Fundos.NET ID 1030295; referência 23/10/2025; data/raw/44909456000144/1030295_regulamento_23-10-2025.txt; pp.20–26, condições de aquisição; https://fnet.bmfbovespa.com.br/fnet/publico/exibirDocumento?id=1030295&amp;cvm=true · Observação: Conclusão documental; validade limitada à versão citada e às ressalvas desta revisão.</a:t>
            </a:r>
          </a:p>
          <a:p>
            <a:r>
              <a:t>CNPJ 36771685000117 · Concentração · Devedor até 2%/PL e top 10 até 10%/PL após PL de R$ 50 mi; integrador solar até 10%/PL. · Fundos.NET ID 790882; referência 16/11/2024; data/raw/36771685000117/790882_regulamento_16-11-2024.txt; pp.53,55–56;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Concentração · Devedor ≤2%/PL; top 10 ≤10%/PL; prefixados ≤15%/PL; tickets PF &gt;R$ 350 mil/PJ &gt;R$ 550 mil com limites agregados de 1%/PL. · Fundos.NET ID 791217; referência 19/11/2024; data/raw/47240785000133/791217_regulamento_19-11-2024.txt; pp.54–57; https://fnet.bmfbovespa.com.br/fnet/publico/exibirDocumento?id=791217&amp;cvm=true · Observação: Teto de prefixados não representa automaticamente teto de CPR financeiras.</a:t>
            </a:r>
          </a:p>
          <a:p>
            <a:r>
              <a:t>CNPJ 42462306000100 · Concentração · Limites por devedor/grupo e carteira constam das condições de cessão; exige controle individualizado. · Fundos.NET ID 896879; referência 05/05/2025; data/raw/42462306000100/896879_regulamento_05-05-2025.txt; capítulo 9, critérios e condições de cessão; https://fnet.bmfbovespa.com.br/fnet/publico/exibirDocumento?id=896879&amp;cvm=true · Observação: Não monitorável pelo IME público; limites individualizados não foram transcritos sem validação da fórmula.</a:t>
            </a:r>
          </a:p>
          <a:p>
            <a:r>
              <a:t>CNPJ 49920525000134 · Concentração · Devedor ≤0,10%/PL; top 10 ≤1%/PL; taxa mínima dos créditos 23% a.a. · Fundos.NET ID 1076645; referência 30/12/2025; data/raw/49920525000134/1076645_regulamento_30-12-2025.txt; pp.88–89, 14.2;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Concentração · Limite nominal também agregado por devedor: PF R$ 350 mil/PJ R$ 700 mil; preço ≤101% do saldo contábil. · Fundos.NET ID 1202319; referência 21/05/2026; data/raw/57028406000108/1202319_regulamento_21-05-2026.txt; pp.108–110; https://fnet.bmfbovespa.com.br/fnet/publico/exibirDocumento?id=1202319&amp;cvm=true · Observação: Monitorar contratos e devedor individual; IME público não oferece essa granularidade.</a:t>
            </a:r>
          </a:p>
          <a:p>
            <a:r>
              <a:t>CNPJ 63505455000189 · Concentração · Limite nominal também agregado por devedor: PF R$ 350 mil/PJ R$ 700 mil; preço ≤104% do saldo contábil. · Fundos.NET ID 1199536; referência 14/05/2026; data/raw/63505455000189/1199536_regulamento_14-05-2026.txt; pp.113–116; https://fnet.bmfbovespa.com.br/fnet/publico/exibirDocumento?id=1199536&amp;cvm=true · Observação: Monitorar contratos e devedor individual; IME público não oferece essa granularidade.</a:t>
            </a:r>
          </a:p>
          <a:p>
            <a:r>
              <a:t>CNPJ 44909456000144 · Concentração · Limites individuais/por grupo não transcritos sem reconciliação dos anexos da versão vigente. · Fundos.NET ID 1030295; referência 23/10/2025; data/raw/44909456000144/1030295_regulamento_23-10-2025.txt; pp.20–26, condições de cessão; https://fnet.bmfbovespa.com.br/fnet/publico/exibirDocumento?id=1030295&amp;cvm=true · Observação: Lacuna desta revisão; não equivale a ausência de limite contratual.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2026-10-07T14:46:12-03:00</a:t>
            </a:r>
          </a:p>
          <a:p>
            <a:r>
              <a:t>Solfácil I: CNPJ 36771685000117</a:t>
            </a:r>
          </a:p>
          <a:p>
            <a:r>
              <a:t>Solfácil V: CNPJ 47240785000133</a:t>
            </a:r>
          </a:p>
          <a:p>
            <a:r>
              <a:t>Solfácil II: CNPJ 42462306000100</a:t>
            </a:r>
          </a:p>
          <a:p>
            <a:r>
              <a:t>Solfácil III: CNPJ 49920525000134</a:t>
            </a:r>
          </a:p>
          <a:p>
            <a:r>
              <a:t>Solfácil VI: CNPJ 57028406000108</a:t>
            </a:r>
          </a:p>
          <a:p>
            <a:r>
              <a:t>Solfácil VII: CNPJ 63505455000189</a:t>
            </a:r>
          </a:p>
          <a:p>
            <a:r>
              <a:t>Solfácil IV: CNPJ 44909456000144</a:t>
            </a:r>
          </a:p>
          <a:p>
            <a:r>
              <a:t>Fontes:</a:t>
            </a:r>
          </a:p>
          <a:p>
            <a:r>
              <a:t>CNPJ 36771685000117 · Subordinação mínima · Subordinadas ≥25%/PL; mezanino B + júnior ≥15%/PL; razão PL/sênior 133%. · Fundos.NET ID 790882; referência 16/11/2024; data/raw/36771685000117/790882_regulamento_16-11-2024.txt; p.10, definições; p.73;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Subordinação mínima · Subordinadas ≥20%/PL; júnior ≥7%/PL; razão PL/sênior 125%. · Fundos.NET ID 791217; referência 19/11/2024; data/raw/47240785000133/791217_regulamento_19-11-2024.txt; p.10, Razão de Garantia;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Subordinação mínima · Subordinadas ≥20%/PL; júnior ≥4,5%/PL. · Fundos.NET ID 896879; referência 05/05/2025; data/raw/42462306000100/896879_regulamento_05-05-2025.txt; definições Relação Mínima Sênior/Mezanino; capítulo 12; https://fnet.bmfbovespa.com.br/fnet/publico/exibirDocumento?id=896879&amp;cvm=true · Observação: Gatilho júnior transitório de 3% nos primeiros 12 meses não substitui o piso ordinário de 4,5%.</a:t>
            </a:r>
          </a:p>
          <a:p>
            <a:r>
              <a:t>CNPJ 49920525000134 · Subordinação mínima · Subordinadas ≥25%/PL; mezanino B + júnior ≥10%/PL; júnior ≥4%/PL. · Fundos.NET ID 1076645; referência 30/12/2025; data/raw/49920525000134/1076645_regulamento_30-12-2025.txt; definições de razões de garantia; https://fnet.bmfbovespa.com.br/fnet/publico/exibirDocumento?id=1076645&amp;cvm=true · Observação: Targets de amortização de 67%/15%/6%/12% são pesos de pagamento, com finalidade distinta dos pisos de proteção.</a:t>
            </a:r>
          </a:p>
          <a:p>
            <a:r>
              <a:t>CNPJ 57028406000108 · Subordinação mínima · Índices mínimos das subclasses: mezanino A 5%/PL; mezanino B 2,5%/PL; júnior 2%/PL. · Fundos.NET ID 1202319; referência 21/05/2026; data/raw/57028406000108/1202319_regulamento_21-05-2026.txt; p.112; https://fnet.bmfbovespa.com.br/fnet/publico/exibirDocumento?id=1202319&amp;cvm=true · Observação: Índices por subclasse são distintos das razões de cobertura e dos pesos de amortização; não somar sem confirmar cálculo de proteção sênior.</a:t>
            </a:r>
          </a:p>
          <a:p>
            <a:r>
              <a:t>CNPJ 63505455000189 · Subordinação mínima · Índices mínimos das subclasses: mezanino A 5%/PL; mezanino B 2,5%/PL; júnior 2%/PL. · Fundos.NET ID 1199536; referência 14/05/2026; data/raw/63505455000189/1199536_regulamento_14-05-2026.txt; pp.118–119; https://fnet.bmfbovespa.com.br/fnet/publico/exibirDocumento?id=1199536&amp;cvm=true · Observação: Índices por subclasse são distintos das razões de cobertura e dos pesos de amortização; não somar sem confirmar cálculo de proteção sênior.</a:t>
            </a:r>
          </a:p>
          <a:p>
            <a:r>
              <a:t>CNPJ 44909456000144 · Subordinação mínima · Não localizado no corpus documental acessível desta revisão. · Corpus do CNPJ 44909456000144, revisão 2026-10-07T14:46:12-03:00; Fundos.NET ID 1030295, referência 23/10/2025, arquivo data/raw/44909456000144/1030295_regulamento_23-10-2025.txt · Observação: Lacuna documental; exige documento/ato específico do mesmo CNPJ.</a:t>
            </a:r>
          </a:p>
          <a:p>
            <a:r>
              <a:t>CNPJ 36771685000117 · Gatilhos de avaliação/liquidação · Índices contratuais de atraso estoque/parcelas acima de 15%, insolvência e desenquadramentos; cura e decisão conforme evento. · Fundos.NET ID 790882; referência 16/11/2024; data/raw/36771685000117/790882_regulamento_16-11-2024.txt; p.87, eventos de avaliação; https://fnet.bmfbovespa.com.br/fnet/publico/exibirDocumento?id=790882&amp;cvm=true · Observação: Fórmulas por carteira original/parcelas não replicadas pelo aging agregado IME.</a:t>
            </a:r>
          </a:p>
          <a:p>
            <a:r>
              <a:t>CNPJ 47240785000133 · Gatilhos de avaliação/liquidação · Eventos de avaliação/liquidação por desenquadramentos e falhas de prestadores; limites de perdas precisam de fórmula contratual. · Fundos.NET ID 791217; referência 19/11/2024; data/raw/47240785000133/791217_regulamento_19-11-2024.txt; capítulo de eventos de avaliação/liquidação; https://fnet.bmfbovespa.com.br/fnet/publico/exibirDocumento?id=791217&amp;cvm=true · Observação: Não transcrever taxas de perda sem confirmar denominador e período.</a:t>
            </a:r>
          </a:p>
          <a:p>
            <a:r>
              <a:t>CNPJ 42462306000100 · Gatilhos de avaliação/liquidação · Desenquadramento das relações mínimas, reservas, rating e continuidade da Solfácil/servicer; cura específica por evento. · Fundos.NET ID 896879; referência 05/05/2025; data/raw/42462306000100/896879_regulamento_05-05-2025.txt; pp.85–89, 17.2; https://fnet.bmfbovespa.com.br/fnet/publico/exibirDocumento?id=896879&amp;cvm=true · Observação: Reposição após aviso: 22 dias úteis, capítulo 12; não usar gatilho transitório como proteção permanente.</a:t>
            </a:r>
          </a:p>
          <a:p>
            <a:r>
              <a:t>CNPJ 49920525000134 · Gatilhos de avaliação/liquidação · Atraso estoque acima de 12%/parcelas acima de 8,50%; desenquadramento sem cura em 10 dias úteis altera amortização para sequencial. · Fundos.NET ID 1076645; referência 30/12/2025; data/raw/49920525000134/1076645_regulamento_30-12-2025.txt; p.14, definições; p.105, desalavancagem;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Gatilhos de avaliação/liquidação · Cobertura sênior/A/B: 133,33%/111,11%/104,17%; atraso90 &gt;15%; rolagem90 &gt;1,6%; patamares adicionais por regime. · Fundos.NET ID 1202319; referência 21/05/2026; data/raw/57028406000108/1202319_regulamento_21-05-2026.txt; p.113, patamares de risco; https://fnet.bmfbovespa.com.br/fnet/publico/exibirDocumento?id=1202319&amp;cvm=true · Observação: Aging IME/crédito não reproduz fórmula de cobertura/rolagem/vintage; valores contratuais, sem conclusão de enquadramento ao vivo.</a:t>
            </a:r>
          </a:p>
          <a:p>
            <a:r>
              <a:t>CNPJ 63505455000189 · Gatilhos de avaliação/liquidação · Cobertura sênior/A/B: 133,33%/111,11%/104,17%; atraso90 &gt;15%; rolagem90 &gt;1,6%; patamares adicionais por regime. · Fundos.NET ID 1199536; referência 14/05/2026; data/raw/63505455000189/1199536_regulamento_14-05-2026.txt; p.120, 11.1; https://fnet.bmfbovespa.com.br/fnet/publico/exibirDocumento?id=1199536&amp;cvm=true · Observação: Aging IME/crédito não reproduz fórmula de cobertura/rolagem/vintage; valores contratuais, sem conclusão de enquadramento ao vivo.</a:t>
            </a:r>
          </a:p>
          <a:p>
            <a:r>
              <a:t>CNPJ 44909456000144 · Gatilhos de avaliação/liquidação · Não localizado no corpus documental acessível desta revisão. · Corpus do CNPJ 44909456000144, revisão 2026-10-07T14:46:12-03:00; Fundos.NET ID 1030295, referência 23/10/2025, arquivo data/raw/44909456000144/1030295_regulamento_23-10-2025.txt · Observação: Lacuna documental; exige documento/ato específico do mesmo CNPJ.</a:t>
            </a:r>
          </a:p>
          <a:p>
            <a:r>
              <a:t>CNPJ 36771685000117 · Reserva de caixa · 6 meses de despesas estimadas; reserva de amortização 100% da próxima parcela até 30 dias antes, formação desde 45 dias. · Fundos.NET ID 790882; referência 16/11/2024; data/raw/36771685000117/790882_regulamento_16-11-2024.txt; pp.82–83, reservas;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Reserva de caixa · 3 meses de despesas; reserva da próxima amortização, 100% até 30 dias antes, formação desde 45 dias. · Fundos.NET ID 791217; referência 19/11/2024; data/raw/47240785000133/791217_regulamento_19-11-2024.txt; pp.82–83, 14.1–14.2.1;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Reserva de caixa · 3 meses de despesas ordinárias estimadas, com referência à média dos últimos 12 meses. · Fundos.NET ID 896879; referência 05/05/2025; data/raw/42462306000100/896879_regulamento_05-05-2025.txt; pp.82–83, capítulo 15;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Reserva de caixa · Reserva de despesas e encargos; insolvência, reserva insuficiente e DC posteriores ao vencimento das cotas disparam avaliação. · Fundos.NET ID 1076645; referência 30/12/2025; data/raw/49920525000134/1076645_regulamento_30-12-2025.txt; pp.108–109, eventos; https://fnet.bmfbovespa.com.br/fnet/publico/exibirDocumento?id=1076645&amp;cvm=true · Observação: Montante mínimo da reserva não transcrito nesta revisão; controle depende de despesas futuras.</a:t>
            </a:r>
          </a:p>
          <a:p>
            <a:r>
              <a:t>CNPJ 57028406000108 · Reserva de caixa · 3 meses de despesas futuras; reserva de MTM negativo limitada ao menor entre valor absoluto do MTM e 1% do nocional agregado. · Fundos.NET ID 1202319; referência 21/05/2026; data/raw/57028406000108/1202319_regulamento_21-05-2026.txt; pp.58–59, 17.1–17.2; https://fnet.bmfbovespa.com.br/fnet/publico/exibirDocumento?id=1202319&amp;cvm=true · Observação: Reserva de MTM depende da posição derivativa e da aplicabilidade indicada no anexo.</a:t>
            </a:r>
          </a:p>
          <a:p>
            <a:r>
              <a:t>CNPJ 63505455000189 · Reserva de caixa · 3 meses de despesas futuras; reserva de MTM negativo limitada ao menor entre valor absoluto do MTM e 1% do nocional agregado. · Fundos.NET ID 1199536; referência 14/05/2026; data/raw/63505455000189/1199536_regulamento_14-05-2026.txt; pp.70–71, 18.1–18.2; https://fnet.bmfbovespa.com.br/fnet/publico/exibirDocumento?id=1199536&amp;cvm=true · Observação: Reserva de MTM depende da posição derivativa e da aplicabilidade indicada no anexo.</a:t>
            </a:r>
          </a:p>
          <a:p>
            <a:r>
              <a:t>CNPJ 44909456000144 · Reserva de caixa · Reservas para despesas e benchmark; verificação mensal e restrição a chamadas enquanto não recompostas. · Fundos.NET ID 1030295; referência 23/10/2025; data/raw/44909456000144/1030295_regulamento_23-10-2025.txt; pp.50–51, reservas; https://fnet.bmfbovespa.com.br/fnet/publico/exibirDocumento?id=1030295&amp;cvm=true · Observação: Caixa agregado IME é proxy parcial e não mede pagamento esperado por série.</a:t>
            </a:r>
          </a:p>
          <a:p>
            <a:r>
              <a:t>CNPJ 36771685000117 · Derivativos/hedge · Derivativos para proteção; finalidade, contraparte e cobertura dependem de controle contratual. · Fundos.NET ID 790882; referência 16/11/2024; data/raw/36771685000117/790882_regulamento_16-11-2024.txt; política de investimento / operações de derivativos; https://fnet.bmfbovespa.com.br/fnet/publico/exibirDocumento?id=790882&amp;cvm=true · Observação: Parcial via IME: exposição agregada não comprova finalidade ou cobertura por contrato.</a:t>
            </a:r>
          </a:p>
          <a:p>
            <a:r>
              <a:t>CNPJ 47240785000133 · Derivativos/hedge · Derivativos para proteção; finalidade, contraparte e cobertura dependem de controle contratual. · Fundos.NET ID 791217; referência 19/11/2024; data/raw/47240785000133/791217_regulamento_19-11-2024.txt; política de investimento / operações de derivativos; https://fnet.bmfbovespa.com.br/fnet/publico/exibirDocumento?id=791217&amp;cvm=true · Observação: Parcial via IME: exposição agregada não comprova finalidade ou cobertura por contrato.</a:t>
            </a:r>
          </a:p>
          <a:p>
            <a:r>
              <a:t>CNPJ 42462306000100 · Derivativos/hedge · Derivativos para proteção; finalidade, contraparte e cobertura dependem de controle contratual. · Fundos.NET ID 896879; referência 05/05/2025; data/raw/42462306000100/896879_regulamento_05-05-2025.txt; política de investimento / operações de derivativos; https://fnet.bmfbovespa.com.br/fnet/publico/exibirDocumento?id=896879&amp;cvm=true · Observação: Parcial via IME: exposição agregada não comprova finalidade ou cobertura por contrato.</a:t>
            </a:r>
          </a:p>
          <a:p>
            <a:r>
              <a:t>CNPJ 49920525000134 · Derivativos/hedge · Derivativos para proteção; finalidade, contraparte e cobertura dependem de controle contratual. · Fundos.NET ID 1076645; referência 30/12/2025; data/raw/49920525000134/1076645_regulamento_30-12-2025.txt; política de investimento / operações de derivativos; https://fnet.bmfbovespa.com.br/fnet/publico/exibirDocumento?id=1076645&amp;cvm=true · Observação: Parcial via IME: exposição agregada não comprova finalidade ou cobertura por contrato.</a:t>
            </a:r>
          </a:p>
          <a:p>
            <a:r>
              <a:t>CNPJ 57028406000108 · Derivativos/hedge · Proteção de posições à vista; sem exposição descoberta/alavancagem; limite agregado de exposição contratual. · Fundos.NET ID 1202319; referência 21/05/2026; data/raw/57028406000108/1202319_regulamento_21-05-2026.txt; p.111, política de derivativos; https://fnet.bmfbovespa.com.br/fnet/publico/exibirDocumento?id=1202319&amp;cvm=true · Observação: IME agregado não prova finalidade, nocional, MTM por contraparte ou aderência à cobertura contratual.</a:t>
            </a:r>
          </a:p>
          <a:p>
            <a:r>
              <a:t>CNPJ 63505455000189 · Derivativos/hedge · Proteção de posições à vista; sem exposição descoberta/alavancagem; limite agregado de exposição contratual. · Fundos.NET ID 1199536; referência 14/05/2026; data/raw/63505455000189/1199536_regulamento_14-05-2026.txt; p.117, política de derivativos; https://fnet.bmfbovespa.com.br/fnet/publico/exibirDocumento?id=1199536&amp;cvm=true · Observação: IME agregado não prova finalidade, nocional, MTM por contraparte ou aderência à cobertura contratual.</a:t>
            </a:r>
          </a:p>
          <a:p>
            <a:r>
              <a:t>CNPJ 44909456000144 · Derivativos/hedge · Derivativos para proteção; finalidade, contraparte e cobertura dependem de controle contratual. · Fundos.NET ID 1030295; referência 23/10/2025; data/raw/44909456000144/1030295_regulamento_23-10-2025.txt; política de investimento / operações de derivativos; https://fnet.bmfbovespa.com.br/fnet/publico/exibirDocumento?id=1030295&amp;cvm=true · Observação: Parcial via IME: exposição agregada não comprova finalidade ou cobertura por contrato.</a:t>
            </a:r>
          </a:p>
          <a:p>
            <a:r>
              <a:t>CNPJ 36771685000117 · PDD · Política de provisão em anexo; faixa por atraso e renegociação exige aplicação ao contrato. · Fundos.NET ID 790882; referência 16/11/2024; data/raw/36771685000117/790882_regulamento_16-11-2024.txt; anexo de política de provisão para devedores duvidosos; https://fnet.bmfbovespa.com.br/fnet/publico/exibirDocumento?id=790882&amp;cvm=true · Observação: PDD/crédito e PDD/vencidos são proxies. Não foi encontrado um piso uniforme de PDD/PL aplicável a todas as versões.</a:t>
            </a:r>
          </a:p>
          <a:p>
            <a:r>
              <a:t>CNPJ 47240785000133 · PDD · Política de provisão em anexo; faixa por atraso e renegociação exige aplicação ao contrato. · Fundos.NET ID 791217; referência 19/11/2024; data/raw/47240785000133/791217_regulamento_19-11-2024.txt; anexo de política de provisão para devedores duvidosos; https://fnet.bmfbovespa.com.br/fnet/publico/exibirDocumento?id=791217&amp;cvm=true · Observação: PDD/crédito e PDD/vencidos são proxies. Não foi encontrado um piso uniforme de PDD/PL aplicável a todas as versões.</a:t>
            </a:r>
          </a:p>
          <a:p>
            <a:r>
              <a:t>CNPJ 42462306000100 · PDD · Política de provisão em anexo; faixa por atraso e renegociação exige aplicação ao contrato. · Fundos.NET ID 896879; referência 05/05/2025; data/raw/42462306000100/896879_regulamento_05-05-2025.txt; anexo de política de provisão para devedores duvidosos; https://fnet.bmfbovespa.com.br/fnet/publico/exibirDocumento?id=896879&amp;cvm=true · Observação: PDD/crédito e PDD/vencidos são proxies. Não foi encontrado um piso uniforme de PDD/PL aplicável a todas as versões.</a:t>
            </a:r>
          </a:p>
          <a:p>
            <a:r>
              <a:t>CNPJ 49920525000134 · PDD · Política de provisão em anexo; faixa por atraso e renegociação exige aplicação ao contrato. · Fundos.NET ID 1076645; referência 30/12/2025; data/raw/49920525000134/1076645_regulamento_30-12-2025.txt; anexo de política de provisão para devedores duvidosos; https://fnet.bmfbovespa.com.br/fnet/publico/exibirDocumento?id=1076645&amp;cvm=true · Observação: PDD/crédito e PDD/vencidos são proxies. Não foi encontrado um piso uniforme de PDD/PL aplicável a todas as versões.</a:t>
            </a:r>
          </a:p>
          <a:p>
            <a:r>
              <a:t>CNPJ 57028406000108 · PDD · Política de provisão em anexo; faixa por atraso e renegociação exige aplicação ao contrato. · Fundos.NET ID 1202319; referência 21/05/2026; data/raw/57028406000108/1202319_regulamento_21-05-2026.txt; anexo de política de provisão para devedores duvidosos; https://fnet.bmfbovespa.com.br/fnet/publico/exibirDocumento?id=1202319&amp;cvm=true · Observação: PDD/crédito e PDD/vencidos são proxies. Não foi encontrado um piso uniforme de PDD/PL aplicável a todas as versões.</a:t>
            </a:r>
          </a:p>
          <a:p>
            <a:r>
              <a:t>CNPJ 63505455000189 · PDD · Política de provisão em anexo; faixa por atraso e renegociação exige aplicação ao contrato. · Fundos.NET ID 1199536; referência 14/05/2026; data/raw/63505455000189/1199536_regulamento_14-05-2026.txt; anexo de política de provisão para devedores duvidosos; https://fnet.bmfbovespa.com.br/fnet/publico/exibirDocumento?id=1199536&amp;cvm=true · Observação: PDD/crédito e PDD/vencidos são proxies. Não foi encontrado um piso uniforme de PDD/PL aplicável a todas as versões.</a:t>
            </a:r>
          </a:p>
          <a:p>
            <a:r>
              <a:t>CNPJ 44909456000144 · PDD · Política de provisão em anexo; faixa por atraso e renegociação exige aplicação ao contrato. · Fundos.NET ID 1030295; referência 23/10/2025; data/raw/44909456000144/1030295_regulamento_23-10-2025.txt; anexo de política de provisão para devedores duvidosos; https://fnet.bmfbovespa.com.br/fnet/publico/exibirDocumento?id=1030295&amp;cvm=true · Observação: PDD/crédito e PDD/vencidos são proxies. Não foi encontrado um piso uniforme de PDD/PL aplicável a todas as versões.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2026-10-07T14:46:12-03:00</a:t>
            </a:r>
          </a:p>
          <a:p>
            <a:r>
              <a:t>Solfácil I: CNPJ 36771685000117</a:t>
            </a:r>
          </a:p>
          <a:p>
            <a:r>
              <a:t>Solfácil V: CNPJ 47240785000133</a:t>
            </a:r>
          </a:p>
          <a:p>
            <a:r>
              <a:t>Solfácil II: CNPJ 42462306000100</a:t>
            </a:r>
          </a:p>
          <a:p>
            <a:r>
              <a:t>Solfácil III: CNPJ 49920525000134</a:t>
            </a:r>
          </a:p>
          <a:p>
            <a:r>
              <a:t>Solfácil VI: CNPJ 57028406000108</a:t>
            </a:r>
          </a:p>
          <a:p>
            <a:r>
              <a:t>Solfácil VII: CNPJ 63505455000189</a:t>
            </a:r>
          </a:p>
          <a:p>
            <a:r>
              <a:t>Solfácil IV: CNPJ 44909456000144</a:t>
            </a:r>
          </a:p>
          <a:p>
            <a:r>
              <a:t>Fontes:</a:t>
            </a:r>
          </a:p>
          <a:p>
            <a:r>
              <a:t>CNPJ 36771685000117 · Subordinação mínima · Subordinadas ≥25%/PL; mezanino B + júnior ≥15%/PL; razão PL/sênior 133%. · Fundos.NET ID 790882; referência 16/11/2024; data/raw/36771685000117/790882_regulamento_16-11-2024.txt; p.10, definições; p.73;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Subordinação mínima · Subordinadas ≥20%/PL; júnior ≥7%/PL; razão PL/sênior 125%. · Fundos.NET ID 791217; referência 19/11/2024; data/raw/47240785000133/791217_regulamento_19-11-2024.txt; p.10, Razão de Garantia;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Subordinação mínima · Subordinadas ≥20%/PL; júnior ≥4,5%/PL. · Fundos.NET ID 896879; referência 05/05/2025; data/raw/42462306000100/896879_regulamento_05-05-2025.txt; definições Relação Mínima Sênior/Mezanino; capítulo 12; https://fnet.bmfbovespa.com.br/fnet/publico/exibirDocumento?id=896879&amp;cvm=true · Observação: Gatilho júnior transitório de 3% nos primeiros 12 meses não substitui o piso ordinário de 4,5%.</a:t>
            </a:r>
          </a:p>
          <a:p>
            <a:r>
              <a:t>CNPJ 49920525000134 · Subordinação mínima · Subordinadas ≥25%/PL; mezanino B + júnior ≥10%/PL; júnior ≥4%/PL. · Fundos.NET ID 1076645; referência 30/12/2025; data/raw/49920525000134/1076645_regulamento_30-12-2025.txt; definições de razões de garantia; https://fnet.bmfbovespa.com.br/fnet/publico/exibirDocumento?id=1076645&amp;cvm=true · Observação: Targets de amortização de 67%/15%/6%/12% são pesos de pagamento, com finalidade distinta dos pisos de proteção.</a:t>
            </a:r>
          </a:p>
          <a:p>
            <a:r>
              <a:t>CNPJ 57028406000108 · Subordinação mínima · Índices mínimos das subclasses: mezanino A 5%/PL; mezanino B 2,5%/PL; júnior 2%/PL. · Fundos.NET ID 1202319; referência 21/05/2026; data/raw/57028406000108/1202319_regulamento_21-05-2026.txt; p.112; https://fnet.bmfbovespa.com.br/fnet/publico/exibirDocumento?id=1202319&amp;cvm=true · Observação: Índices por subclasse são distintos das razões de cobertura e dos pesos de amortização; não somar sem confirmar cálculo de proteção sênior.</a:t>
            </a:r>
          </a:p>
          <a:p>
            <a:r>
              <a:t>CNPJ 63505455000189 · Subordinação mínima · Índices mínimos das subclasses: mezanino A 5%/PL; mezanino B 2,5%/PL; júnior 2%/PL. · Fundos.NET ID 1199536; referência 14/05/2026; data/raw/63505455000189/1199536_regulamento_14-05-2026.txt; pp.118–119; https://fnet.bmfbovespa.com.br/fnet/publico/exibirDocumento?id=1199536&amp;cvm=true · Observação: Índices por subclasse são distintos das razões de cobertura e dos pesos de amortização; não somar sem confirmar cálculo de proteção sênior.</a:t>
            </a:r>
          </a:p>
          <a:p>
            <a:r>
              <a:t>CNPJ 44909456000144 · Subordinação mínima · Não localizado no corpus documental acessível desta revisão. · Corpus do CNPJ 44909456000144, revisão 2026-10-07T14:46:12-03:00; Fundos.NET ID 1030295, referência 23/10/2025, arquivo data/raw/44909456000144/1030295_regulamento_23-10-2025.txt · Observação: Lacuna documental; exige documento/ato específico do mesmo CNPJ.</a:t>
            </a:r>
          </a:p>
          <a:p>
            <a:r>
              <a:t>CNPJ 36771685000117 · Gatilhos de avaliação/liquidação · Índices contratuais de atraso estoque/parcelas acima de 15%, insolvência e desenquadramentos; cura e decisão conforme evento. · Fundos.NET ID 790882; referência 16/11/2024; data/raw/36771685000117/790882_regulamento_16-11-2024.txt; p.87, eventos de avaliação; https://fnet.bmfbovespa.com.br/fnet/publico/exibirDocumento?id=790882&amp;cvm=true · Observação: Fórmulas por carteira original/parcelas não replicadas pelo aging agregado IME.</a:t>
            </a:r>
          </a:p>
          <a:p>
            <a:r>
              <a:t>CNPJ 47240785000133 · Gatilhos de avaliação/liquidação · Eventos de avaliação/liquidação por desenquadramentos e falhas de prestadores; limites de perdas precisam de fórmula contratual. · Fundos.NET ID 791217; referência 19/11/2024; data/raw/47240785000133/791217_regulamento_19-11-2024.txt; capítulo de eventos de avaliação/liquidação; https://fnet.bmfbovespa.com.br/fnet/publico/exibirDocumento?id=791217&amp;cvm=true · Observação: Não transcrever taxas de perda sem confirmar denominador e período.</a:t>
            </a:r>
          </a:p>
          <a:p>
            <a:r>
              <a:t>CNPJ 42462306000100 · Gatilhos de avaliação/liquidação · Desenquadramento das relações mínimas, reservas, rating e continuidade da Solfácil/servicer; cura específica por evento. · Fundos.NET ID 896879; referência 05/05/2025; data/raw/42462306000100/896879_regulamento_05-05-2025.txt; pp.85–89, 17.2; https://fnet.bmfbovespa.com.br/fnet/publico/exibirDocumento?id=896879&amp;cvm=true · Observação: Reposição após aviso: 22 dias úteis, capítulo 12; não usar gatilho transitório como proteção permanente.</a:t>
            </a:r>
          </a:p>
          <a:p>
            <a:r>
              <a:t>CNPJ 49920525000134 · Gatilhos de avaliação/liquidação · Atraso estoque acima de 12%/parcelas acima de 8,50%; desenquadramento sem cura em 10 dias úteis altera amortização para sequencial. · Fundos.NET ID 1076645; referência 30/12/2025; data/raw/49920525000134/1076645_regulamento_30-12-2025.txt; p.14, definições; p.105, desalavancagem;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Gatilhos de avaliação/liquidação · Cobertura sênior/A/B: 133,33%/111,11%/104,17%; atraso90 &gt;15%; rolagem90 &gt;1,6%; patamares adicionais por regime. · Fundos.NET ID 1202319; referência 21/05/2026; data/raw/57028406000108/1202319_regulamento_21-05-2026.txt; p.113, patamares de risco; https://fnet.bmfbovespa.com.br/fnet/publico/exibirDocumento?id=1202319&amp;cvm=true · Observação: Aging IME/crédito não reproduz fórmula de cobertura/rolagem/vintage; valores contratuais, sem conclusão de enquadramento ao vivo.</a:t>
            </a:r>
          </a:p>
          <a:p>
            <a:r>
              <a:t>CNPJ 63505455000189 · Gatilhos de avaliação/liquidação · Cobertura sênior/A/B: 133,33%/111,11%/104,17%; atraso90 &gt;15%; rolagem90 &gt;1,6%; patamares adicionais por regime. · Fundos.NET ID 1199536; referência 14/05/2026; data/raw/63505455000189/1199536_regulamento_14-05-2026.txt; p.120, 11.1; https://fnet.bmfbovespa.com.br/fnet/publico/exibirDocumento?id=1199536&amp;cvm=true · Observação: Aging IME/crédito não reproduz fórmula de cobertura/rolagem/vintage; valores contratuais, sem conclusão de enquadramento ao vivo.</a:t>
            </a:r>
          </a:p>
          <a:p>
            <a:r>
              <a:t>CNPJ 44909456000144 · Gatilhos de avaliação/liquidação · Não localizado no corpus documental acessível desta revisão. · Corpus do CNPJ 44909456000144, revisão 2026-10-07T14:46:12-03:00; Fundos.NET ID 1030295, referência 23/10/2025, arquivo data/raw/44909456000144/1030295_regulamento_23-10-2025.txt · Observação: Lacuna documental; exige documento/ato específico do mesmo CNPJ.</a:t>
            </a:r>
          </a:p>
          <a:p>
            <a:r>
              <a:t>CNPJ 36771685000117 · Reserva de caixa · 6 meses de despesas estimadas; reserva de amortização 100% da próxima parcela até 30 dias antes, formação desde 45 dias. · Fundos.NET ID 790882; referência 16/11/2024; data/raw/36771685000117/790882_regulamento_16-11-2024.txt; pp.82–83, reservas;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Reserva de caixa · 3 meses de despesas; reserva da próxima amortização, 100% até 30 dias antes, formação desde 45 dias. · Fundos.NET ID 791217; referência 19/11/2024; data/raw/47240785000133/791217_regulamento_19-11-2024.txt; pp.82–83, 14.1–14.2.1;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Reserva de caixa · 3 meses de despesas ordinárias estimadas, com referência à média dos últimos 12 meses. · Fundos.NET ID 896879; referência 05/05/2025; data/raw/42462306000100/896879_regulamento_05-05-2025.txt; pp.82–83, capítulo 15;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Reserva de caixa · Reserva de despesas e encargos; insolvência, reserva insuficiente e DC posteriores ao vencimento das cotas disparam avaliação. · Fundos.NET ID 1076645; referência 30/12/2025; data/raw/49920525000134/1076645_regulamento_30-12-2025.txt; pp.108–109, eventos; https://fnet.bmfbovespa.com.br/fnet/publico/exibirDocumento?id=1076645&amp;cvm=true · Observação: Montante mínimo da reserva não transcrito nesta revisão; controle depende de despesas futuras.</a:t>
            </a:r>
          </a:p>
          <a:p>
            <a:r>
              <a:t>CNPJ 57028406000108 · Reserva de caixa · 3 meses de despesas futuras; reserva de MTM negativo limitada ao menor entre valor absoluto do MTM e 1% do nocional agregado. · Fundos.NET ID 1202319; referência 21/05/2026; data/raw/57028406000108/1202319_regulamento_21-05-2026.txt; pp.58–59, 17.1–17.2; https://fnet.bmfbovespa.com.br/fnet/publico/exibirDocumento?id=1202319&amp;cvm=true · Observação: Reserva de MTM depende da posição derivativa e da aplicabilidade indicada no anexo.</a:t>
            </a:r>
          </a:p>
          <a:p>
            <a:r>
              <a:t>CNPJ 63505455000189 · Reserva de caixa · 3 meses de despesas futuras; reserva de MTM negativo limitada ao menor entre valor absoluto do MTM e 1% do nocional agregado. · Fundos.NET ID 1199536; referência 14/05/2026; data/raw/63505455000189/1199536_regulamento_14-05-2026.txt; pp.70–71, 18.1–18.2; https://fnet.bmfbovespa.com.br/fnet/publico/exibirDocumento?id=1199536&amp;cvm=true · Observação: Reserva de MTM depende da posição derivativa e da aplicabilidade indicada no anexo.</a:t>
            </a:r>
          </a:p>
          <a:p>
            <a:r>
              <a:t>CNPJ 44909456000144 · Reserva de caixa · Reservas para despesas e benchmark; verificação mensal e restrição a chamadas enquanto não recompostas. · Fundos.NET ID 1030295; referência 23/10/2025; data/raw/44909456000144/1030295_regulamento_23-10-2025.txt; pp.50–51, reservas; https://fnet.bmfbovespa.com.br/fnet/publico/exibirDocumento?id=1030295&amp;cvm=true · Observação: Caixa agregado IME é proxy parcial e não mede pagamento esperado por série.</a:t>
            </a:r>
          </a:p>
          <a:p>
            <a:r>
              <a:t>CNPJ 36771685000117 · Derivativos/hedge · Derivativos para proteção; finalidade, contraparte e cobertura dependem de controle contratual. · Fundos.NET ID 790882; referência 16/11/2024; data/raw/36771685000117/790882_regulamento_16-11-2024.txt; política de investimento / operações de derivativos; https://fnet.bmfbovespa.com.br/fnet/publico/exibirDocumento?id=790882&amp;cvm=true · Observação: Parcial via IME: exposição agregada não comprova finalidade ou cobertura por contrato.</a:t>
            </a:r>
          </a:p>
          <a:p>
            <a:r>
              <a:t>CNPJ 47240785000133 · Derivativos/hedge · Derivativos para proteção; finalidade, contraparte e cobertura dependem de controle contratual. · Fundos.NET ID 791217; referência 19/11/2024; data/raw/47240785000133/791217_regulamento_19-11-2024.txt; política de investimento / operações de derivativos; https://fnet.bmfbovespa.com.br/fnet/publico/exibirDocumento?id=791217&amp;cvm=true · Observação: Parcial via IME: exposição agregada não comprova finalidade ou cobertura por contrato.</a:t>
            </a:r>
          </a:p>
          <a:p>
            <a:r>
              <a:t>CNPJ 42462306000100 · Derivativos/hedge · Derivativos para proteção; finalidade, contraparte e cobertura dependem de controle contratual. · Fundos.NET ID 896879; referência 05/05/2025; data/raw/42462306000100/896879_regulamento_05-05-2025.txt; política de investimento / operações de derivativos; https://fnet.bmfbovespa.com.br/fnet/publico/exibirDocumento?id=896879&amp;cvm=true · Observação: Parcial via IME: exposição agregada não comprova finalidade ou cobertura por contrato.</a:t>
            </a:r>
          </a:p>
          <a:p>
            <a:r>
              <a:t>CNPJ 49920525000134 · Derivativos/hedge · Derivativos para proteção; finalidade, contraparte e cobertura dependem de controle contratual. · Fundos.NET ID 1076645; referência 30/12/2025; data/raw/49920525000134/1076645_regulamento_30-12-2025.txt; política de investimento / operações de derivativos; https://fnet.bmfbovespa.com.br/fnet/publico/exibirDocumento?id=1076645&amp;cvm=true · Observação: Parcial via IME: exposição agregada não comprova finalidade ou cobertura por contrato.</a:t>
            </a:r>
          </a:p>
          <a:p>
            <a:r>
              <a:t>CNPJ 57028406000108 · Derivativos/hedge · Proteção de posições à vista; sem exposição descoberta/alavancagem; limite agregado de exposição contratual. · Fundos.NET ID 1202319; referência 21/05/2026; data/raw/57028406000108/1202319_regulamento_21-05-2026.txt; p.111, política de derivativos; https://fnet.bmfbovespa.com.br/fnet/publico/exibirDocumento?id=1202319&amp;cvm=true · Observação: IME agregado não prova finalidade, nocional, MTM por contraparte ou aderência à cobertura contratual.</a:t>
            </a:r>
          </a:p>
          <a:p>
            <a:r>
              <a:t>CNPJ 63505455000189 · Derivativos/hedge · Proteção de posições à vista; sem exposição descoberta/alavancagem; limite agregado de exposição contratual. · Fundos.NET ID 1199536; referência 14/05/2026; data/raw/63505455000189/1199536_regulamento_14-05-2026.txt; p.117, política de derivativos; https://fnet.bmfbovespa.com.br/fnet/publico/exibirDocumento?id=1199536&amp;cvm=true · Observação: IME agregado não prova finalidade, nocional, MTM por contraparte ou aderência à cobertura contratual.</a:t>
            </a:r>
          </a:p>
          <a:p>
            <a:r>
              <a:t>CNPJ 44909456000144 · Derivativos/hedge · Derivativos para proteção; finalidade, contraparte e cobertura dependem de controle contratual. · Fundos.NET ID 1030295; referência 23/10/2025; data/raw/44909456000144/1030295_regulamento_23-10-2025.txt; política de investimento / operações de derivativos; https://fnet.bmfbovespa.com.br/fnet/publico/exibirDocumento?id=1030295&amp;cvm=true · Observação: Parcial via IME: exposição agregada não comprova finalidade ou cobertura por contrato.</a:t>
            </a:r>
          </a:p>
          <a:p>
            <a:r>
              <a:t>CNPJ 36771685000117 · PDD · Política de provisão em anexo; faixa por atraso e renegociação exige aplicação ao contrato. · Fundos.NET ID 790882; referência 16/11/2024; data/raw/36771685000117/790882_regulamento_16-11-2024.txt; anexo de política de provisão para devedores duvidosos; https://fnet.bmfbovespa.com.br/fnet/publico/exibirDocumento?id=790882&amp;cvm=true · Observação: PDD/crédito e PDD/vencidos são proxies. Não foi encontrado um piso uniforme de PDD/PL aplicável a todas as versões.</a:t>
            </a:r>
          </a:p>
          <a:p>
            <a:r>
              <a:t>CNPJ 47240785000133 · PDD · Política de provisão em anexo; faixa por atraso e renegociação exige aplicação ao contrato. · Fundos.NET ID 791217; referência 19/11/2024; data/raw/47240785000133/791217_regulamento_19-11-2024.txt; anexo de política de provisão para devedores duvidosos; https://fnet.bmfbovespa.com.br/fnet/publico/exibirDocumento?id=791217&amp;cvm=true · Observação: PDD/crédito e PDD/vencidos são proxies. Não foi encontrado um piso uniforme de PDD/PL aplicável a todas as versões.</a:t>
            </a:r>
          </a:p>
          <a:p>
            <a:r>
              <a:t>CNPJ 42462306000100 · PDD · Política de provisão em anexo; faixa por atraso e renegociação exige aplicação ao contrato. · Fundos.NET ID 896879; referência 05/05/2025; data/raw/42462306000100/896879_regulamento_05-05-2025.txt; anexo de política de provisão para devedores duvidosos; https://fnet.bmfbovespa.com.br/fnet/publico/exibirDocumento?id=896879&amp;cvm=true · Observação: PDD/crédito e PDD/vencidos são proxies. Não foi encontrado um piso uniforme de PDD/PL aplicável a todas as versões.</a:t>
            </a:r>
          </a:p>
          <a:p>
            <a:r>
              <a:t>CNPJ 49920525000134 · PDD · Política de provisão em anexo; faixa por atraso e renegociação exige aplicação ao contrato. · Fundos.NET ID 1076645; referência 30/12/2025; data/raw/49920525000134/1076645_regulamento_30-12-2025.txt; anexo de política de provisão para devedores duvidosos; https://fnet.bmfbovespa.com.br/fnet/publico/exibirDocumento?id=1076645&amp;cvm=true · Observação: PDD/crédito e PDD/vencidos são proxies. Não foi encontrado um piso uniforme de PDD/PL aplicável a todas as versões.</a:t>
            </a:r>
          </a:p>
          <a:p>
            <a:r>
              <a:t>CNPJ 57028406000108 · PDD · Política de provisão em anexo; faixa por atraso e renegociação exige aplicação ao contrato. · Fundos.NET ID 1202319; referência 21/05/2026; data/raw/57028406000108/1202319_regulamento_21-05-2026.txt; anexo de política de provisão para devedores duvidosos; https://fnet.bmfbovespa.com.br/fnet/publico/exibirDocumento?id=1202319&amp;cvm=true · Observação: PDD/crédito e PDD/vencidos são proxies. Não foi encontrado um piso uniforme de PDD/PL aplicável a todas as versões.</a:t>
            </a:r>
          </a:p>
          <a:p>
            <a:r>
              <a:t>CNPJ 63505455000189 · PDD · Política de provisão em anexo; faixa por atraso e renegociação exige aplicação ao contrato. · Fundos.NET ID 1199536; referência 14/05/2026; data/raw/63505455000189/1199536_regulamento_14-05-2026.txt; anexo de política de provisão para devedores duvidosos; https://fnet.bmfbovespa.com.br/fnet/publico/exibirDocumento?id=1199536&amp;cvm=true · Observação: PDD/crédito e PDD/vencidos são proxies. Não foi encontrado um piso uniforme de PDD/PL aplicável a todas as versões.</a:t>
            </a:r>
          </a:p>
          <a:p>
            <a:r>
              <a:t>CNPJ 44909456000144 · PDD · Política de provisão em anexo; faixa por atraso e renegociação exige aplicação ao contrato. · Fundos.NET ID 1030295; referência 23/10/2025; data/raw/44909456000144/1030295_regulamento_23-10-2025.txt; anexo de política de provisão para devedores duvidosos; https://fnet.bmfbovespa.com.br/fnet/publico/exibirDocumento?id=1030295&amp;cvm=true · Observação: PDD/crédito e PDD/vencidos são proxies. Não foi encontrado um piso uniforme de PDD/PL aplicável a todas as versões.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2026-10-07T14:46:12-03:00</a:t>
            </a:r>
          </a:p>
          <a:p>
            <a:r>
              <a:t>Solfácil I: CNPJ 36771685000117</a:t>
            </a:r>
          </a:p>
          <a:p>
            <a:r>
              <a:t>Solfácil V: CNPJ 47240785000133</a:t>
            </a:r>
          </a:p>
          <a:p>
            <a:r>
              <a:t>Solfácil II: CNPJ 42462306000100</a:t>
            </a:r>
          </a:p>
          <a:p>
            <a:r>
              <a:t>Solfácil III: CNPJ 49920525000134</a:t>
            </a:r>
          </a:p>
          <a:p>
            <a:r>
              <a:t>Solfácil VI: CNPJ 57028406000108</a:t>
            </a:r>
          </a:p>
          <a:p>
            <a:r>
              <a:t>Solfácil VII: CNPJ 63505455000189</a:t>
            </a:r>
          </a:p>
          <a:p>
            <a:r>
              <a:t>Solfácil IV: CNPJ 44909456000144</a:t>
            </a:r>
          </a:p>
          <a:p>
            <a:r>
              <a:t>Fontes:</a:t>
            </a:r>
          </a:p>
          <a:p>
            <a:r>
              <a:t>CNPJ 36771685000117 · Subordinação mínima · Subordinadas ≥25%/PL; mezanino B + júnior ≥15%/PL; razão PL/sênior 133%. · Fundos.NET ID 790882; referência 16/11/2024; data/raw/36771685000117/790882_regulamento_16-11-2024.txt; p.10, definições; p.73;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Subordinação mínima · Subordinadas ≥20%/PL; júnior ≥7%/PL; razão PL/sênior 125%. · Fundos.NET ID 791217; referência 19/11/2024; data/raw/47240785000133/791217_regulamento_19-11-2024.txt; p.10, Razão de Garantia;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Subordinação mínima · Subordinadas ≥20%/PL; júnior ≥4,5%/PL. · Fundos.NET ID 896879; referência 05/05/2025; data/raw/42462306000100/896879_regulamento_05-05-2025.txt; definições Relação Mínima Sênior/Mezanino; capítulo 12; https://fnet.bmfbovespa.com.br/fnet/publico/exibirDocumento?id=896879&amp;cvm=true · Observação: Gatilho júnior transitório de 3% nos primeiros 12 meses não substitui o piso ordinário de 4,5%.</a:t>
            </a:r>
          </a:p>
          <a:p>
            <a:r>
              <a:t>CNPJ 49920525000134 · Subordinação mínima · Subordinadas ≥25%/PL; mezanino B + júnior ≥10%/PL; júnior ≥4%/PL. · Fundos.NET ID 1076645; referência 30/12/2025; data/raw/49920525000134/1076645_regulamento_30-12-2025.txt; definições de razões de garantia; https://fnet.bmfbovespa.com.br/fnet/publico/exibirDocumento?id=1076645&amp;cvm=true · Observação: Targets de amortização de 67%/15%/6%/12% são pesos de pagamento, com finalidade distinta dos pisos de proteção.</a:t>
            </a:r>
          </a:p>
          <a:p>
            <a:r>
              <a:t>CNPJ 57028406000108 · Subordinação mínima · Índices mínimos das subclasses: mezanino A 5%/PL; mezanino B 2,5%/PL; júnior 2%/PL. · Fundos.NET ID 1202319; referência 21/05/2026; data/raw/57028406000108/1202319_regulamento_21-05-2026.txt; p.112; https://fnet.bmfbovespa.com.br/fnet/publico/exibirDocumento?id=1202319&amp;cvm=true · Observação: Índices por subclasse são distintos das razões de cobertura e dos pesos de amortização; não somar sem confirmar cálculo de proteção sênior.</a:t>
            </a:r>
          </a:p>
          <a:p>
            <a:r>
              <a:t>CNPJ 63505455000189 · Subordinação mínima · Índices mínimos das subclasses: mezanino A 5%/PL; mezanino B 2,5%/PL; júnior 2%/PL. · Fundos.NET ID 1199536; referência 14/05/2026; data/raw/63505455000189/1199536_regulamento_14-05-2026.txt; pp.118–119; https://fnet.bmfbovespa.com.br/fnet/publico/exibirDocumento?id=1199536&amp;cvm=true · Observação: Índices por subclasse são distintos das razões de cobertura e dos pesos de amortização; não somar sem confirmar cálculo de proteção sênior.</a:t>
            </a:r>
          </a:p>
          <a:p>
            <a:r>
              <a:t>CNPJ 44909456000144 · Subordinação mínima · Não localizado no corpus documental acessível desta revisão. · Corpus do CNPJ 44909456000144, revisão 2026-10-07T14:46:12-03:00; Fundos.NET ID 1030295, referência 23/10/2025, arquivo data/raw/44909456000144/1030295_regulamento_23-10-2025.txt · Observação: Lacuna documental; exige documento/ato específico do mesmo CNPJ.</a:t>
            </a:r>
          </a:p>
          <a:p>
            <a:r>
              <a:t>CNPJ 36771685000117 · Gatilhos de avaliação/liquidação · Índices contratuais de atraso estoque/parcelas acima de 15%, insolvência e desenquadramentos; cura e decisão conforme evento. · Fundos.NET ID 790882; referência 16/11/2024; data/raw/36771685000117/790882_regulamento_16-11-2024.txt; p.87, eventos de avaliação; https://fnet.bmfbovespa.com.br/fnet/publico/exibirDocumento?id=790882&amp;cvm=true · Observação: Fórmulas por carteira original/parcelas não replicadas pelo aging agregado IME.</a:t>
            </a:r>
          </a:p>
          <a:p>
            <a:r>
              <a:t>CNPJ 47240785000133 · Gatilhos de avaliação/liquidação · Eventos de avaliação/liquidação por desenquadramentos e falhas de prestadores; limites de perdas precisam de fórmula contratual. · Fundos.NET ID 791217; referência 19/11/2024; data/raw/47240785000133/791217_regulamento_19-11-2024.txt; capítulo de eventos de avaliação/liquidação; https://fnet.bmfbovespa.com.br/fnet/publico/exibirDocumento?id=791217&amp;cvm=true · Observação: Não transcrever taxas de perda sem confirmar denominador e período.</a:t>
            </a:r>
          </a:p>
          <a:p>
            <a:r>
              <a:t>CNPJ 42462306000100 · Gatilhos de avaliação/liquidação · Desenquadramento das relações mínimas, reservas, rating e continuidade da Solfácil/servicer; cura específica por evento. · Fundos.NET ID 896879; referência 05/05/2025; data/raw/42462306000100/896879_regulamento_05-05-2025.txt; pp.85–89, 17.2; https://fnet.bmfbovespa.com.br/fnet/publico/exibirDocumento?id=896879&amp;cvm=true · Observação: Reposição após aviso: 22 dias úteis, capítulo 12; não usar gatilho transitório como proteção permanente.</a:t>
            </a:r>
          </a:p>
          <a:p>
            <a:r>
              <a:t>CNPJ 49920525000134 · Gatilhos de avaliação/liquidação · Atraso estoque acima de 12%/parcelas acima de 8,50%; desenquadramento sem cura em 10 dias úteis altera amortização para sequencial. · Fundos.NET ID 1076645; referência 30/12/2025; data/raw/49920525000134/1076645_regulamento_30-12-2025.txt; p.14, definições; p.105, desalavancagem;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Gatilhos de avaliação/liquidação · Cobertura sênior/A/B: 133,33%/111,11%/104,17%; atraso90 &gt;15%; rolagem90 &gt;1,6%; patamares adicionais por regime. · Fundos.NET ID 1202319; referência 21/05/2026; data/raw/57028406000108/1202319_regulamento_21-05-2026.txt; p.113, patamares de risco; https://fnet.bmfbovespa.com.br/fnet/publico/exibirDocumento?id=1202319&amp;cvm=true · Observação: Aging IME/crédito não reproduz fórmula de cobertura/rolagem/vintage; valores contratuais, sem conclusão de enquadramento ao vivo.</a:t>
            </a:r>
          </a:p>
          <a:p>
            <a:r>
              <a:t>CNPJ 63505455000189 · Gatilhos de avaliação/liquidação · Cobertura sênior/A/B: 133,33%/111,11%/104,17%; atraso90 &gt;15%; rolagem90 &gt;1,6%; patamares adicionais por regime. · Fundos.NET ID 1199536; referência 14/05/2026; data/raw/63505455000189/1199536_regulamento_14-05-2026.txt; p.120, 11.1; https://fnet.bmfbovespa.com.br/fnet/publico/exibirDocumento?id=1199536&amp;cvm=true · Observação: Aging IME/crédito não reproduz fórmula de cobertura/rolagem/vintage; valores contratuais, sem conclusão de enquadramento ao vivo.</a:t>
            </a:r>
          </a:p>
          <a:p>
            <a:r>
              <a:t>CNPJ 44909456000144 · Gatilhos de avaliação/liquidação · Não localizado no corpus documental acessível desta revisão. · Corpus do CNPJ 44909456000144, revisão 2026-10-07T14:46:12-03:00; Fundos.NET ID 1030295, referência 23/10/2025, arquivo data/raw/44909456000144/1030295_regulamento_23-10-2025.txt · Observação: Lacuna documental; exige documento/ato específico do mesmo CNPJ.</a:t>
            </a:r>
          </a:p>
          <a:p>
            <a:r>
              <a:t>CNPJ 36771685000117 · Reserva de caixa · 6 meses de despesas estimadas; reserva de amortização 100% da próxima parcela até 30 dias antes, formação desde 45 dias. · Fundos.NET ID 790882; referência 16/11/2024; data/raw/36771685000117/790882_regulamento_16-11-2024.txt; pp.82–83, reservas;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Reserva de caixa · 3 meses de despesas; reserva da próxima amortização, 100% até 30 dias antes, formação desde 45 dias. · Fundos.NET ID 791217; referência 19/11/2024; data/raw/47240785000133/791217_regulamento_19-11-2024.txt; pp.82–83, 14.1–14.2.1;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Reserva de caixa · 3 meses de despesas ordinárias estimadas, com referência à média dos últimos 12 meses. · Fundos.NET ID 896879; referência 05/05/2025; data/raw/42462306000100/896879_regulamento_05-05-2025.txt; pp.82–83, capítulo 15;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Reserva de caixa · Reserva de despesas e encargos; insolvência, reserva insuficiente e DC posteriores ao vencimento das cotas disparam avaliação. · Fundos.NET ID 1076645; referência 30/12/2025; data/raw/49920525000134/1076645_regulamento_30-12-2025.txt; pp.108–109, eventos; https://fnet.bmfbovespa.com.br/fnet/publico/exibirDocumento?id=1076645&amp;cvm=true · Observação: Montante mínimo da reserva não transcrito nesta revisão; controle depende de despesas futuras.</a:t>
            </a:r>
          </a:p>
          <a:p>
            <a:r>
              <a:t>CNPJ 57028406000108 · Reserva de caixa · 3 meses de despesas futuras; reserva de MTM negativo limitada ao menor entre valor absoluto do MTM e 1% do nocional agregado. · Fundos.NET ID 1202319; referência 21/05/2026; data/raw/57028406000108/1202319_regulamento_21-05-2026.txt; pp.58–59, 17.1–17.2; https://fnet.bmfbovespa.com.br/fnet/publico/exibirDocumento?id=1202319&amp;cvm=true · Observação: Reserva de MTM depende da posição derivativa e da aplicabilidade indicada no anexo.</a:t>
            </a:r>
          </a:p>
          <a:p>
            <a:r>
              <a:t>CNPJ 63505455000189 · Reserva de caixa · 3 meses de despesas futuras; reserva de MTM negativo limitada ao menor entre valor absoluto do MTM e 1% do nocional agregado. · Fundos.NET ID 1199536; referência 14/05/2026; data/raw/63505455000189/1199536_regulamento_14-05-2026.txt; pp.70–71, 18.1–18.2; https://fnet.bmfbovespa.com.br/fnet/publico/exibirDocumento?id=1199536&amp;cvm=true · Observação: Reserva de MTM depende da posição derivativa e da aplicabilidade indicada no anexo.</a:t>
            </a:r>
          </a:p>
          <a:p>
            <a:r>
              <a:t>CNPJ 44909456000144 · Reserva de caixa · Reservas para despesas e benchmark; verificação mensal e restrição a chamadas enquanto não recompostas. · Fundos.NET ID 1030295; referência 23/10/2025; data/raw/44909456000144/1030295_regulamento_23-10-2025.txt; pp.50–51, reservas; https://fnet.bmfbovespa.com.br/fnet/publico/exibirDocumento?id=1030295&amp;cvm=true · Observação: Caixa agregado IME é proxy parcial e não mede pagamento esperado por série.</a:t>
            </a:r>
          </a:p>
          <a:p>
            <a:r>
              <a:t>CNPJ 36771685000117 · Derivativos/hedge · Derivativos para proteção; finalidade, contraparte e cobertura dependem de controle contratual. · Fundos.NET ID 790882; referência 16/11/2024; data/raw/36771685000117/790882_regulamento_16-11-2024.txt; política de investimento / operações de derivativos; https://fnet.bmfbovespa.com.br/fnet/publico/exibirDocumento?id=790882&amp;cvm=true · Observação: Parcial via IME: exposição agregada não comprova finalidade ou cobertura por contrato.</a:t>
            </a:r>
          </a:p>
          <a:p>
            <a:r>
              <a:t>CNPJ 47240785000133 · Derivativos/hedge · Derivativos para proteção; finalidade, contraparte e cobertura dependem de controle contratual. · Fundos.NET ID 791217; referência 19/11/2024; data/raw/47240785000133/791217_regulamento_19-11-2024.txt; política de investimento / operações de derivativos; https://fnet.bmfbovespa.com.br/fnet/publico/exibirDocumento?id=791217&amp;cvm=true · Observação: Parcial via IME: exposição agregada não comprova finalidade ou cobertura por contrato.</a:t>
            </a:r>
          </a:p>
          <a:p>
            <a:r>
              <a:t>CNPJ 42462306000100 · Derivativos/hedge · Derivativos para proteção; finalidade, contraparte e cobertura dependem de controle contratual. · Fundos.NET ID 896879; referência 05/05/2025; data/raw/42462306000100/896879_regulamento_05-05-2025.txt; política de investimento / operações de derivativos; https://fnet.bmfbovespa.com.br/fnet/publico/exibirDocumento?id=896879&amp;cvm=true · Observação: Parcial via IME: exposição agregada não comprova finalidade ou cobertura por contrato.</a:t>
            </a:r>
          </a:p>
          <a:p>
            <a:r>
              <a:t>CNPJ 49920525000134 · Derivativos/hedge · Derivativos para proteção; finalidade, contraparte e cobertura dependem de controle contratual. · Fundos.NET ID 1076645; referência 30/12/2025; data/raw/49920525000134/1076645_regulamento_30-12-2025.txt; política de investimento / operações de derivativos; https://fnet.bmfbovespa.com.br/fnet/publico/exibirDocumento?id=1076645&amp;cvm=true · Observação: Parcial via IME: exposição agregada não comprova finalidade ou cobertura por contrato.</a:t>
            </a:r>
          </a:p>
          <a:p>
            <a:r>
              <a:t>CNPJ 57028406000108 · Derivativos/hedge · Proteção de posições à vista; sem exposição descoberta/alavancagem; limite agregado de exposição contratual. · Fundos.NET ID 1202319; referência 21/05/2026; data/raw/57028406000108/1202319_regulamento_21-05-2026.txt; p.111, política de derivativos; https://fnet.bmfbovespa.com.br/fnet/publico/exibirDocumento?id=1202319&amp;cvm=true · Observação: IME agregado não prova finalidade, nocional, MTM por contraparte ou aderência à cobertura contratual.</a:t>
            </a:r>
          </a:p>
          <a:p>
            <a:r>
              <a:t>CNPJ 63505455000189 · Derivativos/hedge · Proteção de posições à vista; sem exposição descoberta/alavancagem; limite agregado de exposição contratual. · Fundos.NET ID 1199536; referência 14/05/2026; data/raw/63505455000189/1199536_regulamento_14-05-2026.txt; p.117, política de derivativos; https://fnet.bmfbovespa.com.br/fnet/publico/exibirDocumento?id=1199536&amp;cvm=true · Observação: IME agregado não prova finalidade, nocional, MTM por contraparte ou aderência à cobertura contratual.</a:t>
            </a:r>
          </a:p>
          <a:p>
            <a:r>
              <a:t>CNPJ 44909456000144 · Derivativos/hedge · Derivativos para proteção; finalidade, contraparte e cobertura dependem de controle contratual. · Fundos.NET ID 1030295; referência 23/10/2025; data/raw/44909456000144/1030295_regulamento_23-10-2025.txt; política de investimento / operações de derivativos; https://fnet.bmfbovespa.com.br/fnet/publico/exibirDocumento?id=1030295&amp;cvm=true · Observação: Parcial via IME: exposição agregada não comprova finalidade ou cobertura por contrato.</a:t>
            </a:r>
          </a:p>
          <a:p>
            <a:r>
              <a:t>CNPJ 36771685000117 · PDD · Política de provisão em anexo; faixa por atraso e renegociação exige aplicação ao contrato. · Fundos.NET ID 790882; referência 16/11/2024; data/raw/36771685000117/790882_regulamento_16-11-2024.txt; anexo de política de provisão para devedores duvidosos; https://fnet.bmfbovespa.com.br/fnet/publico/exibirDocumento?id=790882&amp;cvm=true · Observação: PDD/crédito e PDD/vencidos são proxies. Não foi encontrado um piso uniforme de PDD/PL aplicável a todas as versões.</a:t>
            </a:r>
          </a:p>
          <a:p>
            <a:r>
              <a:t>CNPJ 47240785000133 · PDD · Política de provisão em anexo; faixa por atraso e renegociação exige aplicação ao contrato. · Fundos.NET ID 791217; referência 19/11/2024; data/raw/47240785000133/791217_regulamento_19-11-2024.txt; anexo de política de provisão para devedores duvidosos; https://fnet.bmfbovespa.com.br/fnet/publico/exibirDocumento?id=791217&amp;cvm=true · Observação: PDD/crédito e PDD/vencidos são proxies. Não foi encontrado um piso uniforme de PDD/PL aplicável a todas as versões.</a:t>
            </a:r>
          </a:p>
          <a:p>
            <a:r>
              <a:t>CNPJ 42462306000100 · PDD · Política de provisão em anexo; faixa por atraso e renegociação exige aplicação ao contrato. · Fundos.NET ID 896879; referência 05/05/2025; data/raw/42462306000100/896879_regulamento_05-05-2025.txt; anexo de política de provisão para devedores duvidosos; https://fnet.bmfbovespa.com.br/fnet/publico/exibirDocumento?id=896879&amp;cvm=true · Observação: PDD/crédito e PDD/vencidos são proxies. Não foi encontrado um piso uniforme de PDD/PL aplicável a todas as versões.</a:t>
            </a:r>
          </a:p>
          <a:p>
            <a:r>
              <a:t>CNPJ 49920525000134 · PDD · Política de provisão em anexo; faixa por atraso e renegociação exige aplicação ao contrato. · Fundos.NET ID 1076645; referência 30/12/2025; data/raw/49920525000134/1076645_regulamento_30-12-2025.txt; anexo de política de provisão para devedores duvidosos; https://fnet.bmfbovespa.com.br/fnet/publico/exibirDocumento?id=1076645&amp;cvm=true · Observação: PDD/crédito e PDD/vencidos são proxies. Não foi encontrado um piso uniforme de PDD/PL aplicável a todas as versões.</a:t>
            </a:r>
          </a:p>
          <a:p>
            <a:r>
              <a:t>CNPJ 57028406000108 · PDD · Política de provisão em anexo; faixa por atraso e renegociação exige aplicação ao contrato. · Fundos.NET ID 1202319; referência 21/05/2026; data/raw/57028406000108/1202319_regulamento_21-05-2026.txt; anexo de política de provisão para devedores duvidosos; https://fnet.bmfbovespa.com.br/fnet/publico/exibirDocumento?id=1202319&amp;cvm=true · Observação: PDD/crédito e PDD/vencidos são proxies. Não foi encontrado um piso uniforme de PDD/PL aplicável a todas as versões.</a:t>
            </a:r>
          </a:p>
          <a:p>
            <a:r>
              <a:t>CNPJ 63505455000189 · PDD · Política de provisão em anexo; faixa por atraso e renegociação exige aplicação ao contrato. · Fundos.NET ID 1199536; referência 14/05/2026; data/raw/63505455000189/1199536_regulamento_14-05-2026.txt; anexo de política de provisão para devedores duvidosos; https://fnet.bmfbovespa.com.br/fnet/publico/exibirDocumento?id=1199536&amp;cvm=true · Observação: PDD/crédito e PDD/vencidos são proxies. Não foi encontrado um piso uniforme de PDD/PL aplicável a todas as versões.</a:t>
            </a:r>
          </a:p>
          <a:p>
            <a:r>
              <a:t>CNPJ 44909456000144 · PDD · Política de provisão em anexo; faixa por atraso e renegociação exige aplicação ao contrato. · Fundos.NET ID 1030295; referência 23/10/2025; data/raw/44909456000144/1030295_regulamento_23-10-2025.txt; anexo de política de provisão para devedores duvidosos; https://fnet.bmfbovespa.com.br/fnet/publico/exibirDocumento?id=1030295&amp;cvm=true · Observação: PDD/crédito e PDD/vencidos são proxies. Não foi encontrado um piso uniforme de PDD/PL aplicável a todas as versões.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2026-10-07T14:46:12-03:00</a:t>
            </a:r>
          </a:p>
          <a:p>
            <a:r>
              <a:t>Solfácil I: CNPJ 36771685000117</a:t>
            </a:r>
          </a:p>
          <a:p>
            <a:r>
              <a:t>Solfácil V: CNPJ 47240785000133</a:t>
            </a:r>
          </a:p>
          <a:p>
            <a:r>
              <a:t>Solfácil II: CNPJ 42462306000100</a:t>
            </a:r>
          </a:p>
          <a:p>
            <a:r>
              <a:t>Solfácil III: CNPJ 49920525000134</a:t>
            </a:r>
          </a:p>
          <a:p>
            <a:r>
              <a:t>Solfácil VI: CNPJ 57028406000108</a:t>
            </a:r>
          </a:p>
          <a:p>
            <a:r>
              <a:t>Solfácil VII: CNPJ 63505455000189</a:t>
            </a:r>
          </a:p>
          <a:p>
            <a:r>
              <a:t>Solfácil IV: CNPJ 44909456000144</a:t>
            </a:r>
          </a:p>
          <a:p>
            <a:r>
              <a:t>Fontes:</a:t>
            </a:r>
          </a:p>
          <a:p>
            <a:r>
              <a:t>CNPJ 36771685000117 · Alocação mínima · 50%/PL em DC; 67%/PL para enquadramento tributário. · Fundos.NET ID 790882; referência 16/11/2024; data/raw/36771685000117/790882_regulamento_16-11-2024.txt; p.2, definições;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Alocação mínima · 50%/PL em DC; 67% para enquadramento tributário. · Fundos.NET ID 791217; referência 19/11/2024; data/raw/47240785000133/791217_regulamento_19-11-2024.txt; p.2, definições;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Alocação mínima · 50%/PL em DC; enquadramento tributário de 67% distinto. · Fundos.NET ID 896879; referência 05/05/2025; data/raw/42462306000100/896879_regulamento_05-05-2025.txt; p.2, definições;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Alocação mínima · 67%/PL em direitos creditórios, conforme definição vigente. · Fundos.NET ID 1076645; referência 30/12/2025; data/raw/49920525000134/1076645_regulamento_30-12-2025.txt; p.3, definição Alocação Mínima;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Alocação mínima · 50%/PL em DC; 67%/PL para enquadramento tributário. · Fundos.NET ID 1202319; referência 21/05/2026; data/raw/57028406000108/1202319_regulamento_21-05-2026.txt; política de investimento e definição de Alocação Mínima;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Alocação mínima · 50%/PL em DC; 67%/PL para enquadramento tributário. · Fundos.NET ID 1199536; referência 14/05/2026; data/raw/63505455000189/1199536_regulamento_14-05-2026.txt; p.85, política de investimento;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Alocação mínima · 67%/PL em DC até 90 dias da primeira integralização. · Fundos.NET ID 1030295; referência 23/10/2025; data/raw/44909456000144/1030295_regulamento_23-10-2025.txt; p.20, 5.2; https://fnet.bmfbovespa.com.br/fnet/publico/exibirDocumento?id=1030295&amp;cvm=true · Observação: Conclusão documental; validade limitada à versão citada e às ressalvas desta revisão.</a:t>
            </a:r>
          </a:p>
          <a:p>
            <a:r>
              <a:t>CNPJ 36771685000117 · Pool/revolvência · Nova aquisição condicionada à autorização de assembleia; não tratar como revolvência automática. · Fundos.NET ID 790882; referência 16/11/2024; data/raw/36771685000117/790882_regulamento_16-11-2024.txt; p.55, critérios de elegibilidade;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Pool/revolvência · Aquisições e pagamentos condicionados ao período de carência e ao waterfall; período por emissão não confirmado. · Fundos.NET ID 791217; referência 19/11/2024; data/raw/47240785000133/791217_regulamento_19-11-2024.txt; pp.82–84, reservas e alocação;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Pool/revolvência · Aquisição de direitos creditórios durante período de carência; demais recursos seguem waterfall. · Fundos.NET ID 896879; referência 05/05/2025; data/raw/42462306000100/896879_regulamento_05-05-2025.txt; pp.83–84, 16.1–16.2;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Pool/revolvência · Recursos seguem compras e amortização conforme regimes; revolvência irrestrita não demonstrada. · Fundos.NET ID 1076645; referência 30/12/2025; data/raw/49920525000134/1076645_regulamento_30-12-2025.txt; capítulos de aplicação/alocação e amortização;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Pool/revolvência · Aquisições e amortização conforme regimes; período de carência/desinvestimento depende das séries. · Fundos.NET ID 1202319; referência 21/05/2026; data/raw/57028406000108/1202319_regulamento_21-05-2026.txt; p.86, carência/desinvestimento;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Pool/revolvência · Reinvestimento obrigatório das receitas em ativos elegíveis durante período de revolvência; duração por série não preenchida. · Fundos.NET ID 1199536; referência 14/05/2026; data/raw/63505455000189/1199536_regulamento_14-05-2026.txt; pp.115–117, 6.1.1/6.2.1;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Pool/revolvência · Aquisição e chamadas sujeitas a reservas e condições contratuais; duração da revolvência não confirmada. · Fundos.NET ID 1030295; referência 23/10/2025; data/raw/44909456000144/1030295_regulamento_23-10-2025.txt; pp.38,50–51; https://fnet.bmfbovespa.com.br/fnet/publico/exibirDocumento?id=1030295&amp;cvm=true · Observação: Conclusão documental; validade limitada à versão citada e às ressalvas desta revisão.</a:t>
            </a:r>
          </a:p>
          <a:p>
            <a:r>
              <a:t>CNPJ 36771685000117 · Duração/público-alvo · Classe fechada; duração e pagamentos por série nos suplementos; aquisição por investidores autorizados. · Fundos.NET ID 790882; referência 16/11/2024; data/raw/36771685000117/790882_regulamento_16-11-2024.txt; características do fundo / capítulo de cotas;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Duração/público-alvo · Classe fechada; termos de duração e pagamentos por série nos suplementos. · Fundos.NET ID 791217; referência 19/11/2024; data/raw/47240785000133/791217_regulamento_19-11-2024.txt; capítulo de cotas / parâmetros de pagamento;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Duração/público-alvo · Classe fechada; prazo indeterminado da classe e prazos de séries nos apêndices. · Fundos.NET ID 896879; referência 05/05/2025; data/raw/42462306000100/896879_regulamento_05-05-2025.txt; características e capítulo de cotas;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Duração/público-alvo · Classe fechada de prazo indeterminado; séries com prazo próprio; investidores autorizados. · Fundos.NET ID 1076645; referência 30/12/2025; data/raw/49920525000134/1076645_regulamento_30-12-2025.txt; pp.75–76, risco de liquidez;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Duração/público-alvo · Classe fechada; prazos e remuneração de séries nos apêndices; investidores autorizados. · Fundos.NET ID 1202319; referência 21/05/2026; data/raw/57028406000108/1202319_regulamento_21-05-2026.txt; modelos de apêndices / características da classe;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Duração/público-alvo · Classe fechada; prazos e remuneração de séries nos apêndices; investidores autorizados. · Fundos.NET ID 1199536; referência 14/05/2026; data/raw/63505455000189/1199536_regulamento_14-05-2026.txt; modelos de apêndices / características da classe;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Duração/público-alvo · Classe fechada; prazos e resgates dependem de suplementos. · Fundos.NET ID 1030295; referência 23/10/2025; data/raw/44909456000144/1030295_regulamento_23-10-2025.txt; p.38, pagamentos e resgate; https://fnet.bmfbovespa.com.br/fnet/publico/exibirDocumento?id=1030295&amp;cvm=true · Observação: Conclusão documental; validade limitada à versão citada e às ressalvas desta revisão.</a:t>
            </a:r>
          </a:p>
          <a:p>
            <a:r>
              <a:t>CNPJ 36771685000117 · Cessão/recompra · Endosso definitivo; recompra/resolução e indenização condicionadas ao contrato de transferência. · Fundos.NET ID 790882; referência 16/11/2024; data/raw/36771685000117/790882_regulamento_16-11-2024.txt; política de investimento; Contrato de Endosso / Transferência; https://fnet.bmfbovespa.com.br/fnet/publico/exibirDocumento?id=790882&amp;cvm=true · Observação: IME Recompras/crédito não identifica vício de lastro, motivo ou cumprimento da indenização.</a:t>
            </a:r>
          </a:p>
          <a:p>
            <a:r>
              <a:t>CNPJ 47240785000133 · Cessão/recompra · Endosso definitivo; recompra/resolução e indenização condicionadas ao contrato de transferência. · Fundos.NET ID 791217; referência 19/11/2024; data/raw/47240785000133/791217_regulamento_19-11-2024.txt; política de investimento; Contrato de Endosso / Transferência; https://fnet.bmfbovespa.com.br/fnet/publico/exibirDocumento?id=791217&amp;cvm=true · Observação: IME Recompras/crédito não identifica vício de lastro, motivo ou cumprimento da indenização.</a:t>
            </a:r>
          </a:p>
          <a:p>
            <a:r>
              <a:t>CNPJ 42462306000100 · Cessão/recompra · Endosso definitivo; recompra/resolução e indenização condicionadas ao contrato de transferência. · Fundos.NET ID 896879; referência 05/05/2025; data/raw/42462306000100/896879_regulamento_05-05-2025.txt; política de investimento; Contrato de Endosso / Transferência; https://fnet.bmfbovespa.com.br/fnet/publico/exibirDocumento?id=896879&amp;cvm=true · Observação: IME Recompras/crédito não identifica vício de lastro, motivo ou cumprimento da indenização.</a:t>
            </a:r>
          </a:p>
          <a:p>
            <a:r>
              <a:t>CNPJ 49920525000134 · Cessão/recompra · Endosso definitivo; recompra/resolução e indenização condicionadas ao contrato de transferência. · Fundos.NET ID 1076645; referência 30/12/2025; data/raw/49920525000134/1076645_regulamento_30-12-2025.txt; política de investimento; Contrato de Endosso / Transferência; https://fnet.bmfbovespa.com.br/fnet/publico/exibirDocumento?id=1076645&amp;cvm=true · Observação: IME Recompras/crédito não identifica vício de lastro, motivo ou cumprimento da indenização.</a:t>
            </a:r>
          </a:p>
          <a:p>
            <a:r>
              <a:t>CNPJ 57028406000108 · Cessão/recompra · Endosso definitivo; recompra/resolução e indenização condicionadas ao contrato de transferência. · Fundos.NET ID 1202319; referência 21/05/2026; data/raw/57028406000108/1202319_regulamento_21-05-2026.txt; política de investimento; Contrato de Endosso / Transferência; https://fnet.bmfbovespa.com.br/fnet/publico/exibirDocumento?id=1202319&amp;cvm=true · Observação: IME Recompras/crédito não identifica vício de lastro, motivo ou cumprimento da indenização.</a:t>
            </a:r>
          </a:p>
          <a:p>
            <a:r>
              <a:t>CNPJ 63505455000189 · Cessão/recompra · Endosso definitivo; recompra/resolução e indenização condicionadas ao contrato de transferência. · Fundos.NET ID 1199536; referência 14/05/2026; data/raw/63505455000189/1199536_regulamento_14-05-2026.txt; política de investimento; Contrato de Endosso / Transferência; https://fnet.bmfbovespa.com.br/fnet/publico/exibirDocumento?id=1199536&amp;cvm=true · Observação: IME Recompras/crédito não identifica vício de lastro, motivo ou cumprimento da indenização.</a:t>
            </a:r>
          </a:p>
          <a:p>
            <a:r>
              <a:t>CNPJ 44909456000144 · Cessão/recompra · Endosso definitivo; recompra/resolução e indenização condicionadas ao contrato de transferência. · Fundos.NET ID 1030295; referência 23/10/2025; data/raw/44909456000144/1030295_regulamento_23-10-2025.txt; política de investimento; Contrato de Endosso / Transferência; https://fnet.bmfbovespa.com.br/fnet/publico/exibirDocumento?id=1030295&amp;cvm=true · Observação: IME Recompras/crédito não identifica vício de lastro, motivo ou cumprimento da indenização.</a:t>
            </a:r>
          </a:p>
          <a:p>
            <a:r>
              <a:t>CNPJ 36771685000117 · Coobrigação · Transferência sem coobrigação do endossante; responsabilidades por vícios seguem contrato específico. · Fundos.NET ID 790882; referência 16/11/2024; data/raw/36771685000117/790882_regulamento_16-11-2024.txt; política de investimento / definição de Contrato de Transferência;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Coobrigação · Transferência sem coobrigação do endossante; responsabilidades por vícios seguem contrato específico. · Fundos.NET ID 791217; referência 19/11/2024; data/raw/47240785000133/791217_regulamento_19-11-2024.txt; política de investimento / definição de Contrato de Transferência;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Coobrigação · Transferência sem coobrigação do endossante; responsabilidades por vícios seguem contrato específico. · Fundos.NET ID 896879; referência 05/05/2025; data/raw/42462306000100/896879_regulamento_05-05-2025.txt; política de investimento / definição de Contrato de Transferência;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Coobrigação · Transferência sem coobrigação do endossante; responsabilidades por vícios seguem contrato específico. · Fundos.NET ID 1076645; referência 30/12/2025; data/raw/49920525000134/1076645_regulamento_30-12-2025.txt; política de investimento / definição de Contrato de Transferência;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Coobrigação · Transferência sem coobrigação do endossante; responsabilidades por vícios seguem contrato específico. · Fundos.NET ID 1202319; referência 21/05/2026; data/raw/57028406000108/1202319_regulamento_21-05-2026.txt; política de investimento / definição de Contrato de Transferência;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Coobrigação · Transferência sem coobrigação do endossante; responsabilidades por vícios seguem contrato específico. · Fundos.NET ID 1199536; referência 14/05/2026; data/raw/63505455000189/1199536_regulamento_14-05-2026.txt; política de investimento / definição de Contrato de Transferência;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Coobrigação · Transferência sem coobrigação do endossante; responsabilidades por vícios seguem contrato específico. · Fundos.NET ID 1030295; referência 23/10/2025; data/raw/44909456000144/1030295_regulamento_23-10-2025.txt; política de investimento / definição de Contrato de Transferência; https://fnet.bmfbovespa.com.br/fnet/publico/exibirDocumento?id=1030295&amp;cvm=true · Observação: Conclusão documental; validade limitada à versão citada e às ressalvas desta revisão.</a:t>
            </a:r>
          </a:p>
          <a:p>
            <a:r>
              <a:t>CNPJ 36771685000117 · Waterfall · Despesas/reservas antes de pagamentos; prioridade por cota e regimes definidos no capítulo de alocação. · Fundos.NET ID 790882; referência 16/11/2024; data/raw/36771685000117/790882_regulamento_16-11-2024.txt; pp.83–86, ordem de alocação;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Waterfall · Despesas/reservas antes de pagamentos; cotas públicas precedem júnior, sujeito a exceções de amortização extraordinária. · Fundos.NET ID 791217; referência 19/11/2024; data/raw/47240785000133/791217_regulamento_19-11-2024.txt; pp.82–85, capítulos 13–15;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Waterfall · Despesas → reserva → amortizações; compras de crédito durante carência e remanescentes conforme 16.2. · Fundos.NET ID 896879; referência 05/05/2025; data/raw/42462306000100/896879_regulamento_05-05-2025.txt; pp.83–84, 16.1–16.2;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Waterfall · Amortização pro rata; desalavancagem aciona sequencial; realavancagem após três verificações enquadradas, com restrições. · Fundos.NET ID 1076645; referência 30/12/2025; data/raw/49920525000134/1076645_regulamento_30-12-2025.txt; p.105, capítulo 19;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Waterfall · Pro rata sujeito a metas; desalavancagem aciona sequencial com prioridade sênior → mezanino A → B → júnior. · Fundos.NET ID 1202319; referência 21/05/2026; data/raw/57028406000108/1202319_regulamento_21-05-2026.txt; pp.46–47, alocação e regimes;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Waterfall · Pro rata sujeito a metas; desalavancagem aciona sequencial com prioridade sênior → mezanino A → B → júnior. · Fundos.NET ID 1199536; referência 14/05/2026; data/raw/63505455000189/1199536_regulamento_14-05-2026.txt; pp.51–60, alocação e regimes;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Waterfall · Pagamento de despesas, benchmark e principal segundo ordem contratual; valores dependem do suplemento. · Fundos.NET ID 1030295; referência 23/10/2025; data/raw/44909456000144/1030295_regulamento_23-10-2025.txt; capítulo de pagamentos / alocação; https://fnet.bmfbovespa.com.br/fnet/publico/exibirDocumento?id=1030295&amp;cvm=true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2026-10-07T14:46:12-03:00</a:t>
            </a:r>
          </a:p>
          <a:p>
            <a:r>
              <a:t>Solfácil I: CNPJ 36771685000117</a:t>
            </a:r>
          </a:p>
          <a:p>
            <a:r>
              <a:t>Solfácil V: CNPJ 47240785000133</a:t>
            </a:r>
          </a:p>
          <a:p>
            <a:r>
              <a:t>Solfácil II: CNPJ 42462306000100</a:t>
            </a:r>
          </a:p>
          <a:p>
            <a:r>
              <a:t>Solfácil III: CNPJ 49920525000134</a:t>
            </a:r>
          </a:p>
          <a:p>
            <a:r>
              <a:t>Solfácil VI: CNPJ 57028406000108</a:t>
            </a:r>
          </a:p>
          <a:p>
            <a:r>
              <a:t>Solfácil VII: CNPJ 63505455000189</a:t>
            </a:r>
          </a:p>
          <a:p>
            <a:r>
              <a:t>Solfácil IV: CNPJ 44909456000144</a:t>
            </a:r>
          </a:p>
          <a:p>
            <a:r>
              <a:t>Fontes:</a:t>
            </a:r>
          </a:p>
          <a:p>
            <a:r>
              <a:t>CNPJ 36771685000117 · Alocação mínima · 50%/PL em DC; 67%/PL para enquadramento tributário. · Fundos.NET ID 790882; referência 16/11/2024; data/raw/36771685000117/790882_regulamento_16-11-2024.txt; p.2, definições;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Alocação mínima · 50%/PL em DC; 67% para enquadramento tributário. · Fundos.NET ID 791217; referência 19/11/2024; data/raw/47240785000133/791217_regulamento_19-11-2024.txt; p.2, definições;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Alocação mínima · 50%/PL em DC; enquadramento tributário de 67% distinto. · Fundos.NET ID 896879; referência 05/05/2025; data/raw/42462306000100/896879_regulamento_05-05-2025.txt; p.2, definições;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Alocação mínima · 67%/PL em direitos creditórios, conforme definição vigente. · Fundos.NET ID 1076645; referência 30/12/2025; data/raw/49920525000134/1076645_regulamento_30-12-2025.txt; p.3, definição Alocação Mínima;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Alocação mínima · 50%/PL em DC; 67%/PL para enquadramento tributário. · Fundos.NET ID 1202319; referência 21/05/2026; data/raw/57028406000108/1202319_regulamento_21-05-2026.txt; política de investimento e definição de Alocação Mínima;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Alocação mínima · 50%/PL em DC; 67%/PL para enquadramento tributário. · Fundos.NET ID 1199536; referência 14/05/2026; data/raw/63505455000189/1199536_regulamento_14-05-2026.txt; p.85, política de investimento;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Alocação mínima · 67%/PL em DC até 90 dias da primeira integralização. · Fundos.NET ID 1030295; referência 23/10/2025; data/raw/44909456000144/1030295_regulamento_23-10-2025.txt; p.20, 5.2; https://fnet.bmfbovespa.com.br/fnet/publico/exibirDocumento?id=1030295&amp;cvm=true · Observação: Conclusão documental; validade limitada à versão citada e às ressalvas desta revisão.</a:t>
            </a:r>
          </a:p>
          <a:p>
            <a:r>
              <a:t>CNPJ 36771685000117 · Pool/revolvência · Nova aquisição condicionada à autorização de assembleia; não tratar como revolvência automática. · Fundos.NET ID 790882; referência 16/11/2024; data/raw/36771685000117/790882_regulamento_16-11-2024.txt; p.55, critérios de elegibilidade;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Pool/revolvência · Aquisições e pagamentos condicionados ao período de carência e ao waterfall; período por emissão não confirmado. · Fundos.NET ID 791217; referência 19/11/2024; data/raw/47240785000133/791217_regulamento_19-11-2024.txt; pp.82–84, reservas e alocação;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Pool/revolvência · Aquisição de direitos creditórios durante período de carência; demais recursos seguem waterfall. · Fundos.NET ID 896879; referência 05/05/2025; data/raw/42462306000100/896879_regulamento_05-05-2025.txt; pp.83–84, 16.1–16.2;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Pool/revolvência · Recursos seguem compras e amortização conforme regimes; revolvência irrestrita não demonstrada. · Fundos.NET ID 1076645; referência 30/12/2025; data/raw/49920525000134/1076645_regulamento_30-12-2025.txt; capítulos de aplicação/alocação e amortização;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Pool/revolvência · Aquisições e amortização conforme regimes; período de carência/desinvestimento depende das séries. · Fundos.NET ID 1202319; referência 21/05/2026; data/raw/57028406000108/1202319_regulamento_21-05-2026.txt; p.86, carência/desinvestimento;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Pool/revolvência · Reinvestimento obrigatório das receitas em ativos elegíveis durante período de revolvência; duração por série não preenchida. · Fundos.NET ID 1199536; referência 14/05/2026; data/raw/63505455000189/1199536_regulamento_14-05-2026.txt; pp.115–117, 6.1.1/6.2.1;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Pool/revolvência · Aquisição e chamadas sujeitas a reservas e condições contratuais; duração da revolvência não confirmada. · Fundos.NET ID 1030295; referência 23/10/2025; data/raw/44909456000144/1030295_regulamento_23-10-2025.txt; pp.38,50–51; https://fnet.bmfbovespa.com.br/fnet/publico/exibirDocumento?id=1030295&amp;cvm=true · Observação: Conclusão documental; validade limitada à versão citada e às ressalvas desta revisão.</a:t>
            </a:r>
          </a:p>
          <a:p>
            <a:r>
              <a:t>CNPJ 36771685000117 · Duração/público-alvo · Classe fechada; duração e pagamentos por série nos suplementos; aquisição por investidores autorizados. · Fundos.NET ID 790882; referência 16/11/2024; data/raw/36771685000117/790882_regulamento_16-11-2024.txt; características do fundo / capítulo de cotas;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Duração/público-alvo · Classe fechada; termos de duração e pagamentos por série nos suplementos. · Fundos.NET ID 791217; referência 19/11/2024; data/raw/47240785000133/791217_regulamento_19-11-2024.txt; capítulo de cotas / parâmetros de pagamento;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Duração/público-alvo · Classe fechada; prazo indeterminado da classe e prazos de séries nos apêndices. · Fundos.NET ID 896879; referência 05/05/2025; data/raw/42462306000100/896879_regulamento_05-05-2025.txt; características e capítulo de cotas;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Duração/público-alvo · Classe fechada de prazo indeterminado; séries com prazo próprio; investidores autorizados. · Fundos.NET ID 1076645; referência 30/12/2025; data/raw/49920525000134/1076645_regulamento_30-12-2025.txt; pp.75–76, risco de liquidez;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Duração/público-alvo · Classe fechada; prazos e remuneração de séries nos apêndices; investidores autorizados. · Fundos.NET ID 1202319; referência 21/05/2026; data/raw/57028406000108/1202319_regulamento_21-05-2026.txt; modelos de apêndices / características da classe;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Duração/público-alvo · Classe fechada; prazos e remuneração de séries nos apêndices; investidores autorizados. · Fundos.NET ID 1199536; referência 14/05/2026; data/raw/63505455000189/1199536_regulamento_14-05-2026.txt; modelos de apêndices / características da classe;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Duração/público-alvo · Classe fechada; prazos e resgates dependem de suplementos. · Fundos.NET ID 1030295; referência 23/10/2025; data/raw/44909456000144/1030295_regulamento_23-10-2025.txt; p.38, pagamentos e resgate; https://fnet.bmfbovespa.com.br/fnet/publico/exibirDocumento?id=1030295&amp;cvm=true · Observação: Conclusão documental; validade limitada à versão citada e às ressalvas desta revisão.</a:t>
            </a:r>
          </a:p>
          <a:p>
            <a:r>
              <a:t>CNPJ 36771685000117 · Cessão/recompra · Endosso definitivo; recompra/resolução e indenização condicionadas ao contrato de transferência. · Fundos.NET ID 790882; referência 16/11/2024; data/raw/36771685000117/790882_regulamento_16-11-2024.txt; política de investimento; Contrato de Endosso / Transferência; https://fnet.bmfbovespa.com.br/fnet/publico/exibirDocumento?id=790882&amp;cvm=true · Observação: IME Recompras/crédito não identifica vício de lastro, motivo ou cumprimento da indenização.</a:t>
            </a:r>
          </a:p>
          <a:p>
            <a:r>
              <a:t>CNPJ 47240785000133 · Cessão/recompra · Endosso definitivo; recompra/resolução e indenização condicionadas ao contrato de transferência. · Fundos.NET ID 791217; referência 19/11/2024; data/raw/47240785000133/791217_regulamento_19-11-2024.txt; política de investimento; Contrato de Endosso / Transferência; https://fnet.bmfbovespa.com.br/fnet/publico/exibirDocumento?id=791217&amp;cvm=true · Observação: IME Recompras/crédito não identifica vício de lastro, motivo ou cumprimento da indenização.</a:t>
            </a:r>
          </a:p>
          <a:p>
            <a:r>
              <a:t>CNPJ 42462306000100 · Cessão/recompra · Endosso definitivo; recompra/resolução e indenização condicionadas ao contrato de transferência. · Fundos.NET ID 896879; referência 05/05/2025; data/raw/42462306000100/896879_regulamento_05-05-2025.txt; política de investimento; Contrato de Endosso / Transferência; https://fnet.bmfbovespa.com.br/fnet/publico/exibirDocumento?id=896879&amp;cvm=true · Observação: IME Recompras/crédito não identifica vício de lastro, motivo ou cumprimento da indenização.</a:t>
            </a:r>
          </a:p>
          <a:p>
            <a:r>
              <a:t>CNPJ 49920525000134 · Cessão/recompra · Endosso definitivo; recompra/resolução e indenização condicionadas ao contrato de transferência. · Fundos.NET ID 1076645; referência 30/12/2025; data/raw/49920525000134/1076645_regulamento_30-12-2025.txt; política de investimento; Contrato de Endosso / Transferência; https://fnet.bmfbovespa.com.br/fnet/publico/exibirDocumento?id=1076645&amp;cvm=true · Observação: IME Recompras/crédito não identifica vício de lastro, motivo ou cumprimento da indenização.</a:t>
            </a:r>
          </a:p>
          <a:p>
            <a:r>
              <a:t>CNPJ 57028406000108 · Cessão/recompra · Endosso definitivo; recompra/resolução e indenização condicionadas ao contrato de transferência. · Fundos.NET ID 1202319; referência 21/05/2026; data/raw/57028406000108/1202319_regulamento_21-05-2026.txt; política de investimento; Contrato de Endosso / Transferência; https://fnet.bmfbovespa.com.br/fnet/publico/exibirDocumento?id=1202319&amp;cvm=true · Observação: IME Recompras/crédito não identifica vício de lastro, motivo ou cumprimento da indenização.</a:t>
            </a:r>
          </a:p>
          <a:p>
            <a:r>
              <a:t>CNPJ 63505455000189 · Cessão/recompra · Endosso definitivo; recompra/resolução e indenização condicionadas ao contrato de transferência. · Fundos.NET ID 1199536; referência 14/05/2026; data/raw/63505455000189/1199536_regulamento_14-05-2026.txt; política de investimento; Contrato de Endosso / Transferência; https://fnet.bmfbovespa.com.br/fnet/publico/exibirDocumento?id=1199536&amp;cvm=true · Observação: IME Recompras/crédito não identifica vício de lastro, motivo ou cumprimento da indenização.</a:t>
            </a:r>
          </a:p>
          <a:p>
            <a:r>
              <a:t>CNPJ 44909456000144 · Cessão/recompra · Endosso definitivo; recompra/resolução e indenização condicionadas ao contrato de transferência. · Fundos.NET ID 1030295; referência 23/10/2025; data/raw/44909456000144/1030295_regulamento_23-10-2025.txt; política de investimento; Contrato de Endosso / Transferência; https://fnet.bmfbovespa.com.br/fnet/publico/exibirDocumento?id=1030295&amp;cvm=true · Observação: IME Recompras/crédito não identifica vício de lastro, motivo ou cumprimento da indenização.</a:t>
            </a:r>
          </a:p>
          <a:p>
            <a:r>
              <a:t>CNPJ 36771685000117 · Coobrigação · Transferência sem coobrigação do endossante; responsabilidades por vícios seguem contrato específico. · Fundos.NET ID 790882; referência 16/11/2024; data/raw/36771685000117/790882_regulamento_16-11-2024.txt; política de investimento / definição de Contrato de Transferência;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Coobrigação · Transferência sem coobrigação do endossante; responsabilidades por vícios seguem contrato específico. · Fundos.NET ID 791217; referência 19/11/2024; data/raw/47240785000133/791217_regulamento_19-11-2024.txt; política de investimento / definição de Contrato de Transferência;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Coobrigação · Transferência sem coobrigação do endossante; responsabilidades por vícios seguem contrato específico. · Fundos.NET ID 896879; referência 05/05/2025; data/raw/42462306000100/896879_regulamento_05-05-2025.txt; política de investimento / definição de Contrato de Transferência;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Coobrigação · Transferência sem coobrigação do endossante; responsabilidades por vícios seguem contrato específico. · Fundos.NET ID 1076645; referência 30/12/2025; data/raw/49920525000134/1076645_regulamento_30-12-2025.txt; política de investimento / definição de Contrato de Transferência;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Coobrigação · Transferência sem coobrigação do endossante; responsabilidades por vícios seguem contrato específico. · Fundos.NET ID 1202319; referência 21/05/2026; data/raw/57028406000108/1202319_regulamento_21-05-2026.txt; política de investimento / definição de Contrato de Transferência;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Coobrigação · Transferência sem coobrigação do endossante; responsabilidades por vícios seguem contrato específico. · Fundos.NET ID 1199536; referência 14/05/2026; data/raw/63505455000189/1199536_regulamento_14-05-2026.txt; política de investimento / definição de Contrato de Transferência;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Coobrigação · Transferência sem coobrigação do endossante; responsabilidades por vícios seguem contrato específico. · Fundos.NET ID 1030295; referência 23/10/2025; data/raw/44909456000144/1030295_regulamento_23-10-2025.txt; política de investimento / definição de Contrato de Transferência; https://fnet.bmfbovespa.com.br/fnet/publico/exibirDocumento?id=1030295&amp;cvm=true · Observação: Conclusão documental; validade limitada à versão citada e às ressalvas desta revisão.</a:t>
            </a:r>
          </a:p>
          <a:p>
            <a:r>
              <a:t>CNPJ 36771685000117 · Waterfall · Despesas/reservas antes de pagamentos; prioridade por cota e regimes definidos no capítulo de alocação. · Fundos.NET ID 790882; referência 16/11/2024; data/raw/36771685000117/790882_regulamento_16-11-2024.txt; pp.83–86, ordem de alocação;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Waterfall · Despesas/reservas antes de pagamentos; cotas públicas precedem júnior, sujeito a exceções de amortização extraordinária. · Fundos.NET ID 791217; referência 19/11/2024; data/raw/47240785000133/791217_regulamento_19-11-2024.txt; pp.82–85, capítulos 13–15;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Waterfall · Despesas → reserva → amortizações; compras de crédito durante carência e remanescentes conforme 16.2. · Fundos.NET ID 896879; referência 05/05/2025; data/raw/42462306000100/896879_regulamento_05-05-2025.txt; pp.83–84, 16.1–16.2;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Waterfall · Amortização pro rata; desalavancagem aciona sequencial; realavancagem após três verificações enquadradas, com restrições. · Fundos.NET ID 1076645; referência 30/12/2025; data/raw/49920525000134/1076645_regulamento_30-12-2025.txt; p.105, capítulo 19;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Waterfall · Pro rata sujeito a metas; desalavancagem aciona sequencial com prioridade sênior → mezanino A → B → júnior. · Fundos.NET ID 1202319; referência 21/05/2026; data/raw/57028406000108/1202319_regulamento_21-05-2026.txt; pp.46–47, alocação e regimes;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Waterfall · Pro rata sujeito a metas; desalavancagem aciona sequencial com prioridade sênior → mezanino A → B → júnior. · Fundos.NET ID 1199536; referência 14/05/2026; data/raw/63505455000189/1199536_regulamento_14-05-2026.txt; pp.51–60, alocação e regimes;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Waterfall · Pagamento de despesas, benchmark e principal segundo ordem contratual; valores dependem do suplemento. · Fundos.NET ID 1030295; referência 23/10/2025; data/raw/44909456000144/1030295_regulamento_23-10-2025.txt; capítulo de pagamentos / alocação; https://fnet.bmfbovespa.com.br/fnet/publico/exibirDocumento?id=1030295&amp;cvm=true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2026-10-07T14:46:12-03:00</a:t>
            </a:r>
          </a:p>
          <a:p>
            <a:r>
              <a:t>Solfácil I: CNPJ 36771685000117</a:t>
            </a:r>
          </a:p>
          <a:p>
            <a:r>
              <a:t>Solfácil V: CNPJ 47240785000133</a:t>
            </a:r>
          </a:p>
          <a:p>
            <a:r>
              <a:t>Solfácil II: CNPJ 42462306000100</a:t>
            </a:r>
          </a:p>
          <a:p>
            <a:r>
              <a:t>Solfácil III: CNPJ 49920525000134</a:t>
            </a:r>
          </a:p>
          <a:p>
            <a:r>
              <a:t>Solfácil VI: CNPJ 57028406000108</a:t>
            </a:r>
          </a:p>
          <a:p>
            <a:r>
              <a:t>Solfácil VII: CNPJ 63505455000189</a:t>
            </a:r>
          </a:p>
          <a:p>
            <a:r>
              <a:t>Solfácil IV: CNPJ 44909456000144</a:t>
            </a:r>
          </a:p>
          <a:p>
            <a:r>
              <a:t>Fontes:</a:t>
            </a:r>
          </a:p>
          <a:p>
            <a:r>
              <a:t>CNPJ 36771685000117 · Alocação mínima · 50%/PL em DC; 67%/PL para enquadramento tributário. · Fundos.NET ID 790882; referência 16/11/2024; data/raw/36771685000117/790882_regulamento_16-11-2024.txt; p.2, definições;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Alocação mínima · 50%/PL em DC; 67% para enquadramento tributário. · Fundos.NET ID 791217; referência 19/11/2024; data/raw/47240785000133/791217_regulamento_19-11-2024.txt; p.2, definições;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Alocação mínima · 50%/PL em DC; enquadramento tributário de 67% distinto. · Fundos.NET ID 896879; referência 05/05/2025; data/raw/42462306000100/896879_regulamento_05-05-2025.txt; p.2, definições;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Alocação mínima · 67%/PL em direitos creditórios, conforme definição vigente. · Fundos.NET ID 1076645; referência 30/12/2025; data/raw/49920525000134/1076645_regulamento_30-12-2025.txt; p.3, definição Alocação Mínima;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Alocação mínima · 50%/PL em DC; 67%/PL para enquadramento tributário. · Fundos.NET ID 1202319; referência 21/05/2026; data/raw/57028406000108/1202319_regulamento_21-05-2026.txt; política de investimento e definição de Alocação Mínima;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Alocação mínima · 50%/PL em DC; 67%/PL para enquadramento tributário. · Fundos.NET ID 1199536; referência 14/05/2026; data/raw/63505455000189/1199536_regulamento_14-05-2026.txt; p.85, política de investimento;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Alocação mínima · 67%/PL em DC até 90 dias da primeira integralização. · Fundos.NET ID 1030295; referência 23/10/2025; data/raw/44909456000144/1030295_regulamento_23-10-2025.txt; p.20, 5.2; https://fnet.bmfbovespa.com.br/fnet/publico/exibirDocumento?id=1030295&amp;cvm=true · Observação: Conclusão documental; validade limitada à versão citada e às ressalvas desta revisão.</a:t>
            </a:r>
          </a:p>
          <a:p>
            <a:r>
              <a:t>CNPJ 36771685000117 · Pool/revolvência · Nova aquisição condicionada à autorização de assembleia; não tratar como revolvência automática. · Fundos.NET ID 790882; referência 16/11/2024; data/raw/36771685000117/790882_regulamento_16-11-2024.txt; p.55, critérios de elegibilidade;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Pool/revolvência · Aquisições e pagamentos condicionados ao período de carência e ao waterfall; período por emissão não confirmado. · Fundos.NET ID 791217; referência 19/11/2024; data/raw/47240785000133/791217_regulamento_19-11-2024.txt; pp.82–84, reservas e alocação;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Pool/revolvência · Aquisição de direitos creditórios durante período de carência; demais recursos seguem waterfall. · Fundos.NET ID 896879; referência 05/05/2025; data/raw/42462306000100/896879_regulamento_05-05-2025.txt; pp.83–84, 16.1–16.2;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Pool/revolvência · Recursos seguem compras e amortização conforme regimes; revolvência irrestrita não demonstrada. · Fundos.NET ID 1076645; referência 30/12/2025; data/raw/49920525000134/1076645_regulamento_30-12-2025.txt; capítulos de aplicação/alocação e amortização;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Pool/revolvência · Aquisições e amortização conforme regimes; período de carência/desinvestimento depende das séries. · Fundos.NET ID 1202319; referência 21/05/2026; data/raw/57028406000108/1202319_regulamento_21-05-2026.txt; p.86, carência/desinvestimento;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Pool/revolvência · Reinvestimento obrigatório das receitas em ativos elegíveis durante período de revolvência; duração por série não preenchida. · Fundos.NET ID 1199536; referência 14/05/2026; data/raw/63505455000189/1199536_regulamento_14-05-2026.txt; pp.115–117, 6.1.1/6.2.1;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Pool/revolvência · Aquisição e chamadas sujeitas a reservas e condições contratuais; duração da revolvência não confirmada. · Fundos.NET ID 1030295; referência 23/10/2025; data/raw/44909456000144/1030295_regulamento_23-10-2025.txt; pp.38,50–51; https://fnet.bmfbovespa.com.br/fnet/publico/exibirDocumento?id=1030295&amp;cvm=true · Observação: Conclusão documental; validade limitada à versão citada e às ressalvas desta revisão.</a:t>
            </a:r>
          </a:p>
          <a:p>
            <a:r>
              <a:t>CNPJ 36771685000117 · Duração/público-alvo · Classe fechada; duração e pagamentos por série nos suplementos; aquisição por investidores autorizados. · Fundos.NET ID 790882; referência 16/11/2024; data/raw/36771685000117/790882_regulamento_16-11-2024.txt; características do fundo / capítulo de cotas;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Duração/público-alvo · Classe fechada; termos de duração e pagamentos por série nos suplementos. · Fundos.NET ID 791217; referência 19/11/2024; data/raw/47240785000133/791217_regulamento_19-11-2024.txt; capítulo de cotas / parâmetros de pagamento;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Duração/público-alvo · Classe fechada; prazo indeterminado da classe e prazos de séries nos apêndices. · Fundos.NET ID 896879; referência 05/05/2025; data/raw/42462306000100/896879_regulamento_05-05-2025.txt; características e capítulo de cotas;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Duração/público-alvo · Classe fechada de prazo indeterminado; séries com prazo próprio; investidores autorizados. · Fundos.NET ID 1076645; referência 30/12/2025; data/raw/49920525000134/1076645_regulamento_30-12-2025.txt; pp.75–76, risco de liquidez;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Duração/público-alvo · Classe fechada; prazos e remuneração de séries nos apêndices; investidores autorizados. · Fundos.NET ID 1202319; referência 21/05/2026; data/raw/57028406000108/1202319_regulamento_21-05-2026.txt; modelos de apêndices / características da classe;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Duração/público-alvo · Classe fechada; prazos e remuneração de séries nos apêndices; investidores autorizados. · Fundos.NET ID 1199536; referência 14/05/2026; data/raw/63505455000189/1199536_regulamento_14-05-2026.txt; modelos de apêndices / características da classe;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Duração/público-alvo · Classe fechada; prazos e resgates dependem de suplementos. · Fundos.NET ID 1030295; referência 23/10/2025; data/raw/44909456000144/1030295_regulamento_23-10-2025.txt; p.38, pagamentos e resgate; https://fnet.bmfbovespa.com.br/fnet/publico/exibirDocumento?id=1030295&amp;cvm=true · Observação: Conclusão documental; validade limitada à versão citada e às ressalvas desta revisão.</a:t>
            </a:r>
          </a:p>
          <a:p>
            <a:r>
              <a:t>CNPJ 36771685000117 · Cessão/recompra · Endosso definitivo; recompra/resolução e indenização condicionadas ao contrato de transferência. · Fundos.NET ID 790882; referência 16/11/2024; data/raw/36771685000117/790882_regulamento_16-11-2024.txt; política de investimento; Contrato de Endosso / Transferência; https://fnet.bmfbovespa.com.br/fnet/publico/exibirDocumento?id=790882&amp;cvm=true · Observação: IME Recompras/crédito não identifica vício de lastro, motivo ou cumprimento da indenização.</a:t>
            </a:r>
          </a:p>
          <a:p>
            <a:r>
              <a:t>CNPJ 47240785000133 · Cessão/recompra · Endosso definitivo; recompra/resolução e indenização condicionadas ao contrato de transferência. · Fundos.NET ID 791217; referência 19/11/2024; data/raw/47240785000133/791217_regulamento_19-11-2024.txt; política de investimento; Contrato de Endosso / Transferência; https://fnet.bmfbovespa.com.br/fnet/publico/exibirDocumento?id=791217&amp;cvm=true · Observação: IME Recompras/crédito não identifica vício de lastro, motivo ou cumprimento da indenização.</a:t>
            </a:r>
          </a:p>
          <a:p>
            <a:r>
              <a:t>CNPJ 42462306000100 · Cessão/recompra · Endosso definitivo; recompra/resolução e indenização condicionadas ao contrato de transferência. · Fundos.NET ID 896879; referência 05/05/2025; data/raw/42462306000100/896879_regulamento_05-05-2025.txt; política de investimento; Contrato de Endosso / Transferência; https://fnet.bmfbovespa.com.br/fnet/publico/exibirDocumento?id=896879&amp;cvm=true · Observação: IME Recompras/crédito não identifica vício de lastro, motivo ou cumprimento da indenização.</a:t>
            </a:r>
          </a:p>
          <a:p>
            <a:r>
              <a:t>CNPJ 49920525000134 · Cessão/recompra · Endosso definitivo; recompra/resolução e indenização condicionadas ao contrato de transferência. · Fundos.NET ID 1076645; referência 30/12/2025; data/raw/49920525000134/1076645_regulamento_30-12-2025.txt; política de investimento; Contrato de Endosso / Transferência; https://fnet.bmfbovespa.com.br/fnet/publico/exibirDocumento?id=1076645&amp;cvm=true · Observação: IME Recompras/crédito não identifica vício de lastro, motivo ou cumprimento da indenização.</a:t>
            </a:r>
          </a:p>
          <a:p>
            <a:r>
              <a:t>CNPJ 57028406000108 · Cessão/recompra · Endosso definitivo; recompra/resolução e indenização condicionadas ao contrato de transferência. · Fundos.NET ID 1202319; referência 21/05/2026; data/raw/57028406000108/1202319_regulamento_21-05-2026.txt; política de investimento; Contrato de Endosso / Transferência; https://fnet.bmfbovespa.com.br/fnet/publico/exibirDocumento?id=1202319&amp;cvm=true · Observação: IME Recompras/crédito não identifica vício de lastro, motivo ou cumprimento da indenização.</a:t>
            </a:r>
          </a:p>
          <a:p>
            <a:r>
              <a:t>CNPJ 63505455000189 · Cessão/recompra · Endosso definitivo; recompra/resolução e indenização condicionadas ao contrato de transferência. · Fundos.NET ID 1199536; referência 14/05/2026; data/raw/63505455000189/1199536_regulamento_14-05-2026.txt; política de investimento; Contrato de Endosso / Transferência; https://fnet.bmfbovespa.com.br/fnet/publico/exibirDocumento?id=1199536&amp;cvm=true · Observação: IME Recompras/crédito não identifica vício de lastro, motivo ou cumprimento da indenização.</a:t>
            </a:r>
          </a:p>
          <a:p>
            <a:r>
              <a:t>CNPJ 44909456000144 · Cessão/recompra · Endosso definitivo; recompra/resolução e indenização condicionadas ao contrato de transferência. · Fundos.NET ID 1030295; referência 23/10/2025; data/raw/44909456000144/1030295_regulamento_23-10-2025.txt; política de investimento; Contrato de Endosso / Transferência; https://fnet.bmfbovespa.com.br/fnet/publico/exibirDocumento?id=1030295&amp;cvm=true · Observação: IME Recompras/crédito não identifica vício de lastro, motivo ou cumprimento da indenização.</a:t>
            </a:r>
          </a:p>
          <a:p>
            <a:r>
              <a:t>CNPJ 36771685000117 · Coobrigação · Transferência sem coobrigação do endossante; responsabilidades por vícios seguem contrato específico. · Fundos.NET ID 790882; referência 16/11/2024; data/raw/36771685000117/790882_regulamento_16-11-2024.txt; política de investimento / definição de Contrato de Transferência;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Coobrigação · Transferência sem coobrigação do endossante; responsabilidades por vícios seguem contrato específico. · Fundos.NET ID 791217; referência 19/11/2024; data/raw/47240785000133/791217_regulamento_19-11-2024.txt; política de investimento / definição de Contrato de Transferência;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Coobrigação · Transferência sem coobrigação do endossante; responsabilidades por vícios seguem contrato específico. · Fundos.NET ID 896879; referência 05/05/2025; data/raw/42462306000100/896879_regulamento_05-05-2025.txt; política de investimento / definição de Contrato de Transferência;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Coobrigação · Transferência sem coobrigação do endossante; responsabilidades por vícios seguem contrato específico. · Fundos.NET ID 1076645; referência 30/12/2025; data/raw/49920525000134/1076645_regulamento_30-12-2025.txt; política de investimento / definição de Contrato de Transferência;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Coobrigação · Transferência sem coobrigação do endossante; responsabilidades por vícios seguem contrato específico. · Fundos.NET ID 1202319; referência 21/05/2026; data/raw/57028406000108/1202319_regulamento_21-05-2026.txt; política de investimento / definição de Contrato de Transferência;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Coobrigação · Transferência sem coobrigação do endossante; responsabilidades por vícios seguem contrato específico. · Fundos.NET ID 1199536; referência 14/05/2026; data/raw/63505455000189/1199536_regulamento_14-05-2026.txt; política de investimento / definição de Contrato de Transferência;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Coobrigação · Transferência sem coobrigação do endossante; responsabilidades por vícios seguem contrato específico. · Fundos.NET ID 1030295; referência 23/10/2025; data/raw/44909456000144/1030295_regulamento_23-10-2025.txt; política de investimento / definição de Contrato de Transferência; https://fnet.bmfbovespa.com.br/fnet/publico/exibirDocumento?id=1030295&amp;cvm=true · Observação: Conclusão documental; validade limitada à versão citada e às ressalvas desta revisão.</a:t>
            </a:r>
          </a:p>
          <a:p>
            <a:r>
              <a:t>CNPJ 36771685000117 · Waterfall · Despesas/reservas antes de pagamentos; prioridade por cota e regimes definidos no capítulo de alocação. · Fundos.NET ID 790882; referência 16/11/2024; data/raw/36771685000117/790882_regulamento_16-11-2024.txt; pp.83–86, ordem de alocação;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Waterfall · Despesas/reservas antes de pagamentos; cotas públicas precedem júnior, sujeito a exceções de amortização extraordinária. · Fundos.NET ID 791217; referência 19/11/2024; data/raw/47240785000133/791217_regulamento_19-11-2024.txt; pp.82–85, capítulos 13–15;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Waterfall · Despesas → reserva → amortizações; compras de crédito durante carência e remanescentes conforme 16.2. · Fundos.NET ID 896879; referência 05/05/2025; data/raw/42462306000100/896879_regulamento_05-05-2025.txt; pp.83–84, 16.1–16.2;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Waterfall · Amortização pro rata; desalavancagem aciona sequencial; realavancagem após três verificações enquadradas, com restrições. · Fundos.NET ID 1076645; referência 30/12/2025; data/raw/49920525000134/1076645_regulamento_30-12-2025.txt; p.105, capítulo 19;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Waterfall · Pro rata sujeito a metas; desalavancagem aciona sequencial com prioridade sênior → mezanino A → B → júnior. · Fundos.NET ID 1202319; referência 21/05/2026; data/raw/57028406000108/1202319_regulamento_21-05-2026.txt; pp.46–47, alocação e regimes;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Waterfall · Pro rata sujeito a metas; desalavancagem aciona sequencial com prioridade sênior → mezanino A → B → júnior. · Fundos.NET ID 1199536; referência 14/05/2026; data/raw/63505455000189/1199536_regulamento_14-05-2026.txt; pp.51–60, alocação e regimes;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Waterfall · Pagamento de despesas, benchmark e principal segundo ordem contratual; valores dependem do suplemento. · Fundos.NET ID 1030295; referência 23/10/2025; data/raw/44909456000144/1030295_regulamento_23-10-2025.txt; capítulo de pagamentos / alocação; https://fnet.bmfbovespa.com.br/fnet/publico/exibirDocumento?id=1030295&amp;cvm=true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2026-10-07T14:46:12-03:00</a:t>
            </a:r>
          </a:p>
          <a:p>
            <a:r>
              <a:t>Solfácil I: CNPJ 36771685000117</a:t>
            </a:r>
          </a:p>
          <a:p>
            <a:r>
              <a:t>Solfácil V: CNPJ 47240785000133</a:t>
            </a:r>
          </a:p>
          <a:p>
            <a:r>
              <a:t>Solfácil II: CNPJ 42462306000100</a:t>
            </a:r>
          </a:p>
          <a:p>
            <a:r>
              <a:t>Solfácil III: CNPJ 49920525000134</a:t>
            </a:r>
          </a:p>
          <a:p>
            <a:r>
              <a:t>Solfácil VI: CNPJ 57028406000108</a:t>
            </a:r>
          </a:p>
          <a:p>
            <a:r>
              <a:t>Solfácil VII: CNPJ 63505455000189</a:t>
            </a:r>
          </a:p>
          <a:p>
            <a:r>
              <a:t>Solfácil IV: CNPJ 44909456000144</a:t>
            </a:r>
          </a:p>
          <a:p>
            <a:r>
              <a:t>Fontes:</a:t>
            </a:r>
          </a:p>
          <a:p>
            <a:r>
              <a:t>CNPJ 36771685000117 · Classes/séries · Sênior, subordinadas mezanino e júnior; modelos de emissão não comprovam todas as séries em circulação. · Fundos.NET ID 790882; referência 16/11/2024; data/raw/36771685000117/790882_regulamento_16-11-2024.txt; capítulo de cotas e modelos de apêndices;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Classes/séries · Sênior, subordinadas mezanino e júnior; modelos de emissão não comprovam todas as séries em circulação. · Fundos.NET ID 791217; referência 19/11/2024; data/raw/47240785000133/791217_regulamento_19-11-2024.txt; capítulo de cotas e modelos de apêndices;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Classes/séries · Sênior, subordinadas mezanino e júnior; modelos de emissão não comprovam todas as séries em circulação. · Fundos.NET ID 896879; referência 05/05/2025; data/raw/42462306000100/896879_regulamento_05-05-2025.txt; capítulo de cotas e modelos de apêndices;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Classes/séries · Sênior, subordinadas mezanino e júnior; modelos de emissão não comprovam todas as séries em circulação. · Fundos.NET ID 1076645; referência 30/12/2025; data/raw/49920525000134/1076645_regulamento_30-12-2025.txt; capítulo de cotas e modelos de apêndices;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Classes/séries · Sênior, subordinadas mezanino e júnior; modelos de emissão não comprovam todas as séries em circulação. · Fundos.NET ID 1202319; referência 21/05/2026; data/raw/57028406000108/1202319_regulamento_21-05-2026.txt; capítulo de cotas e modelos de apêndices;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Classes/séries · Sênior, subordinadas mezanino e júnior; modelos de emissão não comprovam todas as séries em circulação. · Fundos.NET ID 1199536; referência 14/05/2026; data/raw/63505455000189/1199536_regulamento_14-05-2026.txt; capítulo de cotas e modelos de apêndices;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Classes/séries · Sênior, subordinadas mezanino e júnior; modelos de emissão não comprovam todas as séries em circulação. · Fundos.NET ID 1030295; referência 23/10/2025; data/raw/44909456000144/1030295_regulamento_23-10-2025.txt; capítulo de cotas e modelos de apêndices; https://fnet.bmfbovespa.com.br/fnet/publico/exibirDocumento?id=1030295&amp;cvm=true · Observação: Conclusão documental; validade limitada à versão citada e às ressalvas desta revisão.</a:t>
            </a:r>
          </a:p>
          <a:p>
            <a:r>
              <a:t>CNPJ 36771685000117 · Remuneração · Spread final não localizado; taxa e benchmark remetidos ao apêndice/suplemento de cada série. · Fundos.NET ID 790882; referência 16/11/2024; data/raw/36771685000117/790882_regulamento_16-11-2024.txt; parâmetros de pagamento e modelos de apêndices;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Remuneração · Spread final não localizado; taxa e benchmark remetidos ao apêndice/suplemento de cada série. · Fundos.NET ID 791217; referência 19/11/2024; data/raw/47240785000133/791217_regulamento_19-11-2024.txt; parâmetros de pagamento e modelos de apêndices;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Remuneração · Spread final não localizado; taxa e benchmark remetidos ao apêndice/suplemento de cada série. · Fundos.NET ID 896879; referência 05/05/2025; data/raw/42462306000100/896879_regulamento_05-05-2025.txt; parâmetros de pagamento e modelos de apêndices;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Remuneração · Spread final não localizado; taxa e benchmark remetidos ao apêndice/suplemento de cada série. · Fundos.NET ID 1076645; referência 30/12/2025; data/raw/49920525000134/1076645_regulamento_30-12-2025.txt; parâmetros de pagamento e modelos de apêndices;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Remuneração · Spread final não localizado; taxa e benchmark remetidos ao apêndice/suplemento de cada série. · Fundos.NET ID 1202319; referência 21/05/2026; data/raw/57028406000108/1202319_regulamento_21-05-2026.txt; parâmetros de pagamento e modelos de apêndices;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Remuneração · Spread final não localizado; taxa e benchmark remetidos ao apêndice/suplemento de cada série. · Fundos.NET ID 1199536; referência 14/05/2026; data/raw/63505455000189/1199536_regulamento_14-05-2026.txt; parâmetros de pagamento e modelos de apêndices;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Remuneração · Suplemento histórico mezanino cita DI + 6,65%; spread atual por série não confirmado. · Fundos.NET ID 1030295; referência 23/10/2025; data/raw/44909456000144/1030295_regulamento_23-10-2025.txt; pp.38 e modelos de suplementos; https://fnet.bmfbovespa.com.br/fnet/publico/exibirDocumento?id=1030295&amp;cvm=true · Observação: Fonte histórica complementar: ID 344609, pp.124–125. Documento de 2022 contém assinatura/data não preenchida.</a:t>
            </a:r>
          </a:p>
          <a:p>
            <a:r>
              <a:t>CNPJ 36771685000117 · Volume/VNU · Volume aprovado/distribuído por série não confirmado pelos modelos; VNU depende do suplemento preenchido. · Fundos.NET ID 790882; referência 16/11/2024; data/raw/36771685000117/790882_regulamento_16-11-2024.txt; parâmetros da oferta e modelos de apêndices;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Volume/VNU · Volume aprovado/distribuído por série não confirmado pelos modelos; VNU depende do suplemento preenchido. · Fundos.NET ID 791217; referência 19/11/2024; data/raw/47240785000133/791217_regulamento_19-11-2024.txt; parâmetros da oferta e modelos de apêndices;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Volume/VNU · Volume aprovado/distribuído por série não confirmado pelos modelos; VNU depende do suplemento preenchido. · Fundos.NET ID 896879; referência 05/05/2025; data/raw/42462306000100/896879_regulamento_05-05-2025.txt; parâmetros da oferta e modelos de apêndices;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Volume/VNU · Volume aprovado/distribuído por série não confirmado pelos modelos; VNU depende do suplemento preenchido. · Fundos.NET ID 1076645; referência 30/12/2025; data/raw/49920525000134/1076645_regulamento_30-12-2025.txt; parâmetros da oferta e modelos de apêndices;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Volume/VNU · Volume aprovado/distribuído por série não confirmado pelos modelos; VNU depende do suplemento preenchido. · Fundos.NET ID 1202319; referência 21/05/2026; data/raw/57028406000108/1202319_regulamento_21-05-2026.txt; parâmetros da oferta e modelos de apêndices;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Volume/VNU · Volume aprovado/distribuído por série não confirmado pelos modelos; VNU depende do suplemento preenchido. · Fundos.NET ID 1199536; referência 14/05/2026; data/raw/63505455000189/1199536_regulamento_14-05-2026.txt; parâmetros da oferta e modelos de apêndices;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Volume/VNU · Volume aprovado/distribuído por série não confirmado pelos modelos; VNU depende do suplemento preenchido. · Fundos.NET ID 1030295; referência 23/10/2025; data/raw/44909456000144/1030295_regulamento_23-10-2025.txt; parâmetros da oferta e modelos de apêndices; https://fnet.bmfbovespa.com.br/fnet/publico/exibirDocumento?id=1030295&amp;cvm=true · Observação: Conclusão documental; validade limitada à versão citada e às ressalvas desta revisão.</a:t>
            </a:r>
          </a:p>
          <a:p>
            <a:r>
              <a:t>CNPJ 36771685000117 · Ofertas · Rito, público e montante por emissão remetidos aos respectivos atos e anúncios; encerramentos não confirmados. · Fundos.NET ID 790882; referência 16/11/2024; data/raw/36771685000117/790882_regulamento_16-11-2024.txt; modelos de apêndices / parâmetros da oferta;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Ofertas · Rito, público e montante por emissão remetidos aos respectivos atos e anúncios; encerramentos não confirmados. · Fundos.NET ID 791217; referência 19/11/2024; data/raw/47240785000133/791217_regulamento_19-11-2024.txt; modelos de apêndices / parâmetros da oferta;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Ofertas · Rito, público e montante por emissão remetidos aos respectivos atos e anúncios; encerramentos não confirmados. · Fundos.NET ID 896879; referência 05/05/2025; data/raw/42462306000100/896879_regulamento_05-05-2025.txt; modelos de apêndices / parâmetros da oferta;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Ofertas · Rito, público e montante por emissão remetidos aos respectivos atos e anúncios; encerramentos não confirmados. · Fundos.NET ID 1076645; referência 30/12/2025; data/raw/49920525000134/1076645_regulamento_30-12-2025.txt; modelos de apêndices / parâmetros da oferta;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Ofertas · Rito, público e montante por emissão remetidos aos respectivos atos e anúncios; encerramentos não confirmados. · Fundos.NET ID 1202319; referência 21/05/2026; data/raw/57028406000108/1202319_regulamento_21-05-2026.txt; modelos de apêndices / parâmetros da oferta;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Ofertas · Rito, público e montante por emissão remetidos aos respectivos atos e anúncios; encerramentos não confirmados. · Fundos.NET ID 1199536; referência 14/05/2026; data/raw/63505455000189/1199536_regulamento_14-05-2026.txt; modelos de apêndices / parâmetros da oferta;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Ofertas · Rito, público e montante por emissão remetidos aos respectivos atos e anúncios; encerramentos não confirmados. · Fundos.NET ID 1030295; referência 23/10/2025; data/raw/44909456000144/1030295_regulamento_23-10-2025.txt; modelos de apêndices / parâmetros da oferta; https://fnet.bmfbovespa.com.br/fnet/publico/exibirDocumento?id=1030295&amp;cvm=true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2026-10-07T14:46:12-03:00</a:t>
            </a:r>
          </a:p>
          <a:p>
            <a:r>
              <a:t>Solfácil I: CNPJ 36771685000117</a:t>
            </a:r>
          </a:p>
          <a:p>
            <a:r>
              <a:t>Solfácil V: CNPJ 47240785000133</a:t>
            </a:r>
          </a:p>
          <a:p>
            <a:r>
              <a:t>Solfácil II: CNPJ 42462306000100</a:t>
            </a:r>
          </a:p>
          <a:p>
            <a:r>
              <a:t>Solfácil III: CNPJ 49920525000134</a:t>
            </a:r>
          </a:p>
          <a:p>
            <a:r>
              <a:t>Solfácil VI: CNPJ 57028406000108</a:t>
            </a:r>
          </a:p>
          <a:p>
            <a:r>
              <a:t>Solfácil VII: CNPJ 63505455000189</a:t>
            </a:r>
          </a:p>
          <a:p>
            <a:r>
              <a:t>Solfácil IV: CNPJ 44909456000144</a:t>
            </a:r>
          </a:p>
          <a:p>
            <a:r>
              <a:t>Fontes:</a:t>
            </a:r>
          </a:p>
          <a:p>
            <a:r>
              <a:t>CNPJ 36771685000117 · Classes/séries · Sênior, subordinadas mezanino e júnior; modelos de emissão não comprovam todas as séries em circulação. · Fundos.NET ID 790882; referência 16/11/2024; data/raw/36771685000117/790882_regulamento_16-11-2024.txt; capítulo de cotas e modelos de apêndices;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Classes/séries · Sênior, subordinadas mezanino e júnior; modelos de emissão não comprovam todas as séries em circulação. · Fundos.NET ID 791217; referência 19/11/2024; data/raw/47240785000133/791217_regulamento_19-11-2024.txt; capítulo de cotas e modelos de apêndices;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Classes/séries · Sênior, subordinadas mezanino e júnior; modelos de emissão não comprovam todas as séries em circulação. · Fundos.NET ID 896879; referência 05/05/2025; data/raw/42462306000100/896879_regulamento_05-05-2025.txt; capítulo de cotas e modelos de apêndices;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Classes/séries · Sênior, subordinadas mezanino e júnior; modelos de emissão não comprovam todas as séries em circulação. · Fundos.NET ID 1076645; referência 30/12/2025; data/raw/49920525000134/1076645_regulamento_30-12-2025.txt; capítulo de cotas e modelos de apêndices;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Classes/séries · Sênior, subordinadas mezanino e júnior; modelos de emissão não comprovam todas as séries em circulação. · Fundos.NET ID 1202319; referência 21/05/2026; data/raw/57028406000108/1202319_regulamento_21-05-2026.txt; capítulo de cotas e modelos de apêndices;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Classes/séries · Sênior, subordinadas mezanino e júnior; modelos de emissão não comprovam todas as séries em circulação. · Fundos.NET ID 1199536; referência 14/05/2026; data/raw/63505455000189/1199536_regulamento_14-05-2026.txt; capítulo de cotas e modelos de apêndices;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Classes/séries · Sênior, subordinadas mezanino e júnior; modelos de emissão não comprovam todas as séries em circulação. · Fundos.NET ID 1030295; referência 23/10/2025; data/raw/44909456000144/1030295_regulamento_23-10-2025.txt; capítulo de cotas e modelos de apêndices; https://fnet.bmfbovespa.com.br/fnet/publico/exibirDocumento?id=1030295&amp;cvm=true · Observação: Conclusão documental; validade limitada à versão citada e às ressalvas desta revisão.</a:t>
            </a:r>
          </a:p>
          <a:p>
            <a:r>
              <a:t>CNPJ 36771685000117 · Remuneração · Spread final não localizado; taxa e benchmark remetidos ao apêndice/suplemento de cada série. · Fundos.NET ID 790882; referência 16/11/2024; data/raw/36771685000117/790882_regulamento_16-11-2024.txt; parâmetros de pagamento e modelos de apêndices;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Remuneração · Spread final não localizado; taxa e benchmark remetidos ao apêndice/suplemento de cada série. · Fundos.NET ID 791217; referência 19/11/2024; data/raw/47240785000133/791217_regulamento_19-11-2024.txt; parâmetros de pagamento e modelos de apêndices;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Remuneração · Spread final não localizado; taxa e benchmark remetidos ao apêndice/suplemento de cada série. · Fundos.NET ID 896879; referência 05/05/2025; data/raw/42462306000100/896879_regulamento_05-05-2025.txt; parâmetros de pagamento e modelos de apêndices;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Remuneração · Spread final não localizado; taxa e benchmark remetidos ao apêndice/suplemento de cada série. · Fundos.NET ID 1076645; referência 30/12/2025; data/raw/49920525000134/1076645_regulamento_30-12-2025.txt; parâmetros de pagamento e modelos de apêndices;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Remuneração · Spread final não localizado; taxa e benchmark remetidos ao apêndice/suplemento de cada série. · Fundos.NET ID 1202319; referência 21/05/2026; data/raw/57028406000108/1202319_regulamento_21-05-2026.txt; parâmetros de pagamento e modelos de apêndices;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Remuneração · Spread final não localizado; taxa e benchmark remetidos ao apêndice/suplemento de cada série. · Fundos.NET ID 1199536; referência 14/05/2026; data/raw/63505455000189/1199536_regulamento_14-05-2026.txt; parâmetros de pagamento e modelos de apêndices;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Remuneração · Suplemento histórico mezanino cita DI + 6,65%; spread atual por série não confirmado. · Fundos.NET ID 1030295; referência 23/10/2025; data/raw/44909456000144/1030295_regulamento_23-10-2025.txt; pp.38 e modelos de suplementos; https://fnet.bmfbovespa.com.br/fnet/publico/exibirDocumento?id=1030295&amp;cvm=true · Observação: Fonte histórica complementar: ID 344609, pp.124–125. Documento de 2022 contém assinatura/data não preenchida.</a:t>
            </a:r>
          </a:p>
          <a:p>
            <a:r>
              <a:t>CNPJ 36771685000117 · Volume/VNU · Volume aprovado/distribuído por série não confirmado pelos modelos; VNU depende do suplemento preenchido. · Fundos.NET ID 790882; referência 16/11/2024; data/raw/36771685000117/790882_regulamento_16-11-2024.txt; parâmetros da oferta e modelos de apêndices;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Volume/VNU · Volume aprovado/distribuído por série não confirmado pelos modelos; VNU depende do suplemento preenchido. · Fundos.NET ID 791217; referência 19/11/2024; data/raw/47240785000133/791217_regulamento_19-11-2024.txt; parâmetros da oferta e modelos de apêndices;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Volume/VNU · Volume aprovado/distribuído por série não confirmado pelos modelos; VNU depende do suplemento preenchido. · Fundos.NET ID 896879; referência 05/05/2025; data/raw/42462306000100/896879_regulamento_05-05-2025.txt; parâmetros da oferta e modelos de apêndices;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Volume/VNU · Volume aprovado/distribuído por série não confirmado pelos modelos; VNU depende do suplemento preenchido. · Fundos.NET ID 1076645; referência 30/12/2025; data/raw/49920525000134/1076645_regulamento_30-12-2025.txt; parâmetros da oferta e modelos de apêndices;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Volume/VNU · Volume aprovado/distribuído por série não confirmado pelos modelos; VNU depende do suplemento preenchido. · Fundos.NET ID 1202319; referência 21/05/2026; data/raw/57028406000108/1202319_regulamento_21-05-2026.txt; parâmetros da oferta e modelos de apêndices;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Volume/VNU · Volume aprovado/distribuído por série não confirmado pelos modelos; VNU depende do suplemento preenchido. · Fundos.NET ID 1199536; referência 14/05/2026; data/raw/63505455000189/1199536_regulamento_14-05-2026.txt; parâmetros da oferta e modelos de apêndices;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Volume/VNU · Volume aprovado/distribuído por série não confirmado pelos modelos; VNU depende do suplemento preenchido. · Fundos.NET ID 1030295; referência 23/10/2025; data/raw/44909456000144/1030295_regulamento_23-10-2025.txt; parâmetros da oferta e modelos de apêndices; https://fnet.bmfbovespa.com.br/fnet/publico/exibirDocumento?id=1030295&amp;cvm=true · Observação: Conclusão documental; validade limitada à versão citada e às ressalvas desta revisão.</a:t>
            </a:r>
          </a:p>
          <a:p>
            <a:r>
              <a:t>CNPJ 36771685000117 · Ofertas · Rito, público e montante por emissão remetidos aos respectivos atos e anúncios; encerramentos não confirmados. · Fundos.NET ID 790882; referência 16/11/2024; data/raw/36771685000117/790882_regulamento_16-11-2024.txt; modelos de apêndices / parâmetros da oferta;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Ofertas · Rito, público e montante por emissão remetidos aos respectivos atos e anúncios; encerramentos não confirmados. · Fundos.NET ID 791217; referência 19/11/2024; data/raw/47240785000133/791217_regulamento_19-11-2024.txt; modelos de apêndices / parâmetros da oferta;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Ofertas · Rito, público e montante por emissão remetidos aos respectivos atos e anúncios; encerramentos não confirmados. · Fundos.NET ID 896879; referência 05/05/2025; data/raw/42462306000100/896879_regulamento_05-05-2025.txt; modelos de apêndices / parâmetros da oferta;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Ofertas · Rito, público e montante por emissão remetidos aos respectivos atos e anúncios; encerramentos não confirmados. · Fundos.NET ID 1076645; referência 30/12/2025; data/raw/49920525000134/1076645_regulamento_30-12-2025.txt; modelos de apêndices / parâmetros da oferta;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Ofertas · Rito, público e montante por emissão remetidos aos respectivos atos e anúncios; encerramentos não confirmados. · Fundos.NET ID 1202319; referência 21/05/2026; data/raw/57028406000108/1202319_regulamento_21-05-2026.txt; modelos de apêndices / parâmetros da oferta;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Ofertas · Rito, público e montante por emissão remetidos aos respectivos atos e anúncios; encerramentos não confirmados. · Fundos.NET ID 1199536; referência 14/05/2026; data/raw/63505455000189/1199536_regulamento_14-05-2026.txt; modelos de apêndices / parâmetros da oferta;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Ofertas · Rito, público e montante por emissão remetidos aos respectivos atos e anúncios; encerramentos não confirmados. · Fundos.NET ID 1030295; referência 23/10/2025; data/raw/44909456000144/1030295_regulamento_23-10-2025.txt; modelos de apêndices / parâmetros da oferta; https://fnet.bmfbovespa.com.br/fnet/publico/exibirDocumento?id=1030295&amp;cvm=true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2026-10-07T14:46:12-03:00</a:t>
            </a:r>
          </a:p>
          <a:p>
            <a:r>
              <a:t>Solfácil I: CNPJ 36771685000117</a:t>
            </a:r>
          </a:p>
          <a:p>
            <a:r>
              <a:t>Solfácil V: CNPJ 47240785000133</a:t>
            </a:r>
          </a:p>
          <a:p>
            <a:r>
              <a:t>Solfácil II: CNPJ 42462306000100</a:t>
            </a:r>
          </a:p>
          <a:p>
            <a:r>
              <a:t>Solfácil III: CNPJ 49920525000134</a:t>
            </a:r>
          </a:p>
          <a:p>
            <a:r>
              <a:t>Solfácil VI: CNPJ 57028406000108</a:t>
            </a:r>
          </a:p>
          <a:p>
            <a:r>
              <a:t>Solfácil VII: CNPJ 63505455000189</a:t>
            </a:r>
          </a:p>
          <a:p>
            <a:r>
              <a:t>Solfácil IV: CNPJ 44909456000144</a:t>
            </a:r>
          </a:p>
          <a:p>
            <a:r>
              <a:t>Fontes:</a:t>
            </a:r>
          </a:p>
          <a:p>
            <a:r>
              <a:t>CNPJ 36771685000117 · Carência · Prazo remetido ao suplemento; carência efetiva por série não confirmada. · Fundos.NET ID 790882; referência 16/11/2024; data/raw/36771685000117/790882_regulamento_16-11-2024.txt; parâmetros de pagamento / modelos de apêndices;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Carência · Prazo remetido ao suplemento; carência efetiva por série não confirmada. · Fundos.NET ID 791217; referência 19/11/2024; data/raw/47240785000133/791217_regulamento_19-11-2024.txt; parâmetros de pagamento / modelos de apêndices;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Carência · Prazo remetido ao suplemento; carência efetiva por série não confirmada. · Fundos.NET ID 896879; referência 05/05/2025; data/raw/42462306000100/896879_regulamento_05-05-2025.txt; parâmetros de pagamento / modelos de apêndices;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Carência · Prazo remetido ao suplemento; carência efetiva por série não confirmada. · Fundos.NET ID 1076645; referência 30/12/2025; data/raw/49920525000134/1076645_regulamento_30-12-2025.txt; parâmetros de pagamento / modelos de apêndices;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Carência · Prazo remetido ao suplemento; carência efetiva por série não confirmada. · Fundos.NET ID 1202319; referência 21/05/2026; data/raw/57028406000108/1202319_regulamento_21-05-2026.txt; parâmetros de pagamento / modelos de apêndices;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Carência · Prazo remetido ao suplemento; carência efetiva por série não confirmada. · Fundos.NET ID 1199536; referência 14/05/2026; data/raw/63505455000189/1199536_regulamento_14-05-2026.txt; parâmetros de pagamento / modelos de apêndices;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Carência · Prazo remetido ao suplemento; carência efetiva por série não confirmada. · Fundos.NET ID 1030295; referência 23/10/2025; data/raw/44909456000144/1030295_regulamento_23-10-2025.txt; parâmetros de pagamento / modelos de apêndices; https://fnet.bmfbovespa.com.br/fnet/publico/exibirDocumento?id=1030295&amp;cvm=true · Observação: Conclusão documental; validade limitada à versão citada e às ressalvas desta revisão.</a:t>
            </a:r>
          </a:p>
          <a:p>
            <a:r>
              <a:t>CNPJ 36771685000117 · Juros/amortização · Pagamentos sujeitos à disponibilidade de caixa e waterfall; cronograma fechado não identificado. · Fundos.NET ID 790882; referência 16/11/2024; data/raw/36771685000117/790882_regulamento_16-11-2024.txt; capítulo de amortização / modelos de apêndices;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Juros/amortização · Pagamentos sujeitos à disponibilidade de caixa e waterfall; cronograma fechado não identificado. · Fundos.NET ID 791217; referência 19/11/2024; data/raw/47240785000133/791217_regulamento_19-11-2024.txt; capítulo de amortização / modelos de apêndices;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Juros/amortização · Pagamentos sujeitos à disponibilidade de caixa e waterfall; cronograma fechado não identificado. · Fundos.NET ID 896879; referência 05/05/2025; data/raw/42462306000100/896879_regulamento_05-05-2025.txt; capítulo de amortização / modelos de apêndices;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Juros/amortização · Pagamentos sujeitos à disponibilidade de caixa e waterfall; cronograma fechado não identificado. · Fundos.NET ID 1076645; referência 30/12/2025; data/raw/49920525000134/1076645_regulamento_30-12-2025.txt; capítulo de amortização / modelos de apêndices;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Juros/amortização · Pagamentos sujeitos à disponibilidade de caixa e waterfall; cronograma fechado não identificado. · Fundos.NET ID 1202319; referência 21/05/2026; data/raw/57028406000108/1202319_regulamento_21-05-2026.txt; capítulo de amortização / modelos de apêndices;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Juros/amortização · Pagamentos sujeitos à disponibilidade de caixa e waterfall; cronograma fechado não identificado. · Fundos.NET ID 1199536; referência 14/05/2026; data/raw/63505455000189/1199536_regulamento_14-05-2026.txt; capítulo de amortização / modelos de apêndices;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Juros/amortização · Pagamentos sujeitos à disponibilidade de caixa e waterfall; cronograma fechado não identificado. · Fundos.NET ID 1030295; referência 23/10/2025; data/raw/44909456000144/1030295_regulamento_23-10-2025.txt; capítulo de amortização / modelos de apêndices; https://fnet.bmfbovespa.com.br/fnet/publico/exibirDocumento?id=1030295&amp;cvm=true · Observação: Conclusão documental; validade limitada à versão citada e às ressalvas desta revisão.</a:t>
            </a:r>
          </a:p>
          <a:p>
            <a:r>
              <a:t>CNPJ 36771685000117 · Vencimento · Data final por série remetida ao suplemento; primeira integralização efetiva não confirmada. · Fundos.NET ID 790882; referência 16/11/2024; data/raw/36771685000117/790882_regulamento_16-11-2024.txt; parâmetros de pagamento / modelos de apêndices;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Vencimento · Data final por série remetida ao suplemento; primeira integralização efetiva não confirmada. · Fundos.NET ID 791217; referência 19/11/2024; data/raw/47240785000133/791217_regulamento_19-11-2024.txt; parâmetros de pagamento / modelos de apêndices;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Vencimento · Data final por série remetida ao suplemento; primeira integralização efetiva não confirmada. · Fundos.NET ID 896879; referência 05/05/2025; data/raw/42462306000100/896879_regulamento_05-05-2025.txt; parâmetros de pagamento / modelos de apêndices;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Vencimento · Data final por série remetida ao suplemento; primeira integralização efetiva não confirmada. · Fundos.NET ID 1076645; referência 30/12/2025; data/raw/49920525000134/1076645_regulamento_30-12-2025.txt; parâmetros de pagamento / modelos de apêndices;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Vencimento · Data final por série remetida ao suplemento; primeira integralização efetiva não confirmada. · Fundos.NET ID 1202319; referência 21/05/2026; data/raw/57028406000108/1202319_regulamento_21-05-2026.txt; parâmetros de pagamento / modelos de apêndices;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Vencimento · Data final por série remetida ao suplemento; primeira integralização efetiva não confirmada. · Fundos.NET ID 1199536; referência 14/05/2026; data/raw/63505455000189/1199536_regulamento_14-05-2026.txt; parâmetros de pagamento / modelos de apêndices;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Vencimento · Data final por série remetida ao suplemento; primeira integralização efetiva não confirmada. · Fundos.NET ID 1030295; referência 23/10/2025; data/raw/44909456000144/1030295_regulamento_23-10-2025.txt; parâmetros de pagamento / modelos de apêndices; https://fnet.bmfbovespa.com.br/fnet/publico/exibirDocumento?id=1030295&amp;cvm=true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2026-10-07T14:46:12-03:00</a:t>
            </a:r>
          </a:p>
          <a:p>
            <a:r>
              <a:t>Solfácil I: CNPJ 36771685000117</a:t>
            </a:r>
          </a:p>
          <a:p>
            <a:r>
              <a:t>Solfácil V: CNPJ 47240785000133</a:t>
            </a:r>
          </a:p>
          <a:p>
            <a:r>
              <a:t>Solfácil II: CNPJ 42462306000100</a:t>
            </a:r>
          </a:p>
          <a:p>
            <a:r>
              <a:t>Solfácil III: CNPJ 49920525000134</a:t>
            </a:r>
          </a:p>
          <a:p>
            <a:r>
              <a:t>Solfácil VI: CNPJ 57028406000108</a:t>
            </a:r>
          </a:p>
          <a:p>
            <a:r>
              <a:t>Solfácil VII: CNPJ 63505455000189</a:t>
            </a:r>
          </a:p>
          <a:p>
            <a:r>
              <a:t>Solfácil IV: CNPJ 44909456000144</a:t>
            </a:r>
          </a:p>
          <a:p>
            <a:r>
              <a:t>Fontes:</a:t>
            </a:r>
          </a:p>
          <a:p>
            <a:r>
              <a:t>CNPJ 36771685000117 · Carência · Prazo remetido ao suplemento; carência efetiva por série não confirmada. · Fundos.NET ID 790882; referência 16/11/2024; data/raw/36771685000117/790882_regulamento_16-11-2024.txt; parâmetros de pagamento / modelos de apêndices;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Carência · Prazo remetido ao suplemento; carência efetiva por série não confirmada. · Fundos.NET ID 791217; referência 19/11/2024; data/raw/47240785000133/791217_regulamento_19-11-2024.txt; parâmetros de pagamento / modelos de apêndices;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Carência · Prazo remetido ao suplemento; carência efetiva por série não confirmada. · Fundos.NET ID 896879; referência 05/05/2025; data/raw/42462306000100/896879_regulamento_05-05-2025.txt; parâmetros de pagamento / modelos de apêndices;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Carência · Prazo remetido ao suplemento; carência efetiva por série não confirmada. · Fundos.NET ID 1076645; referência 30/12/2025; data/raw/49920525000134/1076645_regulamento_30-12-2025.txt; parâmetros de pagamento / modelos de apêndices;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Carência · Prazo remetido ao suplemento; carência efetiva por série não confirmada. · Fundos.NET ID 1202319; referência 21/05/2026; data/raw/57028406000108/1202319_regulamento_21-05-2026.txt; parâmetros de pagamento / modelos de apêndices;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Carência · Prazo remetido ao suplemento; carência efetiva por série não confirmada. · Fundos.NET ID 1199536; referência 14/05/2026; data/raw/63505455000189/1199536_regulamento_14-05-2026.txt; parâmetros de pagamento / modelos de apêndices;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Carência · Prazo remetido ao suplemento; carência efetiva por série não confirmada. · Fundos.NET ID 1030295; referência 23/10/2025; data/raw/44909456000144/1030295_regulamento_23-10-2025.txt; parâmetros de pagamento / modelos de apêndices; https://fnet.bmfbovespa.com.br/fnet/publico/exibirDocumento?id=1030295&amp;cvm=true · Observação: Conclusão documental; validade limitada à versão citada e às ressalvas desta revisão.</a:t>
            </a:r>
          </a:p>
          <a:p>
            <a:r>
              <a:t>CNPJ 36771685000117 · Juros/amortização · Pagamentos sujeitos à disponibilidade de caixa e waterfall; cronograma fechado não identificado. · Fundos.NET ID 790882; referência 16/11/2024; data/raw/36771685000117/790882_regulamento_16-11-2024.txt; capítulo de amortização / modelos de apêndices;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Juros/amortização · Pagamentos sujeitos à disponibilidade de caixa e waterfall; cronograma fechado não identificado. · Fundos.NET ID 791217; referência 19/11/2024; data/raw/47240785000133/791217_regulamento_19-11-2024.txt; capítulo de amortização / modelos de apêndices;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Juros/amortização · Pagamentos sujeitos à disponibilidade de caixa e waterfall; cronograma fechado não identificado. · Fundos.NET ID 896879; referência 05/05/2025; data/raw/42462306000100/896879_regulamento_05-05-2025.txt; capítulo de amortização / modelos de apêndices;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Juros/amortização · Pagamentos sujeitos à disponibilidade de caixa e waterfall; cronograma fechado não identificado. · Fundos.NET ID 1076645; referência 30/12/2025; data/raw/49920525000134/1076645_regulamento_30-12-2025.txt; capítulo de amortização / modelos de apêndices;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Juros/amortização · Pagamentos sujeitos à disponibilidade de caixa e waterfall; cronograma fechado não identificado. · Fundos.NET ID 1202319; referência 21/05/2026; data/raw/57028406000108/1202319_regulamento_21-05-2026.txt; capítulo de amortização / modelos de apêndices;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Juros/amortização · Pagamentos sujeitos à disponibilidade de caixa e waterfall; cronograma fechado não identificado. · Fundos.NET ID 1199536; referência 14/05/2026; data/raw/63505455000189/1199536_regulamento_14-05-2026.txt; capítulo de amortização / modelos de apêndices;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Juros/amortização · Pagamentos sujeitos à disponibilidade de caixa e waterfall; cronograma fechado não identificado. · Fundos.NET ID 1030295; referência 23/10/2025; data/raw/44909456000144/1030295_regulamento_23-10-2025.txt; capítulo de amortização / modelos de apêndices; https://fnet.bmfbovespa.com.br/fnet/publico/exibirDocumento?id=1030295&amp;cvm=true · Observação: Conclusão documental; validade limitada à versão citada e às ressalvas desta revisão.</a:t>
            </a:r>
          </a:p>
          <a:p>
            <a:r>
              <a:t>CNPJ 36771685000117 · Vencimento · Data final por série remetida ao suplemento; primeira integralização efetiva não confirmada. · Fundos.NET ID 790882; referência 16/11/2024; data/raw/36771685000117/790882_regulamento_16-11-2024.txt; parâmetros de pagamento / modelos de apêndices;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Vencimento · Data final por série remetida ao suplemento; primeira integralização efetiva não confirmada. · Fundos.NET ID 791217; referência 19/11/2024; data/raw/47240785000133/791217_regulamento_19-11-2024.txt; parâmetros de pagamento / modelos de apêndices;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Vencimento · Data final por série remetida ao suplemento; primeira integralização efetiva não confirmada. · Fundos.NET ID 896879; referência 05/05/2025; data/raw/42462306000100/896879_regulamento_05-05-2025.txt; parâmetros de pagamento / modelos de apêndices;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Vencimento · Data final por série remetida ao suplemento; primeira integralização efetiva não confirmada. · Fundos.NET ID 1076645; referência 30/12/2025; data/raw/49920525000134/1076645_regulamento_30-12-2025.txt; parâmetros de pagamento / modelos de apêndices;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Vencimento · Data final por série remetida ao suplemento; primeira integralização efetiva não confirmada. · Fundos.NET ID 1202319; referência 21/05/2026; data/raw/57028406000108/1202319_regulamento_21-05-2026.txt; parâmetros de pagamento / modelos de apêndices;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Vencimento · Data final por série remetida ao suplemento; primeira integralização efetiva não confirmada. · Fundos.NET ID 1199536; referência 14/05/2026; data/raw/63505455000189/1199536_regulamento_14-05-2026.txt; parâmetros de pagamento / modelos de apêndices;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Vencimento · Data final por série remetida ao suplemento; primeira integralização efetiva não confirmada. · Fundos.NET ID 1030295; referência 23/10/2025; data/raw/44909456000144/1030295_regulamento_23-10-2025.txt; parâmetros de pagamento / modelos de apêndices; https://fnet.bmfbovespa.com.br/fnet/publico/exibirDocumento?id=1030295&amp;cvm=true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2026-10-07T14:46:12-03:00</a:t>
            </a:r>
          </a:p>
          <a:p>
            <a:r>
              <a:t>Solfácil I: CNPJ 36771685000117</a:t>
            </a:r>
          </a:p>
          <a:p>
            <a:r>
              <a:t>Solfácil V: CNPJ 47240785000133</a:t>
            </a:r>
          </a:p>
          <a:p>
            <a:r>
              <a:t>Solfácil II: CNPJ 42462306000100</a:t>
            </a:r>
          </a:p>
          <a:p>
            <a:r>
              <a:t>Solfácil III: CNPJ 49920525000134</a:t>
            </a:r>
          </a:p>
          <a:p>
            <a:r>
              <a:t>Solfácil VI: CNPJ 57028406000108</a:t>
            </a:r>
          </a:p>
          <a:p>
            <a:r>
              <a:t>Solfácil VII: CNPJ 63505455000189</a:t>
            </a:r>
          </a:p>
          <a:p>
            <a:r>
              <a:t>Solfácil IV: CNPJ 44909456000144</a:t>
            </a:r>
          </a:p>
          <a:p>
            <a:r>
              <a:t>Fontes:</a:t>
            </a:r>
          </a:p>
          <a:p>
            <a:r>
              <a:t>CNPJ 36771685000117 · Administração · 0,074% a.a./PL; mínimo R$ 6 mil (1–6), R$ 7 mil (7–24), R$ 12 mil (≥25); reajuste IGP-M. · Fundos.NET ID 790882; referência 16/11/2024; data/raw/36771685000117/790882_regulamento_16-11-2024.txt; p.46, 6.1;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Administração · 0,09% a.a./PL; mínimos R$ 5 mil (1–6), R$ 7 mil (7–18), R$ 10 mil (≥19); IPCA anual. · Fundos.NET ID 791217; referência 19/11/2024; data/raw/47240785000133/791217_regulamento_19-11-2024.txt; p.46, 5.1;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Administração · Maior entre R$ 21 mil/mês + 0,12% a.a./PL e faixas 0,13%/0,10%/0,08% a.a.; mínimo reajustado por IPCA. · Fundos.NET ID 896879; referência 05/05/2025; data/raw/42462306000100/896879_regulamento_05-05-2025.txt; pp.46–47, 6.1/6.10; https://fnet.bmfbovespa.com.br/fnet/publico/exibirDocumento?id=896879&amp;cvm=true · Observação: Faixas: até R$ 500 mi; R$ 500 mi–1 bi; acima R$ 1 bi. Preservar fórmula comparativa, sem somar ambas as alternativas.</a:t>
            </a:r>
          </a:p>
          <a:p>
            <a:r>
              <a:t>CNPJ 49920525000134 · Administração · 0,04% a.a./PL; mínimo R$ 8 mil/mês. · Fundos.NET ID 1076645; referência 30/12/2025; data/raw/49920525000134/1076645_regulamento_30-12-2025.txt; p.52, 7.1;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Administração · 0,10% a.a./PL; mínimo R$ 10.833,33/mês; IPCA positivo anual. · Fundos.NET ID 1202319; referência 21/05/2026; data/raw/57028406000108/1202319_regulamento_21-05-2026.txt; pp.105–106, 3.1;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Administração · 0,10% a.a./PL; mínimo R$ 13 mil/mês; IPCA positivo anual. · Fundos.NET ID 1199536; referência 14/05/2026; data/raw/63505455000189/1199536_regulamento_14-05-2026.txt; pp.111–112, 3.1;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Administração · R$ 15 mil/mês; IPCA anual; setup de R$ 75 mil separado. · Fundos.NET ID 1030295; referência 23/10/2025; data/raw/44909456000144/1030295_regulamento_23-10-2025.txt; p.50, taxas; https://fnet.bmfbovespa.com.br/fnet/publico/exibirDocumento?id=1030295&amp;cvm=true · Observação: Conclusão documental; validade limitada à versão citada e às ressalvas desta revisão.</a:t>
            </a:r>
          </a:p>
          <a:p>
            <a:r>
              <a:t>CNPJ 36771685000117 · Gestão · 0,20% a.a./PL; mínimo mensal não aplicável na tabela; tributos acrescidos conforme 6.3. · Fundos.NET ID 790882; referência 16/11/2024; data/raw/36771685000117/790882_regulamento_16-11-2024.txt; pp.46–47, 6.2–6.3;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Gestão · 0,30% a.a./PL; mínimo mensal não aplicável; sem gross-up. · Fundos.NET ID 791217; referência 19/11/2024; data/raw/47240785000133/791217_regulamento_19-11-2024.txt; pp.46–47, 5.2;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Gestão · 0,12% a.a./PL; correção anual IPCA nos termos de 6.2; mínimo mensal não previsto na cláusula. · Fundos.NET ID 896879; referência 05/05/2025; data/raw/42462306000100/896879_regulamento_05-05-2025.txt; p.47, 6.2;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Gestão · 0,20% a.a./PL; mínimo R$ 10 mil/mês; sem gross-up. · Fundos.NET ID 1076645; referência 30/12/2025; data/raw/49920525000134/1076645_regulamento_30-12-2025.txt; p.52, 7.2;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Gestão · 0,20% a.a./PL; mínimo R$ 18,5 mil/mês; IPCA positivo anual. · Fundos.NET ID 1202319; referência 21/05/2026; data/raw/57028406000108/1202319_regulamento_21-05-2026.txt; pp.105–106, 3.1;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Gestão · 0,20% a.a./PL; mínimo R$ 15 mil/mês; IPCA positivo anual. · Fundos.NET ID 1199536; referência 14/05/2026; data/raw/63505455000189/1199536_regulamento_14-05-2026.txt; pp.111–112, 3.1;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Gestão · 10% a.a. sobre a taxa de administração, teto R$ 4 mil/mês; deduzida da administração. · Fundos.NET ID 1030295; referência 23/10/2025; data/raw/44909456000144/1030295_regulamento_23-10-2025.txt; p.50, taxas; https://fnet.bmfbovespa.com.br/fnet/publico/exibirDocumento?id=1030295&amp;cvm=true · Observação: Base contratual é a taxa de administração. Não tratar como 10% a.a./PL nem somar a mesma parcela duas vezes.</a:t>
            </a:r>
          </a:p>
          <a:p>
            <a:r>
              <a:t>CNPJ 36771685000117 · Custódia · 0,031% a.a./PL; mínimo R$ 2 mil (1–6), R$ 3 mil (7–24), R$ 3,5 mil (≥25); controle incluído. · Fundos.NET ID 790882; referência 16/11/2024; data/raw/36771685000117/790882_regulamento_16-11-2024.txt; p.46, tabela de prestadores;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Custódia · 0,03% a.a./PL; mínimo R$ 3 mil/mês. · Fundos.NET ID 791217; referência 19/11/2024; data/raw/47240785000133/791217_regulamento_19-11-2024.txt; p.47, 5.6;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Custódia · 0,02% a.a./PL; mínimo R$ 2 mil/mês, IPCA; encargo separado da administração. · Fundos.NET ID 896879; referência 05/05/2025; data/raw/42462306000100/896879_regulamento_05-05-2025.txt; p.47, 6.7–6.10;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Custódia · 0,02% a.a./PL; mínimo R$ 4 mil/mês; inclui controladoria/escrituração. · Fundos.NET ID 1076645; referência 30/12/2025; data/raw/49920525000134/1076645_regulamento_30-12-2025.txt; p.52, 7.3;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Custódia · 0,02% a.a./PL; mínimo R$ 2.166,67/mês; IPCA positivo anual. · Fundos.NET ID 1202319; referência 21/05/2026; data/raw/57028406000108/1202319_regulamento_21-05-2026.txt; pp.105–106, 3.1;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Custódia · 0,02% a.a./PL; mínimo R$ 2 mil/mês; IPCA positivo anual. · Fundos.NET ID 1199536; referência 14/05/2026; data/raw/63505455000189/1199536_regulamento_14-05-2026.txt; pp.111–112, 3.1;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Custódia · 0,02% a.a./PL; mínimo R$ 2 mil/mês. · Fundos.NET ID 1030295; referência 23/10/2025; data/raw/44909456000144/1030295_regulamento_23-10-2025.txt; p.50, taxas; https://fnet.bmfbovespa.com.br/fnet/publico/exibirDocumento?id=1030295&amp;cvm=true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2026-10-07T14:46:12-03:00</a:t>
            </a:r>
          </a:p>
          <a:p>
            <a:r>
              <a:t>Solfácil I: CNPJ 36771685000117</a:t>
            </a:r>
          </a:p>
          <a:p>
            <a:r>
              <a:t>Solfácil V: CNPJ 47240785000133</a:t>
            </a:r>
          </a:p>
          <a:p>
            <a:r>
              <a:t>Solfácil II: CNPJ 42462306000100</a:t>
            </a:r>
          </a:p>
          <a:p>
            <a:r>
              <a:t>Solfácil III: CNPJ 49920525000134</a:t>
            </a:r>
          </a:p>
          <a:p>
            <a:r>
              <a:t>Solfácil VI: CNPJ 57028406000108</a:t>
            </a:r>
          </a:p>
          <a:p>
            <a:r>
              <a:t>Solfácil VII: CNPJ 63505455000189</a:t>
            </a:r>
          </a:p>
          <a:p>
            <a:r>
              <a:t>Solfácil IV: CNPJ 44909456000144</a:t>
            </a:r>
          </a:p>
          <a:p>
            <a:r>
              <a:t>Fontes:</a:t>
            </a:r>
          </a:p>
          <a:p>
            <a:r>
              <a:t>CNPJ 36771685000117 · Administração · 0,074% a.a./PL; mínimo R$ 6 mil (1–6), R$ 7 mil (7–24), R$ 12 mil (≥25); reajuste IGP-M. · Fundos.NET ID 790882; referência 16/11/2024; data/raw/36771685000117/790882_regulamento_16-11-2024.txt; p.46, 6.1;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Administração · 0,09% a.a./PL; mínimos R$ 5 mil (1–6), R$ 7 mil (7–18), R$ 10 mil (≥19); IPCA anual. · Fundos.NET ID 791217; referência 19/11/2024; data/raw/47240785000133/791217_regulamento_19-11-2024.txt; p.46, 5.1;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Administração · Maior entre R$ 21 mil/mês + 0,12% a.a./PL e faixas 0,13%/0,10%/0,08% a.a.; mínimo reajustado por IPCA. · Fundos.NET ID 896879; referência 05/05/2025; data/raw/42462306000100/896879_regulamento_05-05-2025.txt; pp.46–47, 6.1/6.10; https://fnet.bmfbovespa.com.br/fnet/publico/exibirDocumento?id=896879&amp;cvm=true · Observação: Faixas: até R$ 500 mi; R$ 500 mi–1 bi; acima R$ 1 bi. Preservar fórmula comparativa, sem somar ambas as alternativas.</a:t>
            </a:r>
          </a:p>
          <a:p>
            <a:r>
              <a:t>CNPJ 49920525000134 · Administração · 0,04% a.a./PL; mínimo R$ 8 mil/mês. · Fundos.NET ID 1076645; referência 30/12/2025; data/raw/49920525000134/1076645_regulamento_30-12-2025.txt; p.52, 7.1;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Administração · 0,10% a.a./PL; mínimo R$ 10.833,33/mês; IPCA positivo anual. · Fundos.NET ID 1202319; referência 21/05/2026; data/raw/57028406000108/1202319_regulamento_21-05-2026.txt; pp.105–106, 3.1;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Administração · 0,10% a.a./PL; mínimo R$ 13 mil/mês; IPCA positivo anual. · Fundos.NET ID 1199536; referência 14/05/2026; data/raw/63505455000189/1199536_regulamento_14-05-2026.txt; pp.111–112, 3.1;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Administração · R$ 15 mil/mês; IPCA anual; setup de R$ 75 mil separado. · Fundos.NET ID 1030295; referência 23/10/2025; data/raw/44909456000144/1030295_regulamento_23-10-2025.txt; p.50, taxas; https://fnet.bmfbovespa.com.br/fnet/publico/exibirDocumento?id=1030295&amp;cvm=true · Observação: Conclusão documental; validade limitada à versão citada e às ressalvas desta revisão.</a:t>
            </a:r>
          </a:p>
          <a:p>
            <a:r>
              <a:t>CNPJ 36771685000117 · Gestão · 0,20% a.a./PL; mínimo mensal não aplicável na tabela; tributos acrescidos conforme 6.3. · Fundos.NET ID 790882; referência 16/11/2024; data/raw/36771685000117/790882_regulamento_16-11-2024.txt; pp.46–47, 6.2–6.3;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Gestão · 0,30% a.a./PL; mínimo mensal não aplicável; sem gross-up. · Fundos.NET ID 791217; referência 19/11/2024; data/raw/47240785000133/791217_regulamento_19-11-2024.txt; pp.46–47, 5.2;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Gestão · 0,12% a.a./PL; correção anual IPCA nos termos de 6.2; mínimo mensal não previsto na cláusula. · Fundos.NET ID 896879; referência 05/05/2025; data/raw/42462306000100/896879_regulamento_05-05-2025.txt; p.47, 6.2;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Gestão · 0,20% a.a./PL; mínimo R$ 10 mil/mês; sem gross-up. · Fundos.NET ID 1076645; referência 30/12/2025; data/raw/49920525000134/1076645_regulamento_30-12-2025.txt; p.52, 7.2;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Gestão · 0,20% a.a./PL; mínimo R$ 18,5 mil/mês; IPCA positivo anual. · Fundos.NET ID 1202319; referência 21/05/2026; data/raw/57028406000108/1202319_regulamento_21-05-2026.txt; pp.105–106, 3.1;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Gestão · 0,20% a.a./PL; mínimo R$ 15 mil/mês; IPCA positivo anual. · Fundos.NET ID 1199536; referência 14/05/2026; data/raw/63505455000189/1199536_regulamento_14-05-2026.txt; pp.111–112, 3.1;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Gestão · 10% a.a. sobre a taxa de administração, teto R$ 4 mil/mês; deduzida da administração. · Fundos.NET ID 1030295; referência 23/10/2025; data/raw/44909456000144/1030295_regulamento_23-10-2025.txt; p.50, taxas; https://fnet.bmfbovespa.com.br/fnet/publico/exibirDocumento?id=1030295&amp;cvm=true · Observação: Base contratual é a taxa de administração. Não tratar como 10% a.a./PL nem somar a mesma parcela duas vezes.</a:t>
            </a:r>
          </a:p>
          <a:p>
            <a:r>
              <a:t>CNPJ 36771685000117 · Custódia · 0,031% a.a./PL; mínimo R$ 2 mil (1–6), R$ 3 mil (7–24), R$ 3,5 mil (≥25); controle incluído. · Fundos.NET ID 790882; referência 16/11/2024; data/raw/36771685000117/790882_regulamento_16-11-2024.txt; p.46, tabela de prestadores; https://fnet.bmfbovespa.com.br/fnet/publico/exibirDocumento?id=790882&amp;cvm=true · Observação: Conclusão documental; validade limitada à versão citada e às ressalvas desta revisão.</a:t>
            </a:r>
          </a:p>
          <a:p>
            <a:r>
              <a:t>CNPJ 47240785000133 · Custódia · 0,03% a.a./PL; mínimo R$ 3 mil/mês. · Fundos.NET ID 791217; referência 19/11/2024; data/raw/47240785000133/791217_regulamento_19-11-2024.txt; p.47, 5.6; https://fnet.bmfbovespa.com.br/fnet/publico/exibirDocumento?id=791217&amp;cvm=true · Observação: Conclusão documental; validade limitada à versão citada e às ressalvas desta revisão.</a:t>
            </a:r>
          </a:p>
          <a:p>
            <a:r>
              <a:t>CNPJ 42462306000100 · Custódia · 0,02% a.a./PL; mínimo R$ 2 mil/mês, IPCA; encargo separado da administração. · Fundos.NET ID 896879; referência 05/05/2025; data/raw/42462306000100/896879_regulamento_05-05-2025.txt; p.47, 6.7–6.10; https://fnet.bmfbovespa.com.br/fnet/publico/exibirDocumento?id=896879&amp;cvm=true · Observação: Conclusão documental; validade limitada à versão citada e às ressalvas desta revisão.</a:t>
            </a:r>
          </a:p>
          <a:p>
            <a:r>
              <a:t>CNPJ 49920525000134 · Custódia · 0,02% a.a./PL; mínimo R$ 4 mil/mês; inclui controladoria/escrituração. · Fundos.NET ID 1076645; referência 30/12/2025; data/raw/49920525000134/1076645_regulamento_30-12-2025.txt; p.52, 7.3; https://fnet.bmfbovespa.com.br/fnet/publico/exibirDocumento?id=1076645&amp;cvm=true · Observação: Conclusão documental; validade limitada à versão citada e às ressalvas desta revisão.</a:t>
            </a:r>
          </a:p>
          <a:p>
            <a:r>
              <a:t>CNPJ 57028406000108 · Custódia · 0,02% a.a./PL; mínimo R$ 2.166,67/mês; IPCA positivo anual. · Fundos.NET ID 1202319; referência 21/05/2026; data/raw/57028406000108/1202319_regulamento_21-05-2026.txt; pp.105–106, 3.1; https://fnet.bmfbovespa.com.br/fnet/publico/exibirDocumento?id=1202319&amp;cvm=true · Observação: Conclusão documental; validade limitada à versão citada e às ressalvas desta revisão.</a:t>
            </a:r>
          </a:p>
          <a:p>
            <a:r>
              <a:t>CNPJ 63505455000189 · Custódia · 0,02% a.a./PL; mínimo R$ 2 mil/mês; IPCA positivo anual. · Fundos.NET ID 1199536; referência 14/05/2026; data/raw/63505455000189/1199536_regulamento_14-05-2026.txt; pp.111–112, 3.1; https://fnet.bmfbovespa.com.br/fnet/publico/exibirDocumento?id=1199536&amp;cvm=true · Observação: Conclusão documental; validade limitada à versão citada e às ressalvas desta revisão.</a:t>
            </a:r>
          </a:p>
          <a:p>
            <a:r>
              <a:t>CNPJ 44909456000144 · Custódia · 0,02% a.a./PL; mínimo R$ 2 mil/mês. · Fundos.NET ID 1030295; referência 23/10/2025; data/raw/44909456000144/1030295_regulamento_23-10-2025.txt; p.50, taxas; https://fnet.bmfbovespa.com.br/fnet/publico/exibirDocumento?id=1030295&amp;cvm=true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2026-10-07T14:46:12-03:00</a:t>
            </a:r>
          </a:p>
          <a:p>
            <a:r>
              <a:t>Solfácil I: CNPJ 36771685000117</a:t>
            </a:r>
          </a:p>
          <a:p>
            <a:r>
              <a:t>Solfácil V: CNPJ 47240785000133</a:t>
            </a:r>
          </a:p>
          <a:p>
            <a:r>
              <a:t>Solfácil II: CNPJ 42462306000100</a:t>
            </a:r>
          </a:p>
          <a:p>
            <a:r>
              <a:t>Solfácil III: CNPJ 49920525000134</a:t>
            </a:r>
          </a:p>
          <a:p>
            <a:r>
              <a:t>Solfácil VI: CNPJ 57028406000108</a:t>
            </a:r>
          </a:p>
          <a:p>
            <a:r>
              <a:t>Solfácil VII: CNPJ 63505455000189</a:t>
            </a:r>
          </a:p>
          <a:p>
            <a:r>
              <a:t>Solfácil IV: CNPJ 44909456000144</a:t>
            </a:r>
          </a:p>
          <a:p>
            <a:r>
              <a:t>Fontes:</a:t>
            </a:r>
          </a:p>
          <a:p>
            <a:r>
              <a:t>CNPJ 36771685000117 · Alocação/subordinação IME · DC/PL e cotas subordinadas/PL: cálculo agregado com validação de classes e do denominador. · Corpus do CNPJ 36771685000117, revisão 2026-10-07T14:46:12-03:00; Fundos.NET ID 790882, referência 16/11/2024, arquivo data/raw/36771685000117/790882_regulamento_16-11-2024.txt · Observação: Monitorável com ressalva: IME mensal não prova cumprimento diário nem composição jurídica por série.</a:t>
            </a:r>
          </a:p>
          <a:p>
            <a:r>
              <a:t>CNPJ 47240785000133 · Alocação/subordinação IME · DC/PL e cotas subordinadas/PL: cálculo agregado com validação de classes e do denominador. · Corpus do CNPJ 47240785000133, revisão 2026-10-07T14:46:12-03:00; Fundos.NET ID 791217, referência 19/11/2024, arquivo data/raw/47240785000133/791217_regulamento_19-11-2024.txt · Observação: Monitorável com ressalva: IME mensal não prova cumprimento diário nem composição jurídica por série.</a:t>
            </a:r>
          </a:p>
          <a:p>
            <a:r>
              <a:t>CNPJ 42462306000100 · Alocação/subordinação IME · DC/PL e cotas subordinadas/PL: cálculo agregado com validação de classes e do denominador. · Corpus do CNPJ 42462306000100, revisão 2026-10-07T14:46:12-03:00; Fundos.NET ID 896879, referência 05/05/2025, arquivo data/raw/42462306000100/896879_regulamento_05-05-2025.txt · Observação: Monitorável com ressalva: IME mensal não prova cumprimento diário nem composição jurídica por série.</a:t>
            </a:r>
          </a:p>
          <a:p>
            <a:r>
              <a:t>CNPJ 49920525000134 · Alocação/subordinação IME · DC/PL e cotas subordinadas/PL: cálculo agregado com validação de classes e do denominador. · Corpus do CNPJ 49920525000134, revisão 2026-10-07T14:46:12-03:00; Fundos.NET ID 1076645, referência 30/12/2025, arquivo data/raw/49920525000134/1076645_regulamento_30-12-2025.txt · Observação: Monitorável com ressalva: IME mensal não prova cumprimento diário nem composição jurídica por série.</a:t>
            </a:r>
          </a:p>
          <a:p>
            <a:r>
              <a:t>CNPJ 57028406000108 · Alocação/subordinação IME · DC/PL e cotas subordinadas/PL: cálculo agregado com validação de classes e do denominador. · Corpus do CNPJ 57028406000108, revisão 2026-10-07T14:46:12-03:00; Fundos.NET ID 1202319, referência 21/05/2026, arquivo data/raw/57028406000108/1202319_regulamento_21-05-2026.txt · Observação: Monitorável com ressalva: IME mensal não prova cumprimento diário nem composição jurídica por série.</a:t>
            </a:r>
          </a:p>
          <a:p>
            <a:r>
              <a:t>CNPJ 63505455000189 · Alocação/subordinação IME · DC/PL e cotas subordinadas/PL: cálculo agregado com validação de classes e do denominador. · Corpus do CNPJ 63505455000189, revisão 2026-10-07T14:46:12-03:00; Fundos.NET ID 1199536, referência 14/05/2026, arquivo data/raw/63505455000189/1199536_regulamento_14-05-2026.txt · Observação: Monitorável com ressalva: IME mensal não prova cumprimento diário nem composição jurídica por série.</a:t>
            </a:r>
          </a:p>
          <a:p>
            <a:r>
              <a:t>CNPJ 44909456000144 · Alocação/subordinação IME · DC/PL e cotas subordinadas/PL: cálculo agregado com validação de classes e do denominador. · Corpus do CNPJ 44909456000144, revisão 2026-10-07T14:46:12-03:00; Fundos.NET ID 1030295, referência 23/10/2025, arquivo data/raw/44909456000144/1030295_regulamento_23-10-2025.txt · Observação: Monitorável com ressalva: IME mensal não prova cumprimento diário nem composição jurídica por série.</a:t>
            </a:r>
          </a:p>
          <a:p>
            <a:r>
              <a:t>CNPJ 36771685000117 · Inadimplência/PDD IME · Over 30/60/90/180/crédito e PDD/crédito: proxies agregados; gatilhos contratuais exigem fórmula própria. · Corpus do CNPJ 36771685000117, revisão 2026-10-07T14:46:12-03:00; Fundos.NET ID 790882, referência 16/11/2024, arquivo data/raw/36771685000117/790882_regulamento_16-11-2024.txt · Observação: Parcial: não equiparar índices de estoque/vintage/rolagem à carteira atual sem reconciliação de denominadores.</a:t>
            </a:r>
          </a:p>
          <a:p>
            <a:r>
              <a:t>CNPJ 47240785000133 · Inadimplência/PDD IME · Over 30/60/90/180/crédito e PDD/crédito: proxies agregados; gatilhos contratuais exigem fórmula própria. · Corpus do CNPJ 47240785000133, revisão 2026-10-07T14:46:12-03:00; Fundos.NET ID 791217, referência 19/11/2024, arquivo data/raw/47240785000133/791217_regulamento_19-11-2024.txt · Observação: Parcial: não equiparar índices de estoque/vintage/rolagem à carteira atual sem reconciliação de denominadores.</a:t>
            </a:r>
          </a:p>
          <a:p>
            <a:r>
              <a:t>CNPJ 42462306000100 · Inadimplência/PDD IME · Over 30/60/90/180/crédito e PDD/crédito: proxies agregados; gatilhos contratuais exigem fórmula própria. · Corpus do CNPJ 42462306000100, revisão 2026-10-07T14:46:12-03:00; Fundos.NET ID 896879, referência 05/05/2025, arquivo data/raw/42462306000100/896879_regulamento_05-05-2025.txt · Observação: Parcial: não equiparar índices de estoque/vintage/rolagem à carteira atual sem reconciliação de denominadores.</a:t>
            </a:r>
          </a:p>
          <a:p>
            <a:r>
              <a:t>CNPJ 49920525000134 · Inadimplência/PDD IME · Over 30/60/90/180/crédito e PDD/crédito: proxies agregados; gatilhos contratuais exigem fórmula própria. · Corpus do CNPJ 49920525000134, revisão 2026-10-07T14:46:12-03:00; Fundos.NET ID 1076645, referência 30/12/2025, arquivo data/raw/49920525000134/1076645_regulamento_30-12-2025.txt · Observação: Parcial: não equiparar índices de estoque/vintage/rolagem à carteira atual sem reconciliação de denominadores.</a:t>
            </a:r>
          </a:p>
          <a:p>
            <a:r>
              <a:t>CNPJ 57028406000108 · Inadimplência/PDD IME · Over 30/60/90/180/crédito e PDD/crédito: proxies agregados; gatilhos contratuais exigem fórmula própria. · Corpus do CNPJ 57028406000108, revisão 2026-10-07T14:46:12-03:00; Fundos.NET ID 1202319, referência 21/05/2026, arquivo data/raw/57028406000108/1202319_regulamento_21-05-2026.txt · Observação: Parcial: não equiparar índices de estoque/vintage/rolagem à carteira atual sem reconciliação de denominadores.</a:t>
            </a:r>
          </a:p>
          <a:p>
            <a:r>
              <a:t>CNPJ 63505455000189 · Inadimplência/PDD IME · Over 30/60/90/180/crédito e PDD/crédito: proxies agregados; gatilhos contratuais exigem fórmula própria. · Corpus do CNPJ 63505455000189, revisão 2026-10-07T14:46:12-03:00; Fundos.NET ID 1199536, referência 14/05/2026, arquivo data/raw/63505455000189/1199536_regulamento_14-05-2026.txt · Observação: Parcial: não equiparar índices de estoque/vintage/rolagem à carteira atual sem reconciliação de denominadores.</a:t>
            </a:r>
          </a:p>
          <a:p>
            <a:r>
              <a:t>CNPJ 44909456000144 · Inadimplência/PDD IME · Over 30/60/90/180/crédito e PDD/crédito: proxies agregados; gatilhos contratuais exigem fórmula própria. · Corpus do CNPJ 44909456000144, revisão 2026-10-07T14:46:12-03:00; Fundos.NET ID 1030295, referência 23/10/2025, arquivo data/raw/44909456000144/1030295_regulamento_23-10-2025.txt · Observação: Parcial: não equiparar índices de estoque/vintage/rolagem à carteira atual sem reconciliação de denominadores.</a:t>
            </a:r>
          </a:p>
          <a:p>
            <a:r>
              <a:t>CNPJ 36771685000117 · Controles documentais · Elegibilidade, concentração individual, lastro, finalidade do hedge e troca de prestadores exigem controle documental. · Corpus do CNPJ 36771685000117, revisão 2026-10-07T14:46:12-03:00; Fundos.NET ID 790882, referência 16/11/2024, arquivo data/raw/36771685000117/790882_regulamento_16-11-2024.txt · Observação: Não monitorável pelo IME público sem dados individualizados; caixa e recompras ajudam apenas como proxies.</a:t>
            </a:r>
          </a:p>
          <a:p>
            <a:r>
              <a:t>CNPJ 47240785000133 · Controles documentais · Elegibilidade, concentração individual, lastro, finalidade do hedge e troca de prestadores exigem controle documental. · Corpus do CNPJ 47240785000133, revisão 2026-10-07T14:46:12-03:00; Fundos.NET ID 791217, referência 19/11/2024, arquivo data/raw/47240785000133/791217_regulamento_19-11-2024.txt · Observação: Não monitorável pelo IME público sem dados individualizados; caixa e recompras ajudam apenas como proxies.</a:t>
            </a:r>
          </a:p>
          <a:p>
            <a:r>
              <a:t>CNPJ 42462306000100 · Controles documentais · Elegibilidade, concentração individual, lastro, finalidade do hedge e troca de prestadores exigem controle documental. · Corpus do CNPJ 42462306000100, revisão 2026-10-07T14:46:12-03:00; Fundos.NET ID 896879, referência 05/05/2025, arquivo data/raw/42462306000100/896879_regulamento_05-05-2025.txt · Observação: Não monitorável pelo IME público sem dados individualizados; caixa e recompras ajudam apenas como proxies.</a:t>
            </a:r>
          </a:p>
          <a:p>
            <a:r>
              <a:t>CNPJ 49920525000134 · Controles documentais · Elegibilidade, concentração individual, lastro, finalidade do hedge e troca de prestadores exigem controle documental. · Corpus do CNPJ 49920525000134, revisão 2026-10-07T14:46:12-03:00; Fundos.NET ID 1076645, referência 30/12/2025, arquivo data/raw/49920525000134/1076645_regulamento_30-12-2025.txt · Observação: Não monitorável pelo IME público sem dados individualizados; caixa e recompras ajudam apenas como proxies.</a:t>
            </a:r>
          </a:p>
          <a:p>
            <a:r>
              <a:t>CNPJ 57028406000108 · Controles documentais · Elegibilidade, concentração individual, lastro, finalidade do hedge e troca de prestadores exigem controle documental. · Corpus do CNPJ 57028406000108, revisão 2026-10-07T14:46:12-03:00; Fundos.NET ID 1202319, referência 21/05/2026, arquivo data/raw/57028406000108/1202319_regulamento_21-05-2026.txt · Observação: Não monitorável pelo IME público sem dados individualizados; caixa e recompras ajudam apenas como proxies.</a:t>
            </a:r>
          </a:p>
          <a:p>
            <a:r>
              <a:t>CNPJ 63505455000189 · Controles documentais · Elegibilidade, concentração individual, lastro, finalidade do hedge e troca de prestadores exigem controle documental. · Corpus do CNPJ 63505455000189, revisão 2026-10-07T14:46:12-03:00; Fundos.NET ID 1199536, referência 14/05/2026, arquivo data/raw/63505455000189/1199536_regulamento_14-05-2026.txt · Observação: Não monitorável pelo IME público sem dados individualizados; caixa e recompras ajudam apenas como proxies.</a:t>
            </a:r>
          </a:p>
          <a:p>
            <a:r>
              <a:t>CNPJ 44909456000144 · Controles documentais · Elegibilidade, concentração individual, lastro, finalidade do hedge e troca de prestadores exigem controle documental. · Corpus do CNPJ 44909456000144, revisão 2026-10-07T14:46:12-03:00; Fundos.NET ID 1030295, referência 23/10/2025, arquivo data/raw/44909456000144/1030295_regulamento_23-10-2025.txt · Observação: Não monitorável pelo IME público sem dados individualizados; caixa e recompras ajudam apenas como proxies.</a:t>
            </a:r>
          </a:p>
          <a:p>
            <a:r>
              <a:t>CNPJ 36771685000117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47240785000133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42462306000100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49920525000134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57028406000108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63505455000189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44909456000144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2026-10-07T14:46:12-03:00</a:t>
            </a:r>
          </a:p>
          <a:p>
            <a:r>
              <a:t>Solfácil I: CNPJ 36771685000117</a:t>
            </a:r>
          </a:p>
          <a:p>
            <a:r>
              <a:t>Solfácil V: CNPJ 47240785000133</a:t>
            </a:r>
          </a:p>
          <a:p>
            <a:r>
              <a:t>Solfácil II: CNPJ 42462306000100</a:t>
            </a:r>
          </a:p>
          <a:p>
            <a:r>
              <a:t>Solfácil III: CNPJ 49920525000134</a:t>
            </a:r>
          </a:p>
          <a:p>
            <a:r>
              <a:t>Solfácil VI: CNPJ 57028406000108</a:t>
            </a:r>
          </a:p>
          <a:p>
            <a:r>
              <a:t>Solfácil VII: CNPJ 63505455000189</a:t>
            </a:r>
          </a:p>
          <a:p>
            <a:r>
              <a:t>Solfácil IV: CNPJ 44909456000144</a:t>
            </a:r>
          </a:p>
          <a:p>
            <a:r>
              <a:t>Fontes:</a:t>
            </a:r>
          </a:p>
          <a:p>
            <a:r>
              <a:t>CNPJ 36771685000117 · Alocação/subordinação IME · DC/PL e cotas subordinadas/PL: cálculo agregado com validação de classes e do denominador. · Corpus do CNPJ 36771685000117, revisão 2026-10-07T14:46:12-03:00; Fundos.NET ID 790882, referência 16/11/2024, arquivo data/raw/36771685000117/790882_regulamento_16-11-2024.txt · Observação: Monitorável com ressalva: IME mensal não prova cumprimento diário nem composição jurídica por série.</a:t>
            </a:r>
          </a:p>
          <a:p>
            <a:r>
              <a:t>CNPJ 47240785000133 · Alocação/subordinação IME · DC/PL e cotas subordinadas/PL: cálculo agregado com validação de classes e do denominador. · Corpus do CNPJ 47240785000133, revisão 2026-10-07T14:46:12-03:00; Fundos.NET ID 791217, referência 19/11/2024, arquivo data/raw/47240785000133/791217_regulamento_19-11-2024.txt · Observação: Monitorável com ressalva: IME mensal não prova cumprimento diário nem composição jurídica por série.</a:t>
            </a:r>
          </a:p>
          <a:p>
            <a:r>
              <a:t>CNPJ 42462306000100 · Alocação/subordinação IME · DC/PL e cotas subordinadas/PL: cálculo agregado com validação de classes e do denominador. · Corpus do CNPJ 42462306000100, revisão 2026-10-07T14:46:12-03:00; Fundos.NET ID 896879, referência 05/05/2025, arquivo data/raw/42462306000100/896879_regulamento_05-05-2025.txt · Observação: Monitorável com ressalva: IME mensal não prova cumprimento diário nem composição jurídica por série.</a:t>
            </a:r>
          </a:p>
          <a:p>
            <a:r>
              <a:t>CNPJ 49920525000134 · Alocação/subordinação IME · DC/PL e cotas subordinadas/PL: cálculo agregado com validação de classes e do denominador. · Corpus do CNPJ 49920525000134, revisão 2026-10-07T14:46:12-03:00; Fundos.NET ID 1076645, referência 30/12/2025, arquivo data/raw/49920525000134/1076645_regulamento_30-12-2025.txt · Observação: Monitorável com ressalva: IME mensal não prova cumprimento diário nem composição jurídica por série.</a:t>
            </a:r>
          </a:p>
          <a:p>
            <a:r>
              <a:t>CNPJ 57028406000108 · Alocação/subordinação IME · DC/PL e cotas subordinadas/PL: cálculo agregado com validação de classes e do denominador. · Corpus do CNPJ 57028406000108, revisão 2026-10-07T14:46:12-03:00; Fundos.NET ID 1202319, referência 21/05/2026, arquivo data/raw/57028406000108/1202319_regulamento_21-05-2026.txt · Observação: Monitorável com ressalva: IME mensal não prova cumprimento diário nem composição jurídica por série.</a:t>
            </a:r>
          </a:p>
          <a:p>
            <a:r>
              <a:t>CNPJ 63505455000189 · Alocação/subordinação IME · DC/PL e cotas subordinadas/PL: cálculo agregado com validação de classes e do denominador. · Corpus do CNPJ 63505455000189, revisão 2026-10-07T14:46:12-03:00; Fundos.NET ID 1199536, referência 14/05/2026, arquivo data/raw/63505455000189/1199536_regulamento_14-05-2026.txt · Observação: Monitorável com ressalva: IME mensal não prova cumprimento diário nem composição jurídica por série.</a:t>
            </a:r>
          </a:p>
          <a:p>
            <a:r>
              <a:t>CNPJ 44909456000144 · Alocação/subordinação IME · DC/PL e cotas subordinadas/PL: cálculo agregado com validação de classes e do denominador. · Corpus do CNPJ 44909456000144, revisão 2026-10-07T14:46:12-03:00; Fundos.NET ID 1030295, referência 23/10/2025, arquivo data/raw/44909456000144/1030295_regulamento_23-10-2025.txt · Observação: Monitorável com ressalva: IME mensal não prova cumprimento diário nem composição jurídica por série.</a:t>
            </a:r>
          </a:p>
          <a:p>
            <a:r>
              <a:t>CNPJ 36771685000117 · Inadimplência/PDD IME · Over 30/60/90/180/crédito e PDD/crédito: proxies agregados; gatilhos contratuais exigem fórmula própria. · Corpus do CNPJ 36771685000117, revisão 2026-10-07T14:46:12-03:00; Fundos.NET ID 790882, referência 16/11/2024, arquivo data/raw/36771685000117/790882_regulamento_16-11-2024.txt · Observação: Parcial: não equiparar índices de estoque/vintage/rolagem à carteira atual sem reconciliação de denominadores.</a:t>
            </a:r>
          </a:p>
          <a:p>
            <a:r>
              <a:t>CNPJ 47240785000133 · Inadimplência/PDD IME · Over 30/60/90/180/crédito e PDD/crédito: proxies agregados; gatilhos contratuais exigem fórmula própria. · Corpus do CNPJ 47240785000133, revisão 2026-10-07T14:46:12-03:00; Fundos.NET ID 791217, referência 19/11/2024, arquivo data/raw/47240785000133/791217_regulamento_19-11-2024.txt · Observação: Parcial: não equiparar índices de estoque/vintage/rolagem à carteira atual sem reconciliação de denominadores.</a:t>
            </a:r>
          </a:p>
          <a:p>
            <a:r>
              <a:t>CNPJ 42462306000100 · Inadimplência/PDD IME · Over 30/60/90/180/crédito e PDD/crédito: proxies agregados; gatilhos contratuais exigem fórmula própria. · Corpus do CNPJ 42462306000100, revisão 2026-10-07T14:46:12-03:00; Fundos.NET ID 896879, referência 05/05/2025, arquivo data/raw/42462306000100/896879_regulamento_05-05-2025.txt · Observação: Parcial: não equiparar índices de estoque/vintage/rolagem à carteira atual sem reconciliação de denominadores.</a:t>
            </a:r>
          </a:p>
          <a:p>
            <a:r>
              <a:t>CNPJ 49920525000134 · Inadimplência/PDD IME · Over 30/60/90/180/crédito e PDD/crédito: proxies agregados; gatilhos contratuais exigem fórmula própria. · Corpus do CNPJ 49920525000134, revisão 2026-10-07T14:46:12-03:00; Fundos.NET ID 1076645, referência 30/12/2025, arquivo data/raw/49920525000134/1076645_regulamento_30-12-2025.txt · Observação: Parcial: não equiparar índices de estoque/vintage/rolagem à carteira atual sem reconciliação de denominadores.</a:t>
            </a:r>
          </a:p>
          <a:p>
            <a:r>
              <a:t>CNPJ 57028406000108 · Inadimplência/PDD IME · Over 30/60/90/180/crédito e PDD/crédito: proxies agregados; gatilhos contratuais exigem fórmula própria. · Corpus do CNPJ 57028406000108, revisão 2026-10-07T14:46:12-03:00; Fundos.NET ID 1202319, referência 21/05/2026, arquivo data/raw/57028406000108/1202319_regulamento_21-05-2026.txt · Observação: Parcial: não equiparar índices de estoque/vintage/rolagem à carteira atual sem reconciliação de denominadores.</a:t>
            </a:r>
          </a:p>
          <a:p>
            <a:r>
              <a:t>CNPJ 63505455000189 · Inadimplência/PDD IME · Over 30/60/90/180/crédito e PDD/crédito: proxies agregados; gatilhos contratuais exigem fórmula própria. · Corpus do CNPJ 63505455000189, revisão 2026-10-07T14:46:12-03:00; Fundos.NET ID 1199536, referência 14/05/2026, arquivo data/raw/63505455000189/1199536_regulamento_14-05-2026.txt · Observação: Parcial: não equiparar índices de estoque/vintage/rolagem à carteira atual sem reconciliação de denominadores.</a:t>
            </a:r>
          </a:p>
          <a:p>
            <a:r>
              <a:t>CNPJ 44909456000144 · Inadimplência/PDD IME · Over 30/60/90/180/crédito e PDD/crédito: proxies agregados; gatilhos contratuais exigem fórmula própria. · Corpus do CNPJ 44909456000144, revisão 2026-10-07T14:46:12-03:00; Fundos.NET ID 1030295, referência 23/10/2025, arquivo data/raw/44909456000144/1030295_regulamento_23-10-2025.txt · Observação: Parcial: não equiparar índices de estoque/vintage/rolagem à carteira atual sem reconciliação de denominadores.</a:t>
            </a:r>
          </a:p>
          <a:p>
            <a:r>
              <a:t>CNPJ 36771685000117 · Controles documentais · Elegibilidade, concentração individual, lastro, finalidade do hedge e troca de prestadores exigem controle documental. · Corpus do CNPJ 36771685000117, revisão 2026-10-07T14:46:12-03:00; Fundos.NET ID 790882, referência 16/11/2024, arquivo data/raw/36771685000117/790882_regulamento_16-11-2024.txt · Observação: Não monitorável pelo IME público sem dados individualizados; caixa e recompras ajudam apenas como proxies.</a:t>
            </a:r>
          </a:p>
          <a:p>
            <a:r>
              <a:t>CNPJ 47240785000133 · Controles documentais · Elegibilidade, concentração individual, lastro, finalidade do hedge e troca de prestadores exigem controle documental. · Corpus do CNPJ 47240785000133, revisão 2026-10-07T14:46:12-03:00; Fundos.NET ID 791217, referência 19/11/2024, arquivo data/raw/47240785000133/791217_regulamento_19-11-2024.txt · Observação: Não monitorável pelo IME público sem dados individualizados; caixa e recompras ajudam apenas como proxies.</a:t>
            </a:r>
          </a:p>
          <a:p>
            <a:r>
              <a:t>CNPJ 42462306000100 · Controles documentais · Elegibilidade, concentração individual, lastro, finalidade do hedge e troca de prestadores exigem controle documental. · Corpus do CNPJ 42462306000100, revisão 2026-10-07T14:46:12-03:00; Fundos.NET ID 896879, referência 05/05/2025, arquivo data/raw/42462306000100/896879_regulamento_05-05-2025.txt · Observação: Não monitorável pelo IME público sem dados individualizados; caixa e recompras ajudam apenas como proxies.</a:t>
            </a:r>
          </a:p>
          <a:p>
            <a:r>
              <a:t>CNPJ 49920525000134 · Controles documentais · Elegibilidade, concentração individual, lastro, finalidade do hedge e troca de prestadores exigem controle documental. · Corpus do CNPJ 49920525000134, revisão 2026-10-07T14:46:12-03:00; Fundos.NET ID 1076645, referência 30/12/2025, arquivo data/raw/49920525000134/1076645_regulamento_30-12-2025.txt · Observação: Não monitorável pelo IME público sem dados individualizados; caixa e recompras ajudam apenas como proxies.</a:t>
            </a:r>
          </a:p>
          <a:p>
            <a:r>
              <a:t>CNPJ 57028406000108 · Controles documentais · Elegibilidade, concentração individual, lastro, finalidade do hedge e troca de prestadores exigem controle documental. · Corpus do CNPJ 57028406000108, revisão 2026-10-07T14:46:12-03:00; Fundos.NET ID 1202319, referência 21/05/2026, arquivo data/raw/57028406000108/1202319_regulamento_21-05-2026.txt · Observação: Não monitorável pelo IME público sem dados individualizados; caixa e recompras ajudam apenas como proxies.</a:t>
            </a:r>
          </a:p>
          <a:p>
            <a:r>
              <a:t>CNPJ 63505455000189 · Controles documentais · Elegibilidade, concentração individual, lastro, finalidade do hedge e troca de prestadores exigem controle documental. · Corpus do CNPJ 63505455000189, revisão 2026-10-07T14:46:12-03:00; Fundos.NET ID 1199536, referência 14/05/2026, arquivo data/raw/63505455000189/1199536_regulamento_14-05-2026.txt · Observação: Não monitorável pelo IME público sem dados individualizados; caixa e recompras ajudam apenas como proxies.</a:t>
            </a:r>
          </a:p>
          <a:p>
            <a:r>
              <a:t>CNPJ 44909456000144 · Controles documentais · Elegibilidade, concentração individual, lastro, finalidade do hedge e troca de prestadores exigem controle documental. · Corpus do CNPJ 44909456000144, revisão 2026-10-07T14:46:12-03:00; Fundos.NET ID 1030295, referência 23/10/2025, arquivo data/raw/44909456000144/1030295_regulamento_23-10-2025.txt · Observação: Não monitorável pelo IME público sem dados individualizados; caixa e recompras ajudam apenas como proxies.</a:t>
            </a:r>
          </a:p>
          <a:p>
            <a:r>
              <a:t>CNPJ 36771685000117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47240785000133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42462306000100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49920525000134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57028406000108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63505455000189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44909456000144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Solfácil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1181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Financiamento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sistemas solares,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representado por CCBs.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Financiamento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sistemas solares,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representado por CCBs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CPR financeiras.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Financiamento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sistemas solares,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representado por CCBs.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Financiamento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sistemas solares,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representado por CCBs.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Solfácil origina pela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plataforma;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instituições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financeiras endossantes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nos termos da versão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Solfácil origina pela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plataforma;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instituições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financeiras endossantes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nos termos da versão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Solfácil origina pela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plataforma;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instituições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financeiras endossantes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nos termos da versão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Solfácil origina pela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plataforma;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instituições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financeiras endossantes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nos termos da versão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Pessoas físicas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jurídicas que financiam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sistemas solares.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Pessoas físicas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jurídicas que financiam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sistemas solares.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Pessoas físicas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jurídicas que financiam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sistemas solares.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Pessoas físicas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jurídicas que financiam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sistemas solares.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Solfácil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8679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Equipamentos solares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alienação fiduciária;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formalização e registro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sujeitos às condições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Equipamentos solares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alienação fiduciária;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formalização e registro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sujeitos às condições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Equipamentos solares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alienação fiduciária;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formalização e registro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sujeitos às condições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Equipamentos solares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alienação fiduciária;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formalização e registro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sujeitos às condições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Adimplente; PF até 70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anos; prazo médio até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2.135 dias; prazo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 até 3.836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dias; preço PF até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201 mil/PJ R$ 502 mil.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e CPR financeiras;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PF/PJ; prazo médio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2.400 dias, individual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4.760 dias; preço PF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500 mil/PJ R$ 700 mil.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Adimplente; PF até 70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anos/PJ ≥2 anos;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carência do crédito até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180 dias; nominal PF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300 mil/PJ R$ 500 mil;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 médio 2.400 dias.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Adimplente; PF até 71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anos/PJ ≥2 anos;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carência até 185 dias;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nominal PF R$ 350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mil/PJ R$ 600 mil;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 médio 2.000 dias.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 até 2%/PL e top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 até 10%/PL após PL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R$ 50 mi; integrador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solar até 10%/PL.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 ≤2%/PL; top 10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≤10%/PL; prefixados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≤15%/PL; tickets PF &gt;R$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350 mil/PJ &gt;R$ 550 mil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 limites agregados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1%/PL.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Limites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devedor/grupo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carteira constam 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condições de cessão;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 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individualizado.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 ≤0,10%/PL; top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 ≤1%/PL; taxa mínima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dos créditos 23%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Solfácil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49057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VI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VII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Financiamento de sistemas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solares, representado por CCBs.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Financiamento de sistemas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solares, representado por CCBs.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Financiamento de sistemas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solares, representado por CCBs.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Solfácil origina pela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plataforma; instituições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financeiras endossantes nos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termos da versão 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Solfácil origina pela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plataforma; instituições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financeiras endossantes nos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termos da versão 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Solfácil origina pela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plataforma; instituições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financeiras endossantes nos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termos da versão 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Pessoas físicas e jurídicas que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financiam sistemas solares.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Pessoas físicas e jurídicas que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financiam sistemas solares.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Pessoas físicas e jurídicas que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financiam sistemas solares.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Equipamentos solares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alienação fiduciária;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formalização e registro sujeitos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às condições contratuais.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Equipamentos solares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alienação fiduciária;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formalização e registro sujeitos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às condições contratuais.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Equipamentos solares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alienação fiduciária;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formalização e registro sujeitos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às condições contratuais.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prefixadas em reais,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adimplentes; prazo médio ≤2.400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dias; original ≤126 meses;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carência ≤185 dias; nominal PF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R$ 350 mil/PJ R$ 700 mil.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prefixadas em reais,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adimplentes; prazo médio ≤2.400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dias; original ≤126 meses;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carência ≤185 dias; nominal PF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R$ 350 mil/PJ R$ 700 mil.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para sistemas solares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Limite nominal também agregado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 devedor: PF R$ 350 mil/PJ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700 mil; preço ≤101% do saldo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contábil.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Limite nominal também agregado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 devedor: PF R$ 350 mil/PJ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700 mil; preço ≤104% do saldo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contábil.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Solfácil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26471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≥25%/PL;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B + júnior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≥15%/PL; razão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PL/sênior 133%.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≥20%/PL;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≥7%/PL; razão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PL/sênior 125%.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≥20%/PL;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≥4,5%/PL.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≥25%/PL;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B + júnior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≥10%/PL; júnior ≥4%/PL.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0817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Índices contratuais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atraso estoque/parcelas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acima de 15%,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insolvência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desenquadramentos; cura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decisão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evento.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Eventos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 desenquadramentos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falhas de prestadores;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limites de perdas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precisam de fórmula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Desenquadramento 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relações mínimas,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reservas, rating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continuidade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Solfácil/servicer; cura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específica por evento.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Atraso estoque acima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12%/parcelas acima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8,50%; desenquadramento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cura em 10 dias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úteis altera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amortização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sequencial.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Solfácil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3055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 meses de despesas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estimadas; reserva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amortização 100%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próxima parcela até 30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 antes, formação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desde 45 dias.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meses de despesas;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 da próxima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amortização, 100% até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30 dias antes, formação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desde 45 dias.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meses de despesas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ordinárias estimadas,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 referência à média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dos últimos 12 meses.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 de despesas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encargos; insolvência,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 insuficiente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posteriores ao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vencimento das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disparam avaliação.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Derivativos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proteção; finalidade,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contraparte e cobertura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dependem de 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Derivativos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proteção; finalidade,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contraparte e cobertura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dependem de 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Derivativos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proteção; finalidade,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contraparte e cobertura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dependem de 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Derivativos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proteção; finalidade,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contraparte e cobertura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dependem de 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 por atraso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renegociação exige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aplicação ao contrato.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 por atraso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renegociação exige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aplicação ao contrato.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 por atraso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renegociação exige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aplicação ao contrato.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 por atraso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renegociação exige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aplicação ao contrato.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Solfácil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42473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VI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VII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Índices mínimos das subclasses: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A 5%/PL; mezanino B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2,5%/PL; júnior 2%/PL.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Índices mínimos das subclasses: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A 5%/PL; mezanino B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2,5%/PL; júnior 2%/PL.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Cobertura sênior/A/B: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133,33%/111,11%/104,17%;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atraso90 &gt;15%; rolagem90 &gt;1,6%;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patamares adicionais por regime.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Cobertura sênior/A/B: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133,33%/111,11%/104,17%;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atraso90 &gt;15%; rolagem90 &gt;1,6%;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patamares adicionais por regime.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meses de despesas futuras;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 de MTM negativo limitada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ao menor entre valor absoluto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MTM e 1% do nocional agregado.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meses de despesas futuras;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 de MTM negativo limitada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ao menor entre valor absoluto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MTM e 1% do nocional agregado.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 para despesas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benchmark; verificação mensal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restrição a chamadas enquanto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recompostas.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de posições à vista;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exposição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descoberta/alavancagem; limite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 de exposição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de posições à vista;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exposição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descoberta/alavancagem; limite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 de exposição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Derivativos para proteção;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finalidade, contraparte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cobertura dependem de 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 por atraso e renegociação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 aplicação ao contrato.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 por atraso e renegociação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 aplicação ao contrato.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 por atraso e renegociação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 aplicação ao contrato.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Solfácil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6804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50%/PL em DC; 67%/PL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enquadramento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tributário.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50%/PL em DC; 67%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enquadramento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tributário.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50%/PL em DC;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enquadramento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tributário de 67%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distinto.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67%/PL em direitos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creditórios,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definição vigente.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Nova aquisição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condicionada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autorização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assembleia; não tratar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como revolvência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automática.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 e pagamentos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condicionados ao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período de carência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ao 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Aquisição de direitos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creditórios durante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período de carência;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demais recursos seguem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Recursos seguem compras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amortização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regimes; revolvência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irrestrita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demonstrada.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fechada; duração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pagamentos por série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nos suplementos;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aquisição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autorizados.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 de prazo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indeterminado; séries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 prazo próprio;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autorizados.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Solfácil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2428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Endosso definitivo;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recompra/resolução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indenização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condicionadas ao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transferência.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Endosso definitivo;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recompra/resolução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indenização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condicionadas ao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transferência.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Endosso definitivo;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recompra/resolução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indenização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condicionadas ao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transferência.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Endosso definitivo;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recompra/resolução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indenização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condicionadas ao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transferência.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Transferência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coobrigação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endossante;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responsabilidades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vícios seguem contrato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Transferência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coobrigação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endossante;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responsabilidades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vícios seguem contrato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Transferência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coobrigação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endossante;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responsabilidades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vícios seguem contrato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Transferência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coobrigação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endossante;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responsabilidades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vícios seguem contrato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0817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Despesas/reservas antes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pagamentos;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prioridade por cota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regimes definidos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capítulo de alocação.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Despesas/reservas antes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pagamentos;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públicas precedem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júnior, sujeito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exceções de amortização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extraordinária.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→ reserva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amortizações; compras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crédito durante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carência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remanescentes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16.2.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Amortização pro rata;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desalavancagem aciona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sequencial;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realavancagem após três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verificações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enquadradas,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restrições.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8/17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Solfácil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4718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VI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VII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50%/PL em DC; 67%/PL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enquadramento tributário.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50%/PL em DC; 67%/PL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enquadramento tributário.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67%/PL em DC até 90 dias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primeira integralização.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 e amortização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regimes; período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carência/desinvestimento depende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das séries.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Reinvestimento obrigatório 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receitas em ativos elegíveis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durante período de 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Aquisição e chamadas sujeitas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 e condições contratuais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fechada; investidores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autorizados.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fechada; investidores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autorizados.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Endosso definitivo;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recompra/resolução e indenização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condicionadas ao contrato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transferência.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Endosso definitivo;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recompra/resolução e indenização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condicionadas ao contrato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transferência.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Endosso definitivo;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recompra/resolução e indenização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condicionadas ao contrato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transferência.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Transferência sem coobrigação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endossante; responsabilidades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 vícios seguem contrato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Transferência sem coobrigação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endossante; responsabilidades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 vícios seguem contrato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Transferência sem coobrigação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endossante; responsabilidades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 vícios seguem contrato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 rata sujeito a metas;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desalavancagem aciona sequencial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 prioridade sênior → mezanino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 → B → júnior.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 rata sujeito a metas;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desalavancagem aciona sequencial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 prioridade sênior → mezanino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 → B → júnior.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 de despesas, benchmark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principal segundo ordem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contratual; valores dependem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suplemento.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9/17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Solfácil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0266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subordinadas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e júnior;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modelos de emissão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comprovam todas 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séries em circulação.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subordinadas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e júnior;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modelos de emissão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comprovam todas 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séries em circulação.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subordinadas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e júnior;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modelos de emissão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comprovam todas 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séries em circulação.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subordinadas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e júnior;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modelos de emissão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comprovam todas 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séries em circulação.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Rito, público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montante por emissão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remetidos aos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respectivos atos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anúncios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Rito, público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montante por emissão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remetidos aos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respectivos atos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anúncios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Rito, público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montante por emissão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remetidos aos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respectivos atos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anúncios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Rito, público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montante por emissão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remetidos aos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respectivos atos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anúncios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Solfácil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6517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VI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VII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subordinadas mezanino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júnior; modelos de emissão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comprovam todas as séries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circulação.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subordinadas mezanino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júnior; modelos de emissão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comprovam todas as séries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circulação.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subordinadas mezanino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júnior; modelos de emissão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comprovam todas as séries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circulação.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Suplemento histórico mezanino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cita DI + 6,65%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Rito, público e montante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emissão remetidos aos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respectivos atos e anúncios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Rito, público e montante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emissão remetidos aos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respectivos atos e anúncios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Rito, público e montante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emissão remetidos aos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respectivos atos e anúncios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11/17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Solfácil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1618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Pagamentos sujeitos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disponibilidade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caixa e 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Pagamentos sujeitos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disponibilidade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caixa e 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Pagamentos sujeitos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disponibilidade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caixa e 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Pagamentos sujeitos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disponibilidade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caixa e 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12/17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Solfácil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1618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VI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VII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Pagamentos sujeitos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disponibilidade de caixa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Pagamentos sujeitos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disponibilidade de caixa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Pagamentos sujeitos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disponibilidade de caixa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13/17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Solfácil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6804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0,074% a.a./PL;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R$ 6 mil (1–6), R$ 7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 (7–24), R$ 12 mil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(≥25); reajuste IGP-M.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0,09% a.a./PL; mínimos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R$ 5 mil (1–6), R$ 7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 (7–18), R$ 10 mil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(≥19); IPCA anual.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Maior entre R$ 21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mil/mês + 0,12% a.a./PL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faixas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0,13%/0,10%/0,08% a.a.;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reajustado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IPCA.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0,04% a.a./PL;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R$ 8 mil/mês.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0,20% a.a./PL;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mensal não aplicável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tabela; tributos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acrescidos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6.3.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0,30% a.a./PL;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mensal não aplicável;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gross-up.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0,12% a.a./PL; correção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anual IPCA nos termos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6.2; mínimo mensal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previsto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cláusula.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0,20% a.a./PL;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R$ 10 mil/mês;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gross-up.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0,031% a.a./PL;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R$ 2 mil (1–6), R$ 3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 (7–24), R$ 3,5 mil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(≥25); 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0,03% a.a./PL;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R$ 3 mil/mês.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0,02% a.a./PL;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R$ 2 mil/mês, IPCA;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 separado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0,02% a.a./PL;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R$ 4 mil/mês; inclui co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ntroladoria/escrituraçã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14/17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Solfácil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5557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VI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VII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0,10% a.a./PL; mínimo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10.833,33/mês; IPCA positivo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0,10% a.a./PL; mínimo R$ 13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mil/mês; IPCA positivo anual.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R$ 15 mil/mês; IPCA anual; setup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R$ 75 mil separado.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0,20% a.a./PL; mínimo R$ 18,5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mil/mês; IPCA positivo anual.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0,20% a.a./PL; mínimo R$ 15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mil/mês; IPCA positivo anual.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10% a.a. sobre a taxa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administração, teto R$ 4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mil/mês; deduzida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0,02% a.a./PL; mínimo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2.166,67/mês; IPCA positivo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0,02% a.a./PL; mínimo R$ 2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mil/mês; IPCA positivo anual.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0,02% a.a./PL; mínimo R$ 2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mil/mês.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15/17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Solfácil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3388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cálculo agregado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 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denominador.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cálculo agregado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 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denominador.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cálculo agregado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 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denominador.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cálculo agregado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 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denominador.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30/60/90/180/crédito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PDD/crédito: proxies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agregados; gatilhos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própria.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30/60/90/180/crédito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PDD/crédito: proxies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agregados; gatilhos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própria.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30/60/90/180/crédito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PDD/crédito: proxies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agregados; gatilhos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própria.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30/60/90/180/crédito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PDD/crédito: proxies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agregados; gatilhos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própria.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0817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do hedge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troca de prestadores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do hedge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troca de prestadores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do hedge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troca de prestadores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do hedge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troca de prestadores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16/17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Solfácil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0266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VI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VII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Solfácil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 subordinadas/PL: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cálculo agregado com validação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classes e do denominador.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 subordinadas/PL: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cálculo agregado com validação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classes e do denominador.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 subordinadas/PL: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cálculo agregado com validação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classes e do denominador.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30/60/90/180/crédito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PDD/crédito: proxies agregados;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gatilhos contratuais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própria.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30/60/90/180/crédito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PDD/crédito: proxies agregados;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gatilhos contratuais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própria.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30/60/90/180/crédito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PDD/crédito: proxies agregados;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gatilhos contratuais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própria.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individual, lastro, finalidade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hedge e troca de prestadores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controle documental.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individual, lastro, finalidade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hedge e troca de prestadores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controle documental.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individual, lastro, finalidade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hedge e troca de prestadores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controle documental.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