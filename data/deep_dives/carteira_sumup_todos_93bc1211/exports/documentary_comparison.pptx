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Natureza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Natureza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Natureza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Originador/endossante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Originador/endossante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Originador/endossante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Devedor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Devedor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Devedor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Garantia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Garantia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Garantia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Concentração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Prazo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Prazo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Prazo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Ativos vedados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Ativos vedados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Ativos vedados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Natureza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Natureza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Natureza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Natureza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Natureza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Originador/endossante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Originador/endossante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Originador/endossante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Originador/endossante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Originador/endossante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Devedor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Devedor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Devedor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Devedor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Devedor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Garantia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Garantia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Garantia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Garantia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Garantia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Concentração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Prazo dos recebíveis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Prazo dos recebíveis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Prazo dos recebíveis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Prazo dos recebíveis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Prazo dos recebíveis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Ativos vedados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Ativos vedados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Ativos vedados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Ativos vedados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Ativos vedados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Subordinação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Gatilhos de avaliação/liquidação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Gatilhos de avaliação/liquidação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Gatilhos de avaliação/liquidação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 de caixa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caixa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caixa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Derivativos/hedge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Derivativos/hedge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Derivativos/hedge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PDD · Gatilho contratual específico de PDD não localizado; usar PDD/crédito como indicador agregado · Inventário por CNPJ 62626409000175, consulta Fundos.NET em 07/10/2026: 40 documentos listados; listagem pública obtida.  PDFs efetivamente revistos: 1020152. ID1152539: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62627051000103 · PDD · Gatilho contratual específico de PDD não localizado; usar PDD/crédito como indicador agregado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62627122000160 · PDD · Gatilho contratual específico de PDD não localizado; usar PDD/crédito como indicador agregado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62626409000175 · Subordinação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Eventos de avaliação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Eventos de avaliação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Eventos de avaliação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Liquidação antecipada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Liquidação antecipada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Liquidação antecipada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 de despesas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despesas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despesas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Subordinação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Gatilhos de avaliação/liquidação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Gatilhos de avaliação/liquidação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Gatilhos de avaliação/liquidação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 de caixa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caixa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caixa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Derivativos/hedge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Derivativos/hedge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Derivativos/hedge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PDD · Gatilho contratual específico de PDD não localizado; usar PDD/crédito como indicador agregado · Inventário por CNPJ 62626409000175, consulta Fundos.NET em 07/10/2026: 40 documentos listados; listagem pública obtida.  PDFs efetivamente revistos: 1020152. ID1152539: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62627051000103 · PDD · Gatilho contratual específico de PDD não localizado; usar PDD/crédito como indicador agregado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62627122000160 · PDD · Gatilho contratual específico de PDD não localizado; usar PDD/crédito como indicador agregado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62626409000175 · Subordinação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Eventos de avaliação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Eventos de avaliação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Eventos de avaliação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Liquidação antecipada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Liquidação antecipada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Liquidação antecipada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 de despesas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despesas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despesas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Subordinação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Gatilhos de avaliação/liquidação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Gatilhos de avaliação/liquidação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Gatilhos de avaliação/liquidação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Gatilhos de avaliação/liquidação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Gatilhos de avaliação/liquidação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 de caixa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caixa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caixa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caixa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caixa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Derivativos/hedge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Derivativos/hedge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Derivativos/hedge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Derivativos/hedge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Derivativos/hedge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PDD · Gatilho contratual específico de PDD não localizado; usar PDD/crédito como indicador agregado · Inventário por CNPJ 62626409000175, consulta Fundos.NET em 07/10/2026: 40 documentos listados; listagem pública obtida.  PDFs efetivamente revistos: 1020152. ID1152539: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62627051000103 · PDD · Gatilho contratual específico de PDD não localizado; usar PDD/crédito como indicador agregado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62627122000160 · PDD · Gatilho contratual específico de PDD não localizado; usar PDD/crédito como indicador agregado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Sem limite automático de PDD inferido; regra contratual deve ser conciliada separadamente.</a:t>
            </a:r>
          </a:p>
          <a:p>
            <a:r>
              <a:t>CNPJ 62626887000185 · PDD · Gatilho contratual específico de PDD não localizado; usar PDD/crédito como indicador agregado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45598747000121 · PDD · Gatilho contratual específico de PDD não localizado; usar PDD/crédito como indicador agregado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62626409000175 · Subordinação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Eventos de avaliação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Eventos de avaliação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Eventos de avaliação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Eventos de avaliação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Eventos de avaliação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Liquidação antecipada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Liquidação antecipada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Liquidação antecipada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Liquidação antecipada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Liquidação antecipada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 de despesas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 de despesas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 de despesas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 de despesas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 de despesas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Alocação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Pool/revolvência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Pool/revolvência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Pool/revolvência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Duração/público-alvo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Duração/público-alvo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Duração/público-alvo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Cessão/recompra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Cessão/recompra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Cessão/recompra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Coobrigação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Coobrigação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Coobrigação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Waterfall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Waterfall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Waterfall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Prestadores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Prestadores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Prestadores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Alocação mínima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mínima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mínima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mínima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mínima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Pool/revolvência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Pool/revolvência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Pool/revolvência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Pool/revolvência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Pool/revolvência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Duração/público-alvo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Duração/público-alvo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Duração/público-alvo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Duração/público-alvo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Duração/público-alvo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Cessão/recompra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Cessão/recompra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Cessão/recompra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Cessão/recompra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Cessão/recompra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Coobrigação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Coobrigação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Coobrigação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Coobrigação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Coobrigação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Waterfall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Waterfall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Waterfall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Waterfall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Waterfall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Prestadores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Prestadores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Prestadores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Prestadores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Prestadores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Classes/séries · 1ª sênior identificadano anúncio; demais classes não localizadas · Fundos.NET ID 1020152 | 24/10/2025 | Anúncio de Encerramento | p. 1–2, encerramentosecundário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Classes/séries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Classes/séries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Volume/VNU · R$ 438.750.000,00;438.750 cotas transferidas em oferta secundária; R$ 1.000,00; data de contagem: 21/10/2025 · Fundos.NET ID 1020152 | 24/10/2025 | Anúncio de Encerramento | p. 2, volumedistribuído | data/raw/62626409000175/1020152_review_20261007.pdf | https://fnet.bmfbovespa.com.br/fnet/publico/visualizarDocumento?id=1020152 |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Volume/VNU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Volume/VNU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Ofertas · Secundária; garantia firme; encerrada 24/10/2025; sem captação primária inferida · Fundos.NET ID 1020152 | 24/10/2025 | Anúncio de Encerramento | p. 1–3, encerramento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Ofertas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Ofertas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sênior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sênior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sênior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subordinada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subordinada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subordinada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Volume / quantidade · R$ 438.750.000,00;438.750 cotas transferidas em oferta secundária · Fundos.NET ID 1020152 | 24/10/2025 | Anúncio de Encerramento | p. 2, volumedistribuído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 / quantidade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 / quantidade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VNU / preço · R$ 1.000,00; data de contagem: 21/10/2025 ·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VNU / preço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VNU / preço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Classes/séries · 1ª sênior identificadano anúncio; demais classes não localizadas · Fundos.NET ID 1020152 | 24/10/2025 | Anúncio de Encerramento | p. 1–2, encerramentosecundário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Classes/séries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Classes/séries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Volume/VNU · R$ 438.750.000,00;438.750 cotas transferidas em oferta secundária; R$ 1.000,00; data de contagem: 21/10/2025 · Fundos.NET ID 1020152 | 24/10/2025 | Anúncio de Encerramento | p. 2, volumedistribuído | data/raw/62626409000175/1020152_review_20261007.pdf | https://fnet.bmfbovespa.com.br/fnet/publico/visualizarDocumento?id=1020152 |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Volume/VNU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Volume/VNU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Ofertas · Secundária; garantia firme; encerrada 24/10/2025; sem captação primária inferida · Fundos.NET ID 1020152 | 24/10/2025 | Anúncio de Encerramento | p. 1–3, encerramento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Ofertas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Ofertas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sênior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sênior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sênior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subordinada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subordinada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subordinada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Volume / quantidade · R$ 438.750.000,00;438.750 cotas transferidas em oferta secundária · Fundos.NET ID 1020152 | 24/10/2025 | Anúncio de Encerramento | p. 2, volumedistribuído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 / quantidade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 / quantidade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VNU / preço · R$ 1.000,00; data de contagem: 21/10/2025 ·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VNU / preço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VNU / preço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Classes/séries · 1ª sênior identificadano anúncio; demais classes não localizadas · Fundos.NET ID 1020152 | 24/10/2025 | Anúncio de Encerramento | p. 1–2, encerramentosecundário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Classes/séries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Classes/séries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Classes/séries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Classes/séries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Volume/VNU · R$ 438.750.000,00;438.750 cotas transferidas em oferta secundária; R$ 1.000,00; data de contagem: 21/10/2025 · Fundos.NET ID 1020152 | 24/10/2025 | Anúncio de Encerramento | p. 2, volumedistribuído | data/raw/62626409000175/1020152_review_20261007.pdf | https://fnet.bmfbovespa.com.br/fnet/publico/visualizarDocumento?id=1020152 |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Volume/VNU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Volume/VNU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Volume/VNU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Volume/VNU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Ofertas · Secundária; garantia firme; encerrada 24/10/2025; sem captação primária inferida · Fundos.NET ID 1020152 | 24/10/2025 | Anúncio de Encerramento | p. 1–3, encerramento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Ofertas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Ofertas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Ofertas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Ofertas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sênior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sênior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sênior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sênior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sênior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mezanino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mezanino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mezanino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mezanino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mezanino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Remuneração subordinada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Remuneração subordinada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Remuneração subordinada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Remuneração subordinada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Remuneração subordinada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Volume / quantidade · R$ 438.750.000,00;438.750 cotas transferidas em oferta secundária · Fundos.NET ID 1020152 | 24/10/2025 | Anúncio de Encerramento | p. 2, volumedistribuído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Volume / quantidade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Volume / quantidade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Volume / quantidade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Volume / quantidade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VNU / preço · R$ 1.000,00; data de contagem: 21/10/2025 · Fundos.NET ID 1020152 | 24/10/2025 | Anúncio de Encerramento | p. 2, VNU/datadecontagem | data/raw/62626409000175/1020152_review_20261007.pdf | https://fnet.bmfbovespa.com.br/fnet/publico/visualizarDocumento?id=1020152 · Observação: Cláusula documental; emissão e data-base indicadas. Não implica posição atual em circulação.</a:t>
            </a:r>
          </a:p>
          <a:p>
            <a:r>
              <a:t>CNPJ 62627051000103 · VNU / preço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VNU / preço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VNU / preço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VNU / preço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Carência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Carência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Carência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Juros/amortização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Juros/amortização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Juros/amortização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Vencimento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Vencimento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Vencimento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Juros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Amortização programada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programada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programada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Amortização extraordinária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extraordinária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extraordinária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Carência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Carência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Carência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Carência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Carência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Juros/amortização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Juros/amortização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Juros/amortização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Juros/amortização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Juros/amortização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Vencimento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Vencimento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Vencimento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Vencimento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Vencimento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Juros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Juros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Juros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Juros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Juros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Amortização programada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programada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programada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programada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programada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Amortização extraordinária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Amortização extraordinária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Amortização extraordinária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Amortização extraordinária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Amortização extraordinária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Administração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Administração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Administração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Gestão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Gestão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Gestão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Custódia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Custódia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Custódia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Reajuste / base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Reajuste / base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Reajuste / base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Administração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Administração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Administração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Administração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Administração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Gestão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Gestão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Gestão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Gestão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Gestão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Custódia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Custódia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Custódia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Custódia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Custódia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Reajuste / base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Reajuste / base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Reajuste / base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Reajuste / base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Reajuste / base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Alocação/subordinação IME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Alocação/subordinação IME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Alocação/subordinação IME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Inadimplência/PDD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Inadimplência/PDD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Inadimplência/PDD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Controles documentais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Controles documentais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Controles documentais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Competência IME · Cache local: 06/2026; selecionar competência para monitorar · .cache/fundonet-ime/aa51fc0a123507c5b2ae24bd9ad54ae26ac464202a5f5d42c65f39e8a4b3ab36/manifest.json · Observação: Dado offline do IME; não representa atualização ao vivo nem comprovação dos critérios jurídicos.</a:t>
            </a:r>
          </a:p>
          <a:p>
            <a:r>
              <a:t>CNPJ 62627051000103 · Competência IME · Cache local: 06/2026; selecionar competência para monitorar · .cache/fundonet-ime/e56da259d64a53b6bd130500755e02ffeeb678f05d93fd76ad1e36c3df54afa3/manifest.json · Observação: Dado offline do IME; não representa atualização ao vivo nem comprovação dos critérios jurídicos.</a:t>
            </a:r>
          </a:p>
          <a:p>
            <a:r>
              <a:t>CNPJ 62627122000160 · Competência IME · Cache local: 06/2026; selecionar competência para monitorar · .cache/fundonet-ime/3f837708ac49e7b72a27f63d7c7ec11adb0dac39099d0a0f95f816ea64b6fd2d/manifest.json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62626409000175 · Alocação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Subordinação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Concentração /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/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/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Chargeback / 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Chargeback / 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Chargeback / 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SUMUP SMART I: CNPJ 62626409000175</a:t>
            </a:r>
          </a:p>
          <a:p>
            <a:r>
              <a:t>SUMUP SMART II: CNPJ 62627051000103</a:t>
            </a:r>
          </a:p>
          <a:p>
            <a:r>
              <a:t>SUMUP SMART III: CNPJ 62627122000160</a:t>
            </a:r>
          </a:p>
          <a:p>
            <a:r>
              <a:t>SUMUP SMART IV: CNPJ 62626887000185</a:t>
            </a:r>
          </a:p>
          <a:p>
            <a:r>
              <a:t>SUMUP SOLO: CNPJ 45598747000121</a:t>
            </a:r>
          </a:p>
          <a:p>
            <a:r>
              <a:t>Fontes:</a:t>
            </a:r>
          </a:p>
          <a:p>
            <a:r>
              <a:t>CNPJ 62626409000175 · Alocação/subordinação IME · Não localizado na documentação acessível;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Alocação/subordinação IME · Não localizado na documentação acessível;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Alocação/subordinação IME · Não localizado na documentação acessível;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Alocação/subordinação IME · Não localizado na documentação acessível;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Alocação/subordinação IME · Não localizado na documentação acessível;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Inadimplência/PDD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Inadimplência/PDD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Inadimplência/PDD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Inadimplência/PDD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Inadimplência/PDD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Controles documentais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Controles documentais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Controles documentais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Controles documentais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Controles documentais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Competência IME · Cache local: 06/2026; selecionar competência para monitorar · .cache/fundonet-ime/aa51fc0a123507c5b2ae24bd9ad54ae26ac464202a5f5d42c65f39e8a4b3ab36/manifest.json · Observação: Dado offline do IME; não representa atualização ao vivo nem comprovação dos critérios jurídicos.</a:t>
            </a:r>
          </a:p>
          <a:p>
            <a:r>
              <a:t>CNPJ 62627051000103 · Competência IME · Cache local: 06/2026; selecionar competência para monitorar · .cache/fundonet-ime/e56da259d64a53b6bd130500755e02ffeeb678f05d93fd76ad1e36c3df54afa3/manifest.json · Observação: Dado offline do IME; não representa atualização ao vivo nem comprovação dos critérios jurídicos.</a:t>
            </a:r>
          </a:p>
          <a:p>
            <a:r>
              <a:t>CNPJ 62627122000160 · Competência IME · Cache local: 06/2026; selecionar competência para monitorar · .cache/fundonet-ime/3f837708ac49e7b72a27f63d7c7ec11adb0dac39099d0a0f95f816ea64b6fd2d/manifest.json · Observação: Dado offline do IME; não representa atualização ao vivo nem comprovação dos critérios jurídicos.</a:t>
            </a:r>
          </a:p>
          <a:p>
            <a:r>
              <a:t>CNPJ 62626887000185 · Competência IME · Cache local: 06/2026; selecionar competência para monitorar · .cache/fundonet-ime/b6e526e7042b7b9ecd3c16c6f1afd1ff444561af8f7d4596a506e15da1535082/manifest.json · Observação: Dado offline do IME; não representa atualização ao vivo nem comprovação dos critérios jurídicos.</a:t>
            </a:r>
          </a:p>
          <a:p>
            <a:r>
              <a:t>CNPJ 45598747000121 · Competência IME · Cache local: 06/2026; selecionar competência para monitorar · .cache/fundonet-ime/515ee8393a35855dd0afbec2f255c4e303ff92cdf606f6b59b9d23f5ec53f218/manifest.json · Observação: Dado offline do IME; não representa atualização ao vivo nem comprovação dos critérios jurídicos.</a:t>
            </a:r>
          </a:p>
          <a:p>
            <a:r>
              <a:t>CNPJ 62626409000175 · Alocação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Alocação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Alocação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Alocação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Alocação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Subordinação via IME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Subordinação via IME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Subordinação via IME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Subordinação via IME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Subordinação via IME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Concentração / elegibilidade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Concentração / elegibilidade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Concentração / elegibilidade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Concentração / elegibilidade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Concentração / elegibilidade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Reservas / pagamentos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Reservas / pagamentos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Reservas / pagamentos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Reservas / pagamentos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Reservas / pagamentos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62626409000175 · Chargeback / recompra · Não localizado na documentação acessível · Inventário por CNPJ 62626409000175, consulta Fundos.NET em 07/10/2026: 40 documentos listados; listagem pública obtida.  PDFs efetivamente revistos: 1020152. ID1152539: Falha de rede ao acessar downloadDocumento: The read operation timed out · Observação: Lacuna documental; não preencher por aproximação de nome ou por campo heurístico.</a:t>
            </a:r>
          </a:p>
          <a:p>
            <a:r>
              <a:t>CNPJ 62627051000103 · Chargeback / recompra · Não localizado na documentação acessível · Inventário por CNPJ 62627051000103, consulta Fundos.NET em 07/10/2026: 0 documentos listados; Falha de rede ao acessar pesquisarGerenciadorDocumentosDados: The read operation timed out;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62627122000160 · Chargeback / recompra · Não localizado na documentação acessível · Inventário por CNPJ 62627122000160, consulta Fundos.NET em 07/10/2026: 0 documentos listados; Fundos.NET respondeu HTTP 520 em pesquisarGerenciadorDocumentosDados.; inventário local anterior preservado.  PDFs efetivamente revistos: nenhum. Não foi identificado termo específico na revisão. · Observação: Lacuna documental; não preencher por aproximação de nome ou por campo heurístico.</a:t>
            </a:r>
          </a:p>
          <a:p>
            <a:r>
              <a:t>CNPJ 62626887000185 · Chargeback / recompra · Não localizado na documentação acessível · Inventário por CNPJ 62626887000185, consulta Fundos.NET em 07/10/2026: 27 documentos listados; Falha de rede ao acessar pesquisarGerenciadorDocumentosDados: The read operation timed out; inventário local anterior preservado.  PDFs efetivamente revistos: nenhum. ID1152823: Falha de rede ao acessar downloadDocumento: The read operation timed out · Observação: Lacuna documental; não preencher por aproximação de nome ou por campo heurístico.</a:t>
            </a:r>
          </a:p>
          <a:p>
            <a:r>
              <a:t>CNPJ 45598747000121 · Chargeback / recompra · Não localizado na documentação acessível · Inventário por CNPJ 45598747000121, consulta Fundos.NET em 07/10/2026: 40 documentos listados; Falha de rede ao acessar pesquisarGerenciadorDocumentosDados: The read operation timed out; inventário local anterior preservado.  PDFs efetivamente revistos: nenhum. ID883977: Fundos.NET respondeu HTTP 520 em downloadDocumento.; ID903840: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660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651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10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3131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 PDD não localizado; usar PDD/crédito como 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689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963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identificadano anúncio;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classes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438.750.000,00;438.750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transferidas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secundária;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1.000,00; data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contagem: 21/10/2025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Secundária; garantia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firme; encerrada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24/10/2025;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captação primária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inferida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22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438.750.000,00;438.750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transferidas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secundária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R$ 1.000,00; data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contagem: 21/10/2025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593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276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193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SMART IV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SumUp (Todos)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3319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SUMUP SOLO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acessível; 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