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Bravos: CNPJ 51430054000128</a:t>
            </a:r>
          </a:p>
          <a:p>
            <a:r>
              <a:t>Fontes:</a:t>
            </a:r>
          </a:p>
          <a:p>
            <a:r>
              <a:t>CNPJ 51430054000128 · Natureza dos recebíveis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Originador/endossante · Cedente PF/PJ por contrato; Servopa não confirmado como cedente exclusivo. · Fundos.NET ID 1121859; 26/02/2026; data/raw/51430054000128/1121859_regulamento_cache_integral.txt; regulamento; https://fnet.bmfbovespa.com.br/fnet/publico/exibirDocumento?id=1121859&amp;cvm=true; p.2, definição Cedente · Observação: Regra documental; verificar versão, base e condições antes de monitorar.</a:t>
            </a:r>
          </a:p>
          <a:p>
            <a:r>
              <a:t>CNPJ 51430054000128 · Devedor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Garantia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Elegibilidade · Créditos em reais, certos/válidos/líquidos, aprovados por PLC; créditos vencidos permitidos. · Fundos.NET ID 1121859; 26/02/2026; data/raw/51430054000128/1121859_regulamento_cache_integral.txt; regulamento; https://fnet.bmfbovespa.com.br/fnet/publico/exibirDocumento?id=1121859&amp;cvm=true; p.34, 9.1 · Observação: Regra documental; verificar versão, base e condições antes de monitorar.</a:t>
            </a:r>
          </a:p>
          <a:p>
            <a:r>
              <a:t>CNPJ 51430054000128 · Concentração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Bravos: CNPJ 51430054000128</a:t>
            </a:r>
          </a:p>
          <a:p>
            <a:r>
              <a:t>Fontes:</a:t>
            </a:r>
          </a:p>
          <a:p>
            <a:r>
              <a:t>CNPJ 51430054000128 · Subordinação mínima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Gatilhos de avaliação/liquidação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Reserva de caixa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Derivativos/hedge · Somente proteção patrimonial; contraparte central exigida. · Fundos.NET ID 1121859; 26/02/2026; data/raw/51430054000128/1121859_regulamento_cache_integral.txt; regulamento; https://fnet.bmfbovespa.com.br/fnet/publico/exibirDocumento?id=1121859&amp;cvm=true; p.31, 7.4 · Observação: Regra documental; verificar versão, base e condições antes de monitorar.</a:t>
            </a:r>
          </a:p>
          <a:p>
            <a:r>
              <a:t>CNPJ 51430054000128 · PDD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Bravos: CNPJ 51430054000128</a:t>
            </a:r>
          </a:p>
          <a:p>
            <a:r>
              <a:t>Fontes:</a:t>
            </a:r>
          </a:p>
          <a:p>
            <a:r>
              <a:t>CNPJ 51430054000128 · Alocação mínima · 67%/PL em DC após 180 dias do início. · Fundos.NET ID 1121859; 26/02/2026; data/raw/51430054000128/1121859_regulamento_cache_integral.txt; regulamento; p.1 glossário e p.30, 7.2 · Observação: Enquadramento diário; proxy IME mensal agregado.</a:t>
            </a:r>
          </a:p>
          <a:p>
            <a:r>
              <a:t>CNPJ 51430054000128 · Pool/revolvência · Novas aquisições permitidas conforme ordem de alocação. · Fundos.NET ID 1121859; 26/02/2026; data/raw/51430054000128/1121859_regulamento_cache_integral.txt; regulamento; https://fnet.bmfbovespa.com.br/fnet/publico/exibirDocumento?id=1121859&amp;cvm=true; p.33, 8.3 · Observação: Regra documental; verificar versão, base e condições antes de monitorar.</a:t>
            </a:r>
          </a:p>
          <a:p>
            <a:r>
              <a:t>CNPJ 51430054000128 · Duração/público-alvo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Cessão/recompra · Cessão definitiva; cedente responde por existência do crédito. · Fundos.NET ID 1121859; 26/02/2026; data/raw/51430054000128/1121859_regulamento_cache_integral.txt; regulamento; https://fnet.bmfbovespa.com.br/fnet/publico/exibirDocumento?id=1121859&amp;cvm=true; p.33, 8.2 · Observação: Regra documental; verificar versão, base e condições antes de monitorar.</a:t>
            </a:r>
          </a:p>
          <a:p>
            <a:r>
              <a:t>CNPJ 51430054000128 · Coobrigação · Pode haver ou não coobrigação, conforme contrato. · Fundos.NET ID 1121859; 26/02/2026; data/raw/51430054000128/1121859_regulamento_cache_integral.txt; regulamento; https://fnet.bmfbovespa.com.br/fnet/publico/exibirDocumento?id=1121859&amp;cvm=true; p.33, 8.2(a) · Observação: Regra documental; verificar versão, base e condições antes de monitorar.</a:t>
            </a:r>
          </a:p>
          <a:p>
            <a:r>
              <a:t>CNPJ 51430054000128 · Waterfall · Encargos → derivativos → reserva → resgates → novas aquisições. · Fundos.NET ID 1121859; 26/02/2026; data/raw/51430054000128/1121859_regulamento_cache_integral.txt; regulamento; https://fnet.bmfbovespa.com.br/fnet/publico/exibirDocumento?id=1121859&amp;cvm=true; p.42, 13.1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Bravos: CNPJ 51430054000128</a:t>
            </a:r>
          </a:p>
          <a:p>
            <a:r>
              <a:t>Fontes:</a:t>
            </a:r>
          </a:p>
          <a:p>
            <a:r>
              <a:t>CNPJ 51430054000128 · Classes/séries · Sênior, mezanino e júnior; efeito sujeito à emissão/suplemento. · Fundos.NET ID 1121859; 26/02/2026; data/raw/51430054000128/1121859_regulamento_cache_integral.txt; regulamento; https://fnet.bmfbovespa.com.br/fnet/publico/exibirDocumento?id=1121859&amp;cvm=true; p.25, 5.1 · Observação: Regra documental; verificar versão, base e condições antes de monitorar.</a:t>
            </a:r>
          </a:p>
          <a:p>
            <a:r>
              <a:t>CNPJ 51430054000128 · Remuneração · Spread final não localizado nesta revisão; conferir suplemento preenchido. · Fundos.NET ID 1121859; 26/02/2026; data/raw/51430054000128/1121859_regulamento_cache_integral.txt; regulamento; https://fnet.bmfbovespa.com.br/fnet/publico/exibirDocumento?id=1121859&amp;cvm=true; escopo e condições da revisão · Observação: Taxas de prestadores não representam remuneração das cotas.</a:t>
            </a:r>
          </a:p>
          <a:p>
            <a:r>
              <a:t>CNPJ 51430054000128 · Volume/VNU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Ofertas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Bravos: CNPJ 51430054000128</a:t>
            </a:r>
          </a:p>
          <a:p>
            <a:r>
              <a:t>Fontes:</a:t>
            </a:r>
          </a:p>
          <a:p>
            <a:r>
              <a:t>CNPJ 51430054000128 · Carência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  <a:p>
            <a:r>
              <a:t>CNPJ 51430054000128 · Juros/amortização · Resgate em até 180 dias corridos da solicitação; prioridade conforme subclasse. · Fundos.NET ID 1121859; 26/02/2026; data/raw/51430054000128/1121859_regulamento_cache_integral.txt; regulamento; https://fnet.bmfbovespa.com.br/fnet/publico/exibirDocumento?id=1121859&amp;cvm=true; pp.26–27, 5.7–5.10 · Observação: Regra documental; verificar versão, base e condições antes de monitorar.</a:t>
            </a:r>
          </a:p>
          <a:p>
            <a:r>
              <a:t>CNPJ 51430054000128 · Vencimento · Não confirmado na revisão dirigida; conferir documento ou cláusula específica. · Fundos.NET ID 1121859; 26/02/2026; data/raw/51430054000128/1121859_regulamento_cache_integral.txt; regulamento; https://fnet.bmfbovespa.com.br/fnet/publico/exibirDocumento?id=1121859&amp;cvm=true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Bravos: CNPJ 51430054000128</a:t>
            </a:r>
          </a:p>
          <a:p>
            <a:r>
              <a:t>Fontes:</a:t>
            </a:r>
          </a:p>
          <a:p>
            <a:r>
              <a:t>CNPJ 51430054000128 · Administração · 0,10%/0,05% a.a. por faixas de PL; mínimo R$ 7 mil/mês, reajuste IGP-M. · Fundos.NET ID 1121859; 26/02/2026; data/raw/51430054000128/1121859_regulamento_cache_integral.txt; regulamento; https://fnet.bmfbovespa.com.br/fnet/publico/exibirDocumento?id=1121859&amp;cvm=true; pp.28–29, 6.1 · Observação: Regra documental; verificar versão, base e condições antes de monitorar.</a:t>
            </a:r>
          </a:p>
          <a:p>
            <a:r>
              <a:t>CNPJ 51430054000128 · Gestão · 0,80%/0,60%/0,40%/0,30%/0,20% a.a. por faixas; mínimo R$ 14,5 mil/mês. · Fundos.NET ID 1121859; 26/02/2026; data/raw/51430054000128/1121859_regulamento_cache_integral.txt; regulamento; https://fnet.bmfbovespa.com.br/fnet/publico/exibirDocumento?id=1121859&amp;cvm=true; p.29, 6.2 · Observação: Regra documental; verificar versão, base e condições antes de monitorar.</a:t>
            </a:r>
          </a:p>
          <a:p>
            <a:r>
              <a:t>CNPJ 51430054000128 · Custódia · 0,06% a.a./PL, mínimo R$ 8 mil/mês; inclui escrituração/controladoria. · Fundos.NET ID 1121859; 26/02/2026; data/raw/51430054000128/1121859_regulamento_cache_integral.txt; regulamento; https://fnet.bmfbovespa.com.br/fnet/publico/exibirDocumento?id=1121859&amp;cvm=true; p.29, 6.3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Bravos: CNPJ 51430054000128</a:t>
            </a:r>
          </a:p>
          <a:p>
            <a:r>
              <a:t>Fontes:</a:t>
            </a:r>
          </a:p>
          <a:p>
            <a:r>
              <a:t>CNPJ 51430054000128 · Alocação/subordinação IME · DC/PL e cotas por categoria/PL; validar regra e denominador. · Fundos.NET ID 1121859; 26/02/2026; data/raw/51430054000128/1121859_regulamento_cache_integral.txt; regulamento; https://fnet.bmfbovespa.com.br/fnet/publico/exibirDocumento?id=1121859&amp;cvm=true; escopo e condições da revisão · Observação: Proxy agregado; não comprova enquadramento diário nem prioridade por série.</a:t>
            </a:r>
          </a:p>
          <a:p>
            <a:r>
              <a:t>CNPJ 51430054000128 · Inadimplência/PDD IME · Aging e PDD/crédito agregados; conciliar índice contratual. · Fundos.NET ID 1121859; 26/02/2026; data/raw/51430054000128/1121859_regulamento_cache_integral.txt; regulamento; https://fnet.bmfbovespa.com.br/fnet/publico/exibirDocumento?id=1121859&amp;cvm=true; escopo e condições da revisão · Observação: Proxy parcial; vintage, efeito vagão e defasagem não reproduzidos automaticamente.</a:t>
            </a:r>
          </a:p>
          <a:p>
            <a:r>
              <a:t>CNPJ 51430054000128 · Controles documentais · Lastro, elegibilidade, concentração individual e prestadores exigem documentos. · Fundos.NET ID 1121859; 26/02/2026; data/raw/51430054000128/1121859_regulamento_cache_integral.txt; regulamento; https://fnet.bmfbovespa.com.br/fnet/publico/exibirDocumento?id=1121859&amp;cvm=true; escopo e condições da revisão · Observação: IME público sem granularidade individual; não usar como prova de conformidade.</a:t>
            </a:r>
          </a:p>
          <a:p>
            <a:r>
              <a:t>CNPJ 51430054000128 · Competência IME · Cache local: 06/2026; selecionar competência para monitorar · .cache/fundonet-ime/eabe90eab919f301414c641ccd84867767c04fb5ae011817819e9467f4b1a0bb/manifest.json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BRAVOS FIDC ( SERVOPA)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Bravos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PF/PJ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em reais, certos/válidos/líquidos, aprovados por PLC; créditos vencidos permitidos.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BRAVOS FIDC ( SERVOPA)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Bravos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patrimonial; contraparte central exigida.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BRAVOS FIDC ( SERVOPA)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Bravos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 após 180 dias do início.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aquisições permitidas conforme ordem de alocação.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definitiva; cedente responde por existência do crédito.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haver ou não coobrigação, conforme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derivativos → reserva → resgates → novas 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BRAVOS FIDC ( SERVOPA)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Bravos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 efeito sujeito à emissão/suplemento.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BRAVOS FIDC ( SERVOPA)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Bravos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em até 180 dias corridos da solicitação; prioridade conforme subclasse.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BRAVOS FIDC ( SERVOPA)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Bravos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0,10%/0,05% a.a. por faixas de PL; mínimo R$ 7 mil/mês, reajuste IGP-M.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0,80%/0,60%/0,40%/0,30%/0,20% a.a. por faixas; mínimo R$ 14,5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a.a./PL, mínimo R$ 8 mil/mês; inclui escrituração/controladoria.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BRAVOS FIDC ( SERVOPA)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Bravos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