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Natureza dos recebíveis · Créditos multissetoriais, títulos, contratos, transporte, cartões e empréstimos pessoais · Fundos.NET ID 1081706 | 28/05/2025 | regulamento | p. 10–11; 10.1;10.7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Originador/endossante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Devedor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Garantia · Cessão inclui garantias e acessórios; sem garantia de prestadores/FGC · Fundos.NET ID 1081706 | 28/05/2025 | regulamento | p. 10; 9.12.1;10.3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Elegibilidade · Não vencidos; PJ fora de recuperação/falência; fora da principal cedente: prazo individual≤360 dias · Fundos.NET ID 1081706 | 28/05/2025 | regulamento | p. 11; 11.1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Concentração · Créditos sem principal cedente/coobrigação/recompra: cedente≤5% e top 5≤20% do PL · Fundos.NET ID 1081706 | 28/05/2025 | regulamento | p. 13; 11.2(c)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Subordinação mínima · Sênior: subordinadas / PL ≥30%; júnior / PL ≥20% para proteção mezanino · Fundos.NET ID 1081706 | 28/05/2025 | regulamento | p. 25; 14.4.1–14.4.2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Gatilhos de avaliação/liquidação · Avaliação: cobertura&lt;1, recompra&gt;10% e dívida líquida/EBITDA cedente&gt;3 x; liquidação: perdas&gt;8% e insolvência cedente · Fundos.NET ID 1081706 | 28/05/2025 | regulamento | p. 38–39; 23.2–23.3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Reserva de caixa · 60 dias de despesas; amortização:25/50/100% desde D-10/D-5/D-2 DU · Fundos.NET ID 1081706 | 28/05/2025 | regulamento | p. 30–31; 17.1–17.2.1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Derivativos/hedge · Exclusivamente proteção de posições à vista, até o limite dessas posições · Fundos.NET ID 1081706 | 28/05/2025 | regulamento | p. 9; 9.6.1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PDD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Índice de perdas · Créditos em atraso&gt;90 dias / PL;&gt;8% em 2 datas consecutivas ou 3 alternadas em 12 meses · Fundos.NET ID 1081706 | 28/05/2025 | regulamento | p. 39,51; 23.3(g);definição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Alocação mínima · Direitos creditórios ≥50% do PL após 90 dias da primeira subscrição · Fundos.NET ID 1081706 | 28/05/2025 | regulamento | p. 8; 9.3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Pool/revolvência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Duração/público-alvo · Indeterminado; investidores profissionais · Fundos.NET ID 1081706 | 28/05/2025 | regulamento | p. 2; 3.1–3.2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Cessão/recompra · Recompra por desenquadramento detectado após cessão conforme prazo de validação; posterior sem regresso automático · Fundos.NET ID 1081706 | 28/05/2025 | regulamento | p. 12–13; 11.1.2;11.2.1;11.3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Coobrigação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Waterfall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Classes/séries · Sênior, mezanino e júnior; ato recente:3ª emissão júnior · Fundos.NET ID 975192 | 18/08/2025 | emissao | p. 1–2; Instrumento emissão | data/raw/30659408000130/975192_emissao_review_20261007.pdf | https://fnet.bmfbovespa.com.br/fnet/publico/visualizarDocumento?id=975192 · Observação: Regra da versão indicada; resumo sujeito às condições completas da cláusula. IME agregado não comprova elegibilidade individual.</a:t>
            </a:r>
          </a:p>
          <a:p>
            <a:r>
              <a:t>CNPJ 30659408000130 · Remuneração · Spread final sênior/mezanino não localizado; requer suplementos próprios · Fundos.NET ID 1081706 | 28/05/2025 | regulamento | p. 46; Benchmarks no glossário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Volume/VNU · 3ª júnior: montanteR$ 2,5 mi; VNU conforme valor da cota na integralização · Fundos.NET ID 975192 | 18/08/2025 | emissao | p. 2; Suplemento | data/raw/30659408000130/975192_emissao_review_20261007.pdf | https://fnet.bmfbovespa.com.br/fnet/publico/visualizarDocumento?id=975192 · Observação: Regra da versão indicada; resumo sujeito às condições completas da cláusula. IME agregado não comprova elegibilidade individual.</a:t>
            </a:r>
          </a:p>
          <a:p>
            <a:r>
              <a:t>CNPJ 30659408000130 · Ofertas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Carência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Juros/amortização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  <a:p>
            <a:r>
              <a:t>CNPJ 30659408000130 · Vencimento · Não localizado nas fontes acessíveis desta leitura · data/raw/30659408000130/access_status_20261007.txt | Consulta Fundos.NET por CNPJ 30659408000130 em 07/10/2026; inventário completo com 169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Administração · Faixas marginais PL:0,25% atéR$ 100 mi;0,23% entre 100–200 mi;0,20% acima 200 mi; inclui custódia · Fundos.NET ID 1081706 | 28/05/2025 | regulamento | p. 7; 8.1(a)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Gestão · 0,27% a.a. antes da integralização sênior;0,50% a.a. depois, sobre PL · Fundos.NET ID 1081706 | 28/05/2025 | regulamento | p. 7; 8.1(b)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  <a:p>
            <a:r>
              <a:t>CNPJ 30659408000130 · Custódia · Incluída na administração; taxa própria não individualizada · Fundos.NET ID 1081706 | 28/05/2025 | regulamento | p. 7; 8.1(a) | data/raw/30659408000130/1081706_regulamento_review_20261007.pdf | https://fnet.bmfbovespa.com.br/fnet/publico/visualizarDocumento?id=1081706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2026-10-07T16:18:20-03:00</a:t>
            </a:r>
          </a:p>
          <a:p>
            <a:r>
              <a:t>PER: CNPJ 30659408000130</a:t>
            </a:r>
          </a:p>
          <a:p>
            <a:r>
              <a:t>Fontes:</a:t>
            </a:r>
          </a:p>
          <a:p>
            <a:r>
              <a:t>CNPJ 30659408000130 · Alocação/subordinação IME · Direitos creditórios / PL e cotas subordinadas / PL; validar ativo elegível, subclasses e fórmula contratual · data/raw/30659408000130/access_status_20261007.txt | Consulta Fundos.NET por CNPJ 30659408000130 em 07/10/2026; inventário completo com 169 registros · Observação: Avaliação metodológica do IME público; dados de cache e monitoramento ao vivo são apresentados separadamente.</a:t>
            </a:r>
          </a:p>
          <a:p>
            <a:r>
              <a:t>CNPJ 30659408000130 · Inadimplência/PDD IME · Over 30/60/90 e PDD / crédito: indicadores agregados; gatilhos dependem de denominador e janela contratual · data/raw/30659408000130/access_status_20261007.txt | Consulta Fundos.NET por CNPJ 30659408000130 em 07/10/2026; inventário completo com 169 registros · Observação: Avaliação metodológica do IME público; dados de cache e monitoramento ao vivo são apresentados separadamente.</a:t>
            </a:r>
          </a:p>
          <a:p>
            <a:r>
              <a:t>CNPJ 30659408000130 · Controles documentais · Elegibilidade, concentração por devedor/grupo, lastro, prestadores e eventos: validação documental e operacional · data/raw/30659408000130/access_status_20261007.txt | Consulta Fundos.NET por CNPJ 30659408000130 em 07/10/2026; inventário completo com 169 registros · Observação: Avaliação metodológica do IME público; dados de cache e monitoramento ao vivo são apresentados separadamente.</a:t>
            </a:r>
          </a:p>
          <a:p>
            <a:r>
              <a:t>CNPJ 30659408000130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multissetoriais, títulos, contratos, transporte, cartões e empréstimos pessoais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inclui garantias e acessórios; sem garantia de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vencidos; PJ fora de recuperação/falência; fora da principal cedente: prazo individual≤360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sem principal cedente/coobrigação/recompra: cedente≤5% e top 5≤20%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subordinadas / PL ≥30%; júnior / PL ≥20% para proteção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Avaliação: cobertura&lt;1, recompra&gt;10% e dívida líquida/EBITDA cedente&gt;3 x; liquidação: perdas&gt;8%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60 dias de despesas; amortização:25/50/100% desde D-10/D-5/D-2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proteção de posições à vista, até o limite dessas posições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perdas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em atraso&gt;90 dias / PL;&gt;8% em 2 datas consecutivas ou 3 alternadas em 12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≥50% do PL após 90 dias da primeira subscrição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investidores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 por desenquadramento detectado após cessão conforme prazo de validação; posterior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 automático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júnior; ato recente:3ª emissão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sênior/mezanino não localizado; requer suplementos próprios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júnior: montanteR$ 2,5 mi; VNU conforme valor da cota na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PL:0,25% atéR$ 100 mi;0,23% entre 100–200 mi;0,20% acima 200 mi; inclui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0,27% a.a. antes da integralização sênior;0,50% a.a. depois, sobre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administração; taxa própria não individualizada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Real Moto Peças (PER FUNDO DE INVEST)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ativo elegível, subclasses 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