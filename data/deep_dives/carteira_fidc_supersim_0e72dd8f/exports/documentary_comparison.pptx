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Recebíveis e elegibilidade</a:t>
            </a:r>
          </a:p>
          <a:p>
            <a:r>
              <a:t>Leitura documental: 2026-10-07T16:50:54-03:00</a:t>
            </a:r>
          </a:p>
          <a:p>
            <a:r>
              <a:t>Inclusão Crediária / SuperSim: CNPJ 63066147000102</a:t>
            </a:r>
          </a:p>
          <a:p>
            <a:r>
              <a:t>Fontes:</a:t>
            </a:r>
          </a:p>
          <a:p>
            <a:r>
              <a:t>CNPJ 63066147000102 · Natureza dos recebíveis · CCB de crédito parcelado a pessoas físicas, via instituições financeiras parceiras · Fundos.NET ID 1198394; referência 18/05/2026 13:00; data/raw/63066147000102/1198394_documentary_review.txt; Anexo,20–21; Glossário, pp17–18 e71; https://fnet.bmfbovespa.com.br/fnet/publico/exibirDocumento?id=1198394&amp;cvm=true · Observação: Conclusão limitada à versão citada; inventário completo não equivale a leitura integral de todos os documentos.</a:t>
            </a:r>
          </a:p>
          <a:p>
            <a:r>
              <a:t>CNPJ 63066147000102 · Originador/endossante · SuperSim como correspondente/cobrança; instituições parceiras como endossantes · Fundos.NET ID 1198394; referência 18/05/2026 13:00; data/raw/63066147000102/1198394_documentary_review.txt; Glossário, pp11–19; https://fnet.bmfbovespa.com.br/fnet/publico/exibirDocumento?id=1198394&amp;cvm=true · Observação: Conclusão limitada à versão citada; inventário completo não equivale a leitura integral de todos os documentos.</a:t>
            </a:r>
          </a:p>
          <a:p>
            <a:r>
              <a:t>CNPJ 63066147000102 · Devedor · Pessoa física com CPF; idade mínima 18 anos na emissão · Fundos.NET ID 1198394; referência 18/05/2026 13:00; data/raw/63066147000102/1198394_documentary_review.txt; Anexo,21.1(g) e21.4, pp71–72; https://fnet.bmfbovespa.com.br/fnet/publico/exibirDocumento?id=1198394&amp;cvm=true · Observação: Conclusão limitada à versão citada; inventário completo não equivale a leitura integral de todos os documentos.</a:t>
            </a:r>
          </a:p>
          <a:p>
            <a:r>
              <a:t>CNPJ 63066147000102 · Garantia · Créditos representados por CCB; garantia específica por contrato não confirmada · Fundos.NET ID 1198394; referência 18/05/2026 13:00; data/raw/63066147000102/1198394_documentary_review.txt; Anexo,20–21; https://fnet.bmfbovespa.com.br/fnet/publico/exibirDocumento?id=1198394&amp;cvm=true · Observação: Não presumir garantia real, bloqueio de aparelho ou fiança sem o instrumento.</a:t>
            </a:r>
          </a:p>
          <a:p>
            <a:r>
              <a:t>CNPJ 63066147000102 · Elegibilidade · CCB 150–720 dias; principal R$ 1–3 mil; sem ágio; taxa mínima do crédito 8% a.m. · Fundos.NET ID 1198394; referência 18/05/2026 13:00; data/raw/63066147000102/1198394_documentary_review.txt; Anexo,21.1, p71; https://fnet.bmfbovespa.com.br/fnet/publico/exibirDocumento?id=1198394&amp;cvm=true · Observação: Aquisição deve abranger todas as parcelas vincendas; taxa do crédito não é remuneração da cota.</a:t>
            </a:r>
          </a:p>
          <a:p>
            <a:r>
              <a:t>CNPJ 63066147000102 · Concentração · Devedor/coobrigado até 20% PL; Buffer limitado a 10% PL com limites por instituição · Fundos.NET ID 1198394; referência 18/05/2026 13:00; data/raw/63066147000102/1198394_documentary_review.txt; Anexo,17.7; Glossário Buffer; https://fnet.bmfbovespa.com.br/fnet/publico/exibirDocumento?id=1198394&amp;cvm=true · Observação: Buffer não equivale a direitos creditórios do fundo; verificar instrumentos e saldos por instituição.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Subordinação, gatilhos e proteção</a:t>
            </a:r>
          </a:p>
          <a:p>
            <a:r>
              <a:t>Leitura documental: 2026-10-07T16:50:54-03:00</a:t>
            </a:r>
          </a:p>
          <a:p>
            <a:r>
              <a:t>Inclusão Crediária / SuperSim: CNPJ 63066147000102</a:t>
            </a:r>
          </a:p>
          <a:p>
            <a:r>
              <a:t>Fontes:</a:t>
            </a:r>
          </a:p>
          <a:p>
            <a:r>
              <a:t>CNPJ 63066147000102 · Subordinação mínima · Sênior 45% PL; mezaninos A 25%, B 19, 25%, C 12, 5%; step-up por rating · Fundos.NET ID 1198394; referência 18/05/2026 13:00; data/raw/63066147000102/1198394_documentary_review.txt; Glossário Índices de Subordinação, pp21–23; https://fnet.bmfbovespa.com.br/fnet/publico/exibirDocumento?id=1198394&amp;cvm=true · Observação: Rebaixamento ≥ 2 notas eleva proteção A 30%, B 24, 25%, C 17, 5%; índices agregados IME são proxies.</a:t>
            </a:r>
          </a:p>
          <a:p>
            <a:r>
              <a:t>CNPJ 63066147000102 · Gatilhos de avaliação/liquidação · FPD/SPD por vintage suspendem aquisições; falência/recuperação ou interrupção material da SuperSim/endossantes · Fundos.NET ID 1198394; referência 18/05/2026 13:00; data/raw/63066147000102/1198394_documentary_review.txt; Anexo,29 e32; Deliberações, pp1–2; https://fnet.bmfbovespa.com.br/fnet/publico/exibirDocumento?id=1198394&amp;cvm=true · Observação: Gatilhos de performance variam com proteção mezanino C; denominadores de cohort não replicados pelo IME.</a:t>
            </a:r>
          </a:p>
          <a:p>
            <a:r>
              <a:t>CNPJ 63066147000102 · Reserva de caixa · 3 meses de encargos; reserva de pagamento 50% conforme antecedência contratual · Fundos.NET ID 1198394; referência 18/05/2026 13:00; data/raw/63066147000102/1198394_documentary_review.txt; Anexo,27, pp102–103; https://fnet.bmfbovespa.com.br/fnet/publico/exibirDocumento?id=1198394&amp;cvm=true · Observação: Conclusão limitada à versão citada; inventário completo não equivale a leitura integral de todos os documentos.</a:t>
            </a:r>
          </a:p>
          <a:p>
            <a:r>
              <a:t>CNPJ 63066147000102 · Derivativos/hedge · Operações com derivativos vedadas em qualquer circunstância · Fundos.NET ID 1198394; referência 18/05/2026 13:00; data/raw/63066147000102/1198394_documentary_review.txt; Anexo,17.6.1, p55; https://fnet.bmfbovespa.com.br/fnet/publico/exibirDocumento?id=1198394&amp;cvm=true · Observação: Conclusão limitada à versão citada; inventário completo não equivale a leitura integral de todos os documentos.</a:t>
            </a:r>
          </a:p>
          <a:p>
            <a:r>
              <a:t>CNPJ 63066147000102 · PDD · Não localizado nas fontes acessíveis desta leitura · Fundos.NET ID 1198394; referência 18/05/2026 13:00; data/raw/63066147000102/1198394_documentary_review.txt; Inventário das fontes consultadas; https://fnet.bmfbovespa.com.br/fnet/publico/exibirDocumento?id=1198394&amp;cvm=true · Observação: Lacuna desta revisão; ausência de extração não representa inexistência de regra contratual. Obter cláusula/anexo/suplemento antes de ativar controle.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Alocação e mecânica contratual</a:t>
            </a:r>
          </a:p>
          <a:p>
            <a:r>
              <a:t>Leitura documental: 2026-10-07T16:50:54-03:00</a:t>
            </a:r>
          </a:p>
          <a:p>
            <a:r>
              <a:t>Inclusão Crediária / SuperSim: CNPJ 63066147000102</a:t>
            </a:r>
          </a:p>
          <a:p>
            <a:r>
              <a:t>Fontes:</a:t>
            </a:r>
          </a:p>
          <a:p>
            <a:r>
              <a:t>CNPJ 63066147000102 · Alocação mínima · Piso 50% PL; objetivo tributário 67% PL; ambos têm evento próprio por persistência · Fundos.NET ID 1198394; referência 18/05/2026 13:00; data/raw/63066147000102/1198394_documentary_review.txt; Glossário, pp11–12; Anexo,32.1, p112; https://fnet.bmfbovespa.com.br/fnet/publico/exibirDocumento?id=1198394&amp;cvm=true · Observação: Conclusão limitada à versão citada; inventário completo não equivale a leitura integral de todos os documentos.</a:t>
            </a:r>
          </a:p>
          <a:p>
            <a:r>
              <a:t>CNPJ 63066147000102 · Pool/revolvência · Revolvência permitida, sujeita a índices de performance e subordinação · Fundos.NET ID 1198394; referência 18/05/2026 13:00; data/raw/63066147000102/1198394_documentary_review.txt; Anexo,17.3.2, p54; https://fnet.bmfbovespa.com.br/fnet/publico/exibirDocumento?id=1198394&amp;cvm=true · Observação: Conclusão limitada à versão citada; inventário completo não equivale a leitura integral de todos os documentos.</a:t>
            </a:r>
          </a:p>
          <a:p>
            <a:r>
              <a:t>CNPJ 63066147000102 · Duração/público-alvo · Classe fechada, prazo indeterminado; séries para profissionais · Fundos.NET ID 1198394; referência 18/05/2026 13:00; data/raw/63066147000102/1198394_documentary_review.txt; Anexo,13–14; Suplementos; https://fnet.bmfbovespa.com.br/fnet/publico/exibirDocumento?id=1198394&amp;cvm=true · Observação: Conclusão limitada à versão citada; inventário completo não equivale a leitura integral de todos os documentos.</a:t>
            </a:r>
          </a:p>
          <a:p>
            <a:r>
              <a:t>CNPJ 63066147000102 · Cessão/recompra · Endosso sem coobrigação; desenquadramento posterior só gera regresso por culpa/dolo · Fundos.NET ID 1198394; referência 18/05/2026 13:00; data/raw/63066147000102/1198394_documentary_review.txt; Deliberações,v,p6; Anexo,21.3, p72; https://fnet.bmfbovespa.com.br/fnet/publico/exibirDocumento?id=1198394&amp;cvm=true · Observação: Conclusão limitada à versão citada; inventário completo não equivale a leitura integral de todos os documentos.</a:t>
            </a:r>
          </a:p>
          <a:p>
            <a:r>
              <a:t>CNPJ 63066147000102 · Coobrigação · Sem coobrigação no contrato de promessa de endosso; vícios/culpa preservados · Fundos.NET ID 1198394; referência 18/05/2026 13:00; data/raw/63066147000102/1198394_documentary_review.txt; Deliberações,v,p6; Anexo,21.3, p72; https://fnet.bmfbovespa.com.br/fnet/publico/exibirDocumento?id=1198394&amp;cvm=true · Observação: Conclusão limitada à versão citada; inventário completo não equivale a leitura integral de todos os documentos.</a:t>
            </a:r>
          </a:p>
          <a:p>
            <a:r>
              <a:t>CNPJ 63066147000102 · Waterfall · Encargos/reserva → sênior → mezaninos A/B/C → reserva de pagamento → júnior/aquisições · Fundos.NET ID 1198394; referência 18/05/2026 13:00; data/raw/63066147000102/1198394_documentary_review.txt; Anexo,28.1, pp103–104; https://fnet.bmfbovespa.com.br/fnet/publico/exibirDocumento?id=1198394&amp;cvm=true · Observação: Conclusão limitada à versão citada; inventário completo não equivale a leitura integral de todos os documentos.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Emissões e remuneração</a:t>
            </a:r>
          </a:p>
          <a:p>
            <a:r>
              <a:t>Leitura documental: 2026-10-07T16:50:54-03:00</a:t>
            </a:r>
          </a:p>
          <a:p>
            <a:r>
              <a:t>Inclusão Crediária / SuperSim: CNPJ 63066147000102</a:t>
            </a:r>
          </a:p>
          <a:p>
            <a:r>
              <a:t>Fontes:</a:t>
            </a:r>
          </a:p>
          <a:p>
            <a:r>
              <a:t>CNPJ 63066147000102 · Classes/séries · Sênior, mezaninos A/B/C da 1ª série e júnior · Fundos.NET ID 1198394; referência 18/05/2026 13:00; data/raw/63066147000102/1198394_documentary_review.txt; Suplementos, pp138–149; https://fnet.bmfbovespa.com.br/fnet/publico/exibirDocumento?id=1198394&amp;cvm=true · Observação: Conclusão limitada à versão citada; inventário completo não equivale a leitura integral de todos os documentos.</a:t>
            </a:r>
          </a:p>
          <a:p>
            <a:r>
              <a:t>CNPJ 63066147000102 · Remuneração · Desde 19/05/2026: CDI + 3, 25% sênior;+5, 25% A;+8, 00% B;+10, 00% C; step-up por rating · Fundos.NET ID 1198394; referência 18/05/2026 13:00; data/raw/63066147000102/1198394_documentary_review.txt; Deliberações, pp2–4; Suplementos, pp139–149; https://fnet.bmfbovespa.com.br/fnet/publico/exibirDocumento?id=1198394&amp;cvm=true · Observação: Step-up: sênior+5%, A+6%, B+9%, C+11% se rating sênior≥ 2 notas abaixo deA.br; reverte conforme cláusula.</a:t>
            </a:r>
          </a:p>
          <a:p>
            <a:r>
              <a:t>CNPJ 63066147000102 · Volume/VNU · Sênior R$ 99 mi; A R$ 36 mi; B R$ 10, 35 mi; C R$ 12, 15 mi; VNU R$ 1 mil sujeito a deságio · Fundos.NET ID 1198394; referência 18/05/2026 13:00; data/raw/63066147000102/1198394_documentary_review.txt; Suplementos, pp138,141,144 e147; https://fnet.bmfbovespa.com.br/fnet/publico/exibirDocumento?id=1198394&amp;cvm=true · Observação: Conclusão limitada à versão citada; inventário completo não equivale a leitura integral de todos os documentos.</a:t>
            </a:r>
          </a:p>
          <a:p>
            <a:r>
              <a:t>CNPJ 63066147000102 · Ofertas · Sênior RCVM160 automático/melhores esforços; mínimo29.700 cotas; alterações em18/05/2026 · Fundos.NET ID 1198394; referência 18/05/2026 13:00; data/raw/63066147000102/1198394_documentary_review.txt; Suplemento Sênior, p141; Deliberações; https://fnet.bmfbovespa.com.br/fnet/publico/exibirDocumento?id=1198394&amp;cvm=true · Observação: Conclusão limitada à versão citada; inventário completo não equivale a leitura integral de todos os documentos.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Amortização e calendário de pagamentos</a:t>
            </a:r>
          </a:p>
          <a:p>
            <a:r>
              <a:t>Leitura documental: 2026-10-07T16:50:54-03:00</a:t>
            </a:r>
          </a:p>
          <a:p>
            <a:r>
              <a:t>Inclusão Crediária / SuperSim: CNPJ 63066147000102</a:t>
            </a:r>
          </a:p>
          <a:p>
            <a:r>
              <a:t>Fontes:</a:t>
            </a:r>
          </a:p>
          <a:p>
            <a:r>
              <a:t>CNPJ 63066147000102 · Carência · Juros após 12 meses; principal nos últimos 6 meses de prazo 24 meses · Fundos.NET ID 1198394; referência 18/05/2026 13:00; data/raw/63066147000102/1198394_documentary_review.txt; Suplementos, pp139,142–143 e145–149; https://fnet.bmfbovespa.com.br/fnet/publico/exibirDocumento?id=1198394&amp;cvm=true · Observação: Conclusão limitada à versão citada; inventário completo não equivale a leitura integral de todos os documentos.</a:t>
            </a:r>
          </a:p>
          <a:p>
            <a:r>
              <a:t>CNPJ 63066147000102 · Juros/amortização · Juros mensais; principal 31/08, 30/09, 29/10, 30/11, 30/12/2027 e 31/01/2028 · Fundos.NET ID 1198394; referência 18/05/2026 13:00; data/raw/63066147000102/1198394_documentary_review.txt; Suplementos, pp139,142–143 e145–149; https://fnet.bmfbovespa.com.br/fnet/publico/exibirDocumento?id=1198394&amp;cvm=true · Observação: Conclusão limitada à versão citada; inventário completo não equivale a leitura integral de todos os documentos.</a:t>
            </a:r>
          </a:p>
          <a:p>
            <a:r>
              <a:t>CNPJ 63066147000102 · Vencimento · 31/01/2028 para sênior e mezaninos A/B/C da 1ª série · Fundos.NET ID 1198394; referência 18/05/2026 13:00; data/raw/63066147000102/1198394_documentary_review.txt; Suplementos, pp139,143,146 e149; https://fnet.bmfbovespa.com.br/fnet/publico/exibirDocumento?id=1198394&amp;cvm=true · Observação: Conclusão limitada à versão citada; inventário completo não equivale a leitura integral de todos os documentos.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Custos estruturais</a:t>
            </a:r>
          </a:p>
          <a:p>
            <a:r>
              <a:t>Leitura documental: 2026-10-07T16:50:54-03:00</a:t>
            </a:r>
          </a:p>
          <a:p>
            <a:r>
              <a:t>Inclusão Crediária / SuperSim: CNPJ 63066147000102</a:t>
            </a:r>
          </a:p>
          <a:p>
            <a:r>
              <a:t>Fontes:</a:t>
            </a:r>
          </a:p>
          <a:p>
            <a:r>
              <a:t>CNPJ 63066147000102 · Administração · 0, 20%/0, 19%/0, 18%/0, 17% a.a. por faixas; piso conjunto com gestão R$ 20 mil/6 meses, depois R$ 30 mil · Fundos.NET ID 1198394; referência 18/05/2026 13:00; data/raw/63066147000102/1198394_documentary_review.txt; Anexo,16.1–16.5, pp51–52; https://fnet.bmfbovespa.com.br/fnet/publico/exibirDocumento?id=1198394&amp;cvm=true · Observação: Faixas R$ 150/300/500 mi; mínimos conjuntos, IPCA; implantação R$ 30 mil e chamada de capital R$ 2 mil.</a:t>
            </a:r>
          </a:p>
          <a:p>
            <a:r>
              <a:t>CNPJ 63066147000102 · Gestão · 0, 15%/0, 14%/0, 13%/0, 12% a.a. por faixas; mínimo conjunto com administração · Fundos.NET ID 1198394; referência 18/05/2026 13:00; data/raw/63066147000102/1198394_documentary_review.txt; Anexo,16.2–16.5, p52; https://fnet.bmfbovespa.com.br/fnet/publico/exibirDocumento?id=1198394&amp;cvm=true · Observação: Não duplicar piso conjunto nas linhas de custos.</a:t>
            </a:r>
          </a:p>
          <a:p>
            <a:r>
              <a:t>CNPJ 63066147000102 · Custódia · Incluída na taxa de administração, com escrituração e controladoria · Fundos.NET ID 1198394; referência 18/05/2026 13:00; data/raw/63066147000102/1198394_documentary_review.txt; Anexo,16.1, p51; https://fnet.bmfbovespa.com.br/fnet/publico/exibirDocumento?id=1198394&amp;cvm=true · Observação: Conclusão limitada à versão citada; inventário completo não equivale a leitura integral de todos os documentos.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Monitoramento IME e controles documentais</a:t>
            </a:r>
          </a:p>
          <a:p>
            <a:r>
              <a:t>Leitura documental: 2026-10-07T16:50:54-03:00</a:t>
            </a:r>
          </a:p>
          <a:p>
            <a:r>
              <a:t>Inclusão Crediária / SuperSim: CNPJ 63066147000102</a:t>
            </a:r>
          </a:p>
          <a:p>
            <a:r>
              <a:t>Fontes:</a:t>
            </a:r>
          </a:p>
          <a:p>
            <a:r>
              <a:t>CNPJ 63066147000102 · Alocação/subordinação IME · Direitos creditórios / PL e cotas subordinadas / PL; validar fórmula contratual antes de comparar · Fundos.NET ID 1198394; referência 18/05/2026 13:00; data/raw/63066147000102/1198394_documentary_review.txt; Inventário das fontes consultadas; https://fnet.bmfbovespa.com.br/fnet/publico/exibirDocumento?id=1198394&amp;cvm=true · Observação: Métricas padronizadas são proxies; data, unidade e denominador precisam coincidir com a regra jurídica.</a:t>
            </a:r>
          </a:p>
          <a:p>
            <a:r>
              <a:t>CNPJ 63066147000102 · Inadimplência/PDD IME · Aging e PDD agregados ajudam no alerta; índice contratual exige reconciliação · Fundos.NET ID 1198394; referência 18/05/2026 13:00; data/raw/63066147000102/1198394_documentary_review.txt; Inventário das fontes consultadas; https://fnet.bmfbovespa.com.br/fnet/publico/exibirDocumento?id=1198394&amp;cvm=true · Observação: O IME não substitui bases por devedor, cedente, vintage ou fluxo de vencimentos.</a:t>
            </a:r>
          </a:p>
          <a:p>
            <a:r>
              <a:t>CNPJ 63066147000102 · Controles documentais · Elegibilidade, concentração, recompra jurídica e troca de prestadores exigem documentos individuais · Fundos.NET ID 1198394; referência 18/05/2026 13:00; data/raw/63066147000102/1198394_documentary_review.txt; Inventário das fontes consultadas; https://fnet.bmfbovespa.com.br/fnet/publico/exibirDocumento?id=1198394&amp;cvm=true · Observação: Controle documental separado de posições agregadas do IME; lacuna não deve produzir enquadramento presumido.</a:t>
            </a:r>
          </a:p>
          <a:p>
            <a:r>
              <a:t>CNPJ 63066147000102 · Competência IME · Sem competência IME carregada em cache local · Inventário de .cache/fundonet em 2026-10-07 · Observação: Leitura documental preservada. Carregar competência no Monitoramento para avaliar enquadramento.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FIDC Supersim – Recebíveis e elegibilidade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209397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Inclusão Crediária / SuperSim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Natureza dos recebíveis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CCB de crédito parcelado a pessoas físicas, via instituições financeiras parceiras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Originador/endossante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SuperSim como correspondente/cobrança; instituições parceiras como endossantes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Devedor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Pessoa física com CPF; idade mínima 18 anos na emissão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Garantia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Créditos representados por CCB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Elegibilidade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CCB 150–720 dias; principal R$ 1–3 mil; sem ágio; taxa mínima do crédito 8% a.m.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Concentração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Devedor/coobrigado até 20% PL; Buffer limitado a 10% PL com limites por instituição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1/7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FIDC Supersim – Subordinação, gatilhos e proteção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199796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Inclusão Crediária / SuperSim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Subordinação mínima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Sênior 45% PL; mezaninos A 25%, B 19, 25%, C 12, 5%; step-up por rating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Gatilhos de</a:t>
                      </a:r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avaliação/liquidação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FPD/SPD por vintage suspendem aquisições; falência/recuperação ou interrupção material da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SuperSim/endossantes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Reserva de caixa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3 meses de encargos; reserva de pagamento 50% conforme antecedência contratual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Derivativos/hedge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Operações com derivativos vedadas em qualquer circunstância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PDD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2/7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FIDC Supersim – Alocação e mecânica contratual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209397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Inclusão Crediária / SuperSim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Alocação mínima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Piso 50% PL; objetivo tributário 67% PL; ambos têm evento próprio por persistência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Pool/revolvência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Revolvência permitida, sujeita a índices de performance e subordinação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Duração/público-alvo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Classe fechada, prazo indeterminado; séries para profissionais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Cessão/recompra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Endosso sem coobrigação; desenquadramento posterior só gera regresso por culpa/dolo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Coobrigação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Sem coobrigação no contrato de promessa de endosso; vícios/culpa preservados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Waterfall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Encargos/reserva → sênior → mezaninos A/B/C → reserva de pagamento → júnior/aquisições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3/7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FIDC Supersim – Emissões e remuneração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152704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Inclusão Crediária / SuperSim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Classes/séries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Sênior, mezaninos A/B/C da 1ª série e júnior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Remuneração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Desde 19/05/2026: CDI + 3, 25% sênior;+5, 25% A;+8, 00% B;+10, 00% C; step-up por rating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Volume/VNU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Sênior R$ 99 mi; A R$ 36 mi; B R$ 10, 35 mi; C R$ 12, 15 mi; VNU R$ 1 mil sujeito a deságio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Ofertas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Sênior RCVM160 automático/melhores esforços; mínimo29.700 cotas; alterações em18/05/2026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4/7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FIDC Supersim – Amortização e calendário de pagamentos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12435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Inclusão Crediária / SuperSim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Carência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Juros após 12 meses; principal nos últimos 6 meses de prazo 24 meses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Juros/amortização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Juros mensais; principal 31/08, 30/09, 29/10, 30/11, 30/12/2027 e 31/01/2028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Vencimento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31/01/2028 para sênior e mezaninos A/B/C da 1ª série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5/7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FIDC Supersim – Custos estruturais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143103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Inclusão Crediária / SuperSim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Administração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0, 20%/0, 19%/0, 18%/0, 17% a.a. por faixas; piso conjunto com gestão R$ 20 mil/6 meses, depois R$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30 mil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Gestão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0, 15%/0, 14%/0, 13%/0, 12% a.a. por faixas; mínimo conjunto com administração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Custódia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Incluída na taxa de administração, com escrituração e controladoria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6/7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FIDC Supersim – Monitoramento IME e controles documentais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17145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Inclusão Crediária / SuperSim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Alocação/subordinação</a:t>
                      </a:r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IME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Direitos creditórios / PL e cotas subordinadas / PL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Inadimplência/PDD IME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Aging e PDD agregados ajudam no alerta; índice contratual exige reconciliação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Controles documentais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Elegibilidade, concentração, recompra jurídica e troca de prestadores exigem documentos individuais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Competência IME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7/7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