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Natureza dos recebíveis · Cartão de compra e financiamento comercial; segmentos financeiro, industrial, comercial e serviços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Natureza dos recebíveis · CDBs vinculados do Banco IBM a contratos de arrendamento mercantil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Natureza dos recebíveis · Financiamento de veículos por CDC/CCB eletrônica · Fundos.NET ID 792021 · 27/11/2024 · regulamento · p. 17-18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Natureza dos recebíveis · CDBs vinculados do Banco IBM a contratos de arrendamento mercantil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Natureza dos recebíveis · Financiamentos e operações comerciais de cartão de crédito Supplier · Fundos.NET ID 1013021 · 14/11/2024 · regulamento · p. 24-25,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Natureza dos recebíveis · CCBs Facta de crédito/cartão INSS; direitos cedidos conforme convênio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Natureza dos recebíveis · CCCBs lastreados em CCBs de empréstimos consignados INSS · data/raw/63546406000194/1130481_regulamento.pdf · ID Fundos.NET 1130481 · 05/03/2026 · regulamento · p. 130–133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Originador/endossante · Cedentes do programa Supplier; subordinadas subscritas por Supplier/afiliadas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Originador/endossante · Banco IBM; arrendamentos vinculados no contrato de CDB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Originador/endossante · Banco Votorantim/BV, conforme definição de cedente · Fundos.NET ID 792021 · 27/11/2024 · regulamento · p. 78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Originador/endossante · Banco IBM; arrendamentos vinculados no contrato de CDB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Originador/endossante · Emissores/cedentes Supplier e seu grupo econômico · Fundos.NET ID 1013021 · 14/11/2024 · regulamento · p. 25, 29,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Originador/endossante · Facta, conforme contratos de endosso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Originador/endossante · Cedente Banco Pine; originadores Banco Pine e Facta Financeira · data/raw/63546406000194/1130481_regulamento.pdf · ID Fundos.NET 1130481 · 05/03/2026 · regulamento · p. 122 · 2.7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Devedor · Titulares PF/PJ do cartão de compra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55070804000159 · Devedor · Banco IBM; pagamento dos CDB-V condicionado aos fluxos de leasing vinculados · Fundos.NET ID 667195 · 22/05/2024 · regulamento · p. 49-51 · data/raw/55070804000159/667195_regulamento.pdf · https://fnet.bmfbovespa.com.br/fnet/publico/exibirDocumento?id=667195 · Observação: Risco de fluxo dos arrendatários e de operacionalização/insolvência do banco; não converter em empréstimo consignado.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Devedor · Pessoa física; idade máxima de 65 anos na aquisição · Fundos.NET ID 792021 · 27/11/2024 · regulamento · p. 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Devedor · Banco IBM; pagamento dos CDB-V condicionado aos fluxos de leasing vinculados · Fundos.NET ID 634437 · 05/04/2024 · regulamento · p. 46-48 · data/raw/54559035000194/634437_regulamento.pdf · https://fnet.bmfbovespa.com.br/fnet/publico/exibirDocumento?id=634437 · Observação: Risco de fluxo dos arrendatários e de operacionalização/insolvência do banco; não converter em empréstimo consignado.</a:t>
            </a:r>
          </a:p>
          <a:p>
            <a:r>
              <a:t>CNPJ 50988212000105 · Devedor · Titulares de cartão vinculados às operações comerciais/financiamentos · Fundos.NET ID 1013021 · 14/11/2024 · regulamento · p. 23-25, 33-34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Devedor · Pessoa física; consignado/cartão INSS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Devedor · Pessoas físicas devedoras das CCBs, beneficiárias do INSS · data/raw/63546406000194/1130481_regulamento.pdf · ID Fundos.NET 1130481 · 05/03/2026 · regulamento · p. 131/154 · 6.1(A)(VIII); definição Devedores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Garantia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55070804000159 · Garantia · Vinculação contratual a operações de leasing; sem garantia do FGC · Fundos.NET ID 667195 · 22/05/2024 · regulamento · p. 49-51, 65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35868110000154 · Garantia · Alienação fiduciária do veículo registrada no SNG em nome do cedente · Fundos.NET ID 792021 · 27/11/2024 · regulamento · p. 18 · data/raw/35868110000154/792021_regulamento.pdf · https://fnet.bmfbovespa.com.br/fnet/publico/exibirDocumento?id=792021 · Observação: Garantia não transferida formalmente ao fundo; execução/repasse dependem do contrato de cessão.</a:t>
            </a:r>
          </a:p>
          <a:p>
            <a:r>
              <a:t>CNPJ 54559035000194 · Garantia · Vinculação contratual a operações de leasing; sem garantia do FGC · Fundos.NET ID 634437 · 05/04/2024 · regulamento · p. 46-48, 62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Garantia · Seguro de crédito distingue limites; cobertura efetiva exige apólice/contrato · Fundos.NET ID 1013021 · 14/11/2024 · regulamento · p. 33-35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Garantia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Garantia · Consignação autorizada e margem averbada; validação do lastro das CCBs · data/raw/63546406000194/1130481_regulamento.pdf · ID Fundos.NET 1130481 · 05/03/2026 · regulamento · p. 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Elegibilidade · Créditos não vencidos; prazo médio ≤ 80 dias; limites de prazo e refinanciamento · data/raw/08692888000182/772020_regulamento.pdf · ID Fundos.NET 772020 · 05/11/2024 · regulamento · p. 35–37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Elegibilidade · Emissão Banco IBM; reais; formalização integral; sem ônus, atraso prévio ou repactuação · Fundos.NET ID 667195 · 22/05/2024 · regulamento · p. 63-64 · data/raw/55070804000159/667195_regulamento.pdf · https://fnet.bmfbovespa.com.br/fnet/publico/exibirDocumento?id=667195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Elegibilidade · LTV &lt; 70%; ≥2 parcelas pagas; veículo ≤10 anos; sem atraso; taxa Price ≥1,10% a.m. · Fundos.NET ID 792021 · 27/11/2024 · regulamento · p. 18 · data/raw/35868110000154/792021_regulamento.pdf · https://fnet.bmfbovespa.com.br/fnet/publico/exibirDocumento?id=792021 · Observação: LTV = VP/saldo da CCB dividido pelo valor Molicar do veículo; 1,10% é taxa do crédito, não remuneração de cotas. CCB integral, sem carência.</a:t>
            </a:r>
          </a:p>
          <a:p>
            <a:r>
              <a:t>CNPJ 54559035000194 · Elegibilidade · Emissão Banco IBM; reais; formalização integral; sem ônus, atraso prévio ou repactuação · Fundos.NET ID 634437 · 05/04/2024 · regulamento · p. 60-61 · data/raw/54559035000194/634437_regulamento.pdf · https://fnet.bmfbovespa.com.br/fnet/publico/exibirDocumento?id=634437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50988212000105 · Elegibilidade · Direitos adimplentes; vencimento ≤ 180 dias; prazo médio ponderado ≤ 90 dias · Fundos.NET ID 1013021 · 14/11/2024 · regulamento · p. 33-35 · data/raw/50988212000105/1013021_regulamento.pdf · https://fnet.bmfbovespa.com.br/fnet/publico/exibirDocumento?id=1013021 · Observação: Verificação por titular e direito; cessão parcial de um direito não admitida, respeitadas operações comerciais individualizadas.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Elegibilidade · Saldo/devedor ≤ R$ 120 mil; parcela média ≥ R$ 200; idade média ≤ 68; idade + prazo ≤ 80, com exceções de seguro · data/raw/62588266000154/1002580_regulamento.pdf · ID Fundos.NET 1002580 · 29/09/2025 · regulamento · p. 31–32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Elegibilidade · Sem inadimplência; idade média ≤ 70 anos; idade + prazo ≤ 79 anos; saldo por devedor ≤ R$ 150 mil · data/raw/63546406000194/1130481_regulamento.pdf · ID Fundos.NET 1130481 · 05/03/2026 · regulamento · p. 133 e 139–140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Concentração · Titular sem seguro ≤ 1,25% PL; com seguro ≤ 2% após janela inicial; estabelecimento ≤ 40% após 18 meses · data/raw/08692888000182/772020_regulamento.pdf · ID Fundos.NET 772020 · 05/11/2024 · regulamento · p.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Concentração · Exposição vinculada ao Banco IBM e aos contratos indicados; limite por arrendatário não localizado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Concentração · CCB ≤R$150 mil; por CPF ≤R$200 mil; veículos pesados/vans/caminhões ≤10% PL · Fundos.NET ID 792021 · 27/11/2024 · regulamento · p. 16-18 · data/raw/35868110000154/792021_regulamento.pdf · https://fnet.bmfbovespa.com.br/fnet/publico/exibirDocumento?id=792021 · Observação: Autos podem chegar a 100% do PL. Não confundir com Auto BV I–IV ou aplicar ticket de R$175 mil de outro CNPJ.</a:t>
            </a:r>
          </a:p>
          <a:p>
            <a:r>
              <a:t>CNPJ 54559035000194 · Concentração · Exposição vinculada ao Banco IBM e aos contratos indicados; limite por arrendatário não localizado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Concentração · Titular/grupo sem seguro: maior de 1,25% PL e R$ 2,5 mi; com seguro: maior de 4%/2% PL e R$ 4 mi · Fundos.NET ID 1013021 · 14/11/2024 · regulamento · p. 34-35 · data/raw/50988212000105/1013021_regulamento.pdf · https://fnet.bmfbovespa.com.br/fnet/publico/exibirDocumento?id=1013021 · Observação: Seguro: 4% do PL nos primeiros 3 meses, 2% depois; estabelecimento: maior de 50% PL/R$100mi até 18 meses, 40% PL/R$80mi depois. Não inferir limites por IME agregado.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· Homens ≤ 60%; idade &gt;61 ≤70%, &gt;66 ≤50%, &gt;71 ≤12,5%; exclusões de seguros conforme cláusula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Concentração · Faixas etárias, benefício 32 e limites individuais; base valor presente de créditos não inadimplidos · data/raw/63546406000194/1130481_regulamento.pdf · ID Fundos.NET 1130481 · 05/03/2026 · regulamento · p. 139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Prazo dos recebíveis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Prazo dos recebíveis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Prazo dos recebíveis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Prazo dos recebíveis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Prazo dos recebíveis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Prazo dos recebíveis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Prazo dos recebíveis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Prazo dos recebíveis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Prazo dos recebíveis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Prazo dos recebíveis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Prazo dos recebíveis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Prazo dos recebíveis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Prazo dos recebíveis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Ativos vedados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Ativos vedados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Ativos vedados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Ativos vedados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Ativos vedados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Ativos vedados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Ativos vedados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Ativos vedados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Ativos vedados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Ativos vedados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Ativos vedados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Ativos vedados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Ativos vedados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Natureza dos recebíveis · Cartão de compra e financiamento comercial; segmentos financeiro, industrial, comercial e serviços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Natureza dos recebíveis · CDBs vinculados do Banco IBM a contratos de arrendamento mercantil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Natureza dos recebíveis · Financiamento de veículos por CDC/CCB eletrônica · Fundos.NET ID 792021 · 27/11/2024 · regulamento · p. 17-18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Natureza dos recebíveis · CDBs vinculados do Banco IBM a contratos de arrendamento mercantil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Natureza dos recebíveis · Financiamentos e operações comerciais de cartão de crédito Supplier · Fundos.NET ID 1013021 · 14/11/2024 · regulamento · p. 24-25,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Natureza dos recebíveis · CCBs Facta de crédito/cartão INSS; direitos cedidos conforme convênio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Natureza dos recebíveis · CCCBs lastreados em CCBs de empréstimos consignados INSS · data/raw/63546406000194/1130481_regulamento.pdf · ID Fundos.NET 1130481 · 05/03/2026 · regulamento · p. 130–133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Originador/endossante · Cedentes do programa Supplier; subordinadas subscritas por Supplier/afiliadas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Originador/endossante · Banco IBM; arrendamentos vinculados no contrato de CDB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Originador/endossante · Banco Votorantim/BV, conforme definição de cedente · Fundos.NET ID 792021 · 27/11/2024 · regulamento · p. 78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Originador/endossante · Banco IBM; arrendamentos vinculados no contrato de CDB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Originador/endossante · Emissores/cedentes Supplier e seu grupo econômico · Fundos.NET ID 1013021 · 14/11/2024 · regulamento · p. 25, 29,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Originador/endossante · Facta, conforme contratos de endosso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Originador/endossante · Cedente Banco Pine; originadores Banco Pine e Facta Financeira · data/raw/63546406000194/1130481_regulamento.pdf · ID Fundos.NET 1130481 · 05/03/2026 · regulamento · p. 122 · 2.7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Devedor · Titulares PF/PJ do cartão de compra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55070804000159 · Devedor · Banco IBM; pagamento dos CDB-V condicionado aos fluxos de leasing vinculados · Fundos.NET ID 667195 · 22/05/2024 · regulamento · p. 49-51 · data/raw/55070804000159/667195_regulamento.pdf · https://fnet.bmfbovespa.com.br/fnet/publico/exibirDocumento?id=667195 · Observação: Risco de fluxo dos arrendatários e de operacionalização/insolvência do banco; não converter em empréstimo consignado.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Devedor · Pessoa física; idade máxima de 65 anos na aquisição · Fundos.NET ID 792021 · 27/11/2024 · regulamento · p. 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Devedor · Banco IBM; pagamento dos CDB-V condicionado aos fluxos de leasing vinculados · Fundos.NET ID 634437 · 05/04/2024 · regulamento · p. 46-48 · data/raw/54559035000194/634437_regulamento.pdf · https://fnet.bmfbovespa.com.br/fnet/publico/exibirDocumento?id=634437 · Observação: Risco de fluxo dos arrendatários e de operacionalização/insolvência do banco; não converter em empréstimo consignado.</a:t>
            </a:r>
          </a:p>
          <a:p>
            <a:r>
              <a:t>CNPJ 50988212000105 · Devedor · Titulares de cartão vinculados às operações comerciais/financiamentos · Fundos.NET ID 1013021 · 14/11/2024 · regulamento · p. 23-25, 33-34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Devedor · Pessoa física; consignado/cartão INSS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Devedor · Pessoas físicas devedoras das CCBs, beneficiárias do INSS · data/raw/63546406000194/1130481_regulamento.pdf · ID Fundos.NET 1130481 · 05/03/2026 · regulamento · p. 131/154 · 6.1(A)(VIII); definição Devedores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Garantia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55070804000159 · Garantia · Vinculação contratual a operações de leasing; sem garantia do FGC · Fundos.NET ID 667195 · 22/05/2024 · regulamento · p. 49-51, 65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35868110000154 · Garantia · Alienação fiduciária do veículo registrada no SNG em nome do cedente · Fundos.NET ID 792021 · 27/11/2024 · regulamento · p. 18 · data/raw/35868110000154/792021_regulamento.pdf · https://fnet.bmfbovespa.com.br/fnet/publico/exibirDocumento?id=792021 · Observação: Garantia não transferida formalmente ao fundo; execução/repasse dependem do contrato de cessão.</a:t>
            </a:r>
          </a:p>
          <a:p>
            <a:r>
              <a:t>CNPJ 54559035000194 · Garantia · Vinculação contratual a operações de leasing; sem garantia do FGC · Fundos.NET ID 634437 · 05/04/2024 · regulamento · p. 46-48, 62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Garantia · Seguro de crédito distingue limites; cobertura efetiva exige apólice/contrato · Fundos.NET ID 1013021 · 14/11/2024 · regulamento · p. 33-35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Garantia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Garantia · Consignação autorizada e margem averbada; validação do lastro das CCBs · data/raw/63546406000194/1130481_regulamento.pdf · ID Fundos.NET 1130481 · 05/03/2026 · regulamento · p. 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Elegibilidade · Créditos não vencidos; prazo médio ≤ 80 dias; limites de prazo e refinanciamento · data/raw/08692888000182/772020_regulamento.pdf · ID Fundos.NET 772020 · 05/11/2024 · regulamento · p. 35–37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Elegibilidade · Emissão Banco IBM; reais; formalização integral; sem ônus, atraso prévio ou repactuação · Fundos.NET ID 667195 · 22/05/2024 · regulamento · p. 63-64 · data/raw/55070804000159/667195_regulamento.pdf · https://fnet.bmfbovespa.com.br/fnet/publico/exibirDocumento?id=667195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Elegibilidade · LTV &lt; 70%; ≥2 parcelas pagas; veículo ≤10 anos; sem atraso; taxa Price ≥1,10% a.m. · Fundos.NET ID 792021 · 27/11/2024 · regulamento · p. 18 · data/raw/35868110000154/792021_regulamento.pdf · https://fnet.bmfbovespa.com.br/fnet/publico/exibirDocumento?id=792021 · Observação: LTV = VP/saldo da CCB dividido pelo valor Molicar do veículo; 1,10% é taxa do crédito, não remuneração de cotas. CCB integral, sem carência.</a:t>
            </a:r>
          </a:p>
          <a:p>
            <a:r>
              <a:t>CNPJ 54559035000194 · Elegibilidade · Emissão Banco IBM; reais; formalização integral; sem ônus, atraso prévio ou repactuação · Fundos.NET ID 634437 · 05/04/2024 · regulamento · p. 60-61 · data/raw/54559035000194/634437_regulamento.pdf · https://fnet.bmfbovespa.com.br/fnet/publico/exibirDocumento?id=634437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50988212000105 · Elegibilidade · Direitos adimplentes; vencimento ≤ 180 dias; prazo médio ponderado ≤ 90 dias · Fundos.NET ID 1013021 · 14/11/2024 · regulamento · p. 33-35 · data/raw/50988212000105/1013021_regulamento.pdf · https://fnet.bmfbovespa.com.br/fnet/publico/exibirDocumento?id=1013021 · Observação: Verificação por titular e direito; cessão parcial de um direito não admitida, respeitadas operações comerciais individualizadas.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Elegibilidade · Saldo/devedor ≤ R$ 120 mil; parcela média ≥ R$ 200; idade média ≤ 68; idade + prazo ≤ 80, com exceções de seguro · data/raw/62588266000154/1002580_regulamento.pdf · ID Fundos.NET 1002580 · 29/09/2025 · regulamento · p. 31–32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Elegibilidade · Sem inadimplência; idade média ≤ 70 anos; idade + prazo ≤ 79 anos; saldo por devedor ≤ R$ 150 mil · data/raw/63546406000194/1130481_regulamento.pdf · ID Fundos.NET 1130481 · 05/03/2026 · regulamento · p. 133 e 139–140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Concentração · Titular sem seguro ≤ 1,25% PL; com seguro ≤ 2% após janela inicial; estabelecimento ≤ 40% após 18 meses · data/raw/08692888000182/772020_regulamento.pdf · ID Fundos.NET 772020 · 05/11/2024 · regulamento · p.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Concentração · Exposição vinculada ao Banco IBM e aos contratos indicados; limite por arrendatário não localizado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Concentração · CCB ≤R$150 mil; por CPF ≤R$200 mil; veículos pesados/vans/caminhões ≤10% PL · Fundos.NET ID 792021 · 27/11/2024 · regulamento · p. 16-18 · data/raw/35868110000154/792021_regulamento.pdf · https://fnet.bmfbovespa.com.br/fnet/publico/exibirDocumento?id=792021 · Observação: Autos podem chegar a 100% do PL. Não confundir com Auto BV I–IV ou aplicar ticket de R$175 mil de outro CNPJ.</a:t>
            </a:r>
          </a:p>
          <a:p>
            <a:r>
              <a:t>CNPJ 54559035000194 · Concentração · Exposição vinculada ao Banco IBM e aos contratos indicados; limite por arrendatário não localizado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Concentração · Titular/grupo sem seguro: maior de 1,25% PL e R$ 2,5 mi; com seguro: maior de 4%/2% PL e R$ 4 mi · Fundos.NET ID 1013021 · 14/11/2024 · regulamento · p. 34-35 · data/raw/50988212000105/1013021_regulamento.pdf · https://fnet.bmfbovespa.com.br/fnet/publico/exibirDocumento?id=1013021 · Observação: Seguro: 4% do PL nos primeiros 3 meses, 2% depois; estabelecimento: maior de 50% PL/R$100mi até 18 meses, 40% PL/R$80mi depois. Não inferir limites por IME agregado.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· Homens ≤ 60%; idade &gt;61 ≤70%, &gt;66 ≤50%, &gt;71 ≤12,5%; exclusões de seguros conforme cláusula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Concentração · Faixas etárias, benefício 32 e limites individuais; base valor presente de créditos não inadimplidos · data/raw/63546406000194/1130481_regulamento.pdf · ID Fundos.NET 1130481 · 05/03/2026 · regulamento · p. 139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Prazo dos recebíveis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Prazo dos recebíveis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Prazo dos recebíveis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Prazo dos recebíveis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Prazo dos recebíveis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Prazo dos recebíveis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Prazo dos recebíveis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Prazo dos recebíveis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Prazo dos recebíveis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Prazo dos recebíveis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Prazo dos recebíveis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Prazo dos recebíveis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Prazo dos recebíveis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Ativos vedados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Ativos vedados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Ativos vedados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Ativos vedados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Ativos vedados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Ativos vedados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Ativos vedados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Ativos vedados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Ativos vedados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Ativos vedados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Ativos vedados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Ativos vedados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Ativos vedados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Natureza dos recebíveis · Cartão de compra e financiamento comercial; segmentos financeiro, industrial, comercial e serviços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Natureza dos recebíveis · CDBs vinculados do Banco IBM a contratos de arrendamento mercantil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Natureza dos recebíveis · Financiamento de veículos por CDC/CCB eletrônica · Fundos.NET ID 792021 · 27/11/2024 · regulamento · p. 17-18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Natureza dos recebíveis · CDBs vinculados do Banco IBM a contratos de arrendamento mercantil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Natureza dos recebíveis · Financiamentos e operações comerciais de cartão de crédito Supplier · Fundos.NET ID 1013021 · 14/11/2024 · regulamento · p. 24-25,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Natureza dos recebíveis · CCBs Facta de crédito/cartão INSS; direitos cedidos conforme convênio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Natureza dos recebíveis · CCCBs lastreados em CCBs de empréstimos consignados INSS · data/raw/63546406000194/1130481_regulamento.pdf · ID Fundos.NET 1130481 · 05/03/2026 · regulamento · p. 130–133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Originador/endossante · Cedentes do programa Supplier; subordinadas subscritas por Supplier/afiliadas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Originador/endossante · Banco IBM; arrendamentos vinculados no contrato de CDB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Originador/endossante · Banco Votorantim/BV, conforme definição de cedente · Fundos.NET ID 792021 · 27/11/2024 · regulamento · p. 78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Originador/endossante · Banco IBM; arrendamentos vinculados no contrato de CDB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Originador/endossante · Emissores/cedentes Supplier e seu grupo econômico · Fundos.NET ID 1013021 · 14/11/2024 · regulamento · p. 25, 29,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Originador/endossante · Facta, conforme contratos de endosso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Originador/endossante · Cedente Banco Pine; originadores Banco Pine e Facta Financeira · data/raw/63546406000194/1130481_regulamento.pdf · ID Fundos.NET 1130481 · 05/03/2026 · regulamento · p. 122 · 2.7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Devedor · Titulares PF/PJ do cartão de compra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55070804000159 · Devedor · Banco IBM; pagamento dos CDB-V condicionado aos fluxos de leasing vinculados · Fundos.NET ID 667195 · 22/05/2024 · regulamento · p. 49-51 · data/raw/55070804000159/667195_regulamento.pdf · https://fnet.bmfbovespa.com.br/fnet/publico/exibirDocumento?id=667195 · Observação: Risco de fluxo dos arrendatários e de operacionalização/insolvência do banco; não converter em empréstimo consignado.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Devedor · Pessoa física; idade máxima de 65 anos na aquisição · Fundos.NET ID 792021 · 27/11/2024 · regulamento · p. 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Devedor · Banco IBM; pagamento dos CDB-V condicionado aos fluxos de leasing vinculados · Fundos.NET ID 634437 · 05/04/2024 · regulamento · p. 46-48 · data/raw/54559035000194/634437_regulamento.pdf · https://fnet.bmfbovespa.com.br/fnet/publico/exibirDocumento?id=634437 · Observação: Risco de fluxo dos arrendatários e de operacionalização/insolvência do banco; não converter em empréstimo consignado.</a:t>
            </a:r>
          </a:p>
          <a:p>
            <a:r>
              <a:t>CNPJ 50988212000105 · Devedor · Titulares de cartão vinculados às operações comerciais/financiamentos · Fundos.NET ID 1013021 · 14/11/2024 · regulamento · p. 23-25, 33-34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Devedor · Pessoa física; consignado/cartão INSS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Devedor · Pessoas físicas devedoras das CCBs, beneficiárias do INSS · data/raw/63546406000194/1130481_regulamento.pdf · ID Fundos.NET 1130481 · 05/03/2026 · regulamento · p. 131/154 · 6.1(A)(VIII); definição Devedores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Garantia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55070804000159 · Garantia · Vinculação contratual a operações de leasing; sem garantia do FGC · Fundos.NET ID 667195 · 22/05/2024 · regulamento · p. 49-51, 65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35868110000154 · Garantia · Alienação fiduciária do veículo registrada no SNG em nome do cedente · Fundos.NET ID 792021 · 27/11/2024 · regulamento · p. 18 · data/raw/35868110000154/792021_regulamento.pdf · https://fnet.bmfbovespa.com.br/fnet/publico/exibirDocumento?id=792021 · Observação: Garantia não transferida formalmente ao fundo; execução/repasse dependem do contrato de cessão.</a:t>
            </a:r>
          </a:p>
          <a:p>
            <a:r>
              <a:t>CNPJ 54559035000194 · Garantia · Vinculação contratual a operações de leasing; sem garantia do FGC · Fundos.NET ID 634437 · 05/04/2024 · regulamento · p. 46-48, 62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Garantia · Seguro de crédito distingue limites; cobertura efetiva exige apólice/contrato · Fundos.NET ID 1013021 · 14/11/2024 · regulamento · p. 33-35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Garantia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Garantia · Consignação autorizada e margem averbada; validação do lastro das CCBs · data/raw/63546406000194/1130481_regulamento.pdf · ID Fundos.NET 1130481 · 05/03/2026 · regulamento · p. 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Elegibilidade · Créditos não vencidos; prazo médio ≤ 80 dias; limites de prazo e refinanciamento · data/raw/08692888000182/772020_regulamento.pdf · ID Fundos.NET 772020 · 05/11/2024 · regulamento · p. 35–37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Elegibilidade · Emissão Banco IBM; reais; formalização integral; sem ônus, atraso prévio ou repactuação · Fundos.NET ID 667195 · 22/05/2024 · regulamento · p. 63-64 · data/raw/55070804000159/667195_regulamento.pdf · https://fnet.bmfbovespa.com.br/fnet/publico/exibirDocumento?id=667195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Elegibilidade · LTV &lt; 70%; ≥2 parcelas pagas; veículo ≤10 anos; sem atraso; taxa Price ≥1,10% a.m. · Fundos.NET ID 792021 · 27/11/2024 · regulamento · p. 18 · data/raw/35868110000154/792021_regulamento.pdf · https://fnet.bmfbovespa.com.br/fnet/publico/exibirDocumento?id=792021 · Observação: LTV = VP/saldo da CCB dividido pelo valor Molicar do veículo; 1,10% é taxa do crédito, não remuneração de cotas. CCB integral, sem carência.</a:t>
            </a:r>
          </a:p>
          <a:p>
            <a:r>
              <a:t>CNPJ 54559035000194 · Elegibilidade · Emissão Banco IBM; reais; formalização integral; sem ônus, atraso prévio ou repactuação · Fundos.NET ID 634437 · 05/04/2024 · regulamento · p. 60-61 · data/raw/54559035000194/634437_regulamento.pdf · https://fnet.bmfbovespa.com.br/fnet/publico/exibirDocumento?id=634437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50988212000105 · Elegibilidade · Direitos adimplentes; vencimento ≤ 180 dias; prazo médio ponderado ≤ 90 dias · Fundos.NET ID 1013021 · 14/11/2024 · regulamento · p. 33-35 · data/raw/50988212000105/1013021_regulamento.pdf · https://fnet.bmfbovespa.com.br/fnet/publico/exibirDocumento?id=1013021 · Observação: Verificação por titular e direito; cessão parcial de um direito não admitida, respeitadas operações comerciais individualizadas.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Elegibilidade · Saldo/devedor ≤ R$ 120 mil; parcela média ≥ R$ 200; idade média ≤ 68; idade + prazo ≤ 80, com exceções de seguro · data/raw/62588266000154/1002580_regulamento.pdf · ID Fundos.NET 1002580 · 29/09/2025 · regulamento · p. 31–32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Elegibilidade · Sem inadimplência; idade média ≤ 70 anos; idade + prazo ≤ 79 anos; saldo por devedor ≤ R$ 150 mil · data/raw/63546406000194/1130481_regulamento.pdf · ID Fundos.NET 1130481 · 05/03/2026 · regulamento · p. 133 e 139–140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Concentração · Titular sem seguro ≤ 1,25% PL; com seguro ≤ 2% após janela inicial; estabelecimento ≤ 40% após 18 meses · data/raw/08692888000182/772020_regulamento.pdf · ID Fundos.NET 772020 · 05/11/2024 · regulamento · p.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Concentração · Exposição vinculada ao Banco IBM e aos contratos indicados; limite por arrendatário não localizado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Concentração · CCB ≤R$150 mil; por CPF ≤R$200 mil; veículos pesados/vans/caminhões ≤10% PL · Fundos.NET ID 792021 · 27/11/2024 · regulamento · p. 16-18 · data/raw/35868110000154/792021_regulamento.pdf · https://fnet.bmfbovespa.com.br/fnet/publico/exibirDocumento?id=792021 · Observação: Autos podem chegar a 100% do PL. Não confundir com Auto BV I–IV ou aplicar ticket de R$175 mil de outro CNPJ.</a:t>
            </a:r>
          </a:p>
          <a:p>
            <a:r>
              <a:t>CNPJ 54559035000194 · Concentração · Exposição vinculada ao Banco IBM e aos contratos indicados; limite por arrendatário não localizado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Concentração · Titular/grupo sem seguro: maior de 1,25% PL e R$ 2,5 mi; com seguro: maior de 4%/2% PL e R$ 4 mi · Fundos.NET ID 1013021 · 14/11/2024 · regulamento · p. 34-35 · data/raw/50988212000105/1013021_regulamento.pdf · https://fnet.bmfbovespa.com.br/fnet/publico/exibirDocumento?id=1013021 · Observação: Seguro: 4% do PL nos primeiros 3 meses, 2% depois; estabelecimento: maior de 50% PL/R$100mi até 18 meses, 40% PL/R$80mi depois. Não inferir limites por IME agregado.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· Homens ≤ 60%; idade &gt;61 ≤70%, &gt;66 ≤50%, &gt;71 ≤12,5%; exclusões de seguros conforme cláusula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Concentração · Faixas etárias, benefício 32 e limites individuais; base valor presente de créditos não inadimplidos · data/raw/63546406000194/1130481_regulamento.pdf · ID Fundos.NET 1130481 · 05/03/2026 · regulamento · p. 139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Prazo dos recebíveis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Prazo dos recebíveis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Prazo dos recebíveis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Prazo dos recebíveis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Prazo dos recebíveis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Prazo dos recebíveis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Prazo dos recebíveis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Prazo dos recebíveis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Prazo dos recebíveis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Prazo dos recebíveis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Prazo dos recebíveis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Prazo dos recebíveis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Prazo dos recebíveis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Ativos vedados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Ativos vedados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Ativos vedados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Ativos vedados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Ativos vedados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Ativos vedados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Ativos vedados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Ativos vedados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Ativos vedados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Ativos vedados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Ativos vedados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Ativos vedados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Ativos vedados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Natureza dos recebíveis · Cartão de compra e financiamento comercial; segmentos financeiro, industrial, comercial e serviços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Natureza dos recebíveis · CDBs vinculados do Banco IBM a contratos de arrendamento mercantil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Natureza dos recebíveis · Financiamento de veículos por CDC/CCB eletrônica · Fundos.NET ID 792021 · 27/11/2024 · regulamento · p. 17-18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Natureza dos recebíveis · CDBs vinculados do Banco IBM a contratos de arrendamento mercantil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Natureza dos recebíveis · Financiamentos e operações comerciais de cartão de crédito Supplier · Fundos.NET ID 1013021 · 14/11/2024 · regulamento · p. 24-25,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Natureza dos recebíveis · CCBs Facta de crédito/cartão INSS; direitos cedidos conforme convênio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Natureza dos recebíveis · CCCBs lastreados em CCBs de empréstimos consignados INSS · data/raw/63546406000194/1130481_regulamento.pdf · ID Fundos.NET 1130481 · 05/03/2026 · regulamento · p. 130–133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Originador/endossante · Cedentes do programa Supplier; subordinadas subscritas por Supplier/afiliadas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Originador/endossante · Banco IBM; arrendamentos vinculados no contrato de CDB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Originador/endossante · Banco Votorantim/BV, conforme definição de cedente · Fundos.NET ID 792021 · 27/11/2024 · regulamento · p. 78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Originador/endossante · Banco IBM; arrendamentos vinculados no contrato de CDB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Originador/endossante · Emissores/cedentes Supplier e seu grupo econômico · Fundos.NET ID 1013021 · 14/11/2024 · regulamento · p. 25, 29,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Originador/endossante · Facta, conforme contratos de endosso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Originador/endossante · Cedente Banco Pine; originadores Banco Pine e Facta Financeira · data/raw/63546406000194/1130481_regulamento.pdf · ID Fundos.NET 1130481 · 05/03/2026 · regulamento · p. 122 · 2.7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Devedor · Titulares PF/PJ do cartão de compra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55070804000159 · Devedor · Banco IBM; pagamento dos CDB-V condicionado aos fluxos de leasing vinculados · Fundos.NET ID 667195 · 22/05/2024 · regulamento · p. 49-51 · data/raw/55070804000159/667195_regulamento.pdf · https://fnet.bmfbovespa.com.br/fnet/publico/exibirDocumento?id=667195 · Observação: Risco de fluxo dos arrendatários e de operacionalização/insolvência do banco; não converter em empréstimo consignado.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Devedor · Pessoa física; idade máxima de 65 anos na aquisição · Fundos.NET ID 792021 · 27/11/2024 · regulamento · p. 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Devedor · Banco IBM; pagamento dos CDB-V condicionado aos fluxos de leasing vinculados · Fundos.NET ID 634437 · 05/04/2024 · regulamento · p. 46-48 · data/raw/54559035000194/634437_regulamento.pdf · https://fnet.bmfbovespa.com.br/fnet/publico/exibirDocumento?id=634437 · Observação: Risco de fluxo dos arrendatários e de operacionalização/insolvência do banco; não converter em empréstimo consignado.</a:t>
            </a:r>
          </a:p>
          <a:p>
            <a:r>
              <a:t>CNPJ 50988212000105 · Devedor · Titulares de cartão vinculados às operações comerciais/financiamentos · Fundos.NET ID 1013021 · 14/11/2024 · regulamento · p. 23-25, 33-34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Devedor · Pessoa física; consignado/cartão INSS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Devedor · Pessoas físicas devedoras das CCBs, beneficiárias do INSS · data/raw/63546406000194/1130481_regulamento.pdf · ID Fundos.NET 1130481 · 05/03/2026 · regulamento · p. 131/154 · 6.1(A)(VIII); definição Devedores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Garantia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55070804000159 · Garantia · Vinculação contratual a operações de leasing; sem garantia do FGC · Fundos.NET ID 667195 · 22/05/2024 · regulamento · p. 49-51, 65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35868110000154 · Garantia · Alienação fiduciária do veículo registrada no SNG em nome do cedente · Fundos.NET ID 792021 · 27/11/2024 · regulamento · p. 18 · data/raw/35868110000154/792021_regulamento.pdf · https://fnet.bmfbovespa.com.br/fnet/publico/exibirDocumento?id=792021 · Observação: Garantia não transferida formalmente ao fundo; execução/repasse dependem do contrato de cessão.</a:t>
            </a:r>
          </a:p>
          <a:p>
            <a:r>
              <a:t>CNPJ 54559035000194 · Garantia · Vinculação contratual a operações de leasing; sem garantia do FGC · Fundos.NET ID 634437 · 05/04/2024 · regulamento · p. 46-48, 62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Garantia · Seguro de crédito distingue limites; cobertura efetiva exige apólice/contrato · Fundos.NET ID 1013021 · 14/11/2024 · regulamento · p. 33-35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Garantia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Garantia · Consignação autorizada e margem averbada; validação do lastro das CCBs · data/raw/63546406000194/1130481_regulamento.pdf · ID Fundos.NET 1130481 · 05/03/2026 · regulamento · p. 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Elegibilidade · Créditos não vencidos; prazo médio ≤ 80 dias; limites de prazo e refinanciamento · data/raw/08692888000182/772020_regulamento.pdf · ID Fundos.NET 772020 · 05/11/2024 · regulamento · p. 35–37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Elegibilidade · Emissão Banco IBM; reais; formalização integral; sem ônus, atraso prévio ou repactuação · Fundos.NET ID 667195 · 22/05/2024 · regulamento · p. 63-64 · data/raw/55070804000159/667195_regulamento.pdf · https://fnet.bmfbovespa.com.br/fnet/publico/exibirDocumento?id=667195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Elegibilidade · LTV &lt; 70%; ≥2 parcelas pagas; veículo ≤10 anos; sem atraso; taxa Price ≥1,10% a.m. · Fundos.NET ID 792021 · 27/11/2024 · regulamento · p. 18 · data/raw/35868110000154/792021_regulamento.pdf · https://fnet.bmfbovespa.com.br/fnet/publico/exibirDocumento?id=792021 · Observação: LTV = VP/saldo da CCB dividido pelo valor Molicar do veículo; 1,10% é taxa do crédito, não remuneração de cotas. CCB integral, sem carência.</a:t>
            </a:r>
          </a:p>
          <a:p>
            <a:r>
              <a:t>CNPJ 54559035000194 · Elegibilidade · Emissão Banco IBM; reais; formalização integral; sem ônus, atraso prévio ou repactuação · Fundos.NET ID 634437 · 05/04/2024 · regulamento · p. 60-61 · data/raw/54559035000194/634437_regulamento.pdf · https://fnet.bmfbovespa.com.br/fnet/publico/exibirDocumento?id=634437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50988212000105 · Elegibilidade · Direitos adimplentes; vencimento ≤ 180 dias; prazo médio ponderado ≤ 90 dias · Fundos.NET ID 1013021 · 14/11/2024 · regulamento · p. 33-35 · data/raw/50988212000105/1013021_regulamento.pdf · https://fnet.bmfbovespa.com.br/fnet/publico/exibirDocumento?id=1013021 · Observação: Verificação por titular e direito; cessão parcial de um direito não admitida, respeitadas operações comerciais individualizadas.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Elegibilidade · Saldo/devedor ≤ R$ 120 mil; parcela média ≥ R$ 200; idade média ≤ 68; idade + prazo ≤ 80, com exceções de seguro · data/raw/62588266000154/1002580_regulamento.pdf · ID Fundos.NET 1002580 · 29/09/2025 · regulamento · p. 31–32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Elegibilidade · Sem inadimplência; idade média ≤ 70 anos; idade + prazo ≤ 79 anos; saldo por devedor ≤ R$ 150 mil · data/raw/63546406000194/1130481_regulamento.pdf · ID Fundos.NET 1130481 · 05/03/2026 · regulamento · p. 133 e 139–140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Concentração · Titular sem seguro ≤ 1,25% PL; com seguro ≤ 2% após janela inicial; estabelecimento ≤ 40% após 18 meses · data/raw/08692888000182/772020_regulamento.pdf · ID Fundos.NET 772020 · 05/11/2024 · regulamento · p.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Concentração · Exposição vinculada ao Banco IBM e aos contratos indicados; limite por arrendatário não localizado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Concentração · CCB ≤R$150 mil; por CPF ≤R$200 mil; veículos pesados/vans/caminhões ≤10% PL · Fundos.NET ID 792021 · 27/11/2024 · regulamento · p. 16-18 · data/raw/35868110000154/792021_regulamento.pdf · https://fnet.bmfbovespa.com.br/fnet/publico/exibirDocumento?id=792021 · Observação: Autos podem chegar a 100% do PL. Não confundir com Auto BV I–IV ou aplicar ticket de R$175 mil de outro CNPJ.</a:t>
            </a:r>
          </a:p>
          <a:p>
            <a:r>
              <a:t>CNPJ 54559035000194 · Concentração · Exposição vinculada ao Banco IBM e aos contratos indicados; limite por arrendatário não localizado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Concentração · Titular/grupo sem seguro: maior de 1,25% PL e R$ 2,5 mi; com seguro: maior de 4%/2% PL e R$ 4 mi · Fundos.NET ID 1013021 · 14/11/2024 · regulamento · p. 34-35 · data/raw/50988212000105/1013021_regulamento.pdf · https://fnet.bmfbovespa.com.br/fnet/publico/exibirDocumento?id=1013021 · Observação: Seguro: 4% do PL nos primeiros 3 meses, 2% depois; estabelecimento: maior de 50% PL/R$100mi até 18 meses, 40% PL/R$80mi depois. Não inferir limites por IME agregado.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· Homens ≤ 60%; idade &gt;61 ≤70%, &gt;66 ≤50%, &gt;71 ≤12,5%; exclusões de seguros conforme cláusula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Concentração · Faixas etárias, benefício 32 e limites individuais; base valor presente de créditos não inadimplidos · data/raw/63546406000194/1130481_regulamento.pdf · ID Fundos.NET 1130481 · 05/03/2026 · regulamento · p. 139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Prazo dos recebíveis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Prazo dos recebíveis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Prazo dos recebíveis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Prazo dos recebíveis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Prazo dos recebíveis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Prazo dos recebíveis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Prazo dos recebíveis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Prazo dos recebíveis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Prazo dos recebíveis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Prazo dos recebíveis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Prazo dos recebíveis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Prazo dos recebíveis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Prazo dos recebíveis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Ativos vedados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Ativos vedados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Ativos vedados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Ativos vedados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Ativos vedados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Ativos vedados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Ativos vedados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Ativos vedados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Ativos vedados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Ativos vedados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Ativos vedados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Ativos vedados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Ativos vedados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Natureza dos recebíveis · Cartão de compra e financiamento comercial; segmentos financeiro, industrial, comercial e serviços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Natureza dos recebíveis · CDBs vinculados do Banco IBM a contratos de arrendamento mercantil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Natureza dos recebíveis · Financiamento de veículos por CDC/CCB eletrônica · Fundos.NET ID 792021 · 27/11/2024 · regulamento · p. 17-18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Natureza dos recebíveis · CDBs vinculados do Banco IBM a contratos de arrendamento mercantil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Natureza dos recebíveis · Financiamentos e operações comerciais de cartão de crédito Supplier · Fundos.NET ID 1013021 · 14/11/2024 · regulamento · p. 24-25,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Natureza dos recebíveis · CCBs Facta de crédito/cartão INSS; direitos cedidos conforme convênio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Natureza dos recebíveis · CCCBs lastreados em CCBs de empréstimos consignados INSS · data/raw/63546406000194/1130481_regulamento.pdf · ID Fundos.NET 1130481 · 05/03/2026 · regulamento · p. 130–133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Originador/endossante · Cedentes do programa Supplier; subordinadas subscritas por Supplier/afiliadas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Originador/endossante · Banco IBM; arrendamentos vinculados no contrato de CDB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Originador/endossante · Banco Votorantim/BV, conforme definição de cedente · Fundos.NET ID 792021 · 27/11/2024 · regulamento · p. 78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Originador/endossante · Banco IBM; arrendamentos vinculados no contrato de CDB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Originador/endossante · Emissores/cedentes Supplier e seu grupo econômico · Fundos.NET ID 1013021 · 14/11/2024 · regulamento · p. 25, 29,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Originador/endossante · Facta, conforme contratos de endosso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Originador/endossante · Cedente Banco Pine; originadores Banco Pine e Facta Financeira · data/raw/63546406000194/1130481_regulamento.pdf · ID Fundos.NET 1130481 · 05/03/2026 · regulamento · p. 122 · 2.7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Devedor · Titulares PF/PJ do cartão de compra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55070804000159 · Devedor · Banco IBM; pagamento dos CDB-V condicionado aos fluxos de leasing vinculados · Fundos.NET ID 667195 · 22/05/2024 · regulamento · p. 49-51 · data/raw/55070804000159/667195_regulamento.pdf · https://fnet.bmfbovespa.com.br/fnet/publico/exibirDocumento?id=667195 · Observação: Risco de fluxo dos arrendatários e de operacionalização/insolvência do banco; não converter em empréstimo consignado.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Devedor · Pessoa física; idade máxima de 65 anos na aquisição · Fundos.NET ID 792021 · 27/11/2024 · regulamento · p. 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Devedor · Banco IBM; pagamento dos CDB-V condicionado aos fluxos de leasing vinculados · Fundos.NET ID 634437 · 05/04/2024 · regulamento · p. 46-48 · data/raw/54559035000194/634437_regulamento.pdf · https://fnet.bmfbovespa.com.br/fnet/publico/exibirDocumento?id=634437 · Observação: Risco de fluxo dos arrendatários e de operacionalização/insolvência do banco; não converter em empréstimo consignado.</a:t>
            </a:r>
          </a:p>
          <a:p>
            <a:r>
              <a:t>CNPJ 50988212000105 · Devedor · Titulares de cartão vinculados às operações comerciais/financiamentos · Fundos.NET ID 1013021 · 14/11/2024 · regulamento · p. 23-25, 33-34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Devedor · Pessoa física; consignado/cartão INSS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Devedor · Pessoas físicas devedoras das CCBs, beneficiárias do INSS · data/raw/63546406000194/1130481_regulamento.pdf · ID Fundos.NET 1130481 · 05/03/2026 · regulamento · p. 131/154 · 6.1(A)(VIII); definição Devedores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Garantia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55070804000159 · Garantia · Vinculação contratual a operações de leasing; sem garantia do FGC · Fundos.NET ID 667195 · 22/05/2024 · regulamento · p. 49-51, 65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35868110000154 · Garantia · Alienação fiduciária do veículo registrada no SNG em nome do cedente · Fundos.NET ID 792021 · 27/11/2024 · regulamento · p. 18 · data/raw/35868110000154/792021_regulamento.pdf · https://fnet.bmfbovespa.com.br/fnet/publico/exibirDocumento?id=792021 · Observação: Garantia não transferida formalmente ao fundo; execução/repasse dependem do contrato de cessão.</a:t>
            </a:r>
          </a:p>
          <a:p>
            <a:r>
              <a:t>CNPJ 54559035000194 · Garantia · Vinculação contratual a operações de leasing; sem garantia do FGC · Fundos.NET ID 634437 · 05/04/2024 · regulamento · p. 46-48, 62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Garantia · Seguro de crédito distingue limites; cobertura efetiva exige apólice/contrato · Fundos.NET ID 1013021 · 14/11/2024 · regulamento · p. 33-35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Garantia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Garantia · Consignação autorizada e margem averbada; validação do lastro das CCBs · data/raw/63546406000194/1130481_regulamento.pdf · ID Fundos.NET 1130481 · 05/03/2026 · regulamento · p. 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Elegibilidade · Créditos não vencidos; prazo médio ≤ 80 dias; limites de prazo e refinanciamento · data/raw/08692888000182/772020_regulamento.pdf · ID Fundos.NET 772020 · 05/11/2024 · regulamento · p. 35–37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Elegibilidade · Emissão Banco IBM; reais; formalização integral; sem ônus, atraso prévio ou repactuação · Fundos.NET ID 667195 · 22/05/2024 · regulamento · p. 63-64 · data/raw/55070804000159/667195_regulamento.pdf · https://fnet.bmfbovespa.com.br/fnet/publico/exibirDocumento?id=667195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Elegibilidade · LTV &lt; 70%; ≥2 parcelas pagas; veículo ≤10 anos; sem atraso; taxa Price ≥1,10% a.m. · Fundos.NET ID 792021 · 27/11/2024 · regulamento · p. 18 · data/raw/35868110000154/792021_regulamento.pdf · https://fnet.bmfbovespa.com.br/fnet/publico/exibirDocumento?id=792021 · Observação: LTV = VP/saldo da CCB dividido pelo valor Molicar do veículo; 1,10% é taxa do crédito, não remuneração de cotas. CCB integral, sem carência.</a:t>
            </a:r>
          </a:p>
          <a:p>
            <a:r>
              <a:t>CNPJ 54559035000194 · Elegibilidade · Emissão Banco IBM; reais; formalização integral; sem ônus, atraso prévio ou repactuação · Fundos.NET ID 634437 · 05/04/2024 · regulamento · p. 60-61 · data/raw/54559035000194/634437_regulamento.pdf · https://fnet.bmfbovespa.com.br/fnet/publico/exibirDocumento?id=634437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50988212000105 · Elegibilidade · Direitos adimplentes; vencimento ≤ 180 dias; prazo médio ponderado ≤ 90 dias · Fundos.NET ID 1013021 · 14/11/2024 · regulamento · p. 33-35 · data/raw/50988212000105/1013021_regulamento.pdf · https://fnet.bmfbovespa.com.br/fnet/publico/exibirDocumento?id=1013021 · Observação: Verificação por titular e direito; cessão parcial de um direito não admitida, respeitadas operações comerciais individualizadas.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Elegibilidade · Saldo/devedor ≤ R$ 120 mil; parcela média ≥ R$ 200; idade média ≤ 68; idade + prazo ≤ 80, com exceções de seguro · data/raw/62588266000154/1002580_regulamento.pdf · ID Fundos.NET 1002580 · 29/09/2025 · regulamento · p. 31–32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Elegibilidade · Sem inadimplência; idade média ≤ 70 anos; idade + prazo ≤ 79 anos; saldo por devedor ≤ R$ 150 mil · data/raw/63546406000194/1130481_regulamento.pdf · ID Fundos.NET 1130481 · 05/03/2026 · regulamento · p. 133 e 139–140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Concentração · Titular sem seguro ≤ 1,25% PL; com seguro ≤ 2% após janela inicial; estabelecimento ≤ 40% após 18 meses · data/raw/08692888000182/772020_regulamento.pdf · ID Fundos.NET 772020 · 05/11/2024 · regulamento · p.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Concentração · Exposição vinculada ao Banco IBM e aos contratos indicados; limite por arrendatário não localizado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Concentração · CCB ≤R$150 mil; por CPF ≤R$200 mil; veículos pesados/vans/caminhões ≤10% PL · Fundos.NET ID 792021 · 27/11/2024 · regulamento · p. 16-18 · data/raw/35868110000154/792021_regulamento.pdf · https://fnet.bmfbovespa.com.br/fnet/publico/exibirDocumento?id=792021 · Observação: Autos podem chegar a 100% do PL. Não confundir com Auto BV I–IV ou aplicar ticket de R$175 mil de outro CNPJ.</a:t>
            </a:r>
          </a:p>
          <a:p>
            <a:r>
              <a:t>CNPJ 54559035000194 · Concentração · Exposição vinculada ao Banco IBM e aos contratos indicados; limite por arrendatário não localizado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Concentração · Titular/grupo sem seguro: maior de 1,25% PL e R$ 2,5 mi; com seguro: maior de 4%/2% PL e R$ 4 mi · Fundos.NET ID 1013021 · 14/11/2024 · regulamento · p. 34-35 · data/raw/50988212000105/1013021_regulamento.pdf · https://fnet.bmfbovespa.com.br/fnet/publico/exibirDocumento?id=1013021 · Observação: Seguro: 4% do PL nos primeiros 3 meses, 2% depois; estabelecimento: maior de 50% PL/R$100mi até 18 meses, 40% PL/R$80mi depois. Não inferir limites por IME agregado.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· Homens ≤ 60%; idade &gt;61 ≤70%, &gt;66 ≤50%, &gt;71 ≤12,5%; exclusões de seguros conforme cláusula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Concentração · Faixas etárias, benefício 32 e limites individuais; base valor presente de créditos não inadimplidos · data/raw/63546406000194/1130481_regulamento.pdf · ID Fundos.NET 1130481 · 05/03/2026 · regulamento · p. 139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Prazo dos recebíveis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Prazo dos recebíveis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Prazo dos recebíveis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Prazo dos recebíveis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Prazo dos recebíveis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Prazo dos recebíveis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Prazo dos recebíveis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Prazo dos recebíveis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Prazo dos recebíveis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Prazo dos recebíveis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Prazo dos recebíveis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Prazo dos recebíveis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Prazo dos recebíveis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Ativos vedados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Ativos vedados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Ativos vedados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Ativos vedados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Ativos vedados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Ativos vedados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Ativos vedados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Ativos vedados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Ativos vedados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Ativos vedados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Ativos vedados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Ativos vedados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Ativos vedados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Natureza dos recebíveis · Cartão de compra e financiamento comercial; segmentos financeiro, industrial, comercial e serviços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Natureza dos recebíveis · CDBs vinculados do Banco IBM a contratos de arrendamento mercantil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Natureza dos recebíveis · Financiamento de veículos por CDC/CCB eletrônica · Fundos.NET ID 792021 · 27/11/2024 · regulamento · p. 17-18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Natureza dos recebíveis · CDBs vinculados do Banco IBM a contratos de arrendamento mercantil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Natureza dos recebíveis · Financiamentos e operações comerciais de cartão de crédito Supplier · Fundos.NET ID 1013021 · 14/11/2024 · regulamento · p. 24-25,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Natureza dos recebíveis · CCBs Facta de crédito/cartão INSS; direitos cedidos conforme convênio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Natureza dos recebíveis · CCCBs lastreados em CCBs de empréstimos consignados INSS · data/raw/63546406000194/1130481_regulamento.pdf · ID Fundos.NET 1130481 · 05/03/2026 · regulamento · p. 130–133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Originador/endossante · Cedentes do programa Supplier; subordinadas subscritas por Supplier/afiliadas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Originador/endossante · Banco IBM; arrendamentos vinculados no contrato de CDB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Originador/endossante · Banco Votorantim/BV, conforme definição de cedente · Fundos.NET ID 792021 · 27/11/2024 · regulamento · p. 78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Originador/endossante · Banco IBM; arrendamentos vinculados no contrato de CDB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Originador/endossante · Emissores/cedentes Supplier e seu grupo econômico · Fundos.NET ID 1013021 · 14/11/2024 · regulamento · p. 25, 29,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Originador/endossante · Facta, conforme contratos de endosso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Originador/endossante · Cedente Banco Pine; originadores Banco Pine e Facta Financeira · data/raw/63546406000194/1130481_regulamento.pdf · ID Fundos.NET 1130481 · 05/03/2026 · regulamento · p. 122 · 2.7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Devedor · Titulares PF/PJ do cartão de compra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55070804000159 · Devedor · Banco IBM; pagamento dos CDB-V condicionado aos fluxos de leasing vinculados · Fundos.NET ID 667195 · 22/05/2024 · regulamento · p. 49-51 · data/raw/55070804000159/667195_regulamento.pdf · https://fnet.bmfbovespa.com.br/fnet/publico/exibirDocumento?id=667195 · Observação: Risco de fluxo dos arrendatários e de operacionalização/insolvência do banco; não converter em empréstimo consignado.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Devedor · Pessoa física; idade máxima de 65 anos na aquisição · Fundos.NET ID 792021 · 27/11/2024 · regulamento · p. 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Devedor · Banco IBM; pagamento dos CDB-V condicionado aos fluxos de leasing vinculados · Fundos.NET ID 634437 · 05/04/2024 · regulamento · p. 46-48 · data/raw/54559035000194/634437_regulamento.pdf · https://fnet.bmfbovespa.com.br/fnet/publico/exibirDocumento?id=634437 · Observação: Risco de fluxo dos arrendatários e de operacionalização/insolvência do banco; não converter em empréstimo consignado.</a:t>
            </a:r>
          </a:p>
          <a:p>
            <a:r>
              <a:t>CNPJ 50988212000105 · Devedor · Titulares de cartão vinculados às operações comerciais/financiamentos · Fundos.NET ID 1013021 · 14/11/2024 · regulamento · p. 23-25, 33-34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Devedor · Pessoa física; consignado/cartão INSS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Devedor · Pessoas físicas devedoras das CCBs, beneficiárias do INSS · data/raw/63546406000194/1130481_regulamento.pdf · ID Fundos.NET 1130481 · 05/03/2026 · regulamento · p. 131/154 · 6.1(A)(VIII); definição Devedores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Garantia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55070804000159 · Garantia · Vinculação contratual a operações de leasing; sem garantia do FGC · Fundos.NET ID 667195 · 22/05/2024 · regulamento · p. 49-51, 65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35868110000154 · Garantia · Alienação fiduciária do veículo registrada no SNG em nome do cedente · Fundos.NET ID 792021 · 27/11/2024 · regulamento · p. 18 · data/raw/35868110000154/792021_regulamento.pdf · https://fnet.bmfbovespa.com.br/fnet/publico/exibirDocumento?id=792021 · Observação: Garantia não transferida formalmente ao fundo; execução/repasse dependem do contrato de cessão.</a:t>
            </a:r>
          </a:p>
          <a:p>
            <a:r>
              <a:t>CNPJ 54559035000194 · Garantia · Vinculação contratual a operações de leasing; sem garantia do FGC · Fundos.NET ID 634437 · 05/04/2024 · regulamento · p. 46-48, 62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Garantia · Seguro de crédito distingue limites; cobertura efetiva exige apólice/contrato · Fundos.NET ID 1013021 · 14/11/2024 · regulamento · p. 33-35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Garantia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Garantia · Consignação autorizada e margem averbada; validação do lastro das CCBs · data/raw/63546406000194/1130481_regulamento.pdf · ID Fundos.NET 1130481 · 05/03/2026 · regulamento · p. 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Elegibilidade · Créditos não vencidos; prazo médio ≤ 80 dias; limites de prazo e refinanciamento · data/raw/08692888000182/772020_regulamento.pdf · ID Fundos.NET 772020 · 05/11/2024 · regulamento · p. 35–37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Elegibilidade · Emissão Banco IBM; reais; formalização integral; sem ônus, atraso prévio ou repactuação · Fundos.NET ID 667195 · 22/05/2024 · regulamento · p. 63-64 · data/raw/55070804000159/667195_regulamento.pdf · https://fnet.bmfbovespa.com.br/fnet/publico/exibirDocumento?id=667195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Elegibilidade · LTV &lt; 70%; ≥2 parcelas pagas; veículo ≤10 anos; sem atraso; taxa Price ≥1,10% a.m. · Fundos.NET ID 792021 · 27/11/2024 · regulamento · p. 18 · data/raw/35868110000154/792021_regulamento.pdf · https://fnet.bmfbovespa.com.br/fnet/publico/exibirDocumento?id=792021 · Observação: LTV = VP/saldo da CCB dividido pelo valor Molicar do veículo; 1,10% é taxa do crédito, não remuneração de cotas. CCB integral, sem carência.</a:t>
            </a:r>
          </a:p>
          <a:p>
            <a:r>
              <a:t>CNPJ 54559035000194 · Elegibilidade · Emissão Banco IBM; reais; formalização integral; sem ônus, atraso prévio ou repactuação · Fundos.NET ID 634437 · 05/04/2024 · regulamento · p. 60-61 · data/raw/54559035000194/634437_regulamento.pdf · https://fnet.bmfbovespa.com.br/fnet/publico/exibirDocumento?id=634437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50988212000105 · Elegibilidade · Direitos adimplentes; vencimento ≤ 180 dias; prazo médio ponderado ≤ 90 dias · Fundos.NET ID 1013021 · 14/11/2024 · regulamento · p. 33-35 · data/raw/50988212000105/1013021_regulamento.pdf · https://fnet.bmfbovespa.com.br/fnet/publico/exibirDocumento?id=1013021 · Observação: Verificação por titular e direito; cessão parcial de um direito não admitida, respeitadas operações comerciais individualizadas.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Elegibilidade · Saldo/devedor ≤ R$ 120 mil; parcela média ≥ R$ 200; idade média ≤ 68; idade + prazo ≤ 80, com exceções de seguro · data/raw/62588266000154/1002580_regulamento.pdf · ID Fundos.NET 1002580 · 29/09/2025 · regulamento · p. 31–32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Elegibilidade · Sem inadimplência; idade média ≤ 70 anos; idade + prazo ≤ 79 anos; saldo por devedor ≤ R$ 150 mil · data/raw/63546406000194/1130481_regulamento.pdf · ID Fundos.NET 1130481 · 05/03/2026 · regulamento · p. 133 e 139–140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Concentração · Titular sem seguro ≤ 1,25% PL; com seguro ≤ 2% após janela inicial; estabelecimento ≤ 40% após 18 meses · data/raw/08692888000182/772020_regulamento.pdf · ID Fundos.NET 772020 · 05/11/2024 · regulamento · p.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Concentração · Exposição vinculada ao Banco IBM e aos contratos indicados; limite por arrendatário não localizado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Concentração · CCB ≤R$150 mil; por CPF ≤R$200 mil; veículos pesados/vans/caminhões ≤10% PL · Fundos.NET ID 792021 · 27/11/2024 · regulamento · p. 16-18 · data/raw/35868110000154/792021_regulamento.pdf · https://fnet.bmfbovespa.com.br/fnet/publico/exibirDocumento?id=792021 · Observação: Autos podem chegar a 100% do PL. Não confundir com Auto BV I–IV ou aplicar ticket de R$175 mil de outro CNPJ.</a:t>
            </a:r>
          </a:p>
          <a:p>
            <a:r>
              <a:t>CNPJ 54559035000194 · Concentração · Exposição vinculada ao Banco IBM e aos contratos indicados; limite por arrendatário não localizado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Concentração · Titular/grupo sem seguro: maior de 1,25% PL e R$ 2,5 mi; com seguro: maior de 4%/2% PL e R$ 4 mi · Fundos.NET ID 1013021 · 14/11/2024 · regulamento · p. 34-35 · data/raw/50988212000105/1013021_regulamento.pdf · https://fnet.bmfbovespa.com.br/fnet/publico/exibirDocumento?id=1013021 · Observação: Seguro: 4% do PL nos primeiros 3 meses, 2% depois; estabelecimento: maior de 50% PL/R$100mi até 18 meses, 40% PL/R$80mi depois. Não inferir limites por IME agregado.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· Homens ≤ 60%; idade &gt;61 ≤70%, &gt;66 ≤50%, &gt;71 ≤12,5%; exclusões de seguros conforme cláusula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Concentração · Faixas etárias, benefício 32 e limites individuais; base valor presente de créditos não inadimplidos · data/raw/63546406000194/1130481_regulamento.pdf · ID Fundos.NET 1130481 · 05/03/2026 · regulamento · p. 139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Prazo dos recebíveis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Prazo dos recebíveis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Prazo dos recebíveis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Prazo dos recebíveis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Prazo dos recebíveis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Prazo dos recebíveis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Prazo dos recebíveis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Prazo dos recebíveis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Prazo dos recebíveis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Prazo dos recebíveis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Prazo dos recebíveis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Prazo dos recebíveis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Prazo dos recebíveis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Ativos vedados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Ativos vedados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Ativos vedados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Ativos vedados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Ativos vedados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Ativos vedados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Ativos vedados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Ativos vedados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Ativos vedados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Ativos vedados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Ativos vedados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Ativos vedados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Ativos vedados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Natureza dos recebíveis · Cartão de compra e financiamento comercial; segmentos financeiro, industrial, comercial e serviços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Natureza dos recebíveis · CDBs vinculados do Banco IBM a contratos de arrendamento mercantil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Natureza dos recebíveis · Financiamento de veículos por CDC/CCB eletrônica · Fundos.NET ID 792021 · 27/11/2024 · regulamento · p. 17-18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Natureza dos recebíveis · CDBs vinculados do Banco IBM a contratos de arrendamento mercantil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Natureza dos recebíveis · Financiamentos e operações comerciais de cartão de crédito Supplier · Fundos.NET ID 1013021 · 14/11/2024 · regulamento · p. 24-25,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Natureza dos recebíveis · CCBs Facta de crédito/cartão INSS; direitos cedidos conforme convênio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Natureza dos recebíveis · CCCBs lastreados em CCBs de empréstimos consignados INSS · data/raw/63546406000194/1130481_regulamento.pdf · ID Fundos.NET 1130481 · 05/03/2026 · regulamento · p. 130–133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Originador/endossante · Cedentes do programa Supplier; subordinadas subscritas por Supplier/afiliadas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Originador/endossante · Banco IBM; arrendamentos vinculados no contrato de CDB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Originador/endossante · Banco Votorantim/BV, conforme definição de cedente · Fundos.NET ID 792021 · 27/11/2024 · regulamento · p. 78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Originador/endossante · Banco IBM; arrendamentos vinculados no contrato de CDB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Originador/endossante · Emissores/cedentes Supplier e seu grupo econômico · Fundos.NET ID 1013021 · 14/11/2024 · regulamento · p. 25, 29,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Originador/endossante · Facta, conforme contratos de endosso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Originador/endossante · Cedente Banco Pine; originadores Banco Pine e Facta Financeira · data/raw/63546406000194/1130481_regulamento.pdf · ID Fundos.NET 1130481 · 05/03/2026 · regulamento · p. 122 · 2.7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Devedor · Titulares PF/PJ do cartão de compra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55070804000159 · Devedor · Banco IBM; pagamento dos CDB-V condicionado aos fluxos de leasing vinculados · Fundos.NET ID 667195 · 22/05/2024 · regulamento · p. 49-51 · data/raw/55070804000159/667195_regulamento.pdf · https://fnet.bmfbovespa.com.br/fnet/publico/exibirDocumento?id=667195 · Observação: Risco de fluxo dos arrendatários e de operacionalização/insolvência do banco; não converter em empréstimo consignado.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Devedor · Pessoa física; idade máxima de 65 anos na aquisição · Fundos.NET ID 792021 · 27/11/2024 · regulamento · p. 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Devedor · Banco IBM; pagamento dos CDB-V condicionado aos fluxos de leasing vinculados · Fundos.NET ID 634437 · 05/04/2024 · regulamento · p. 46-48 · data/raw/54559035000194/634437_regulamento.pdf · https://fnet.bmfbovespa.com.br/fnet/publico/exibirDocumento?id=634437 · Observação: Risco de fluxo dos arrendatários e de operacionalização/insolvência do banco; não converter em empréstimo consignado.</a:t>
            </a:r>
          </a:p>
          <a:p>
            <a:r>
              <a:t>CNPJ 50988212000105 · Devedor · Titulares de cartão vinculados às operações comerciais/financiamentos · Fundos.NET ID 1013021 · 14/11/2024 · regulamento · p. 23-25, 33-34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Devedor · Pessoa física; consignado/cartão INSS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Devedor · Pessoas físicas devedoras das CCBs, beneficiárias do INSS · data/raw/63546406000194/1130481_regulamento.pdf · ID Fundos.NET 1130481 · 05/03/2026 · regulamento · p. 131/154 · 6.1(A)(VIII); definição Devedores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Garantia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55070804000159 · Garantia · Vinculação contratual a operações de leasing; sem garantia do FGC · Fundos.NET ID 667195 · 22/05/2024 · regulamento · p. 49-51, 65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35868110000154 · Garantia · Alienação fiduciária do veículo registrada no SNG em nome do cedente · Fundos.NET ID 792021 · 27/11/2024 · regulamento · p. 18 · data/raw/35868110000154/792021_regulamento.pdf · https://fnet.bmfbovespa.com.br/fnet/publico/exibirDocumento?id=792021 · Observação: Garantia não transferida formalmente ao fundo; execução/repasse dependem do contrato de cessão.</a:t>
            </a:r>
          </a:p>
          <a:p>
            <a:r>
              <a:t>CNPJ 54559035000194 · Garantia · Vinculação contratual a operações de leasing; sem garantia do FGC · Fundos.NET ID 634437 · 05/04/2024 · regulamento · p. 46-48, 62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Garantia · Seguro de crédito distingue limites; cobertura efetiva exige apólice/contrato · Fundos.NET ID 1013021 · 14/11/2024 · regulamento · p. 33-35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Garantia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Garantia · Consignação autorizada e margem averbada; validação do lastro das CCBs · data/raw/63546406000194/1130481_regulamento.pdf · ID Fundos.NET 1130481 · 05/03/2026 · regulamento · p. 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Elegibilidade · Créditos não vencidos; prazo médio ≤ 80 dias; limites de prazo e refinanciamento · data/raw/08692888000182/772020_regulamento.pdf · ID Fundos.NET 772020 · 05/11/2024 · regulamento · p. 35–37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Elegibilidade · Emissão Banco IBM; reais; formalização integral; sem ônus, atraso prévio ou repactuação · Fundos.NET ID 667195 · 22/05/2024 · regulamento · p. 63-64 · data/raw/55070804000159/667195_regulamento.pdf · https://fnet.bmfbovespa.com.br/fnet/publico/exibirDocumento?id=667195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Elegibilidade · LTV &lt; 70%; ≥2 parcelas pagas; veículo ≤10 anos; sem atraso; taxa Price ≥1,10% a.m. · Fundos.NET ID 792021 · 27/11/2024 · regulamento · p. 18 · data/raw/35868110000154/792021_regulamento.pdf · https://fnet.bmfbovespa.com.br/fnet/publico/exibirDocumento?id=792021 · Observação: LTV = VP/saldo da CCB dividido pelo valor Molicar do veículo; 1,10% é taxa do crédito, não remuneração de cotas. CCB integral, sem carência.</a:t>
            </a:r>
          </a:p>
          <a:p>
            <a:r>
              <a:t>CNPJ 54559035000194 · Elegibilidade · Emissão Banco IBM; reais; formalização integral; sem ônus, atraso prévio ou repactuação · Fundos.NET ID 634437 · 05/04/2024 · regulamento · p. 60-61 · data/raw/54559035000194/634437_regulamento.pdf · https://fnet.bmfbovespa.com.br/fnet/publico/exibirDocumento?id=634437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50988212000105 · Elegibilidade · Direitos adimplentes; vencimento ≤ 180 dias; prazo médio ponderado ≤ 90 dias · Fundos.NET ID 1013021 · 14/11/2024 · regulamento · p. 33-35 · data/raw/50988212000105/1013021_regulamento.pdf · https://fnet.bmfbovespa.com.br/fnet/publico/exibirDocumento?id=1013021 · Observação: Verificação por titular e direito; cessão parcial de um direito não admitida, respeitadas operações comerciais individualizadas.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Elegibilidade · Saldo/devedor ≤ R$ 120 mil; parcela média ≥ R$ 200; idade média ≤ 68; idade + prazo ≤ 80, com exceções de seguro · data/raw/62588266000154/1002580_regulamento.pdf · ID Fundos.NET 1002580 · 29/09/2025 · regulamento · p. 31–32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Elegibilidade · Sem inadimplência; idade média ≤ 70 anos; idade + prazo ≤ 79 anos; saldo por devedor ≤ R$ 150 mil · data/raw/63546406000194/1130481_regulamento.pdf · ID Fundos.NET 1130481 · 05/03/2026 · regulamento · p. 133 e 139–140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Concentração · Titular sem seguro ≤ 1,25% PL; com seguro ≤ 2% após janela inicial; estabelecimento ≤ 40% após 18 meses · data/raw/08692888000182/772020_regulamento.pdf · ID Fundos.NET 772020 · 05/11/2024 · regulamento · p.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Concentração · Exposição vinculada ao Banco IBM e aos contratos indicados; limite por arrendatário não localizado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Concentração · CCB ≤R$150 mil; por CPF ≤R$200 mil; veículos pesados/vans/caminhões ≤10% PL · Fundos.NET ID 792021 · 27/11/2024 · regulamento · p. 16-18 · data/raw/35868110000154/792021_regulamento.pdf · https://fnet.bmfbovespa.com.br/fnet/publico/exibirDocumento?id=792021 · Observação: Autos podem chegar a 100% do PL. Não confundir com Auto BV I–IV ou aplicar ticket de R$175 mil de outro CNPJ.</a:t>
            </a:r>
          </a:p>
          <a:p>
            <a:r>
              <a:t>CNPJ 54559035000194 · Concentração · Exposição vinculada ao Banco IBM e aos contratos indicados; limite por arrendatário não localizado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Concentração · Titular/grupo sem seguro: maior de 1,25% PL e R$ 2,5 mi; com seguro: maior de 4%/2% PL e R$ 4 mi · Fundos.NET ID 1013021 · 14/11/2024 · regulamento · p. 34-35 · data/raw/50988212000105/1013021_regulamento.pdf · https://fnet.bmfbovespa.com.br/fnet/publico/exibirDocumento?id=1013021 · Observação: Seguro: 4% do PL nos primeiros 3 meses, 2% depois; estabelecimento: maior de 50% PL/R$100mi até 18 meses, 40% PL/R$80mi depois. Não inferir limites por IME agregado.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· Homens ≤ 60%; idade &gt;61 ≤70%, &gt;66 ≤50%, &gt;71 ≤12,5%; exclusões de seguros conforme cláusula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Concentração · Faixas etárias, benefício 32 e limites individuais; base valor presente de créditos não inadimplidos · data/raw/63546406000194/1130481_regulamento.pdf · ID Fundos.NET 1130481 · 05/03/2026 · regulamento · p. 139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Prazo dos recebíveis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Prazo dos recebíveis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Prazo dos recebíveis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Prazo dos recebíveis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Prazo dos recebíveis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Prazo dos recebíveis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Prazo dos recebíveis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Prazo dos recebíveis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Prazo dos recebíveis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Prazo dos recebíveis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Prazo dos recebíveis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Prazo dos recebíveis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Prazo dos recebíveis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Ativos vedados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Ativos vedados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Ativos vedados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Ativos vedados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Ativos vedados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Ativos vedados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Ativos vedados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Ativos vedados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Ativos vedados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Ativos vedados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Ativos vedados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Ativos vedados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Ativos vedados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Natureza dos recebíveis · Cartão de compra e financiamento comercial; segmentos financeiro, industrial, comercial e serviços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Natureza dos recebíveis · CDBs vinculados do Banco IBM a contratos de arrendamento mercantil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Natureza dos recebíveis · Financiamento de veículos por CDC/CCB eletrônica · Fundos.NET ID 792021 · 27/11/2024 · regulamento · p. 17-18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Natureza dos recebíveis · CDBs vinculados do Banco IBM a contratos de arrendamento mercantil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Natureza dos recebíveis · Financiamentos e operações comerciais de cartão de crédito Supplier · Fundos.NET ID 1013021 · 14/11/2024 · regulamento · p. 24-25,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Natureza dos recebíveis · CCBs Facta de crédito/cartão INSS; direitos cedidos conforme convênio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Natureza dos recebíveis · CCCBs lastreados em CCBs de empréstimos consignados INSS · data/raw/63546406000194/1130481_regulamento.pdf · ID Fundos.NET 1130481 · 05/03/2026 · regulamento · p. 130–133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Originador/endossante · Cedentes do programa Supplier; subordinadas subscritas por Supplier/afiliadas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Originador/endossante · Banco IBM; arrendamentos vinculados no contrato de CDB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Originador/endossante · Banco Votorantim/BV, conforme definição de cedente · Fundos.NET ID 792021 · 27/11/2024 · regulamento · p. 78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Originador/endossante · Banco IBM; arrendamentos vinculados no contrato de CDB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Originador/endossante · Emissores/cedentes Supplier e seu grupo econômico · Fundos.NET ID 1013021 · 14/11/2024 · regulamento · p. 25, 29,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Originador/endossante · Facta, conforme contratos de endosso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Originador/endossante · Cedente Banco Pine; originadores Banco Pine e Facta Financeira · data/raw/63546406000194/1130481_regulamento.pdf · ID Fundos.NET 1130481 · 05/03/2026 · regulamento · p. 122 · 2.7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Devedor · Titulares PF/PJ do cartão de compra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55070804000159 · Devedor · Banco IBM; pagamento dos CDB-V condicionado aos fluxos de leasing vinculados · Fundos.NET ID 667195 · 22/05/2024 · regulamento · p. 49-51 · data/raw/55070804000159/667195_regulamento.pdf · https://fnet.bmfbovespa.com.br/fnet/publico/exibirDocumento?id=667195 · Observação: Risco de fluxo dos arrendatários e de operacionalização/insolvência do banco; não converter em empréstimo consignado.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Devedor · Pessoa física; idade máxima de 65 anos na aquisição · Fundos.NET ID 792021 · 27/11/2024 · regulamento · p. 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Devedor · Banco IBM; pagamento dos CDB-V condicionado aos fluxos de leasing vinculados · Fundos.NET ID 634437 · 05/04/2024 · regulamento · p. 46-48 · data/raw/54559035000194/634437_regulamento.pdf · https://fnet.bmfbovespa.com.br/fnet/publico/exibirDocumento?id=634437 · Observação: Risco de fluxo dos arrendatários e de operacionalização/insolvência do banco; não converter em empréstimo consignado.</a:t>
            </a:r>
          </a:p>
          <a:p>
            <a:r>
              <a:t>CNPJ 50988212000105 · Devedor · Titulares de cartão vinculados às operações comerciais/financiamentos · Fundos.NET ID 1013021 · 14/11/2024 · regulamento · p. 23-25, 33-34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Devedor · Pessoa física; consignado/cartão INSS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Devedor · Pessoas físicas devedoras das CCBs, beneficiárias do INSS · data/raw/63546406000194/1130481_regulamento.pdf · ID Fundos.NET 1130481 · 05/03/2026 · regulamento · p. 131/154 · 6.1(A)(VIII); definição Devedores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Garantia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55070804000159 · Garantia · Vinculação contratual a operações de leasing; sem garantia do FGC · Fundos.NET ID 667195 · 22/05/2024 · regulamento · p. 49-51, 65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35868110000154 · Garantia · Alienação fiduciária do veículo registrada no SNG em nome do cedente · Fundos.NET ID 792021 · 27/11/2024 · regulamento · p. 18 · data/raw/35868110000154/792021_regulamento.pdf · https://fnet.bmfbovespa.com.br/fnet/publico/exibirDocumento?id=792021 · Observação: Garantia não transferida formalmente ao fundo; execução/repasse dependem do contrato de cessão.</a:t>
            </a:r>
          </a:p>
          <a:p>
            <a:r>
              <a:t>CNPJ 54559035000194 · Garantia · Vinculação contratual a operações de leasing; sem garantia do FGC · Fundos.NET ID 634437 · 05/04/2024 · regulamento · p. 46-48, 62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Garantia · Seguro de crédito distingue limites; cobertura efetiva exige apólice/contrato · Fundos.NET ID 1013021 · 14/11/2024 · regulamento · p. 33-35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Garantia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Garantia · Consignação autorizada e margem averbada; validação do lastro das CCBs · data/raw/63546406000194/1130481_regulamento.pdf · ID Fundos.NET 1130481 · 05/03/2026 · regulamento · p. 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Elegibilidade · Créditos não vencidos; prazo médio ≤ 80 dias; limites de prazo e refinanciamento · data/raw/08692888000182/772020_regulamento.pdf · ID Fundos.NET 772020 · 05/11/2024 · regulamento · p. 35–37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Elegibilidade · Emissão Banco IBM; reais; formalização integral; sem ônus, atraso prévio ou repactuação · Fundos.NET ID 667195 · 22/05/2024 · regulamento · p. 63-64 · data/raw/55070804000159/667195_regulamento.pdf · https://fnet.bmfbovespa.com.br/fnet/publico/exibirDocumento?id=667195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Elegibilidade · LTV &lt; 70%; ≥2 parcelas pagas; veículo ≤10 anos; sem atraso; taxa Price ≥1,10% a.m. · Fundos.NET ID 792021 · 27/11/2024 · regulamento · p. 18 · data/raw/35868110000154/792021_regulamento.pdf · https://fnet.bmfbovespa.com.br/fnet/publico/exibirDocumento?id=792021 · Observação: LTV = VP/saldo da CCB dividido pelo valor Molicar do veículo; 1,10% é taxa do crédito, não remuneração de cotas. CCB integral, sem carência.</a:t>
            </a:r>
          </a:p>
          <a:p>
            <a:r>
              <a:t>CNPJ 54559035000194 · Elegibilidade · Emissão Banco IBM; reais; formalização integral; sem ônus, atraso prévio ou repactuação · Fundos.NET ID 634437 · 05/04/2024 · regulamento · p. 60-61 · data/raw/54559035000194/634437_regulamento.pdf · https://fnet.bmfbovespa.com.br/fnet/publico/exibirDocumento?id=634437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50988212000105 · Elegibilidade · Direitos adimplentes; vencimento ≤ 180 dias; prazo médio ponderado ≤ 90 dias · Fundos.NET ID 1013021 · 14/11/2024 · regulamento · p. 33-35 · data/raw/50988212000105/1013021_regulamento.pdf · https://fnet.bmfbovespa.com.br/fnet/publico/exibirDocumento?id=1013021 · Observação: Verificação por titular e direito; cessão parcial de um direito não admitida, respeitadas operações comerciais individualizadas.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Elegibilidade · Saldo/devedor ≤ R$ 120 mil; parcela média ≥ R$ 200; idade média ≤ 68; idade + prazo ≤ 80, com exceções de seguro · data/raw/62588266000154/1002580_regulamento.pdf · ID Fundos.NET 1002580 · 29/09/2025 · regulamento · p. 31–32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Elegibilidade · Sem inadimplência; idade média ≤ 70 anos; idade + prazo ≤ 79 anos; saldo por devedor ≤ R$ 150 mil · data/raw/63546406000194/1130481_regulamento.pdf · ID Fundos.NET 1130481 · 05/03/2026 · regulamento · p. 133 e 139–140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Concentração · Titular sem seguro ≤ 1,25% PL; com seguro ≤ 2% após janela inicial; estabelecimento ≤ 40% após 18 meses · data/raw/08692888000182/772020_regulamento.pdf · ID Fundos.NET 772020 · 05/11/2024 · regulamento · p.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Concentração · Exposição vinculada ao Banco IBM e aos contratos indicados; limite por arrendatário não localizado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Concentração · CCB ≤R$150 mil; por CPF ≤R$200 mil; veículos pesados/vans/caminhões ≤10% PL · Fundos.NET ID 792021 · 27/11/2024 · regulamento · p. 16-18 · data/raw/35868110000154/792021_regulamento.pdf · https://fnet.bmfbovespa.com.br/fnet/publico/exibirDocumento?id=792021 · Observação: Autos podem chegar a 100% do PL. Não confundir com Auto BV I–IV ou aplicar ticket de R$175 mil de outro CNPJ.</a:t>
            </a:r>
          </a:p>
          <a:p>
            <a:r>
              <a:t>CNPJ 54559035000194 · Concentração · Exposição vinculada ao Banco IBM e aos contratos indicados; limite por arrendatário não localizado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Concentração · Titular/grupo sem seguro: maior de 1,25% PL e R$ 2,5 mi; com seguro: maior de 4%/2% PL e R$ 4 mi · Fundos.NET ID 1013021 · 14/11/2024 · regulamento · p. 34-35 · data/raw/50988212000105/1013021_regulamento.pdf · https://fnet.bmfbovespa.com.br/fnet/publico/exibirDocumento?id=1013021 · Observação: Seguro: 4% do PL nos primeiros 3 meses, 2% depois; estabelecimento: maior de 50% PL/R$100mi até 18 meses, 40% PL/R$80mi depois. Não inferir limites por IME agregado.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· Homens ≤ 60%; idade &gt;61 ≤70%, &gt;66 ≤50%, &gt;71 ≤12,5%; exclusões de seguros conforme cláusula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Concentração · Faixas etárias, benefício 32 e limites individuais; base valor presente de créditos não inadimplidos · data/raw/63546406000194/1130481_regulamento.pdf · ID Fundos.NET 1130481 · 05/03/2026 · regulamento · p. 139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Prazo dos recebíveis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Prazo dos recebíveis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Prazo dos recebíveis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Prazo dos recebíveis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Prazo dos recebíveis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Prazo dos recebíveis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Prazo dos recebíveis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Prazo dos recebíveis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Prazo dos recebíveis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Prazo dos recebíveis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Prazo dos recebíveis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Prazo dos recebíveis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Prazo dos recebíveis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Ativos vedados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Ativos vedados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Ativos vedados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Ativos vedados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Ativos vedados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Ativos vedados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Ativos vedados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Ativos vedados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Ativos vedados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Ativos vedados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Ativos vedados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Ativos vedados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Ativos vedados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Natureza dos recebíveis · Cartão de compra e financiamento comercial; segmentos financeiro, industrial, comercial e serviços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Natureza dos recebíveis · Recebíveis performados de cartões representados por URs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Natureza dos recebíveis · CDBs vinculados do Banco IBM a contratos de arrendamento mercantil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Natureza dos recebíveis · Financiamento de veículos por CDC/CCB eletrônica · Fundos.NET ID 792021 · 27/11/2024 · regulamento · p. 17-18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Natureza dos recebíveis · CDBs vinculados do Banco IBM a contratos de arrendamento mercantil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Natureza dos recebíveis · Financiamentos e operações comerciais de cartão de crédito Supplier · Fundos.NET ID 1013021 · 14/11/2024 · regulamento · p. 24-25,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Natureza dos recebíveis · CCBs Facta de crédito/cartão INSS; direitos cedidos conforme convênio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Natureza dos recebíveis · CCCBs lastreados em CCBs de empréstimos consignados INSS · data/raw/63546406000194/1130481_regulamento.pdf · ID Fundos.NET 1130481 · 05/03/2026 · regulamento · p. 130–133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Natureza dos recebíveis · Recebíveis de transações de cartões, devidos por emissores à Cloud Walk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Natureza dos recebíveis · Recebíveis de transações de cartões, devidos por emissores à Cloud Walk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Natureza dos recebíveis · CCBs de antecipação do saque-aniversário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Natureza dos recebíveis · Crédito estudantil para matrículas e semestralidades; empréstimos/financiamentos e programas elegíveis. · Fundos.NET ID 1061833; referência 19/11/2025; data/raw/26749095000134/1061833_regulamento_cache_integral.txt; direitos creditórios; contratos de empréstimo e definições;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Natureza dos recebíveis · CCBs de antecipação de saque-aniversário FGTS · Fundos.NET ID 937760 · 22/04/2025 · Regulamento · p. 25-28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Originador/endossante · Cedentes do programa Supplier; subordinadas subscritas por Supplier/afiliadas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Originador/endossante · Cedentes exclusivos: PagueVeloz IP (03.816.413/0001-37) e Serasa (62.173.620/0133-20) · data/raw/62838025000116/1058234_regulamento.pdf · ID Fundos.NET 1058234 · 10/12/2025 · regulamento · p. 3 · Definição Cedentes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Originador/endossante · Banco IBM; arrendamentos vinculados no contrato de CDB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Originador/endossante · Banco Votorantim/BV, conforme definição de cedente · Fundos.NET ID 792021 · 27/11/2024 · regulamento · p. 78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Originador/endossante · Banco IBM; arrendamentos vinculados no contrato de CDB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Originador/endossante · Emissores/cedentes Supplier e seu grupo econômico · Fundos.NET ID 1013021 · 14/11/2024 · regulamento · p. 25, 29,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Originador/endossante · Facta, conforme contratos de endosso · data/raw/62588266000154/1002580_regulamento.pdf · ID Fundos.NET 1002580 · 29/09/2025 · regulamento · p. 28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Originador/endossante · Cedente Banco Pine; originadores Banco Pine e Facta Financeira · data/raw/63546406000194/1130481_regulamento.pdf · ID Fundos.NET 1130481 · 05/03/2026 · regulamento · p. 122 · 2.7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Originador/endossante · Cloud Walk, como credenciadora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Originador/endossante · Cloud Walk, como credenciadora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Originador/endossante · Banco Votorantim/Banco BV · Fundos.NET ID 1025473 · 03/04/2025 · Regulamento · p. 12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26749095000134 · Originador/endossante · Cedentes bancos/instituições financeiras e instituições de ensino, conforme contrato; Pravaler presta gestão/originação operacional. · Fundos.NET ID 1061833; referência 19/11/2025; data/raw/26749095000134/1061833_regulamento_cache_integral.txt; definições de Cedentes; capítulo Direitos Creditórios; https://fnet.bmfbovespa.com.br/fnet/publico/exibirDocumento?id=1061833&amp;cvm=true · Observação: Não atribuir toda cessão à Pravaler sem identificar o cedente econômico e jurídico.</a:t>
            </a:r>
          </a:p>
          <a:p>
            <a:r>
              <a:t>CNPJ 54810968000102 · Originador/endossante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Devedor · Titulares PF/PJ do cartão de compra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Devedor · Credenciadoras Cielo, Redecard, PagSeguro e Getnet; lista exclusiva do regulamento · data/raw/62838025000116/1058234_regulamento.pdf · ID Fundos.NET 1058234 · 10/12/2025 · regulamento · p. 5 · Definição Devedores · https://fnet.bmfbovespa.com.br/fnet/publico/visualizarDocumento?id=1058234 · Observação: Não substituir pela marca do cedente; contratante e emissor/credenciadora têm papéis diferentes.</a:t>
            </a:r>
          </a:p>
          <a:p>
            <a:r>
              <a:t>CNPJ 55070804000159 · Devedor · Banco IBM; pagamento dos CDB-V condicionado aos fluxos de leasing vinculados · Fundos.NET ID 667195 · 22/05/2024 · regulamento · p. 49-51 · data/raw/55070804000159/667195_regulamento.pdf · https://fnet.bmfbovespa.com.br/fnet/publico/exibirDocumento?id=667195 · Observação: Risco de fluxo dos arrendatários e de operacionalização/insolvência do banco; não converter em empréstimo consignado.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Devedor · Pessoa física; idade máxima de 65 anos na aquisição · Fundos.NET ID 792021 · 27/11/2024 · regulamento · p. 18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Devedor · Banco IBM; pagamento dos CDB-V condicionado aos fluxos de leasing vinculados · Fundos.NET ID 634437 · 05/04/2024 · regulamento · p. 46-48 · data/raw/54559035000194/634437_regulamento.pdf · https://fnet.bmfbovespa.com.br/fnet/publico/exibirDocumento?id=634437 · Observação: Risco de fluxo dos arrendatários e de operacionalização/insolvência do banco; não converter em empréstimo consignado.</a:t>
            </a:r>
          </a:p>
          <a:p>
            <a:r>
              <a:t>CNPJ 50988212000105 · Devedor · Titulares de cartão vinculados às operações comerciais/financiamentos · Fundos.NET ID 1013021 · 14/11/2024 · regulamento · p. 23-25, 33-34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Devedor · Pessoa física; consignado/cartão INSS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Devedor · Pessoas físicas devedoras das CCBs, beneficiárias do INSS · data/raw/63546406000194/1130481_regulamento.pdf · ID Fundos.NET 1130481 · 05/03/2026 · regulamento · p. 131/154 · 6.1(A)(VIII); definição Devedores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Devedor · Emissores dos instrumentos de pagamento; grupos de elegibilidade previstos no anexo · Fundos.NET ID 966441 | 24/07/2025 | Regulamento | p. 28, Anexo I, origem dos créditos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Devedor · Emissores dos instrumentos de pagamento; grupos de elegibilidade previstos no anexo · Fundos.NET ID 1337406 | 01/10/2026 | Regulamento | p. 28, Anexo I, origem dos créditos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Devedor · Pessoa física titular de conta FGTS · Fundos.NET ID 1025473 · 03/04/2025 · Regulamento · p. 14, 22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Devedor · Alunos ou representantes, com devedor solidário nos contratos sujeitos à condição contratual. · Fundos.NET ID 1061833; referência 19/11/2025; data/raw/26749095000134/1061833_regulamento_cache_integral.txt; Direitos Creditórios e Condições de Cessão;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Devedor · Pessoa física titular de conta FGTS; idade mínima 18 anos · Fundos.NET ID 937760 · 22/04/2025 · Regulamento · p. 27-28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Garantia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Garantia · Aplicações sem garantia de prestadores, terceiros, seguros ou FGC · data/raw/62838025000116/1058234_regulamento.pdf · ID Fundos.NET 1058234 · 10/12/2025 · regulamento · p. 64–65 · Fatores de risco 1.11 · https://fnet.bmfbovespa.com.br/fnet/publico/visualizarDocumento?id=1058234 · Observação: Cláusula descreve ausência de garantia das aplicações; não invalida acessórios de crédito previstos em cada cessão.</a:t>
            </a:r>
          </a:p>
          <a:p>
            <a:r>
              <a:t>CNPJ 55070804000159 · Garantia · Vinculação contratual a operações de leasing; sem garantia do FGC · Fundos.NET ID 667195 · 22/05/2024 · regulamento · p. 49-51, 65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35868110000154 · Garantia · Alienação fiduciária do veículo registrada no SNG em nome do cedente · Fundos.NET ID 792021 · 27/11/2024 · regulamento · p. 18 · data/raw/35868110000154/792021_regulamento.pdf · https://fnet.bmfbovespa.com.br/fnet/publico/exibirDocumento?id=792021 · Observação: Garantia não transferida formalmente ao fundo; execução/repasse dependem do contrato de cessão.</a:t>
            </a:r>
          </a:p>
          <a:p>
            <a:r>
              <a:t>CNPJ 54559035000194 · Garantia · Vinculação contratual a operações de leasing; sem garantia do FGC · Fundos.NET ID 634437 · 05/04/2024 · regulamento · p. 46-48, 62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Garantia · Seguro de crédito distingue limites; cobertura efetiva exige apólice/contrato · Fundos.NET ID 1013021 · 14/11/2024 · regulamento · p. 33-35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Garantia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Garantia · Consignação autorizada e margem averbada; validação do lastro das CCBs · data/raw/63546406000194/1130481_regulamento.pdf · ID Fundos.NET 1130481 · 05/03/2026 · regulamento · p. 133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Garantia · Sem garantia do administrador, gestor, cedente, custodiante, seguro ou FGC · Fundos.NET ID 966441 | 24/07/2025 | Regulamento | p. 31, Anexo I, ausência de garantias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Garantia · Sem garantia do administrador, gestor, cedente, custodiante, seguro ou FGC · Fundos.NET ID 1337406 | 01/10/2026 | Regulamento | p. 31, Anexo I, ausência de garantias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Garantia · Cessão fiduciária do saque-aniversário, parcial ou total · Fundos.NET ID 1025473 · 03/04/2025 · Regulamento · p. 12, 22 · data/raw/51957370000152/1025473_documentary_review.pdf · https://fnet.bmfbovespa.com.br/fnet/publico/exibirDocumento?id=1025473 · Observação: Não equivale a garantia integral da Caixa ou do FGTS.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Garantia · Garantias contratuais e devedores solidários; garantia real uniforme não demonstrada. · Fundos.NET ID 1061833; referência 19/11/2025; data/raw/26749095000134/1061833_regulamento_cache_integral.txt; Direitos Creditórios; Condições de Cessão; https://fnet.bmfbovespa.com.br/fnet/publico/exibirDocumento?id=1061833&amp;cvm=true · Observação: O valor de recuperação depende do contrato e da cobrança; não presumir alienação fiduciária de bens.</a:t>
            </a:r>
          </a:p>
          <a:p>
            <a:r>
              <a:t>CNPJ 54810968000102 · Garantia · Cessão fiduciária do saque-aniversário; bloqueio na conta FGTS · Fundos.NET ID 937760 · 22/04/2025 · Regulamento · p. 25-26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Elegibilidade · Créditos não vencidos; prazo médio ≤ 80 dias; limites de prazo e refinanciamento · data/raw/08692888000182/772020_regulamento.pdf · ID Fundos.NET 772020 · 05/11/2024 · regulamento · p. 35–37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Elegibilidade · URs e contratos/termos de cessão; lastro integral validado antes da aquisição · data/raw/62838025000116/1058234_regulamento.pdf · ID Fundos.NET 1058234 · 10/12/2025 · regulamento · p. 27–29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Elegibilidade · Emissão Banco IBM; reais; formalização integral; sem ônus, atraso prévio ou repactuação · Fundos.NET ID 667195 · 22/05/2024 · regulamento · p. 63-64 · data/raw/55070804000159/667195_regulamento.pdf · https://fnet.bmfbovespa.com.br/fnet/publico/exibirDocumento?id=667195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Elegibilidade · LTV &lt; 70%; ≥2 parcelas pagas; veículo ≤10 anos; sem atraso; taxa Price ≥1,10% a.m. · Fundos.NET ID 792021 · 27/11/2024 · regulamento · p. 18 · data/raw/35868110000154/792021_regulamento.pdf · https://fnet.bmfbovespa.com.br/fnet/publico/exibirDocumento?id=792021 · Observação: LTV = VP/saldo da CCB dividido pelo valor Molicar do veículo; 1,10% é taxa do crédito, não remuneração de cotas. CCB integral, sem carência.</a:t>
            </a:r>
          </a:p>
          <a:p>
            <a:r>
              <a:t>CNPJ 54559035000194 · Elegibilidade · Emissão Banco IBM; reais; formalização integral; sem ônus, atraso prévio ou repactuação · Fundos.NET ID 634437 · 05/04/2024 · regulamento · p. 60-61 · data/raw/54559035000194/634437_regulamento.pdf · https://fnet.bmfbovespa.com.br/fnet/publico/exibirDocumento?id=634437 · Observação: Lista integral e vínculo do CDB-V dependem do Contrato CDB. Redação de elegibilidade usa termo CCB em passagens do anexo, divergente da definição de CDB-V; não altera o ativo por inferência.</a:t>
            </a:r>
          </a:p>
          <a:p>
            <a:r>
              <a:t>CNPJ 50988212000105 · Elegibilidade · Direitos adimplentes; vencimento ≤ 180 dias; prazo médio ponderado ≤ 90 dias · Fundos.NET ID 1013021 · 14/11/2024 · regulamento · p. 33-35 · data/raw/50988212000105/1013021_regulamento.pdf · https://fnet.bmfbovespa.com.br/fnet/publico/exibirDocumento?id=1013021 · Observação: Verificação por titular e direito; cessão parcial de um direito não admitida, respeitadas operações comerciais individualizadas.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Elegibilidade · Saldo/devedor ≤ R$ 120 mil; parcela média ≥ R$ 200; idade média ≤ 68; idade + prazo ≤ 80, com exceções de seguro · data/raw/62588266000154/1002580_regulamento.pdf · ID Fundos.NET 1002580 · 29/09/2025 · regulamento · p. 31–32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Elegibilidade · Sem inadimplência; idade média ≤ 70 anos; idade + prazo ≤ 79 anos; saldo por devedor ≤ R$ 150 mil · data/raw/63546406000194/1130481_regulamento.pdf · ID Fundos.NET 1130481 · 05/03/2026 · regulamento · p. 133 e 139–140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Elegibilidade · Transações em moeda nacional; devedores adimplentes; validação na aquisição · Fundos.NET ID 966441 | 24/07/2025 | Regulamento | p. 31, Anexo I, critérios de elegibilidade | data/raw/42085830000109/966441_review_20261007.pdf | https://fnet.bmfbovespa.com.br/fnet/publico/visualizarDocumento?id=966441 · Observação: Consultar critérios integrais e condições de cessão; o IME público não comprova elegibilidade individual.</a:t>
            </a:r>
          </a:p>
          <a:p>
            <a:r>
              <a:t>CNPJ 42085816000105 · Elegibilidade · Transações em moeda nacional; devedores adimplentes; validação na aquisição · Fundos.NET ID 1337406 | 01/10/2026 | Regulamento | p. 32, Anexo I, critérios de elegibilidade | data/raw/42085816000105/1337406_review_20261007.pdf | https://fnet.bmfbovespa.com.br/fnet/publico/visualizarDocumento?id=1337406 · Observação: Consultar critérios integrais e condições de cessão; o IME público não comprova elegibilidade individual.</a:t>
            </a:r>
          </a:p>
          <a:p>
            <a:r>
              <a:t>CNPJ 51957370000152 · Elegibilidade · CCB prefixada e adimplente; vencimento até a série sênior mais longa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26749095000134 · Elegibilidade · Crédito vincendo e validação de contratos/lastro na cessão; regras especiais por etapa e espécie. · Fundos.NET ID 1061833; referência 19/11/2025; data/raw/26749095000134/1061833_regulamento_cache_integral.txt; Critérios de Elegibilidade e Condições de Cessão; https://fnet.bmfbovespa.com.br/fnet/publico/exibirDocumento?id=1061833&amp;cvm=true · Observação: Aquisição na cessão não garante manutenção posterior dos critérios; renegociações e substituições dependem de regras específicas.</a:t>
            </a:r>
          </a:p>
          <a:p>
            <a:r>
              <a:t>CNPJ 54810968000102 · Elegibilidade · CCB adimplente; prazo ≤ 120 meses e até vencimento da sênior mais longa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Concentração · Titular sem seguro ≤ 1,25% PL; com seguro ≤ 2% após janela inicial; estabelecimento ≤ 40% após 18 meses · data/raw/08692888000182/772020_regulamento.pdf · ID Fundos.NET 772020 · 05/11/2024 · regulamento · p.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Concentração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Concentração · Exposição vinculada ao Banco IBM e aos contratos indicados; limite por arrendatário não localizado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Concentração · CCB ≤R$150 mil; por CPF ≤R$200 mil; veículos pesados/vans/caminhões ≤10% PL · Fundos.NET ID 792021 · 27/11/2024 · regulamento · p. 16-18 · data/raw/35868110000154/792021_regulamento.pdf · https://fnet.bmfbovespa.com.br/fnet/publico/exibirDocumento?id=792021 · Observação: Autos podem chegar a 100% do PL. Não confundir com Auto BV I–IV ou aplicar ticket de R$175 mil de outro CNPJ.</a:t>
            </a:r>
          </a:p>
          <a:p>
            <a:r>
              <a:t>CNPJ 54559035000194 · Concentração · Exposição vinculada ao Banco IBM e aos contratos indicados; limite por arrendatário não localizado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Concentração · Titular/grupo sem seguro: maior de 1,25% PL e R$ 2,5 mi; com seguro: maior de 4%/2% PL e R$ 4 mi · Fundos.NET ID 1013021 · 14/11/2024 · regulamento · p. 34-35 · data/raw/50988212000105/1013021_regulamento.pdf · https://fnet.bmfbovespa.com.br/fnet/publico/exibirDocumento?id=1013021 · Observação: Seguro: 4% do PL nos primeiros 3 meses, 2% depois; estabelecimento: maior de 50% PL/R$100mi até 18 meses, 40% PL/R$80mi depois. Não inferir limites por IME agregado.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· Homens ≤ 60%; idade &gt;61 ≤70%, &gt;66 ≤50%, &gt;71 ≤12,5%; exclusões de seguros conforme cláusula · data/raw/62588266000154/1002580_regulamento.pdf · ID Fundos.NET 1002580 · 29/09/2025 · regulamento · p. 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Concentração · Faixas etárias, benefício 32 e limites individuais; base valor presente de créditos não inadimplidos · data/raw/63546406000194/1130481_regulamento.pdf · ID Fundos.NET 1130481 · 05/03/2026 · regulamento · p. 139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Concentração · Limites por emissor/grupo e exceção para IF acima de 20% do PL, salvo apêndice; observar critérios adicionais · Fundos.NET ID 966441 | 24/07/2025 | Regulamento | p. 30, AnexoIlimites/elegibilidade | data/raw/42085830000109/966441_review_20261007.pdf | https://fnet.bmfbovespa.com.br/fnet/publico/visualizarDocumento?id=966441 · Observação: A dispensa de teto 20% para IF não elimina limites individuais/específicos de cada fundo.</a:t>
            </a:r>
          </a:p>
          <a:p>
            <a:r>
              <a:t>CNPJ 42085816000105 · Concentração · Limites por emissor/grupo e exceção para IF acima de 20% do PL, salvo apêndice; observar critérios adicionais · Fundos.NET ID 1337406 | 01/10/2026 | Regulamento | p. 30, AnexoIlimites/elegibilidade | data/raw/42085816000105/1337406_review_20261007.pdf | https://fnet.bmfbovespa.com.br/fnet/publico/visualizarDocumento?id=1337406 · Observação: A dispensa de teto 20% para IF não elimina limites individuais/específicos de cada fundo.</a:t>
            </a:r>
          </a:p>
          <a:p>
            <a:r>
              <a:t>CNPJ 51957370000152 · Concentração · Saldo por devedor ≤ R$ 120 mil na aquisição · Fundos.NET ID 1025473 · 03/04/2025 · Regulamento · p.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Concentração · Limites por devedor/coobrigado e tipo de crédito exigem consulta individual; IME agregado não valida concentração. · Fundos.NET ID 1061833; referência 19/11/2025; data/raw/26749095000134/1061833_regulamento_cache_integral.txt; política de investimento e composição/diversificação; https://fnet.bmfbovespa.com.br/fnet/publico/exibirDocumento?id=1061833&amp;cvm=true · Observação: Tetos específicos não transcritos sem reconciliar anexos; lacuna desta revisão.</a:t>
            </a:r>
          </a:p>
          <a:p>
            <a:r>
              <a:t>CNPJ 54810968000102 · Concentração · Saldo por devedor ≤ R$ 120 mil · Fundos.NET ID 937760 · 22/04/2025 · Regulamento · p. 27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Prazo dos recebíveis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Prazo dos recebíveis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Prazo dos recebíveis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Prazo dos recebíveis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Prazo dos recebíveis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Prazo dos recebíveis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Prazo dos recebíveis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Prazo dos recebíveis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Prazo dos recebíveis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Prazo dos recebíveis · Mínimo 7 dias; máximo menor entre 365 dias e vencimento das cotas seniores · Fundos.NET ID 966441 | 24/07/2025 | Regulamento | p. 31, Anexo I, elegibilidade/prazo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Prazo dos recebíveis · Mínimo 7 dias; máximo menor entre 365 dias e vencimento das cotas seniores · Fundos.NET ID 1337406 | 01/10/2026 | Regulamento | p. 32, Anexo I, elegibilidade/prazo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Prazo dos recebíveis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Prazo dos recebíveis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Prazo dos recebíveis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Prazo dos recebíveis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Ativos vedados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Ativos vedados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Ativos vedados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Ativos vedados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Ativos vedados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Ativos vedados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Ativos vedados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Ativos vedados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Ativos vedados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Ativos vedados · Créditos de administrador, gestor e relacionados vedados · Fundos.NET ID 966441 | 24/07/2025 | Regulamento | p. 30, Anexo I, partes relacionadas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Ativos vedados · Créditos de administrador, gestor e relacionados vedados · Fundos.NET ID 1337406 | 01/10/2026 | Regulamento | p. 30, Anexo I, partes relacionadas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Ativos vedados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Ativos vedados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Ativos vedados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Ativos vedados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Subordinação mínima · Razões sênior ≤ 80%; sênior+MZ I ≤ 90%; sênior+MZ I+II ≤ 95,5%; bases líquidas de Outros Ativos · data/raw/08692888000182/772020_regulamento.pdf · ID Fundos.NET 772020 · 05/11/2024 · regulamento · p. 30 e 59 · https://fnet.bmfbovespa.com.br/fnet/publico/visualizarDocumento?id=772020 · Observação: 95,5% é limite de razão de garantia mezanino II; não é reserva de caixa. Sub/PL isolado não replica o denominador.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Subordinação mínima · Júnior ≥ 10% PL; excepcionalmente 9% nos primeiros 30 dias · data/raw/62838025000116/1058234_regulamento.pdf · ID Fundos.NET 1058234 · 10/12/2025 · p. 39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Subordinação mínima · Subordinadas/PL ≥ 10%; PL/sênior ≥ 111,11% · Fundos.NET ID 667195 · 22/05/2024 · regulamento · p. 57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Subordinação mínima · Subordinadas/PL ≥25%, apuração diária · Fundos.NET ID 792021 · 27/11/2024 · regulamento · p. 48 · data/raw/35868110000154/792021_regulamento.pdf · https://fnet.bmfbovespa.com.br/fnet/publico/exibirDocumento?id=792021 · Observação: Cura e aporte facultativo do cedente nas cláusulas17.3–17.6; não presumir obrigação de aporte.</a:t>
            </a:r>
          </a:p>
          <a:p>
            <a:r>
              <a:t>CNPJ 54559035000194 · Subordinação mínima · Subordinadas/PL ≥ 10%; PL/sênior ≥ 111,11% · Fundos.NET ID 634437 · 05/04/2024 · regulamento · p. 54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Subordinação mínima · (Sênior − outros ativos)/(PL − outros ativos) ≤95,5% numérico; extenso divergente · Fundos.NET ID 1013021 · 14/11/2024 · regulamento · p. 29, 62 · data/raw/50988212000105/1013021_regulamento.pdf · https://fnet.bmfbovespa.com.br/fnet/publico/exibirDocumento?id=1013021 · Observação: Documento registra 95,5% numérico e noventa e cinco inteiros e cinco centésimos por extenso (95,05%); confirmar com administrador. Razão ajusta outros ativos e não equivale diretamente à subordinada/PL.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mínima · Sênior ≥ 15%; mezanino e mezanino ajustado ≥ 5% · data/raw/62588266000154/1002580_regulamento.pdf · ID Fundos.NET 1002580 · 29/09/2025 · regulamento · p. 26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Subordinação mínima · Júnior inicial ≥1,50%, meta ≥2,50%; MZ A: B+C+júnior ≥5%. Exclusão de MTM expressa para A/júnior · data/raw/63546406000194/1130481_regulamento.pdf · ID Fundos.NET 1130481 · 05/03/2026 · regulamento · p. 141–142 · https://fnet.bmfbovespa.com.br/fnet/publico/visualizarDocumento?id=1130481 · Observação: MZ B/C têm camadas próprias. A proteção MZ C de 3% e os pisos júnior de 1,50%/2,50% requerem conciliação das condições contratuais.</a:t>
            </a:r>
          </a:p>
          <a:p>
            <a:r>
              <a:t>CNPJ 42085830000109 · Subordinação mínima · ≥ 3%: subordinadas / PL, apuração diária · Fundos.NET ID 966441 | 24/07/2025 | Regulamento | p. 99, Suplemento definições, índice de subordinação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Subordinação mínima · ≥ 4,8%: subordinadas / PL, apuração diária · Fundos.NET ID 1337406 | 01/10/2026 | Regulamento | p. 98, Suplemento definições, índice de subordinação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Subordinação mínima · Mezanino + júnior/PL ≥ 10%; júnior/PL ≥ 5% · Fundos.NET ID 1025473 · 03/04/2025 · Regulamento · p. 38 · data/raw/51957370000152/1025473_documentary_review.pdf · https://fnet.bmfbovespa.com.br/fnet/publico/exibirDocumento?id=1025473 · Observação: Há inconsistência no glossário de razão de garantia; os pisos explícitos das cláusulas 9.11 e 9.12 foram usados.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Subordinação mínima · Relação de proteção contratual exige cálculo de ativos/obrigações e condições por emissão; percentual uniforme não confirmado. · Fundos.NET ID 1061833; referência 19/11/2025; data/raw/26749095000134/1061833_regulamento_cache_integral.txt; Relação Mínima / Índice de Subordinação / condições de integralização; https://fnet.bmfbovespa.com.br/fnet/publico/exibirDocumento?id=1061833&amp;cvm=true · Observação: Retenção de 50% das cotas júnior pela gestora, quando prevista, é alinhamento de interesses, com denominador distinto de PL.</a:t>
            </a:r>
          </a:p>
          <a:p>
            <a:r>
              <a:t>CNPJ 54810968000102 · Subordinação mínima · Mezanino + júnior/PL ≥ 10%; júnior/PL ≥ 5%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Gatilhos de avaliação/liquidação · Rebaixamento de rating &gt; 2 subníveis; insolvência de estabelecimento com ≥ 15% DC; demais eventos contratuais · data/raw/08692888000182/772020_regulamento.pdf · ID Fundos.NET 772020 · 05/11/2024 · p. 77–79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62838025000116 · Gatilhos de avaliação/liquidação · DC/PL &lt; 50% por &gt; 15 dias após 180 dias; insolvência, trocas de prestadores e descumprimentos sem cura · data/raw/62838025000116/1058234_regulamento.pdf · ID Fundos.NET 1058234 · 10/12/2025 · p. 42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Gatilhos de avaliação/liquidação · Relação mínima sem cura em 12 DU; alocação em 20 DU; reserva em 10 DU; falha de pagamentos · Fundos.NET ID 667195 · 22/05/2024 · regulamento · p. 91-93 · data/raw/55070804000159/667195_regulamento.pdf · https://fnet.bmfbovespa.com.br/fnet/publico/exibirDocumento?id=667195 · Observação: Eventos/documentos do Banco IBM e dos prestadores exigem controle manual; consultar hipóteses de liquidação e prioridades contratuais.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35868110000154 · Gatilhos de avaliação/liquidação · IP90+ &gt;2%; resolução de cessões &gt;3% PL em 6 meses; eventos de prestadores · Fundos.NET ID 792021 · 27/11/2024 · regulamento · p. 58 · data/raw/35868110000154/792021_regulamento.pdf · https://fnet.bmfbovespa.com.br/fnet/publico/exibirDocumento?id=792021 · Observação: Índice jurídico de perdas não é automaticamente Over90/Crédito do IME. Requer composição, histórico e denominador contratual.</a:t>
            </a:r>
          </a:p>
          <a:p>
            <a:r>
              <a:t>CNPJ 54559035000194 · Gatilhos de avaliação/liquidação · Relação mínima sem cura em 12 DU; alocação em 20 DU; reserva em 10 DU; falha de pagamentos · Fundos.NET ID 634437 · 05/04/2024 · regulamento · p. 85-87 · data/raw/54559035000194/634437_regulamento.pdf · https://fnet.bmfbovespa.com.br/fnet/publico/exibirDocumento?id=634437 · Observação: Eventos/documentos do Banco IBM e dos prestadores exigem controle manual; consultar hipóteses de liquidação e prioridades contratuais.</a:t>
            </a:r>
          </a:p>
          <a:p>
            <a:r>
              <a:t>CNPJ 50988212000105 · Gatilhos de avaliação/liquidação · DCV &gt; 15%; DCV30 &gt; 10%; DCV120 &gt; 6%; DCV180 &gt; 7% em 2 meses seguidos ou 3 alternados · Fundos.NET ID 1013021 · 14/11/2024 · regulamento · p. 23-24, 76 · data/raw/50988212000105/1013021_regulamento.pdf · https://fnet.bmfbovespa.com.br/fnet/publico/exibirDocumento?id=1013021 · Observação: Janelas jurídicas: &lt;30d, 30–&lt;120d, 120–&lt;180d e ≥180d. Denominadores dos três primeiros excluem operações provisionadas; DCV180 usa histórico adquirido e cedido. Alternados na janela de 180 dias. Reserva/alocação/garantia: cura 5 DU.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Gatilhos de avaliação/liquidação · Pré-pagamento &gt; 20%; Over90: 3,5% numeral e 3,05% por extenso; persistência 2 meses consecutivos ou 4 alternados · data/raw/62588266000154/1002580_regulamento.pdf · ID Fundos.NET 1002580 · 29/09/2025 · p. 65–66 · https://fnet.bmfbovespa.com.br/fnet/publico/visualizarDocumento?id=1002580 · Observação: Texto e página cotejados com a versão integral. Divergências requerem esclarecimento antes de alertas automáticos.</a:t>
            </a:r>
          </a:p>
          <a:p>
            <a:r>
              <a:t>CNPJ 63546406000194 · Gatilhos de avaliação/liquidação · Patamares cobertura 1,00/0,98; perdas desalavancagem 5% / realavancagem 4%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Gatilhos de avaliação/liquidação · Falhas de pagamento, reservas, subordinação e prestadores; prazos de cura no anexo; Eventos contratuais de insolvência, cessão e prestadores; observar hipóteses e cura · Fundos.NET ID 966441 | 24/07/2025 | Regulamento | p. 64, Anexo I, eventos de avaliação | data/raw/42085830000109/966441_review_20261007.pdf | https://fnet.bmfbovespa.com.br/fnet/publico/visualizarDocumento?id=966441 |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Gatilhos de avaliação/liquidação · Falhas de pagamento, reservas, subordinação e prestadores; prazos de cura no anexo; Eventos contratuais de insolvência, cessão e prestadores; observar hipóteses e cura · Fundos.NET ID 1337406 | 01/10/2026 | Regulamento | p. 63, Anexo I, eventos de avaliação | data/raw/42085816000105/1337406_review_20261007.pdf | https://fnet.bmfbovespa.com.br/fnet/publico/visualizarDocumento?id=1337406 |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Gatilhos de avaliação/liquidação · Arrecadação &lt; 93% em 2 datas/12 meses; atraso &gt; 10% em uma data · Fundos.NET ID 1025473 · 03/04/2025 · Regulamento · p. 15, 41 · data/raw/51957370000152/1025473_documentary_review.pdf · https://fnet.bmfbovespa.com.br/fnet/publico/exibirDocumento?id=1025473 · Observação: Atraso usa todas as parcelas abertas das CCBs com atraso/face de todas as parcelas adquiridas; não é Over público.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26749095000134 · Gatilhos de avaliação/liquidação · Atrasos30/60/90/180: 12%/10%/8,5%/6%; recorrência em 2 datas consecutivas, 3/6 meses ou 4/12. · Fundos.NET ID 1061833; referência 19/11/2025; data/raw/26749095000134/1061833_regulamento_cache_integral.txt; 13.1(b)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Gatilhos de avaliação/liquidação · Arrecadação &lt; 93% em 2 datas/12 meses; atraso &gt; 10%; PL &lt; R$ 1 mi por 3 meses · Fundos.NET ID 937760 · 22/04/2025 · Regulamento · p. 48-50 · data/raw/54810968000102/937760_documentary_review.pdf · https://fnet.bmfbovespa.com.br/fnet/publico/exibirDocumento?id=937760 · Observação: Arrecadação/atraso contratuais não replicados pelo IME agregado.</a:t>
            </a:r>
          </a:p>
          <a:p>
            <a:r>
              <a:t>CNPJ 08692888000182 · Reserva de caixa · Caixa: encargos dos próximos 3 meses; liquidez: 3% dos DC · data/raw/08692888000182/772020_regulamento.pdf · ID Fundos.NET 772020 · 05/11/2024 · p. 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caixa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Reserva de caixa · R$ 9.893.130,23 para custos e despesas estimadas · Fundos.NET ID 667195 · 22/05/2024 · regulamento · p. 90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Reserva de caixa · R$2,5 mi reajustados por IPCA; reserva de pagamento 30% D−30 e 100% D−15 · Fundos.NET ID 792021 · 27/11/2024 · regulamento · p. 47 · data/raw/35868110000154/792021_regulamento.pdf · https://fnet.bmfbovespa.com.br/fnet/publico/exibirDocumento?id=792021 · Observação: Reserva de pagamento ligada à próxima amortização sênior; disponibilidades/PL não reproduzem o requisito.</a:t>
            </a:r>
          </a:p>
          <a:p>
            <a:r>
              <a:t>CNPJ 54559035000194 · Reserva de caixa · R$ 4.000.031 para custos e despesas estimadas · Fundos.NET ID 634437 · 05/04/2024 · regulamento · p. 84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Reserva de caixa · 3 meses de encargos estimados + reserva de liquidez de 3% do VP dos direitos · Fundos.NET ID 1013021 · 14/11/2024 · regulamento · p. 75 · data/raw/50988212000105/1013021_regulamento.pdf · https://fnet.bmfbovespa.com.br/fnet/publico/exibirDocumento?id=1013021 · Observação: O denominador da reserva de liquidez é valor presente dos direitos creditórios, não PL.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caixa · Despesas: 3 meses; remuneração sênior: acumular D-30; derivativo: posição líquida devedora · data/raw/62588266000154/1002580_regulamento.pdf · ID Fundos.NET 1002580 · 29/09/2025 · regulamento · p. 71–72 · 19.1–19.4 · https://fnet.bmfbovespa.com.br/fnet/publico/visualizarDocumento?id=1002580 · Observação: Reserva de derivativo na janela de 6 meses anteriores ao vencimento sênior ou na amortização sequencial; excluída dos testes de subordinação.</a:t>
            </a:r>
          </a:p>
          <a:p>
            <a:r>
              <a:t>CNPJ 63546406000194 · Reserva de caixa · Liquidez ≥ 2,50% PL; pode cair a 2% com proteção MZ C de 2,50%; reserva MTM aplicável · data/raw/63546406000194/1130481_regulamento.pdf · ID Fundos.NET 1130481 · 05/03/2026 · regulamento · p. 144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Reserva de caixa · Próxima amortização: 30 dias de antecedência; próxima remuneração: 15 dias · Fundos.NET ID 966441 | 24/07/2025 | Regulamento | p. 102, Suplemento definições, reserva de caixa | data/raw/42085830000109/966441_review_20261007.pdf | https://fnet.bmfbovespa.com.br/fnet/publico/visualizarDocumento?id=966441 · Observação: Depende dos apêndices e do cronograma; disponibilidades IME isoladas não comprovam cobertura.</a:t>
            </a:r>
          </a:p>
          <a:p>
            <a:r>
              <a:t>CNPJ 42085816000105 · Reserva de caixa · Próxima amortização: 30 dias de antecedência; próxima remuneração: 15 dias · Fundos.NET ID 1337406 | 01/10/2026 | Regulamento | p. 101, Suplemento definições, reserva de caixa | data/raw/42085816000105/1337406_review_20261007.pdf | https://fnet.bmfbovespa.com.br/fnet/publico/visualizarDocumento?id=1337406 · Observação: Depende dos apêndices e do cronograma; disponibilidades IME isoladas não comprovam cobertura.</a:t>
            </a:r>
          </a:p>
          <a:p>
            <a:r>
              <a:t>CNPJ 51957370000152 · Reserva de caixa · 3 meses de despesas + liquidez de 1% do PL, limitada a R$ 5 mi · Fundos.NET ID 1025473 · 03/04/2025 · Regulamento · p. 43-44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Reserva de caixa · Despesas de 1 mês; 100% da próxima amortização até 5 DU antes; maior entre despesas+amortização e fluxo futuro. · Fundos.NET ID 1061833; referência 19/11/2025; data/raw/26749095000134/1061833_regulamento_cache_integral.txt; 8.6–8.9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Reserva de caixa · 3 meses de despesas + liquidez 2% do PL, limitada a R$ 15 mi · Fundos.NET ID 937760 · 22/04/2025 · Regulamento · p. 51-52 · data/raw/54810968000102/937760_documentary_review.pdf · https://fnet.bmfbovespa.com.br/fnet/publico/exibirDocumento?id=937760 · Observação: Liquidez deve ser constituída nas três primeiras arrecadações, mínimo R$ 5 mi por mês até o teto.</a:t>
            </a:r>
          </a:p>
          <a:p>
            <a:r>
              <a:t>CNPJ 08692888000182 · Derivativos/hedge · Operações em derivativos expressamente vedadas · data/raw/08692888000182/772020_regulamento.pdf · ID Fundos.NET 772020 · 05/11/2024 · p. 34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Derivativos/hedge · Somente proteção da carteira; exposição limitada ao PL · data/raw/62838025000116/1058234_regulamento.pdf · ID Fundos.NET 1058234 · 10/12/2025 · regulamento · p. 26 e 62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Derivativos/hedge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Derivativos/hedge · Operações com derivativos vedadas · Fundos.NET ID 792021 · 27/11/2024 · regulamento · p. 16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Derivativos/hedge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Derivativos/hedge · Operações com derivativos vedadas · Fundos.NET ID 1013021 · 14/11/2024 · regulamento · p. 32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Derivativos/hedge · Notional inicial 70% DC; recalibrar em 45 dias se &gt;100% ou &lt;60%; contraparte AAA; cura rating em 60 dias · data/raw/62588266000154/1002580_regulamento.pdf · ID Fundos.NET 1002580 · 29/09/2025 · regulamento · p. 138 · https://fnet.bmfbovespa.com.br/fnet/publico/visualizarDocumento?id=1002580 · Observação: Anexo permite equalização de indexadores, mas a redação inicial também veda troca de indexador. Exigir esclarecimento dessa tensão antes de automatizar finalidade.</a:t>
            </a:r>
          </a:p>
          <a:p>
            <a:r>
              <a:t>CNPJ 63546406000194 · Derivativos/hedge · Swap PRE → DI + spread; proteção à vista sem alavancagem; política de reavaliação quinzenal · data/raw/63546406000194/1130481_regulamento.pdf · ID Fundos.NET 1130481 · 05/03/2026 · regulamento · p. 140–141 e 173–177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Derivativos/hedge · Operações em derivativos vedadas · Fundos.NET ID 966441 | 24/07/2025 | Regulamento | p. 30, Anexo I, derivativos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Derivativos/hedge · Operações em derivativos vedadas · Fundos.NET ID 1337406 | 01/10/2026 | Regulamento | p. 30, Anexo I, derivativos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Derivativos/hedge · Proteção de posições à vista; sem descoberto/alavancagem; exposição ≤ 1x PL · Fundos.NET ID 1025473 · 03/04/2025 · Regulamento · p. 20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Derivativos/hedge · Finalidade de proteção de posições à vista; conformidade exige contrato/posição individual. · Fundos.NET ID 1061833; referência 19/11/2025; data/raw/26749095000134/1061833_regulamento_cache_integral.txt; política de investimento / riscos de instrumentos derivativos; https://fnet.bmfbovespa.com.br/fnet/publico/exibirDocumento?id=1061833&amp;cvm=true · Observação: Não inferir hedge contratado da permissão regulatória.</a:t>
            </a:r>
          </a:p>
          <a:p>
            <a:r>
              <a:t>CNPJ 54810968000102 · Derivativos/hedge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PDD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62838025000116 · PDD · Fluxos de DC do índice de liquidez são líquidos de PDD; limite percentual próprio não localizado · data/raw/62838025000116/1058234_regulamento.pdf · ID Fundos.NET 1058234 · 10/12/2025 · regulamento · p. 7 · Definição Índice de Liquidez · https://fnet.bmfbovespa.com.br/fnet/publico/visualizarDocumento?id=1058234 · Observação: Fórmula desconta fluxos a DI e inclui ponderação, despesas e MTM; PDD/crédito não replica o teste.</a:t>
            </a:r>
          </a:p>
          <a:p>
            <a:r>
              <a:t>CNPJ 55070804000159 · PDD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PDD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PDD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PDD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62588266000154 · PDD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PDD · Cobertura usa DC a valor presente líquido de PDD; provisão conforme manual da administração · data/raw/63546406000194/1130481_regulamento.pdf · ID Fundos.NET 1130481 · 05/03/2026 · regulamento · p. 38/119 · 7.2.2(i); 2.1(b) · https://fnet.bmfbovespa.com.br/fnet/publico/visualizarDocumento?id=1130481 · Observação: Sem limite de PDD/crédito inferido; provisão é componente de cálculo, não piso de cobertura autônomo.</a:t>
            </a:r>
          </a:p>
          <a:p>
            <a:r>
              <a:t>CNPJ 42085830000109 · PDD · Gatilho contratual específico de PDD não localizado; usar PDD/crédito como indicador agregado · Fundos.NET ID 966441 | 24/07/2025 | Regulamento | p. 1, Anexo e avaliação metodológica da revisão | data/raw/42085830000109/966441_review_20261007.pdf | https://fnet.bmfbovespa.com.br/fnet/publico/visualizarDocumento?id=966441 · Observação: Sem limite automático de PDD inferido; regra contratual deve ser conciliada separadamente.</a:t>
            </a:r>
          </a:p>
          <a:p>
            <a:r>
              <a:t>CNPJ 42085816000105 · PDD · Gatilho contratual específico de PDD não localizado; usar PDD/crédito como indicador agregado · Fundos.NET ID 1337406 | 01/10/2026 | Regulamento | p. 2, Anexo e avaliação metodológica da revisão | data/raw/42085816000105/1337406_review_20261007.pdf | https://fnet.bmfbovespa.com.br/fnet/publico/visualizarDocumento?id=1337406 · Observação: Sem limite automático de PDD inferido; regra contratual deve ser conciliada separadamente.</a:t>
            </a:r>
          </a:p>
          <a:p>
            <a:r>
              <a:t>CNPJ 51957370000152 · PDD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PDD · Renegociados mantêm provisionamento de inadimplência; exceção para atraso &lt;90 dias e fluxo sem novo inadimplemento. · Fundos.NET ID 1061833; referência 19/11/2025; data/raw/26749095000134/1061833_regulamento_cache_integral.txt; metodologia de avaliação dos ativos / provisões; https://fnet.bmfbovespa.com.br/fnet/publico/exibirDocumento?id=1061833&amp;cvm=true · Observação: Não equivale a piso de PDD/PL; aging e PDD agregados são proxies parciais.</a:t>
            </a:r>
          </a:p>
          <a:p>
            <a:r>
              <a:t>CNPJ 54810968000102 · PDD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Subordinação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Subordinação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Subordinação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Subordinação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Eventos de avaliação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62838025000116 · Eventos de avaliação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Eventos de avaliação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Eventos de avaliação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Eventos de avaliação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Eventos de avaliação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Eventos de avaliação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Eventos de avaliação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Eventos de avaliação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Eventos de avaliação · Falhas de pagamento, reservas, subordinação e prestadores; prazos de cura no anexo · Fundos.NET ID 966441 | 24/07/2025 | Regulamento | p. 64, Anexo I, eventos de avaliação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Eventos de avaliação · Falhas de pagamento, reservas, subordinação e prestadores; prazos de cura no anexo · Fundos.NET ID 1337406 | 01/10/2026 | Regulamento | p. 63, Anexo I, eventos de avaliação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Eventos de avaliação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Eventos de avaliação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Eventos de avaliação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Eventos de avaliação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Liquidação antecipada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62838025000116 · Liquidação antecipada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Liquidação antecipada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Liquidação antecipada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Liquidação antecipada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Liquidação antecipada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Liquidação antecipada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Liquidação antecipada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Liquidação antecipada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Liquidação antecipada · Eventos contratuais de insolvência, cessão e prestadores; observar hipóteses e cura · Fundos.NET ID 966441 | 24/07/2025 | Regulamento | p. 44, Anexo I, eventos de liquidação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Liquidação antecipada · Eventos contratuais de insolvência, cessão e prestadores; observar hipóteses e cura · Fundos.NET ID 1337406 | 01/10/2026 | Regulamento | p. 44, Anexo I, eventos de liquidação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Liquidação antecipada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Liquidação antecipada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Liquidação antecipada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Liquidação antecipada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 de despesas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Reserva de despesas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 de despesas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 de despesas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 de despesas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 de despesas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 de despesas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 de despesas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 de despesas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 de despesas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Reserva de despesas · Despesas ordinárias estimadas dos 3 meses seguintes, incluindo administração e gestão · Fundos.NET ID 1337406 | 01/10/2026 | Regulamento | p. 52, Anexo I, encargos/reserva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Reserva de despesas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 de despesas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 de despesas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 de despesas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Cross default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62838025000116 · Cross default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Cross default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Cross default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Cross default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Cross default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Cross default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Cross default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Cross default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Cross default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Cross default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Cross default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Cross default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Cross default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Cross default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Índice de cobertura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62838025000116 · Índice de cobertura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Índice de cobertura · [(Sênior + subordinadas) × 0,8857]/sênior ≥ 1 · Fundos.NET ID 667195 · 22/05/2024 · regulamento · p. 69, 91, 137 · data/raw/55070804000159/667195_regulamento.pdf · https://fnet.bmfbovespa.com.br/fnet/publico/exibirDocumento?id=667195 · Observação: Fator ponderado distinto da relação de subordinação; respeitar fórmula e valor do suplemento.</a:t>
            </a:r>
          </a:p>
          <a:p>
            <a:r>
              <a:t>CNPJ 28169275000172 · Índice de cobertura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Índice de cobertura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Índice de cobertura · [(Sênior + subordinadas) × 0,8857]/sênior ≥ 1 · Fundos.NET ID 634437 · 05/04/2024 · regulamento · p. 66, 85, 126 · data/raw/54559035000194/634437_regulamento.pdf · https://fnet.bmfbovespa.com.br/fnet/publico/exibirDocumento?id=634437 · Observação: Fator ponderado distinto da relação de subordinação; respeitar fórmula e valor do suplemento.</a:t>
            </a:r>
          </a:p>
          <a:p>
            <a:r>
              <a:t>CNPJ 50988212000105 · Índice de cobertura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Índice de cobertura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Índice de cobertura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Índice de cobertura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Índice de cobertura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Índice de cobertura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Índice de cobertura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Índice de cobertura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Índice de cobertura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Excesso de spread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Excesso de spread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Excesso de spread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Excesso de spread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Excesso de spread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Excesso de spread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Excesso de spread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Excesso de spread · ≥ 2,50% a.a.; evento após 2 verificações seguidas ou 3 alternadas em 180 dias · Fundos.NET ID 1013021 · 14/11/2024 · regulamento · p. 62,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Excesso de spread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Excesso de spread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Excesso de spread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Excesso de spread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Excesso de spread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Excesso de spread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Excesso de spread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Excesso de spread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Excesso de spread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Pré-pagamento e inadimplência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Pré-pagamento e inadimplência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Pré-pagamento e inadimplência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Pré-pagamento e inadimplência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Pré-pagamento e inadimplência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Pré-pagamento e inadimplência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Pré-pagamento e inadimplência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Pré-pagamento e inadimplência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Pré-pagamento e inadimplência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Pré-pagamento e inadimplência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Pré-pagamento e inadimplência · Pré-pagamento &gt;35%; inadimplência &gt;5% em data de verificação: eventos adicionais · data/raw/63546406000194/1130481_regulamento.pdf · ID Fundos.NET 1130481 · 05/03/2026 · regulamento · p. 151 · 14.1(xiii)–(xiv) · https://fnet.bmfbovespa.com.br/fnet/publico/visualizarDocumento?id=1130481 · Observação: Índice de inadimplência possui definição própria na cláusula; requer valores/parcelas e denominador contratuais.</a:t>
            </a:r>
          </a:p>
          <a:p>
            <a:r>
              <a:t>CNPJ 42085830000109 · Pré-pagamento e inadimplência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Pré-pagamento e inadimplência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Pré-pagamento e inadimplência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Pré-pagamento e inadimplência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Pré-pagamento e inadimplência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Pré-pagamento e inadimplência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mezanino por camada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mezanino por camada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Subordinação mezanino por camada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mezanino por camada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mezanino por camada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mezanino por camada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mezanino por camada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mezanino por camada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Subordinação mezanino por camada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Subordinação mezanino por camada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mezanino por camada · MZ A protegida por B+C+júnior ≥5%; MZ B por C+júnior ≥5%; MZ C por júnior ≥3% · data/raw/63546406000194/1130481_regulamento.pdf · ID Fundos.NET 1130481 · 05/03/2026 · regulamento · p. 141–142 · 9.2 · https://fnet.bmfbovespa.com.br/fnet/publico/visualizarDocumento?id=1130481 · Observação: Anexo também indica júnior inicial1,50%/meta2,50%; avaliar compatibilidade de MZ C. Exclusão de MTM expressa para A/júnior; não expandir a todas as bases.</a:t>
            </a:r>
          </a:p>
          <a:p>
            <a:r>
              <a:t>CNPJ 42085830000109 · Subordinação mezanino por camada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Subordinação mezanino por camada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Subordinação mezanino por camada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mezanino por camada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mezanino por camada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mezanino por camada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 mínima · 67% a 100% do patrimônio em direitos creditórios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Alocação mínima · 50% PL; gestor busca 67% para enquadramento tributário · data/raw/62838025000116/1058234_regulamento.pdf · ID Fundos.NET 1058234 · 10/12/2025 · regulamento · p. 2 e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Alocação mínima · ≥ 50% do PL após 180 dias; percentual tributário com divergência numérico/extenso · Fundos.NET ID 667195 · 22/05/2024 · regulamento · p. 46, 65, 90 · data/raw/55070804000159/667195_regulamento.pdf · https://fnet.bmfbovespa.com.br/fnet/publico/exibirDocumento?id=667195 · Observação: A definição tributária registra 67% por número e 50% por extenso. Não harmonizar por hipótese; distinguir alocação contratual do objetivo fiscal.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35868110000154 · Alocação mínima · Direitos creditórios ≥50% do PL após 90 dias · Fundos.NET ID 792021 · 27/11/2024 · regulamento · p. 15 · data/raw/35868110000154/792021_regulamento.pdf · https://fnet.bmfbovespa.com.br/fnet/publico/exibirDocumento?id=792021 · Observação: Prazo pode ser prorrogado pela CVM por mais90dias em justificativa. Exigência tributária tratada separadamente no texto; não presume aprovação de prorrogação.</a:t>
            </a:r>
          </a:p>
          <a:p>
            <a:r>
              <a:t>CNPJ 54559035000194 · Alocação mínima · ≥ 50% do PL após 180 dias; percentual tributário com divergência numérico/extenso · Fundos.NET ID 634437 · 05/04/2024 · regulamento · p. 44, 62, 84 · data/raw/54559035000194/634437_regulamento.pdf · https://fnet.bmfbovespa.com.br/fnet/publico/exibirDocumento?id=634437 · Observação: A definição tributária registra 67% por número e 50% por extenso. Não harmonizar por hipótese; distinguir alocação contratual do objetivo fiscal.</a:t>
            </a:r>
          </a:p>
          <a:p>
            <a:r>
              <a:t>CNPJ 50988212000105 · Alocação mínima · Direitos creditórios entre 67% e 100% do PL · Fundos.NET ID 1013021 · 14/11/2024 · regulamento · p.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mínima · ≥ 67% PL em direitos creditórios · data/raw/62588266000154/1002580_regulamento.pdf · ID Fundos.NET 1002580 · 29/09/2025 · regulamento · p. 101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Alocação mínima · 50% PL regulatório; 67% PL para entidade de investimento · data/raw/63546406000194/1130481_regulamento.pdf · ID Fundos.NET 1130481 · 05/03/2026 · regulamento · p. 80 · Definições Alocações Mínimas · https://fnet.bmfbovespa.com.br/fnet/publico/visualizarDocumento?id=1130481 · Observação: Validar base de cálculo e enquadramento dos direitos elegíveis; não inferir que o teste está cumprido.</a:t>
            </a:r>
          </a:p>
          <a:p>
            <a:r>
              <a:t>CNPJ 42085830000109 · Alocação mínima · ≥ 50% do PL em direitos elegíveis, após 180 dias · Fundos.NET ID 966441 | 24/07/2025 | Regulamento | p. 30, Anexo I, alocação mínima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Alocação mínima · ≥ 50% do PL em direitos elegíveis, após 180 dias · Fundos.NET ID 1337406 | 01/10/2026 | Regulamento | p. 30, Anexo I, alocação mínima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Alocação mínima · 50% do PL regulatório; 67% para enquadramento tributário · Fundos.NET ID 1025473 · 03/04/2025 · Regulamento · p. 10, 19 · data/raw/51957370000152/1025473_documentary_review.pdf · https://fnet.bmfbovespa.com.br/fnet/publico/exibirDocumento?id=1025473 · Observação: Janela contratual inicial deve ser conciliada à data de primeira integralização.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Alocação mínima · Alocação Mínima contratual após prazo de enquadramento; piso exato não transcrito sem reconciliação das definições. · Fundos.NET ID 1061833; referência 19/11/2025; data/raw/26749095000134/1061833_regulamento_cache_integral.txt; 3.2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Alocação mínima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Pool/revolvência · Aquisição rotativa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Pool/revolvência · Reinvestimento permitido, observada ordem de pagamentos · data/raw/62838025000116/1058234_regulamento.pdf · ID Fundos.NET 1058234 · 10/12/2025 · regulamento · p. 25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Pool/revolvência · Não localizado no corpus acessível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Lacuna documental explícita; requer instrumento ou contrato aplicável.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Pool/revolvência · Aquisições permitidas; interrupção 30 dias antes do resgate da 1ª série sênior · Fundos.NET ID 792021 · 27/11/2024 · regulamento · p. 46-47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Pool/revolvência · Não localizado no corpus acessível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Lacuna documental explícita; requer instrumento ou contrato aplicável.</a:t>
            </a:r>
          </a:p>
          <a:p>
            <a:r>
              <a:t>CNPJ 50988212000105 · Pool/revolvência · Aquisições recorrentes pelo potencial de cessão e reenquadramento · Fundos.NET ID 1013021 · 14/11/2024 · regulamento · p. 31, 74-75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Pool/revolvência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Pool/revolvência · Aquisição até fim do primeiro mês completo de alocação; sem revolvência · data/raw/63546406000194/1130481_regulamento.pdf · ID Fundos.NET 1130481 · 05/03/2026 · regulamento · p. 140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Pool/revolvência · Revolvente; compras com recursos da carteira, observada a ordem de alocação · Fundos.NET ID 966441 | 24/07/2025 | Regulamento | p. 30, Anexo I, revolvência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Pool/revolvência · Revolvente; compras com recursos da carteira, observada a ordem de alocação · Fundos.NET ID 1337406 | 01/10/2026 | Regulamento | p. 30, Anexo I, revolvência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Pool/revolvência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Pool/revolvência · Novas cessões permitidas sob critérios/reservas; suspensas por eventos; fluxo longo de crédito estudantil. · Fundos.NET ID 1061833; referência 19/11/2025; data/raw/26749095000134/1061833_regulamento_cache_integral.txt; política de investimento e ordem de alocação;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Pool/revolvência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Duração/público-alvo · Classe com 30 anos, prorrogável; investidores profissionais · data/raw/08692888000182/772020_regulamento.pdf · ID Fundos.NET 772020 · 05/11/2024 · regulamento · p. 32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Duração/público-alvo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Duração/público-alvo · Classe fechada; profissionais; prazo originalmente de 27 meses · Fundos.NET ID 667195 · 22/05/2024 · regulamento · p. 60-61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Duração/público-alvo · Prazo indeterminado; investidores qualificados · Fundos.NET ID 792021 · 27/11/2024 · regulamento · p. 3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Duração/público-alvo · Classe fechada; profissionais; prazo de 37 meses · Fundos.NET ID 634437 · 05/04/2024 · regulamento · p. 57-58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Duração/público-alvo · Prazo de 30 anos; investidores profissionais · Fundos.NET ID 1013021 · 14/11/2024 · regulamento · p. 18, 31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Duração/público-alvo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Duração/público-alvo · Fundo indeterminado; investidores autorizados devem ser qualificados · data/raw/63546406000194/1130481_regulamento.pdf · ID Fundos.NET 1130481 · 05/03/2026 · regulamento · p. 2/154 · 1.1; definição Investidores Autorizados · https://fnet.bmfbovespa.com.br/fnet/publico/visualizarDocumento?id=1130481 · Observação: Oferta pública específica de 2026 é dirigida a profissionais; distinguir regra geral da classe e público da oferta.</a:t>
            </a:r>
          </a:p>
          <a:p>
            <a:r>
              <a:t>CNPJ 42085830000109 · Duração/público-alvo · Indeterminado para fundo/classe; séries conforme apêndices · Fundos.NET ID 966441 | 24/07/2025 | Regulamento | p. 27, Anexo I, prazo de duração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Duração/público-alvo · Indeterminado para fundo/classe; séries conforme apêndices · Fundos.NET ID 1337406 | 01/10/2026 | Regulamento | p. 27, Anexo I, prazo de duração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Duração/público-alvo · Fechado; indeterminado; investidores profissionais · Fundos.NET ID 1025473 · 03/04/2025 · Regulamento · p. 17-18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Duração/público-alvo · Classe fechada de prazo indeterminado; cotas/séries com prazo próprio; investidores autorizados. · Fundos.NET ID 1061833; referência 19/11/2025; data/raw/26749095000134/1061833_regulamento_cache_integral.txt; características da classe 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Duração/público-alvo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Cessão/recompra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Cessão/recompra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Cessão/recompra · CDB-V e dação em pagamento de créditos de leasing conforme Contrato CDB · Fundos.NET ID 667195 · 22/05/2024 · regulamento · p. 123, 49-51 · data/raw/55070804000159/667195_regulamento.pdf · https://fnet.bmfbovespa.com.br/fnet/publico/exibirDocumento?id=667195 · Observação: Contrato CDB integral não obtido; condições finais de recompra, substituição e indenização permanecem lacuna.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Cessão/recompra · Cessão de CCB integral; resolução/indenização remetidas ao contrato · Fundos.NET ID 792021 · 27/11/2024 · regulamento · p. 18, 58 · data/raw/35868110000154/792021_regulamento.pdf · https://fnet.bmfbovespa.com.br/fnet/publico/exibirDocumento?id=792021 · Observação: Contrato de cessão completo não acessível nesta leitura; manter motivo/preço privado como lacuna.</a:t>
            </a:r>
          </a:p>
          <a:p>
            <a:r>
              <a:t>CNPJ 54559035000194 · Cessão/recompra · CDB-V e dação em pagamento de créditos de leasing conforme Contrato CDB · Fundos.NET ID 634437 · 05/04/2024 · regulamento · p. 112, 46-48 · data/raw/54559035000194/634437_regulamento.pdf · https://fnet.bmfbovespa.com.br/fnet/publico/exibirDocumento?id=634437 · Observação: Contrato CDB integral não obtido; condições finais de recompra, substituição e indenização permanecem lacuna.</a:t>
            </a:r>
          </a:p>
          <a:p>
            <a:r>
              <a:t>CNPJ 50988212000105 · Cessão/recompra · Responsabilidade do cedente pela existência/formalização; regras completas no contrato de cessão · Fundos.NET ID 1013021 · 14/11/2024 · regulamento · p. 31, 57 · data/raw/50988212000105/1013021_regulamento.pdf · https://fnet.bmfbovespa.com.br/fnet/publico/exibirDocumento?id=1013021 · Observação: Contrato não obtido nesta leitura; não certificar todos os motivos e preços de recompra.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Cessão/recompra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Cessão/recompra · Termo eletrônico + registro; contrato prevê resolução da cessão com recompra pelo cedente · data/raw/63546406000194/1130481_regulamento.pdf · ID Fundos.NET 1130481 · 05/03/2026 · regulamento · p. 126–127 · 5.5/5.4.1 · https://fnet.bmfbovespa.com.br/fnet/publico/visualizarDocumento?id=1130481 · Observação: O rol completo de eventos de resolução depende do Contrato de Promessa de Cessão não localizado.</a:t>
            </a:r>
          </a:p>
          <a:p>
            <a:r>
              <a:t>CNPJ 42085830000109 · Cessão/recompra · Resolução por vício, inelegibilidade, chargeback/cancelamento não coberto; demais recompras conforme contrato · Fundos.NET ID 966441 | 24/07/2025 | Regulamento | p. 55, Anexo I, resolução/cessão/recompra | data/raw/42085830000109/966441_review_20261007.pdf | https://fnet.bmfbovespa.com.br/fnet/publico/visualizarDocumento?id=966441 · Observação: Recompras declaradas no IME não identificam motivo jurídico nem indenização efetiva.</a:t>
            </a:r>
          </a:p>
          <a:p>
            <a:r>
              <a:t>CNPJ 42085816000105 · Cessão/recompra · Resolução por vício, inelegibilidade, chargeback/cancelamento não coberto; demais recompras conforme contrato · Fundos.NET ID 1337406 | 01/10/2026 | Regulamento | p. 55, Anexo I, resolução/cessão/recompra | data/raw/42085816000105/1337406_review_20261007.pdf | https://fnet.bmfbovespa.com.br/fnet/publico/visualizarDocumento?id=1337406 · Observação: Recompras declaradas no IME não identificam motivo jurídico nem indenização efetiva.</a:t>
            </a:r>
          </a:p>
          <a:p>
            <a:r>
              <a:t>CNPJ 51957370000152 · Cessão/recompra · Transferência irrevogável; desconformidade original pode resolver a cessão · Fundos.NET ID 1025473 · 03/04/2025 · Regulamento · p. 22-24 · data/raw/51957370000152/1025473_documentary_review.pdf · https://fnet.bmfbovespa.com.br/fnet/publico/exibirDocumento?id=1025473 · Observação: Condições finais remetem ao contrato de cessão.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Cessão/recompra · Condições de cessão, resolução e recompra em contratos; vícios/culpa/dolo sujeitos a responsabilização. · Fundos.NET ID 1061833; referência 19/11/2025; data/raw/26749095000134/1061833_regulamento_cache_integral.txt; Direitos Creditórios / Condições de Cessão; https://fnet.bmfbovespa.com.br/fnet/publico/exibirDocumento?id=1061833&amp;cvm=true · Observação: IME de recompras não comprova motivo jurídico ou indenização.</a:t>
            </a:r>
          </a:p>
          <a:p>
            <a:r>
              <a:t>CNPJ 54810968000102 · Cessão/recompra · Cessão definitiva; desconformidade pode resolver aquisição · Fundos.NET ID 937760 · 22/04/2025 · Regulamento · p. 25-28 · data/raw/54810968000102/937760_documentary_review.pdf · https://fnet.bmfbovespa.com.br/fnet/publico/exibirDocumento?id=937760 · Observação: Não há regresso por perda posterior de elegibilidade, salvo má-fé, culpa ou dolo.</a:t>
            </a:r>
          </a:p>
          <a:p>
            <a:r>
              <a:t>CNPJ 08692888000182 · Coobrigação · Sem regresso/coobrigação dos cedentes e Supplier; observar obrigações próprias dos estabelecimentos · data/raw/08692888000182/772020_regulamento.pdf · ID Fundos.NET 772020 · 05/11/2024 · regulamento · p. 33 e 36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Coobrigação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Coobrigação · Garantia de solvência/coobrigação adicional não localizada; CDB-V dependente dos fluxos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Coobrigação · Cessão sem coobrigação do cedente · Fundos.NET ID 792021 · 27/11/2024 · regulamento · p. 36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Coobrigação · Garantia de solvência/coobrigação adicional não localizada; CDB-V dependente dos fluxos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Coobrigação · Cedentes sem coobrigação; operações podem ter coobrigação do estabelecimento · Fundos.NET ID 1013021 · 14/11/2024 · regulamento · p. 31, 57 · data/raw/50988212000105/1013021_regulamento.pdf · https://fnet.bmfbovespa.com.br/fnet/publico/exibirDocumento?id=1013021 · Observação: A ausência de coobrigação do Supplier não elimina obrigação específica do estabelecimento.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Coobrigação · Facta não responde pela solvência dos devedores; sem coobrigação/garantia de terceiros · data/raw/62588266000154/1002580_regulamento.pdf · ID Fundos.NET 1002580 · 29/09/2025 · regulamento · p. 77 · Risco de crédito – Ausência de coobrigação · https://fnet.bmfbovespa.com.br/fnet/publico/visualizarDocumento?id=1002580 · Observação: Recompra por vício/hipóteses contratuais é obrigação distinta da solvência.</a:t>
            </a:r>
          </a:p>
          <a:p>
            <a:r>
              <a:t>CNPJ 63546406000194 · Coobrigação · Sem direito de regresso/coobrigação de terceiros pelo pagamento dos ativos · data/raw/63546406000194/1130481_regulamento.pdf · ID Fundos.NET 1130481 · 05/03/2026 · regulamento · p. 76 · Fatores de risco – ausência de recursos adicionais · https://fnet.bmfbovespa.com.br/fnet/publico/visualizarDocumento?id=1130481 · Observação: Obrigações por existência, formalização e recompra contratual são distintas da solvência do devedor.</a:t>
            </a:r>
          </a:p>
          <a:p>
            <a:r>
              <a:t>CNPJ 42085830000109 · Coobrigação · Sem regresso/coobrigação da cedente pela solvência; responsabilidade por existência e formalização preservada · Fundos.NET ID 966441 | 24/07/2025 | Regulamento | p. 29, Anexo I, cessão definitiva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Coobrigação · Sem regresso/coobrigação da cedente pela solvência; responsabilidade por existência e formalização preservada · Fundos.NET ID 1337406 | 01/10/2026 | Regulamento | p. 29, Anexo I, cessão definitiva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Coobrigação · Sem coobrigação; cedente responde pela existência e formalização · Fundos.NET ID 1025473 · 03/04/2025 · Regulamento · p. 22, 24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Coobrigação · Devedores solidários e responsabilidades por vícios são distintos de coobrigação irrestrita do cedente. · Fundos.NET ID 1061833; referência 19/11/2025; data/raw/26749095000134/1061833_regulamento_cache_integral.txt; Condições de Cessão; riscos de créditos e cedentes; https://fnet.bmfbovespa.com.br/fnet/publico/exibirDocumento?id=1061833&amp;cvm=true · Observação: Coobrigação integral do cedente não foi confirmada nesta revisão.</a:t>
            </a:r>
          </a:p>
          <a:p>
            <a:r>
              <a:t>CNPJ 54810968000102 · Coobrigação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Waterfall · Despesas → sênior → MZ I → MZ II → reservas → júnior → novas aquisições · data/raw/08692888000182/772020_regulamento.pdf · ID Fundos.NET 772020 · 05/11/2024 · p. 76–77 · https://fnet.bmfbovespa.com.br/fnet/publico/visualizarDocumento?id=772020 · Observação: Conferir fórmula e janelas de cura no regulamento integral; proxy público agregado não valida todos os eventos.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Waterfall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Waterfall · Amortização pro rata ordinária; evento de liquidação aciona regime sequencial · Fundos.NET ID 667195 · 22/05/2024 · regulamento · p. 88-89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Waterfall · Encargos/cobrança → reservas → remuneração/principal sênior → subordinada condicional → aquisições · Fundos.NET ID 792021 · 27/11/2024 · regulamento · p. 46-47 · data/raw/35868110000154/792021_regulamento.pdf · https://fnet.bmfbovespa.com.br/fnet/publico/exibirDocumento?id=792021 · Observação: Liquidação: atender credores/encargos e prioridades de cotas antes da residual subordinada.</a:t>
            </a:r>
          </a:p>
          <a:p>
            <a:r>
              <a:t>CNPJ 54559035000194 · Waterfall · Amortização pro rata ordinária; evento de liquidação aciona regime sequencial · Fundos.NET ID 634437 · 05/04/2024 · regulamento · p. 82-83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Waterfall · Encargos → reservas → remuneração/amortização sênior → subordinadas → aquisições · Fundos.NET ID 1013021 · 14/11/2024 · regulamento · p. 74-75 · data/raw/50988212000105/1013021_regulamento.pdf · https://fnet.bmfbovespa.com.br/fnet/publico/exibirDocumento?id=1013021 · Observação: Na liquidação: encargos/reserva de encerramento, resgate integral sênior, depois subordinadas.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Waterfall · Pro rata inicialmente; sequencial após desalavancagem/liquidação, com possível realavancagem · data/raw/62588266000154/1002580_regulamento.pdf · ID Fundos.NET 1002580 · 29/09/2025 · regulamento · p. 52–56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Waterfall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Waterfall · Encargos e reservas precedem distribuições; sênior prioritária; subordinadas condicionadas · Fundos.NET ID 966441 | 24/07/2025 | Regulamento | p. 59, Anexo I, ordem de alocação | data/raw/42085830000109/966441_review_20261007.pdf | https://fnet.bmfbovespa.com.br/fnet/publico/visualizarDocumento?id=966441 · Observação: Resumo da hierarquia; consultar ordem completa antes de projetar pagamentos.</a:t>
            </a:r>
          </a:p>
          <a:p>
            <a:r>
              <a:t>CNPJ 42085816000105 · Waterfall · Encargos e reservas precedem distribuições; sênior prioritária; subordinadas condicionadas · Fundos.NET ID 1337406 | 01/10/2026 | Regulamento | p. 2, Anexo I, ordem de alocação | data/raw/42085816000105/1337406_review_20261007.pdf | https://fnet.bmfbovespa.com.br/fnet/publico/visualizarDocumento?id=1337406 · Observação: Resumo da hierarquia; consultar ordem completa antes de projetar pagamentos.</a:t>
            </a:r>
          </a:p>
          <a:p>
            <a:r>
              <a:t>CNPJ 51957370000152 · Waterfall · Despesas/derivativos → reservas → sênior → mezanino → júnior · Fundos.NET ID 1025473 · 03/04/2025 · Regulamento · p.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  <a:p>
            <a:r>
              <a:t>CNPJ 26749095000134 · Waterfall · Despesas/reservas e cotas prioritárias antes de júnior; evento altera alocação e suspende novas aquisições. · Fundos.NET ID 1061833; referência 19/11/2025; data/raw/26749095000134/1061833_regulamento_cache_integral.txt; ordem de alocação de recursos / eventos de avaliação;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Waterfall · Encargos/derivativos → caixa/liquidez → sênior → mezanino → júnior · Fundos.NET ID 937760 · 22/04/2025 · Regulamento · p. 52-53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Prestadores essenciais · Administração: Oliveira Trust DTVM; gestão: Oliveira Trust Servicer · data/raw/08692888000182/772020_regulamento.pdf · ID Fundos.NET 772020 · 05/11/2024 · regulamento · p. 14–15 · Assinaturas do regulamento · https://fnet.bmfbovespa.com.br/fnet/publico/visualizarDocumento?id=772020 · Observação: Controle documental; IME agregado não comprova a hipótese contratual.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Prestadores essenciais · Administração Intrag; gestão/custódia de DC Kanastra; custódia de valores mobiliários Limine Trust · data/raw/62838025000116/1058234_regulamento.pdf · ID Fundos.NET 1058234 · 10/12/2025 · regulamento · p. 2/5/7 · Definições Administrador/Custodiantes/Gestor · https://fnet.bmfbovespa.com.br/fnet/publico/visualizarDocumento?id=1058234 · Observação: Controle documental; IME agregado não comprova a hipótese contratual.</a:t>
            </a:r>
          </a:p>
          <a:p>
            <a:r>
              <a:t>CNPJ 55070804000159 · Prestadores essenciais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  <a:p>
            <a:r>
              <a:t>CNPJ 35868110000154 · Prestadores essenciais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essenciais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essenciais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Prestadores essenciais · Administração: Oliveira Trust DTVM; gestão: Oliveira Trust Servicer · data/raw/62588266000154/1002580_regulamento.pdf · ID Fundos.NET 1002580 · 29/09/2025 · regulamento · p. 19 · Assinaturas do regulamento · https://fnet.bmfbovespa.com.br/fnet/publico/visualizarDocumento?id=1002580 · Observação: Controle documental; IME agregado não comprova a hipótese contratual.</a:t>
            </a:r>
          </a:p>
          <a:p>
            <a:r>
              <a:t>CNPJ 63546406000194 · Prestadores essenciais · Administração/custódia: Vert DTVM; gestão: Vert Gestora; arrecadação: Banco Pine · data/raw/63546406000194/1130481_regulamento.pdf · ID Fundos.NET 1130481 · 05/03/2026 · regulamento · p. 118–123 · 2.1/2.2/2.3/2.8 · https://fnet.bmfbovespa.com.br/fnet/publico/visualizarDocumento?id=1130481 · Observação: Controle documental; IME agregado não comprova a hipótese contratual.</a:t>
            </a:r>
          </a:p>
          <a:p>
            <a:r>
              <a:t>CNPJ 42085830000109 · Prestadores essenciais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Prestadores essenciais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Prestadores essenciais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essenciais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essenciais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essenciais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Prestadores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Prestadores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Prestadores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Prestadores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Prestadores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Prestadores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Prestadores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Prestadores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Prestadores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Prestadores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Prestadores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Prestadores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Prestadores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Prestadores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Prestadores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Condições de cessão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Condições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Condições de cessão · Cedentes atestam condições em cada termo; gestor valida; perda posterior não gera indenização automática · data/raw/62838025000116/1058234_regulamento.pdf · ID Fundos.NET 1058234 · 10/12/2025 · regulamento · p. 29–30 · 7.9.1/7.10/7.11 · https://fnet.bmfbovespa.com.br/fnet/publico/visualizarDocumento?id=1058234 · Observação: Ausência de indenização posterior aplica-se a créditos regularmente adquiridos, conforme cláusula.</a:t>
            </a:r>
          </a:p>
          <a:p>
            <a:r>
              <a:t>CNPJ 55070804000159 · Condições de cessão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Condições de cessão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Condições de cessão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Condições de cessão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Condições de cessão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Condições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Condições de cessão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Condições de cessão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Condições de cessão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Condições de cessão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Condições de cessão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Condições de cessão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Condições de cessão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Condições de cessão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Situação documental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Situação documental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Situação documental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Situação documental · Encerrado em 23/06/2026; preservar no retrato histórico da carteira 1T26 · Fundos.NET ID 1248767 · 23/06/2026 · emissao · p. 1 (visual) · data/raw/55070804000159/1248767_emissao.pdf · https://fnet.bmfbovespa.com.br/fnet/publico/exibirDocumento?id=1248767 · Observação: Termo informa despesas pagas/provisionadas e procedimentos de baixa/auditoria subsequentes. Não afirmar cadastro CVM baixado sem confirmação.</a:t>
            </a:r>
          </a:p>
          <a:p>
            <a:r>
              <a:t>CNPJ 28169275000172 · Situação documental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Situação documental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Situação documental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Situação documental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Situação documental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Situação documental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Situação documental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Situação documental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Situação documental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Situação documental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Situação documental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Situação documental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Situação documental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Alterações materiais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Alterações materiais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Alterações materiais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Alterações materiais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Alterações materiais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Alterações materiais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Alterações materiais · AGE 08/05/2024 alterou quóruns da assembleia especial; anexo consolidado não obtido · Fundos.NET ID 672167 · 08/05/2024 10:00 · assembleia · p. 1-2 · data/raw/54559035000194/672167_assembleia.pdf · https://fnet.bmfbovespa.com.br/fnet/publico/exibirDocumento?id=672167 · Observação: Documento disponível contém apenas a ata; tarifas e séries mantidas como base documental 05/04/2024, sem certificar vigência integral posterior.</a:t>
            </a:r>
          </a:p>
          <a:p>
            <a:r>
              <a:t>CNPJ 50988212000105 · Alterações materiais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Alterações materiais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Alterações materiais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Alterações materiais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Alterações materiais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Alterações materiais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Alterações materiais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Alterações materiais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Alterações materiais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Alterações materiais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Classes/séries · Sênior; mezanino I; mezanino II; subordinadas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Classes/séries · Sênior e subordinada júnior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Classes/séries · 1ª série sênior e subclasse subordinada júnior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Classes/séries · Sênior e mezanino em séries; subordinadas em subclasses · data/raw/28169275000172/1149521_regulamento.pdf · ID Fundos.NET 1149521 · 25/03/2026 · regulamento · p. 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Classes/séries · Cotas seniores por subclasses/séries; subordinadas do cedente · Fundos.NET ID 792021 · 27/11/2024 · regulamento · p. 43-45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Classes/séries · 1ª série sênior e subclasse subordinada júnior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Classes/séries · Subclasses sênior e subordinada; séries concretas não individualizadas · Fundos.NET ID 1013021 · 14/11/2024 · regulamento · p. 60-62 · data/raw/50988212000105/1013021_regulamento.pdf · https://fnet.bmfbovespa.com.br/fnet/publico/exibirDocumento?id=1013021 · Observação: O glossário menciona mezaninos, mas a cláusula operativa 14.2 prevê duas subclasses. Preservar a regra operativa e exigir ato para classe adicional.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Classes/séries · 1ª emissão sênior e mezanino; subordinadas júnior conforme regulamento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Classes/séries · Sênior; MZ A, B e C; subordinada júnior · data/raw/63546406000194/1130481_regulamento.pdf · ID Fundos.NET 1130481 · 05/03/2026 · regulamento · p. 163–171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Classes/séries · Sênior, subordinadas mezanino e júnior; termos finais por série devem ser confirmados em apêndices. · Fundos.NET ID 1061833; referência 19/11/2025; data/raw/26749095000134/1061833_regulamento_cache_integral.txt; capítulo de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Remuneração · DI + 1,20% sênior; DI + 2,00% MZ I; DI + 4,00% MZ II; prêmios temporários descritos terminaram em 31/10/2024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62838025000116 · Remuneração · Sênior CDI + 0,80% a.a.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Remuneração · Sênior: DI + 1,10% a.a.; júnior: DI + 2,70% a.a. + prêmio residual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Remuneração · 4ª sênior: DI + 0,75% a.a.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Remuneração · Sênior: taxa DI/sobretaxa do apêndice; spread final não localizado · Fundos.NET ID 792021 · 27/11/2024 · regulamento · p. 43, 94-99 · data/raw/35868110000154/792021_regulamento.pdf · https://fnet.bmfbovespa.com.br/fnet/publico/exibirDocumento?id=792021 · Observação: Apêndices acessíveis são modelos sem dados de série; subordinadas residuais, sem sobretaxa fixa documentada.</a:t>
            </a:r>
          </a:p>
          <a:p>
            <a:r>
              <a:t>CNPJ 54559035000194 · Remuneração · Sênior: DI + 1,10% a.a.; júnior: DI + 2,80% a.a. + prêmio residual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Remuneração · Benchmark sênior remetido ao apêndice; spread final não localizado · Fundos.NET ID 1013021 · 14/11/2024 · regulamento · p. 60, 103-105 · data/raw/50988212000105/1013021_regulamento.pdf · https://fnet.bmfbovespa.com.br/fnet/publico/exibirDocumento?id=1013021 · Observação: Anexos de emissão acessíveis são modelos com campos a preencher.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· Sobretaxa definida em suplemento não localizado; modelos mantêm campos abertos · data/raw/62588266000154/1002580_regulamento.pdf · ID Fundos.NET 1002580 · 29/09/2025 · regulamento · p.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Remuneração · Sênior CDI + spread em bookbuilding, piso 1,10% e teto 1,25%; MZ A +3,50%, B +4,75%, C +7,50% a.a. · data/raw/63546406000194/1130481_regulamento.pdf · ID Fundos.NET 1130481 · 05/03/2026 · regulamento · p. 163, 165, 167 e 169 · https://fnet.bmfbovespa.com.br/fnet/publico/visualizarDocumento?id=1130481 · Observação: Piso/teto sênior não representam spread final. Resultado de bookbuilding não localizado nesta leitura.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Remuneração · Spread final não localizado no texto disponível, salvo apêndices III identificados nesta revisão. · Fundos.NET ID 1061833; referência 19/11/2025; data/raw/26749095000134/1061833_regulamento_cache_integral.txt; valoração das cotas e suplementos/apêndices;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Volume/VNU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Volume/VNU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Volume/VNU · Até R$ 740 mi sênior + R$ 110 mi júnior aprovados; VNU R$ 1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Volume/VNU · 4ª sênior: R$ 1 bilhão; 1 milhão de cotas; VNU R$ 1 mil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Volume/VNU · Volumes e VNU de séries efetivas não localizados · Fundos.NET ID 792021 · 27/11/2024 · regulamento · p.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Volume/VNU · R$ 224,29 mi sênior + R$ 28,92 mi júnior; VNU R$ 1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Volume/VNU · VNU inicial de R$ 1.000; volume efetivo não localizado · Fundos.NET ID 1013021 · 14/11/2024 · regulamento · p. 60-61,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Volume/VNU · Distribuídos: sênior R$ 2,55 bi e mezanino R$ 300 mi; VNU R$ 1 mil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Volume/VNU · Oferta total R$ 1,25 bi; sênior R$ 1.068,75 mi; MZ A/B R$ 62,5 mi cada; C R$ 31,25 mi; júnior R$ 25 mi; VNU R$ 1 mil · data/raw/63546406000194/1172101_emissao.pdf · ID Fundos.NET 1172101 · 22/04/2026 · emissao · p. 2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Volume/VNU · Volume por série não confirmado; VNU geral R$ 1.000,00. · Fundos.NET ID 1061833; referência 19/11/2025; data/raw/26749095000134/1061833_regulamento_cache_integral.txt; 6.1.4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08692888000182 · Ofertas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62838025000116 · Ofertas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Ofertas · Encerramento 07/10/2024: R$689,27 mi sênior + R$86,58 mi júnior; R$74,15 mi cancelados · Fundos.NET ID 758570 · 07/10/2024 · emissao · p. 1-3 · data/raw/55070804000159/758570_emissao.pdf · https://fnet.bmfbovespa.com.br/fnet/publico/exibirDocumento?id=758570 · Observação: R$775.850.507 distribuídos; anúncio usa cabeçalho de início mas corpo comunica encerramento. Não confundir volume aprovado de R$850mi com distribuído.</a:t>
            </a:r>
          </a:p>
          <a:p>
            <a:r>
              <a:t>CNPJ 28169275000172 · Ofertas · Início 30/03/2026; liquidação prevista 31/03/2026; garantia firme · data/raw/28169275000172/1148251_emissao.pdf · ID Fundos.NET 1148251 · 30/03/2026 · emissao · p. 2 · https://fnet.bmfbovespa.com.br/fnet/publico/visualizarDocumento?id=1148251 · Observação: Resumo jurídico da fonte identificada; verificar aditamentos e aplicação à série</a:t>
            </a:r>
          </a:p>
          <a:p>
            <a:r>
              <a:t>CNPJ 35868110000154 · Ofertas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Ofertas · Início 05/04/2024; encerramento 23/04/2024; R$ 253,21 mi distribuídos · Fundos.NET ID 664160 · 23/04/2024 · emissao · p. 1-3 · data/raw/54559035000194/664160_emissao.pdf · https://fnet.bmfbovespa.com.br/fnet/publico/exibirDocumento?id=664160 · Observação: ID 664160 usa cabeçalho de início, mas comunica encerramento no corpo. Início comprovado no ID634469. Não usar cronograma estimado como fato realizado.</a:t>
            </a:r>
          </a:p>
          <a:p>
            <a:r>
              <a:t>CNPJ 50988212000105 · Ofertas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Ofertas · Encerramento em 27/02/2026; primária por melhores esforços; profissionais · data/raw/62588266000154/1126575_instrumento_de_emiss_o.pdf · ID Fundos.NET 1126575 · 27/02/2026 · emissao · p. 1–4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Ofertas · Encerramento divulgado em 22/04/2026; melhores esforços; profissionais · data/raw/63546406000194/1172101_emissao.pdf · ID Fundos.NET 1172101 · 22/04/2026 · emissao · p. 1–7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Ofertas · Início, encerramento e distribuição efetiva não confirmados por anúncios nesta revisão. · Fundos.NET ID 1061833; referência 19/11/2025; data/raw/26749095000134/1061833_regulamento_cache_integral.txt; parâmetros de oferta / 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Remuneração sênior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Remuneração sênior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sênior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sênior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sênior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sênior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sênior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sênior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sênior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sênior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sênior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sênior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sênior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subordinada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subordinada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subordinada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subordinada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subordinada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subordinada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subordinada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subordinada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subordinada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Remuneração subordinada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subordinada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subordinada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subordinada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Volume / quantidade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 / quantidade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Volume / quantidade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Volume / quantidade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Volume / quantidade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Volume / quantidade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Volume / quantidade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 / quantidade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Volume / quantidade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 / quantidade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Volume / quantidade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Volume / quantidade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Volume / quantidade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VNU / preço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VNU / preço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VNU / preço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VNU / preço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VNU / preço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VNU / preço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VNU / preço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VNU / preço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VNU / preço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VNU / preço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VNU / preço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VNU / preço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VNU / preço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Classes/séries · Sênior; mezanino I; mezanino II; subordinadas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Classes/séries · Sênior e subordinada júnior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Classes/séries · 1ª série sênior e subclasse subordinada júnior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Classes/séries · Sênior e mezanino em séries; subordinadas em subclasses · data/raw/28169275000172/1149521_regulamento.pdf · ID Fundos.NET 1149521 · 25/03/2026 · regulamento · p. 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Classes/séries · Cotas seniores por subclasses/séries; subordinadas do cedente · Fundos.NET ID 792021 · 27/11/2024 · regulamento · p. 43-45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Classes/séries · 1ª série sênior e subclasse subordinada júnior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Classes/séries · Subclasses sênior e subordinada; séries concretas não individualizadas · Fundos.NET ID 1013021 · 14/11/2024 · regulamento · p. 60-62 · data/raw/50988212000105/1013021_regulamento.pdf · https://fnet.bmfbovespa.com.br/fnet/publico/exibirDocumento?id=1013021 · Observação: O glossário menciona mezaninos, mas a cláusula operativa 14.2 prevê duas subclasses. Preservar a regra operativa e exigir ato para classe adicional.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Classes/séries · 1ª emissão sênior e mezanino; subordinadas júnior conforme regulamento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Classes/séries · Sênior; MZ A, B e C; subordinada júnior · data/raw/63546406000194/1130481_regulamento.pdf · ID Fundos.NET 1130481 · 05/03/2026 · regulamento · p. 163–171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Classes/séries · Sênior, subordinadas mezanino e júnior; termos finais por série devem ser confirmados em apêndices. · Fundos.NET ID 1061833; referência 19/11/2025; data/raw/26749095000134/1061833_regulamento_cache_integral.txt; capítulo de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Remuneração · DI + 1,20% sênior; DI + 2,00% MZ I; DI + 4,00% MZ II; prêmios temporários descritos terminaram em 31/10/2024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62838025000116 · Remuneração · Sênior CDI + 0,80% a.a.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Remuneração · Sênior: DI + 1,10% a.a.; júnior: DI + 2,70% a.a. + prêmio residual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Remuneração · 4ª sênior: DI + 0,75% a.a.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Remuneração · Sênior: taxa DI/sobretaxa do apêndice; spread final não localizado · Fundos.NET ID 792021 · 27/11/2024 · regulamento · p. 43, 94-99 · data/raw/35868110000154/792021_regulamento.pdf · https://fnet.bmfbovespa.com.br/fnet/publico/exibirDocumento?id=792021 · Observação: Apêndices acessíveis são modelos sem dados de série; subordinadas residuais, sem sobretaxa fixa documentada.</a:t>
            </a:r>
          </a:p>
          <a:p>
            <a:r>
              <a:t>CNPJ 54559035000194 · Remuneração · Sênior: DI + 1,10% a.a.; júnior: DI + 2,80% a.a. + prêmio residual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Remuneração · Benchmark sênior remetido ao apêndice; spread final não localizado · Fundos.NET ID 1013021 · 14/11/2024 · regulamento · p. 60, 103-105 · data/raw/50988212000105/1013021_regulamento.pdf · https://fnet.bmfbovespa.com.br/fnet/publico/exibirDocumento?id=1013021 · Observação: Anexos de emissão acessíveis são modelos com campos a preencher.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· Sobretaxa definida em suplemento não localizado; modelos mantêm campos abertos · data/raw/62588266000154/1002580_regulamento.pdf · ID Fundos.NET 1002580 · 29/09/2025 · regulamento · p.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Remuneração · Sênior CDI + spread em bookbuilding, piso 1,10% e teto 1,25%; MZ A +3,50%, B +4,75%, C +7,50% a.a. · data/raw/63546406000194/1130481_regulamento.pdf · ID Fundos.NET 1130481 · 05/03/2026 · regulamento · p. 163, 165, 167 e 169 · https://fnet.bmfbovespa.com.br/fnet/publico/visualizarDocumento?id=1130481 · Observação: Piso/teto sênior não representam spread final. Resultado de bookbuilding não localizado nesta leitura.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Remuneração · Spread final não localizado no texto disponível, salvo apêndices III identificados nesta revisão. · Fundos.NET ID 1061833; referência 19/11/2025; data/raw/26749095000134/1061833_regulamento_cache_integral.txt; valoração das cotas e suplementos/apêndices;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Volume/VNU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Volume/VNU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Volume/VNU · Até R$ 740 mi sênior + R$ 110 mi júnior aprovados; VNU R$ 1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Volume/VNU · 4ª sênior: R$ 1 bilhão; 1 milhão de cotas; VNU R$ 1 mil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Volume/VNU · Volumes e VNU de séries efetivas não localizados · Fundos.NET ID 792021 · 27/11/2024 · regulamento · p.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Volume/VNU · R$ 224,29 mi sênior + R$ 28,92 mi júnior; VNU R$ 1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Volume/VNU · VNU inicial de R$ 1.000; volume efetivo não localizado · Fundos.NET ID 1013021 · 14/11/2024 · regulamento · p. 60-61,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Volume/VNU · Distribuídos: sênior R$ 2,55 bi e mezanino R$ 300 mi; VNU R$ 1 mil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Volume/VNU · Oferta total R$ 1,25 bi; sênior R$ 1.068,75 mi; MZ A/B R$ 62,5 mi cada; C R$ 31,25 mi; júnior R$ 25 mi; VNU R$ 1 mil · data/raw/63546406000194/1172101_emissao.pdf · ID Fundos.NET 1172101 · 22/04/2026 · emissao · p. 2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Volume/VNU · Volume por série não confirmado; VNU geral R$ 1.000,00. · Fundos.NET ID 1061833; referência 19/11/2025; data/raw/26749095000134/1061833_regulamento_cache_integral.txt; 6.1.4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08692888000182 · Ofertas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62838025000116 · Ofertas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Ofertas · Encerramento 07/10/2024: R$689,27 mi sênior + R$86,58 mi júnior; R$74,15 mi cancelados · Fundos.NET ID 758570 · 07/10/2024 · emissao · p. 1-3 · data/raw/55070804000159/758570_emissao.pdf · https://fnet.bmfbovespa.com.br/fnet/publico/exibirDocumento?id=758570 · Observação: R$775.850.507 distribuídos; anúncio usa cabeçalho de início mas corpo comunica encerramento. Não confundir volume aprovado de R$850mi com distribuído.</a:t>
            </a:r>
          </a:p>
          <a:p>
            <a:r>
              <a:t>CNPJ 28169275000172 · Ofertas · Início 30/03/2026; liquidação prevista 31/03/2026; garantia firme · data/raw/28169275000172/1148251_emissao.pdf · ID Fundos.NET 1148251 · 30/03/2026 · emissao · p. 2 · https://fnet.bmfbovespa.com.br/fnet/publico/visualizarDocumento?id=1148251 · Observação: Resumo jurídico da fonte identificada; verificar aditamentos e aplicação à série</a:t>
            </a:r>
          </a:p>
          <a:p>
            <a:r>
              <a:t>CNPJ 35868110000154 · Ofertas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Ofertas · Início 05/04/2024; encerramento 23/04/2024; R$ 253,21 mi distribuídos · Fundos.NET ID 664160 · 23/04/2024 · emissao · p. 1-3 · data/raw/54559035000194/664160_emissao.pdf · https://fnet.bmfbovespa.com.br/fnet/publico/exibirDocumento?id=664160 · Observação: ID 664160 usa cabeçalho de início, mas comunica encerramento no corpo. Início comprovado no ID634469. Não usar cronograma estimado como fato realizado.</a:t>
            </a:r>
          </a:p>
          <a:p>
            <a:r>
              <a:t>CNPJ 50988212000105 · Ofertas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Ofertas · Encerramento em 27/02/2026; primária por melhores esforços; profissionais · data/raw/62588266000154/1126575_instrumento_de_emiss_o.pdf · ID Fundos.NET 1126575 · 27/02/2026 · emissao · p. 1–4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Ofertas · Encerramento divulgado em 22/04/2026; melhores esforços; profissionais · data/raw/63546406000194/1172101_emissao.pdf · ID Fundos.NET 1172101 · 22/04/2026 · emissao · p. 1–7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Ofertas · Início, encerramento e distribuição efetiva não confirmados por anúncios nesta revisão. · Fundos.NET ID 1061833; referência 19/11/2025; data/raw/26749095000134/1061833_regulamento_cache_integral.txt; parâmetros de oferta / 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Remuneração sênior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Remuneração sênior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sênior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sênior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sênior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sênior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sênior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sênior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sênior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sênior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sênior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sênior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sênior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subordinada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subordinada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subordinada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subordinada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subordinada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subordinada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subordinada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subordinada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subordinada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Remuneração subordinada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subordinada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subordinada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subordinada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Volume / quantidade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 / quantidade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Volume / quantidade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Volume / quantidade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Volume / quantidade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Volume / quantidade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Volume / quantidade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 / quantidade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Volume / quantidade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 / quantidade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Volume / quantidade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Volume / quantidade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Volume / quantidade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VNU / preço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VNU / preço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VNU / preço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VNU / preço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VNU / preço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VNU / preço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VNU / preço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VNU / preço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VNU / preço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VNU / preço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VNU / preço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VNU / preço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VNU / preço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Classes/séries · Sênior; mezanino I; mezanino II; subordinadas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Classes/séries · Sênior e subordinada júnior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Classes/séries · 1ª série sênior e subclasse subordinada júnior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Classes/séries · Sênior e mezanino em séries; subordinadas em subclasses · data/raw/28169275000172/1149521_regulamento.pdf · ID Fundos.NET 1149521 · 25/03/2026 · regulamento · p. 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Classes/séries · Cotas seniores por subclasses/séries; subordinadas do cedente · Fundos.NET ID 792021 · 27/11/2024 · regulamento · p. 43-45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Classes/séries · 1ª série sênior e subclasse subordinada júnior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Classes/séries · Subclasses sênior e subordinada; séries concretas não individualizadas · Fundos.NET ID 1013021 · 14/11/2024 · regulamento · p. 60-62 · data/raw/50988212000105/1013021_regulamento.pdf · https://fnet.bmfbovespa.com.br/fnet/publico/exibirDocumento?id=1013021 · Observação: O glossário menciona mezaninos, mas a cláusula operativa 14.2 prevê duas subclasses. Preservar a regra operativa e exigir ato para classe adicional.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Classes/séries · 1ª emissão sênior e mezanino; subordinadas júnior conforme regulamento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Classes/séries · Sênior; MZ A, B e C; subordinada júnior · data/raw/63546406000194/1130481_regulamento.pdf · ID Fundos.NET 1130481 · 05/03/2026 · regulamento · p. 163–171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Classes/séries · Sênior, subordinadas mezanino e júnior; termos finais por série devem ser confirmados em apêndices. · Fundos.NET ID 1061833; referência 19/11/2025; data/raw/26749095000134/1061833_regulamento_cache_integral.txt; capítulo de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Remuneração · DI + 1,20% sênior; DI + 2,00% MZ I; DI + 4,00% MZ II; prêmios temporários descritos terminaram em 31/10/2024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62838025000116 · Remuneração · Sênior CDI + 0,80% a.a.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Remuneração · Sênior: DI + 1,10% a.a.; júnior: DI + 2,70% a.a. + prêmio residual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Remuneração · 4ª sênior: DI + 0,75% a.a.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Remuneração · Sênior: taxa DI/sobretaxa do apêndice; spread final não localizado · Fundos.NET ID 792021 · 27/11/2024 · regulamento · p. 43, 94-99 · data/raw/35868110000154/792021_regulamento.pdf · https://fnet.bmfbovespa.com.br/fnet/publico/exibirDocumento?id=792021 · Observação: Apêndices acessíveis são modelos sem dados de série; subordinadas residuais, sem sobretaxa fixa documentada.</a:t>
            </a:r>
          </a:p>
          <a:p>
            <a:r>
              <a:t>CNPJ 54559035000194 · Remuneração · Sênior: DI + 1,10% a.a.; júnior: DI + 2,80% a.a. + prêmio residual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Remuneração · Benchmark sênior remetido ao apêndice; spread final não localizado · Fundos.NET ID 1013021 · 14/11/2024 · regulamento · p. 60, 103-105 · data/raw/50988212000105/1013021_regulamento.pdf · https://fnet.bmfbovespa.com.br/fnet/publico/exibirDocumento?id=1013021 · Observação: Anexos de emissão acessíveis são modelos com campos a preencher.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· Sobretaxa definida em suplemento não localizado; modelos mantêm campos abertos · data/raw/62588266000154/1002580_regulamento.pdf · ID Fundos.NET 1002580 · 29/09/2025 · regulamento · p.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Remuneração · Sênior CDI + spread em bookbuilding, piso 1,10% e teto 1,25%; MZ A +3,50%, B +4,75%, C +7,50% a.a. · data/raw/63546406000194/1130481_regulamento.pdf · ID Fundos.NET 1130481 · 05/03/2026 · regulamento · p. 163, 165, 167 e 169 · https://fnet.bmfbovespa.com.br/fnet/publico/visualizarDocumento?id=1130481 · Observação: Piso/teto sênior não representam spread final. Resultado de bookbuilding não localizado nesta leitura.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Remuneração · Spread final não localizado no texto disponível, salvo apêndices III identificados nesta revisão. · Fundos.NET ID 1061833; referência 19/11/2025; data/raw/26749095000134/1061833_regulamento_cache_integral.txt; valoração das cotas e suplementos/apêndices;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Volume/VNU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Volume/VNU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Volume/VNU · Até R$ 740 mi sênior + R$ 110 mi júnior aprovados; VNU R$ 1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Volume/VNU · 4ª sênior: R$ 1 bilhão; 1 milhão de cotas; VNU R$ 1 mil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Volume/VNU · Volumes e VNU de séries efetivas não localizados · Fundos.NET ID 792021 · 27/11/2024 · regulamento · p.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Volume/VNU · R$ 224,29 mi sênior + R$ 28,92 mi júnior; VNU R$ 1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Volume/VNU · VNU inicial de R$ 1.000; volume efetivo não localizado · Fundos.NET ID 1013021 · 14/11/2024 · regulamento · p. 60-61,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Volume/VNU · Distribuídos: sênior R$ 2,55 bi e mezanino R$ 300 mi; VNU R$ 1 mil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Volume/VNU · Oferta total R$ 1,25 bi; sênior R$ 1.068,75 mi; MZ A/B R$ 62,5 mi cada; C R$ 31,25 mi; júnior R$ 25 mi; VNU R$ 1 mil · data/raw/63546406000194/1172101_emissao.pdf · ID Fundos.NET 1172101 · 22/04/2026 · emissao · p. 2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Volume/VNU · Volume por série não confirmado; VNU geral R$ 1.000,00. · Fundos.NET ID 1061833; referência 19/11/2025; data/raw/26749095000134/1061833_regulamento_cache_integral.txt; 6.1.4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08692888000182 · Ofertas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62838025000116 · Ofertas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Ofertas · Encerramento 07/10/2024: R$689,27 mi sênior + R$86,58 mi júnior; R$74,15 mi cancelados · Fundos.NET ID 758570 · 07/10/2024 · emissao · p. 1-3 · data/raw/55070804000159/758570_emissao.pdf · https://fnet.bmfbovespa.com.br/fnet/publico/exibirDocumento?id=758570 · Observação: R$775.850.507 distribuídos; anúncio usa cabeçalho de início mas corpo comunica encerramento. Não confundir volume aprovado de R$850mi com distribuído.</a:t>
            </a:r>
          </a:p>
          <a:p>
            <a:r>
              <a:t>CNPJ 28169275000172 · Ofertas · Início 30/03/2026; liquidação prevista 31/03/2026; garantia firme · data/raw/28169275000172/1148251_emissao.pdf · ID Fundos.NET 1148251 · 30/03/2026 · emissao · p. 2 · https://fnet.bmfbovespa.com.br/fnet/publico/visualizarDocumento?id=1148251 · Observação: Resumo jurídico da fonte identificada; verificar aditamentos e aplicação à série</a:t>
            </a:r>
          </a:p>
          <a:p>
            <a:r>
              <a:t>CNPJ 35868110000154 · Ofertas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Ofertas · Início 05/04/2024; encerramento 23/04/2024; R$ 253,21 mi distribuídos · Fundos.NET ID 664160 · 23/04/2024 · emissao · p. 1-3 · data/raw/54559035000194/664160_emissao.pdf · https://fnet.bmfbovespa.com.br/fnet/publico/exibirDocumento?id=664160 · Observação: ID 664160 usa cabeçalho de início, mas comunica encerramento no corpo. Início comprovado no ID634469. Não usar cronograma estimado como fato realizado.</a:t>
            </a:r>
          </a:p>
          <a:p>
            <a:r>
              <a:t>CNPJ 50988212000105 · Ofertas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Ofertas · Encerramento em 27/02/2026; primária por melhores esforços; profissionais · data/raw/62588266000154/1126575_instrumento_de_emiss_o.pdf · ID Fundos.NET 1126575 · 27/02/2026 · emissao · p. 1–4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Ofertas · Encerramento divulgado em 22/04/2026; melhores esforços; profissionais · data/raw/63546406000194/1172101_emissao.pdf · ID Fundos.NET 1172101 · 22/04/2026 · emissao · p. 1–7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Ofertas · Início, encerramento e distribuição efetiva não confirmados por anúncios nesta revisão. · Fundos.NET ID 1061833; referência 19/11/2025; data/raw/26749095000134/1061833_regulamento_cache_integral.txt; parâmetros de oferta / 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Remuneração sênior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Remuneração sênior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sênior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sênior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sênior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sênior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sênior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sênior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sênior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sênior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sênior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sênior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sênior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subordinada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subordinada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subordinada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subordinada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subordinada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subordinada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subordinada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subordinada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subordinada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Remuneração subordinada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subordinada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subordinada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subordinada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Volume / quantidade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 / quantidade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Volume / quantidade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Volume / quantidade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Volume / quantidade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Volume / quantidade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Volume / quantidade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 / quantidade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Volume / quantidade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 / quantidade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Volume / quantidade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Volume / quantidade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Volume / quantidade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VNU / preço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VNU / preço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VNU / preço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VNU / preço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VNU / preço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VNU / preço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VNU / preço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VNU / preço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VNU / preço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VNU / preço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VNU / preço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VNU / preço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VNU / preço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Classes/séries · Sênior; mezanino I; mezanino II; subordinadas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Classes/séries · Sênior e subordinada júnior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Classes/séries · 1ª série sênior e subclasse subordinada júnior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Classes/séries · Sênior e mezanino em séries; subordinadas em subclasses · data/raw/28169275000172/1149521_regulamento.pdf · ID Fundos.NET 1149521 · 25/03/2026 · regulamento · p. 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Classes/séries · Cotas seniores por subclasses/séries; subordinadas do cedente · Fundos.NET ID 792021 · 27/11/2024 · regulamento · p. 43-45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Classes/séries · 1ª série sênior e subclasse subordinada júnior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Classes/séries · Subclasses sênior e subordinada; séries concretas não individualizadas · Fundos.NET ID 1013021 · 14/11/2024 · regulamento · p. 60-62 · data/raw/50988212000105/1013021_regulamento.pdf · https://fnet.bmfbovespa.com.br/fnet/publico/exibirDocumento?id=1013021 · Observação: O glossário menciona mezaninos, mas a cláusula operativa 14.2 prevê duas subclasses. Preservar a regra operativa e exigir ato para classe adicional.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Classes/séries · 1ª emissão sênior e mezanino; subordinadas júnior conforme regulamento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Classes/séries · Sênior; MZ A, B e C; subordinada júnior · data/raw/63546406000194/1130481_regulamento.pdf · ID Fundos.NET 1130481 · 05/03/2026 · regulamento · p. 163–171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Classes/séries · Sênior, subordinadas mezanino e júnior; termos finais por série devem ser confirmados em apêndices. · Fundos.NET ID 1061833; referência 19/11/2025; data/raw/26749095000134/1061833_regulamento_cache_integral.txt; capítulo de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Remuneração · DI + 1,20% sênior; DI + 2,00% MZ I; DI + 4,00% MZ II; prêmios temporários descritos terminaram em 31/10/2024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62838025000116 · Remuneração · Sênior CDI + 0,80% a.a.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Remuneração · Sênior: DI + 1,10% a.a.; júnior: DI + 2,70% a.a. + prêmio residual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Remuneração · 4ª sênior: DI + 0,75% a.a.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Remuneração · Sênior: taxa DI/sobretaxa do apêndice; spread final não localizado · Fundos.NET ID 792021 · 27/11/2024 · regulamento · p. 43, 94-99 · data/raw/35868110000154/792021_regulamento.pdf · https://fnet.bmfbovespa.com.br/fnet/publico/exibirDocumento?id=792021 · Observação: Apêndices acessíveis são modelos sem dados de série; subordinadas residuais, sem sobretaxa fixa documentada.</a:t>
            </a:r>
          </a:p>
          <a:p>
            <a:r>
              <a:t>CNPJ 54559035000194 · Remuneração · Sênior: DI + 1,10% a.a.; júnior: DI + 2,80% a.a. + prêmio residual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Remuneração · Benchmark sênior remetido ao apêndice; spread final não localizado · Fundos.NET ID 1013021 · 14/11/2024 · regulamento · p. 60, 103-105 · data/raw/50988212000105/1013021_regulamento.pdf · https://fnet.bmfbovespa.com.br/fnet/publico/exibirDocumento?id=1013021 · Observação: Anexos de emissão acessíveis são modelos com campos a preencher.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· Sobretaxa definida em suplemento não localizado; modelos mantêm campos abertos · data/raw/62588266000154/1002580_regulamento.pdf · ID Fundos.NET 1002580 · 29/09/2025 · regulamento · p.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Remuneração · Sênior CDI + spread em bookbuilding, piso 1,10% e teto 1,25%; MZ A +3,50%, B +4,75%, C +7,50% a.a. · data/raw/63546406000194/1130481_regulamento.pdf · ID Fundos.NET 1130481 · 05/03/2026 · regulamento · p. 163, 165, 167 e 169 · https://fnet.bmfbovespa.com.br/fnet/publico/visualizarDocumento?id=1130481 · Observação: Piso/teto sênior não representam spread final. Resultado de bookbuilding não localizado nesta leitura.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Remuneração · Spread final não localizado no texto disponível, salvo apêndices III identificados nesta revisão. · Fundos.NET ID 1061833; referência 19/11/2025; data/raw/26749095000134/1061833_regulamento_cache_integral.txt; valoração das cotas e suplementos/apêndices;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Volume/VNU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Volume/VNU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Volume/VNU · Até R$ 740 mi sênior + R$ 110 mi júnior aprovados; VNU R$ 1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Volume/VNU · 4ª sênior: R$ 1 bilhão; 1 milhão de cotas; VNU R$ 1 mil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Volume/VNU · Volumes e VNU de séries efetivas não localizados · Fundos.NET ID 792021 · 27/11/2024 · regulamento · p.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Volume/VNU · R$ 224,29 mi sênior + R$ 28,92 mi júnior; VNU R$ 1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Volume/VNU · VNU inicial de R$ 1.000; volume efetivo não localizado · Fundos.NET ID 1013021 · 14/11/2024 · regulamento · p. 60-61,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Volume/VNU · Distribuídos: sênior R$ 2,55 bi e mezanino R$ 300 mi; VNU R$ 1 mil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Volume/VNU · Oferta total R$ 1,25 bi; sênior R$ 1.068,75 mi; MZ A/B R$ 62,5 mi cada; C R$ 31,25 mi; júnior R$ 25 mi; VNU R$ 1 mil · data/raw/63546406000194/1172101_emissao.pdf · ID Fundos.NET 1172101 · 22/04/2026 · emissao · p. 2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Volume/VNU · Volume por série não confirmado; VNU geral R$ 1.000,00. · Fundos.NET ID 1061833; referência 19/11/2025; data/raw/26749095000134/1061833_regulamento_cache_integral.txt; 6.1.4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08692888000182 · Ofertas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62838025000116 · Ofertas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Ofertas · Encerramento 07/10/2024: R$689,27 mi sênior + R$86,58 mi júnior; R$74,15 mi cancelados · Fundos.NET ID 758570 · 07/10/2024 · emissao · p. 1-3 · data/raw/55070804000159/758570_emissao.pdf · https://fnet.bmfbovespa.com.br/fnet/publico/exibirDocumento?id=758570 · Observação: R$775.850.507 distribuídos; anúncio usa cabeçalho de início mas corpo comunica encerramento. Não confundir volume aprovado de R$850mi com distribuído.</a:t>
            </a:r>
          </a:p>
          <a:p>
            <a:r>
              <a:t>CNPJ 28169275000172 · Ofertas · Início 30/03/2026; liquidação prevista 31/03/2026; garantia firme · data/raw/28169275000172/1148251_emissao.pdf · ID Fundos.NET 1148251 · 30/03/2026 · emissao · p. 2 · https://fnet.bmfbovespa.com.br/fnet/publico/visualizarDocumento?id=1148251 · Observação: Resumo jurídico da fonte identificada; verificar aditamentos e aplicação à série</a:t>
            </a:r>
          </a:p>
          <a:p>
            <a:r>
              <a:t>CNPJ 35868110000154 · Ofertas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Ofertas · Início 05/04/2024; encerramento 23/04/2024; R$ 253,21 mi distribuídos · Fundos.NET ID 664160 · 23/04/2024 · emissao · p. 1-3 · data/raw/54559035000194/664160_emissao.pdf · https://fnet.bmfbovespa.com.br/fnet/publico/exibirDocumento?id=664160 · Observação: ID 664160 usa cabeçalho de início, mas comunica encerramento no corpo. Início comprovado no ID634469. Não usar cronograma estimado como fato realizado.</a:t>
            </a:r>
          </a:p>
          <a:p>
            <a:r>
              <a:t>CNPJ 50988212000105 · Ofertas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Ofertas · Encerramento em 27/02/2026; primária por melhores esforços; profissionais · data/raw/62588266000154/1126575_instrumento_de_emiss_o.pdf · ID Fundos.NET 1126575 · 27/02/2026 · emissao · p. 1–4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Ofertas · Encerramento divulgado em 22/04/2026; melhores esforços; profissionais · data/raw/63546406000194/1172101_emissao.pdf · ID Fundos.NET 1172101 · 22/04/2026 · emissao · p. 1–7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Ofertas · Início, encerramento e distribuição efetiva não confirmados por anúncios nesta revisão. · Fundos.NET ID 1061833; referência 19/11/2025; data/raw/26749095000134/1061833_regulamento_cache_integral.txt; parâmetros de oferta / 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Remuneração sênior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Remuneração sênior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sênior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sênior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sênior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sênior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sênior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sênior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sênior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sênior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sênior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sênior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sênior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subordinada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subordinada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subordinada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subordinada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subordinada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subordinada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subordinada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subordinada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subordinada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Remuneração subordinada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subordinada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subordinada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subordinada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Volume / quantidade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 / quantidade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Volume / quantidade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Volume / quantidade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Volume / quantidade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Volume / quantidade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Volume / quantidade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 / quantidade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Volume / quantidade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 / quantidade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Volume / quantidade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Volume / quantidade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Volume / quantidade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VNU / preço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VNU / preço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VNU / preço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VNU / preço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VNU / preço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VNU / preço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VNU / preço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VNU / preço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VNU / preço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VNU / preço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VNU / preço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VNU / preço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VNU / preço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Classes/séries · Sênior; mezanino I; mezanino II; subordinadas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Classes/séries · Sênior e subordinada júnior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Classes/séries · 1ª série sênior e subclasse subordinada júnior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Classes/séries · Sênior e mezanino em séries; subordinadas em subclasses · data/raw/28169275000172/1149521_regulamento.pdf · ID Fundos.NET 1149521 · 25/03/2026 · regulamento · p. 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Classes/séries · Cotas seniores por subclasses/séries; subordinadas do cedente · Fundos.NET ID 792021 · 27/11/2024 · regulamento · p. 43-45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Classes/séries · 1ª série sênior e subclasse subordinada júnior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Classes/séries · Subclasses sênior e subordinada; séries concretas não individualizadas · Fundos.NET ID 1013021 · 14/11/2024 · regulamento · p. 60-62 · data/raw/50988212000105/1013021_regulamento.pdf · https://fnet.bmfbovespa.com.br/fnet/publico/exibirDocumento?id=1013021 · Observação: O glossário menciona mezaninos, mas a cláusula operativa 14.2 prevê duas subclasses. Preservar a regra operativa e exigir ato para classe adicional.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Classes/séries · 1ª emissão sênior e mezanino; subordinadas júnior conforme regulamento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Classes/séries · Sênior; MZ A, B e C; subordinada júnior · data/raw/63546406000194/1130481_regulamento.pdf · ID Fundos.NET 1130481 · 05/03/2026 · regulamento · p. 163–171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Classes/séries · Sênior, subordinadas mezanino e júnior; termos finais por série devem ser confirmados em apêndices. · Fundos.NET ID 1061833; referência 19/11/2025; data/raw/26749095000134/1061833_regulamento_cache_integral.txt; capítulo de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Remuneração · DI + 1,20% sênior; DI + 2,00% MZ I; DI + 4,00% MZ II; prêmios temporários descritos terminaram em 31/10/2024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62838025000116 · Remuneração · Sênior CDI + 0,80% a.a.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Remuneração · Sênior: DI + 1,10% a.a.; júnior: DI + 2,70% a.a. + prêmio residual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Remuneração · 4ª sênior: DI + 0,75% a.a.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Remuneração · Sênior: taxa DI/sobretaxa do apêndice; spread final não localizado · Fundos.NET ID 792021 · 27/11/2024 · regulamento · p. 43, 94-99 · data/raw/35868110000154/792021_regulamento.pdf · https://fnet.bmfbovespa.com.br/fnet/publico/exibirDocumento?id=792021 · Observação: Apêndices acessíveis são modelos sem dados de série; subordinadas residuais, sem sobretaxa fixa documentada.</a:t>
            </a:r>
          </a:p>
          <a:p>
            <a:r>
              <a:t>CNPJ 54559035000194 · Remuneração · Sênior: DI + 1,10% a.a.; júnior: DI + 2,80% a.a. + prêmio residual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Remuneração · Benchmark sênior remetido ao apêndice; spread final não localizado · Fundos.NET ID 1013021 · 14/11/2024 · regulamento · p. 60, 103-105 · data/raw/50988212000105/1013021_regulamento.pdf · https://fnet.bmfbovespa.com.br/fnet/publico/exibirDocumento?id=1013021 · Observação: Anexos de emissão acessíveis são modelos com campos a preencher.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· Sobretaxa definida em suplemento não localizado; modelos mantêm campos abertos · data/raw/62588266000154/1002580_regulamento.pdf · ID Fundos.NET 1002580 · 29/09/2025 · regulamento · p.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Remuneração · Sênior CDI + spread em bookbuilding, piso 1,10% e teto 1,25%; MZ A +3,50%, B +4,75%, C +7,50% a.a. · data/raw/63546406000194/1130481_regulamento.pdf · ID Fundos.NET 1130481 · 05/03/2026 · regulamento · p. 163, 165, 167 e 169 · https://fnet.bmfbovespa.com.br/fnet/publico/visualizarDocumento?id=1130481 · Observação: Piso/teto sênior não representam spread final. Resultado de bookbuilding não localizado nesta leitura.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Remuneração · Spread final não localizado no texto disponível, salvo apêndices III identificados nesta revisão. · Fundos.NET ID 1061833; referência 19/11/2025; data/raw/26749095000134/1061833_regulamento_cache_integral.txt; valoração das cotas e suplementos/apêndices;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Volume/VNU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Volume/VNU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Volume/VNU · Até R$ 740 mi sênior + R$ 110 mi júnior aprovados; VNU R$ 1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Volume/VNU · 4ª sênior: R$ 1 bilhão; 1 milhão de cotas; VNU R$ 1 mil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Volume/VNU · Volumes e VNU de séries efetivas não localizados · Fundos.NET ID 792021 · 27/11/2024 · regulamento · p.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Volume/VNU · R$ 224,29 mi sênior + R$ 28,92 mi júnior; VNU R$ 1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Volume/VNU · VNU inicial de R$ 1.000; volume efetivo não localizado · Fundos.NET ID 1013021 · 14/11/2024 · regulamento · p. 60-61,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Volume/VNU · Distribuídos: sênior R$ 2,55 bi e mezanino R$ 300 mi; VNU R$ 1 mil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Volume/VNU · Oferta total R$ 1,25 bi; sênior R$ 1.068,75 mi; MZ A/B R$ 62,5 mi cada; C R$ 31,25 mi; júnior R$ 25 mi; VNU R$ 1 mil · data/raw/63546406000194/1172101_emissao.pdf · ID Fundos.NET 1172101 · 22/04/2026 · emissao · p. 2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Volume/VNU · Volume por série não confirmado; VNU geral R$ 1.000,00. · Fundos.NET ID 1061833; referência 19/11/2025; data/raw/26749095000134/1061833_regulamento_cache_integral.txt; 6.1.4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08692888000182 · Ofertas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62838025000116 · Ofertas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Ofertas · Encerramento 07/10/2024: R$689,27 mi sênior + R$86,58 mi júnior; R$74,15 mi cancelados · Fundos.NET ID 758570 · 07/10/2024 · emissao · p. 1-3 · data/raw/55070804000159/758570_emissao.pdf · https://fnet.bmfbovespa.com.br/fnet/publico/exibirDocumento?id=758570 · Observação: R$775.850.507 distribuídos; anúncio usa cabeçalho de início mas corpo comunica encerramento. Não confundir volume aprovado de R$850mi com distribuído.</a:t>
            </a:r>
          </a:p>
          <a:p>
            <a:r>
              <a:t>CNPJ 28169275000172 · Ofertas · Início 30/03/2026; liquidação prevista 31/03/2026; garantia firme · data/raw/28169275000172/1148251_emissao.pdf · ID Fundos.NET 1148251 · 30/03/2026 · emissao · p. 2 · https://fnet.bmfbovespa.com.br/fnet/publico/visualizarDocumento?id=1148251 · Observação: Resumo jurídico da fonte identificada; verificar aditamentos e aplicação à série</a:t>
            </a:r>
          </a:p>
          <a:p>
            <a:r>
              <a:t>CNPJ 35868110000154 · Ofertas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Ofertas · Início 05/04/2024; encerramento 23/04/2024; R$ 253,21 mi distribuídos · Fundos.NET ID 664160 · 23/04/2024 · emissao · p. 1-3 · data/raw/54559035000194/664160_emissao.pdf · https://fnet.bmfbovespa.com.br/fnet/publico/exibirDocumento?id=664160 · Observação: ID 664160 usa cabeçalho de início, mas comunica encerramento no corpo. Início comprovado no ID634469. Não usar cronograma estimado como fato realizado.</a:t>
            </a:r>
          </a:p>
          <a:p>
            <a:r>
              <a:t>CNPJ 50988212000105 · Ofertas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Ofertas · Encerramento em 27/02/2026; primária por melhores esforços; profissionais · data/raw/62588266000154/1126575_instrumento_de_emiss_o.pdf · ID Fundos.NET 1126575 · 27/02/2026 · emissao · p. 1–4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Ofertas · Encerramento divulgado em 22/04/2026; melhores esforços; profissionais · data/raw/63546406000194/1172101_emissao.pdf · ID Fundos.NET 1172101 · 22/04/2026 · emissao · p. 1–7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Ofertas · Início, encerramento e distribuição efetiva não confirmados por anúncios nesta revisão. · Fundos.NET ID 1061833; referência 19/11/2025; data/raw/26749095000134/1061833_regulamento_cache_integral.txt; parâmetros de oferta / 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Remuneração sênior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Remuneração sênior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sênior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sênior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sênior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sênior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sênior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sênior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sênior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sênior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sênior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sênior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sênior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subordinada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subordinada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subordinada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subordinada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subordinada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subordinada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subordinada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subordinada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subordinada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Remuneração subordinada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subordinada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subordinada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subordinada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Volume / quantidade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 / quantidade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Volume / quantidade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Volume / quantidade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Volume / quantidade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Volume / quantidade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Volume / quantidade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 / quantidade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Volume / quantidade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 / quantidade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Volume / quantidade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Volume / quantidade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Volume / quantidade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VNU / preço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VNU / preço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VNU / preço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VNU / preço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VNU / preço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VNU / preço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VNU / preço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VNU / preço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VNU / preço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VNU / preço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VNU / preço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VNU / preço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VNU / preço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Classes/séries · Sênior; mezanino I; mezanino II; subordinadas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Classes/séries · Sênior e subordinada júnior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Classes/séries · 1ª série sênior e subclasse subordinada júnior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Classes/séries · Sênior e mezanino em séries; subordinadas em subclasses · data/raw/28169275000172/1149521_regulamento.pdf · ID Fundos.NET 1149521 · 25/03/2026 · regulamento · p. 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Classes/séries · Cotas seniores por subclasses/séries; subordinadas do cedente · Fundos.NET ID 792021 · 27/11/2024 · regulamento · p. 43-45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Classes/séries · 1ª série sênior e subclasse subordinada júnior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Classes/séries · Subclasses sênior e subordinada; séries concretas não individualizadas · Fundos.NET ID 1013021 · 14/11/2024 · regulamento · p. 60-62 · data/raw/50988212000105/1013021_regulamento.pdf · https://fnet.bmfbovespa.com.br/fnet/publico/exibirDocumento?id=1013021 · Observação: O glossário menciona mezaninos, mas a cláusula operativa 14.2 prevê duas subclasses. Preservar a regra operativa e exigir ato para classe adicional.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Classes/séries · 1ª emissão sênior e mezanino; subordinadas júnior conforme regulamento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Classes/séries · Sênior; MZ A, B e C; subordinada júnior · data/raw/63546406000194/1130481_regulamento.pdf · ID Fundos.NET 1130481 · 05/03/2026 · regulamento · p. 163–171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Classes/séries · Sênior, subordinadas mezanino e júnior; termos finais por série devem ser confirmados em apêndices. · Fundos.NET ID 1061833; referência 19/11/2025; data/raw/26749095000134/1061833_regulamento_cache_integral.txt; capítulo de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Remuneração · DI + 1,20% sênior; DI + 2,00% MZ I; DI + 4,00% MZ II; prêmios temporários descritos terminaram em 31/10/2024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62838025000116 · Remuneração · Sênior CDI + 0,80% a.a.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Remuneração · Sênior: DI + 1,10% a.a.; júnior: DI + 2,70% a.a. + prêmio residual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Remuneração · 4ª sênior: DI + 0,75% a.a.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Remuneração · Sênior: taxa DI/sobretaxa do apêndice; spread final não localizado · Fundos.NET ID 792021 · 27/11/2024 · regulamento · p. 43, 94-99 · data/raw/35868110000154/792021_regulamento.pdf · https://fnet.bmfbovespa.com.br/fnet/publico/exibirDocumento?id=792021 · Observação: Apêndices acessíveis são modelos sem dados de série; subordinadas residuais, sem sobretaxa fixa documentada.</a:t>
            </a:r>
          </a:p>
          <a:p>
            <a:r>
              <a:t>CNPJ 54559035000194 · Remuneração · Sênior: DI + 1,10% a.a.; júnior: DI + 2,80% a.a. + prêmio residual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Remuneração · Benchmark sênior remetido ao apêndice; spread final não localizado · Fundos.NET ID 1013021 · 14/11/2024 · regulamento · p. 60, 103-105 · data/raw/50988212000105/1013021_regulamento.pdf · https://fnet.bmfbovespa.com.br/fnet/publico/exibirDocumento?id=1013021 · Observação: Anexos de emissão acessíveis são modelos com campos a preencher.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· Sobretaxa definida em suplemento não localizado; modelos mantêm campos abertos · data/raw/62588266000154/1002580_regulamento.pdf · ID Fundos.NET 1002580 · 29/09/2025 · regulamento · p.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Remuneração · Sênior CDI + spread em bookbuilding, piso 1,10% e teto 1,25%; MZ A +3,50%, B +4,75%, C +7,50% a.a. · data/raw/63546406000194/1130481_regulamento.pdf · ID Fundos.NET 1130481 · 05/03/2026 · regulamento · p. 163, 165, 167 e 169 · https://fnet.bmfbovespa.com.br/fnet/publico/visualizarDocumento?id=1130481 · Observação: Piso/teto sênior não representam spread final. Resultado de bookbuilding não localizado nesta leitura.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Remuneração · Spread final não localizado no texto disponível, salvo apêndices III identificados nesta revisão. · Fundos.NET ID 1061833; referência 19/11/2025; data/raw/26749095000134/1061833_regulamento_cache_integral.txt; valoração das cotas e suplementos/apêndices;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Volume/VNU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Volume/VNU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Volume/VNU · Até R$ 740 mi sênior + R$ 110 mi júnior aprovados; VNU R$ 1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Volume/VNU · 4ª sênior: R$ 1 bilhão; 1 milhão de cotas; VNU R$ 1 mil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Volume/VNU · Volumes e VNU de séries efetivas não localizados · Fundos.NET ID 792021 · 27/11/2024 · regulamento · p.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Volume/VNU · R$ 224,29 mi sênior + R$ 28,92 mi júnior; VNU R$ 1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Volume/VNU · VNU inicial de R$ 1.000; volume efetivo não localizado · Fundos.NET ID 1013021 · 14/11/2024 · regulamento · p. 60-61,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Volume/VNU · Distribuídos: sênior R$ 2,55 bi e mezanino R$ 300 mi; VNU R$ 1 mil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Volume/VNU · Oferta total R$ 1,25 bi; sênior R$ 1.068,75 mi; MZ A/B R$ 62,5 mi cada; C R$ 31,25 mi; júnior R$ 25 mi; VNU R$ 1 mil · data/raw/63546406000194/1172101_emissao.pdf · ID Fundos.NET 1172101 · 22/04/2026 · emissao · p. 2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Volume/VNU · Volume por série não confirmado; VNU geral R$ 1.000,00. · Fundos.NET ID 1061833; referência 19/11/2025; data/raw/26749095000134/1061833_regulamento_cache_integral.txt; 6.1.4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08692888000182 · Ofertas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62838025000116 · Ofertas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Ofertas · Encerramento 07/10/2024: R$689,27 mi sênior + R$86,58 mi júnior; R$74,15 mi cancelados · Fundos.NET ID 758570 · 07/10/2024 · emissao · p. 1-3 · data/raw/55070804000159/758570_emissao.pdf · https://fnet.bmfbovespa.com.br/fnet/publico/exibirDocumento?id=758570 · Observação: R$775.850.507 distribuídos; anúncio usa cabeçalho de início mas corpo comunica encerramento. Não confundir volume aprovado de R$850mi com distribuído.</a:t>
            </a:r>
          </a:p>
          <a:p>
            <a:r>
              <a:t>CNPJ 28169275000172 · Ofertas · Início 30/03/2026; liquidação prevista 31/03/2026; garantia firme · data/raw/28169275000172/1148251_emissao.pdf · ID Fundos.NET 1148251 · 30/03/2026 · emissao · p. 2 · https://fnet.bmfbovespa.com.br/fnet/publico/visualizarDocumento?id=1148251 · Observação: Resumo jurídico da fonte identificada; verificar aditamentos e aplicação à série</a:t>
            </a:r>
          </a:p>
          <a:p>
            <a:r>
              <a:t>CNPJ 35868110000154 · Ofertas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Ofertas · Início 05/04/2024; encerramento 23/04/2024; R$ 253,21 mi distribuídos · Fundos.NET ID 664160 · 23/04/2024 · emissao · p. 1-3 · data/raw/54559035000194/664160_emissao.pdf · https://fnet.bmfbovespa.com.br/fnet/publico/exibirDocumento?id=664160 · Observação: ID 664160 usa cabeçalho de início, mas comunica encerramento no corpo. Início comprovado no ID634469. Não usar cronograma estimado como fato realizado.</a:t>
            </a:r>
          </a:p>
          <a:p>
            <a:r>
              <a:t>CNPJ 50988212000105 · Ofertas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Ofertas · Encerramento em 27/02/2026; primária por melhores esforços; profissionais · data/raw/62588266000154/1126575_instrumento_de_emiss_o.pdf · ID Fundos.NET 1126575 · 27/02/2026 · emissao · p. 1–4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Ofertas · Encerramento divulgado em 22/04/2026; melhores esforços; profissionais · data/raw/63546406000194/1172101_emissao.pdf · ID Fundos.NET 1172101 · 22/04/2026 · emissao · p. 1–7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Ofertas · Início, encerramento e distribuição efetiva não confirmados por anúncios nesta revisão. · Fundos.NET ID 1061833; referência 19/11/2025; data/raw/26749095000134/1061833_regulamento_cache_integral.txt; parâmetros de oferta / 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Remuneração sênior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Remuneração sênior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sênior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sênior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sênior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sênior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sênior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sênior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sênior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sênior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sênior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sênior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sênior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subordinada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subordinada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subordinada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subordinada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subordinada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subordinada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subordinada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subordinada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subordinada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Remuneração subordinada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subordinada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subordinada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subordinada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Volume / quantidade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 / quantidade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Volume / quantidade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Volume / quantidade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Volume / quantidade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Volume / quantidade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Volume / quantidade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 / quantidade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Volume / quantidade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 / quantidade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Volume / quantidade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Volume / quantidade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Volume / quantidade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VNU / preço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VNU / preço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VNU / preço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VNU / preço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VNU / preço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VNU / preço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VNU / preço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VNU / preço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VNU / preço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VNU / preço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VNU / preço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VNU / preço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VNU / preço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Classes/séries · Sênior; mezanino I; mezanino II; subordinadas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Classes/séries · Sênior e subordinada júnior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Classes/séries · 1ª série sênior e subclasse subordinada júnior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Classes/séries · Sênior e mezanino em séries; subordinadas em subclasses · data/raw/28169275000172/1149521_regulamento.pdf · ID Fundos.NET 1149521 · 25/03/2026 · regulamento · p. 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Classes/séries · Cotas seniores por subclasses/séries; subordinadas do cedente · Fundos.NET ID 792021 · 27/11/2024 · regulamento · p. 43-45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Classes/séries · 1ª série sênior e subclasse subordinada júnior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Classes/séries · Subclasses sênior e subordinada; séries concretas não individualizadas · Fundos.NET ID 1013021 · 14/11/2024 · regulamento · p. 60-62 · data/raw/50988212000105/1013021_regulamento.pdf · https://fnet.bmfbovespa.com.br/fnet/publico/exibirDocumento?id=1013021 · Observação: O glossário menciona mezaninos, mas a cláusula operativa 14.2 prevê duas subclasses. Preservar a regra operativa e exigir ato para classe adicional.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Classes/séries · 1ª emissão sênior e mezanino; subordinadas júnior conforme regulamento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Classes/séries · Sênior; MZ A, B e C; subordinada júnior · data/raw/63546406000194/1130481_regulamento.pdf · ID Fundos.NET 1130481 · 05/03/2026 · regulamento · p. 163–171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Classes/séries · Sênior, subordinadas mezanino e júnior; termos finais por série devem ser confirmados em apêndices. · Fundos.NET ID 1061833; referência 19/11/2025; data/raw/26749095000134/1061833_regulamento_cache_integral.txt; capítulo de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Remuneração · DI + 1,20% sênior; DI + 2,00% MZ I; DI + 4,00% MZ II; prêmios temporários descritos terminaram em 31/10/2024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62838025000116 · Remuneração · Sênior CDI + 0,80% a.a.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Remuneração · Sênior: DI + 1,10% a.a.; júnior: DI + 2,70% a.a. + prêmio residual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Remuneração · 4ª sênior: DI + 0,75% a.a.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Remuneração · Sênior: taxa DI/sobretaxa do apêndice; spread final não localizado · Fundos.NET ID 792021 · 27/11/2024 · regulamento · p. 43, 94-99 · data/raw/35868110000154/792021_regulamento.pdf · https://fnet.bmfbovespa.com.br/fnet/publico/exibirDocumento?id=792021 · Observação: Apêndices acessíveis são modelos sem dados de série; subordinadas residuais, sem sobretaxa fixa documentada.</a:t>
            </a:r>
          </a:p>
          <a:p>
            <a:r>
              <a:t>CNPJ 54559035000194 · Remuneração · Sênior: DI + 1,10% a.a.; júnior: DI + 2,80% a.a. + prêmio residual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Remuneração · Benchmark sênior remetido ao apêndice; spread final não localizado · Fundos.NET ID 1013021 · 14/11/2024 · regulamento · p. 60, 103-105 · data/raw/50988212000105/1013021_regulamento.pdf · https://fnet.bmfbovespa.com.br/fnet/publico/exibirDocumento?id=1013021 · Observação: Anexos de emissão acessíveis são modelos com campos a preencher.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· Sobretaxa definida em suplemento não localizado; modelos mantêm campos abertos · data/raw/62588266000154/1002580_regulamento.pdf · ID Fundos.NET 1002580 · 29/09/2025 · regulamento · p.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Remuneração · Sênior CDI + spread em bookbuilding, piso 1,10% e teto 1,25%; MZ A +3,50%, B +4,75%, C +7,50% a.a. · data/raw/63546406000194/1130481_regulamento.pdf · ID Fundos.NET 1130481 · 05/03/2026 · regulamento · p. 163, 165, 167 e 169 · https://fnet.bmfbovespa.com.br/fnet/publico/visualizarDocumento?id=1130481 · Observação: Piso/teto sênior não representam spread final. Resultado de bookbuilding não localizado nesta leitura.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Remuneração · Spread final não localizado no texto disponível, salvo apêndices III identificados nesta revisão. · Fundos.NET ID 1061833; referência 19/11/2025; data/raw/26749095000134/1061833_regulamento_cache_integral.txt; valoração das cotas e suplementos/apêndices;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Volume/VNU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Volume/VNU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Volume/VNU · Até R$ 740 mi sênior + R$ 110 mi júnior aprovados; VNU R$ 1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Volume/VNU · 4ª sênior: R$ 1 bilhão; 1 milhão de cotas; VNU R$ 1 mil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Volume/VNU · Volumes e VNU de séries efetivas não localizados · Fundos.NET ID 792021 · 27/11/2024 · regulamento · p.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Volume/VNU · R$ 224,29 mi sênior + R$ 28,92 mi júnior; VNU R$ 1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Volume/VNU · VNU inicial de R$ 1.000; volume efetivo não localizado · Fundos.NET ID 1013021 · 14/11/2024 · regulamento · p. 60-61,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Volume/VNU · Distribuídos: sênior R$ 2,55 bi e mezanino R$ 300 mi; VNU R$ 1 mil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Volume/VNU · Oferta total R$ 1,25 bi; sênior R$ 1.068,75 mi; MZ A/B R$ 62,5 mi cada; C R$ 31,25 mi; júnior R$ 25 mi; VNU R$ 1 mil · data/raw/63546406000194/1172101_emissao.pdf · ID Fundos.NET 1172101 · 22/04/2026 · emissao · p. 2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Volume/VNU · Volume por série não confirmado; VNU geral R$ 1.000,00. · Fundos.NET ID 1061833; referência 19/11/2025; data/raw/26749095000134/1061833_regulamento_cache_integral.txt; 6.1.4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08692888000182 · Ofertas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62838025000116 · Ofertas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Ofertas · Encerramento 07/10/2024: R$689,27 mi sênior + R$86,58 mi júnior; R$74,15 mi cancelados · Fundos.NET ID 758570 · 07/10/2024 · emissao · p. 1-3 · data/raw/55070804000159/758570_emissao.pdf · https://fnet.bmfbovespa.com.br/fnet/publico/exibirDocumento?id=758570 · Observação: R$775.850.507 distribuídos; anúncio usa cabeçalho de início mas corpo comunica encerramento. Não confundir volume aprovado de R$850mi com distribuído.</a:t>
            </a:r>
          </a:p>
          <a:p>
            <a:r>
              <a:t>CNPJ 28169275000172 · Ofertas · Início 30/03/2026; liquidação prevista 31/03/2026; garantia firme · data/raw/28169275000172/1148251_emissao.pdf · ID Fundos.NET 1148251 · 30/03/2026 · emissao · p. 2 · https://fnet.bmfbovespa.com.br/fnet/publico/visualizarDocumento?id=1148251 · Observação: Resumo jurídico da fonte identificada; verificar aditamentos e aplicação à série</a:t>
            </a:r>
          </a:p>
          <a:p>
            <a:r>
              <a:t>CNPJ 35868110000154 · Ofertas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Ofertas · Início 05/04/2024; encerramento 23/04/2024; R$ 253,21 mi distribuídos · Fundos.NET ID 664160 · 23/04/2024 · emissao · p. 1-3 · data/raw/54559035000194/664160_emissao.pdf · https://fnet.bmfbovespa.com.br/fnet/publico/exibirDocumento?id=664160 · Observação: ID 664160 usa cabeçalho de início, mas comunica encerramento no corpo. Início comprovado no ID634469. Não usar cronograma estimado como fato realizado.</a:t>
            </a:r>
          </a:p>
          <a:p>
            <a:r>
              <a:t>CNPJ 50988212000105 · Ofertas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Ofertas · Encerramento em 27/02/2026; primária por melhores esforços; profissionais · data/raw/62588266000154/1126575_instrumento_de_emiss_o.pdf · ID Fundos.NET 1126575 · 27/02/2026 · emissao · p. 1–4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Ofertas · Encerramento divulgado em 22/04/2026; melhores esforços; profissionais · data/raw/63546406000194/1172101_emissao.pdf · ID Fundos.NET 1172101 · 22/04/2026 · emissao · p. 1–7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Ofertas · Início, encerramento e distribuição efetiva não confirmados por anúncios nesta revisão. · Fundos.NET ID 1061833; referência 19/11/2025; data/raw/26749095000134/1061833_regulamento_cache_integral.txt; parâmetros de oferta / 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Remuneração sênior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Remuneração sênior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sênior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sênior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sênior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sênior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sênior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sênior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sênior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sênior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sênior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sênior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sênior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subordinada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subordinada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subordinada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subordinada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subordinada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subordinada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subordinada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subordinada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subordinada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Remuneração subordinada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subordinada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subordinada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subordinada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Volume / quantidade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 / quantidade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Volume / quantidade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Volume / quantidade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Volume / quantidade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Volume / quantidade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Volume / quantidade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 / quantidade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Volume / quantidade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 / quantidade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Volume / quantidade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Volume / quantidade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Volume / quantidade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VNU / preço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VNU / preço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VNU / preço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VNU / preço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VNU / preço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VNU / preço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VNU / preço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VNU / preço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VNU / preço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VNU / preço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VNU / preço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VNU / preço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VNU / preço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Classes/séries · Sênior; mezanino I; mezanino II; subordinadas · data/raw/08692888000182/772020_regulamento.pdf · ID Fundos.NET 772020 · 05/11/2024 · regulamento · p. 59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Classes/séries · Sênior e subordinada júnior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Classes/séries · 1ª série sênior e subclasse subordinada júnior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Classes/séries · Sênior e mezanino em séries; subordinadas em subclasses · data/raw/28169275000172/1149521_regulamento.pdf · ID Fundos.NET 1149521 · 25/03/2026 · regulamento · p. 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Classes/séries · Cotas seniores por subclasses/séries; subordinadas do cedente · Fundos.NET ID 792021 · 27/11/2024 · regulamento · p. 43-45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Classes/séries · 1ª série sênior e subclasse subordinada júnior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Classes/séries · Subclasses sênior e subordinada; séries concretas não individualizadas · Fundos.NET ID 1013021 · 14/11/2024 · regulamento · p. 60-62 · data/raw/50988212000105/1013021_regulamento.pdf · https://fnet.bmfbovespa.com.br/fnet/publico/exibirDocumento?id=1013021 · Observação: O glossário menciona mezaninos, mas a cláusula operativa 14.2 prevê duas subclasses. Preservar a regra operativa e exigir ato para classe adicional.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Classes/séries · 1ª emissão sênior e mezanino; subordinadas júnior conforme regulamento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Classes/séries · Sênior; MZ A, B e C; subordinada júnior · data/raw/63546406000194/1130481_regulamento.pdf · ID Fundos.NET 1130481 · 05/03/2026 · regulamento · p. 163–171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Classes/séries · Sênior e subordinadas; séries e eventuais mezaninos conforme apêndices e atos lidos · Fundos.NET ID 966441 | 24/07/2025 | Regulamento | p. 33, Anexo I, composição/emissões | data/raw/42085830000109/966441_review_20261007.pdf | https://fnet.bmfbovespa.com.br/fnet/publico/visualizarDocumento?id=966441 · Observação: Classes jurídicas identificadas; não implica que todas as séries históricas continuem em circulação.</a:t>
            </a:r>
          </a:p>
          <a:p>
            <a:r>
              <a:t>CNPJ 42085816000105 · Classes/séries · Sênior e subordinadas; séries e eventuais mezaninos conforme apêndices e atos lidos · Fundos.NET ID 1337406 | 01/10/2026 | Regulamento | p. 33, Anexo I, composição/emissões | data/raw/42085816000105/1337406_review_20261007.pdf | https://fnet.bmfbovespa.com.br/fnet/publico/visualizarDocumento?id=1337406 · Observação: Classes jurídicas identificadas; não implica que todas as séries históricas continuem em circulação.</a:t>
            </a:r>
          </a:p>
          <a:p>
            <a:r>
              <a:t>CNPJ 51957370000152 · Classes/séries · Sênior; mezanino; subordinada júnior · Fundos.NET ID 1025473 · 03/04/2025 · Regulamento · p. 37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Classes/séries · Sênior, subordinadas mezanino e júnior; termos finais por série devem ser confirmados em apêndices. · Fundos.NET ID 1061833; referência 19/11/2025; data/raw/26749095000134/1061833_regulamento_cache_integral.txt; capítulo de cotas;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Classes/séries · Classe A; sênior; mezanino; júnior · Fundos.NET ID 937760 · 22/04/2025 · Regulamento · p. 16, 43-46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Remuneração · DI + 1,20% sênior; DI + 2,00% MZ I; DI + 4,00% MZ II; prêmios temporários descritos terminaram em 31/10/2024 · data/raw/08692888000182/772020_regulamento.pdf · ID Fundos.NET 772020 · 05/11/2024 · regulamento · p. 33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62838025000116 · Remuneração · Sênior CDI + 0,80% a.a. · data/raw/62838025000116/1058234_regulamento.pdf · ID Fundos.NET 1058234 · 10/12/2025 · regulamento · p. 56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Remuneração · Sênior: DI + 1,10% a.a.; júnior: DI + 2,70% a.a. + prêmio residual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Remuneração · 4ª sênior: DI + 0,75% a.a.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Remuneração · Sênior: taxa DI/sobretaxa do apêndice; spread final não localizado · Fundos.NET ID 792021 · 27/11/2024 · regulamento · p. 43, 94-99 · data/raw/35868110000154/792021_regulamento.pdf · https://fnet.bmfbovespa.com.br/fnet/publico/exibirDocumento?id=792021 · Observação: Apêndices acessíveis são modelos sem dados de série; subordinadas residuais, sem sobretaxa fixa documentada.</a:t>
            </a:r>
          </a:p>
          <a:p>
            <a:r>
              <a:t>CNPJ 54559035000194 · Remuneração · Sênior: DI + 1,10% a.a.; júnior: DI + 2,80% a.a. + prêmio residual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Remuneração · Benchmark sênior remetido ao apêndice; spread final não localizado · Fundos.NET ID 1013021 · 14/11/2024 · regulamento · p. 60, 103-105 · data/raw/50988212000105/1013021_regulamento.pdf · https://fnet.bmfbovespa.com.br/fnet/publico/exibirDocumento?id=1013021 · Observação: Anexos de emissão acessíveis são modelos com campos a preencher.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· Sobretaxa definida em suplemento não localizado; modelos mantêm campos abertos · data/raw/62588266000154/1002580_regulamento.pdf · ID Fundos.NET 1002580 · 29/09/2025 · regulamento · p.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Remuneração · Sênior CDI + spread em bookbuilding, piso 1,10% e teto 1,25%; MZ A +3,50%, B +4,75%, C +7,50% a.a. · data/raw/63546406000194/1130481_regulamento.pdf · ID Fundos.NET 1130481 · 05/03/2026 · regulamento · p. 163, 165, 167 e 169 · https://fnet.bmfbovespa.com.br/fnet/publico/visualizarDocumento?id=1130481 · Observação: Piso/teto sênior não representam spread final. Resultado de bookbuilding não localizado nesta leitura.</a:t>
            </a:r>
          </a:p>
          <a:p>
            <a:r>
              <a:t>CNPJ 42085830000109 · Remuneração · 1ª série: CDI + 1,14% a.a.; Não localizado na documentação acessível; Residual conforme waterfall; taxa fixa final não localizada · Fundos.NET ID 966441 | 24/07/2025 | Regulamento | p. 114, apêndice1ªsériesênior | data/raw/42085830000109/966441_review_20261007.pdf | https://fnet.bmfbovespa.com.br/fnet/publico/visualizarDocumento?id=966441 | Inventário por CNPJ 42085830000109, consulta Fundos.NET em 07/10/2026: 108 documentos listados; listagem pública obtida.  PDFs efetivamente revistos: 966441. ID1281928: Falha de rede ao acessar downloadDocumento: The read operation timed out | Fundos.NET ID 966441 | 24/07/2025 | Regulamento | p. 3, Anexo I, características das cotas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 Lacuna documental; não preencher por aproximação de nome ou por campo heurístico. Cláusula documental; verificar vigência e eventuais aditamentos posteriores.</a:t>
            </a:r>
          </a:p>
          <a:p>
            <a:r>
              <a:t>CNPJ 42085816000105 · Remuneração · Não localizado na documentação acessível; Residual conforme waterfall; taxa fixa final não localizada · Inventário por CNPJ 42085816000105, consulta Fundos.NET em 07/10/2026: 113 documentos listados; listagem pública obtida.  PDFs efetivamente revistos: 1337406, 211003. ID1152028: Falha de rede ao acessar downloadDocumento: The read operation timed out | Fundos.NET ID 1337406 | 01/10/2026 | Regulamento | p. 3, Anexo I, características das cotas | data/raw/42085816000105/1337406_review_20261007.pdf | https://fnet.bmfbovespa.com.br/fnet/publico/visualizarDocumento?id=1337406 · Observação: Lacuna documental; não preencher por aproximação de nome ou por campo heurístico. Cláusula documental; verificar vigência e eventuais aditamentos posteriores.</a:t>
            </a:r>
          </a:p>
          <a:p>
            <a:r>
              <a:t>CNPJ 51957370000152 · Remuneração · Sênior/mezanino conforme suplemento; spread final não localizado no regulamento · Fundos.NET ID 1025473 · 03/04/2025 · Regulamento · p. 76, 82 · data/raw/51957370000152/1025473_documentary_review.pdf · https://fnet.bmfbovespa.com.br/fnet/publico/exibirDocumento?id=1025473 · Observação: O texto inclui modelo com campos não preenchidos; não é emissão efetiva.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Remuneração · Spread final não localizado no texto disponível, salvo apêndices III identificados nesta revisão. · Fundos.NET ID 1061833; referência 19/11/2025; data/raw/26749095000134/1061833_regulamento_cache_integral.txt; valoração das cotas e suplementos/apêndices;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Remuneração · Spread final não localizado no anúncio acessível; exige suplemento da série · Fundos.NET ID 666840 · 21/05/2024 · Oferta Pública de Distribuição de Cotas · p. 1-5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Volume/VNU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Volume/VNU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Volume/VNU · Até R$ 740 mi sênior + R$ 110 mi júnior aprovados; VNU R$ 1 · Fundos.NET ID 667195 · 22/05/2024 · regulamento · p. 137, 140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Volume/VNU · 4ª sênior: R$ 1 bilhão; 1 milhão de cotas; VNU R$ 1 mil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Volume/VNU · Volumes e VNU de séries efetivas não localizados · Fundos.NET ID 792021 · 27/11/2024 · regulamento · p.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Volume/VNU · R$ 224,29 mi sênior + R$ 28,92 mi júnior; VNU R$ 1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Volume/VNU · VNU inicial de R$ 1.000; volume efetivo não localizado · Fundos.NET ID 1013021 · 14/11/2024 · regulamento · p. 60-61,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Volume/VNU · Distribuídos: sênior R$ 2,55 bi e mezanino R$ 300 mi; VNU R$ 1 mil · data/raw/62588266000154/1126575_instrumento_de_emiss_o.pdf · ID Fundos.NET 1126575 · 27/02/2026 · emissao · p. 1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Volume/VNU · Oferta total R$ 1,25 bi; sênior R$ 1.068,75 mi; MZ A/B R$ 62,5 mi cada; C R$ 31,25 mi; júnior R$ 25 mi; VNU R$ 1 mil · data/raw/63546406000194/1172101_emissao.pdf · ID Fundos.NET 1172101 · 22/04/2026 · emissao · p. 2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Volume/VNU · 1ª série: R$ 500.000.000,00;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Volume/VNU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Volume/VNU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Volume/VNU · Volume por série não confirmado; VNU geral R$ 1.000,00. · Fundos.NET ID 1061833; referência 19/11/2025; data/raw/26749095000134/1061833_regulamento_cache_integral.txt; 6.1.4 do Anexo Descritivo;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Volume/VNU · 1ª sênior até R$ 1,35 bi; júnior até R$ 170 mi; VNU R$ 1.000 · Fundos.NET ID 666840 · 21/05/2024 · Oferta Pública de Distribuição de Cotas · p. 1-2 · data/raw/54810968000102/666840_documentary_review.pdf · https://fnet.bmfbovespa.com.br/fnet/publico/exibirDocumento?id=666840 · Observação: Anúncio de início; não é resultado distribuído.</a:t>
            </a:r>
          </a:p>
          <a:p>
            <a:r>
              <a:t>CNPJ 08692888000182 · Ofertas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62838025000116 · Ofertas · Não localizado nas fontes acessíveis desta leitura · Consulta Fundos.NET por CNPJ 62838025000116 em 07/10/2026; 23 registros no inventário obtido; fontes acessíveis: 1171493, 1058234, 1052452, 1032846 · Observação: Lacuna documental; não equivale à inexistência da regra</a:t>
            </a:r>
          </a:p>
          <a:p>
            <a:r>
              <a:t>CNPJ 55070804000159 · Ofertas · Encerramento 07/10/2024: R$689,27 mi sênior + R$86,58 mi júnior; R$74,15 mi cancelados · Fundos.NET ID 758570 · 07/10/2024 · emissao · p. 1-3 · data/raw/55070804000159/758570_emissao.pdf · https://fnet.bmfbovespa.com.br/fnet/publico/exibirDocumento?id=758570 · Observação: R$775.850.507 distribuídos; anúncio usa cabeçalho de início mas corpo comunica encerramento. Não confundir volume aprovado de R$850mi com distribuído.</a:t>
            </a:r>
          </a:p>
          <a:p>
            <a:r>
              <a:t>CNPJ 28169275000172 · Ofertas · Início 30/03/2026; liquidação prevista 31/03/2026; garantia firme · data/raw/28169275000172/1148251_emissao.pdf · ID Fundos.NET 1148251 · 30/03/2026 · emissao · p. 2 · https://fnet.bmfbovespa.com.br/fnet/publico/visualizarDocumento?id=1148251 · Observação: Resumo jurídico da fonte identificada; verificar aditamentos e aplicação à série</a:t>
            </a:r>
          </a:p>
          <a:p>
            <a:r>
              <a:t>CNPJ 35868110000154 · Ofertas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Ofertas · Início 05/04/2024; encerramento 23/04/2024; R$ 253,21 mi distribuídos · Fundos.NET ID 664160 · 23/04/2024 · emissao · p. 1-3 · data/raw/54559035000194/664160_emissao.pdf · https://fnet.bmfbovespa.com.br/fnet/publico/exibirDocumento?id=664160 · Observação: ID 664160 usa cabeçalho de início, mas comunica encerramento no corpo. Início comprovado no ID634469. Não usar cronograma estimado como fato realizado.</a:t>
            </a:r>
          </a:p>
          <a:p>
            <a:r>
              <a:t>CNPJ 50988212000105 · Ofertas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Ofertas · Encerramento em 27/02/2026; primária por melhores esforços; profissionais · data/raw/62588266000154/1126575_instrumento_de_emiss_o.pdf · ID Fundos.NET 1126575 · 27/02/2026 · emissao · p. 1–4 · https://fnet.bmfbovespa.com.br/fnet/publico/visualizarDocumento?id=1126575 · Observação: Resumo jurídico da fonte identificada; verificar aditamentos e aplicação à série</a:t>
            </a:r>
          </a:p>
          <a:p>
            <a:r>
              <a:t>CNPJ 63546406000194 · Ofertas · Encerramento divulgado em 22/04/2026; melhores esforços; profissionais · data/raw/63546406000194/1172101_emissao.pdf · ID Fundos.NET 1172101 · 22/04/2026 · emissao · p. 1–7 · https://fnet.bmfbovespa.com.br/fnet/publico/visualizarDocumento?id=1172101 · Observação: Resumo jurídico da fonte identificada; verificar aditamentos e aplicação à série</a:t>
            </a:r>
          </a:p>
          <a:p>
            <a:r>
              <a:t>CNPJ 42085830000109 · Ofertas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Ofertas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Ofertas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Ofertas · Início, encerramento e distribuição efetiva não confirmados por anúncios nesta revisão. · Fundos.NET ID 1061833; referência 19/11/2025; data/raw/26749095000134/1061833_regulamento_cache_integral.txt; parâmetros de oferta / apêndices;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Ofertas · 1ª oferta registrada e iniciada em 21/05/2024 · Fundos.NET ID 666840 · 21/05/2024 · Oferta Pública de Distribuição de Cotas · p. 1 · data/raw/54810968000102/666840_documentary_review.pdf · https://fnet.bmfbovespa.com.br/fnet/publico/exibirDocumento?id=666840 · Observação: Conclusão documental revisada; preservar a versão e a unidade indicadas.</a:t>
            </a:r>
          </a:p>
          <a:p>
            <a:r>
              <a:t>CNPJ 08692888000182 · Remuneração sênior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Remuneração sênior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sênior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sênior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sênior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sênior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sênior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sênior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sênior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sênior · 1ª série: CDI + 1,14% a.a. · Fundos.NET ID 966441 | 24/07/2025 | Regulamento | p. 114, apêndice1ªsériesênior | data/raw/42085830000109/966441_review_20261007.pdf | https://fnet.bmfbovespa.com.br/fnet/publico/visualizarDocumento?id=966441 · Observação: Índice+spread normalizados para comparação; método de capitalização contratual preservado. Termos de emissão não provam saldo vigente.</a:t>
            </a:r>
          </a:p>
          <a:p>
            <a:r>
              <a:t>CNPJ 42085816000105 · Remuneração sênior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sênior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sênior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sênior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sênior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mezanino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mezanino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mezanino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mezanino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mezanino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mezanino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mezanino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mezanino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mezanino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mezanino · Não localizado na documentação acessível · Inventário por CNPJ 42085830000109, consulta Fundos.NET em 07/10/2026: 108 documentos listados; listagem pública obtida.  PDFs efetivamente revistos: 966441. ID1281928: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42085816000105 · Remuneração mezanino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Remuneração mezanino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mezanino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mezanino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mezanino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Remuneração subordinada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Remuneração subordinada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Remuneração subordinada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Remuneração subordinada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Remuneração subordinada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Remuneração subordinada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Remuneração subordinada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Remuneração subordinada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Remuneração subordinada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Remuneração subordinada · Residual conforme waterfall; taxa fixa final não localizada · Fundos.NET ID 966441 | 24/07/2025 | Regulamento | p. 3, Anexo I, características das cotas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Remuneração subordinada · Residual conforme waterfall; taxa fixa final não localizada · Fundos.NET ID 1337406 | 01/10/2026 | Regulamento | p. 3, Anexo I, características das cotas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Remuneração subordinada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Remuneração subordinada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Remuneração subordinada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Remuneração subordinada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Volume / quantidade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Volume / quantidade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Volume / quantidade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Volume / quantidade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Volume / quantidade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Volume / quantidade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Volume / quantidade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Volume / quantidade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Volume / quantidade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Volume / quantidade · 1ª série: R$ 500.000.000,00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Volume / quantidade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Volume / quantidade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Volume / quantidade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Volume / quantidade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Volume / quantidade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VNU / preço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62838025000116 · VNU / preço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VNU / preço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VNU / preço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VNU / preço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VNU / preço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VNU / preço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VNU / preço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VNU / preço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VNU / preço · R$ 1.000,00 na emissão; integralizações posteriores ajustadas conformebenchmark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VNU / preço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VNU / preço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VNU / preço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VNU / preço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VNU / preço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Carência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Carência · 5ª sênior:30 meses inclusive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Carência · Principal somente a partir do 43º mês · data/raw/62838025000116/1058234_regulamento.pdf · ID Fundos.NET 1058234 · 10/12/2025 · p. 56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Carência · Primeiro pagamento 24/06/2024 · Fundos.NET ID 667195 · 22/05/2024 · regulamento · p. 137-141 · data/raw/55070804000159/667195_regulamento.pdf · https://fnet.bmfbovespa.com.br/fnet/publico/exibirDocumento?id=667195 · Observação: Cronograma documental; não presumir adimplemento dos eventos previstos.</a:t>
            </a:r>
          </a:p>
          <a:p>
            <a:r>
              <a:t>CNPJ 28169275000172 · Carência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Carência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Carência · Primeiro pagamento 23/05/2024 · Fundos.NET ID 634437 · 05/04/2024 · regulamento · p. 126-130 · data/raw/54559035000194/634437_regulamento.pdf · https://fnet.bmfbovespa.com.br/fnet/publico/exibirDocumento?id=634437 · Observação: Cronograma documental; não presumir adimplemento dos eventos previstos.</a:t>
            </a:r>
          </a:p>
          <a:p>
            <a:r>
              <a:t>CNPJ 50988212000105 · Carência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Carência · Prazo remetido ao suplemento; modelo em aberto · data/raw/62588266000154/1002580_regulamento.pdf · ID Fundos.NET 1002580 · 29/09/2025 · regulamento · p. 132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Carência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Carência · 1ª sênior: Carência até 27/01/2026 inclusive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Carência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Carência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Carência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Carência · Prazo remetido ao apêndice/suplemento; carência real por série não confirmada. · Fundos.NET ID 1061833; referência 19/11/2025; data/raw/26749095000134/1061833_regulamento_cache_integral.txt; pagamento de remuneração, amortização e resgate;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Carência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Juros/amortização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Juros/amortização · 5ª sênior: semestral desde 6º mês;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Juros/amortização · Remuneração mensal de 15/01/2026 a 15/12/2029; seis parcelas de principal em julho–dezembro/2029 · data/raw/62838025000116/1058234_regulamento.pdf · ID Fundos.NET 1058234 · 10/12/2025 · p. 56–57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Juros/amortização · Mensal; cronograma de principal e remuneração no suplemento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Juros/amortização · 4ª sênior: principal e remuneração em 31/01, 28/02 e 31/03/2029, DU seguinte se necessário · data/raw/28169275000172/1147067_assembleia.pdf · ID Fundos.NET 1147067 · 25/03/2026 09:00 · assembleia · p. 4–5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Juros/amortização · Calendário e prazos remetidos aos apêndices; cronograma fechado não identificado · Fundos.NET ID 792021 · 27/11/2024 · regulamento · p. 43-47,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Juros/amortização · Mensal; cronograma de principal e remuneração no suplemento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Juros/amortização · Datas e parcelas da sênior remetidas ao apêndice; cronograma fechado não identificado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Juros/amortização · Cronograma fechado não identificado; amortização pro rata/sequencial em regime de caixa · data/raw/62588266000154/1002580_regulamento.pdf · ID Fundos.NET 1002580 · 29/09/2025 · regulamento · p. 52–56 e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Juros/amortização · Principal ligado ao fluxo/estoque de créditos; calendário fechado remetido ao suplemento · data/raw/63546406000194/1130481_regulamento.pdf · ID Fundos.NET 1130481 · 05/03/2026 · regulamento · p. 163–172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Juros/amortização · 1ª sênior: Mensal dia 27;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Juros/amortização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Juros/amortização · Regime de caixa e prioridade entre subclasses; datas remetidas a suplemento · Fundos.NET ID 1025473 · 03/04/2025 · Regulamento · p. 37-38,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Juros/amortização · Após carência: sênior conforme suplemento; subordinadas em regime de caixa · Fundos.NET ID 1051890 · 01/12/2025 · Regulamento · p. 43, 49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Juros/amortização · Metas condicionadas a caixa, prioridades e regime pro rata/sequencial; cronograma fechado não identificado. · Fundos.NET ID 1061833; referência 19/11/2025; data/raw/26749095000134/1061833_regulamento_cache_integral.txt; pagamento de remuneração, amortização e resgate / waterfall;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Juros/amortização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Vencimento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Vencimento · 5ª sênior:36º mês; cronograma aponta final 15/05/2028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Vencimento · Última amortização sênior: 15/12/2029 · data/raw/62838025000116/1058234_regulamento.pdf · ID Fundos.NET 1058234 · 10/12/2025 · regulamento · p. 57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Vencimento · Amortização integral e encerramento documental em 23/06/2026 · Fundos.NET ID 1248767 · 23/06/2026 · emissao · p. 1 (visual) · data/raw/55070804000159/1248767_emissao.pdf · https://fnet.bmfbovespa.com.br/fnet/publico/exibirDocumento?id=1248767 · Observação: Suplemento previa resgate em 24/06/2026 e tabela final 23/06/2026. Termo confirma pagamento integral sênior/júnior em 23/06/2026; baixa cadastral CVM não certificada.</a:t>
            </a:r>
          </a:p>
          <a:p>
            <a:r>
              <a:t>CNPJ 28169275000172 · Vencimento · 4ª sênior: 31/03/2029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Vencimento · Fundo indeterminado; vencimentos individuais dependem dos apêndices não preenchidos · Fundos.NET ID 792021 · 27/11/2024 · regulamento · p. 3,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Vencimento · Resgate contratual em 23/04/2027 para sênior e júnior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Vencimento · Prazo de cada série remetido ao apêndice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Vencimento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Vencimento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Vencimento · 1ª sênior: 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Vencimento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Vencimento · Classe indeterminada; vencimento das séries conforme suplemento · Fundos.NET ID 1025473 · 03/04/2025 · Regulamento · p. 17, 76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Vencimento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Vencimento · Vencimento por série no apêndice; primeira integralização não confirmada. · Fundos.NET ID 1061833; referência 19/11/2025; data/raw/26749095000134/1061833_regulamento_cache_integral.txt; cotas e prazo de duração;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Vencimento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Juros / pagamentos · 5ª sênior: semestral desde 6º mês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Juros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Juros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Juros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Juros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Juros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Juros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Juros / pagamentos · 1ª sênior: Mensal dia 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 / pagamentos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Juros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Juros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Juros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programada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programada ·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Amortização programada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programada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programada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programada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programada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programada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programada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programada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programada ·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Amortização programada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Amortização programada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programada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programada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programada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extraordinária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extraordinária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Amortização extraordinária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extraordinária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extraordinária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extraordinária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extraordinária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extraordinária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extraordinária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extraordinária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extraordinária · Prevista nas hipóteses do anexo; requisitos variam por senioridade · Fundos.NET ID 966441 | 24/07/2025 | Regulamento | p. 35, Anexo I, amortização extraordinária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Amortização extraordinária · Prevista nas hipóteses do anexo; requisitos variam por senioridade · Fundos.NET ID 1337406 | 01/10/2026 | Regulamento | p. 35, Anexo I, amortização extraordinária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Amortização extraordinária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extraordinária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extraordinária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extraordinária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Carência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Carência · 5ª sênior:30 meses inclusive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Carência · Principal somente a partir do 43º mês · data/raw/62838025000116/1058234_regulamento.pdf · ID Fundos.NET 1058234 · 10/12/2025 · p. 56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Carência · Primeiro pagamento 24/06/2024 · Fundos.NET ID 667195 · 22/05/2024 · regulamento · p. 137-141 · data/raw/55070804000159/667195_regulamento.pdf · https://fnet.bmfbovespa.com.br/fnet/publico/exibirDocumento?id=667195 · Observação: Cronograma documental; não presumir adimplemento dos eventos previstos.</a:t>
            </a:r>
          </a:p>
          <a:p>
            <a:r>
              <a:t>CNPJ 28169275000172 · Carência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Carência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Carência · Primeiro pagamento 23/05/2024 · Fundos.NET ID 634437 · 05/04/2024 · regulamento · p. 126-130 · data/raw/54559035000194/634437_regulamento.pdf · https://fnet.bmfbovespa.com.br/fnet/publico/exibirDocumento?id=634437 · Observação: Cronograma documental; não presumir adimplemento dos eventos previstos.</a:t>
            </a:r>
          </a:p>
          <a:p>
            <a:r>
              <a:t>CNPJ 50988212000105 · Carência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Carência · Prazo remetido ao suplemento; modelo em aberto · data/raw/62588266000154/1002580_regulamento.pdf · ID Fundos.NET 1002580 · 29/09/2025 · regulamento · p. 132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Carência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Carência · 1ª sênior: Carência até 27/01/2026 inclusive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Carência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Carência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Carência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Carência · Prazo remetido ao apêndice/suplemento; carência real por série não confirmada. · Fundos.NET ID 1061833; referência 19/11/2025; data/raw/26749095000134/1061833_regulamento_cache_integral.txt; pagamento de remuneração, amortização e resgate;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Carência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Juros/amortização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Juros/amortização · 5ª sênior: semestral desde 6º mês;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Juros/amortização · Remuneração mensal de 15/01/2026 a 15/12/2029; seis parcelas de principal em julho–dezembro/2029 · data/raw/62838025000116/1058234_regulamento.pdf · ID Fundos.NET 1058234 · 10/12/2025 · p. 56–57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Juros/amortização · Mensal; cronograma de principal e remuneração no suplemento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Juros/amortização · 4ª sênior: principal e remuneração em 31/01, 28/02 e 31/03/2029, DU seguinte se necessário · data/raw/28169275000172/1147067_assembleia.pdf · ID Fundos.NET 1147067 · 25/03/2026 09:00 · assembleia · p. 4–5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Juros/amortização · Calendário e prazos remetidos aos apêndices; cronograma fechado não identificado · Fundos.NET ID 792021 · 27/11/2024 · regulamento · p. 43-47,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Juros/amortização · Mensal; cronograma de principal e remuneração no suplemento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Juros/amortização · Datas e parcelas da sênior remetidas ao apêndice; cronograma fechado não identificado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Juros/amortização · Cronograma fechado não identificado; amortização pro rata/sequencial em regime de caixa · data/raw/62588266000154/1002580_regulamento.pdf · ID Fundos.NET 1002580 · 29/09/2025 · regulamento · p. 52–56 e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Juros/amortização · Principal ligado ao fluxo/estoque de créditos; calendário fechado remetido ao suplemento · data/raw/63546406000194/1130481_regulamento.pdf · ID Fundos.NET 1130481 · 05/03/2026 · regulamento · p. 163–172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Juros/amortização · 1ª sênior: Mensal dia 27;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Juros/amortização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Juros/amortização · Regime de caixa e prioridade entre subclasses; datas remetidas a suplemento · Fundos.NET ID 1025473 · 03/04/2025 · Regulamento · p. 37-38,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Juros/amortização · Após carência: sênior conforme suplemento; subordinadas em regime de caixa · Fundos.NET ID 1051890 · 01/12/2025 · Regulamento · p. 43, 49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Juros/amortização · Metas condicionadas a caixa, prioridades e regime pro rata/sequencial; cronograma fechado não identificado. · Fundos.NET ID 1061833; referência 19/11/2025; data/raw/26749095000134/1061833_regulamento_cache_integral.txt; pagamento de remuneração, amortização e resgate / waterfall;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Juros/amortização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Vencimento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Vencimento · 5ª sênior:36º mês; cronograma aponta final 15/05/2028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Vencimento · Última amortização sênior: 15/12/2029 · data/raw/62838025000116/1058234_regulamento.pdf · ID Fundos.NET 1058234 · 10/12/2025 · regulamento · p. 57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Vencimento · Amortização integral e encerramento documental em 23/06/2026 · Fundos.NET ID 1248767 · 23/06/2026 · emissao · p. 1 (visual) · data/raw/55070804000159/1248767_emissao.pdf · https://fnet.bmfbovespa.com.br/fnet/publico/exibirDocumento?id=1248767 · Observação: Suplemento previa resgate em 24/06/2026 e tabela final 23/06/2026. Termo confirma pagamento integral sênior/júnior em 23/06/2026; baixa cadastral CVM não certificada.</a:t>
            </a:r>
          </a:p>
          <a:p>
            <a:r>
              <a:t>CNPJ 28169275000172 · Vencimento · 4ª sênior: 31/03/2029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Vencimento · Fundo indeterminado; vencimentos individuais dependem dos apêndices não preenchidos · Fundos.NET ID 792021 · 27/11/2024 · regulamento · p. 3,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Vencimento · Resgate contratual em 23/04/2027 para sênior e júnior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Vencimento · Prazo de cada série remetido ao apêndice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Vencimento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Vencimento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Vencimento · 1ª sênior: 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Vencimento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Vencimento · Classe indeterminada; vencimento das séries conforme suplemento · Fundos.NET ID 1025473 · 03/04/2025 · Regulamento · p. 17, 76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Vencimento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Vencimento · Vencimento por série no apêndice; primeira integralização não confirmada. · Fundos.NET ID 1061833; referência 19/11/2025; data/raw/26749095000134/1061833_regulamento_cache_integral.txt; cotas e prazo de duração;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Vencimento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Juros / pagamentos · 5ª sênior: semestral desde 6º mês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Juros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Juros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Juros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Juros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Juros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Juros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Juros / pagamentos · 1ª sênior: Mensal dia 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 / pagamentos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Juros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Juros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Juros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programada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programada ·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Amortização programada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programada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programada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programada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programada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programada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programada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programada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programada ·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Amortização programada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Amortização programada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programada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programada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programada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extraordinária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extraordinária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Amortização extraordinária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extraordinária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extraordinária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extraordinária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extraordinária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extraordinária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extraordinária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extraordinária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extraordinária · Prevista nas hipóteses do anexo; requisitos variam por senioridade · Fundos.NET ID 966441 | 24/07/2025 | Regulamento | p. 35, Anexo I, amortização extraordinária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Amortização extraordinária · Prevista nas hipóteses do anexo; requisitos variam por senioridade · Fundos.NET ID 1337406 | 01/10/2026 | Regulamento | p. 35, Anexo I, amortização extraordinária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Amortização extraordinária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extraordinária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extraordinária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extraordinária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Carência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Carência · 5ª sênior:30 meses inclusive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Carência · Principal somente a partir do 43º mês · data/raw/62838025000116/1058234_regulamento.pdf · ID Fundos.NET 1058234 · 10/12/2025 · p. 56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Carência · Primeiro pagamento 24/06/2024 · Fundos.NET ID 667195 · 22/05/2024 · regulamento · p. 137-141 · data/raw/55070804000159/667195_regulamento.pdf · https://fnet.bmfbovespa.com.br/fnet/publico/exibirDocumento?id=667195 · Observação: Cronograma documental; não presumir adimplemento dos eventos previstos.</a:t>
            </a:r>
          </a:p>
          <a:p>
            <a:r>
              <a:t>CNPJ 28169275000172 · Carência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Carência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Carência · Primeiro pagamento 23/05/2024 · Fundos.NET ID 634437 · 05/04/2024 · regulamento · p. 126-130 · data/raw/54559035000194/634437_regulamento.pdf · https://fnet.bmfbovespa.com.br/fnet/publico/exibirDocumento?id=634437 · Observação: Cronograma documental; não presumir adimplemento dos eventos previstos.</a:t>
            </a:r>
          </a:p>
          <a:p>
            <a:r>
              <a:t>CNPJ 50988212000105 · Carência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Carência · Prazo remetido ao suplemento; modelo em aberto · data/raw/62588266000154/1002580_regulamento.pdf · ID Fundos.NET 1002580 · 29/09/2025 · regulamento · p. 132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Carência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Carência · 1ª sênior: Carência até 27/01/2026 inclusive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Carência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Carência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Carência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Carência · Prazo remetido ao apêndice/suplemento; carência real por série não confirmada. · Fundos.NET ID 1061833; referência 19/11/2025; data/raw/26749095000134/1061833_regulamento_cache_integral.txt; pagamento de remuneração, amortização e resgate;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Carência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Juros/amortização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Juros/amortização · 5ª sênior: semestral desde 6º mês;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Juros/amortização · Remuneração mensal de 15/01/2026 a 15/12/2029; seis parcelas de principal em julho–dezembro/2029 · data/raw/62838025000116/1058234_regulamento.pdf · ID Fundos.NET 1058234 · 10/12/2025 · p. 56–57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Juros/amortização · Mensal; cronograma de principal e remuneração no suplemento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Juros/amortização · 4ª sênior: principal e remuneração em 31/01, 28/02 e 31/03/2029, DU seguinte se necessário · data/raw/28169275000172/1147067_assembleia.pdf · ID Fundos.NET 1147067 · 25/03/2026 09:00 · assembleia · p. 4–5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Juros/amortização · Calendário e prazos remetidos aos apêndices; cronograma fechado não identificado · Fundos.NET ID 792021 · 27/11/2024 · regulamento · p. 43-47,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Juros/amortização · Mensal; cronograma de principal e remuneração no suplemento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Juros/amortização · Datas e parcelas da sênior remetidas ao apêndice; cronograma fechado não identificado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Juros/amortização · Cronograma fechado não identificado; amortização pro rata/sequencial em regime de caixa · data/raw/62588266000154/1002580_regulamento.pdf · ID Fundos.NET 1002580 · 29/09/2025 · regulamento · p. 52–56 e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Juros/amortização · Principal ligado ao fluxo/estoque de créditos; calendário fechado remetido ao suplemento · data/raw/63546406000194/1130481_regulamento.pdf · ID Fundos.NET 1130481 · 05/03/2026 · regulamento · p. 163–172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Juros/amortização · 1ª sênior: Mensal dia 27;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Juros/amortização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Juros/amortização · Regime de caixa e prioridade entre subclasses; datas remetidas a suplemento · Fundos.NET ID 1025473 · 03/04/2025 · Regulamento · p. 37-38,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Juros/amortização · Após carência: sênior conforme suplemento; subordinadas em regime de caixa · Fundos.NET ID 1051890 · 01/12/2025 · Regulamento · p. 43, 49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Juros/amortização · Metas condicionadas a caixa, prioridades e regime pro rata/sequencial; cronograma fechado não identificado. · Fundos.NET ID 1061833; referência 19/11/2025; data/raw/26749095000134/1061833_regulamento_cache_integral.txt; pagamento de remuneração, amortização e resgate / waterfall;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Juros/amortização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Vencimento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Vencimento · 5ª sênior:36º mês; cronograma aponta final 15/05/2028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Vencimento · Última amortização sênior: 15/12/2029 · data/raw/62838025000116/1058234_regulamento.pdf · ID Fundos.NET 1058234 · 10/12/2025 · regulamento · p. 57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Vencimento · Amortização integral e encerramento documental em 23/06/2026 · Fundos.NET ID 1248767 · 23/06/2026 · emissao · p. 1 (visual) · data/raw/55070804000159/1248767_emissao.pdf · https://fnet.bmfbovespa.com.br/fnet/publico/exibirDocumento?id=1248767 · Observação: Suplemento previa resgate em 24/06/2026 e tabela final 23/06/2026. Termo confirma pagamento integral sênior/júnior em 23/06/2026; baixa cadastral CVM não certificada.</a:t>
            </a:r>
          </a:p>
          <a:p>
            <a:r>
              <a:t>CNPJ 28169275000172 · Vencimento · 4ª sênior: 31/03/2029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Vencimento · Fundo indeterminado; vencimentos individuais dependem dos apêndices não preenchidos · Fundos.NET ID 792021 · 27/11/2024 · regulamento · p. 3,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Vencimento · Resgate contratual em 23/04/2027 para sênior e júnior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Vencimento · Prazo de cada série remetido ao apêndice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Vencimento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Vencimento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Vencimento · 1ª sênior: 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Vencimento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Vencimento · Classe indeterminada; vencimento das séries conforme suplemento · Fundos.NET ID 1025473 · 03/04/2025 · Regulamento · p. 17, 76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Vencimento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Vencimento · Vencimento por série no apêndice; primeira integralização não confirmada. · Fundos.NET ID 1061833; referência 19/11/2025; data/raw/26749095000134/1061833_regulamento_cache_integral.txt; cotas e prazo de duração;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Vencimento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Juros / pagamentos · 5ª sênior: semestral desde 6º mês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Juros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Juros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Juros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Juros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Juros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Juros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Juros / pagamentos · 1ª sênior: Mensal dia 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 / pagamentos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Juros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Juros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Juros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programada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programada ·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Amortização programada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programada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programada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programada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programada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programada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programada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programada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programada ·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Amortização programada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Amortização programada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programada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programada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programada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extraordinária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extraordinária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Amortização extraordinária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extraordinária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extraordinária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extraordinária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extraordinária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extraordinária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extraordinária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extraordinária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extraordinária · Prevista nas hipóteses do anexo; requisitos variam por senioridade · Fundos.NET ID 966441 | 24/07/2025 | Regulamento | p. 35, Anexo I, amortização extraordinária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Amortização extraordinária · Prevista nas hipóteses do anexo; requisitos variam por senioridade · Fundos.NET ID 1337406 | 01/10/2026 | Regulamento | p. 35, Anexo I, amortização extraordinária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Amortização extraordinária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extraordinária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extraordinária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extraordinária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Carência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Carência · 5ª sênior:30 meses inclusive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Carência · Principal somente a partir do 43º mês · data/raw/62838025000116/1058234_regulamento.pdf · ID Fundos.NET 1058234 · 10/12/2025 · p. 56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Carência · Primeiro pagamento 24/06/2024 · Fundos.NET ID 667195 · 22/05/2024 · regulamento · p. 137-141 · data/raw/55070804000159/667195_regulamento.pdf · https://fnet.bmfbovespa.com.br/fnet/publico/exibirDocumento?id=667195 · Observação: Cronograma documental; não presumir adimplemento dos eventos previstos.</a:t>
            </a:r>
          </a:p>
          <a:p>
            <a:r>
              <a:t>CNPJ 28169275000172 · Carência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Carência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Carência · Primeiro pagamento 23/05/2024 · Fundos.NET ID 634437 · 05/04/2024 · regulamento · p. 126-130 · data/raw/54559035000194/634437_regulamento.pdf · https://fnet.bmfbovespa.com.br/fnet/publico/exibirDocumento?id=634437 · Observação: Cronograma documental; não presumir adimplemento dos eventos previstos.</a:t>
            </a:r>
          </a:p>
          <a:p>
            <a:r>
              <a:t>CNPJ 50988212000105 · Carência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Carência · Prazo remetido ao suplemento; modelo em aberto · data/raw/62588266000154/1002580_regulamento.pdf · ID Fundos.NET 1002580 · 29/09/2025 · regulamento · p. 132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Carência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Carência · 1ª sênior: Carência até 27/01/2026 inclusive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Carência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Carência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Carência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Carência · Prazo remetido ao apêndice/suplemento; carência real por série não confirmada. · Fundos.NET ID 1061833; referência 19/11/2025; data/raw/26749095000134/1061833_regulamento_cache_integral.txt; pagamento de remuneração, amortização e resgate;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Carência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Juros/amortização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Juros/amortização · 5ª sênior: semestral desde 6º mês;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Juros/amortização · Remuneração mensal de 15/01/2026 a 15/12/2029; seis parcelas de principal em julho–dezembro/2029 · data/raw/62838025000116/1058234_regulamento.pdf · ID Fundos.NET 1058234 · 10/12/2025 · p. 56–57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Juros/amortização · Mensal; cronograma de principal e remuneração no suplemento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Juros/amortização · 4ª sênior: principal e remuneração em 31/01, 28/02 e 31/03/2029, DU seguinte se necessário · data/raw/28169275000172/1147067_assembleia.pdf · ID Fundos.NET 1147067 · 25/03/2026 09:00 · assembleia · p. 4–5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Juros/amortização · Calendário e prazos remetidos aos apêndices; cronograma fechado não identificado · Fundos.NET ID 792021 · 27/11/2024 · regulamento · p. 43-47,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Juros/amortização · Mensal; cronograma de principal e remuneração no suplemento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Juros/amortização · Datas e parcelas da sênior remetidas ao apêndice; cronograma fechado não identificado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Juros/amortização · Cronograma fechado não identificado; amortização pro rata/sequencial em regime de caixa · data/raw/62588266000154/1002580_regulamento.pdf · ID Fundos.NET 1002580 · 29/09/2025 · regulamento · p. 52–56 e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Juros/amortização · Principal ligado ao fluxo/estoque de créditos; calendário fechado remetido ao suplemento · data/raw/63546406000194/1130481_regulamento.pdf · ID Fundos.NET 1130481 · 05/03/2026 · regulamento · p. 163–172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Juros/amortização · 1ª sênior: Mensal dia 27;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Juros/amortização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Juros/amortização · Regime de caixa e prioridade entre subclasses; datas remetidas a suplemento · Fundos.NET ID 1025473 · 03/04/2025 · Regulamento · p. 37-38,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Juros/amortização · Após carência: sênior conforme suplemento; subordinadas em regime de caixa · Fundos.NET ID 1051890 · 01/12/2025 · Regulamento · p. 43, 49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Juros/amortização · Metas condicionadas a caixa, prioridades e regime pro rata/sequencial; cronograma fechado não identificado. · Fundos.NET ID 1061833; referência 19/11/2025; data/raw/26749095000134/1061833_regulamento_cache_integral.txt; pagamento de remuneração, amortização e resgate / waterfall;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Juros/amortização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Vencimento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Vencimento · 5ª sênior:36º mês; cronograma aponta final 15/05/2028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Vencimento · Última amortização sênior: 15/12/2029 · data/raw/62838025000116/1058234_regulamento.pdf · ID Fundos.NET 1058234 · 10/12/2025 · regulamento · p. 57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Vencimento · Amortização integral e encerramento documental em 23/06/2026 · Fundos.NET ID 1248767 · 23/06/2026 · emissao · p. 1 (visual) · data/raw/55070804000159/1248767_emissao.pdf · https://fnet.bmfbovespa.com.br/fnet/publico/exibirDocumento?id=1248767 · Observação: Suplemento previa resgate em 24/06/2026 e tabela final 23/06/2026. Termo confirma pagamento integral sênior/júnior em 23/06/2026; baixa cadastral CVM não certificada.</a:t>
            </a:r>
          </a:p>
          <a:p>
            <a:r>
              <a:t>CNPJ 28169275000172 · Vencimento · 4ª sênior: 31/03/2029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Vencimento · Fundo indeterminado; vencimentos individuais dependem dos apêndices não preenchidos · Fundos.NET ID 792021 · 27/11/2024 · regulamento · p. 3,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Vencimento · Resgate contratual em 23/04/2027 para sênior e júnior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Vencimento · Prazo de cada série remetido ao apêndice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Vencimento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Vencimento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Vencimento · 1ª sênior: 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Vencimento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Vencimento · Classe indeterminada; vencimento das séries conforme suplemento · Fundos.NET ID 1025473 · 03/04/2025 · Regulamento · p. 17, 76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Vencimento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Vencimento · Vencimento por série no apêndice; primeira integralização não confirmada. · Fundos.NET ID 1061833; referência 19/11/2025; data/raw/26749095000134/1061833_regulamento_cache_integral.txt; cotas e prazo de duração;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Vencimento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Juros / pagamentos · 5ª sênior: semestral desde 6º mês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Juros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Juros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Juros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Juros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Juros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Juros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Juros / pagamentos · 1ª sênior: Mensal dia 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 / pagamentos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Juros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Juros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Juros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programada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programada ·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Amortização programada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programada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programada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programada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programada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programada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programada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programada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programada ·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Amortização programada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Amortização programada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programada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programada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programada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extraordinária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extraordinária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Amortização extraordinária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extraordinária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extraordinária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extraordinária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extraordinária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extraordinária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extraordinária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extraordinária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extraordinária · Prevista nas hipóteses do anexo; requisitos variam por senioridade · Fundos.NET ID 966441 | 24/07/2025 | Regulamento | p. 35, Anexo I, amortização extraordinária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Amortização extraordinária · Prevista nas hipóteses do anexo; requisitos variam por senioridade · Fundos.NET ID 1337406 | 01/10/2026 | Regulamento | p. 35, Anexo I, amortização extraordinária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Amortização extraordinária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extraordinária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extraordinária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extraordinária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Carência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Carência · 5ª sênior:30 meses inclusive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Carência · Principal somente a partir do 43º mês · data/raw/62838025000116/1058234_regulamento.pdf · ID Fundos.NET 1058234 · 10/12/2025 · p. 56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Carência · Primeiro pagamento 24/06/2024 · Fundos.NET ID 667195 · 22/05/2024 · regulamento · p. 137-141 · data/raw/55070804000159/667195_regulamento.pdf · https://fnet.bmfbovespa.com.br/fnet/publico/exibirDocumento?id=667195 · Observação: Cronograma documental; não presumir adimplemento dos eventos previstos.</a:t>
            </a:r>
          </a:p>
          <a:p>
            <a:r>
              <a:t>CNPJ 28169275000172 · Carência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35868110000154 · Carência · Não localizado no corpus acessível · Corpus acessível do CNPJ 35868110000154: ID 792021 (27/11/2024), data/raw/35868110000154/792021_regulamento.pdf; ID 537768 (09/10/2023), data/raw/35868110000154/537768_regulamento.pdf · Observação: Lacuna documental explícita; requer instrumento ou contrato aplicável.</a:t>
            </a:r>
          </a:p>
          <a:p>
            <a:r>
              <a:t>CNPJ 54559035000194 · Carência · Primeiro pagamento 23/05/2024 · Fundos.NET ID 634437 · 05/04/2024 · regulamento · p. 126-130 · data/raw/54559035000194/634437_regulamento.pdf · https://fnet.bmfbovespa.com.br/fnet/publico/exibirDocumento?id=634437 · Observação: Cronograma documental; não presumir adimplemento dos eventos previstos.</a:t>
            </a:r>
          </a:p>
          <a:p>
            <a:r>
              <a:t>CNPJ 50988212000105 · Carência · Não localizado no corpus acessível · Corpus acessível do CNPJ 50988212000105: ID 1013021 (14/11/2024), data/raw/50988212000105/1013021_regulamento.pdf; ID 743214 (19/09/2024), data/raw/50988212000105/743214_regulamento.pdf · Observação: Lacuna documental explícita; requer instrumento ou contrato aplicável.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Carência · Prazo remetido ao suplemento; modelo em aberto · data/raw/62588266000154/1002580_regulamento.pdf · ID Fundos.NET 1002580 · 29/09/2025 · regulamento · p. 132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Carência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Carência · 1ª sênior: Carência até 27/01/2026 inclusive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Carência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Carência · Não localizado no corpus acessível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Lacuna documental explícita; exige regulamento, anexo, suplemento ou contrato aplicável.</a:t>
            </a:r>
          </a:p>
          <a:p>
            <a:r>
              <a:t>CNPJ 55401645000128 · Carência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Carência · Prazo remetido ao apêndice/suplemento; carência real por série não confirmada. · Fundos.NET ID 1061833; referência 19/11/2025; data/raw/26749095000134/1061833_regulamento_cache_integral.txt; pagamento de remuneração, amortização e resgate;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Carência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Juros/amortização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Juros/amortização · 5ª sênior: semestral desde 6º mês;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Juros/amortização · Remuneração mensal de 15/01/2026 a 15/12/2029; seis parcelas de principal em julho–dezembro/2029 · data/raw/62838025000116/1058234_regulamento.pdf · ID Fundos.NET 1058234 · 10/12/2025 · p. 56–57 · https://fnet.bmfbovespa.com.br/fnet/publico/visualizarDocumento?id=1058234 · Observação: Conferir fórmula e janelas de cura no regulamento integral; proxy público agregado não valida todos os eventos.</a:t>
            </a:r>
          </a:p>
          <a:p>
            <a:r>
              <a:t>CNPJ 55070804000159 · Juros/amortização · Mensal; cronograma de principal e remuneração no suplemento · Fundos.NET ID 667195 · 22/05/2024 · regulamento · p. 137-141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Juros/amortização · 4ª sênior: principal e remuneração em 31/01, 28/02 e 31/03/2029, DU seguinte se necessário · data/raw/28169275000172/1147067_assembleia.pdf · ID Fundos.NET 1147067 · 25/03/2026 09:00 · assembleia · p. 4–5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Juros/amortização · Calendário e prazos remetidos aos apêndices; cronograma fechado não identificado · Fundos.NET ID 792021 · 27/11/2024 · regulamento · p. 43-47,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Juros/amortização · Mensal; cronograma de principal e remuneração no suplemento · Fundos.NET ID 634437 · 05/04/2024 · regulamento · p. 126-130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Juros/amortização · Datas e parcelas da sênior remetidas ao apêndice; cronograma fechado não identificado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Juros/amortização · Cronograma fechado não identificado; amortização pro rata/sequencial em regime de caixa · data/raw/62588266000154/1002580_regulamento.pdf · ID Fundos.NET 1002580 · 29/09/2025 · regulamento · p. 52–56 e 131–134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Juros/amortização · Principal ligado ao fluxo/estoque de créditos; calendário fechado remetido ao suplemento · data/raw/63546406000194/1130481_regulamento.pdf · ID Fundos.NET 1130481 · 05/03/2026 · regulamento · p. 163–172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Juros/amortização · 1ª sênior: Mensal dia 27;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Juros/amortização · Não localizado na documentação acessível;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Juros/amortização · Regime de caixa e prioridade entre subclasses; datas remetidas a suplemento · Fundos.NET ID 1025473 · 03/04/2025 · Regulamento · p. 37-38, 44-45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Juros/amortização · Após carência: sênior conforme suplemento; subordinadas em regime de caixa · Fundos.NET ID 1051890 · 01/12/2025 · Regulamento · p. 43, 49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Juros/amortização · Metas condicionadas a caixa, prioridades e regime pro rata/sequencial; cronograma fechado não identificado. · Fundos.NET ID 1061833; referência 19/11/2025; data/raw/26749095000134/1061833_regulamento_cache_integral.txt; pagamento de remuneração, amortização e resgate / waterfall;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Juros/amortização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Vencimento · Não localizado nas fontes acessíveis desta leitura · Consulta Fundos.NET por CNPJ 08692888000182 em 07/10/2026; 171 registros no inventário obtido; fontes acessíveis: 1173154, 863752, 772020, 772010, 285893 · Observação: Lacuna documental; não equivale à inexistência da regra</a:t>
            </a:r>
          </a:p>
          <a:p>
            <a:r>
              <a:t>CNPJ 50473039000102 · Vencimento · 5ª sênior:36º mês; cronograma aponta final 15/05/2028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Vencimento · Última amortização sênior: 15/12/2029 · data/raw/62838025000116/1058234_regulamento.pdf · ID Fundos.NET 1058234 · 10/12/2025 · regulamento · p. 57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Vencimento · Amortização integral e encerramento documental em 23/06/2026 · Fundos.NET ID 1248767 · 23/06/2026 · emissao · p. 1 (visual) · data/raw/55070804000159/1248767_emissao.pdf · https://fnet.bmfbovespa.com.br/fnet/publico/exibirDocumento?id=1248767 · Observação: Suplemento previa resgate em 24/06/2026 e tabela final 23/06/2026. Termo confirma pagamento integral sênior/júnior em 23/06/2026; baixa cadastral CVM não certificada.</a:t>
            </a:r>
          </a:p>
          <a:p>
            <a:r>
              <a:t>CNPJ 28169275000172 · Vencimento · 4ª sênior: 31/03/2029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35868110000154 · Vencimento · Fundo indeterminado; vencimentos individuais dependem dos apêndices não preenchidos · Fundos.NET ID 792021 · 27/11/2024 · regulamento · p. 3, 94-99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Vencimento · Resgate contratual em 23/04/2027 para sênior e júnior · Fundos.NET ID 634437 · 05/04/2024 · regulamento · p. 126, 129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Vencimento · Prazo de cada série remetido ao apêndice · Fundos.NET ID 1013021 · 14/11/2024 · regulamento · p. 60-62, 103-105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Vencimento · Não localizado nas fontes acessíveis desta leitura · Consulta Fundos.NET por CNPJ 62588266000154 em 07/10/2026; 14 registros no inventário anterior preservado; fontes acessíveis: 1002580, 987463, 995150, 1126575 · Observação: Lacuna documental; não equivale à inexistência da regra</a:t>
            </a:r>
          </a:p>
          <a:p>
            <a:r>
              <a:t>CNPJ 63546406000194 · Vencimento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Vencimento · 1ª sênior: 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Vencimento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Vencimento · Classe indeterminada; vencimento das séries conforme suplemento · Fundos.NET ID 1025473 · 03/04/2025 · Regulamento · p. 17, 76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Vencimento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26749095000134 · Vencimento · Vencimento por série no apêndice; primeira integralização não confirmada. · Fundos.NET ID 1061833; referência 19/11/2025; data/raw/26749095000134/1061833_regulamento_cache_integral.txt; cotas e prazo de duração;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Vencimento · Não localizado no corpus acessível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Lacuna documental explícita; exige regulamento, anexo, suplemento ou contrato aplicável.</a:t>
            </a:r>
          </a:p>
          <a:p>
            <a:r>
              <a:t>CNPJ 08692888000182 · Juros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Juros / pagamentos · 5ª sênior: semestral desde 6º mês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Juros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Juros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Juros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Juros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Juros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Juros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Juros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Juros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Juros / pagamentos · 1ª sênior: Mensal dia 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Juros / pagamentos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Juros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Juros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Juros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Juros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programada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programada ·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62838025000116 · Amortização programada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programada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programada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programada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programada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programada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programada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programada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programada · 1ª sênior: Mensal 27/02/2026–27/01/2027 · Fundos.NET ID 966441 | 24/07/2025 | Regulamento | p. 114, apêndice1ªsérie | data/raw/42085830000109/966441_review_20261007.pdf | https://fnet.bmfbovespa.com.br/fnet/publico/visualizarDocumento?id=966441 · Observação: Cláusula documental; emissão e data-base indicadas. Não implica posição atual em circulação.</a:t>
            </a:r>
          </a:p>
          <a:p>
            <a:r>
              <a:t>CNPJ 42085816000105 · Amortização programada · Não localizado na documentação acessível · Inventário por CNPJ 42085816000105, consulta Fundos.NET em 07/10/2026: 113 documentos listados; listagem pública obtida.  PDFs efetivamente revistos: 1337406, 211003. ID1152028: Falha de rede ao acessar downloadDocumento: The read operation timed out · Observação: Lacuna documental; não preencher por aproximação de nome ou por campo heurístico.</a:t>
            </a:r>
          </a:p>
          <a:p>
            <a:r>
              <a:t>CNPJ 51957370000152 · Amortização programada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programada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programada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programada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Amortização extraordinária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extraordinária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62838025000116 · Amortização extraordinária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Amortização extraordinária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Amortização extraordinária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Amortização extraordinária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Amortização extraordinária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Amortização extraordinária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Amortização extraordinária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Amortização extraordinária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Amortização extraordinária · Prevista nas hipóteses do anexo; requisitos variam por senioridade · Fundos.NET ID 966441 | 24/07/2025 | Regulamento | p. 35, Anexo I, amortização extraordinária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Amortização extraordinária · Prevista nas hipóteses do anexo; requisitos variam por senioridade · Fundos.NET ID 1337406 | 01/10/2026 | Regulamento | p. 35, Anexo I, amortização extraordinária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Amortização extraordinária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Amortização extraordinária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Amortização extraordinária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Amortização extraordinária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Administração · 0,10% a.a. até R$ 70 mi + 0,075% sobre excedente; mínimo R$ 8.750/mês; reajuste IGP-M e tributos · data/raw/08692888000182/772020_regulamento.pdf · ID Fundos.NET 772020 · 05/11/2024 · regulamento · p. 45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Administração · 0,033% a.a. PL; mínimo R$ 15 mil/mês; IPC/FIPE · data/raw/62838025000116/1058234_regulamento.pdf · ID Fundos.NET 1058234 · 10/12/2025 · p. 46–47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Administração · Cláusula conjunta: 0,175% a.a. do PL; segregação administração/gestão não explicitada; mínimo R$ 15 mil/mês · Fundos.NET ID 667195 · 22/05/2024 · regulamento · p. 123 · data/raw/55070804000159/667195_regulamento.pdf · https://fnet.bmfbovespa.com.br/fnet/publico/exibirDocumento?id=667195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28169275000172 · Administração · Faixas cumulativas: 0,100% a.a. até R$ 1,5 bi; 0,075% até R$ 3 bi; 0,060% acima; agente de registro R$ 10 mil adicionais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Administração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 IGP-M positivo anual conforme remuneração.</a:t>
            </a:r>
          </a:p>
          <a:p>
            <a:r>
              <a:t>CNPJ 54559035000194 · Administração · Cláusula conjunta: 0,175% a.a. do PL; segregação administração/gestão não explicitada; mínimo não localizado · Fundos.NET ID 634437 · 05/04/2024 · regulamento · p. 112 · data/raw/54559035000194/634437_regulamento.pdf · https://fnet.bmfbovespa.com.br/fnet/publico/exibirDocumento?id=634437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50988212000105 · Administração · Faixas marginais PL: 0,13% / 0,10% / 0,074% / 0,060% / 0,030%; mínimo R$ 18 mil/mês · Fundos.NET ID 1013021 · 14/11/2024 · regulamento · p. 44-45 · data/raw/50988212000105/1013021_regulamento.pdf · https://fnet.bmfbovespa.com.br/fnet/publico/exibirDocumento?id=1013021 · Observação: Faixas até R$70mi, R$300mi, R$600mi, R$900mi e excedente; inclui custódia/controladoria. IGP-M positivo anual; R$27mil inicial de controladoria adicional.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Administração · Faixas PL: 0,056% / 0,04% / 0,016% a.a.; mínimo R$ 22.400/mês; IGP-M e tributos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Administração · Faixas cumulativas 0,045% / 0,035% / 0,02% a.a.; mínimo R$ 7.500/mês; IGP-M; tributos adicionais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Administração · 0,045% a.a. sobre PL; mínimo R$ 27.500,00/mês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Administração · 0,045% a.a. sobre PL; mínimo R$ 23.900,00/mês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Administração · 0,13%/0,11%/0,08% a.a. por faixa de PL; mínimo R$ 15,5 mil/mês · Fundos.NET ID 1025473 · 03/04/2025 · Regulamento · p. 33-34 · data/raw/51957370000152/1025473_documentary_review.pdf · https://fnet.bmfbovespa.com.br/fnet/publico/exibirDocumento?id=1025473 · Observação: Faixas: até R$ 500 mi; R$ 501 mi a R$ 1 bi; a partir de R$ 1 bi. Intervalo de fronteira é o texto documental, requer validação operacional.</a:t>
            </a:r>
          </a:p>
          <a:p>
            <a:r>
              <a:t>CNPJ 55401645000128 · Administração · 0,25%/0,23%/0,18% a.a.; mínimo R$ 16,5 mil nos 3 primeiros meses, R$ 20 mil depois · Fundos.NET ID 1051890 · 01/12/2025 · Regulamento · p. 40-41 · data/raw/55401645000128/1051890_documentary_review.pdf · https://fnet.bmfbovespa.com.br/fnet/publico/exibirDocumento?id=1051890 · Observação: PL: até R$ 50 mi; acima de R$ 50 a R$ 100 mi; acima de R$ 100 mi. Reajuste IGP-M anual.</a:t>
            </a:r>
          </a:p>
          <a:p>
            <a:r>
              <a:t>CNPJ 26749095000134 · Administração · 0,50% a.a./PL, mínimo R$ 25,6 mil/mês; taxa agrega administração e controladoria, com componentes próprios. · Fundos.NET ID 1061833; referência 19/11/2025; data/raw/26749095000134/1061833_regulamento_cache_integral.txt; 4.1 da parte geral; https://fnet.bmfbovespa.com.br/fnet/publico/exibirDocumento?id=1061833&amp;cvm=true · Observação: Componente administração: 0,20% até R$ 300 mi + 0,15% sobre excesso, mínimo R$ 16,2 mil. Não somar componente ao total.</a:t>
            </a:r>
          </a:p>
          <a:p>
            <a:r>
              <a:t>CNPJ 54810968000102 · Administração · 0,10%/0,08%/0,05% a.a.; mínimo R$ 12 mil/mês · Fundos.NET ID 937760 · 22/04/2025 · Regulamento · p. 41 · data/raw/54810968000102/937760_documentary_review.pdf · https://fnet.bmfbovespa.com.br/fnet/publico/exibirDocumento?id=937760 · Observação: PL até R$ 500 mi; R$ 500 mi a R$ 1 bi; acima R$ 1 bi. Percentual sobre todo PL ao atingir faixa.</a:t>
            </a:r>
          </a:p>
          <a:p>
            <a:r>
              <a:t>CNPJ 08692888000182 · Gestão · 0,10% a.a. até R$ 70 mi + 0,075% sobre excedente; mínimo R$ 8.750/mês; reajuste IGP-M · data/raw/08692888000182/772020_regulamento.pdf · ID Fundos.NET 772020 · 05/11/2024 · regulamento · p. 46–47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Gestão · 0,030% a.a. até R$ 500 mi; 0,025% acima; mínimo R$ 15 mil/mês; implementação R$ 45 mil · data/raw/62838025000116/1058234_regulamento.pdf · ID Fundos.NET 1058234 · 10/12/2025 · regulamento · p. 47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Gestão · Cláusula conjunta: 0,175% a.a. do PL; segregação administração/gestão não explicitada; adicional único R$ 40 mil · Fundos.NET ID 667195 · 22/05/2024 · regulamento · p. 123 · data/raw/55070804000159/667195_regulamento.pdf · https://fnet.bmfbovespa.com.br/fnet/publico/exibirDocumento?id=667195 · Observação: Não duplicar automaticamente a taxa conjunta. Adicional na primeira integralização; AG R$700/hora ao administrador.</a:t>
            </a:r>
          </a:p>
          <a:p>
            <a:r>
              <a:t>CNPJ 28169275000172 · Gestão · 10% da taxa de administração, limitada a R$ 4 mil/mês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Gestão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</a:t>
            </a:r>
          </a:p>
          <a:p>
            <a:r>
              <a:t>CNPJ 54559035000194 · Gestão · Cláusula conjunta: 0,175% a.a. do PL; segregação administração/gestão não explicitada; adicional único R$ 40 mil · Fundos.NET ID 634437 · 05/04/2024 · regulamento · p. 112 · data/raw/54559035000194/634437_regulamento.pdf · https://fnet.bmfbovespa.com.br/fnet/publico/exibirDocumento?id=634437 · Observação: Não duplicar automaticamente a taxa conjunta. Adicional na primeira integralização; AG R$700/hora ao administrador.</a:t>
            </a:r>
          </a:p>
          <a:p>
            <a:r>
              <a:t>CNPJ 50988212000105 · Gestão · Faixas numéricas 0,065% / 0,05% / 0,037% / 0,03% / 0,015%; divergência com extenso · Fundos.NET ID 1013021 · 14/11/2024 · regulamento · p. 46-47 · data/raw/50988212000105/1013021_regulamento.pdf · https://fnet.bmfbovespa.com.br/fnet/publico/exibirDocumento?id=1013021 · Observação: Marginais nos mesmos patamares do PL; extenso de 0,065%, 0,037% e 0,015% equivale a 0,65%, 0,37%, 0,15%. Exige validação do administrador; mínimo mensal não localizado.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Gestão · Faixas PL: 0,014% / 0,01% / 0,004% a.a.; mínimo R$ 5.600/mês; IGP-M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Gestão · Faixas cumulativas 0,045% / 0,035% / 0,02% a.a.; mínimo R$ 7.500/mês; IGP-M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Gestão · 10% a.a. sobre taxa de administração; mínimo mensal não localizado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Gestão · 10% a.a. sobre taxa de administração; máximo R$ 4.000,00/mês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Gestão · 0,42%/0,44%/0,40% a.a. por faixa de PL; mínimo R$ 7 mil/mês + tributos · Fundos.NET ID 1025473 · 03/04/2025 · Regulamento · p. 34 · data/raw/51957370000152/1025473_documentary_review.pdf · https://fnet.bmfbovespa.com.br/fnet/publico/exibirDocumento?id=1025473 · Observação: Faixas correspondentes às da administração; mínimos IGP-M positivo anual.</a:t>
            </a:r>
          </a:p>
          <a:p>
            <a:r>
              <a:t>CNPJ 55401645000128 · Gestão · 0,50% a.a. do PL; mínimo R$ 25 mil/mês + tributos · Fundos.NET ID 1051890 · 01/12/2025 · Regulamento · p. 41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Gestão · 0,05% a.a./PL; mínimo mensal não identificado. · Fundos.NET ID 1061833; referência 19/11/2025; data/raw/26749095000134/1061833_regulamento_cache_integral.txt; 4.2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Gestão · 0,45% a.a. do PL + tributos; mínimo próprio não localizado · Fundos.NET ID 937760 · 22/04/2025 · Regulamento · p. 41-42 · data/raw/54810968000102/937760_documentary_review.pdf · https://fnet.bmfbovespa.com.br/fnet/publico/exibirDocumento?id=937760 · Observação: Há divergência entre algarismos e expressão por extenso; valor numérico mantido com ressalva.</a:t>
            </a:r>
          </a:p>
          <a:p>
            <a:r>
              <a:t>CNPJ 08692888000182 · Custódia · Remuneração remetida ao contrato de custódia não localizado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62838025000116 · Custódia · Máximo agregado 0,027% do PL; mínimo R$ 15 mil/mês · data/raw/62838025000116/1058234_regulamento.pdf · ID Fundos.NET 1058234 · 10/12/2025 · regulamento · p. 48 · https://fnet.bmfbovespa.com.br/fnet/publico/visualizarDocumento?id=1058234 · Observação: Preservada redação e base do documento; conferir periodicidade nos contratos dos prestadores.</a:t>
            </a:r>
          </a:p>
          <a:p>
            <a:r>
              <a:t>CNPJ 55070804000159 · Custódia · Custódia, escrituração e controladoria incluídas na cláusula conjunta de taxas · Fundos.NET ID 667195 · 22/05/2024 · regulamento · p. 123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Custódia · Máximo 0,02% a.a. sobre PL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Custódia · Custódia/controladoria: 0,14% até R$300 mi +0,07% excedente; mínimo R$23 mil/mês · Fundos.NET ID 792021 · 27/11/2024 · regulamento · p. 14 · data/raw/35868110000154/792021_regulamento.pdf · https://fnet.bmfbovespa.com.br/fnet/publico/exibirDocumento?id=792021 · Observação: Rateio50%/50%; escrituração R$15mil inicial +R$2mil/mês; lastro R$5mil/mês e guarda R$4,5mil/mês adicionais. IGP-M positivo anual.</a:t>
            </a:r>
          </a:p>
          <a:p>
            <a:r>
              <a:t>CNPJ 54559035000194 · Custódia · Custódia, escrituração e controladoria incluídas na cláusula conjunta de taxas · Fundos.NET ID 634437 · 05/04/2024 · regulamento · p. 112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Custódia · Incluída na administração; verificação de lastro R$ 5 mil/mês adicional · Fundos.NET ID 1013021 · 14/11/2024 · regulamento · p. 44, 46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Custódia · Incluída na administração; escrituração R$ 2 mil/mês; lastro R$ 5 mil/mês · data/raw/62588266000154/1002580_regulamento.pdf · ID Fundos.NET 1002580 · 29/09/2025 · regulamento · p. 47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Custódia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Custódia · Custódia incluída na administração; remuneração de lastro pode ser adicional · Fundos.NET ID 966441 | 24/07/2025 | Regulamento | p. 49, Anexo I, taxas e custódia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Custódia · Custódia incluída na administração; remuneração de lastro pode ser adicional · Fundos.NET ID 1337406 | 01/10/2026 | Regulamento | p. 49, Anexo I, taxas e custódia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Custódia · Incluída na administração; guarda/verificação externa são encargos adicionais · Fundos.NET ID 1025473 · 03/04/2025 · Regulamento · p. 32-35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Custódia · Incluída na administração; percentual próprio não segregado · Fundos.NET ID 1051890 · 01/12/2025 · Regulamento · p. 40 · data/raw/55401645000128/1051890_documentary_review.pdf · https://fnet.bmfbovespa.com.br/fnet/publico/exibirDocumento?id=1051890 · Observação: Consultoria cobra até 25% dos juros pagos por parcela de DC originado em IF; não é spread das cotas.</a:t>
            </a:r>
          </a:p>
          <a:p>
            <a:r>
              <a:t>CNPJ 26749095000134 · Custódia · Serviços incluídos no escopo da taxa de administração; tarifa isolada não confirmada. · Fundos.NET ID 1061833; referência 19/11/2025; data/raw/26749095000134/1061833_regulamento_cache_integral.txt; 4.1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Custódia · 0,03% a.a. do PL; mínimo R$ 3,5 mil/mês · Fundos.NET ID 937760 · 22/04/2025 · Regulamento · p. 42 · data/raw/54810968000102/937760_documentary_review.pdf · https://fnet.bmfbovespa.com.br/fnet/publico/exibirDocumento?id=937760 · Observação: Guarda/verificação terceirizada é encargo adicional.</a:t>
            </a:r>
          </a:p>
          <a:p>
            <a:r>
              <a:t>CNPJ 08692888000182 · Controladoria · Maior entre 0,09% a.a. do PL e R$ 15 mil/mês; adicional à administração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Controladoria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Controladoria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Controladoria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Controladoria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Controladoria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Controladoria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Controladoria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Controladoria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Controladoria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Controladoria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Controladoria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Controladoria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Controladoria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Controladoria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Controladoria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Reajuste / base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Reajuste / base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Reajuste / base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Reajuste / base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Reajuste / base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Reajuste / base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Reajuste / base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Reajuste / base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Reajuste / base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Reajuste / base · Valores fixos reajustados por IPCA positivo; cálculo diário base 252, conforme cada taxa · Fundos.NET ID 966441 | 24/07/2025 | Regulamento | p. 49, Anexo I, taxas/reajuste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Reajuste / base · Valores fixos reajustados por IPCA positivo; cálculo diário base 252, conforme cada taxa · Fundos.NET ID 1337406 | 01/10/2026 | Regulamento | p. 49, Anexo I, taxas/reajuste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Reajuste / base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Reajuste / base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Reajuste / base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Reajuste / base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Escrituração e despesas adicionais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62838025000116 · Escrituração e despesas adicionais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Escrituração e despesas adicionais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Escrituração e despesas adicionais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Escrituração e despesas adicionais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Escrituração e despesas adicionais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Escrituração e despesas adicionais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Escrituração e despesas adicionais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Escrituração e despesas adicionais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Escrituração e despesas adicionais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Escrituração e despesas adicionais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Escrituração e despesas adicionais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Escrituração e despesas adicionais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Escrituração e despesas adicionais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Escrituração e despesas adicionais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Administração · 0,10% a.a. até R$ 70 mi + 0,075% sobre excedente; mínimo R$ 8.750/mês; reajuste IGP-M e tributos · data/raw/08692888000182/772020_regulamento.pdf · ID Fundos.NET 772020 · 05/11/2024 · regulamento · p. 45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Administração · 0,033% a.a. PL; mínimo R$ 15 mil/mês; IPC/FIPE · data/raw/62838025000116/1058234_regulamento.pdf · ID Fundos.NET 1058234 · 10/12/2025 · p. 46–47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Administração · Cláusula conjunta: 0,175% a.a. do PL; segregação administração/gestão não explicitada; mínimo R$ 15 mil/mês · Fundos.NET ID 667195 · 22/05/2024 · regulamento · p. 123 · data/raw/55070804000159/667195_regulamento.pdf · https://fnet.bmfbovespa.com.br/fnet/publico/exibirDocumento?id=667195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28169275000172 · Administração · Faixas cumulativas: 0,100% a.a. até R$ 1,5 bi; 0,075% até R$ 3 bi; 0,060% acima; agente de registro R$ 10 mil adicionais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Administração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 IGP-M positivo anual conforme remuneração.</a:t>
            </a:r>
          </a:p>
          <a:p>
            <a:r>
              <a:t>CNPJ 54559035000194 · Administração · Cláusula conjunta: 0,175% a.a. do PL; segregação administração/gestão não explicitada; mínimo não localizado · Fundos.NET ID 634437 · 05/04/2024 · regulamento · p. 112 · data/raw/54559035000194/634437_regulamento.pdf · https://fnet.bmfbovespa.com.br/fnet/publico/exibirDocumento?id=634437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50988212000105 · Administração · Faixas marginais PL: 0,13% / 0,10% / 0,074% / 0,060% / 0,030%; mínimo R$ 18 mil/mês · Fundos.NET ID 1013021 · 14/11/2024 · regulamento · p. 44-45 · data/raw/50988212000105/1013021_regulamento.pdf · https://fnet.bmfbovespa.com.br/fnet/publico/exibirDocumento?id=1013021 · Observação: Faixas até R$70mi, R$300mi, R$600mi, R$900mi e excedente; inclui custódia/controladoria. IGP-M positivo anual; R$27mil inicial de controladoria adicional.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Administração · Faixas PL: 0,056% / 0,04% / 0,016% a.a.; mínimo R$ 22.400/mês; IGP-M e tributos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Administração · Faixas cumulativas 0,045% / 0,035% / 0,02% a.a.; mínimo R$ 7.500/mês; IGP-M; tributos adicionais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Administração · 0,045% a.a. sobre PL; mínimo R$ 27.500,00/mês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Administração · 0,045% a.a. sobre PL; mínimo R$ 23.900,00/mês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Administração · 0,13%/0,11%/0,08% a.a. por faixa de PL; mínimo R$ 15,5 mil/mês · Fundos.NET ID 1025473 · 03/04/2025 · Regulamento · p. 33-34 · data/raw/51957370000152/1025473_documentary_review.pdf · https://fnet.bmfbovespa.com.br/fnet/publico/exibirDocumento?id=1025473 · Observação: Faixas: até R$ 500 mi; R$ 501 mi a R$ 1 bi; a partir de R$ 1 bi. Intervalo de fronteira é o texto documental, requer validação operacional.</a:t>
            </a:r>
          </a:p>
          <a:p>
            <a:r>
              <a:t>CNPJ 55401645000128 · Administração · 0,25%/0,23%/0,18% a.a.; mínimo R$ 16,5 mil nos 3 primeiros meses, R$ 20 mil depois · Fundos.NET ID 1051890 · 01/12/2025 · Regulamento · p. 40-41 · data/raw/55401645000128/1051890_documentary_review.pdf · https://fnet.bmfbovespa.com.br/fnet/publico/exibirDocumento?id=1051890 · Observação: PL: até R$ 50 mi; acima de R$ 50 a R$ 100 mi; acima de R$ 100 mi. Reajuste IGP-M anual.</a:t>
            </a:r>
          </a:p>
          <a:p>
            <a:r>
              <a:t>CNPJ 26749095000134 · Administração · 0,50% a.a./PL, mínimo R$ 25,6 mil/mês; taxa agrega administração e controladoria, com componentes próprios. · Fundos.NET ID 1061833; referência 19/11/2025; data/raw/26749095000134/1061833_regulamento_cache_integral.txt; 4.1 da parte geral; https://fnet.bmfbovespa.com.br/fnet/publico/exibirDocumento?id=1061833&amp;cvm=true · Observação: Componente administração: 0,20% até R$ 300 mi + 0,15% sobre excesso, mínimo R$ 16,2 mil. Não somar componente ao total.</a:t>
            </a:r>
          </a:p>
          <a:p>
            <a:r>
              <a:t>CNPJ 54810968000102 · Administração · 0,10%/0,08%/0,05% a.a.; mínimo R$ 12 mil/mês · Fundos.NET ID 937760 · 22/04/2025 · Regulamento · p. 41 · data/raw/54810968000102/937760_documentary_review.pdf · https://fnet.bmfbovespa.com.br/fnet/publico/exibirDocumento?id=937760 · Observação: PL até R$ 500 mi; R$ 500 mi a R$ 1 bi; acima R$ 1 bi. Percentual sobre todo PL ao atingir faixa.</a:t>
            </a:r>
          </a:p>
          <a:p>
            <a:r>
              <a:t>CNPJ 08692888000182 · Gestão · 0,10% a.a. até R$ 70 mi + 0,075% sobre excedente; mínimo R$ 8.750/mês; reajuste IGP-M · data/raw/08692888000182/772020_regulamento.pdf · ID Fundos.NET 772020 · 05/11/2024 · regulamento · p. 46–47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Gestão · 0,030% a.a. até R$ 500 mi; 0,025% acima; mínimo R$ 15 mil/mês; implementação R$ 45 mil · data/raw/62838025000116/1058234_regulamento.pdf · ID Fundos.NET 1058234 · 10/12/2025 · regulamento · p. 47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Gestão · Cláusula conjunta: 0,175% a.a. do PL; segregação administração/gestão não explicitada; adicional único R$ 40 mil · Fundos.NET ID 667195 · 22/05/2024 · regulamento · p. 123 · data/raw/55070804000159/667195_regulamento.pdf · https://fnet.bmfbovespa.com.br/fnet/publico/exibirDocumento?id=667195 · Observação: Não duplicar automaticamente a taxa conjunta. Adicional na primeira integralização; AG R$700/hora ao administrador.</a:t>
            </a:r>
          </a:p>
          <a:p>
            <a:r>
              <a:t>CNPJ 28169275000172 · Gestão · 10% da taxa de administração, limitada a R$ 4 mil/mês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Gestão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</a:t>
            </a:r>
          </a:p>
          <a:p>
            <a:r>
              <a:t>CNPJ 54559035000194 · Gestão · Cláusula conjunta: 0,175% a.a. do PL; segregação administração/gestão não explicitada; adicional único R$ 40 mil · Fundos.NET ID 634437 · 05/04/2024 · regulamento · p. 112 · data/raw/54559035000194/634437_regulamento.pdf · https://fnet.bmfbovespa.com.br/fnet/publico/exibirDocumento?id=634437 · Observação: Não duplicar automaticamente a taxa conjunta. Adicional na primeira integralização; AG R$700/hora ao administrador.</a:t>
            </a:r>
          </a:p>
          <a:p>
            <a:r>
              <a:t>CNPJ 50988212000105 · Gestão · Faixas numéricas 0,065% / 0,05% / 0,037% / 0,03% / 0,015%; divergência com extenso · Fundos.NET ID 1013021 · 14/11/2024 · regulamento · p. 46-47 · data/raw/50988212000105/1013021_regulamento.pdf · https://fnet.bmfbovespa.com.br/fnet/publico/exibirDocumento?id=1013021 · Observação: Marginais nos mesmos patamares do PL; extenso de 0,065%, 0,037% e 0,015% equivale a 0,65%, 0,37%, 0,15%. Exige validação do administrador; mínimo mensal não localizado.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Gestão · Faixas PL: 0,014% / 0,01% / 0,004% a.a.; mínimo R$ 5.600/mês; IGP-M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Gestão · Faixas cumulativas 0,045% / 0,035% / 0,02% a.a.; mínimo R$ 7.500/mês; IGP-M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Gestão · 10% a.a. sobre taxa de administração; mínimo mensal não localizado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Gestão · 10% a.a. sobre taxa de administração; máximo R$ 4.000,00/mês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Gestão · 0,42%/0,44%/0,40% a.a. por faixa de PL; mínimo R$ 7 mil/mês + tributos · Fundos.NET ID 1025473 · 03/04/2025 · Regulamento · p. 34 · data/raw/51957370000152/1025473_documentary_review.pdf · https://fnet.bmfbovespa.com.br/fnet/publico/exibirDocumento?id=1025473 · Observação: Faixas correspondentes às da administração; mínimos IGP-M positivo anual.</a:t>
            </a:r>
          </a:p>
          <a:p>
            <a:r>
              <a:t>CNPJ 55401645000128 · Gestão · 0,50% a.a. do PL; mínimo R$ 25 mil/mês + tributos · Fundos.NET ID 1051890 · 01/12/2025 · Regulamento · p. 41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Gestão · 0,05% a.a./PL; mínimo mensal não identificado. · Fundos.NET ID 1061833; referência 19/11/2025; data/raw/26749095000134/1061833_regulamento_cache_integral.txt; 4.2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Gestão · 0,45% a.a. do PL + tributos; mínimo próprio não localizado · Fundos.NET ID 937760 · 22/04/2025 · Regulamento · p. 41-42 · data/raw/54810968000102/937760_documentary_review.pdf · https://fnet.bmfbovespa.com.br/fnet/publico/exibirDocumento?id=937760 · Observação: Há divergência entre algarismos e expressão por extenso; valor numérico mantido com ressalva.</a:t>
            </a:r>
          </a:p>
          <a:p>
            <a:r>
              <a:t>CNPJ 08692888000182 · Custódia · Remuneração remetida ao contrato de custódia não localizado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62838025000116 · Custódia · Máximo agregado 0,027% do PL; mínimo R$ 15 mil/mês · data/raw/62838025000116/1058234_regulamento.pdf · ID Fundos.NET 1058234 · 10/12/2025 · regulamento · p. 48 · https://fnet.bmfbovespa.com.br/fnet/publico/visualizarDocumento?id=1058234 · Observação: Preservada redação e base do documento; conferir periodicidade nos contratos dos prestadores.</a:t>
            </a:r>
          </a:p>
          <a:p>
            <a:r>
              <a:t>CNPJ 55070804000159 · Custódia · Custódia, escrituração e controladoria incluídas na cláusula conjunta de taxas · Fundos.NET ID 667195 · 22/05/2024 · regulamento · p. 123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Custódia · Máximo 0,02% a.a. sobre PL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Custódia · Custódia/controladoria: 0,14% até R$300 mi +0,07% excedente; mínimo R$23 mil/mês · Fundos.NET ID 792021 · 27/11/2024 · regulamento · p. 14 · data/raw/35868110000154/792021_regulamento.pdf · https://fnet.bmfbovespa.com.br/fnet/publico/exibirDocumento?id=792021 · Observação: Rateio50%/50%; escrituração R$15mil inicial +R$2mil/mês; lastro R$5mil/mês e guarda R$4,5mil/mês adicionais. IGP-M positivo anual.</a:t>
            </a:r>
          </a:p>
          <a:p>
            <a:r>
              <a:t>CNPJ 54559035000194 · Custódia · Custódia, escrituração e controladoria incluídas na cláusula conjunta de taxas · Fundos.NET ID 634437 · 05/04/2024 · regulamento · p. 112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Custódia · Incluída na administração; verificação de lastro R$ 5 mil/mês adicional · Fundos.NET ID 1013021 · 14/11/2024 · regulamento · p. 44, 46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Custódia · Incluída na administração; escrituração R$ 2 mil/mês; lastro R$ 5 mil/mês · data/raw/62588266000154/1002580_regulamento.pdf · ID Fundos.NET 1002580 · 29/09/2025 · regulamento · p. 47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Custódia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Custódia · Custódia incluída na administração; remuneração de lastro pode ser adicional · Fundos.NET ID 966441 | 24/07/2025 | Regulamento | p. 49, Anexo I, taxas e custódia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Custódia · Custódia incluída na administração; remuneração de lastro pode ser adicional · Fundos.NET ID 1337406 | 01/10/2026 | Regulamento | p. 49, Anexo I, taxas e custódia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Custódia · Incluída na administração; guarda/verificação externa são encargos adicionais · Fundos.NET ID 1025473 · 03/04/2025 · Regulamento · p. 32-35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Custódia · Incluída na administração; percentual próprio não segregado · Fundos.NET ID 1051890 · 01/12/2025 · Regulamento · p. 40 · data/raw/55401645000128/1051890_documentary_review.pdf · https://fnet.bmfbovespa.com.br/fnet/publico/exibirDocumento?id=1051890 · Observação: Consultoria cobra até 25% dos juros pagos por parcela de DC originado em IF; não é spread das cotas.</a:t>
            </a:r>
          </a:p>
          <a:p>
            <a:r>
              <a:t>CNPJ 26749095000134 · Custódia · Serviços incluídos no escopo da taxa de administração; tarifa isolada não confirmada. · Fundos.NET ID 1061833; referência 19/11/2025; data/raw/26749095000134/1061833_regulamento_cache_integral.txt; 4.1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Custódia · 0,03% a.a. do PL; mínimo R$ 3,5 mil/mês · Fundos.NET ID 937760 · 22/04/2025 · Regulamento · p. 42 · data/raw/54810968000102/937760_documentary_review.pdf · https://fnet.bmfbovespa.com.br/fnet/publico/exibirDocumento?id=937760 · Observação: Guarda/verificação terceirizada é encargo adicional.</a:t>
            </a:r>
          </a:p>
          <a:p>
            <a:r>
              <a:t>CNPJ 08692888000182 · Controladoria · Maior entre 0,09% a.a. do PL e R$ 15 mil/mês; adicional à administração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Controladoria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Controladoria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Controladoria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Controladoria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Controladoria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Controladoria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Controladoria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Controladoria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Controladoria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Controladoria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Controladoria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Controladoria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Controladoria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Controladoria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Controladoria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Reajuste / base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Reajuste / base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Reajuste / base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Reajuste / base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Reajuste / base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Reajuste / base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Reajuste / base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Reajuste / base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Reajuste / base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Reajuste / base · Valores fixos reajustados por IPCA positivo; cálculo diário base 252, conforme cada taxa · Fundos.NET ID 966441 | 24/07/2025 | Regulamento | p. 49, Anexo I, taxas/reajuste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Reajuste / base · Valores fixos reajustados por IPCA positivo; cálculo diário base 252, conforme cada taxa · Fundos.NET ID 1337406 | 01/10/2026 | Regulamento | p. 49, Anexo I, taxas/reajuste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Reajuste / base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Reajuste / base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Reajuste / base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Reajuste / base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Escrituração e despesas adicionais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62838025000116 · Escrituração e despesas adicionais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Escrituração e despesas adicionais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Escrituração e despesas adicionais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Escrituração e despesas adicionais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Escrituração e despesas adicionais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Escrituração e despesas adicionais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Escrituração e despesas adicionais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Escrituração e despesas adicionais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Escrituração e despesas adicionais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Escrituração e despesas adicionais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Escrituração e despesas adicionais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Escrituração e despesas adicionais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Escrituração e despesas adicionais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Escrituração e despesas adicionais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Administração · 0,10% a.a. até R$ 70 mi + 0,075% sobre excedente; mínimo R$ 8.750/mês; reajuste IGP-M e tributos · data/raw/08692888000182/772020_regulamento.pdf · ID Fundos.NET 772020 · 05/11/2024 · regulamento · p. 45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Administração · 0,033% a.a. PL; mínimo R$ 15 mil/mês; IPC/FIPE · data/raw/62838025000116/1058234_regulamento.pdf · ID Fundos.NET 1058234 · 10/12/2025 · p. 46–47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Administração · Cláusula conjunta: 0,175% a.a. do PL; segregação administração/gestão não explicitada; mínimo R$ 15 mil/mês · Fundos.NET ID 667195 · 22/05/2024 · regulamento · p. 123 · data/raw/55070804000159/667195_regulamento.pdf · https://fnet.bmfbovespa.com.br/fnet/publico/exibirDocumento?id=667195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28169275000172 · Administração · Faixas cumulativas: 0,100% a.a. até R$ 1,5 bi; 0,075% até R$ 3 bi; 0,060% acima; agente de registro R$ 10 mil adicionais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Administração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 IGP-M positivo anual conforme remuneração.</a:t>
            </a:r>
          </a:p>
          <a:p>
            <a:r>
              <a:t>CNPJ 54559035000194 · Administração · Cláusula conjunta: 0,175% a.a. do PL; segregação administração/gestão não explicitada; mínimo não localizado · Fundos.NET ID 634437 · 05/04/2024 · regulamento · p. 112 · data/raw/54559035000194/634437_regulamento.pdf · https://fnet.bmfbovespa.com.br/fnet/publico/exibirDocumento?id=634437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50988212000105 · Administração · Faixas marginais PL: 0,13% / 0,10% / 0,074% / 0,060% / 0,030%; mínimo R$ 18 mil/mês · Fundos.NET ID 1013021 · 14/11/2024 · regulamento · p. 44-45 · data/raw/50988212000105/1013021_regulamento.pdf · https://fnet.bmfbovespa.com.br/fnet/publico/exibirDocumento?id=1013021 · Observação: Faixas até R$70mi, R$300mi, R$600mi, R$900mi e excedente; inclui custódia/controladoria. IGP-M positivo anual; R$27mil inicial de controladoria adicional.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Administração · Faixas PL: 0,056% / 0,04% / 0,016% a.a.; mínimo R$ 22.400/mês; IGP-M e tributos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Administração · Faixas cumulativas 0,045% / 0,035% / 0,02% a.a.; mínimo R$ 7.500/mês; IGP-M; tributos adicionais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Administração · 0,045% a.a. sobre PL; mínimo R$ 27.500,00/mês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Administração · 0,045% a.a. sobre PL; mínimo R$ 23.900,00/mês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Administração · 0,13%/0,11%/0,08% a.a. por faixa de PL; mínimo R$ 15,5 mil/mês · Fundos.NET ID 1025473 · 03/04/2025 · Regulamento · p. 33-34 · data/raw/51957370000152/1025473_documentary_review.pdf · https://fnet.bmfbovespa.com.br/fnet/publico/exibirDocumento?id=1025473 · Observação: Faixas: até R$ 500 mi; R$ 501 mi a R$ 1 bi; a partir de R$ 1 bi. Intervalo de fronteira é o texto documental, requer validação operacional.</a:t>
            </a:r>
          </a:p>
          <a:p>
            <a:r>
              <a:t>CNPJ 55401645000128 · Administração · 0,25%/0,23%/0,18% a.a.; mínimo R$ 16,5 mil nos 3 primeiros meses, R$ 20 mil depois · Fundos.NET ID 1051890 · 01/12/2025 · Regulamento · p. 40-41 · data/raw/55401645000128/1051890_documentary_review.pdf · https://fnet.bmfbovespa.com.br/fnet/publico/exibirDocumento?id=1051890 · Observação: PL: até R$ 50 mi; acima de R$ 50 a R$ 100 mi; acima de R$ 100 mi. Reajuste IGP-M anual.</a:t>
            </a:r>
          </a:p>
          <a:p>
            <a:r>
              <a:t>CNPJ 26749095000134 · Administração · 0,50% a.a./PL, mínimo R$ 25,6 mil/mês; taxa agrega administração e controladoria, com componentes próprios. · Fundos.NET ID 1061833; referência 19/11/2025; data/raw/26749095000134/1061833_regulamento_cache_integral.txt; 4.1 da parte geral; https://fnet.bmfbovespa.com.br/fnet/publico/exibirDocumento?id=1061833&amp;cvm=true · Observação: Componente administração: 0,20% até R$ 300 mi + 0,15% sobre excesso, mínimo R$ 16,2 mil. Não somar componente ao total.</a:t>
            </a:r>
          </a:p>
          <a:p>
            <a:r>
              <a:t>CNPJ 54810968000102 · Administração · 0,10%/0,08%/0,05% a.a.; mínimo R$ 12 mil/mês · Fundos.NET ID 937760 · 22/04/2025 · Regulamento · p. 41 · data/raw/54810968000102/937760_documentary_review.pdf · https://fnet.bmfbovespa.com.br/fnet/publico/exibirDocumento?id=937760 · Observação: PL até R$ 500 mi; R$ 500 mi a R$ 1 bi; acima R$ 1 bi. Percentual sobre todo PL ao atingir faixa.</a:t>
            </a:r>
          </a:p>
          <a:p>
            <a:r>
              <a:t>CNPJ 08692888000182 · Gestão · 0,10% a.a. até R$ 70 mi + 0,075% sobre excedente; mínimo R$ 8.750/mês; reajuste IGP-M · data/raw/08692888000182/772020_regulamento.pdf · ID Fundos.NET 772020 · 05/11/2024 · regulamento · p. 46–47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Gestão · 0,030% a.a. até R$ 500 mi; 0,025% acima; mínimo R$ 15 mil/mês; implementação R$ 45 mil · data/raw/62838025000116/1058234_regulamento.pdf · ID Fundos.NET 1058234 · 10/12/2025 · regulamento · p. 47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Gestão · Cláusula conjunta: 0,175% a.a. do PL; segregação administração/gestão não explicitada; adicional único R$ 40 mil · Fundos.NET ID 667195 · 22/05/2024 · regulamento · p. 123 · data/raw/55070804000159/667195_regulamento.pdf · https://fnet.bmfbovespa.com.br/fnet/publico/exibirDocumento?id=667195 · Observação: Não duplicar automaticamente a taxa conjunta. Adicional na primeira integralização; AG R$700/hora ao administrador.</a:t>
            </a:r>
          </a:p>
          <a:p>
            <a:r>
              <a:t>CNPJ 28169275000172 · Gestão · 10% da taxa de administração, limitada a R$ 4 mil/mês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Gestão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</a:t>
            </a:r>
          </a:p>
          <a:p>
            <a:r>
              <a:t>CNPJ 54559035000194 · Gestão · Cláusula conjunta: 0,175% a.a. do PL; segregação administração/gestão não explicitada; adicional único R$ 40 mil · Fundos.NET ID 634437 · 05/04/2024 · regulamento · p. 112 · data/raw/54559035000194/634437_regulamento.pdf · https://fnet.bmfbovespa.com.br/fnet/publico/exibirDocumento?id=634437 · Observação: Não duplicar automaticamente a taxa conjunta. Adicional na primeira integralização; AG R$700/hora ao administrador.</a:t>
            </a:r>
          </a:p>
          <a:p>
            <a:r>
              <a:t>CNPJ 50988212000105 · Gestão · Faixas numéricas 0,065% / 0,05% / 0,037% / 0,03% / 0,015%; divergência com extenso · Fundos.NET ID 1013021 · 14/11/2024 · regulamento · p. 46-47 · data/raw/50988212000105/1013021_regulamento.pdf · https://fnet.bmfbovespa.com.br/fnet/publico/exibirDocumento?id=1013021 · Observação: Marginais nos mesmos patamares do PL; extenso de 0,065%, 0,037% e 0,015% equivale a 0,65%, 0,37%, 0,15%. Exige validação do administrador; mínimo mensal não localizado.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Gestão · Faixas PL: 0,014% / 0,01% / 0,004% a.a.; mínimo R$ 5.600/mês; IGP-M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Gestão · Faixas cumulativas 0,045% / 0,035% / 0,02% a.a.; mínimo R$ 7.500/mês; IGP-M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Gestão · 10% a.a. sobre taxa de administração; mínimo mensal não localizado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Gestão · 10% a.a. sobre taxa de administração; máximo R$ 4.000,00/mês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Gestão · 0,42%/0,44%/0,40% a.a. por faixa de PL; mínimo R$ 7 mil/mês + tributos · Fundos.NET ID 1025473 · 03/04/2025 · Regulamento · p. 34 · data/raw/51957370000152/1025473_documentary_review.pdf · https://fnet.bmfbovespa.com.br/fnet/publico/exibirDocumento?id=1025473 · Observação: Faixas correspondentes às da administração; mínimos IGP-M positivo anual.</a:t>
            </a:r>
          </a:p>
          <a:p>
            <a:r>
              <a:t>CNPJ 55401645000128 · Gestão · 0,50% a.a. do PL; mínimo R$ 25 mil/mês + tributos · Fundos.NET ID 1051890 · 01/12/2025 · Regulamento · p. 41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Gestão · 0,05% a.a./PL; mínimo mensal não identificado. · Fundos.NET ID 1061833; referência 19/11/2025; data/raw/26749095000134/1061833_regulamento_cache_integral.txt; 4.2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Gestão · 0,45% a.a. do PL + tributos; mínimo próprio não localizado · Fundos.NET ID 937760 · 22/04/2025 · Regulamento · p. 41-42 · data/raw/54810968000102/937760_documentary_review.pdf · https://fnet.bmfbovespa.com.br/fnet/publico/exibirDocumento?id=937760 · Observação: Há divergência entre algarismos e expressão por extenso; valor numérico mantido com ressalva.</a:t>
            </a:r>
          </a:p>
          <a:p>
            <a:r>
              <a:t>CNPJ 08692888000182 · Custódia · Remuneração remetida ao contrato de custódia não localizado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62838025000116 · Custódia · Máximo agregado 0,027% do PL; mínimo R$ 15 mil/mês · data/raw/62838025000116/1058234_regulamento.pdf · ID Fundos.NET 1058234 · 10/12/2025 · regulamento · p. 48 · https://fnet.bmfbovespa.com.br/fnet/publico/visualizarDocumento?id=1058234 · Observação: Preservada redação e base do documento; conferir periodicidade nos contratos dos prestadores.</a:t>
            </a:r>
          </a:p>
          <a:p>
            <a:r>
              <a:t>CNPJ 55070804000159 · Custódia · Custódia, escrituração e controladoria incluídas na cláusula conjunta de taxas · Fundos.NET ID 667195 · 22/05/2024 · regulamento · p. 123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Custódia · Máximo 0,02% a.a. sobre PL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Custódia · Custódia/controladoria: 0,14% até R$300 mi +0,07% excedente; mínimo R$23 mil/mês · Fundos.NET ID 792021 · 27/11/2024 · regulamento · p. 14 · data/raw/35868110000154/792021_regulamento.pdf · https://fnet.bmfbovespa.com.br/fnet/publico/exibirDocumento?id=792021 · Observação: Rateio50%/50%; escrituração R$15mil inicial +R$2mil/mês; lastro R$5mil/mês e guarda R$4,5mil/mês adicionais. IGP-M positivo anual.</a:t>
            </a:r>
          </a:p>
          <a:p>
            <a:r>
              <a:t>CNPJ 54559035000194 · Custódia · Custódia, escrituração e controladoria incluídas na cláusula conjunta de taxas · Fundos.NET ID 634437 · 05/04/2024 · regulamento · p. 112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Custódia · Incluída na administração; verificação de lastro R$ 5 mil/mês adicional · Fundos.NET ID 1013021 · 14/11/2024 · regulamento · p. 44, 46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Custódia · Incluída na administração; escrituração R$ 2 mil/mês; lastro R$ 5 mil/mês · data/raw/62588266000154/1002580_regulamento.pdf · ID Fundos.NET 1002580 · 29/09/2025 · regulamento · p. 47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Custódia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Custódia · Custódia incluída na administração; remuneração de lastro pode ser adicional · Fundos.NET ID 966441 | 24/07/2025 | Regulamento | p. 49, Anexo I, taxas e custódia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Custódia · Custódia incluída na administração; remuneração de lastro pode ser adicional · Fundos.NET ID 1337406 | 01/10/2026 | Regulamento | p. 49, Anexo I, taxas e custódia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Custódia · Incluída na administração; guarda/verificação externa são encargos adicionais · Fundos.NET ID 1025473 · 03/04/2025 · Regulamento · p. 32-35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Custódia · Incluída na administração; percentual próprio não segregado · Fundos.NET ID 1051890 · 01/12/2025 · Regulamento · p. 40 · data/raw/55401645000128/1051890_documentary_review.pdf · https://fnet.bmfbovespa.com.br/fnet/publico/exibirDocumento?id=1051890 · Observação: Consultoria cobra até 25% dos juros pagos por parcela de DC originado em IF; não é spread das cotas.</a:t>
            </a:r>
          </a:p>
          <a:p>
            <a:r>
              <a:t>CNPJ 26749095000134 · Custódia · Serviços incluídos no escopo da taxa de administração; tarifa isolada não confirmada. · Fundos.NET ID 1061833; referência 19/11/2025; data/raw/26749095000134/1061833_regulamento_cache_integral.txt; 4.1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Custódia · 0,03% a.a. do PL; mínimo R$ 3,5 mil/mês · Fundos.NET ID 937760 · 22/04/2025 · Regulamento · p. 42 · data/raw/54810968000102/937760_documentary_review.pdf · https://fnet.bmfbovespa.com.br/fnet/publico/exibirDocumento?id=937760 · Observação: Guarda/verificação terceirizada é encargo adicional.</a:t>
            </a:r>
          </a:p>
          <a:p>
            <a:r>
              <a:t>CNPJ 08692888000182 · Controladoria · Maior entre 0,09% a.a. do PL e R$ 15 mil/mês; adicional à administração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Controladoria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Controladoria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Controladoria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Controladoria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Controladoria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Controladoria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Controladoria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Controladoria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Controladoria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Controladoria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Controladoria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Controladoria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Controladoria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Controladoria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Controladoria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Reajuste / base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Reajuste / base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Reajuste / base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Reajuste / base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Reajuste / base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Reajuste / base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Reajuste / base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Reajuste / base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Reajuste / base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Reajuste / base · Valores fixos reajustados por IPCA positivo; cálculo diário base 252, conforme cada taxa · Fundos.NET ID 966441 | 24/07/2025 | Regulamento | p. 49, Anexo I, taxas/reajuste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Reajuste / base · Valores fixos reajustados por IPCA positivo; cálculo diário base 252, conforme cada taxa · Fundos.NET ID 1337406 | 01/10/2026 | Regulamento | p. 49, Anexo I, taxas/reajuste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Reajuste / base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Reajuste / base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Reajuste / base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Reajuste / base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Escrituração e despesas adicionais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62838025000116 · Escrituração e despesas adicionais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Escrituração e despesas adicionais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Escrituração e despesas adicionais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Escrituração e despesas adicionais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Escrituração e despesas adicionais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Escrituração e despesas adicionais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Escrituração e despesas adicionais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Escrituração e despesas adicionais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Escrituração e despesas adicionais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Escrituração e despesas adicionais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Escrituração e despesas adicionais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Escrituração e despesas adicionais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Escrituração e despesas adicionais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Escrituração e despesas adicionais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Administração · 0,10% a.a. até R$ 70 mi + 0,075% sobre excedente; mínimo R$ 8.750/mês; reajuste IGP-M e tributos · data/raw/08692888000182/772020_regulamento.pdf · ID Fundos.NET 772020 · 05/11/2024 · regulamento · p. 45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Administração · 0,033% a.a. PL; mínimo R$ 15 mil/mês; IPC/FIPE · data/raw/62838025000116/1058234_regulamento.pdf · ID Fundos.NET 1058234 · 10/12/2025 · p. 46–47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Administração · Cláusula conjunta: 0,175% a.a. do PL; segregação administração/gestão não explicitada; mínimo R$ 15 mil/mês · Fundos.NET ID 667195 · 22/05/2024 · regulamento · p. 123 · data/raw/55070804000159/667195_regulamento.pdf · https://fnet.bmfbovespa.com.br/fnet/publico/exibirDocumento?id=667195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28169275000172 · Administração · Faixas cumulativas: 0,100% a.a. até R$ 1,5 bi; 0,075% até R$ 3 bi; 0,060% acima; agente de registro R$ 10 mil adicionais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Administração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 IGP-M positivo anual conforme remuneração.</a:t>
            </a:r>
          </a:p>
          <a:p>
            <a:r>
              <a:t>CNPJ 54559035000194 · Administração · Cláusula conjunta: 0,175% a.a. do PL; segregação administração/gestão não explicitada; mínimo não localizado · Fundos.NET ID 634437 · 05/04/2024 · regulamento · p. 112 · data/raw/54559035000194/634437_regulamento.pdf · https://fnet.bmfbovespa.com.br/fnet/publico/exibirDocumento?id=634437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50988212000105 · Administração · Faixas marginais PL: 0,13% / 0,10% / 0,074% / 0,060% / 0,030%; mínimo R$ 18 mil/mês · Fundos.NET ID 1013021 · 14/11/2024 · regulamento · p. 44-45 · data/raw/50988212000105/1013021_regulamento.pdf · https://fnet.bmfbovespa.com.br/fnet/publico/exibirDocumento?id=1013021 · Observação: Faixas até R$70mi, R$300mi, R$600mi, R$900mi e excedente; inclui custódia/controladoria. IGP-M positivo anual; R$27mil inicial de controladoria adicional.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Administração · Faixas PL: 0,056% / 0,04% / 0,016% a.a.; mínimo R$ 22.400/mês; IGP-M e tributos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Administração · Faixas cumulativas 0,045% / 0,035% / 0,02% a.a.; mínimo R$ 7.500/mês; IGP-M; tributos adicionais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Administração · 0,045% a.a. sobre PL; mínimo R$ 27.500,00/mês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Administração · 0,045% a.a. sobre PL; mínimo R$ 23.900,00/mês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Administração · 0,13%/0,11%/0,08% a.a. por faixa de PL; mínimo R$ 15,5 mil/mês · Fundos.NET ID 1025473 · 03/04/2025 · Regulamento · p. 33-34 · data/raw/51957370000152/1025473_documentary_review.pdf · https://fnet.bmfbovespa.com.br/fnet/publico/exibirDocumento?id=1025473 · Observação: Faixas: até R$ 500 mi; R$ 501 mi a R$ 1 bi; a partir de R$ 1 bi. Intervalo de fronteira é o texto documental, requer validação operacional.</a:t>
            </a:r>
          </a:p>
          <a:p>
            <a:r>
              <a:t>CNPJ 55401645000128 · Administração · 0,25%/0,23%/0,18% a.a.; mínimo R$ 16,5 mil nos 3 primeiros meses, R$ 20 mil depois · Fundos.NET ID 1051890 · 01/12/2025 · Regulamento · p. 40-41 · data/raw/55401645000128/1051890_documentary_review.pdf · https://fnet.bmfbovespa.com.br/fnet/publico/exibirDocumento?id=1051890 · Observação: PL: até R$ 50 mi; acima de R$ 50 a R$ 100 mi; acima de R$ 100 mi. Reajuste IGP-M anual.</a:t>
            </a:r>
          </a:p>
          <a:p>
            <a:r>
              <a:t>CNPJ 26749095000134 · Administração · 0,50% a.a./PL, mínimo R$ 25,6 mil/mês; taxa agrega administração e controladoria, com componentes próprios. · Fundos.NET ID 1061833; referência 19/11/2025; data/raw/26749095000134/1061833_regulamento_cache_integral.txt; 4.1 da parte geral; https://fnet.bmfbovespa.com.br/fnet/publico/exibirDocumento?id=1061833&amp;cvm=true · Observação: Componente administração: 0,20% até R$ 300 mi + 0,15% sobre excesso, mínimo R$ 16,2 mil. Não somar componente ao total.</a:t>
            </a:r>
          </a:p>
          <a:p>
            <a:r>
              <a:t>CNPJ 54810968000102 · Administração · 0,10%/0,08%/0,05% a.a.; mínimo R$ 12 mil/mês · Fundos.NET ID 937760 · 22/04/2025 · Regulamento · p. 41 · data/raw/54810968000102/937760_documentary_review.pdf · https://fnet.bmfbovespa.com.br/fnet/publico/exibirDocumento?id=937760 · Observação: PL até R$ 500 mi; R$ 500 mi a R$ 1 bi; acima R$ 1 bi. Percentual sobre todo PL ao atingir faixa.</a:t>
            </a:r>
          </a:p>
          <a:p>
            <a:r>
              <a:t>CNPJ 08692888000182 · Gestão · 0,10% a.a. até R$ 70 mi + 0,075% sobre excedente; mínimo R$ 8.750/mês; reajuste IGP-M · data/raw/08692888000182/772020_regulamento.pdf · ID Fundos.NET 772020 · 05/11/2024 · regulamento · p. 46–47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Gestão · 0,030% a.a. até R$ 500 mi; 0,025% acima; mínimo R$ 15 mil/mês; implementação R$ 45 mil · data/raw/62838025000116/1058234_regulamento.pdf · ID Fundos.NET 1058234 · 10/12/2025 · regulamento · p. 47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Gestão · Cláusula conjunta: 0,175% a.a. do PL; segregação administração/gestão não explicitada; adicional único R$ 40 mil · Fundos.NET ID 667195 · 22/05/2024 · regulamento · p. 123 · data/raw/55070804000159/667195_regulamento.pdf · https://fnet.bmfbovespa.com.br/fnet/publico/exibirDocumento?id=667195 · Observação: Não duplicar automaticamente a taxa conjunta. Adicional na primeira integralização; AG R$700/hora ao administrador.</a:t>
            </a:r>
          </a:p>
          <a:p>
            <a:r>
              <a:t>CNPJ 28169275000172 · Gestão · 10% da taxa de administração, limitada a R$ 4 mil/mês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Gestão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</a:t>
            </a:r>
          </a:p>
          <a:p>
            <a:r>
              <a:t>CNPJ 54559035000194 · Gestão · Cláusula conjunta: 0,175% a.a. do PL; segregação administração/gestão não explicitada; adicional único R$ 40 mil · Fundos.NET ID 634437 · 05/04/2024 · regulamento · p. 112 · data/raw/54559035000194/634437_regulamento.pdf · https://fnet.bmfbovespa.com.br/fnet/publico/exibirDocumento?id=634437 · Observação: Não duplicar automaticamente a taxa conjunta. Adicional na primeira integralização; AG R$700/hora ao administrador.</a:t>
            </a:r>
          </a:p>
          <a:p>
            <a:r>
              <a:t>CNPJ 50988212000105 · Gestão · Faixas numéricas 0,065% / 0,05% / 0,037% / 0,03% / 0,015%; divergência com extenso · Fundos.NET ID 1013021 · 14/11/2024 · regulamento · p. 46-47 · data/raw/50988212000105/1013021_regulamento.pdf · https://fnet.bmfbovespa.com.br/fnet/publico/exibirDocumento?id=1013021 · Observação: Marginais nos mesmos patamares do PL; extenso de 0,065%, 0,037% e 0,015% equivale a 0,65%, 0,37%, 0,15%. Exige validação do administrador; mínimo mensal não localizado.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Gestão · Faixas PL: 0,014% / 0,01% / 0,004% a.a.; mínimo R$ 5.600/mês; IGP-M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Gestão · Faixas cumulativas 0,045% / 0,035% / 0,02% a.a.; mínimo R$ 7.500/mês; IGP-M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Gestão · 10% a.a. sobre taxa de administração; mínimo mensal não localizado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Gestão · 10% a.a. sobre taxa de administração; máximo R$ 4.000,00/mês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Gestão · 0,42%/0,44%/0,40% a.a. por faixa de PL; mínimo R$ 7 mil/mês + tributos · Fundos.NET ID 1025473 · 03/04/2025 · Regulamento · p. 34 · data/raw/51957370000152/1025473_documentary_review.pdf · https://fnet.bmfbovespa.com.br/fnet/publico/exibirDocumento?id=1025473 · Observação: Faixas correspondentes às da administração; mínimos IGP-M positivo anual.</a:t>
            </a:r>
          </a:p>
          <a:p>
            <a:r>
              <a:t>CNPJ 55401645000128 · Gestão · 0,50% a.a. do PL; mínimo R$ 25 mil/mês + tributos · Fundos.NET ID 1051890 · 01/12/2025 · Regulamento · p. 41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Gestão · 0,05% a.a./PL; mínimo mensal não identificado. · Fundos.NET ID 1061833; referência 19/11/2025; data/raw/26749095000134/1061833_regulamento_cache_integral.txt; 4.2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Gestão · 0,45% a.a. do PL + tributos; mínimo próprio não localizado · Fundos.NET ID 937760 · 22/04/2025 · Regulamento · p. 41-42 · data/raw/54810968000102/937760_documentary_review.pdf · https://fnet.bmfbovespa.com.br/fnet/publico/exibirDocumento?id=937760 · Observação: Há divergência entre algarismos e expressão por extenso; valor numérico mantido com ressalva.</a:t>
            </a:r>
          </a:p>
          <a:p>
            <a:r>
              <a:t>CNPJ 08692888000182 · Custódia · Remuneração remetida ao contrato de custódia não localizado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62838025000116 · Custódia · Máximo agregado 0,027% do PL; mínimo R$ 15 mil/mês · data/raw/62838025000116/1058234_regulamento.pdf · ID Fundos.NET 1058234 · 10/12/2025 · regulamento · p. 48 · https://fnet.bmfbovespa.com.br/fnet/publico/visualizarDocumento?id=1058234 · Observação: Preservada redação e base do documento; conferir periodicidade nos contratos dos prestadores.</a:t>
            </a:r>
          </a:p>
          <a:p>
            <a:r>
              <a:t>CNPJ 55070804000159 · Custódia · Custódia, escrituração e controladoria incluídas na cláusula conjunta de taxas · Fundos.NET ID 667195 · 22/05/2024 · regulamento · p. 123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Custódia · Máximo 0,02% a.a. sobre PL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Custódia · Custódia/controladoria: 0,14% até R$300 mi +0,07% excedente; mínimo R$23 mil/mês · Fundos.NET ID 792021 · 27/11/2024 · regulamento · p. 14 · data/raw/35868110000154/792021_regulamento.pdf · https://fnet.bmfbovespa.com.br/fnet/publico/exibirDocumento?id=792021 · Observação: Rateio50%/50%; escrituração R$15mil inicial +R$2mil/mês; lastro R$5mil/mês e guarda R$4,5mil/mês adicionais. IGP-M positivo anual.</a:t>
            </a:r>
          </a:p>
          <a:p>
            <a:r>
              <a:t>CNPJ 54559035000194 · Custódia · Custódia, escrituração e controladoria incluídas na cláusula conjunta de taxas · Fundos.NET ID 634437 · 05/04/2024 · regulamento · p. 112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Custódia · Incluída na administração; verificação de lastro R$ 5 mil/mês adicional · Fundos.NET ID 1013021 · 14/11/2024 · regulamento · p. 44, 46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Custódia · Incluída na administração; escrituração R$ 2 mil/mês; lastro R$ 5 mil/mês · data/raw/62588266000154/1002580_regulamento.pdf · ID Fundos.NET 1002580 · 29/09/2025 · regulamento · p. 47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Custódia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Custódia · Custódia incluída na administração; remuneração de lastro pode ser adicional · Fundos.NET ID 966441 | 24/07/2025 | Regulamento | p. 49, Anexo I, taxas e custódia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Custódia · Custódia incluída na administração; remuneração de lastro pode ser adicional · Fundos.NET ID 1337406 | 01/10/2026 | Regulamento | p. 49, Anexo I, taxas e custódia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Custódia · Incluída na administração; guarda/verificação externa são encargos adicionais · Fundos.NET ID 1025473 · 03/04/2025 · Regulamento · p. 32-35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Custódia · Incluída na administração; percentual próprio não segregado · Fundos.NET ID 1051890 · 01/12/2025 · Regulamento · p. 40 · data/raw/55401645000128/1051890_documentary_review.pdf · https://fnet.bmfbovespa.com.br/fnet/publico/exibirDocumento?id=1051890 · Observação: Consultoria cobra até 25% dos juros pagos por parcela de DC originado em IF; não é spread das cotas.</a:t>
            </a:r>
          </a:p>
          <a:p>
            <a:r>
              <a:t>CNPJ 26749095000134 · Custódia · Serviços incluídos no escopo da taxa de administração; tarifa isolada não confirmada. · Fundos.NET ID 1061833; referência 19/11/2025; data/raw/26749095000134/1061833_regulamento_cache_integral.txt; 4.1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Custódia · 0,03% a.a. do PL; mínimo R$ 3,5 mil/mês · Fundos.NET ID 937760 · 22/04/2025 · Regulamento · p. 42 · data/raw/54810968000102/937760_documentary_review.pdf · https://fnet.bmfbovespa.com.br/fnet/publico/exibirDocumento?id=937760 · Observação: Guarda/verificação terceirizada é encargo adicional.</a:t>
            </a:r>
          </a:p>
          <a:p>
            <a:r>
              <a:t>CNPJ 08692888000182 · Controladoria · Maior entre 0,09% a.a. do PL e R$ 15 mil/mês; adicional à administração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Controladoria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Controladoria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Controladoria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Controladoria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Controladoria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Controladoria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Controladoria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Controladoria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Controladoria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Controladoria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Controladoria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Controladoria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Controladoria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Controladoria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Controladoria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Reajuste / base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Reajuste / base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Reajuste / base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Reajuste / base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Reajuste / base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Reajuste / base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Reajuste / base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Reajuste / base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Reajuste / base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Reajuste / base · Valores fixos reajustados por IPCA positivo; cálculo diário base 252, conforme cada taxa · Fundos.NET ID 966441 | 24/07/2025 | Regulamento | p. 49, Anexo I, taxas/reajuste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Reajuste / base · Valores fixos reajustados por IPCA positivo; cálculo diário base 252, conforme cada taxa · Fundos.NET ID 1337406 | 01/10/2026 | Regulamento | p. 49, Anexo I, taxas/reajuste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Reajuste / base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Reajuste / base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Reajuste / base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Reajuste / base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Escrituração e despesas adicionais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62838025000116 · Escrituração e despesas adicionais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Escrituração e despesas adicionais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Escrituração e despesas adicionais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Escrituração e despesas adicionais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Escrituração e despesas adicionais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Escrituração e despesas adicionais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Escrituração e despesas adicionais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Escrituração e despesas adicionais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Escrituração e despesas adicionais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Escrituração e despesas adicionais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Escrituração e despesas adicionais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Escrituração e despesas adicionais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Escrituração e despesas adicionais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Escrituração e despesas adicionais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Administração · 0,10% a.a. até R$ 70 mi + 0,075% sobre excedente; mínimo R$ 8.750/mês; reajuste IGP-M e tributos · data/raw/08692888000182/772020_regulamento.pdf · ID Fundos.NET 772020 · 05/11/2024 · regulamento · p. 45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Administração · 0,033% a.a. PL; mínimo R$ 15 mil/mês; IPC/FIPE · data/raw/62838025000116/1058234_regulamento.pdf · ID Fundos.NET 1058234 · 10/12/2025 · p. 46–47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Administração · Cláusula conjunta: 0,175% a.a. do PL; segregação administração/gestão não explicitada; mínimo R$ 15 mil/mês · Fundos.NET ID 667195 · 22/05/2024 · regulamento · p. 123 · data/raw/55070804000159/667195_regulamento.pdf · https://fnet.bmfbovespa.com.br/fnet/publico/exibirDocumento?id=667195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28169275000172 · Administração · Faixas cumulativas: 0,100% a.a. até R$ 1,5 bi; 0,075% até R$ 3 bi; 0,060% acima; agente de registro R$ 10 mil adicionais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Administração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 IGP-M positivo anual conforme remuneração.</a:t>
            </a:r>
          </a:p>
          <a:p>
            <a:r>
              <a:t>CNPJ 54559035000194 · Administração · Cláusula conjunta: 0,175% a.a. do PL; segregação administração/gestão não explicitada; mínimo não localizado · Fundos.NET ID 634437 · 05/04/2024 · regulamento · p. 112 · data/raw/54559035000194/634437_regulamento.pdf · https://fnet.bmfbovespa.com.br/fnet/publico/exibirDocumento?id=634437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50988212000105 · Administração · Faixas marginais PL: 0,13% / 0,10% / 0,074% / 0,060% / 0,030%; mínimo R$ 18 mil/mês · Fundos.NET ID 1013021 · 14/11/2024 · regulamento · p. 44-45 · data/raw/50988212000105/1013021_regulamento.pdf · https://fnet.bmfbovespa.com.br/fnet/publico/exibirDocumento?id=1013021 · Observação: Faixas até R$70mi, R$300mi, R$600mi, R$900mi e excedente; inclui custódia/controladoria. IGP-M positivo anual; R$27mil inicial de controladoria adicional.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Administração · Faixas PL: 0,056% / 0,04% / 0,016% a.a.; mínimo R$ 22.400/mês; IGP-M e tributos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Administração · Faixas cumulativas 0,045% / 0,035% / 0,02% a.a.; mínimo R$ 7.500/mês; IGP-M; tributos adicionais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Administração · 0,045% a.a. sobre PL; mínimo R$ 27.500,00/mês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Administração · 0,045% a.a. sobre PL; mínimo R$ 23.900,00/mês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Administração · 0,13%/0,11%/0,08% a.a. por faixa de PL; mínimo R$ 15,5 mil/mês · Fundos.NET ID 1025473 · 03/04/2025 · Regulamento · p. 33-34 · data/raw/51957370000152/1025473_documentary_review.pdf · https://fnet.bmfbovespa.com.br/fnet/publico/exibirDocumento?id=1025473 · Observação: Faixas: até R$ 500 mi; R$ 501 mi a R$ 1 bi; a partir de R$ 1 bi. Intervalo de fronteira é o texto documental, requer validação operacional.</a:t>
            </a:r>
          </a:p>
          <a:p>
            <a:r>
              <a:t>CNPJ 55401645000128 · Administração · 0,25%/0,23%/0,18% a.a.; mínimo R$ 16,5 mil nos 3 primeiros meses, R$ 20 mil depois · Fundos.NET ID 1051890 · 01/12/2025 · Regulamento · p. 40-41 · data/raw/55401645000128/1051890_documentary_review.pdf · https://fnet.bmfbovespa.com.br/fnet/publico/exibirDocumento?id=1051890 · Observação: PL: até R$ 50 mi; acima de R$ 50 a R$ 100 mi; acima de R$ 100 mi. Reajuste IGP-M anual.</a:t>
            </a:r>
          </a:p>
          <a:p>
            <a:r>
              <a:t>CNPJ 26749095000134 · Administração · 0,50% a.a./PL, mínimo R$ 25,6 mil/mês; taxa agrega administração e controladoria, com componentes próprios. · Fundos.NET ID 1061833; referência 19/11/2025; data/raw/26749095000134/1061833_regulamento_cache_integral.txt; 4.1 da parte geral; https://fnet.bmfbovespa.com.br/fnet/publico/exibirDocumento?id=1061833&amp;cvm=true · Observação: Componente administração: 0,20% até R$ 300 mi + 0,15% sobre excesso, mínimo R$ 16,2 mil. Não somar componente ao total.</a:t>
            </a:r>
          </a:p>
          <a:p>
            <a:r>
              <a:t>CNPJ 54810968000102 · Administração · 0,10%/0,08%/0,05% a.a.; mínimo R$ 12 mil/mês · Fundos.NET ID 937760 · 22/04/2025 · Regulamento · p. 41 · data/raw/54810968000102/937760_documentary_review.pdf · https://fnet.bmfbovespa.com.br/fnet/publico/exibirDocumento?id=937760 · Observação: PL até R$ 500 mi; R$ 500 mi a R$ 1 bi; acima R$ 1 bi. Percentual sobre todo PL ao atingir faixa.</a:t>
            </a:r>
          </a:p>
          <a:p>
            <a:r>
              <a:t>CNPJ 08692888000182 · Gestão · 0,10% a.a. até R$ 70 mi + 0,075% sobre excedente; mínimo R$ 8.750/mês; reajuste IGP-M · data/raw/08692888000182/772020_regulamento.pdf · ID Fundos.NET 772020 · 05/11/2024 · regulamento · p. 46–47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Gestão · 0,030% a.a. até R$ 500 mi; 0,025% acima; mínimo R$ 15 mil/mês; implementação R$ 45 mil · data/raw/62838025000116/1058234_regulamento.pdf · ID Fundos.NET 1058234 · 10/12/2025 · regulamento · p. 47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Gestão · Cláusula conjunta: 0,175% a.a. do PL; segregação administração/gestão não explicitada; adicional único R$ 40 mil · Fundos.NET ID 667195 · 22/05/2024 · regulamento · p. 123 · data/raw/55070804000159/667195_regulamento.pdf · https://fnet.bmfbovespa.com.br/fnet/publico/exibirDocumento?id=667195 · Observação: Não duplicar automaticamente a taxa conjunta. Adicional na primeira integralização; AG R$700/hora ao administrador.</a:t>
            </a:r>
          </a:p>
          <a:p>
            <a:r>
              <a:t>CNPJ 28169275000172 · Gestão · 10% da taxa de administração, limitada a R$ 4 mil/mês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Gestão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</a:t>
            </a:r>
          </a:p>
          <a:p>
            <a:r>
              <a:t>CNPJ 54559035000194 · Gestão · Cláusula conjunta: 0,175% a.a. do PL; segregação administração/gestão não explicitada; adicional único R$ 40 mil · Fundos.NET ID 634437 · 05/04/2024 · regulamento · p. 112 · data/raw/54559035000194/634437_regulamento.pdf · https://fnet.bmfbovespa.com.br/fnet/publico/exibirDocumento?id=634437 · Observação: Não duplicar automaticamente a taxa conjunta. Adicional na primeira integralização; AG R$700/hora ao administrador.</a:t>
            </a:r>
          </a:p>
          <a:p>
            <a:r>
              <a:t>CNPJ 50988212000105 · Gestão · Faixas numéricas 0,065% / 0,05% / 0,037% / 0,03% / 0,015%; divergência com extenso · Fundos.NET ID 1013021 · 14/11/2024 · regulamento · p. 46-47 · data/raw/50988212000105/1013021_regulamento.pdf · https://fnet.bmfbovespa.com.br/fnet/publico/exibirDocumento?id=1013021 · Observação: Marginais nos mesmos patamares do PL; extenso de 0,065%, 0,037% e 0,015% equivale a 0,65%, 0,37%, 0,15%. Exige validação do administrador; mínimo mensal não localizado.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Gestão · Faixas PL: 0,014% / 0,01% / 0,004% a.a.; mínimo R$ 5.600/mês; IGP-M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Gestão · Faixas cumulativas 0,045% / 0,035% / 0,02% a.a.; mínimo R$ 7.500/mês; IGP-M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Gestão · 10% a.a. sobre taxa de administração; mínimo mensal não localizado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Gestão · 10% a.a. sobre taxa de administração; máximo R$ 4.000,00/mês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Gestão · 0,42%/0,44%/0,40% a.a. por faixa de PL; mínimo R$ 7 mil/mês + tributos · Fundos.NET ID 1025473 · 03/04/2025 · Regulamento · p. 34 · data/raw/51957370000152/1025473_documentary_review.pdf · https://fnet.bmfbovespa.com.br/fnet/publico/exibirDocumento?id=1025473 · Observação: Faixas correspondentes às da administração; mínimos IGP-M positivo anual.</a:t>
            </a:r>
          </a:p>
          <a:p>
            <a:r>
              <a:t>CNPJ 55401645000128 · Gestão · 0,50% a.a. do PL; mínimo R$ 25 mil/mês + tributos · Fundos.NET ID 1051890 · 01/12/2025 · Regulamento · p. 41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Gestão · 0,05% a.a./PL; mínimo mensal não identificado. · Fundos.NET ID 1061833; referência 19/11/2025; data/raw/26749095000134/1061833_regulamento_cache_integral.txt; 4.2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Gestão · 0,45% a.a. do PL + tributos; mínimo próprio não localizado · Fundos.NET ID 937760 · 22/04/2025 · Regulamento · p. 41-42 · data/raw/54810968000102/937760_documentary_review.pdf · https://fnet.bmfbovespa.com.br/fnet/publico/exibirDocumento?id=937760 · Observação: Há divergência entre algarismos e expressão por extenso; valor numérico mantido com ressalva.</a:t>
            </a:r>
          </a:p>
          <a:p>
            <a:r>
              <a:t>CNPJ 08692888000182 · Custódia · Remuneração remetida ao contrato de custódia não localizado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62838025000116 · Custódia · Máximo agregado 0,027% do PL; mínimo R$ 15 mil/mês · data/raw/62838025000116/1058234_regulamento.pdf · ID Fundos.NET 1058234 · 10/12/2025 · regulamento · p. 48 · https://fnet.bmfbovespa.com.br/fnet/publico/visualizarDocumento?id=1058234 · Observação: Preservada redação e base do documento; conferir periodicidade nos contratos dos prestadores.</a:t>
            </a:r>
          </a:p>
          <a:p>
            <a:r>
              <a:t>CNPJ 55070804000159 · Custódia · Custódia, escrituração e controladoria incluídas na cláusula conjunta de taxas · Fundos.NET ID 667195 · 22/05/2024 · regulamento · p. 123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Custódia · Máximo 0,02% a.a. sobre PL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Custódia · Custódia/controladoria: 0,14% até R$300 mi +0,07% excedente; mínimo R$23 mil/mês · Fundos.NET ID 792021 · 27/11/2024 · regulamento · p. 14 · data/raw/35868110000154/792021_regulamento.pdf · https://fnet.bmfbovespa.com.br/fnet/publico/exibirDocumento?id=792021 · Observação: Rateio50%/50%; escrituração R$15mil inicial +R$2mil/mês; lastro R$5mil/mês e guarda R$4,5mil/mês adicionais. IGP-M positivo anual.</a:t>
            </a:r>
          </a:p>
          <a:p>
            <a:r>
              <a:t>CNPJ 54559035000194 · Custódia · Custódia, escrituração e controladoria incluídas na cláusula conjunta de taxas · Fundos.NET ID 634437 · 05/04/2024 · regulamento · p. 112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Custódia · Incluída na administração; verificação de lastro R$ 5 mil/mês adicional · Fundos.NET ID 1013021 · 14/11/2024 · regulamento · p. 44, 46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Custódia · Incluída na administração; escrituração R$ 2 mil/mês; lastro R$ 5 mil/mês · data/raw/62588266000154/1002580_regulamento.pdf · ID Fundos.NET 1002580 · 29/09/2025 · regulamento · p. 47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Custódia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Custódia · Custódia incluída na administração; remuneração de lastro pode ser adicional · Fundos.NET ID 966441 | 24/07/2025 | Regulamento | p. 49, Anexo I, taxas e custódia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Custódia · Custódia incluída na administração; remuneração de lastro pode ser adicional · Fundos.NET ID 1337406 | 01/10/2026 | Regulamento | p. 49, Anexo I, taxas e custódia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Custódia · Incluída na administração; guarda/verificação externa são encargos adicionais · Fundos.NET ID 1025473 · 03/04/2025 · Regulamento · p. 32-35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Custódia · Incluída na administração; percentual próprio não segregado · Fundos.NET ID 1051890 · 01/12/2025 · Regulamento · p. 40 · data/raw/55401645000128/1051890_documentary_review.pdf · https://fnet.bmfbovespa.com.br/fnet/publico/exibirDocumento?id=1051890 · Observação: Consultoria cobra até 25% dos juros pagos por parcela de DC originado em IF; não é spread das cotas.</a:t>
            </a:r>
          </a:p>
          <a:p>
            <a:r>
              <a:t>CNPJ 26749095000134 · Custódia · Serviços incluídos no escopo da taxa de administração; tarifa isolada não confirmada. · Fundos.NET ID 1061833; referência 19/11/2025; data/raw/26749095000134/1061833_regulamento_cache_integral.txt; 4.1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Custódia · 0,03% a.a. do PL; mínimo R$ 3,5 mil/mês · Fundos.NET ID 937760 · 22/04/2025 · Regulamento · p. 42 · data/raw/54810968000102/937760_documentary_review.pdf · https://fnet.bmfbovespa.com.br/fnet/publico/exibirDocumento?id=937760 · Observação: Guarda/verificação terceirizada é encargo adicional.</a:t>
            </a:r>
          </a:p>
          <a:p>
            <a:r>
              <a:t>CNPJ 08692888000182 · Controladoria · Maior entre 0,09% a.a. do PL e R$ 15 mil/mês; adicional à administração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Controladoria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Controladoria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Controladoria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Controladoria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Controladoria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Controladoria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Controladoria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Controladoria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Controladoria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Controladoria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Controladoria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Controladoria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Controladoria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Controladoria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Controladoria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Reajuste / base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Reajuste / base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Reajuste / base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Reajuste / base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Reajuste / base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Reajuste / base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Reajuste / base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Reajuste / base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Reajuste / base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Reajuste / base · Valores fixos reajustados por IPCA positivo; cálculo diário base 252, conforme cada taxa · Fundos.NET ID 966441 | 24/07/2025 | Regulamento | p. 49, Anexo I, taxas/reajuste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Reajuste / base · Valores fixos reajustados por IPCA positivo; cálculo diário base 252, conforme cada taxa · Fundos.NET ID 1337406 | 01/10/2026 | Regulamento | p. 49, Anexo I, taxas/reajuste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Reajuste / base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Reajuste / base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Reajuste / base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Reajuste / base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Escrituração e despesas adicionais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62838025000116 · Escrituração e despesas adicionais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Escrituração e despesas adicionais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Escrituração e despesas adicionais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Escrituração e despesas adicionais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Escrituração e despesas adicionais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Escrituração e despesas adicionais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Escrituração e despesas adicionais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Escrituração e despesas adicionais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Escrituração e despesas adicionais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Escrituração e despesas adicionais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Escrituração e despesas adicionais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Escrituração e despesas adicionais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Escrituração e despesas adicionais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Escrituração e despesas adicionais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Administração · 0,10% a.a. até R$ 70 mi + 0,075% sobre excedente; mínimo R$ 8.750/mês; reajuste IGP-M e tributos · data/raw/08692888000182/772020_regulamento.pdf · ID Fundos.NET 772020 · 05/11/2024 · regulamento · p. 45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Administração · 0,033% a.a. PL; mínimo R$ 15 mil/mês; IPC/FIPE · data/raw/62838025000116/1058234_regulamento.pdf · ID Fundos.NET 1058234 · 10/12/2025 · p. 46–47 · https://fnet.bmfbovespa.com.br/fnet/publico/visualizarDocumento?id=1058234 · Observação: Texto e página cotejados com a versão integral. Divergências requerem esclarecimento antes de alertas automáticos.</a:t>
            </a:r>
          </a:p>
          <a:p>
            <a:r>
              <a:t>CNPJ 55070804000159 · Administração · Cláusula conjunta: 0,175% a.a. do PL; segregação administração/gestão não explicitada; mínimo R$ 15 mil/mês · Fundos.NET ID 667195 · 22/05/2024 · regulamento · p. 123 · data/raw/55070804000159/667195_regulamento.pdf · https://fnet.bmfbovespa.com.br/fnet/publico/exibirDocumento?id=667195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28169275000172 · Administração · Faixas cumulativas: 0,100% a.a. até R$ 1,5 bi; 0,075% até R$ 3 bi; 0,060% acima; agente de registro R$ 10 mil adicionais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Administração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 IGP-M positivo anual conforme remuneração.</a:t>
            </a:r>
          </a:p>
          <a:p>
            <a:r>
              <a:t>CNPJ 54559035000194 · Administração · Cláusula conjunta: 0,175% a.a. do PL; segregação administração/gestão não explicitada; mínimo não localizado · Fundos.NET ID 634437 · 05/04/2024 · regulamento · p. 112 · data/raw/54559035000194/634437_regulamento.pdf · https://fnet.bmfbovespa.com.br/fnet/publico/exibirDocumento?id=634437 · Observação: Cláusula usa taxa de administração e de gestão em redação conjunta. Confirmar rateio/aplicação antes de somar duas taxas; pagamento antecipado 1 DU após primeira integralização pelo prazo de duração.</a:t>
            </a:r>
          </a:p>
          <a:p>
            <a:r>
              <a:t>CNPJ 50988212000105 · Administração · Faixas marginais PL: 0,13% / 0,10% / 0,074% / 0,060% / 0,030%; mínimo R$ 18 mil/mês · Fundos.NET ID 1013021 · 14/11/2024 · regulamento · p. 44-45 · data/raw/50988212000105/1013021_regulamento.pdf · https://fnet.bmfbovespa.com.br/fnet/publico/exibirDocumento?id=1013021 · Observação: Faixas até R$70mi, R$300mi, R$600mi, R$900mi e excedente; inclui custódia/controladoria. IGP-M positivo anual; R$27mil inicial de controladoria adicional.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Administração · Faixas PL: 0,056% / 0,04% / 0,016% a.a.; mínimo R$ 22.400/mês; IGP-M e tributos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Administração · Faixas cumulativas 0,045% / 0,035% / 0,02% a.a.; mínimo R$ 7.500/mês; IGP-M; tributos adicionais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Administração · 0,045% a.a. sobre PL; mínimo R$ 27.500,00/mês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Administração · 0,045% a.a. sobre PL; mínimo R$ 23.900,00/mês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Administração · 0,13%/0,11%/0,08% a.a. por faixa de PL; mínimo R$ 15,5 mil/mês · Fundos.NET ID 1025473 · 03/04/2025 · Regulamento · p. 33-34 · data/raw/51957370000152/1025473_documentary_review.pdf · https://fnet.bmfbovespa.com.br/fnet/publico/exibirDocumento?id=1025473 · Observação: Faixas: até R$ 500 mi; R$ 501 mi a R$ 1 bi; a partir de R$ 1 bi. Intervalo de fronteira é o texto documental, requer validação operacional.</a:t>
            </a:r>
          </a:p>
          <a:p>
            <a:r>
              <a:t>CNPJ 55401645000128 · Administração · 0,25%/0,23%/0,18% a.a.; mínimo R$ 16,5 mil nos 3 primeiros meses, R$ 20 mil depois · Fundos.NET ID 1051890 · 01/12/2025 · Regulamento · p. 40-41 · data/raw/55401645000128/1051890_documentary_review.pdf · https://fnet.bmfbovespa.com.br/fnet/publico/exibirDocumento?id=1051890 · Observação: PL: até R$ 50 mi; acima de R$ 50 a R$ 100 mi; acima de R$ 100 mi. Reajuste IGP-M anual.</a:t>
            </a:r>
          </a:p>
          <a:p>
            <a:r>
              <a:t>CNPJ 26749095000134 · Administração · 0,50% a.a./PL, mínimo R$ 25,6 mil/mês; taxa agrega administração e controladoria, com componentes próprios. · Fundos.NET ID 1061833; referência 19/11/2025; data/raw/26749095000134/1061833_regulamento_cache_integral.txt; 4.1 da parte geral; https://fnet.bmfbovespa.com.br/fnet/publico/exibirDocumento?id=1061833&amp;cvm=true · Observação: Componente administração: 0,20% até R$ 300 mi + 0,15% sobre excesso, mínimo R$ 16,2 mil. Não somar componente ao total.</a:t>
            </a:r>
          </a:p>
          <a:p>
            <a:r>
              <a:t>CNPJ 54810968000102 · Administração · 0,10%/0,08%/0,05% a.a.; mínimo R$ 12 mil/mês · Fundos.NET ID 937760 · 22/04/2025 · Regulamento · p. 41 · data/raw/54810968000102/937760_documentary_review.pdf · https://fnet.bmfbovespa.com.br/fnet/publico/exibirDocumento?id=937760 · Observação: PL até R$ 500 mi; R$ 500 mi a R$ 1 bi; acima R$ 1 bi. Percentual sobre todo PL ao atingir faixa.</a:t>
            </a:r>
          </a:p>
          <a:p>
            <a:r>
              <a:t>CNPJ 08692888000182 · Gestão · 0,10% a.a. até R$ 70 mi + 0,075% sobre excedente; mínimo R$ 8.750/mês; reajuste IGP-M · data/raw/08692888000182/772020_regulamento.pdf · ID Fundos.NET 772020 · 05/11/2024 · regulamento · p. 46–47 · https://fnet.bmfbovespa.com.br/fnet/publico/visualizarDocumento?id=772020 · Observação: Resumo jurídico da fonte identificada; verificar aditamentos e aplicação à série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Gestão · 0,030% a.a. até R$ 500 mi; 0,025% acima; mínimo R$ 15 mil/mês; implementação R$ 45 mil · data/raw/62838025000116/1058234_regulamento.pdf · ID Fundos.NET 1058234 · 10/12/2025 · regulamento · p. 47 · https://fnet.bmfbovespa.com.br/fnet/publico/visualizarDocumento?id=1058234 · Observação: Resumo jurídico da fonte identificada; verificar aditamentos e aplicação à série</a:t>
            </a:r>
          </a:p>
          <a:p>
            <a:r>
              <a:t>CNPJ 55070804000159 · Gestão · Cláusula conjunta: 0,175% a.a. do PL; segregação administração/gestão não explicitada; adicional único R$ 40 mil · Fundos.NET ID 667195 · 22/05/2024 · regulamento · p. 123 · data/raw/55070804000159/667195_regulamento.pdf · https://fnet.bmfbovespa.com.br/fnet/publico/exibirDocumento?id=667195 · Observação: Não duplicar automaticamente a taxa conjunta. Adicional na primeira integralização; AG R$700/hora ao administrador.</a:t>
            </a:r>
          </a:p>
          <a:p>
            <a:r>
              <a:t>CNPJ 28169275000172 · Gestão · 10% da taxa de administração, limitada a R$ 4 mil/mês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Gestão · Numérico: 0,07% a.a. até R$300 mi PL +0,035% excedente; mínimo R$9.750/mês · Fundos.NET ID 792021 · 27/11/2024 · regulamento · p. 13 · data/raw/35868110000154/792021_regulamento.pdf · https://fnet.bmfbovespa.com.br/fnet/publico/exibirDocumento?id=792021 · Observação: Extenso registra sete décimos (0,7%), divergindo de 0,07%; taxa exige confirmação.</a:t>
            </a:r>
          </a:p>
          <a:p>
            <a:r>
              <a:t>CNPJ 54559035000194 · Gestão · Cláusula conjunta: 0,175% a.a. do PL; segregação administração/gestão não explicitada; adicional único R$ 40 mil · Fundos.NET ID 634437 · 05/04/2024 · regulamento · p. 112 · data/raw/54559035000194/634437_regulamento.pdf · https://fnet.bmfbovespa.com.br/fnet/publico/exibirDocumento?id=634437 · Observação: Não duplicar automaticamente a taxa conjunta. Adicional na primeira integralização; AG R$700/hora ao administrador.</a:t>
            </a:r>
          </a:p>
          <a:p>
            <a:r>
              <a:t>CNPJ 50988212000105 · Gestão · Faixas numéricas 0,065% / 0,05% / 0,037% / 0,03% / 0,015%; divergência com extenso · Fundos.NET ID 1013021 · 14/11/2024 · regulamento · p. 46-47 · data/raw/50988212000105/1013021_regulamento.pdf · https://fnet.bmfbovespa.com.br/fnet/publico/exibirDocumento?id=1013021 · Observação: Marginais nos mesmos patamares do PL; extenso de 0,065%, 0,037% e 0,015% equivale a 0,65%, 0,37%, 0,15%. Exige validação do administrador; mínimo mensal não localizado.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Gestão · Faixas PL: 0,014% / 0,01% / 0,004% a.a.; mínimo R$ 5.600/mês; IGP-M · data/raw/62588266000154/1002580_regulamento.pdf · ID Fundos.NET 1002580 · 29/09/2025 · regulamento · p. 46–48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Gestão · Faixas cumulativas 0,045% / 0,035% / 0,02% a.a.; mínimo R$ 7.500/mês; IGP-M · data/raw/63546406000194/1130481_regulamento.pdf · ID Fundos.NET 1130481 · 05/03/2026 · regulamento · p. 124–125 · https://fnet.bmfbovespa.com.br/fnet/publico/visualizarDocumento?id=1130481 · Observação: Resumo jurídico da fonte identificada; verificar aditamentos e aplicação à série</a:t>
            </a:r>
          </a:p>
          <a:p>
            <a:r>
              <a:t>CNPJ 42085830000109 · Gestão · 10% a.a. sobre taxa de administração; mínimo mensal não localizado · Fundos.NET ID 966441 | 24/07/2025 | Regulamento | p. 49, Anexo I, remuneração dos prestadores | data/raw/42085830000109/966441_review_20261007.pdf | https://fnet.bmfbovespa.com.br/fnet/publico/visualizarDocumento?id=966441 · Observação: Base literal do documento. Atenção a mínimo/máximo e inconsistências de redação entre versões.</a:t>
            </a:r>
          </a:p>
          <a:p>
            <a:r>
              <a:t>CNPJ 42085816000105 · Gestão · 10% a.a. sobre taxa de administração; máximo R$ 4.000,00/mês · Fundos.NET ID 1337406 | 01/10/2026 | Regulamento | p. 49, Anexo I, remuneração dos prestadores | data/raw/42085816000105/1337406_review_20261007.pdf | https://fnet.bmfbovespa.com.br/fnet/publico/visualizarDocumento?id=1337406 · Observação: Base literal do documento. Atenção a mínimo/máximo e inconsistências de redação entre versões.</a:t>
            </a:r>
          </a:p>
          <a:p>
            <a:r>
              <a:t>CNPJ 51957370000152 · Gestão · 0,42%/0,44%/0,40% a.a. por faixa de PL; mínimo R$ 7 mil/mês + tributos · Fundos.NET ID 1025473 · 03/04/2025 · Regulamento · p. 34 · data/raw/51957370000152/1025473_documentary_review.pdf · https://fnet.bmfbovespa.com.br/fnet/publico/exibirDocumento?id=1025473 · Observação: Faixas correspondentes às da administração; mínimos IGP-M positivo anual.</a:t>
            </a:r>
          </a:p>
          <a:p>
            <a:r>
              <a:t>CNPJ 55401645000128 · Gestão · 0,50% a.a. do PL; mínimo R$ 25 mil/mês + tributos · Fundos.NET ID 1051890 · 01/12/2025 · Regulamento · p. 41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Gestão · 0,05% a.a./PL; mínimo mensal não identificado. · Fundos.NET ID 1061833; referência 19/11/2025; data/raw/26749095000134/1061833_regulamento_cache_integral.txt; 4.2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Gestão · 0,45% a.a. do PL + tributos; mínimo próprio não localizado · Fundos.NET ID 937760 · 22/04/2025 · Regulamento · p. 41-42 · data/raw/54810968000102/937760_documentary_review.pdf · https://fnet.bmfbovespa.com.br/fnet/publico/exibirDocumento?id=937760 · Observação: Há divergência entre algarismos e expressão por extenso; valor numérico mantido com ressalva.</a:t>
            </a:r>
          </a:p>
          <a:p>
            <a:r>
              <a:t>CNPJ 08692888000182 · Custódia · Remuneração remetida ao contrato de custódia não localizado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62838025000116 · Custódia · Máximo agregado 0,027% do PL; mínimo R$ 15 mil/mês · data/raw/62838025000116/1058234_regulamento.pdf · ID Fundos.NET 1058234 · 10/12/2025 · regulamento · p. 48 · https://fnet.bmfbovespa.com.br/fnet/publico/visualizarDocumento?id=1058234 · Observação: Preservada redação e base do documento; conferir periodicidade nos contratos dos prestadores.</a:t>
            </a:r>
          </a:p>
          <a:p>
            <a:r>
              <a:t>CNPJ 55070804000159 · Custódia · Custódia, escrituração e controladoria incluídas na cláusula conjunta de taxas · Fundos.NET ID 667195 · 22/05/2024 · regulamento · p. 123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Custódia · Máximo 0,02% a.a. sobre PL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35868110000154 · Custódia · Custódia/controladoria: 0,14% até R$300 mi +0,07% excedente; mínimo R$23 mil/mês · Fundos.NET ID 792021 · 27/11/2024 · regulamento · p. 14 · data/raw/35868110000154/792021_regulamento.pdf · https://fnet.bmfbovespa.com.br/fnet/publico/exibirDocumento?id=792021 · Observação: Rateio50%/50%; escrituração R$15mil inicial +R$2mil/mês; lastro R$5mil/mês e guarda R$4,5mil/mês adicionais. IGP-M positivo anual.</a:t>
            </a:r>
          </a:p>
          <a:p>
            <a:r>
              <a:t>CNPJ 54559035000194 · Custódia · Custódia, escrituração e controladoria incluídas na cláusula conjunta de taxas · Fundos.NET ID 634437 · 05/04/2024 · regulamento · p. 112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Custódia · Incluída na administração; verificação de lastro R$ 5 mil/mês adicional · Fundos.NET ID 1013021 · 14/11/2024 · regulamento · p. 44, 46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Custódia · Incluída na administração; escrituração R$ 2 mil/mês; lastro R$ 5 mil/mês · data/raw/62588266000154/1002580_regulamento.pdf · ID Fundos.NET 1002580 · 29/09/2025 · regulamento · p. 47 · https://fnet.bmfbovespa.com.br/fnet/publico/visualizarDocumento?id=1002580 · Observação: Resumo jurídico da fonte identificada; verificar aditamentos e aplicação à série</a:t>
            </a:r>
          </a:p>
          <a:p>
            <a:r>
              <a:t>CNPJ 63546406000194 · Custódia · Não localizado nas fontes acessíveis desta leitura · Consulta Fundos.NET por CNPJ 63546406000194 em 07/10/2026; 19 registros no inventário obtido; fontes acessíveis: 1172101, 1162293, 1130481, 1130478 · Observação: Lacuna documental; não equivale à inexistência da regra</a:t>
            </a:r>
          </a:p>
          <a:p>
            <a:r>
              <a:t>CNPJ 42085830000109 · Custódia · Custódia incluída na administração; remuneração de lastro pode ser adicional · Fundos.NET ID 966441 | 24/07/2025 | Regulamento | p. 49, Anexo I, taxas e custódia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Custódia · Custódia incluída na administração; remuneração de lastro pode ser adicional · Fundos.NET ID 1337406 | 01/10/2026 | Regulamento | p. 49, Anexo I, taxas e custódia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Custódia · Incluída na administração; guarda/verificação externa são encargos adicionais · Fundos.NET ID 1025473 · 03/04/2025 · Regulamento · p. 32-35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Custódia · Incluída na administração; percentual próprio não segregado · Fundos.NET ID 1051890 · 01/12/2025 · Regulamento · p. 40 · data/raw/55401645000128/1051890_documentary_review.pdf · https://fnet.bmfbovespa.com.br/fnet/publico/exibirDocumento?id=1051890 · Observação: Consultoria cobra até 25% dos juros pagos por parcela de DC originado em IF; não é spread das cotas.</a:t>
            </a:r>
          </a:p>
          <a:p>
            <a:r>
              <a:t>CNPJ 26749095000134 · Custódia · Serviços incluídos no escopo da taxa de administração; tarifa isolada não confirmada. · Fundos.NET ID 1061833; referência 19/11/2025; data/raw/26749095000134/1061833_regulamento_cache_integral.txt; 4.1 da parte geral; https://fnet.bmfbovespa.com.br/fnet/publico/exibirDocumento?id=1061833&amp;cvm=true · Observação: Conclusão documental; validade limitada à versão citada e às ressalvas desta revisão.</a:t>
            </a:r>
          </a:p>
          <a:p>
            <a:r>
              <a:t>CNPJ 54810968000102 · Custódia · 0,03% a.a. do PL; mínimo R$ 3,5 mil/mês · Fundos.NET ID 937760 · 22/04/2025 · Regulamento · p. 42 · data/raw/54810968000102/937760_documentary_review.pdf · https://fnet.bmfbovespa.com.br/fnet/publico/exibirDocumento?id=937760 · Observação: Guarda/verificação terceirizada é encargo adicional.</a:t>
            </a:r>
          </a:p>
          <a:p>
            <a:r>
              <a:t>CNPJ 08692888000182 · Controladoria · Maior entre 0,09% a.a. do PL e R$ 15 mil/mês; adicional à administração · data/raw/08692888000182/772020_regulamento.pdf · ID Fundos.NET 772020 · 05/11/2024 · p. 46 · https://fnet.bmfbovespa.com.br/fnet/publico/visualizarDocumento?id=772020 · Observação: Texto e página cotejados com a versão integral. Divergências requerem esclarecimento antes de alertas automáticos.</a:t>
            </a:r>
          </a:p>
          <a:p>
            <a:r>
              <a:t>CNPJ 50473039000102 · Controladoria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62838025000116 · Controladoria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Controladoria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Controladoria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Controladoria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Controladoria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Controladoria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Controladoria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Controladoria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Controladoria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Controladoria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Controladoria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Controladoria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Controladoria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Controladoria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Controladoria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Reajuste / base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62838025000116 · Reajuste / base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Reajuste / base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Reajuste / base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Reajuste / base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Reajuste / base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Reajuste / base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Reajuste / base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Reajuste / base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Reajuste / base · Valores fixos reajustados por IPCA positivo; cálculo diário base 252, conforme cada taxa · Fundos.NET ID 966441 | 24/07/2025 | Regulamento | p. 49, Anexo I, taxas/reajuste | data/raw/42085830000109/966441_review_20261007.pdf | https://fnet.bmfbovespa.com.br/fnet/publico/visualizarDocumento?id=966441 · Observação: Cláusula documental; verificar vigência e eventuais aditamentos posteriores.</a:t>
            </a:r>
          </a:p>
          <a:p>
            <a:r>
              <a:t>CNPJ 42085816000105 · Reajuste / base · Valores fixos reajustados por IPCA positivo; cálculo diário base 252, conforme cada taxa · Fundos.NET ID 1337406 | 01/10/2026 | Regulamento | p. 49, Anexo I, taxas/reajuste | data/raw/42085816000105/1337406_review_20261007.pdf | https://fnet.bmfbovespa.com.br/fnet/publico/visualizarDocumento?id=1337406 · Observação: Cláusula documental; verificar vigência e eventuais aditamentos posteriores.</a:t>
            </a:r>
          </a:p>
          <a:p>
            <a:r>
              <a:t>CNPJ 51957370000152 · Reajuste / base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Reajuste / base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Reajuste / base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Reajuste / base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Escrituração e despesas adicionais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62838025000116 · Escrituração e despesas adicionais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Escrituração e despesas adicionais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Escrituração e despesas adicionais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Escrituração e despesas adicionais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Escrituração e despesas adicionais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Escrituração e despesas adicionais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45598747000121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62588266000154 · Escrituração e despesas adicionais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Escrituração e despesas adicionais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Escrituração e despesas adicionais · Não localizado nas fontes acessíveis desta leitura · ID 966441 · 24/07/2025 · data/raw/42085830000109/966441_review_20261007.pdf · Observação: Revisão documental em 07/10/2026. O nome da carteira com 1T26 não define a vigência destas cláusulas; versões posteriores estão datadas por fonte. Não houve atualização de competência IME neste trabalho. Base principal: ID966441, 24/07/2025.</a:t>
            </a:r>
          </a:p>
          <a:p>
            <a:r>
              <a:t>CNPJ 42085816000105 · Escrituração e despesas adicionais · Não localizado nas fontes acessíveis desta leitura · ID 1337406 · 01/10/2026 · data/raw/42085816000105/1337406_review_20261007.pdf; ID 211003 · 01/09/2021 · data/raw/42085816000105/211003_review_20261007.pdf · Observação: Revisão documental em 07/10/2026. O nome da carteira com 1T26 não define a vigência destas cláusulas; versões posteriores estão datadas por fonte. Não houve atualização de competência IME neste trabalho. Base principal: ID1337406, 01/10/2026.</a:t>
            </a:r>
          </a:p>
          <a:p>
            <a:r>
              <a:t>CNPJ 51957370000152 · Escrituração e despesas adicionais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Escrituração e despesas adicionais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Escrituração e despesas adicionais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Escrituração e despesas adicionais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Alocação/subordinação IME · DC/PL e subordinadas/PL são diretos com validação; cobertura ponderada exige fórmula · Fundos.NET ID 667195 · 22/05/2024 · regulamento · p. 57, 91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Alocação/subordinação IME · DC/PL ≥50% e subordinadas/PL ≥25%: diretos com validação dos campos · Fundos.NET ID 792021 · 27/11/2024 · regulamento · p. 15, 48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Alocação/subordinação IME · DC/PL e subordinadas/PL são diretos com validação; cobertura ponderada exige fórmula · Fundos.NET ID 634437 · 05/04/2024 · regulamento · p. 54, 85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Alocação/subordinação IME · DC/PL acompanha alocação; razão ajustada requer validar outros ativos · Fundos.NET ID 1013021 · 14/11/2024 · regulamento · p. 29,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Inadimplência/PDD IME · Over/PDD são proxies agregados; fluxo de leasing, CDB-V e solvência IBM exigem contratos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Inadimplência/PDD IME · Over90/PDD agregados são proxies; não certificam IP90+ jurídico e cessões resolvidas · Fundos.NET ID 792021 · 27/11/2024 · regulamento · p. 58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Inadimplência/PDD IME · Over/PDD são proxies agregados; fluxo de leasing, CDB-V e solvência IBM exigem contratos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Inadimplência/PDD IME · Over/PDD são proxies; não reproduzem DCV contratual e seu histórico · Fundos.NET ID 1013021 · 14/11/2024 · regulamento · p. 23-24,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Controles documentais · Elegibilidade, concentração, lastro e eventos exigem acompanhamento documental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O IME público agregado não possui contratos e eventos suficientes para certificar as regras.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Controles documentais · Elegibilidade, concentração, lastro e eventos exigem acompanhamento documental · Corpus acessível do CNPJ 35868110000154: ID 792021 (27/11/2024), data/raw/35868110000154/792021_regulamento.pdf; ID 537768 (09/10/2023), data/raw/35868110000154/537768_regulamento.pdf · Observação: O IME público agregado não possui contratos e eventos suficientes para certificar as regras.</a:t>
            </a:r>
          </a:p>
          <a:p>
            <a:r>
              <a:t>CNPJ 54559035000194 · Controles documentais · Elegibilidade, concentração, lastro e eventos exigem acompanhamento documental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O IME público agregado não possui contratos e eventos suficientes para certificar as regras.</a:t>
            </a:r>
          </a:p>
          <a:p>
            <a:r>
              <a:t>CNPJ 50988212000105 · Controles documentais · Elegibilidade, concentração, lastro e eventos exigem acompanhamento documental · Corpus acessível do CNPJ 50988212000105: ID 1013021 (14/11/2024), data/raw/50988212000105/1013021_regulamento.pdf; ID 743214 (19/09/2024), data/raw/50988212000105/743214_regulamento.pdf · Observação: O IME público agregado não possui contratos e eventos suficientes para certificar as regras.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08692888000182 · Competência IME · Cache local: 03/2026; selecionar competência para monitorar · .cache/fundonet-ime/ebcc9f4ab30800b0fefdae2c0944322a1ac729eb2a01395c8c0d0bcf7e16485e/manifest.json · Observação: Dado offline do IME; não representa atualização ao vivo nem comprovação dos critérios jurídicos.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  <a:p>
            <a:r>
              <a:t>CNPJ 55070804000159 · Competência IME · Cache local: 03/2026; selecionar competência para monitorar · .cache/fundonet-ime/83c06907290226eda3ba2fb4f8a5f7bf14fbba2b45b33cba976d966edce07265/manifest.json · Observação: Dado offline do IME; não representa atualização ao vivo nem comprovação dos critérios jurídicos.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  <a:p>
            <a:r>
              <a:t>CNPJ 35868110000154 · Competência IME · Cache local: 09/2025; selecionar competência para monitorar · .cache/fundonet-ime/d2d1e2c077b90ab56b443b37979f57c7bcbe35e891f13b744675bd172c60aae7/manifest.json · Observação: Dado offline do IME; não representa atualização ao vivo nem comprovação dos critérios jurídicos.</a:t>
            </a:r>
          </a:p>
          <a:p>
            <a:r>
              <a:t>CNPJ 54559035000194 · Competência IME · Cache local: 03/2026; selecionar competência para monitorar · .cache/fundonet-ime/d7f0131b3e18bd27e282752463e3241f64e8503e591a0d8bdf622a7628a9a55f/manifest.json · Observação: Dado offline do IME; não representa atualização ao vivo nem comprovação dos critérios jurídicos.</a:t>
            </a:r>
          </a:p>
          <a:p>
            <a:r>
              <a:t>CNPJ 50988212000105 · Competência IME · Cache local: 03/2026; selecionar competência para monitorar · .cache/fundonet-ime/49d344b6e3b234479e12977184ec55fbb66f89b3c15e6b692bca1074ccbf2f85/manifest.json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62588266000154 · Competência IME · Cache local: 03/2026; selecionar competência para monitorar · .cache/fundonet-ime/1446ca220d9418890f13b9bf59ed5593da426f7b4f81172c896a54c5aa733612/manifest.json · Observação: Dado offline do IME; não representa atualização ao vivo nem comprovação dos critérios jurídicos.</a:t>
            </a:r>
          </a:p>
          <a:p>
            <a:r>
              <a:t>CNPJ 63546406000194 · Competência IME · Cache local: 04/2026; selecionar competência para monitorar · .cache/fundonet-ime/94088a123d7ce035b0a8ae5353135b4c608aa6bc52ea75ba32ff79a11da352d7/manifest.json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08692888000182 · Alocação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Alocação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Alocação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Alocação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Alocação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Alocação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Alocação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Alocação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Alocação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Alocação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Subordinação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Subordinação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Concentração / elegibilidade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Concentração / elegibilidade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Concentração / elegibilidade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Concentração / elegibilidade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Concentração / elegibilidade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Concentração / elegibilidade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Concentração / elegibilidade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/ elegibilidade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Concentração / elegibilidade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Concentração / elegibilidade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Concentração / elegibilidade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Concentração / elegibilidade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Concentração / elegibilidade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Reservas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Reservas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Chargeback / recompra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Chargeback / recompra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Chargeback / recompra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Chargeback / recompra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Chargeback / recompra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Chargeback / recompra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Chargeback / recompra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Chargeback / recompra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Chargeback / recompra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Chargeback / recompra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Chargeback / recompra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Chargeback / recompra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Chargeback / recompra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Alocação/subordinação IME · DC/PL e subordinadas/PL são diretos com validação; cobertura ponderada exige fórmula · Fundos.NET ID 667195 · 22/05/2024 · regulamento · p. 57, 91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Alocação/subordinação IME · DC/PL ≥50% e subordinadas/PL ≥25%: diretos com validação dos campos · Fundos.NET ID 792021 · 27/11/2024 · regulamento · p. 15, 48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Alocação/subordinação IME · DC/PL e subordinadas/PL são diretos com validação; cobertura ponderada exige fórmula · Fundos.NET ID 634437 · 05/04/2024 · regulamento · p. 54, 85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Alocação/subordinação IME · DC/PL acompanha alocação; razão ajustada requer validar outros ativos · Fundos.NET ID 1013021 · 14/11/2024 · regulamento · p. 29,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Inadimplência/PDD IME · Over/PDD são proxies agregados; fluxo de leasing, CDB-V e solvência IBM exigem contratos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Inadimplência/PDD IME · Over90/PDD agregados são proxies; não certificam IP90+ jurídico e cessões resolvidas · Fundos.NET ID 792021 · 27/11/2024 · regulamento · p. 58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Inadimplência/PDD IME · Over/PDD são proxies agregados; fluxo de leasing, CDB-V e solvência IBM exigem contratos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Inadimplência/PDD IME · Over/PDD são proxies; não reproduzem DCV contratual e seu histórico · Fundos.NET ID 1013021 · 14/11/2024 · regulamento · p. 23-24,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Controles documentais · Elegibilidade, concentração, lastro e eventos exigem acompanhamento documental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O IME público agregado não possui contratos e eventos suficientes para certificar as regras.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Controles documentais · Elegibilidade, concentração, lastro e eventos exigem acompanhamento documental · Corpus acessível do CNPJ 35868110000154: ID 792021 (27/11/2024), data/raw/35868110000154/792021_regulamento.pdf; ID 537768 (09/10/2023), data/raw/35868110000154/537768_regulamento.pdf · Observação: O IME público agregado não possui contratos e eventos suficientes para certificar as regras.</a:t>
            </a:r>
          </a:p>
          <a:p>
            <a:r>
              <a:t>CNPJ 54559035000194 · Controles documentais · Elegibilidade, concentração, lastro e eventos exigem acompanhamento documental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O IME público agregado não possui contratos e eventos suficientes para certificar as regras.</a:t>
            </a:r>
          </a:p>
          <a:p>
            <a:r>
              <a:t>CNPJ 50988212000105 · Controles documentais · Elegibilidade, concentração, lastro e eventos exigem acompanhamento documental · Corpus acessível do CNPJ 50988212000105: ID 1013021 (14/11/2024), data/raw/50988212000105/1013021_regulamento.pdf; ID 743214 (19/09/2024), data/raw/50988212000105/743214_regulamento.pdf · Observação: O IME público agregado não possui contratos e eventos suficientes para certificar as regras.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08692888000182 · Competência IME · Cache local: 03/2026; selecionar competência para monitorar · .cache/fundonet-ime/ebcc9f4ab30800b0fefdae2c0944322a1ac729eb2a01395c8c0d0bcf7e16485e/manifest.json · Observação: Dado offline do IME; não representa atualização ao vivo nem comprovação dos critérios jurídicos.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  <a:p>
            <a:r>
              <a:t>CNPJ 55070804000159 · Competência IME · Cache local: 03/2026; selecionar competência para monitorar · .cache/fundonet-ime/83c06907290226eda3ba2fb4f8a5f7bf14fbba2b45b33cba976d966edce07265/manifest.json · Observação: Dado offline do IME; não representa atualização ao vivo nem comprovação dos critérios jurídicos.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  <a:p>
            <a:r>
              <a:t>CNPJ 35868110000154 · Competência IME · Cache local: 09/2025; selecionar competência para monitorar · .cache/fundonet-ime/d2d1e2c077b90ab56b443b37979f57c7bcbe35e891f13b744675bd172c60aae7/manifest.json · Observação: Dado offline do IME; não representa atualização ao vivo nem comprovação dos critérios jurídicos.</a:t>
            </a:r>
          </a:p>
          <a:p>
            <a:r>
              <a:t>CNPJ 54559035000194 · Competência IME · Cache local: 03/2026; selecionar competência para monitorar · .cache/fundonet-ime/d7f0131b3e18bd27e282752463e3241f64e8503e591a0d8bdf622a7628a9a55f/manifest.json · Observação: Dado offline do IME; não representa atualização ao vivo nem comprovação dos critérios jurídicos.</a:t>
            </a:r>
          </a:p>
          <a:p>
            <a:r>
              <a:t>CNPJ 50988212000105 · Competência IME · Cache local: 03/2026; selecionar competência para monitorar · .cache/fundonet-ime/49d344b6e3b234479e12977184ec55fbb66f89b3c15e6b692bca1074ccbf2f85/manifest.json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62588266000154 · Competência IME · Cache local: 03/2026; selecionar competência para monitorar · .cache/fundonet-ime/1446ca220d9418890f13b9bf59ed5593da426f7b4f81172c896a54c5aa733612/manifest.json · Observação: Dado offline do IME; não representa atualização ao vivo nem comprovação dos critérios jurídicos.</a:t>
            </a:r>
          </a:p>
          <a:p>
            <a:r>
              <a:t>CNPJ 63546406000194 · Competência IME · Cache local: 04/2026; selecionar competência para monitorar · .cache/fundonet-ime/94088a123d7ce035b0a8ae5353135b4c608aa6bc52ea75ba32ff79a11da352d7/manifest.json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08692888000182 · Alocação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Alocação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Alocação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Alocação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Alocação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Alocação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Alocação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Alocação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Alocação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Alocação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Subordinação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Subordinação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Concentração / elegibilidade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Concentração / elegibilidade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Concentração / elegibilidade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Concentração / elegibilidade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Concentração / elegibilidade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Concentração / elegibilidade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Concentração / elegibilidade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/ elegibilidade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Concentração / elegibilidade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Concentração / elegibilidade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Concentração / elegibilidade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Concentração / elegibilidade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Concentração / elegibilidade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Reservas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Reservas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Chargeback / recompra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Chargeback / recompra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Chargeback / recompra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Chargeback / recompra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Chargeback / recompra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Chargeback / recompra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Chargeback / recompra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Chargeback / recompra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Chargeback / recompra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Chargeback / recompra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Chargeback / recompra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Chargeback / recompra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Chargeback / recompra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Alocação/subordinação IME · DC/PL e subordinadas/PL são diretos com validação; cobertura ponderada exige fórmula · Fundos.NET ID 667195 · 22/05/2024 · regulamento · p. 57, 91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Alocação/subordinação IME · DC/PL ≥50% e subordinadas/PL ≥25%: diretos com validação dos campos · Fundos.NET ID 792021 · 27/11/2024 · regulamento · p. 15, 48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Alocação/subordinação IME · DC/PL e subordinadas/PL são diretos com validação; cobertura ponderada exige fórmula · Fundos.NET ID 634437 · 05/04/2024 · regulamento · p. 54, 85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Alocação/subordinação IME · DC/PL acompanha alocação; razão ajustada requer validar outros ativos · Fundos.NET ID 1013021 · 14/11/2024 · regulamento · p. 29,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Inadimplência/PDD IME · Over/PDD são proxies agregados; fluxo de leasing, CDB-V e solvência IBM exigem contratos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Inadimplência/PDD IME · Over90/PDD agregados são proxies; não certificam IP90+ jurídico e cessões resolvidas · Fundos.NET ID 792021 · 27/11/2024 · regulamento · p. 58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Inadimplência/PDD IME · Over/PDD são proxies agregados; fluxo de leasing, CDB-V e solvência IBM exigem contratos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Inadimplência/PDD IME · Over/PDD são proxies; não reproduzem DCV contratual e seu histórico · Fundos.NET ID 1013021 · 14/11/2024 · regulamento · p. 23-24,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Controles documentais · Elegibilidade, concentração, lastro e eventos exigem acompanhamento documental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O IME público agregado não possui contratos e eventos suficientes para certificar as regras.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Controles documentais · Elegibilidade, concentração, lastro e eventos exigem acompanhamento documental · Corpus acessível do CNPJ 35868110000154: ID 792021 (27/11/2024), data/raw/35868110000154/792021_regulamento.pdf; ID 537768 (09/10/2023), data/raw/35868110000154/537768_regulamento.pdf · Observação: O IME público agregado não possui contratos e eventos suficientes para certificar as regras.</a:t>
            </a:r>
          </a:p>
          <a:p>
            <a:r>
              <a:t>CNPJ 54559035000194 · Controles documentais · Elegibilidade, concentração, lastro e eventos exigem acompanhamento documental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O IME público agregado não possui contratos e eventos suficientes para certificar as regras.</a:t>
            </a:r>
          </a:p>
          <a:p>
            <a:r>
              <a:t>CNPJ 50988212000105 · Controles documentais · Elegibilidade, concentração, lastro e eventos exigem acompanhamento documental · Corpus acessível do CNPJ 50988212000105: ID 1013021 (14/11/2024), data/raw/50988212000105/1013021_regulamento.pdf; ID 743214 (19/09/2024), data/raw/50988212000105/743214_regulamento.pdf · Observação: O IME público agregado não possui contratos e eventos suficientes para certificar as regras.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08692888000182 · Competência IME · Cache local: 03/2026; selecionar competência para monitorar · .cache/fundonet-ime/ebcc9f4ab30800b0fefdae2c0944322a1ac729eb2a01395c8c0d0bcf7e16485e/manifest.json · Observação: Dado offline do IME; não representa atualização ao vivo nem comprovação dos critérios jurídicos.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  <a:p>
            <a:r>
              <a:t>CNPJ 55070804000159 · Competência IME · Cache local: 03/2026; selecionar competência para monitorar · .cache/fundonet-ime/83c06907290226eda3ba2fb4f8a5f7bf14fbba2b45b33cba976d966edce07265/manifest.json · Observação: Dado offline do IME; não representa atualização ao vivo nem comprovação dos critérios jurídicos.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  <a:p>
            <a:r>
              <a:t>CNPJ 35868110000154 · Competência IME · Cache local: 09/2025; selecionar competência para monitorar · .cache/fundonet-ime/d2d1e2c077b90ab56b443b37979f57c7bcbe35e891f13b744675bd172c60aae7/manifest.json · Observação: Dado offline do IME; não representa atualização ao vivo nem comprovação dos critérios jurídicos.</a:t>
            </a:r>
          </a:p>
          <a:p>
            <a:r>
              <a:t>CNPJ 54559035000194 · Competência IME · Cache local: 03/2026; selecionar competência para monitorar · .cache/fundonet-ime/d7f0131b3e18bd27e282752463e3241f64e8503e591a0d8bdf622a7628a9a55f/manifest.json · Observação: Dado offline do IME; não representa atualização ao vivo nem comprovação dos critérios jurídicos.</a:t>
            </a:r>
          </a:p>
          <a:p>
            <a:r>
              <a:t>CNPJ 50988212000105 · Competência IME · Cache local: 03/2026; selecionar competência para monitorar · .cache/fundonet-ime/49d344b6e3b234479e12977184ec55fbb66f89b3c15e6b692bca1074ccbf2f85/manifest.json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62588266000154 · Competência IME · Cache local: 03/2026; selecionar competência para monitorar · .cache/fundonet-ime/1446ca220d9418890f13b9bf59ed5593da426f7b4f81172c896a54c5aa733612/manifest.json · Observação: Dado offline do IME; não representa atualização ao vivo nem comprovação dos critérios jurídicos.</a:t>
            </a:r>
          </a:p>
          <a:p>
            <a:r>
              <a:t>CNPJ 63546406000194 · Competência IME · Cache local: 04/2026; selecionar competência para monitorar · .cache/fundonet-ime/94088a123d7ce035b0a8ae5353135b4c608aa6bc52ea75ba32ff79a11da352d7/manifest.json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08692888000182 · Alocação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Alocação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Alocação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Alocação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Alocação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Alocação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Alocação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Alocação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Alocação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Alocação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Subordinação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Subordinação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Concentração / elegibilidade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Concentração / elegibilidade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Concentração / elegibilidade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Concentração / elegibilidade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Concentração / elegibilidade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Concentração / elegibilidade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Concentração / elegibilidade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/ elegibilidade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Concentração / elegibilidade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Concentração / elegibilidade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Concentração / elegibilidade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Concentração / elegibilidade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Concentração / elegibilidade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Reservas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Reservas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Chargeback / recompra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Chargeback / recompra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Chargeback / recompra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Chargeback / recompra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Chargeback / recompra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Chargeback / recompra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Chargeback / recompra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Chargeback / recompra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Chargeback / recompra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Chargeback / recompra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Chargeback / recompra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Chargeback / recompra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Chargeback / recompra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Alocação/subordinação IME · DC/PL e subordinadas/PL são diretos com validação; cobertura ponderada exige fórmula · Fundos.NET ID 667195 · 22/05/2024 · regulamento · p. 57, 91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Alocação/subordinação IME · DC/PL ≥50% e subordinadas/PL ≥25%: diretos com validação dos campos · Fundos.NET ID 792021 · 27/11/2024 · regulamento · p. 15, 48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Alocação/subordinação IME · DC/PL e subordinadas/PL são diretos com validação; cobertura ponderada exige fórmula · Fundos.NET ID 634437 · 05/04/2024 · regulamento · p. 54, 85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Alocação/subordinação IME · DC/PL acompanha alocação; razão ajustada requer validar outros ativos · Fundos.NET ID 1013021 · 14/11/2024 · regulamento · p. 29,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Inadimplência/PDD IME · Over/PDD são proxies agregados; fluxo de leasing, CDB-V e solvência IBM exigem contratos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Inadimplência/PDD IME · Over90/PDD agregados são proxies; não certificam IP90+ jurídico e cessões resolvidas · Fundos.NET ID 792021 · 27/11/2024 · regulamento · p. 58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Inadimplência/PDD IME · Over/PDD são proxies agregados; fluxo de leasing, CDB-V e solvência IBM exigem contratos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Inadimplência/PDD IME · Over/PDD são proxies; não reproduzem DCV contratual e seu histórico · Fundos.NET ID 1013021 · 14/11/2024 · regulamento · p. 23-24,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Controles documentais · Elegibilidade, concentração, lastro e eventos exigem acompanhamento documental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O IME público agregado não possui contratos e eventos suficientes para certificar as regras.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Controles documentais · Elegibilidade, concentração, lastro e eventos exigem acompanhamento documental · Corpus acessível do CNPJ 35868110000154: ID 792021 (27/11/2024), data/raw/35868110000154/792021_regulamento.pdf; ID 537768 (09/10/2023), data/raw/35868110000154/537768_regulamento.pdf · Observação: O IME público agregado não possui contratos e eventos suficientes para certificar as regras.</a:t>
            </a:r>
          </a:p>
          <a:p>
            <a:r>
              <a:t>CNPJ 54559035000194 · Controles documentais · Elegibilidade, concentração, lastro e eventos exigem acompanhamento documental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O IME público agregado não possui contratos e eventos suficientes para certificar as regras.</a:t>
            </a:r>
          </a:p>
          <a:p>
            <a:r>
              <a:t>CNPJ 50988212000105 · Controles documentais · Elegibilidade, concentração, lastro e eventos exigem acompanhamento documental · Corpus acessível do CNPJ 50988212000105: ID 1013021 (14/11/2024), data/raw/50988212000105/1013021_regulamento.pdf; ID 743214 (19/09/2024), data/raw/50988212000105/743214_regulamento.pdf · Observação: O IME público agregado não possui contratos e eventos suficientes para certificar as regras.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08692888000182 · Competência IME · Cache local: 03/2026; selecionar competência para monitorar · .cache/fundonet-ime/ebcc9f4ab30800b0fefdae2c0944322a1ac729eb2a01395c8c0d0bcf7e16485e/manifest.json · Observação: Dado offline do IME; não representa atualização ao vivo nem comprovação dos critérios jurídicos.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  <a:p>
            <a:r>
              <a:t>CNPJ 55070804000159 · Competência IME · Cache local: 03/2026; selecionar competência para monitorar · .cache/fundonet-ime/83c06907290226eda3ba2fb4f8a5f7bf14fbba2b45b33cba976d966edce07265/manifest.json · Observação: Dado offline do IME; não representa atualização ao vivo nem comprovação dos critérios jurídicos.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  <a:p>
            <a:r>
              <a:t>CNPJ 35868110000154 · Competência IME · Cache local: 09/2025; selecionar competência para monitorar · .cache/fundonet-ime/d2d1e2c077b90ab56b443b37979f57c7bcbe35e891f13b744675bd172c60aae7/manifest.json · Observação: Dado offline do IME; não representa atualização ao vivo nem comprovação dos critérios jurídicos.</a:t>
            </a:r>
          </a:p>
          <a:p>
            <a:r>
              <a:t>CNPJ 54559035000194 · Competência IME · Cache local: 03/2026; selecionar competência para monitorar · .cache/fundonet-ime/d7f0131b3e18bd27e282752463e3241f64e8503e591a0d8bdf622a7628a9a55f/manifest.json · Observação: Dado offline do IME; não representa atualização ao vivo nem comprovação dos critérios jurídicos.</a:t>
            </a:r>
          </a:p>
          <a:p>
            <a:r>
              <a:t>CNPJ 50988212000105 · Competência IME · Cache local: 03/2026; selecionar competência para monitorar · .cache/fundonet-ime/49d344b6e3b234479e12977184ec55fbb66f89b3c15e6b692bca1074ccbf2f85/manifest.json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62588266000154 · Competência IME · Cache local: 03/2026; selecionar competência para monitorar · .cache/fundonet-ime/1446ca220d9418890f13b9bf59ed5593da426f7b4f81172c896a54c5aa733612/manifest.json · Observação: Dado offline do IME; não representa atualização ao vivo nem comprovação dos critérios jurídicos.</a:t>
            </a:r>
          </a:p>
          <a:p>
            <a:r>
              <a:t>CNPJ 63546406000194 · Competência IME · Cache local: 04/2026; selecionar competência para monitorar · .cache/fundonet-ime/94088a123d7ce035b0a8ae5353135b4c608aa6bc52ea75ba32ff79a11da352d7/manifest.json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08692888000182 · Alocação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Alocação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Alocação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Alocação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Alocação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Alocação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Alocação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Alocação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Alocação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Alocação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Subordinação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Subordinação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Concentração / elegibilidade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Concentração / elegibilidade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Concentração / elegibilidade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Concentração / elegibilidade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Concentração / elegibilidade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Concentração / elegibilidade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Concentração / elegibilidade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/ elegibilidade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Concentração / elegibilidade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Concentração / elegibilidade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Concentração / elegibilidade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Concentração / elegibilidade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Concentração / elegibilidade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Reservas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Reservas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Chargeback / recompra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Chargeback / recompra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Chargeback / recompra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Chargeback / recompra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Chargeback / recompra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Chargeback / recompra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Chargeback / recompra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Chargeback / recompra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Chargeback / recompra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Chargeback / recompra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Chargeback / recompra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Chargeback / recompra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Chargeback / recompra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Alocação/subordinação IME · DC/PL e subordinadas/PL são diretos com validação; cobertura ponderada exige fórmula · Fundos.NET ID 667195 · 22/05/2024 · regulamento · p. 57, 91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Alocação/subordinação IME · DC/PL ≥50% e subordinadas/PL ≥25%: diretos com validação dos campos · Fundos.NET ID 792021 · 27/11/2024 · regulamento · p. 15, 48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Alocação/subordinação IME · DC/PL e subordinadas/PL são diretos com validação; cobertura ponderada exige fórmula · Fundos.NET ID 634437 · 05/04/2024 · regulamento · p. 54, 85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Alocação/subordinação IME · DC/PL acompanha alocação; razão ajustada requer validar outros ativos · Fundos.NET ID 1013021 · 14/11/2024 · regulamento · p. 29,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Inadimplência/PDD IME · Over/PDD são proxies agregados; fluxo de leasing, CDB-V e solvência IBM exigem contratos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Inadimplência/PDD IME · Over90/PDD agregados são proxies; não certificam IP90+ jurídico e cessões resolvidas · Fundos.NET ID 792021 · 27/11/2024 · regulamento · p. 58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Inadimplência/PDD IME · Over/PDD são proxies agregados; fluxo de leasing, CDB-V e solvência IBM exigem contratos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Inadimplência/PDD IME · Over/PDD são proxies; não reproduzem DCV contratual e seu histórico · Fundos.NET ID 1013021 · 14/11/2024 · regulamento · p. 23-24,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Controles documentais · Elegibilidade, concentração, lastro e eventos exigem acompanhamento documental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O IME público agregado não possui contratos e eventos suficientes para certificar as regras.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Controles documentais · Elegibilidade, concentração, lastro e eventos exigem acompanhamento documental · Corpus acessível do CNPJ 35868110000154: ID 792021 (27/11/2024), data/raw/35868110000154/792021_regulamento.pdf; ID 537768 (09/10/2023), data/raw/35868110000154/537768_regulamento.pdf · Observação: O IME público agregado não possui contratos e eventos suficientes para certificar as regras.</a:t>
            </a:r>
          </a:p>
          <a:p>
            <a:r>
              <a:t>CNPJ 54559035000194 · Controles documentais · Elegibilidade, concentração, lastro e eventos exigem acompanhamento documental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O IME público agregado não possui contratos e eventos suficientes para certificar as regras.</a:t>
            </a:r>
          </a:p>
          <a:p>
            <a:r>
              <a:t>CNPJ 50988212000105 · Controles documentais · Elegibilidade, concentração, lastro e eventos exigem acompanhamento documental · Corpus acessível do CNPJ 50988212000105: ID 1013021 (14/11/2024), data/raw/50988212000105/1013021_regulamento.pdf; ID 743214 (19/09/2024), data/raw/50988212000105/743214_regulamento.pdf · Observação: O IME público agregado não possui contratos e eventos suficientes para certificar as regras.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08692888000182 · Competência IME · Cache local: 03/2026; selecionar competência para monitorar · .cache/fundonet-ime/ebcc9f4ab30800b0fefdae2c0944322a1ac729eb2a01395c8c0d0bcf7e16485e/manifest.json · Observação: Dado offline do IME; não representa atualização ao vivo nem comprovação dos critérios jurídicos.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  <a:p>
            <a:r>
              <a:t>CNPJ 55070804000159 · Competência IME · Cache local: 03/2026; selecionar competência para monitorar · .cache/fundonet-ime/83c06907290226eda3ba2fb4f8a5f7bf14fbba2b45b33cba976d966edce07265/manifest.json · Observação: Dado offline do IME; não representa atualização ao vivo nem comprovação dos critérios jurídicos.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  <a:p>
            <a:r>
              <a:t>CNPJ 35868110000154 · Competência IME · Cache local: 09/2025; selecionar competência para monitorar · .cache/fundonet-ime/d2d1e2c077b90ab56b443b37979f57c7bcbe35e891f13b744675bd172c60aae7/manifest.json · Observação: Dado offline do IME; não representa atualização ao vivo nem comprovação dos critérios jurídicos.</a:t>
            </a:r>
          </a:p>
          <a:p>
            <a:r>
              <a:t>CNPJ 54559035000194 · Competência IME · Cache local: 03/2026; selecionar competência para monitorar · .cache/fundonet-ime/d7f0131b3e18bd27e282752463e3241f64e8503e591a0d8bdf622a7628a9a55f/manifest.json · Observação: Dado offline do IME; não representa atualização ao vivo nem comprovação dos critérios jurídicos.</a:t>
            </a:r>
          </a:p>
          <a:p>
            <a:r>
              <a:t>CNPJ 50988212000105 · Competência IME · Cache local: 03/2026; selecionar competência para monitorar · .cache/fundonet-ime/49d344b6e3b234479e12977184ec55fbb66f89b3c15e6b692bca1074ccbf2f85/manifest.json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62588266000154 · Competência IME · Cache local: 03/2026; selecionar competência para monitorar · .cache/fundonet-ime/1446ca220d9418890f13b9bf59ed5593da426f7b4f81172c896a54c5aa733612/manifest.json · Observação: Dado offline do IME; não representa atualização ao vivo nem comprovação dos critérios jurídicos.</a:t>
            </a:r>
          </a:p>
          <a:p>
            <a:r>
              <a:t>CNPJ 63546406000194 · Competência IME · Cache local: 04/2026; selecionar competência para monitorar · .cache/fundonet-ime/94088a123d7ce035b0a8ae5353135b4c608aa6bc52ea75ba32ff79a11da352d7/manifest.json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08692888000182 · Alocação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Alocação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Alocação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Alocação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Alocação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Alocação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Alocação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Alocação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Alocação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Alocação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Subordinação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Subordinação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Concentração / elegibilidade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Concentração / elegibilidade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Concentração / elegibilidade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Concentração / elegibilidade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Concentração / elegibilidade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Concentração / elegibilidade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Concentração / elegibilidade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/ elegibilidade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Concentração / elegibilidade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Concentração / elegibilidade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Concentração / elegibilidade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Concentração / elegibilidade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Concentração / elegibilidade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Reservas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Reservas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Chargeback / recompra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Chargeback / recompra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Chargeback / recompra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Chargeback / recompra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Chargeback / recompra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Chargeback / recompra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Chargeback / recompra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Chargeback / recompra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Chargeback / recompra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Chargeback / recompra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Chargeback / recompra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Chargeback / recompra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Chargeback / recompra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Alocação/subordinação IME · DC/PL e subordinadas/PL são diretos com validação; cobertura ponderada exige fórmula · Fundos.NET ID 667195 · 22/05/2024 · regulamento · p. 57, 91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Alocação/subordinação IME · DC/PL ≥50% e subordinadas/PL ≥25%: diretos com validação dos campos · Fundos.NET ID 792021 · 27/11/2024 · regulamento · p. 15, 48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Alocação/subordinação IME · DC/PL e subordinadas/PL são diretos com validação; cobertura ponderada exige fórmula · Fundos.NET ID 634437 · 05/04/2024 · regulamento · p. 54, 85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Alocação/subordinação IME · DC/PL acompanha alocação; razão ajustada requer validar outros ativos · Fundos.NET ID 1013021 · 14/11/2024 · regulamento · p. 29,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Inadimplência/PDD IME · Over/PDD são proxies agregados; fluxo de leasing, CDB-V e solvência IBM exigem contratos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Inadimplência/PDD IME · Over90/PDD agregados são proxies; não certificam IP90+ jurídico e cessões resolvidas · Fundos.NET ID 792021 · 27/11/2024 · regulamento · p. 58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Inadimplência/PDD IME · Over/PDD são proxies agregados; fluxo de leasing, CDB-V e solvência IBM exigem contratos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Inadimplência/PDD IME · Over/PDD são proxies; não reproduzem DCV contratual e seu histórico · Fundos.NET ID 1013021 · 14/11/2024 · regulamento · p. 23-24,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Controles documentais · Elegibilidade, concentração, lastro e eventos exigem acompanhamento documental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O IME público agregado não possui contratos e eventos suficientes para certificar as regras.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Controles documentais · Elegibilidade, concentração, lastro e eventos exigem acompanhamento documental · Corpus acessível do CNPJ 35868110000154: ID 792021 (27/11/2024), data/raw/35868110000154/792021_regulamento.pdf; ID 537768 (09/10/2023), data/raw/35868110000154/537768_regulamento.pdf · Observação: O IME público agregado não possui contratos e eventos suficientes para certificar as regras.</a:t>
            </a:r>
          </a:p>
          <a:p>
            <a:r>
              <a:t>CNPJ 54559035000194 · Controles documentais · Elegibilidade, concentração, lastro e eventos exigem acompanhamento documental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O IME público agregado não possui contratos e eventos suficientes para certificar as regras.</a:t>
            </a:r>
          </a:p>
          <a:p>
            <a:r>
              <a:t>CNPJ 50988212000105 · Controles documentais · Elegibilidade, concentração, lastro e eventos exigem acompanhamento documental · Corpus acessível do CNPJ 50988212000105: ID 1013021 (14/11/2024), data/raw/50988212000105/1013021_regulamento.pdf; ID 743214 (19/09/2024), data/raw/50988212000105/743214_regulamento.pdf · Observação: O IME público agregado não possui contratos e eventos suficientes para certificar as regras.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08692888000182 · Competência IME · Cache local: 03/2026; selecionar competência para monitorar · .cache/fundonet-ime/ebcc9f4ab30800b0fefdae2c0944322a1ac729eb2a01395c8c0d0bcf7e16485e/manifest.json · Observação: Dado offline do IME; não representa atualização ao vivo nem comprovação dos critérios jurídicos.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  <a:p>
            <a:r>
              <a:t>CNPJ 55070804000159 · Competência IME · Cache local: 03/2026; selecionar competência para monitorar · .cache/fundonet-ime/83c06907290226eda3ba2fb4f8a5f7bf14fbba2b45b33cba976d966edce07265/manifest.json · Observação: Dado offline do IME; não representa atualização ao vivo nem comprovação dos critérios jurídicos.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  <a:p>
            <a:r>
              <a:t>CNPJ 35868110000154 · Competência IME · Cache local: 09/2025; selecionar competência para monitorar · .cache/fundonet-ime/d2d1e2c077b90ab56b443b37979f57c7bcbe35e891f13b744675bd172c60aae7/manifest.json · Observação: Dado offline do IME; não representa atualização ao vivo nem comprovação dos critérios jurídicos.</a:t>
            </a:r>
          </a:p>
          <a:p>
            <a:r>
              <a:t>CNPJ 54559035000194 · Competência IME · Cache local: 03/2026; selecionar competência para monitorar · .cache/fundonet-ime/d7f0131b3e18bd27e282752463e3241f64e8503e591a0d8bdf622a7628a9a55f/manifest.json · Observação: Dado offline do IME; não representa atualização ao vivo nem comprovação dos critérios jurídicos.</a:t>
            </a:r>
          </a:p>
          <a:p>
            <a:r>
              <a:t>CNPJ 50988212000105 · Competência IME · Cache local: 03/2026; selecionar competência para monitorar · .cache/fundonet-ime/49d344b6e3b234479e12977184ec55fbb66f89b3c15e6b692bca1074ccbf2f85/manifest.json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62588266000154 · Competência IME · Cache local: 03/2026; selecionar competência para monitorar · .cache/fundonet-ime/1446ca220d9418890f13b9bf59ed5593da426f7b4f81172c896a54c5aa733612/manifest.json · Observação: Dado offline do IME; não representa atualização ao vivo nem comprovação dos critérios jurídicos.</a:t>
            </a:r>
          </a:p>
          <a:p>
            <a:r>
              <a:t>CNPJ 63546406000194 · Competência IME · Cache local: 04/2026; selecionar competência para monitorar · .cache/fundonet-ime/94088a123d7ce035b0a8ae5353135b4c608aa6bc52ea75ba32ff79a11da352d7/manifest.json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08692888000182 · Alocação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Alocação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Alocação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Alocação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Alocação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Alocação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Alocação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Alocação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Alocação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Alocação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Subordinação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Subordinação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Concentração / elegibilidade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Concentração / elegibilidade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Concentração / elegibilidade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Concentração / elegibilidade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Concentração / elegibilidade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Concentração / elegibilidade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Concentração / elegibilidade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/ elegibilidade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Concentração / elegibilidade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Concentração / elegibilidade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Concentração / elegibilidade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Concentração / elegibilidade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Concentração / elegibilidade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Reservas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Reservas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Chargeback / recompra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Chargeback / recompra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Chargeback / recompra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Chargeback / recompra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Chargeback / recompra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Chargeback / recompra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Chargeback / recompra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Chargeback / recompra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Chargeback / recompra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Chargeback / recompra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Chargeback / recompra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Chargeback / recompra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Chargeback / recompra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Alocação/subordinação IME · DC/PL e subordinadas/PL são diretos com validação; cobertura ponderada exige fórmula · Fundos.NET ID 667195 · 22/05/2024 · regulamento · p. 57, 91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Alocação/subordinação IME · DC/PL ≥50% e subordinadas/PL ≥25%: diretos com validação dos campos · Fundos.NET ID 792021 · 27/11/2024 · regulamento · p. 15, 48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Alocação/subordinação IME · DC/PL e subordinadas/PL são diretos com validação; cobertura ponderada exige fórmula · Fundos.NET ID 634437 · 05/04/2024 · regulamento · p. 54, 85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Alocação/subordinação IME · DC/PL acompanha alocação; razão ajustada requer validar outros ativos · Fundos.NET ID 1013021 · 14/11/2024 · regulamento · p. 29,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Inadimplência/PDD IME · Over/PDD são proxies agregados; fluxo de leasing, CDB-V e solvência IBM exigem contratos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Inadimplência/PDD IME · Over90/PDD agregados são proxies; não certificam IP90+ jurídico e cessões resolvidas · Fundos.NET ID 792021 · 27/11/2024 · regulamento · p. 58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Inadimplência/PDD IME · Over/PDD são proxies agregados; fluxo de leasing, CDB-V e solvência IBM exigem contratos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Inadimplência/PDD IME · Over/PDD são proxies; não reproduzem DCV contratual e seu histórico · Fundos.NET ID 1013021 · 14/11/2024 · regulamento · p. 23-24,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Controles documentais · Elegibilidade, concentração, lastro e eventos exigem acompanhamento documental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O IME público agregado não possui contratos e eventos suficientes para certificar as regras.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Controles documentais · Elegibilidade, concentração, lastro e eventos exigem acompanhamento documental · Corpus acessível do CNPJ 35868110000154: ID 792021 (27/11/2024), data/raw/35868110000154/792021_regulamento.pdf; ID 537768 (09/10/2023), data/raw/35868110000154/537768_regulamento.pdf · Observação: O IME público agregado não possui contratos e eventos suficientes para certificar as regras.</a:t>
            </a:r>
          </a:p>
          <a:p>
            <a:r>
              <a:t>CNPJ 54559035000194 · Controles documentais · Elegibilidade, concentração, lastro e eventos exigem acompanhamento documental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O IME público agregado não possui contratos e eventos suficientes para certificar as regras.</a:t>
            </a:r>
          </a:p>
          <a:p>
            <a:r>
              <a:t>CNPJ 50988212000105 · Controles documentais · Elegibilidade, concentração, lastro e eventos exigem acompanhamento documental · Corpus acessível do CNPJ 50988212000105: ID 1013021 (14/11/2024), data/raw/50988212000105/1013021_regulamento.pdf; ID 743214 (19/09/2024), data/raw/50988212000105/743214_regulamento.pdf · Observação: O IME público agregado não possui contratos e eventos suficientes para certificar as regras.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08692888000182 · Competência IME · Cache local: 03/2026; selecionar competência para monitorar · .cache/fundonet-ime/ebcc9f4ab30800b0fefdae2c0944322a1ac729eb2a01395c8c0d0bcf7e16485e/manifest.json · Observação: Dado offline do IME; não representa atualização ao vivo nem comprovação dos critérios jurídicos.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  <a:p>
            <a:r>
              <a:t>CNPJ 55070804000159 · Competência IME · Cache local: 03/2026; selecionar competência para monitorar · .cache/fundonet-ime/83c06907290226eda3ba2fb4f8a5f7bf14fbba2b45b33cba976d966edce07265/manifest.json · Observação: Dado offline do IME; não representa atualização ao vivo nem comprovação dos critérios jurídicos.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  <a:p>
            <a:r>
              <a:t>CNPJ 35868110000154 · Competência IME · Cache local: 09/2025; selecionar competência para monitorar · .cache/fundonet-ime/d2d1e2c077b90ab56b443b37979f57c7bcbe35e891f13b744675bd172c60aae7/manifest.json · Observação: Dado offline do IME; não representa atualização ao vivo nem comprovação dos critérios jurídicos.</a:t>
            </a:r>
          </a:p>
          <a:p>
            <a:r>
              <a:t>CNPJ 54559035000194 · Competência IME · Cache local: 03/2026; selecionar competência para monitorar · .cache/fundonet-ime/d7f0131b3e18bd27e282752463e3241f64e8503e591a0d8bdf622a7628a9a55f/manifest.json · Observação: Dado offline do IME; não representa atualização ao vivo nem comprovação dos critérios jurídicos.</a:t>
            </a:r>
          </a:p>
          <a:p>
            <a:r>
              <a:t>CNPJ 50988212000105 · Competência IME · Cache local: 03/2026; selecionar competência para monitorar · .cache/fundonet-ime/49d344b6e3b234479e12977184ec55fbb66f89b3c15e6b692bca1074ccbf2f85/manifest.json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62588266000154 · Competência IME · Cache local: 03/2026; selecionar competência para monitorar · .cache/fundonet-ime/1446ca220d9418890f13b9bf59ed5593da426f7b4f81172c896a54c5aa733612/manifest.json · Observação: Dado offline do IME; não representa atualização ao vivo nem comprovação dos critérios jurídicos.</a:t>
            </a:r>
          </a:p>
          <a:p>
            <a:r>
              <a:t>CNPJ 63546406000194 · Competência IME · Cache local: 04/2026; selecionar competência para monitorar · .cache/fundonet-ime/94088a123d7ce035b0a8ae5353135b4c608aa6bc52ea75ba32ff79a11da352d7/manifest.json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08692888000182 · Alocação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Alocação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Alocação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Alocação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Alocação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Alocação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Alocação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Alocação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Alocação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Alocação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Subordinação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Subordinação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Concentração / elegibilidade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Concentração / elegibilidade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Concentração / elegibilidade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Concentração / elegibilidade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Concentração / elegibilidade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Concentração / elegibilidade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Concentração / elegibilidade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/ elegibilidade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Concentração / elegibilidade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Concentração / elegibilidade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Concentração / elegibilidade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Concentração / elegibilidade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Concentração / elegibilidade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Reservas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Reservas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Chargeback / recompra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Chargeback / recompra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Chargeback / recompra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Chargeback / recompra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Chargeback / recompra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Chargeback / recompra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Chargeback / recompra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Chargeback / recompra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Chargeback / recompra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Chargeback / recompra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Chargeback / recompra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Chargeback / recompra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Chargeback / recompra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Alocação/subordinação IME · DC/PL e subordinadas/PL são diretos com validação; cobertura ponderada exige fórmula · Fundos.NET ID 667195 · 22/05/2024 · regulamento · p. 57, 91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Alocação/subordinação IME · DC/PL ≥50% e subordinadas/PL ≥25%: diretos com validação dos campos · Fundos.NET ID 792021 · 27/11/2024 · regulamento · p. 15, 48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Alocação/subordinação IME · DC/PL e subordinadas/PL são diretos com validação; cobertura ponderada exige fórmula · Fundos.NET ID 634437 · 05/04/2024 · regulamento · p. 54, 85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Alocação/subordinação IME · DC/PL acompanha alocação; razão ajustada requer validar outros ativos · Fundos.NET ID 1013021 · 14/11/2024 · regulamento · p. 29,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Inadimplência/PDD IME · Over/PDD são proxies agregados; fluxo de leasing, CDB-V e solvência IBM exigem contratos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Inadimplência/PDD IME · Over90/PDD agregados são proxies; não certificam IP90+ jurídico e cessões resolvidas · Fundos.NET ID 792021 · 27/11/2024 · regulamento · p. 58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Inadimplência/PDD IME · Over/PDD são proxies agregados; fluxo de leasing, CDB-V e solvência IBM exigem contratos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Inadimplência/PDD IME · Over/PDD são proxies; não reproduzem DCV contratual e seu histórico · Fundos.NET ID 1013021 · 14/11/2024 · regulamento · p. 23-24,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Controles documentais · Elegibilidade, concentração, lastro e eventos exigem acompanhamento documental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O IME público agregado não possui contratos e eventos suficientes para certificar as regras.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Controles documentais · Elegibilidade, concentração, lastro e eventos exigem acompanhamento documental · Corpus acessível do CNPJ 35868110000154: ID 792021 (27/11/2024), data/raw/35868110000154/792021_regulamento.pdf; ID 537768 (09/10/2023), data/raw/35868110000154/537768_regulamento.pdf · Observação: O IME público agregado não possui contratos e eventos suficientes para certificar as regras.</a:t>
            </a:r>
          </a:p>
          <a:p>
            <a:r>
              <a:t>CNPJ 54559035000194 · Controles documentais · Elegibilidade, concentração, lastro e eventos exigem acompanhamento documental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O IME público agregado não possui contratos e eventos suficientes para certificar as regras.</a:t>
            </a:r>
          </a:p>
          <a:p>
            <a:r>
              <a:t>CNPJ 50988212000105 · Controles documentais · Elegibilidade, concentração, lastro e eventos exigem acompanhamento documental · Corpus acessível do CNPJ 50988212000105: ID 1013021 (14/11/2024), data/raw/50988212000105/1013021_regulamento.pdf; ID 743214 (19/09/2024), data/raw/50988212000105/743214_regulamento.pdf · Observação: O IME público agregado não possui contratos e eventos suficientes para certificar as regras.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08692888000182 · Competência IME · Cache local: 03/2026; selecionar competência para monitorar · .cache/fundonet-ime/ebcc9f4ab30800b0fefdae2c0944322a1ac729eb2a01395c8c0d0bcf7e16485e/manifest.json · Observação: Dado offline do IME; não representa atualização ao vivo nem comprovação dos critérios jurídicos.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  <a:p>
            <a:r>
              <a:t>CNPJ 55070804000159 · Competência IME · Cache local: 03/2026; selecionar competência para monitorar · .cache/fundonet-ime/83c06907290226eda3ba2fb4f8a5f7bf14fbba2b45b33cba976d966edce07265/manifest.json · Observação: Dado offline do IME; não representa atualização ao vivo nem comprovação dos critérios jurídicos.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  <a:p>
            <a:r>
              <a:t>CNPJ 35868110000154 · Competência IME · Cache local: 09/2025; selecionar competência para monitorar · .cache/fundonet-ime/d2d1e2c077b90ab56b443b37979f57c7bcbe35e891f13b744675bd172c60aae7/manifest.json · Observação: Dado offline do IME; não representa atualização ao vivo nem comprovação dos critérios jurídicos.</a:t>
            </a:r>
          </a:p>
          <a:p>
            <a:r>
              <a:t>CNPJ 54559035000194 · Competência IME · Cache local: 03/2026; selecionar competência para monitorar · .cache/fundonet-ime/d7f0131b3e18bd27e282752463e3241f64e8503e591a0d8bdf622a7628a9a55f/manifest.json · Observação: Dado offline do IME; não representa atualização ao vivo nem comprovação dos critérios jurídicos.</a:t>
            </a:r>
          </a:p>
          <a:p>
            <a:r>
              <a:t>CNPJ 50988212000105 · Competência IME · Cache local: 03/2026; selecionar competência para monitorar · .cache/fundonet-ime/49d344b6e3b234479e12977184ec55fbb66f89b3c15e6b692bca1074ccbf2f85/manifest.json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62588266000154 · Competência IME · Cache local: 03/2026; selecionar competência para monitorar · .cache/fundonet-ime/1446ca220d9418890f13b9bf59ed5593da426f7b4f81172c896a54c5aa733612/manifest.json · Observação: Dado offline do IME; não representa atualização ao vivo nem comprovação dos critérios jurídicos.</a:t>
            </a:r>
          </a:p>
          <a:p>
            <a:r>
              <a:t>CNPJ 63546406000194 · Competência IME · Cache local: 04/2026; selecionar competência para monitorar · .cache/fundonet-ime/94088a123d7ce035b0a8ae5353135b4c608aa6bc52ea75ba32ff79a11da352d7/manifest.json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08692888000182 · Alocação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Alocação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Alocação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Alocação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Alocação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Alocação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Alocação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Alocação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Alocação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Alocação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Subordinação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Subordinação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Concentração / elegibilidade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Concentração / elegibilidade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Concentração / elegibilidade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Concentração / elegibilidade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Concentração / elegibilidade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Concentração / elegibilidade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Concentração / elegibilidade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/ elegibilidade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Concentração / elegibilidade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Concentração / elegibilidade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Concentração / elegibilidade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Concentração / elegibilidade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Concentração / elegibilidade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Reservas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Reservas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Chargeback / recompra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Chargeback / recompra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Chargeback / recompra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Chargeback / recompra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Chargeback / recompra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Chargeback / recompra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Chargeback / recompra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Chargeback / recompra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Chargeback / recompra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Chargeback / recompra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Chargeback / recompra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Chargeback / recompra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Chargeback / recompra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2026-10-07T15:17:45-03:00</a:t>
            </a:r>
          </a:p>
          <a:p>
            <a:r>
              <a:t>Supplier I: CNPJ 08692888000182</a:t>
            </a:r>
          </a:p>
          <a:p>
            <a:r>
              <a:t>SELLER: CNPJ 50473039000102</a:t>
            </a:r>
          </a:p>
          <a:p>
            <a:r>
              <a:t>Endurance: CNPJ 62838025000116</a:t>
            </a:r>
          </a:p>
          <a:p>
            <a:r>
              <a:t>Estratégia Vinculada II: CNPJ 55070804000159</a:t>
            </a:r>
          </a:p>
          <a:p>
            <a:r>
              <a:t>PagSeguro I: CNPJ 28169275000172</a:t>
            </a:r>
          </a:p>
          <a:p>
            <a:r>
              <a:t>BV Crédito de Veículos: CNPJ 35868110000154</a:t>
            </a:r>
          </a:p>
          <a:p>
            <a:r>
              <a:t>Estratégia Vinculada I: CNPJ 54559035000194</a:t>
            </a:r>
          </a:p>
          <a:p>
            <a:r>
              <a:t>Supplier II: CNPJ 50988212000105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VTK: CNPJ 62588266000154</a:t>
            </a:r>
          </a:p>
          <a:p>
            <a:r>
              <a:t>Pine INSS III: CNPJ 63546406000194</a:t>
            </a:r>
          </a:p>
          <a:p>
            <a:r>
              <a:t>CLOUDWALK AKIRA I: CNPJ 42085830000109</a:t>
            </a:r>
          </a:p>
          <a:p>
            <a:r>
              <a:t>CLOUDWALK KICK ASS I: CNPJ 42085816000105</a:t>
            </a:r>
          </a:p>
          <a:p>
            <a:r>
              <a:t>Angá FGTS I: CNPJ 51957370000152</a:t>
            </a:r>
          </a:p>
          <a:p>
            <a:r>
              <a:t>Quatá FGTS: CNPJ 55401645000128</a:t>
            </a:r>
          </a:p>
          <a:p>
            <a:r>
              <a:t>Pravaler II: CNPJ 26749095000134</a:t>
            </a:r>
          </a:p>
          <a:p>
            <a:r>
              <a:t>Angá FGTS III: CNPJ 54810968000102</a:t>
            </a:r>
          </a:p>
          <a:p>
            <a:r>
              <a:t>Fontes:</a:t>
            </a:r>
          </a:p>
          <a:p>
            <a:r>
              <a:t>CNPJ 08692888000182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Alocação/subordinação IME · DC/PL e subordinadas/PL são diretos com validação; cobertura ponderada exige fórmula · Fundos.NET ID 667195 · 22/05/2024 · regulamento · p. 57, 91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Alocação/subordinação IME · DC/PL ≥50% e subordinadas/PL ≥25%: diretos com validação dos campos · Fundos.NET ID 792021 · 27/11/2024 · regulamento · p. 15, 48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Alocação/subordinação IME · DC/PL e subordinadas/PL são diretos com validação; cobertura ponderada exige fórmula · Fundos.NET ID 634437 · 05/04/2024 · regulamento · p. 54, 85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Alocação/subordinação IME · DC/PL acompanha alocação; razão ajustada requer validar outros ativos · Fundos.NET ID 1013021 · 14/11/2024 · regulamento · p. 29, 31, 62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Alocação/subordinação IME · DC / PL: proxy com validação de elegibilidade e denominador; Subordinadas / PL: conferir subclasses e fórmula do índice · Fundos.NET ID 966441 | 24/07/2025 | Regulamento | p. 30, Anexo e avaliação metodológica da revisão | data/raw/42085830000109/966441_review_20261007.pdf | https://fnet.bmfbovespa.com.br/fnet/publico/visualizarDocumento?id=966441 |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Alocação/subordinação IME · DC / PL: proxy com validação de elegibilidade e denominador; Subordinadas / PL: conferir subclasses e fórmula do índice · Fundos.NET ID 1337406 | 01/10/2026 | Regulamento | p. 2, Anexo e avaliação metodológica da revisão | data/raw/42085816000105/1337406_review_20261007.pdf | https://fnet.bmfbovespa.com.br/fnet/publico/visualizarDocumento?id=1337406 |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Alocação/subordinação IME · DC/PL e cotas subordinadas/PL são diretos, com validação do denominador · Fundos.NET ID 1025473 · 03/04/2025 · Regulamento · p. 10, 38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Alocação/subordinação IME · DC/PL e cotas subordinadas/PL: cálculo agregado com validação de classes e do denominador. · Corpus do CNPJ 26749095000134, revisão 2026-10-07T14:50:59-03:00; Fundos.NET ID 1061833, referência 19/11/2025, arquivo data/raw/26749095000134/1061833_regulamento_cache_integral.txt · Observação: Monitorável com ressalva: IME mensal não prova cumprimento diário nem composição jurídica por série.</a:t>
            </a:r>
          </a:p>
          <a:p>
            <a:r>
              <a:t>CNPJ 54810968000102 · Alocação/subordinação IME · Subordinadas/PL e júnior/PL: diretos com identificação de subclasses · Fundos.NET ID 937760 · 22/04/2025 · Regulamento · p. 16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Inadimplência/PDD IME · Over/PDD são proxies agregados; fluxo de leasing, CDB-V e solvência IBM exigem contratos · Fundos.NET ID 667195 · 22/05/2024 · regulamento · p. 49-51 · data/raw/55070804000159/667195_regulamento.pdf · https://fnet.bmfbovespa.com.br/fnet/publico/exibirDocumento?id=667195 · Observação: Conclusão documental; preservar versão, condições e denominador.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Inadimplência/PDD IME · Over90/PDD agregados são proxies; não certificam IP90+ jurídico e cessões resolvidas · Fundos.NET ID 792021 · 27/11/2024 · regulamento · p. 58 · data/raw/35868110000154/792021_regulamento.pdf · https://fnet.bmfbovespa.com.br/fnet/publico/exibirDocumento?id=792021 · Observação: Conclusão documental; preservar versão, condições e denominador.</a:t>
            </a:r>
          </a:p>
          <a:p>
            <a:r>
              <a:t>CNPJ 54559035000194 · Inadimplência/PDD IME · Over/PDD são proxies agregados; fluxo de leasing, CDB-V e solvência IBM exigem contratos · Fundos.NET ID 634437 · 05/04/2024 · regulamento · p. 46-48 · data/raw/54559035000194/634437_regulamento.pdf · https://fnet.bmfbovespa.com.br/fnet/publico/exibirDocumento?id=634437 · Observação: Conclusão documental; preservar versão, condições e denominador.</a:t>
            </a:r>
          </a:p>
          <a:p>
            <a:r>
              <a:t>CNPJ 50988212000105 · Inadimplência/PDD IME · Over/PDD são proxies; não reproduzem DCV contratual e seu histórico · Fundos.NET ID 1013021 · 14/11/2024 · regulamento · p. 23-24, 76 · data/raw/50988212000105/1013021_regulamento.pdf · https://fnet.bmfbovespa.com.br/fnet/publico/exibirDocumento?id=1013021 · Observação: Conclusão documental; preservar versão, condições e denominador.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Inadimplência/PDD IME · Over 30/60/90 e PDD / crédito: indicadores agregados, sem equivalência automática a gatilhos · Fundos.NET ID 966441 | 24/07/2025 | Regulamento | p. 1,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Inadimplência/PDD IME · Over 30/60/90 e PDD / crédito: indicadores agregados, sem equivalência automática a gatilhos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Inadimplência/PDD IME · Over e PDD são proxies parciais; não reproduzem índices de arrecadação e atraso · Fundos.NET ID 1025473 · 03/04/2025 · Regulamento · p. 15, 41 · data/raw/51957370000152/1025473_documentary_review.pdf · https://fnet.bmfbovespa.com.br/fnet/publico/exibirDocumento?id=1025473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26749095000134 · Inadimplência/PDD IME · Over 30/60/90/180/crédito e PDD/crédito: proxies agregados; gatilhos contratuais exigem fórmula própria. · Corpus do CNPJ 26749095000134, revisão 2026-10-07T14:50:59-03:00; Fundos.NET ID 1061833, referência 19/11/2025, arquivo data/raw/26749095000134/1061833_regulamento_cache_integral.txt · Observação: Parcial: não equiparar índices de estoque/vintage/rolagem à carteira atual sem reconciliação de denominadores.</a:t>
            </a:r>
          </a:p>
          <a:p>
            <a:r>
              <a:t>CNPJ 54810968000102 · Inadimplência/PDD IME · Over/PDD: proxies; atraso contratual usa arrasto de parcelas na CCB · Fundos.NET ID 937760 · 22/04/2025 · Regulamento · p. 15-16, 48 · data/raw/54810968000102/937760_documentary_review.pdf · https://fnet.bmfbovespa.com.br/fnet/publico/exibirDocumento?id=937760 · Observação: Conclusão documental revisada; preservar a versão e a unidade indicadas.</a:t>
            </a:r>
          </a:p>
          <a:p>
            <a:r>
              <a:t>CNPJ 08692888000182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55070804000159 · Controles documentais · Elegibilidade, concentração, lastro e eventos exigem acompanhamento documental · Corpus acessível do CNPJ 55070804000159: ID 1248767 (23/06/2026), data/raw/55070804000159/1248767_emissao.pdf; ID 1027106 (28/10/2025 11:00), data/raw/55070804000159/1027106_assembleia.pdf; ID 758570 (07/10/2024), data/raw/55070804000159/758570_emissao.pdf; ID 667195 (22/05/2024), data/raw/55070804000159/667195_regulamento.pdf · Observação: O IME público agregado não possui contratos e eventos suficientes para certificar as regras.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35868110000154 · Controles documentais · Elegibilidade, concentração, lastro e eventos exigem acompanhamento documental · Corpus acessível do CNPJ 35868110000154: ID 792021 (27/11/2024), data/raw/35868110000154/792021_regulamento.pdf; ID 537768 (09/10/2023), data/raw/35868110000154/537768_regulamento.pdf · Observação: O IME público agregado não possui contratos e eventos suficientes para certificar as regras.</a:t>
            </a:r>
          </a:p>
          <a:p>
            <a:r>
              <a:t>CNPJ 54559035000194 · Controles documentais · Elegibilidade, concentração, lastro e eventos exigem acompanhamento documental · Corpus acessível do CNPJ 54559035000194: ID 1027103 (28/10/2025 11:00), data/raw/54559035000194/1027103_assembleia.pdf; ID 672167 (08/05/2024 10:00), data/raw/54559035000194/672167_assembleia.pdf; ID 664160 (23/04/2024), data/raw/54559035000194/664160_emissao.pdf; ID 634469 (05/04/2024), data/raw/54559035000194/634469_emissao.pdf; ID 634437 (05/04/2024), data/raw/54559035000194/634437_regulamento.pdf · Observação: O IME público agregado não possui contratos e eventos suficientes para certificar as regras.</a:t>
            </a:r>
          </a:p>
          <a:p>
            <a:r>
              <a:t>CNPJ 50988212000105 · Controles documentais · Elegibilidade, concentração, lastro e eventos exigem acompanhamento documental · Corpus acessível do CNPJ 50988212000105: ID 1013021 (14/11/2024), data/raw/50988212000105/1013021_regulamento.pdf; ID 743214 (19/09/2024), data/raw/50988212000105/743214_regulamento.pdf · Observação: O IME público agregado não possui contratos e eventos suficientes para certificar as regras.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63546406000194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42085830000109 · Controles documentais · Rating, prestadores, cessão e insolvência: controle documental/manual · Fundos.NET ID 966441 | 24/07/2025 | Regulamento | p. 2,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Controles documentais · Rating, prestadores, cessão e insolvência: controle documental/manual · Fundos.NET ID 1337406 | 01/10/2026 | Regulamento | p. 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Controles documentais · Elegibilidade, concentração, lastro, prestadores e eventos exigem documentação específica · Corpus acessível CNPJ 51957370000152: ID 1025473 (03/04/2025), data/raw/51957370000152/1025473_documentary_review.pdf; ID 863171 (21/03/2025), data/raw/51957370000152/863171_documentary_review.pdf; ID 574128 (20/12/2023), data/raw/51957370000152/574128_documentary_review.pdf; ID 573210 (16/12/2023), data/raw/51957370000152/573210_documentary_review.pdf; ID 571218 (15/12/2023), data/raw/51957370000152/571218_documentary_review.pdf; ID 863169 (21/03/2025), data/raw/51957370000152/863169_documentary_review.pdf; ID 753150 (07/10/2024), data/raw/51957370000152/753150_documentary_review.pdf · Observação: O IME público agregado não certifica essas condições.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26749095000134 · Controles documentais · Elegibilidade, concentração individual, lastro, finalidade do hedge e troca de prestadores exigem controle documental. · Corpus do CNPJ 26749095000134, revisão 2026-10-07T14:50:59-03:00; Fundos.NET ID 1061833, referência 19/11/2025, arquivo data/raw/26749095000134/1061833_regulamento_cache_integral.txt · Observação: Não monitorável pelo IME público sem dados individualizados; caixa e recompras ajudam apenas como proxies.</a:t>
            </a:r>
          </a:p>
          <a:p>
            <a:r>
              <a:t>CNPJ 54810968000102 · Controles documentais · Elegibilidade, concentração, lastro, prestadores e eventos exigem documentação específica · Corpus acessível CNPJ 54810968000102: ID 937760 (22/04/2025), data/raw/54810968000102/937760_documentary_review.pdf; ID 666840 (21/05/2024), data/raw/54810968000102/666840_documentary_review.pdf; ID 666836 (22/05/2024), data/raw/54810968000102/666836_documentary_review.pdf; ID 666751 (21/05/2024), data/raw/54810968000102/666751_documentary_review.pdf · Observação: O IME público agregado não certifica essas condições.</a:t>
            </a:r>
          </a:p>
          <a:p>
            <a:r>
              <a:t>CNPJ 08692888000182 · Competência IME · Cache local: 03/2026; selecionar competência para monitorar · .cache/fundonet-ime/ebcc9f4ab30800b0fefdae2c0944322a1ac729eb2a01395c8c0d0bcf7e16485e/manifest.json · Observação: Dado offline do IME; não representa atualização ao vivo nem comprovação dos critérios jurídicos.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62838025000116 · Competência IME · Cache local: 04/2026; selecionar competência para monitorar · .cache/fundonet-ime/28d00daaa53dcb758345028f0c0a129cf6a5d5050aa6fb56a9020a46f6c4ff65/manifest.json · Observação: Dado offline do IME; não representa atualização ao vivo nem comprovação dos critérios jurídicos.</a:t>
            </a:r>
          </a:p>
          <a:p>
            <a:r>
              <a:t>CNPJ 55070804000159 · Competência IME · Cache local: 03/2026; selecionar competência para monitorar · .cache/fundonet-ime/83c06907290226eda3ba2fb4f8a5f7bf14fbba2b45b33cba976d966edce07265/manifest.json · Observação: Dado offline do IME; não representa atualização ao vivo nem comprovação dos critérios jurídicos.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  <a:p>
            <a:r>
              <a:t>CNPJ 35868110000154 · Competência IME · Cache local: 09/2025; selecionar competência para monitorar · .cache/fundonet-ime/d2d1e2c077b90ab56b443b37979f57c7bcbe35e891f13b744675bd172c60aae7/manifest.json · Observação: Dado offline do IME; não representa atualização ao vivo nem comprovação dos critérios jurídicos.</a:t>
            </a:r>
          </a:p>
          <a:p>
            <a:r>
              <a:t>CNPJ 54559035000194 · Competência IME · Cache local: 03/2026; selecionar competência para monitorar · .cache/fundonet-ime/d7f0131b3e18bd27e282752463e3241f64e8503e591a0d8bdf622a7628a9a55f/manifest.json · Observação: Dado offline do IME; não representa atualização ao vivo nem comprovação dos critérios jurídicos.</a:t>
            </a:r>
          </a:p>
          <a:p>
            <a:r>
              <a:t>CNPJ 50988212000105 · Competência IME · Cache local: 03/2026; selecionar competência para monitorar · .cache/fundonet-ime/49d344b6e3b234479e12977184ec55fbb66f89b3c15e6b692bca1074ccbf2f85/manifest.json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62588266000154 · Competência IME · Cache local: 03/2026; selecionar competência para monitorar · .cache/fundonet-ime/1446ca220d9418890f13b9bf59ed5593da426f7b4f81172c896a54c5aa733612/manifest.json · Observação: Dado offline do IME; não representa atualização ao vivo nem comprovação dos critérios jurídicos.</a:t>
            </a:r>
          </a:p>
          <a:p>
            <a:r>
              <a:t>CNPJ 63546406000194 · Competência IME · Cache local: 04/2026; selecionar competência para monitorar · .cache/fundonet-ime/94088a123d7ce035b0a8ae5353135b4c608aa6bc52ea75ba32ff79a11da352d7/manifest.json · Observação: Dado offline do IME; não representa atualização ao vivo nem comprovação dos critérios jurídicos.</a:t>
            </a:r>
          </a:p>
          <a:p>
            <a:r>
              <a:t>CNPJ 42085830000109 · Competência IME · Cache local: 06/2026; selecionar competência para monitorar · .cache/fundonet-ime/e3d3c342bf1159225ec8832f182d33c4bad20e9ba46d06f801ac3ffb353ecb3e/manifest.json · Observação: Dado offline do IME; não representa atualização ao vivo nem comprovação dos critérios jurídicos.</a:t>
            </a:r>
          </a:p>
          <a:p>
            <a:r>
              <a:t>CNPJ 42085816000105 · Competência IME · Cache local: 02/2026; selecionar competência para monitorar · .cache/fundonet-ime/163bd9171ead8306d74f4b25afadf176e9ee4de0a79511819ee45979eeccd5ff/manifest.json · Observação: Dado offline do IME; não representa atualização ao vivo nem comprovação dos critérios jurídicos.</a:t>
            </a:r>
          </a:p>
          <a:p>
            <a:r>
              <a:t>CNPJ 51957370000152 · Competência IME · Cache local: 03/2026; selecionar competência para monitorar · .cache/fundonet-ime/001d7a3c0b1cb9fadf2119f0053a9644f15a8ebb6c93e5826a9cddb44aadc081/manifest.json · Observação: Dado offline do IME; não representa atualização ao vivo nem comprovação dos critérios jurídicos.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  <a:p>
            <a:r>
              <a:t>CNPJ 26749095000134 · Competência IME · Cache local: 03/2026; selecionar competência para monitorar · .cache/fundonet-ime/f2706bde6615f580ffd7e5f956811080ba6a1804aaa39ca6c83e8b9bcbb60383/manifest.json · Observação: Dado offline do IME; não representa atualização ao vivo nem comprovação dos critérios jurídicos.</a:t>
            </a:r>
          </a:p>
          <a:p>
            <a:r>
              <a:t>CNPJ 54810968000102 · Competência IME · Cache local: 03/2026; selecionar competência para monitorar · .cache/fundonet-ime/2ac5e64d5c5f04d0501c682de58585a556851c2b64dd3973bb8e8b6af13bdcd9/manifest.json · Observação: Dado offline do IME; não representa atualização ao vivo nem comprovação dos critérios jurídicos.</a:t>
            </a:r>
          </a:p>
          <a:p>
            <a:r>
              <a:t>CNPJ 08692888000182 · Alocação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Alocação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Alocação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Alocação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Alocação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Alocação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Alocação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Alocação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Alocação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Alocação via IME · DC / PL: proxy com validação de elegibilidade e denominador · Fundos.NET ID 966441 | 24/07/2025 | Regulamento | p. 30,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Alocação via IME · DC / PL: proxy com validação de elegibilidade e denominador · Fundos.NET ID 1337406 | 01/10/2026 | Regulamento | p. 2,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Alocação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Alocação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Alocação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Alocação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Subordinação via IME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Subordinação via IME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Subordinação via IME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Subordinação via IME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Subordinação via IME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Subordinação via IME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Subordinação via IME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Subordinação via IME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Subordinação via IME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Subordinação via IME · Subordinadas / PL: conferir subclasses e fórmula do índice · Fundos.NET ID 966441 | 24/07/2025 | Regulamento | p. 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Subordinação via IME · Subordinadas / PL: conferir subclasses e fórmula do índice · Fundos.NET ID 1337406 | 01/10/2026 | Regulamento | p. 9,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Subordinação via IME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Subordinação via IME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Subordinação via IME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Subordinação via IME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Concentração / elegibilidade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Concentração / elegibilidade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Concentração / elegibilidade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Concentração / elegibilidade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Concentração / elegibilidade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Concentração / elegibilidade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Concentração / elegibilidade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Concentração / elegibilidade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Concentração / elegibilidade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Concentração / elegibilidade · Exige cadastro por devedor/grupo e validação de lastro; não comprovável pelo IME agregado · Fundos.NET ID 966441 | 24/07/2025 | Regulamento | p. 28,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Concentração / elegibilidade · Exige cadastro por devedor/grupo e validação de lastro; não comprovável pelo IME agregado · Fundos.NET ID 1337406 | 01/10/2026 | Regulamento | p. 28,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Concentração / elegibilidade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Concentração / elegibilidade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Concentração / elegibilidade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Concentração / elegibilidade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Reservas / pagamentos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Reservas / pagamentos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Reservas / pagamentos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Reservas / pagamentos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Reservas / pagamentos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Reservas / pagamentos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Reservas / pagamentos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Reservas / pagamentos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Reservas / pagamentos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Reservas / pagamentos · Caixa agregado é proxy parcial; exige calendário, encargos e waterfall · Fundos.NET ID 966441 | 24/07/2025 | Regulamento | p. 19,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Reservas / pagamentos · Caixa agregado é proxy parcial; exige calendário, encargos e waterfall · Fundos.NET ID 1337406 | 01/10/2026 | Regulamento | p. 20,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Reservas / pagamentos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Reservas / pagamentos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Reservas / pagamentos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Reservas / pagamentos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08692888000182 · Chargeback / recompra · Não localizado nas fontes acessíveis desta leitura · ID 1173154 · 28/04/2026 17:00 · data/raw/08692888000182/1173154_assembleia.pdf; ID 863752 · 20/03/2025 17:00 · data/raw/08692888000182/863752_assembleia.pdf; ID 772020 · 05/11/2024 · data/raw/08692888000182/772020_regulamento.pdf; ID 772010 · 05/11/2024 · data/raw/08692888000182/772010_regulamento.pdf; ID 285893 · 29/03/2022 · data/raw/08692888000182/285893_emissao.pdf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62838025000116 · Chargeback / recompra · Não localizado nas fontes acessíveis desta leitura · ID 1171493 · 06/02/2026 14:00 · data/raw/62838025000116/1171493_assembleia.pdf; ID 1058234 · 10/12/2025 · data/raw/62838025000116/1058234_regulamento.pdf; ID 1052452 · 02/12/2025 · data/raw/62838025000116/1052452_emissao.pdf; ID 1032846 · 10/11/2025 · data/raw/62838025000116/1032846_emissao.pdf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55070804000159 · Chargeback / recompra · Não localizado nas fontes acessíveis desta leitura · ID 1248767 · 23/06/2026 · data/raw/55070804000159/1248767_emissao.pdf; ID 1027106 · 28/10/2025 11:00 · data/raw/55070804000159/1027106_assembleia.pdf; ID 758570 · 07/10/2024 · data/raw/55070804000159/758570_emissao.pdf; ID 667195 · 22/05/2024 · data/raw/55070804000159/667195_regulamento.pdf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28169275000172 · Chargeback / recompra · Não localizado nas fontes acessíveis desta leitura · ID 1148251 · 30/03/2026 · data/raw/28169275000172/1148251_emissao.pdf; ID 1149521 · 25/03/2026 · data/raw/28169275000172/1149521_regulamento.pdf; ID 1147067 · 25/03/2026 09:00 · data/raw/28169275000172/1147067_assembleia.pdf; ID 998868 · 23/09/2025 · data/raw/28169275000172/998868_emissao.pdf; ID 768358 · 29/10/2024 10:00 · data/raw/28169275000172/768358_assembleia.pdf; ID 1131152 · 25/10/2024 · data/raw/28169275000172/1131152_regulamento.pdf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35868110000154 · Chargeback / recompra · Não localizado nas fontes acessíveis desta leitura · ID 792021 · 27/11/2024 · data/raw/35868110000154/792021_regulamento.pdf; ID 537768 · 09/10/2023 · data/raw/35868110000154/537768_regulamento.pdf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54559035000194 · Chargeback / recompra · Não localizado nas fontes acessíveis desta leitura · ID 1027103 · 28/10/2025 11:00 · data/raw/54559035000194/1027103_assembleia.pdf; ID 672167 · 08/05/2024 10:00 · data/raw/54559035000194/672167_assembleia.pdf; ID 664160 · 23/04/2024 · data/raw/54559035000194/664160_emissao.pdf; ID 634469 · 05/04/2024 · data/raw/54559035000194/634469_emissao.pdf; ID 634437 · 05/04/2024 · data/raw/54559035000194/634437_regulamento.pdf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50988212000105 · Chargeback / recompra · Não localizado nas fontes acessíveis desta leitura · ID 1013021 · 14/11/2024 · data/raw/50988212000105/1013021_regulamento.pdf; ID 743214 · 19/09/2024 · data/raw/50988212000105/743214_regulamento.pdf · Observação: Unidade de análise: CNPJ da carteira. Conclusões restritas às páginas materiais dos PDFs locais identificados; inventário pode estar preservado de consulta anterior quando Fundos.NET falha. Não certifica leitura integral de todos os documentos do inventário.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62588266000154 · Chargeback / recompra · Não localizado nas fontes acessíveis desta leitura · ID 1002580 · 29/09/2025 · data/raw/62588266000154/1002580_regulamento.pdf; ID 987463 · 05/09/2025 · data/raw/62588266000154/987463_regulamento.pdf; ID 995150 · 18/09/2025 · data/raw/62588266000154/995150_regulamento.pdf; ID 1126575 · 27/02/2026 · data/raw/62588266000154/1126575_instrumento_de_emiss_o.pdf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63546406000194 · Chargeback / recompra · Não localizado nas fontes acessíveis desta leitura · ID 1172101 · 22/04/2026 · data/raw/63546406000194/1172101_emissao.pdf; ID 1162293 · 13/04/2026 · data/raw/63546406000194/1162293_emissao.pdf; ID 1130481 · 05/03/2026 · data/raw/63546406000194/1130481_regulamento.pdf; ID 1130478 · 05/03/2026 · data/raw/63546406000194/1130478_regulamento.pdf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42085830000109 · Chargeback / recompra · Recompras / crédito é proxy parcial; cancelamento e chargeback dependem de dados complementares · Fundos.NET ID 966441 | 24/07/2025 | Regulamento | p. 39, Anexo e avaliação metodológica da revisão | data/raw/42085830000109/966441_review_20261007.pdf | https://fnet.bmfbovespa.com.br/fnet/publico/visualizarDocumento?id=966441 · Observação: Classificação de monitoramento derivada da disponibilidade pública do IME; não é declaração de enquadramento atual. Sem nova competência IME carregada.</a:t>
            </a:r>
          </a:p>
          <a:p>
            <a:r>
              <a:t>CNPJ 42085816000105 · Chargeback / recompra · Recompras / crédito é proxy parcial; cancelamento e chargeback dependem de dados complementares · Fundos.NET ID 1337406 | 01/10/2026 | Regulamento | p. 54, Anexo e avaliação metodológica da revisão | data/raw/42085816000105/1337406_review_20261007.pdf | https://fnet.bmfbovespa.com.br/fnet/publico/visualizarDocumento?id=1337406 · Observação: Classificação de monitoramento derivada da disponibilidade pública do IME; não é declaração de enquadramento atual. Sem nova competência IME carregada.</a:t>
            </a:r>
          </a:p>
          <a:p>
            <a:r>
              <a:t>CNPJ 51957370000152 · Chargeback / recompra · Não localizado nas fontes acessíveis desta leitura · ID 1025473 · 03/04/2025 · data/raw/51957370000152/1025473_documentary_review.pdf; ID 863171 · 21/03/2025 · data/raw/51957370000152/863171_documentary_review.pdf; ID 574128 · 20/12/2023 · data/raw/51957370000152/574128_documentary_review.pdf; ID 573210 · 16/12/2023 · data/raw/51957370000152/573210_documentary_review.pdf; ID 571218 · 15/12/2023 · data/raw/51957370000152/571218_documentary_review.pdf; ID 863169 · 21/03/2025 · data/raw/51957370000152/863169_documentary_review.pdf; ID 753150 · 07/10/2024 · data/raw/51957370000152/753150_documentary_review.pdf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55401645000128 · Chargeback / recompra · Não localizado nas fontes acessíveis desta leitura · ID 1051890 · 01/12/2025 · data/raw/55401645000128/1051890_documentary_review.pdf; ID 984906 · 04/09/2025 · data/raw/55401645000128/984906_documentary_review.pdf; ID 987420 · 09/09/2025 · data/raw/55401645000128/987420_documentary_review.pdf; ID 984909 · 04/09/2025 · data/raw/55401645000128/984909_documentary_review.pdf; ID 798348 · 10/12/2024 · data/raw/55401645000128/798348_documentary_review.pdf; ID 678447 · 12/06/2024 · data/raw/55401645000128/678447_documentary_review.pdf; ID 1051889 · 01/12/2025 · data/raw/55401645000128/1051889_documentary_review.pdf; ID 885831 · 23/04/2025 · data/raw/55401645000128/885831_documentary_review.pdf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  <a:p>
            <a:r>
              <a:t>CNPJ 26749095000134 · Chargeback / recompra · Não localizado nas fontes acessíveis desta leitura · ID 1061833 · 19/11/2025 · data/raw/26749095000134/1061833_regulamento_cache_integral.txt · Observação: Revisão dirigida de cláusulas e termos materiais dos documentos locais acessíveis. A data desta revisão não atesta atualização completa do inventário CVM. Lacunas e falhas de acesso estão descritas; nenhuma posição IME foi transformada em volume de emissão.</a:t>
            </a:r>
          </a:p>
          <a:p>
            <a:r>
              <a:t>CNPJ 54810968000102 · Chargeback / recompra · Não localizado nas fontes acessíveis desta leitura · ID 937760 · 22/04/2025 · data/raw/54810968000102/937760_documentary_review.pdf; ID 666840 · 21/05/2024 · data/raw/54810968000102/666840_documentary_review.pdf; ID 666836 · 22/05/2024 · data/raw/54810968000102/666836_documentary_review.pdf; ID 666751 · 21/05/2024 · data/raw/54810968000102/666751_documentary_review.pdf · Observação: Unidade de análise: CNPJ da carteira. Conclusões restritas às páginas materiais dos PDFs locais identificados; inventário pode ser preservado de consulta anterior quando Fundos.NET falha. Não certifica leitura integral de todos os documentos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151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Cartão de compra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comercial; segmentos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financeiro, industrial,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comercial e serviços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Mercado Pago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créditos sub-rogados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pelo Mercado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performados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cartões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representados por URs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CDBs vinculados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IBM a contratos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arrendamento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mercantil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do programa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Supplier;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subscritas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Supplier/afiliadas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comerciais e 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exclusivos: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PagueVeloz IP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(03.816.413/0001-37)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Serasa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(62.173.620/0133-20)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IBM;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arrendamentos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vinculados no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CDB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Titulares PF/PJ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cartão de 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 IP Ltda.;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CNPJ 10.573.521/0001-91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Credenciadoras Cielo,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Redecard, PagSeguro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Getnet; lista exclusiva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IBM; pagamento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CDB-V condicionado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aos fluxos de leasing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vinculados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prestadores/FGC;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reais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Aplicações sem garantia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terceiros, seguros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Vinculação contratual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de leasing;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526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não vencidos;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médio ≤ 80 dias;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de prazo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refinanciamento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BRL; créditos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vincendos; devedor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controle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partes relacionadas;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exigibilidade na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URs e contratos/termos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cessão;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 validado antes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Emissão Banco IBM;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reais; formalização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integral; sem ônus,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 prévio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repactuação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Titular sem seguro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1,25% PL; com seguro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2% após janela inicial;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 ≤ 40%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18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econômico: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Pago; teto 20%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PL dispensado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da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Exposição vinculada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IBM e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indicados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365 dias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cessão,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administrador/gestor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relacionados; cotas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fundos por eles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181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crédito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vista/parcelado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juros e débito,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operacionalizadas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Sistema PagSeguro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veículos por CDC/CCB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eletrônica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CDBs vinculados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IBM a contratos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arrendamento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mercantil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Financiamentos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comerciais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cartão de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credenciados cedem seus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recebíveis; PagSeguro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operacionaliza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Votorantim/BV,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definição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IBM;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arrendamentos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vinculados no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CDB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Emissores/cedentes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Supplier e seu grupo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econômico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na figura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física; 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máxima de 65 anos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IBM; pagamento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CDB-V condicionado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aos fluxos de leasing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vinculados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Titulares de cartão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vinculados às operações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comerciais/financiament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0599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acompanha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garantias/acessórios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 do cedente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pela solvência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 registrada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SNG em nome do 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Vinculação contratual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de leasing;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de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distingue limites;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 efetiva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apólice/contrato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≤ 24 meses; valor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face &gt; R$ 0,01;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reais; titularidade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ausência de ônus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LTV &lt; 70%; ≥2 parcelas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pagas; veículo ≤10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anos; sem atraso; taxa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Price ≥1,10% a.m.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Emissão Banco IBM;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reais; formalização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integral; sem ônus,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 prévio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repactuação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adimplentes;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≤ 180 dias;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médio ponderado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90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Dispensa do limite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20% por mesmo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devedor/coobrigado,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art. 3.19.1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≤R$150 mil; por CPF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≤R$200 mil; veículos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pesados/vans/caminhões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≤10%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Exposição vinculada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IBM e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indicados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Titular/grupo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seguro: maior de 1,25%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e R$ 2,5 mi;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seguro: maior de 4%/2%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e R$ 4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015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Facta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crédito/cartão INSS;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cedidos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convênio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CCCBs lastreados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empréstimos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consignados INSS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Facta,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de endosso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Banco Pine;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originadores Banco Pine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Facta Financeira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consignado/cartão INSS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devedoras das CCBs,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beneficiárias do INSS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 autorizada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margem averbada;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do lastro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266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Saldo/devedor ≤ R$ 120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mil; parcela média ≥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200; idade média ≤ 68;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idade + prazo ≤ 80,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exceções de seguro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inadimplência;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idade média ≤ 70 anos;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idade + prazo ≤ 79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anos; saldo por devedor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 R$ 150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Homens ≤ 60%; idade &gt;61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≤70%, &gt;66 ≤50%, &gt;71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≤12,5%; exclusões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etárias,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benefício 32 e limites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individuais; base valor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presente de créditos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inadimplidos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96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cartões,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cartões,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devidos por emissores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de IFs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FIDCs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Cloud Walk,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credenciadora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Votorantim/Banco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IFs aprovadas e fundos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geridos pela Quatá;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credor original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operação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pagamento; grupos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previstos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anexo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titular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conta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física; 18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75a11m29d na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cedente, custodiante,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 ou total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bloqueio/averbação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9639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nacional;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em moeda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nacional;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prefixada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vencimento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a série sênior 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longa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Prefixado; retorno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médio de aquisição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1,35% a.m.; prazo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3.650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emissor/grupo e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IF acima de 20%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salvo apêndice;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observar critérios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emissor/grupo e exceção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IF acima de 20%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salvo apêndice;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observar critérios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por devedor ≤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120 mil na 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por devedor ≤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menor entre 365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7 dias;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menor entre 365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administrador, 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347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estudantil para matrículas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semestralidades; empréstimos/financiamentos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programas elegíveis.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de 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bancos/instituições financeiras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 de ensino, conforme contrato;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Pravaler presta gestão/originação operacional.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Alunos ou representantes, com devedor solidário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nos contratos sujeitos à condição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titular de conta FGTS; idade mínima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18 anos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contratuais e devedores solidários;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 real uniforme não demonstrada.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 saque-aniversário; bloqueio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conta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vincendo e validação de contratos/lastro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cessão; regras especiais por etapa e espécie.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adimplente; prazo ≤ 120 meses e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da sênior mais longa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 devedor/coobrigado e tipo de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consulta individual; IME agregado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 concentração.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por devedor ≤ R$ 120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9639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Razões sênior ≤ 80%;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sênior+MZ I ≤ 90%;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sênior+MZ I+II ≤ 95,5%;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bases líquidas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Outros Ativos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 ≥10%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 10%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excepcionalmente 9%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primeiros 30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 10%;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PL/sênior ≥ 111,11%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Rebaixamento de rating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 2 subníveis;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 com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15% DC; demais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e cross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default; hipóteses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cura detalhadas abaixo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&lt; 50% por &gt;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após 180 dias;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trocas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descumprimentos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Relação mínima sem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12 DU; alocação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 DU; reserva em 10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DU; falha de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Caixa: encargos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próximos 3 meses;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liquidez: 3% dos DC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da próxima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amortização: acumular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D-45; integral D-10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R$ 9.893.130,23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custos e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expressamente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carteira; exposição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limitada ao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0599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Fluxos de DC do índice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liquidez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líquidos de 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prestação/lastro,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solvência e obrigações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Mercado Pago/Mercado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sênior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sanado em 2 DU;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 convertida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inexigibilidade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 &gt;45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ordinárias 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8724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Cross default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MercadoLibre: terceiros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&gt;US$75 mi; grupo Brasil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&gt;R$150 mi; cura 10 DU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prazo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cobertura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enquadramento mensal; 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datas de aniversário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consecutivas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desenquadradas geram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medidas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[(Sênior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subordinadas) ×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0,8857]/sênior ≥ 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Excesso de spread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Pré-pagamento 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por camada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434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 50%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PL;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≥25%,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 10%;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PL/sênior ≥ 111,11%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(Sênior − outros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ativos)/(PL − outros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ativos) ≤95,5%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numérico; extenso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 de pagamento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sênior/MZ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regularizada em 2 DU;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adicionais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cap.8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IP90+ &gt;2%; resolução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cessões &gt;3% PL em 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meses; eventos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Relação mínima sem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12 DU; alocação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 DU; reserva em 10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DU; falha de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DCV &gt; 15%; DCV30 &gt; 10%;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DCV120 &gt; 6%; DCV180 &gt;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7% em 2 meses seguidos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3 alternados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 milhão; apuração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R$2,5 mi reajustados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IPCA; reserva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30% D−30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D−15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R$ 4.000.031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custos e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encargos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estimados + reserva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 de 3% do VP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direitos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exclusivamente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vista, até seu limite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25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Cross default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cobertura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[(Sênior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subordinadas) ×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0,8857]/sênior ≥ 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Excesso de spread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2,50% a.a.; evento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2 verificações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seguidas ou 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alternadas em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Pré-pagamento 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por camada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7137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≥ 15%;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mezanino ajustado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inicial ≥1,50%,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meta ≥2,50%; MZ 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B+C+júnior ≥5%.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Exclusão de MTM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expressa para A/júnior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Pré-pagamento &gt; 20%;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Over90: 3,5% numeral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3,05% por extenso;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persistência 2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consecutivos ou 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alternados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Patamares cobertura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1,00/0,98; perdas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desalavancagem 5%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realavancagem 4%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Despesas: 3 meses;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sênior: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acumular D-30;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derivativo: 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líquida devedora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 ≥ 2,50%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cair a 2%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MZ C de 2,50%;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MTM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Notional inicial 70%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DC; recalibrar em 45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se &gt;100% ou &lt;60%;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contraparte AAA;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 em 60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Swap PRE → DI + spread;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à vista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alavancagem; política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reavaliação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quinzenal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15/59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51023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 usa DC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 presente líquido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PDD; provisão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manual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Cross default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cobertura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Excesso de spread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Pré-pagamento 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Pré-pagamento &gt;35%;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 &gt;5%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 de verificação: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por camada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MZ A protegida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B+C+júnior ≥5%; MZ 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C+júnior ≥5%; MZ C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júnior ≥3%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16/59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7183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3%: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4,8%: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10%; júnior/PL ≥ 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15%; júnior/PL ≥ 3%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prestadores;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prestadores;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&lt; 93% em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datas/12 meses; atraso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 10% em uma data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Intervenção/falência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índices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do cap. 9/10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de antecedência;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remuneração: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amortização: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de antecedência;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próxima remuneração: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liquidez de 1% do PL,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limitada a R$ 5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estimadas; apuração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vista;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descoberto/alavancagem;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exposição ≤ 1x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usar 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17/59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5354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pagamento,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contratuais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e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 dos 3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seguintes, incluindo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Cross default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cobertura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Excesso de spread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Pré-pagamento 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por camada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18/59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22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Relação de proteção contratual exige cálculo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ativos/obrigações e condições por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 10%; júnior/PL ≥ 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Atrasos30/60/90/180: 12%/10%/8,5%/6%; recorrência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2 datas consecutivas, 3/6 meses ou 4/12.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&lt; 93% em 2 datas/12 meses; atraso &gt;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10%; PL &lt; R$ 1 mi por 3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de 1 mês; 100% da próxima 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5 DU antes; maior entre despesas+amortização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fluxo futuro.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+ liquidez 2% do PL, limitada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R$ 15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de proteção de posições à vista;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conformidade exige contrato/posição individual.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Renegociados mantêm provisionamento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inadimplência; exceção para atraso &lt;90 dias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sem novo inadimplemento.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19/59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319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Cross default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cobertura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Excesso de spread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Pré-pagamento 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por camada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20/59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181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 a 100%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patrimônio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creditórios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PL; gestor busca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 para 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percentual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numérico/extenso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rotativa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recorrentes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potencial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e eventos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Reinvestimento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permitido, observada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ordem de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com 30 anos,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prorrogável;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profissional/autorizado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versão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profissionais;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originalmente de 27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21/59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80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vícios/descumprimentos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tem risco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CDB-V e dação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de créditos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leasing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 CDB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cedentes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Supplier; observar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obrigações próprias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não respondem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pagamento/solvência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CDB-V dependente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→ sênior → MZ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 → MZ II → reservas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→ novas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Encargos/reservas;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júnior, conforme ordem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pro rata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ordinária; evento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 aciona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sequencial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22/59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0599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 Oliveira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Trust DTVM; gestão: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Oliveira Trust Servicer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Intrag;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gestão/custódia de DC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Kanastra; custódia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mobiliários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Limine Trust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Condições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atestam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em cada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termo; gestor valida;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perda posterior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gera 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automática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Situação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Encerrado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23/06/2026; preservar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retrato histórico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carteira 1T26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Alterações materiais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23/59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338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do PL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alvo tributário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discricionário de 67%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do PL após 90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percentual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numérico/extenso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entre 67% e 100%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permitidas;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interrupção 30 dias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antes do resgate da 1ª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recorrentes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pelo potencial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reenquadramento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 anos; prorrogável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mais 20; sênior/MZ: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PagSeguro/relacionadas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qualificados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profissionais; prazo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37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de 30 anos;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de cessão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inelegibilidade/vício;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preço de resolução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 CCB integral;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resolução/indenização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remetidas ao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CDB-V e dação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de créditos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leasing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 CDB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existência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/formalização; regras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completas no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24/59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51892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 por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sem coobrigação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CDB-V dependente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coobrigação; operações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podem ter coobrigação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estabelecimento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→ reserva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→ mezanino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Encargos/cobrança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remuneração/principal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→ subordinada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condicional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pro rata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ordinária; evento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 aciona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sequencial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reservas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remuneração/amortização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→ subordinadas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Administração/custódia/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escrituração/controlado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ria: Genial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Investimentos C.V.M.;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gestão: Genial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Condições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Situação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Alterações materiais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AGE 08/05/2024 alterou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quóruns da assembleia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25/59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7764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67%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creditórios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PL regulatório; 67%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para entidade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até fim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primeiro mês completo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alocação;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 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 devem ser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qualificados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Termo eletrônico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registro;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prevê resolução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com recompra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pelo 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26/59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2519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Facta não responde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solvência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coobrigação/garantia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terceiros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direito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terceiros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dos ativos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 rata inicialmente;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sequencial após desalav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ancagem/liquidação,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possível realavancagem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 Oliveira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Trust DTVM; gestão: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Oliveira Trust Servicer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Administração/custódia: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Vert DTVM; gestão: Vert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Gestora; arrecadação: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Pine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Condições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Situação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Alterações materiais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27/59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7764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elegíveis,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do PL regulatório;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 para 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da carteira,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observada a ordem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Revolvente; compras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 da carteira,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observada a ordem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Fechado; 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coberto;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 vício,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chargeback/cancelamento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coberto;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irrevogável;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desconformidade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original pode resolver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documentos originais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no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28/59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0645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regresso/coobrigação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pela solvência;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 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coobrigação;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responde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existência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formalização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distribuições;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prioritária;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distribuições;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prioritária;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Despesas/derivativos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Despesas/derivativos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Condições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Situação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Alterações materiais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29/59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 Mínima contratual após prazo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enquadramento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cessões permitidas sob critérios/reservas;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suspensas por eventos; fluxo longo de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estudantil.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 de prazo 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cotas/séries com prazo próprio; 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vícios/culpa/dolo sujeitos a responsabilização.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definitiva; desconformidade pode resolver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30/59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solidários e responsabilidades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são distintos de coobrigação irrestrita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Despesas/reservas e cotas prioritárias antes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evento altera alocação e suspende novas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Encargos/derivativos → caixa/liquidez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Condições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Situação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Alterações materiais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31/59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930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 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II;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 sênior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 subordinada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+ 1,20% sênior; DI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2,00% MZ I; DI + 4,00%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MZ II; prêmios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temporários descritos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terminaram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31/10/2024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DI +0,85%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CDI + 0,80%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DI + 1,10%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júnior: DI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2,70% a.a. + prêmio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R$1,5 bi;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1,5 milhão de cotas;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R$1.000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R$ 740 mi sênior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R$ 110 mi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aprovados; VNU R$ 1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32/59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5935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encerramento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oferta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04/06/2025; outros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atos/séries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reconciliados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07/10/2024: R$689,27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+ R$86,58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R$74,15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DI +0,85%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R$1,5 bi;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1,5 milhão de cotas;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R$1.000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R$1.000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33/59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8188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mezanino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séries; subordinadas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seniores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subclasses/séries;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do 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 sênior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 subordinada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sênior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sênior: DI + 0,75%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DI + 1,10%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júnior: DI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2,80% a.a. + prêmio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sênior: R$ 1 bilhão;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 milhão de cotas; VNU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R$ 224,29 mi sênior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R$ 28,92 mi júnior; VNU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inicial de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 30/03/2026;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 prevista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31/03/2026; garantia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firme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 05/04/2024;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23/04/2024; R$ 253,21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 distribuídos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34/59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93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 sênior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mezanino;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MZ A, B e C;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modelos mantêm campos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abertos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CDI + spread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bookbuilding, piso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1,10% e teto 1,25%; MZ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+3,50%, B +4,75%, C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+7,50%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Distribuídos: sênior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2,55 bi e mezanino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300 mi;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total R$ 1,25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bi; sênior R$ 1.068,75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MZ A/B R$ 62,5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cada; C R$ 31,25 mi;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R$ 25 mi; VNU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35/59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656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27/02/2026; primária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melhores esforços;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divulgado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22/04/2026; melhores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esforços;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36/59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26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CDI + 1,14%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500.000.000,00;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37/59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9352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CDI + 1,14%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série: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500.000.000,00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 na emissão;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posteriores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38/59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31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subordinadas mezanino e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A; sênior; mezanino;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suplemento da série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geral R$ 1.000,00.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 até R$ 1,35 bi; júnior até R$ 170 mi;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oferta registrada e iniciada em 21/05/2024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39/59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5308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sênior:30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inclusive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somente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partir do 43º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Primeiro pagamento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24/06/2024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semestral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desde 6º mês; 5ª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:15/12/2027–15/05/2028;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parcelas 16,67/20/25/33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,33/50/100% do saldo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restante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mensal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15/01/2026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15/12/2029; seis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parcelas de principal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julho–dezembro/2029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sênior:36º 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aponta final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15/05/2028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Última 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15/12/2029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integral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documental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23/06/2026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semestral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desde 6º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sênior:15/12/2027–15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/05/2028; parcelas 16,6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7/20/25/33,33/50/100%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saldo restante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40/59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061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Primeiro pagamento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23/05/2024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sênior: principal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em 31/01,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28/02 e 31/03/2029, DU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 se necessário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sênior: 31/03/2029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 indeterminado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Resgate contratual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23/04/2027 para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41/59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65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modelo em aberto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pro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rata/sequencial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ligado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fluxo/estoque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42/59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061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Carência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27/01/2026 inclusive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 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27; 1ª sênior: Mensal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27/02/2026–27/01/2027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de caixa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prioridade entre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carência: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suplemento;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em regime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27/01/2027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indeterminada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 dia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Mensal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27/02/2026–27/01/2027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requisitos variam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43/59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Metas condicionadas a caixa, prioridades e regime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 rata/sequencial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44/59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2095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 até R$ 70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+ 0,075% sobre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excedente;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8.750/mês; reajuste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IGP-M e 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por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0,075%≤R$ 200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mi;0,05%200–500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mi;0,04%500 mi–1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bi;0,02%&gt;1 bi;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R$ 17.500/mês, teto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0,033% a.a.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R$ 15 mil/mês; IPC/FIPE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 conjunta: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0,175%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 até R$ 70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+ 0,075% sobre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excedente;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8.750/mês; reajuste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IGP-M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Mesmas faixas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0,075/0,05/0,04/0,02%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17.500/mês, teto R$ 50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mil; lastro + R$ 5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0,030% a.a. até R$ 500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0,025% acima;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R$ 15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implementação R$ 45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 conjunta: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0,175%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adicional único R$ 40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45/59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96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Custódia: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adicional; lastro R$ 5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 na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agregado 0,027%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PL; mínimo R$ 15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Custódia, escrituração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controladoria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incluídas na cláusula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conjunta de taxas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 0,09% a.a.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PL e R$ 15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adicional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fixos: IGP-M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 anual; taxas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diárias base 252;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gross-up 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Escrituração e despesas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 R$2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implantação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R$7 mil; assembleias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R$700/h; lastro setup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R$35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46/59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343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cumulativas: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0,100% a.a. até R$ 1,5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bi; 0,075% até R$ 3 bi;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0,060% acima; agente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registro R$ 10 mil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Numérico: 0,07% a.a.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R$300 mi PL +0,035%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excedente;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R$9.750/mês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 conjunta: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0,175% a.a.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0,13% / 0,10% / 0,074%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 0,060% / 0,030%;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R$ 18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da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administração, limitada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R$ 4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Numérico: 0,07% a.a.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R$300 mi PL +0,035%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excedente;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R$9.750/mês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 conjunta: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0,175%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adicional único R$ 40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numéricas 0,065%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 0,05% / 0,037%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/ 0,015%;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 com extenso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0,02% a.a. sobre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Custódia/controladoria: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0,14% até R$300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+0,07% excedente;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R$23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Custódia, escrituração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controladoria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incluídas na cláusula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conjunta de taxas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verificação de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R$ 5 mil/mês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Escrituração e despesas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47/59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3433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PL: 0,056%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0,04% / 0,016%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R$ 22.400/mês;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IGP-M e 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cumulativas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0,045% / 0,035% / 0,02%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7.500/mês; IGP-M;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tributos 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PL: 0,014%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0,01% / 0,004%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R$ 5.600/mês;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IGP-M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cumulativas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0,045% / 0,035% / 0,02%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7.500/mês; IGP-M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 R$ 2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lastro R$ 5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Escrituração e despesas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48/59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7183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0,045%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R$ 27.500,00/mês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0,045% a.a. sobre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R$ 23.900,00/mês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0,13%/0,11%/0,08% a.a.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faixa de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R$ 15,5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0,25%/0,23%/0,18%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R$ 16,5 mil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primeiros meses,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 mil depois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a.a. sobre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máximo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R$ 4.000,00/mês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0,42%/0,44%/0,40% a.a.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faixa de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R$ 7 mil/mês + 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R$ 25 mil/mês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de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ser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de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ser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guarda/verificação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externa são encargos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reajustados por IPCA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positivo; cálculo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 base 252,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reajustados por IPCA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positivo; cálculo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 base 252,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cada taxa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Escrituração e despesas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49/59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843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a.a./PL, mínimo R$ 25,6 mil/mês; taxa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 administração e controladoria,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componentes próprios.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0,10%/0,08%/0,05% a.a.; mínimo R$ 12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0,45% a.a. do PL + 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incluídos no escopo da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a.a. do PL; mínimo R$ 3,5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Escrituração e despesas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50/59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901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candidatos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candidatos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subordinadas/PL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diretos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validação; cobertura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ponderada exige fórmula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proxies; safras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MOB/perdas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proxies; safras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MOB/perdas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são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fluxo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leasing, CDB-V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solvência IBM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cross-default, trocas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cross-default, trocas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05/2026;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04/2026;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51/59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809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Endurance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52/59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80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candidatos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≥50%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≥25%: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diretos com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campos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subordinadas/PL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diretos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validação; cobertura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ponderada exige fórmula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acompanha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alocação; razão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ajustada requer validar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outros ativos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proxies; safras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MOB/perdas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Over90/PDD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proxies;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certificam IP90+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jurídico e cessões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resolvidas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são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fluxo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leasing, CDB-V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solvência IBM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são proxies;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reproduzem DCV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 e seu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histórico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cross-default, trocas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53/59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65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BV Crédito de Veículos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Estratégia Vinculada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Supplier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09/2025;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54/59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05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candidatos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candidatos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proxies; safras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MOB/perdas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proxies; safras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MOB/perdas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cross-default, trocas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cross-default, trocas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55/59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65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VTK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Pine INSS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04/2026;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56/59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5262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diretos, com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diretos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são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parciais;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reproduzem índices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arrecadação e atraso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atraso/arrecadação usam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fluxo/face; Over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público é proxy parcial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02/2026;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57/59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809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AKIRA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CLOUDWALK KICK ASS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58/59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Crédito IFs (Carteira Atual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2565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Pravaler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Angá FGTS III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subordinadas/PL: cálculo agregado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validação de classes e 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e júnior/PL: diretos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identificação de 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30/60/90/180/crédito e PDD/crédito: proxies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 contratuais exigem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Over/PDD: proxies; atraso contratual usa arrasto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parcelas na CCB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individual,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 troca de prestadores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lastro,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eventos 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 selecionar competência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 selecionar competência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59/59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