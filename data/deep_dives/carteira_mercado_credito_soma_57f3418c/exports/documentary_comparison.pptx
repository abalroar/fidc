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2026-10-07T15:13:33-03:00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33254370000104 · Natureza dos recebíveis · CCBs de crédito parcelado e veículos; direitos PPV futuros da plataforma Mercado Pago · data/raw/33254370000104/1128340_regulamento.pdf · ID Fundos.NET 1128340 · 03/03/2026 · regulamento · p. 7 e 10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Natureza dos recebíveis · CCBs de crédito parcelado a consumidores e comerciantes, originadas por IFs parceiras · data/raw/37511828000114/1200490_regulamento.pdf · ID Fundos.NET 1200490 · 27/03/2026 · regulamento · p. 133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Natureza dos recebíveis · CCBs endossadas por IF MeLi, entidades Mercado Pago e veículos do grupo · data/raw/41970012000126/1302706_regulamento.pdf · ID Fundos.NET 1302706 · 27/08/2026 · regulamento · p. 20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Originador/endossante · Instituições financeiras parceiras originam CCBs; cedentes comerciais originam PPV · data/raw/33254370000104/1128340_regulamento.pdf · ID Fundos.NET 1128340 · 03/03/2026 · regulamento · p. 7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Originador/endossante · IFs parceiras; Mercado Pago atua como correspondente · data/raw/37511828000114/1200490_regulamento.pdf · ID Fundos.NET 1200490 · 27/03/2026 · regulamento · p. 133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Originador/endossante · IF MeLi e entidades/veículos Mercado Pago que celebraram contrato de endosso · data/raw/41970012000126/1302706_regulamento.pdf · ID Fundos.NET 1302706 · 27/08/2026 · regulamento · p. 20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Devedor · PF/PJ nas CCBs; Mercado Pago nos direitos PPV · data/raw/33254370000104/1128340_regulamento.pdf · ID Fundos.NET 1128340 · 03/03/2026 · regulamento · p. 7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Devedor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Devedor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Garantia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Garantia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Garantia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Elegibilidade · CCBs originadas por IF parceira: veículos ≤ 60 meses; demais ≤ 25 meses · data/raw/33254370000104/1128340_regulamento.pdf · ID Fundos.NET 1128340 · 03/03/2026 · regulamento · p. 10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Elegibilidade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Elegibilidade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Concentração · Dispensa do limite por emissor; critérios individuais conforme tipo de crédito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Concentração · Devedor único ≤ 0,5% dos DC; limites por produto, perfil e prazo · data/raw/37511828000114/1200490_regulamento.pdf · ID Fundos.NET 1200490 · 27/03/2026 · regulamento · p. 143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Concentração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Day trade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Day trade · Operações iniciadas e encerradas no mesmo dia vedadas · data/raw/37511828000114/1200490_regulamento.pdf · ID Fundos.NET 1200490 · 27/03/2026 · regulamento · p. 50 · 5.7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Day trade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2026-10-07T15:13:33-03:00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33254370000104 · Subordinação mínima · Piso dinâmico: 25%, 30% ou 35%, conforme rentabilidade excedente média de três meses · data/raw/33254370000104/1128340_regulamento.pdf · ID Fundos.NET 1128340 · 03/03/2026 · regulamento · p. 43 · https://fnet.bmfbovespa.com.br/fnet/publico/visualizarDocumento?id=1128340 · Observação: O número 7% é rentabilidade excedente anual, não piso de subordinadas. Reconciliar índice de subordinação e base nos apêndices.</a:t>
            </a:r>
          </a:p>
          <a:p>
            <a:r>
              <a:t>CNPJ 37511828000114 · Subordinação mínima · Júnior ≥ 10% PL, com majorações condicionais por excesso de juros e perdas · data/raw/37511828000114/1200490_regulamento.pdf · ID Fundos.NET 1200490 · 27/03/2026 · regulamento · p. 42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Subordinação mínima · Júnior ≥ 10% PL; eventos de step-down majoram a proteção · data/raw/41970012000126/1302706_regulamento.pdf · ID Fundos.NET 1302706 · 27/08/2026 · regulamento · p. 32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Gatilhos de avaliação/liquidação · Excesso de spread &lt; 0,01% acelera sênior; safras de veículos: Over30 MOB3 &gt; 5,5% ou Over60 MOB6 &gt; 6,5% em 2 de 6 safras · data/raw/33254370000104/1128340_regulamento.pdf · ID Fundos.NET 1128340 · 03/03/2026 · regulamento · p. 50 e 55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Gatilhos de avaliação/liquidação · Índice histórico comerciante: avaliação 8%; amortização acelerada 7%; tabelas MOB adicionais · data/raw/37511828000114/1200490_regulamento.pdf · ID Fundos.NET 1200490 · 27/03/2026 · regulamento · p. 33 e 92 · https://fnet.bmfbovespa.com.br/fnet/publico/visualizarDocumento?id=1200490 · Observação: Índice histórico e safras MOB não correspondem diretamente ao aging agregado do IME.</a:t>
            </a:r>
          </a:p>
          <a:p>
            <a:r>
              <a:t>CNPJ 41970012000126 · Gatilhos de avaliação/liquidação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Reserva de caixa · Reserva de remuneração sênior: remuneração + principal, quando aplicável, das próximas 3 datas · data/raw/33254370000104/1128340_regulamento.pdf · ID Fundos.NET 1128340 · 03/03/2026 · regulamento · p. 47 · 13.3 · https://fnet.bmfbovespa.com.br/fnet/publico/visualizarDocumento?id=1128340 · Observação: Requer cronograma por série; caixa/PL é proxy parcial.</a:t>
            </a:r>
          </a:p>
          <a:p>
            <a:r>
              <a:t>CNPJ 37511828000114 · Reserva de caixa · Reserva de despesas de 0,20% PL; recompor se saldo &lt; 50% do valor requerido · data/raw/37511828000114/1200490_regulamento.pdf · ID Fundos.NET 1200490 · 27/03/2026 · regulamento · p. 107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Reserva de caixa · Reserva de despesas: 1,05% PL; recomposição diária · data/raw/41970012000126/1302706_regulamento.pdf · ID Fundos.NET 1302706 · 27/08/2026 · p. 102 · https://fnet.bmfbovespa.com.br/fnet/publico/visualizarDocumento?id=1302706 · Observação: Conferir fórmula e janelas de cura no regulamento integral; proxy público agregado não valida todos os eventos.</a:t>
            </a:r>
          </a:p>
          <a:p>
            <a:r>
              <a:t>CNPJ 33254370000104 · Derivativos/hedge · Somente proteção ou mitigação de risco · data/raw/33254370000104/1128340_regulamento.pdf · ID Fundos.NET 1128340 · 03/03/2026 · regulamento · p. 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Derivativos/hedge · Proteção patrimonial/troca de indexador sem risco de capital; proteção de posições à vista · data/raw/37511828000114/1200490_regulamento.pdf · ID Fundos.NET 1200490 · 27/03/2026 · regulamento · p. 50/112 · 5.8; 21.1.1(i) · https://fnet.bmfbovespa.com.br/fnet/publico/visualizarDocumento?id=1200490 · Observação: Validar finalidade, posição coberta e instrumento; IME oferece posição agregada.</a:t>
            </a:r>
          </a:p>
          <a:p>
            <a:r>
              <a:t>CNPJ 41970012000126 · Derivativos/hedge · Operações em derivativos expressamente vedadas · data/raw/41970012000126/1302706_regulamento.pdf · ID Fundos.NET 1302706 · 27/08/2026 · regulamento · p. 43 · https://fnet.bmfbovespa.com.br/fnet/publico/visualizarDocumento?id=1302706 · Observação: Versão agosto/2026 substitui referência heurística antiga a derivativos de liquidez até 20%.</a:t>
            </a:r>
          </a:p>
          <a:p>
            <a:r>
              <a:t>CNPJ 33254370000104 · PDD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PDD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PDD · PDD contábil deduzida no preço da opção de compra dos créditos; limite percentual próprio não localizado · data/raw/41970012000126/1302706_regulamento.pdf · ID Fundos.NET 1302706 · 27/08/2026 · regulamento · p. 42 · 5.1.6.3 · https://fnet.bmfbovespa.com.br/fnet/publico/visualizarDocumento?id=1302706 · Observação: PDD/crédito é indicador agregado; não replica evento contratual ou valor devido em cessão.</a:t>
            </a:r>
          </a:p>
          <a:p>
            <a:r>
              <a:t>CNPJ 33254370000104 · Cross default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Cross default · Endividamento do Mercado Pago: inadimplemento/aceleração &gt;US$75 milhões; observar cura · data/raw/37511828000114/1200490_regulamento.pdf · ID Fundos.NET 1200490 · 27/03/2026 · regulamento · p. 88 · 13.1(xviii) · https://fnet.bmfbovespa.com.br/fnet/publico/visualizarDocumento?id=1200490 · Observação: Extenso informa setenta e cinco milhões; numeral extraído “US$75.000.00,00” está malformado. Confirmar instrumento antes de alerta automático.</a:t>
            </a:r>
          </a:p>
          <a:p>
            <a:r>
              <a:t>CNPJ 41970012000126 · Cross default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2026-10-07T15:13:33-03:00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33254370000104 · Alocação mínima · Após 180 dias: 50% PL para fins regulatórios; 67% para fins tributários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Alocação mínima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Alocação mínima · 67% PL para enquadramento tributário; verificar índices adicionais · data/raw/41970012000126/1302706_regulamento.pdf · ID Fundos.NET 1302706 · 27/08/2026 · regulamento · p. 108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Pool/revolvência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Pool/revolvência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Pool/revolvência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Duração/público-alvo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Duração/público-alvo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Duração/público-alvo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Cessão/recompra · Perda posterior de elegibilidade não gera regresso, ressalvadas culpa ou dolo · data/raw/33254370000104/1128340_regulamento.pdf · ID Fundos.NET 1128340 · 03/03/2026 · regulamento · p. 11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Cessão/recompra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Cessão/recompra · Aquisição por Mercado Pago por inelegibilidade, vício ou falha imputável, com limites contratuais · data/raw/41970012000126/1302706_regulamento.pdf · ID Fundos.NET 1302706 · 27/08/2026 · regulamento · p. 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Coobrigação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Coobrigação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Coobrigação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Waterfall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Waterfall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Waterfall · Despesas e reservas → sênior → MZ A → MZ B → MZ C → júnior · data/raw/41970012000126/1302706_regulamento.pdf · ID Fundos.NET 1302706 · 27/08/2026 · regulamento · p. 145–159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Prestadores essenciais · Administração: BTG Pactual Serviços Financeiros DTVM; gestão: Polígono Capital · data/raw/33254370000104/1128340_regulamento.pdf · ID Fundos.NET 1128340 · 03/03/2026 · regulamento · p. 24/29 · 4.1.1/4.2.1 · https://fnet.bmfbovespa.com.br/fnet/publico/visualizarDocumento?id=1128340 · Observação: Controle documental; IME agregado não comprova a hipótese contratual.</a:t>
            </a:r>
          </a:p>
          <a:p>
            <a:r>
              <a:t>CNPJ 37511828000114 · Prestadores essenciais · Administração: Banco Genial; gestão: Polígono Capital · data/raw/37511828000114/1200490_regulamento.pdf · ID Fundos.NET 1200490 · 27/03/2026 · regulamento · p. 6/31 · Definições Administrator/Manager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Prestadores essenciais · Administração: BTG Pactual Serviços Financeiros; custódia: Banco BTG; gestão: Polígono · data/raw/41970012000126/1302706_regulamento.pdf · ID Fundos.NET 1302706 · 27/08/2026 · regulamento · p. 4/15/23 · Definições Administrador/Custodiante/Gestor · https://fnet.bmfbovespa.com.br/fnet/publico/visualizarDocumento?id=1302706 · Observação: Controle documental; IME agregado não comprova a hipótese contratual.</a:t>
            </a:r>
          </a:p>
          <a:p>
            <a:r>
              <a:t>CNPJ 33254370000104 · Opção de compra de créditos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Opção de compra de créditos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Opção de compra de créditos · Endossantes: preço pelo principal + rendimentos/encargos, deduzida PDD; limite 10% do investimento sênior · data/raw/41970012000126/1302706_regulamento.pdf · ID Fundos.NET 1302706 · 27/08/2026 · regulamento · p. 42 · 5.1.6.3 · https://fnet.bmfbovespa.com.br/fnet/publico/visualizarDocumento?id=1302706 · Observação: Exceções: amortização integral deliberada, amortização extraordinária ou crédito vencido &gt;90 dias. Não equivale a obrigação de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2026-10-07T15:13:33-03:00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33254370000104 · Alocação mínima · Após 180 dias: 50% PL para fins regulatórios; 67% para fins tributários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Alocação mínima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Alocação mínima · 67% PL para enquadramento tributário; verificar índices adicionais · data/raw/41970012000126/1302706_regulamento.pdf · ID Fundos.NET 1302706 · 27/08/2026 · regulamento · p. 108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Pool/revolvência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Pool/revolvência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Pool/revolvência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Duração/público-alvo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Duração/público-alvo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Duração/público-alvo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Cessão/recompra · Perda posterior de elegibilidade não gera regresso, ressalvadas culpa ou dolo · data/raw/33254370000104/1128340_regulamento.pdf · ID Fundos.NET 1128340 · 03/03/2026 · regulamento · p. 11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Cessão/recompra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Cessão/recompra · Aquisição por Mercado Pago por inelegibilidade, vício ou falha imputável, com limites contratuais · data/raw/41970012000126/1302706_regulamento.pdf · ID Fundos.NET 1302706 · 27/08/2026 · regulamento · p. 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Coobrigação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Coobrigação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Coobrigação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Waterfall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Waterfall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Waterfall · Despesas e reservas → sênior → MZ A → MZ B → MZ C → júnior · data/raw/41970012000126/1302706_regulamento.pdf · ID Fundos.NET 1302706 · 27/08/2026 · regulamento · p. 145–159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Prestadores essenciais · Administração: BTG Pactual Serviços Financeiros DTVM; gestão: Polígono Capital · data/raw/33254370000104/1128340_regulamento.pdf · ID Fundos.NET 1128340 · 03/03/2026 · regulamento · p. 24/29 · 4.1.1/4.2.1 · https://fnet.bmfbovespa.com.br/fnet/publico/visualizarDocumento?id=1128340 · Observação: Controle documental; IME agregado não comprova a hipótese contratual.</a:t>
            </a:r>
          </a:p>
          <a:p>
            <a:r>
              <a:t>CNPJ 37511828000114 · Prestadores essenciais · Administração: Banco Genial; gestão: Polígono Capital · data/raw/37511828000114/1200490_regulamento.pdf · ID Fundos.NET 1200490 · 27/03/2026 · regulamento · p. 6/31 · Definições Administrator/Manager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Prestadores essenciais · Administração: BTG Pactual Serviços Financeiros; custódia: Banco BTG; gestão: Polígono · data/raw/41970012000126/1302706_regulamento.pdf · ID Fundos.NET 1302706 · 27/08/2026 · regulamento · p. 4/15/23 · Definições Administrador/Custodiante/Gestor · https://fnet.bmfbovespa.com.br/fnet/publico/visualizarDocumento?id=1302706 · Observação: Controle documental; IME agregado não comprova a hipótese contratual.</a:t>
            </a:r>
          </a:p>
          <a:p>
            <a:r>
              <a:t>CNPJ 33254370000104 · Opção de compra de créditos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Opção de compra de créditos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Opção de compra de créditos · Endossantes: preço pelo principal + rendimentos/encargos, deduzida PDD; limite 10% do investimento sênior · data/raw/41970012000126/1302706_regulamento.pdf · ID Fundos.NET 1302706 · 27/08/2026 · regulamento · p. 42 · 5.1.6.3 · https://fnet.bmfbovespa.com.br/fnet/publico/visualizarDocumento?id=1302706 · Observação: Exceções: amortização integral deliberada, amortização extraordinária ou crédito vencido &gt;90 dias. Não equivale a obrigação de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2026-10-07T15:13:33-03:00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33254370000104 · Classes/séries · Sênior; subordinadas mezanino e júnior; 3ª série preenchida no regulamento · data/raw/33254370000104/1128340_regulamento.pdf · ID Fundos.NET 1128340 · 03/03/2026 · regulamento · p. 42 e 118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Classes/séries · Sênior, mezanino e júnior; apêndices-modelo mantêm campos abertos · data/raw/37511828000114/1200490_regulamento.pdf · ID Fundos.NET 1200490 · 27/03/2026 · regulamento · p. 128–132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Classes/séries · Sênior 1ª/2ª/3ª emissões da primeira série; MZ A/B/C e júnior · data/raw/41970012000126/1302706_regulamento.pdf · ID Fundos.NET 1302706 · 27/08/2026 · regulamento · p. 133–153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Remuneração · 3ª sênior: DI + 3,00% a.a., com fator adicional por capital não utilizado · data/raw/33254370000104/1128340_regulamento.pdf · ID Fundos.NET 1128340 · 03/03/2026 · regulamento · p. 119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Remuneração · Spread final da versão atual não localizado; apêndices econômicos atuais em aberto · data/raw/37511828000114/1200490_regulamento.pdf · ID Fundos.NET 1200490 · 27/03/2026 · regulamento · p. 130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Remuneração · Sênior DI + 1,75%; MZ A +3,00%; MZ B +4,25%; MZ C +5,45% a.a. · data/raw/41970012000126/1302706_regulamento.pdf · ID Fundos.NET 1302706 · 27/08/2026 · regulamento · p. 134–159 · https://fnet.bmfbovespa.com.br/fnet/publico/visualizarDocumento?id=1302706 · Observação: MZ A/C da 2ª emissão têm rendimento adicional único de 0,38%. Sênior tem benchmark qualificado +2% em eventos, e demais compensações dependem das cláusulas.</a:t>
            </a:r>
          </a:p>
          <a:p>
            <a:r>
              <a:t>CNPJ 33254370000104 · Volume/VNU · 3ª sênior: R$ 300 milhões; 300 mil cotas; VNU R$ 1 mil · data/raw/33254370000104/1128340_regulamento.pdf · ID Fundos.NET 1128340 · 03/03/2026 · regulamento · p. 118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Volume/VNU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Volume/VNU · 3ª sênior: R$ 500.000.838,84; 1.016.076 cotas; VNU R$ 492,09 em 14/08/2026 · data/raw/41970012000126/1302706_regulamento.pdf · ID Fundos.NET 1302706 · 27/08/2026 · regulamento · p. 141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Ofertas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Ofertas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Ofertas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33254370000104 · Remuneração adicional · 3ª sênior: fator 0,75/0,50/0,40% a.a. sobre capital não integralizado, por faixas de utilização · data/raw/33254370000104/1128340_regulamento.pdf · ID Fundos.NET 1128340 · 03/03/2026 · regulamento · p. 119 · Suplemento 3ª série IX · https://fnet.bmfbovespa.com.br/fnet/publico/visualizarDocumento?id=1128340 · Observação: Utilização 0–50%, &gt;50–75%, &gt;75–99,99%; inicia no 180º dia e paga a partir da 6ª data; cessa no fim da integralização.</a:t>
            </a:r>
          </a:p>
          <a:p>
            <a:r>
              <a:t>CNPJ 37511828000114 · Remuneração adicional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adicional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2026-10-07T15:13:33-03:00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33254370000104 · Carência · 3ª série: texto 18 meses; calendário inicia principal no mês 13. Divergência documental · data/raw/33254370000104/1128340_regulamento.pdf · ID Fundos.NET 1128340 · 03/03/2026 · regulamento · p. 119–120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Carência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Carência · Principal sênior após janela de investimento, limite 14/08/2028; MZ respeita prioridade das subclasses · data/raw/41970012000126/1302706_regulamento.pdf · ID Fundos.NET 1302706 · 27/08/2026 · regulamento · p. 133–159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Juros/amortização · 3ª sênior: juros mensais; principal nas datas da tabela, com divergência da carência textual · data/raw/33254370000104/1128340_regulamento.pdf · ID Fundos.NET 1128340 · 03/03/2026 · regulamento · p. 119–121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Juros/amortização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Juros/amortização · Pagamentos dia 14 ou DU seguinte; principal condicionado ao fim da janela de investimento · data/raw/41970012000126/1302706_regulamento.pdf · ID Fundos.NET 1302706 · 27/08/2026 · regulamento · p. 146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Vencimento · 3ª sênior: calendário termina em abril/2028; prazo textual três anos da emissão · data/raw/33254370000104/1128340_regulamento.pdf · ID Fundos.NET 1128340 · 03/03/2026 · regulamento · p. 118–121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Vencimento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Vencimento · Sênior e MZ A/B/C: 14/08/2030, ou DU seguinte · data/raw/41970012000126/1302706_regulamento.pdf · ID Fundos.NET 1302706 · 27/08/2026 · regulamento · p. 134, 137, 142, 146, 152, 155 e 158 · https://fnet.bmfbovespa.com.br/fnet/publico/visualizarDocumento?id=1302706 · Observação: Resumo jurídico da fonte identificada; verificar aditamentos e aplicação à série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2026-10-07T15:13:33-03:00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33254370000104 · Administração · 0,07% do PL; mínimo R$ 15 mil/mês; teto 0,30% a.a.; IPCA · data/raw/33254370000104/1128340_regulamento.pdf · ID Fundos.NET 1128340 · 03/03/2026 · regulamento · p. 38–40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Administração · Faixas cumulativas 0,125% / 0,11% / 0,09% a.a.; mínimo R$ 27 mil/mês · data/raw/37511828000114/1200490_regulamento.pdf · ID Fundos.NET 1200490 · 27/03/2026 · regulamento · p. 105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Administração · 0,075% a.a. do PL; mínimo R$ 15 mil/mês; inclui custódia · data/raw/41970012000126/1302706_regulamento.pdf · ID Fundos.NET 1302706 · 27/08/2026 · regulamento · p. 100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Gestão · Faixas do PL agregado com Mercado Crédito II: 0,20% / 0,15% / 0,13% / 0,10% a.a. · data/raw/33254370000104/1128340_regulamento.pdf · ID Fundos.NET 1128340 · 03/03/2026 · regulamento · p. 39–40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Gestão · 0,12% a.a. sobre PL; mínimo não recuperável no texto extraído · data/raw/37511828000114/1200490_regulamento.pdf · ID Fundos.NET 1200490 · 27/03/2026 · regulamento · p. 106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Gestão · Faixas do PL agregado com Mercado Crédito 0: 0,20% / 0,15% / 0,13% / 0,10% a.a. · data/raw/41970012000126/1302706_regulamento.pdf · ID Fundos.NET 1302706 · 27/08/2026 · regulamento · p. 101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33254370000104 · Custódia · Taxa de custódia expressamente 0% · data/raw/33254370000104/1128340_regulamento.pdf · ID Fundos.NET 1128340 · 03/03/2026 · regulamento · p. 39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Custódia · 0,05% a.a.; mínimo R$ 3 mil/mês · data/raw/37511828000114/1200490_regulamento.pdf · ID Fundos.NET 1200490 · 27/03/2026 · regulamento · p. 106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Custódia · Incluída na taxa de administração · data/raw/41970012000126/1302706_regulamento.pdf · ID Fundos.NET 1302706 · 27/08/2026 · regulamento · p. 100 · https://fnet.bmfbovespa.com.br/fnet/publico/visualizarDocumento?id=1302706 · Observação: Resumo jurídico da fonte identificada; verificar aditamentos e aplicação à série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2026-10-07T15:13:33-03:00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33254370000104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Competência IME · Cache local: 06/2026; selecionar competência para monitorar · .cache/fundonet-ime/14374f0df302464e5dbfc66957cc7fd9a0bac9f0e10ed9729d09170a72c1491a/manifest.json · Observação: Dado offline do IME; não representa atualização ao vivo nem comprovação dos critérios jurídicos.</a:t>
            </a:r>
          </a:p>
          <a:p>
            <a:r>
              <a:t>CNPJ 37511828000114 · Competência IME · Cache local: 06/2026; selecionar competência para monitorar · .cache/fundonet-ime/a9f4e33b5478f9085019b0355739e496c83f16851fee8ca8e794ce60a4eb096b/manifest.json · Observação: Dado offline do IME; não representa atualização ao vivo nem comprovação dos critérios jurídicos.</a:t>
            </a:r>
          </a:p>
          <a:p>
            <a:r>
              <a:t>CNPJ 41970012000126 · Competência IME · Cache local: 06/2026; selecionar competência para monitorar · .cache/fundonet-ime/9ea610041c27f21719611a40f53e4cdea8c5bf8cbea6108d1b1aae629e58d089/manifest.json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(FIDCs Mercado Crédito 0, I e II)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4394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crédito parcelado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veículos; direitos PPV futuros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plataforma Mercado Pago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crédito parcelado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consumidores e comerciantes,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originadas por IFs parceiras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endossadas por IF MeLi,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entidades Mercado Pago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veículos do grupo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 financeiras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parceiras originam CCBs;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comerciais originam PPV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IFs parceiras; Mercado Pago atua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como correspondente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IF MeLi e entidades/veículos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 que celebraram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 de endosso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PF/PJ nas CCBs; Mercado Pago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PPV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originadas por IF parceira: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veículos ≤ 60 meses; demais ≤ 25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Dispensa do limite por emissor;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critérios individuais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tipo de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único ≤ 0,5% dos DC;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 produto, perfil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Day trade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iniciadas e encerradas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mesmo dia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(FIDCs Mercado Crédito 0, I e II)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9057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Piso dinâmico: 25%, 30% ou 35%,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rentabilidade excedente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média de três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 10% PL, com majorações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condicionais por excesso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juros e perdas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 10% PL; eventos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step-down majoram a proteção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Excesso de spread &lt; 0,01%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acelera sênior; safras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veículos: Over30 MOB3 &gt; 5,5%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Over60 MOB6 &gt; 6,5% em 2 de 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safras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 histórico comerciante: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 8%; 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acelerada 7%; tabelas MOB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remuneração sênior: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+ principal, quando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aplicável, das próximas 3 datas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 de 0,20%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recompor se saldo &lt; 50% do valor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requerido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despesas: 1,05%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recomposição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ou mitigação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risco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patrimonial/troca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indexador sem risco de capital;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 vista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 derivativos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expressamente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 contábil deduzida no preço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opção de compra dos créditos;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 percentual próprio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Cross default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Endividamento do Mercado Pago: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inadimplemento/aceleração &gt;US$75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milhões; observar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(FIDCs Mercado Crédito 0, I e II)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839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180 dias: 50% PL para fins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regulatórios; 67% para fins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 PL para 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tributário; verificar índices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Perda posterior de elegibilidade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gera regresso, ressalvadas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culpa ou dolo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por Mercado Pago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 vício ou falha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imputável, com limites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(FIDCs Mercado Crédito 0, I e II)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0266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e reservas → sênior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MZ A → MZ B → MZ C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 BTG Pactual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Financeiros DTVM;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gestão: Polígono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 Banco Genial;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gestão: Polígono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 BTG Pactual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Financeiros; custódia: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BTG; gestão: Polígono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Opção de compra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créditos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Endossantes: preço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rendimentos/encargos, deduzida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PDD; limite 10% do investimento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(FIDCs Mercado Crédito 0, I e II)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6850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subordinadas mezanino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3ª série preenchida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apêndices-modelo mantêm campos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abertos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1ª/2ª/3ª emissões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primeira série; MZ A/B/C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DI + 3,00% a.a.,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fator adicional por capital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utilizado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da versão atual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apêndices econômicos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atuais em aberto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DI + 1,75%; MZ A +3,00%;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MZ B +4,25%; MZ C +5,45%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R$ 300 milhões; 300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 cotas; VNU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R$ 500.000.838,84;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1.016.076 cotas; VNU R$ 492,09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14/08/2026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fator 0,75/0,50/0,40%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 sobre capital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integralizado, por faixas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utilização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(FIDCs Mercado Crédito 0, I e II)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7431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série: texto 18 meses;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 inicia principal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mês 13. Divergência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sênior após janela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investimento, limite 14/08/2028;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MZ respeita prioridade 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juros mensais;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nas datas da tabela,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divergência da carência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textual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dia 14 ou DU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seguinte; principal condicionado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ao fim da janela de investimento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calendário termina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abril/2028; prazo textual três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anos da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MZ A/B/C: 14/08/2030,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 DU seguinte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(FIDCs Mercado Crédito 0, I e II)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180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0,07% do PL; mínimo R$ 15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teto 0,30% a.a.;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cumulativas 0,125%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0,11% / 0,09% a.a.; mínimo R$ 27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0,075% a.a. do PL; mínimo R$ 15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inclui 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do PL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Crédito II: 0,20%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 / 0,13% / 0,10%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0,12% a.a. sobre PL; mínimo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recuperável no texto extraído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do PL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Crédito 0: 0,20% / 0,15%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 0,13% / 0,10%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Taxa de custódia expressamente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0,05% a.a.; mínimo R$ 3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(FIDCs Mercado Crédito 0, I e II)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4015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 candidatos;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validar denominadores,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exclusões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 candidatos;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validar denominadores,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exclusões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 candidatos;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validar denominadores,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exclusões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proxies; safras MOB/perdas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ajustadas 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proxies; safras MOB/perdas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ajustadas 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proxies; safras MOB/perdas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ajustadas 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cross-default,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trocas 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cross-default,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trocas 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cross-default,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trocas 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