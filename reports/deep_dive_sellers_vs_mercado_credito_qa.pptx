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237744"/>
            <a:ext cx="7772400" cy="237744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l"/>
            <a:r>
              <a:rPr sz="1700" b="1">
                <a:solidFill>
                  <a:srgbClr val="1F1F1F"/>
                </a:solidFill>
                <a:latin typeface="Calibri"/>
              </a:rPr>
              <a:t>Comparativo Sellers vs Mercado Crédito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512064"/>
            <a:ext cx="8686800" cy="164592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Calibri"/>
              </a:rPr>
              <a:t>Comparativo principal · linhas 1-22 de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0" y="237744"/>
            <a:ext cx="3246120" cy="164592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Calibri"/>
              </a:rPr>
              <a:t>Extração offline local · CVM/Fundos.NET · IME 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6382512"/>
            <a:ext cx="11624767" cy="45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6473952"/>
            <a:ext cx="8046720" cy="146304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alibri"/>
              </a:rPr>
              <a:t>Fonte: Extração offline local · CVM/Fundos.NET · IME cache | Gerado em: 13/05/2026 12:34 |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417320" cy="146304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Calibri"/>
              </a:rPr>
              <a:t>Página 1 de 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10896" y="877824"/>
          <a:ext cx="11624764" cy="5413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950049"/>
                <a:gridCol w="1950049"/>
                <a:gridCol w="1950049"/>
                <a:gridCol w="1950049"/>
                <a:gridCol w="1950049"/>
              </a:tblGrid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40" b="1">
                          <a:solidFill>
                            <a:srgbClr val="FFFFFF"/>
                          </a:solidFill>
                          <a:latin typeface="Calibri"/>
                        </a:rPr>
                        <a:t>Nome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Calibri"/>
                        </a:rPr>
                        <a:t>MERCADO CRÉDITO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Calibri"/>
                        </a:rPr>
                        <a:t>Mercado Crédito Merchant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Grupo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Mercado Crédito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Sellers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CNPJ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33.254.370/0001-04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37.511.828/0001-14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41.970.012/0001-26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28.472.333/0001-32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63.572.282/0001-11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Páginas locais analisadas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1282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1951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2964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539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488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Última competência IME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03/2026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03/2026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03/2026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08/2024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03/2026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PL (R$ mm)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R$ 2.683 mm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R$ 744 mm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R$ 1.690 mm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R$ 1 mm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R$ 1.762 mm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132,8%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189,9%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159,9%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12.107,8%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99,8%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Vencidos Over 30d / crédito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6,0%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34,5%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17,5%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100,0%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Vencidos Over 60d / crédito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4,9%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32,0%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15,3%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100,0%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Vencidos Over 90d / crédito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3,8%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28,9%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13,4%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100,0%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Vencidos Over 180d / crédito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1,1%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20,4%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7,6%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100,0%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Vencidos Over 360d / crédito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100,0%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PDD / crédito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25,5%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49,5%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40,6%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100,0%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PDD / vencidos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323,2%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123,4%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175,3%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100,0%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Cotas sênior / PL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18,7%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68,7%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71,5%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86,9%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Cotas mezanino / PL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13,6%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18,8%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Cotas subordinadas / PL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81,3%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17,8%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9,7%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100,0%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13,1%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Séries/classes emitidas identificadas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Volume emitido identificado (R$ mm)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948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2.400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1.713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Primeira emissão identificada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13/08/2021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25/05/2021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24/05/2021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06/11/2020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12/01/2026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Última emissão identificada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03/03/2026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13/06/2025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12/06/2025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19/04/2023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05/02/2026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Remuneração-alvo sênior mais recente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DI + 0,65% a.a. (05/02/2026)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Cronograma de amortização mais recente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15/09/2028: 16,6667%; 15/10/2028: 20,0000%; 15/11/2028: 25,0000%; 15/12/2028: 33,3333%; 15/01/2029: 50,0000...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237744"/>
            <a:ext cx="7772400" cy="237744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l"/>
            <a:r>
              <a:rPr sz="1700" b="1">
                <a:solidFill>
                  <a:srgbClr val="1F1F1F"/>
                </a:solidFill>
                <a:latin typeface="Calibri"/>
              </a:rPr>
              <a:t>Comparativo Sellers vs Mercado Crédito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512064"/>
            <a:ext cx="8686800" cy="164592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Calibri"/>
              </a:rPr>
              <a:t>Comparativo principal · linhas 23-30 de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0" y="237744"/>
            <a:ext cx="3246120" cy="164592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Calibri"/>
              </a:rPr>
              <a:t>Extração offline local · CVM/Fundos.NET · IME 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6382512"/>
            <a:ext cx="11624767" cy="45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6473952"/>
            <a:ext cx="8046720" cy="146304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alibri"/>
              </a:rPr>
              <a:t>Fonte: Extração offline local · CVM/Fundos.NET · IME cache | Gerado em: 13/05/2026 12:34 |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417320" cy="146304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Calibri"/>
              </a:rPr>
              <a:t>Página 2 de 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10896" y="877824"/>
          <a:ext cx="11624764" cy="5413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950049"/>
                <a:gridCol w="1950049"/>
                <a:gridCol w="1950049"/>
                <a:gridCol w="1950049"/>
                <a:gridCol w="1950049"/>
              </a:tblGrid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740" b="1">
                          <a:solidFill>
                            <a:srgbClr val="FFFFFF"/>
                          </a:solidFill>
                          <a:latin typeface="Calibri"/>
                        </a:rPr>
                        <a:t>Nome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Calibri"/>
                        </a:rPr>
                        <a:t>MERCADO CRÉDITO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Calibri"/>
                        </a:rPr>
                        <a:t>MERCADO CRÉDITO I BRASIL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Calibri"/>
                        </a:rPr>
                        <a:t>MERCADO CRÉDITO II BRASIL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Calibri"/>
                        </a:rPr>
                        <a:t>Mercado Crédito Merchant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Calibri"/>
                        </a:rPr>
                        <a:t>SELLER 3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Regulamento-base dos thresholds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03/03/2026 · 1128340_regulamento_regulamento_1128340_2026-03-03.pdf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20/10/2025 · 1019776_regulamento_regulamento_1019776_2025-10-20.pdf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19/12/2025 · 1077334_regulamento_regulamento_1077334_2025-12-19.pdf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03/09/2024 · 732140_regulamento_regulamento_732140_2024-09-03.pdf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21/01/2026 · 1089845_regulamento_regulamento_1089845_2026-01-21.pdf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 em DCs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67%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50%; &gt;= 5%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67%; &gt;= 5%; &gt;= 75,00%; &gt;= 1,00%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50%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67%; &gt;= 50%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7%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10%; &gt;= 9,5%; &gt;= 7%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10%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10%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Evento de avaliação por atraso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&lt;= 35%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&lt;= 8%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Liquidação/vencimento por atraso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&lt;= 6%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Cobertura mínima PDD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0,0%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20%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100%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Reserva/caixa mínimo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0,01%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&lt;= 75%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100%; &gt;= 100 %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Hedges permitidos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texto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texto 20%; texto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&lt;= 20%; texto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texto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237744"/>
            <a:ext cx="7772400" cy="237744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l"/>
            <a:r>
              <a:rPr sz="1700" b="1">
                <a:solidFill>
                  <a:srgbClr val="1F1F1F"/>
                </a:solidFill>
                <a:latin typeface="Calibri"/>
              </a:rPr>
              <a:t>Comparativo Sellers vs Mercado Crédito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512064"/>
            <a:ext cx="8686800" cy="164592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Calibri"/>
              </a:rPr>
              <a:t>Comparativo principal · linhas 1-25 de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0" y="237744"/>
            <a:ext cx="3246120" cy="164592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Calibri"/>
              </a:rPr>
              <a:t>Extração offline local · CVM/Fundos.NET · IME 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6382512"/>
            <a:ext cx="11624767" cy="45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6473952"/>
            <a:ext cx="8046720" cy="146304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alibri"/>
              </a:rPr>
              <a:t>Fonte: Extração offline local · CVM/Fundos.NET · IME cache | Gerado em: 13/05/2026 12:34 |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417320" cy="146304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Calibri"/>
              </a:rPr>
              <a:t>Página 3 de 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10896" y="877824"/>
          <a:ext cx="11624766" cy="5413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4783683"/>
                <a:gridCol w="4783683"/>
              </a:tblGrid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Nome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SELLER FIDC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Grupo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Sellers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Sellers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CNPJ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50.473.039/0001-02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55.471.753/0001-77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Páginas locais analisadas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1047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491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Última competência IME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03/2026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03/2026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PL (R$ mm)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R$ 4.157 mm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R$ 2.635 mm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92,5%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94,8%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Vencidos Over 30d / crédito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Vencidos Over 60d / crédito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Vencidos Over 90d / crédito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Vencidos Over 180d / crédito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Vencidos Over 360d / crédito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PDD / crédito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PDD / vencidos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Cotas sênior / PL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58,4%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38,2%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Cotas mezanino / PL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Cotas subordinadas / PL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41,6%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61,8%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Séries/classes emitidas identificadas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Volume emitido identificado (R$ mm)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3.500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1.050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Primeira emissão identificada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31/05/2023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06/08/2024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Última emissão identificada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29/05/2025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06/08/2024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Remuneração-alvo sênior mais recente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DI + 0,85% a.a. (29/05/2025)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DI + 0,85% a.a. (06/08/2024)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Cronograma de amortização mais recente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15/12/2027: 16,67%; 15/01/2028: 20,00%; 15/02/2028: 25,00%; 15/03/2028: 33,33%; 15/04/2028: 50,00%; 15/05/2...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15/02/2027 a 15/07/2027: 1/6 do VNU em cada mês (06/08/2024)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Regulamento-base dos thresholds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19/05/2025 · 909547_regulamento_regulamento_909547_2025-05-19.pdf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25/07/2024 · 704724_regulamento_regulamento_704724_2024-07-25.pdf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 em DCs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67%; &gt;= 50%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50%; &gt;= 67%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208201">
                <a:tc>
                  <a:txBody>
                    <a:bodyPr wrap="square"/>
                    <a:lstStyle/>
                    <a:p>
                      <a:pPr algn="l"/>
                      <a:r>
                        <a:rPr sz="72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10%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20" b="0">
                          <a:solidFill>
                            <a:srgbClr val="1F1F1F"/>
                          </a:solidFill>
                          <a:latin typeface="Calibri"/>
                        </a:rPr>
                        <a:t>&gt;= 3,3%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237744"/>
            <a:ext cx="7772400" cy="237744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l"/>
            <a:r>
              <a:rPr sz="1700" b="1">
                <a:solidFill>
                  <a:srgbClr val="1F1F1F"/>
                </a:solidFill>
                <a:latin typeface="Calibri"/>
              </a:rPr>
              <a:t>Comparativo Sellers vs Mercado Crédito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512064"/>
            <a:ext cx="8686800" cy="164592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l"/>
            <a:r>
              <a:rPr sz="819" b="0">
                <a:solidFill>
                  <a:srgbClr val="6B7280"/>
                </a:solidFill>
                <a:latin typeface="Calibri"/>
              </a:rPr>
              <a:t>Comparativo principal · linhas 26-30 de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0" y="237744"/>
            <a:ext cx="3246120" cy="164592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Calibri"/>
              </a:rPr>
              <a:t>Extração offline local · CVM/Fundos.NET · IME 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6382512"/>
            <a:ext cx="11624767" cy="4572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6473952"/>
            <a:ext cx="8046720" cy="146304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Calibri"/>
              </a:rPr>
              <a:t>Fonte: Extração offline local · CVM/Fundos.NET · IME cache | Gerado em: 13/05/2026 12:34 |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417320" cy="146304"/>
          </a:xfrm>
          <a:prstGeom prst="rect">
            <a:avLst/>
          </a:prstGeom>
          <a:noFill/>
        </p:spPr>
        <p:txBody>
          <a:bodyPr wrap="square" lIns="9144" rIns="9144" tIns="0" bIns="0">
            <a:no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Calibri"/>
              </a:rPr>
              <a:t>Página 4 de 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10896" y="877824"/>
          <a:ext cx="11624766" cy="5413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4783683"/>
                <a:gridCol w="4783683"/>
              </a:tblGrid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Nome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SELLER FIDC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SELLER II</a:t>
                      </a:r>
                    </a:p>
                  </a:txBody>
                  <a:tcPr anchor="ctr" marL="41148" marR="41148" marT="10972" marB="10972">
                    <a:solidFill>
                      <a:srgbClr val="111827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1F1F1F"/>
                          </a:solidFill>
                          <a:latin typeface="Calibri"/>
                        </a:rPr>
                        <a:t>Evento de avaliação por atraso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1F1F1F"/>
                          </a:solidFill>
                          <a:latin typeface="Calibri"/>
                        </a:rPr>
                        <a:t>Liquidação/vencimento por atraso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1F1F1F"/>
                          </a:solidFill>
                          <a:latin typeface="Calibri"/>
                        </a:rPr>
                        <a:t>Cobertura mínima PDD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1F1F1F"/>
                          </a:solidFill>
                          <a:latin typeface="Calibri"/>
                        </a:rPr>
                        <a:t>&gt;= 100%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1F1F1F"/>
                          </a:solidFill>
                          <a:latin typeface="Calibri"/>
                        </a:rPr>
                        <a:t>&gt;= 100%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1F1F1F"/>
                          </a:solidFill>
                          <a:latin typeface="Calibri"/>
                        </a:rPr>
                        <a:t>Reserva/caixa mínimo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1F1F1F"/>
                          </a:solidFill>
                          <a:latin typeface="Calibri"/>
                        </a:rPr>
                        <a:t>&gt;= 100%; &gt;= 100 %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1F1F1F"/>
                          </a:solidFill>
                          <a:latin typeface="Calibri"/>
                        </a:rPr>
                        <a:t>&gt;= 100%; &gt;= 4%</a:t>
                      </a:r>
                    </a:p>
                  </a:txBody>
                  <a:tcPr anchor="ctr" marL="41148" marR="41148" marT="10972" marB="10972">
                    <a:solidFill>
                      <a:srgbClr val="FBFBFB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1F1F1F"/>
                          </a:solidFill>
                          <a:latin typeface="Calibri"/>
                        </a:rPr>
                        <a:t>Hedges permitidos</a:t>
                      </a:r>
                    </a:p>
                  </a:txBody>
                  <a:tcPr anchor="ctr" marL="41148" marR="41148" marT="10972" marB="10972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1F1F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1148" marR="41148" marT="10972" marB="109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